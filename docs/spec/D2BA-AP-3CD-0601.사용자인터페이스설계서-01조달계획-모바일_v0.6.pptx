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80"/>
  </p:notesMasterIdLst>
  <p:handoutMasterIdLst>
    <p:handoutMasterId r:id="rId81"/>
  </p:handoutMasterIdLst>
  <p:sldIdLst>
    <p:sldId id="256" r:id="rId2"/>
    <p:sldId id="656" r:id="rId3"/>
    <p:sldId id="356" r:id="rId4"/>
    <p:sldId id="260" r:id="rId5"/>
    <p:sldId id="264" r:id="rId6"/>
    <p:sldId id="725" r:id="rId7"/>
    <p:sldId id="291" r:id="rId8"/>
    <p:sldId id="358" r:id="rId9"/>
    <p:sldId id="273" r:id="rId10"/>
    <p:sldId id="657" r:id="rId11"/>
    <p:sldId id="658" r:id="rId12"/>
    <p:sldId id="292" r:id="rId13"/>
    <p:sldId id="620" r:id="rId14"/>
    <p:sldId id="623" r:id="rId15"/>
    <p:sldId id="686" r:id="rId16"/>
    <p:sldId id="687" r:id="rId17"/>
    <p:sldId id="688" r:id="rId18"/>
    <p:sldId id="689" r:id="rId19"/>
    <p:sldId id="690" r:id="rId20"/>
    <p:sldId id="306" r:id="rId21"/>
    <p:sldId id="645" r:id="rId22"/>
    <p:sldId id="314" r:id="rId23"/>
    <p:sldId id="629" r:id="rId24"/>
    <p:sldId id="315" r:id="rId25"/>
    <p:sldId id="328" r:id="rId26"/>
    <p:sldId id="630" r:id="rId27"/>
    <p:sldId id="639" r:id="rId28"/>
    <p:sldId id="701" r:id="rId29"/>
    <p:sldId id="643" r:id="rId30"/>
    <p:sldId id="702" r:id="rId31"/>
    <p:sldId id="640" r:id="rId32"/>
    <p:sldId id="703" r:id="rId33"/>
    <p:sldId id="332" r:id="rId34"/>
    <p:sldId id="631" r:id="rId35"/>
    <p:sldId id="705" r:id="rId36"/>
    <p:sldId id="691" r:id="rId37"/>
    <p:sldId id="692" r:id="rId38"/>
    <p:sldId id="693" r:id="rId39"/>
    <p:sldId id="694" r:id="rId40"/>
    <p:sldId id="695" r:id="rId41"/>
    <p:sldId id="696" r:id="rId42"/>
    <p:sldId id="697" r:id="rId43"/>
    <p:sldId id="646" r:id="rId44"/>
    <p:sldId id="719" r:id="rId45"/>
    <p:sldId id="720" r:id="rId46"/>
    <p:sldId id="721" r:id="rId47"/>
    <p:sldId id="722" r:id="rId48"/>
    <p:sldId id="723" r:id="rId49"/>
    <p:sldId id="724" r:id="rId50"/>
    <p:sldId id="698" r:id="rId51"/>
    <p:sldId id="699" r:id="rId52"/>
    <p:sldId id="700" r:id="rId53"/>
    <p:sldId id="706" r:id="rId54"/>
    <p:sldId id="660" r:id="rId55"/>
    <p:sldId id="661" r:id="rId56"/>
    <p:sldId id="665" r:id="rId57"/>
    <p:sldId id="707" r:id="rId58"/>
    <p:sldId id="668" r:id="rId59"/>
    <p:sldId id="708" r:id="rId60"/>
    <p:sldId id="672" r:id="rId61"/>
    <p:sldId id="663" r:id="rId62"/>
    <p:sldId id="664" r:id="rId63"/>
    <p:sldId id="709" r:id="rId64"/>
    <p:sldId id="710" r:id="rId65"/>
    <p:sldId id="711" r:id="rId66"/>
    <p:sldId id="682" r:id="rId67"/>
    <p:sldId id="712" r:id="rId68"/>
    <p:sldId id="713" r:id="rId69"/>
    <p:sldId id="714" r:id="rId70"/>
    <p:sldId id="670" r:id="rId71"/>
    <p:sldId id="726" r:id="rId72"/>
    <p:sldId id="685" r:id="rId73"/>
    <p:sldId id="673" r:id="rId74"/>
    <p:sldId id="674" r:id="rId75"/>
    <p:sldId id="715" r:id="rId76"/>
    <p:sldId id="716" r:id="rId77"/>
    <p:sldId id="717" r:id="rId78"/>
    <p:sldId id="718" r:id="rId79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656"/>
            <p14:sldId id="356"/>
            <p14:sldId id="260"/>
          </p14:sldIdLst>
        </p14:section>
        <p14:section name="1.조달계획 통합 목록" id="{A88D8C4A-42D5-488C-851B-9A15CEB54A60}">
          <p14:sldIdLst>
            <p14:sldId id="264"/>
            <p14:sldId id="725"/>
            <p14:sldId id="291"/>
            <p14:sldId id="358"/>
            <p14:sldId id="273"/>
            <p14:sldId id="657"/>
            <p14:sldId id="658"/>
            <p14:sldId id="292"/>
            <p14:sldId id="620"/>
            <p14:sldId id="623"/>
            <p14:sldId id="686"/>
            <p14:sldId id="687"/>
            <p14:sldId id="688"/>
            <p14:sldId id="689"/>
            <p14:sldId id="690"/>
          </p14:sldIdLst>
        </p14:section>
        <p14:section name="2.조달계획상세조회" id="{019FD015-75A8-4452-8691-168FACA46FB5}">
          <p14:sldIdLst>
            <p14:sldId id="306"/>
            <p14:sldId id="645"/>
            <p14:sldId id="314"/>
            <p14:sldId id="629"/>
            <p14:sldId id="315"/>
            <p14:sldId id="328"/>
            <p14:sldId id="630"/>
            <p14:sldId id="639"/>
            <p14:sldId id="701"/>
            <p14:sldId id="643"/>
            <p14:sldId id="702"/>
            <p14:sldId id="640"/>
            <p14:sldId id="703"/>
            <p14:sldId id="332"/>
            <p14:sldId id="631"/>
            <p14:sldId id="705"/>
            <p14:sldId id="691"/>
            <p14:sldId id="692"/>
            <p14:sldId id="693"/>
            <p14:sldId id="694"/>
            <p14:sldId id="695"/>
            <p14:sldId id="696"/>
            <p14:sldId id="697"/>
            <p14:sldId id="646"/>
            <p14:sldId id="719"/>
            <p14:sldId id="720"/>
            <p14:sldId id="721"/>
            <p14:sldId id="722"/>
            <p14:sldId id="723"/>
            <p14:sldId id="724"/>
            <p14:sldId id="698"/>
            <p14:sldId id="699"/>
            <p14:sldId id="700"/>
          </p14:sldIdLst>
        </p14:section>
        <p14:section name="[국외] 조달계획 상세" id="{0F550730-724B-41A3-91AD-127384FAF47D}">
          <p14:sldIdLst>
            <p14:sldId id="706"/>
            <p14:sldId id="660"/>
            <p14:sldId id="661"/>
            <p14:sldId id="665"/>
            <p14:sldId id="707"/>
            <p14:sldId id="668"/>
            <p14:sldId id="708"/>
            <p14:sldId id="672"/>
            <p14:sldId id="663"/>
            <p14:sldId id="664"/>
            <p14:sldId id="709"/>
            <p14:sldId id="710"/>
            <p14:sldId id="711"/>
            <p14:sldId id="682"/>
            <p14:sldId id="712"/>
            <p14:sldId id="713"/>
            <p14:sldId id="714"/>
            <p14:sldId id="670"/>
            <p14:sldId id="726"/>
            <p14:sldId id="685"/>
            <p14:sldId id="673"/>
            <p14:sldId id="674"/>
            <p14:sldId id="715"/>
            <p14:sldId id="716"/>
            <p14:sldId id="717"/>
            <p14:sldId id="7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77" d="100"/>
          <a:sy n="177" d="100"/>
        </p:scale>
        <p:origin x="812" y="104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7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922239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제개정이력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dirty="0" err="1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사용자인터페이스정의서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01.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조달계획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설계서 </a:t>
            </a:r>
            <a:r>
              <a:rPr lang="en-US" altLang="ko-KR" dirty="0"/>
              <a:t>- </a:t>
            </a:r>
            <a:r>
              <a:rPr lang="ko-KR" altLang="en-US" dirty="0"/>
              <a:t>모바일</a:t>
            </a:r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01.</a:t>
            </a:r>
            <a:r>
              <a:rPr lang="ko-KR" altLang="en-US" dirty="0"/>
              <a:t>조달계획</a:t>
            </a:r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D2BA-SIMO_BD-2PD-0301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/>
        </p:nvGraphicFramePr>
        <p:xfrm>
          <a:off x="652374" y="1286787"/>
          <a:ext cx="8782571" cy="2188764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 smtClean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 smtClean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82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 smtClean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44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8" name="Group 759">
            <a:extLst>
              <a:ext uri="{FF2B5EF4-FFF2-40B4-BE49-F238E27FC236}">
                <a16:creationId xmlns:a16="http://schemas.microsoft.com/office/drawing/2014/main" id="{319C15BD-6050-0EF7-51D6-033B70274342}"/>
              </a:ext>
            </a:extLst>
          </p:cNvPr>
          <p:cNvGraphicFramePr>
            <a:graphicFrameLocks noGrp="1"/>
          </p:cNvGraphicFramePr>
          <p:nvPr/>
        </p:nvGraphicFramePr>
        <p:xfrm>
          <a:off x="652374" y="1416776"/>
          <a:ext cx="8782571" cy="964656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8391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584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698922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조달계획 </a:t>
                      </a:r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통합목록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메뉴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 smtClean="0"/>
                        <a:t>국외 </a:t>
                      </a:r>
                      <a:r>
                        <a:rPr lang="ko-KR" altLang="en-US" sz="1200" dirty="0" smtClean="0">
                          <a:latin typeface="+mn-ea"/>
                        </a:rPr>
                        <a:t>조달계획 통합</a:t>
                      </a:r>
                      <a:r>
                        <a:rPr lang="ko-KR" altLang="en-US" sz="1200" dirty="0" smtClean="0"/>
                        <a:t> 목록 메뉴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2.1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2.2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2.3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2.4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6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7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52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52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53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54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55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pPr>
              <a:lnSpc>
                <a:spcPct val="120000"/>
              </a:lnSpc>
            </a:pPr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조달계획 통합</a:t>
            </a:r>
            <a:r>
              <a:rPr lang="ko-KR" altLang="en-US" dirty="0"/>
              <a:t> 목록 메뉴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015810"/>
              </p:ext>
            </p:extLst>
          </p:nvPr>
        </p:nvGraphicFramePr>
        <p:xfrm>
          <a:off x="635474" y="1253620"/>
          <a:ext cx="8701200" cy="47894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MUI-OP-01-M01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통합목록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PrcmIPlanntgListPage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통합 목록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PrcmPlanIntgListPage.tsx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UC-OP-03-01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MUI-OP-01-M02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검색필터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PrcmPlanIntgList_SrchFilter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PrcmPlanIntgList_SrchFilter.tsx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UC-OP-03-01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MUI-OP-01-M03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 중 상세 내용 탭 표시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PrcmPlanDtlPage.tsx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20861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상세내용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내용 탭 표시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24583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품목명세서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PrcmPlanDtl_PrdList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품목명세서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표시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PrcmPlanDtl_PrdList.tsx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4080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업체의견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PrcmPlanDtl_OpnnList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표시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UC-OP-01-02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94996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MUI-OP-01-P06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업체의견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상세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목록에서 상세내용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UC-OP-01-03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9784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MUI-OP-01-P06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업체의견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답변 상세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PprcmPlanDtl_OpnnDtl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목록에서 관리자의 답변 내용 상세내용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UC-OP-01-03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14797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MUI-OP-01-P07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업체의견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등록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PrcmPlanDtl_OpnnReg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목록에서 내용 작성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PrcmPlanDtl_OpnnReg.tsx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3582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MUI-OP-01-M08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PrcmPlanDtl_spclCtrt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계약특수조건 탭 표시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PrcmPlanDtl_spclCtrt.tsx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7834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MUI-OP-01-M09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PrcmPlanDtl_Doc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첨부서류 탭 표시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PrcmPlanDtl_Doc.tsx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93972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MUI-OP-01-P10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입찰공고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알림신청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PrcmPlan_NotiAply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조달계획에서 입찰공고 이후 알림을 신청하는 팝업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PrcmPlan_NotiAply.tsx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5733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MUI-OP-01-P12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연관조달계획상세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AnlPrcmPlanDtl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외 업무 상세화면에서 연관 된 조달계획 정보를 조회한다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AnlPrcmPlanDtl.tsx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66199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3968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pPr>
              <a:lnSpc>
                <a:spcPct val="120000"/>
              </a:lnSpc>
            </a:pPr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조달계획 통합</a:t>
            </a:r>
            <a:r>
              <a:rPr lang="ko-KR" altLang="en-US" dirty="0"/>
              <a:t> 목록 메뉴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697133"/>
              </p:ext>
            </p:extLst>
          </p:nvPr>
        </p:nvGraphicFramePr>
        <p:xfrm>
          <a:off x="635474" y="1253620"/>
          <a:ext cx="8701200" cy="265054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MUI-OP-01-M11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사전규격상세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ko-KR" altLang="en-US" sz="8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중 상세 내용 탭 표시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BfhdSpcfctDtlPage.tsx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14012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MUI-OP-01-M11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상세내용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ko-KR" altLang="en-US" sz="8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중 상세 내용 탭 표시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52319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업체의견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BfhdSpcfctDtl_OpnnList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상세와 동일한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BfhdSpcfctDtl_OpnnList.tsx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UC-OP-01-02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031660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MUI-OP-01-P06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업체의견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상세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BfhdSpcfctDtl_OpnnDtl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업체의견과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동일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BfhdSpcfctDtl_OpnnDtl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UC-OP-01-03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1773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MUI-OP-01-P06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업체의견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등록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BfhdSpcfctDtl_OpnnReg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업체의견과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동일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BfhdSpcfctDtl_OpnnReg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UC-OP-01-03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383956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BfhdSpcfctDtl_Doc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첨부서류 탭 표시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BfhdSpcfctDtl_Doc.tsx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54721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MUI-OP-01-P13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연관사전규격상세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AnlBfhdSpcfctDtl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타메뉴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상세화면에서 연관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사전규격을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조회할 경우 열리는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AnlBfhdSpcfctDtl.tsx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217265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2994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조달 계획 목록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619C48D-7E22-9D49-50C5-2404458A47CE}"/>
              </a:ext>
            </a:extLst>
          </p:cNvPr>
          <p:cNvSpPr txBox="1"/>
          <p:nvPr/>
        </p:nvSpPr>
        <p:spPr>
          <a:xfrm>
            <a:off x="777742" y="6257756"/>
            <a:ext cx="8640000" cy="2696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87313" lvl="0" indent="-87313" fontAlgn="base" latinLnBrk="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조달계획 진입 시 조달계획 목록이 먼저 노출되며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검색 필터에서 </a:t>
            </a:r>
            <a:r>
              <a:rPr lang="ko-KR" altLang="en-US" sz="800" kern="0" dirty="0" err="1">
                <a:solidFill>
                  <a:srgbClr val="0000FF"/>
                </a:solidFill>
                <a:latin typeface="+mn-ea"/>
              </a:rPr>
              <a:t>검색유형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조달계획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800" kern="0" dirty="0" err="1">
                <a:solidFill>
                  <a:srgbClr val="0000FF"/>
                </a:solidFill>
                <a:latin typeface="+mn-ea"/>
              </a:rPr>
              <a:t>사전규격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연간조달계획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)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을 설정함</a:t>
            </a: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검색 필터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9220330" y="3196005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9249327" y="2988513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조달 계획 상세</a:t>
            </a: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162" idx="1"/>
          </p:cNvCxnSpPr>
          <p:nvPr/>
        </p:nvCxnSpPr>
        <p:spPr>
          <a:xfrm>
            <a:off x="3266608" y="1772964"/>
            <a:ext cx="931134" cy="6815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3732175" y="71339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5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2816608" y="1261938"/>
            <a:ext cx="1670329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검색 반영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조달계획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사전규격</a:t>
            </a:r>
            <a:r>
              <a:rPr lang="ko-KR" altLang="en-US" sz="800" dirty="0" smtClean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설정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93451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168656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2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품목명세서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355606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계약특수조건</a:t>
            </a:r>
          </a:p>
        </p:txBody>
      </p:sp>
      <p:sp>
        <p:nvSpPr>
          <p:cNvPr id="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479774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사전규격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3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34" idx="1"/>
          </p:cNvCxnSpPr>
          <p:nvPr/>
        </p:nvCxnSpPr>
        <p:spPr>
          <a:xfrm>
            <a:off x="3266608" y="1772964"/>
            <a:ext cx="931134" cy="31687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417690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첨부서류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62" idx="3"/>
            <a:endCxn id="25" idx="1"/>
          </p:cNvCxnSpPr>
          <p:nvPr/>
        </p:nvCxnSpPr>
        <p:spPr>
          <a:xfrm>
            <a:off x="5097742" y="2454537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24" idx="1"/>
          </p:cNvCxnSpPr>
          <p:nvPr/>
        </p:nvCxnSpPr>
        <p:spPr>
          <a:xfrm flipV="1">
            <a:off x="5097742" y="1830562"/>
            <a:ext cx="931134" cy="6239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23" idx="1"/>
          </p:cNvCxnSpPr>
          <p:nvPr/>
        </p:nvCxnSpPr>
        <p:spPr>
          <a:xfrm>
            <a:off x="5097742" y="2454537"/>
            <a:ext cx="931134" cy="62397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30" idx="1"/>
          </p:cNvCxnSpPr>
          <p:nvPr/>
        </p:nvCxnSpPr>
        <p:spPr>
          <a:xfrm>
            <a:off x="5097742" y="2454537"/>
            <a:ext cx="931134" cy="124553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38" idx="1"/>
          </p:cNvCxnSpPr>
          <p:nvPr/>
        </p:nvCxnSpPr>
        <p:spPr>
          <a:xfrm>
            <a:off x="5097742" y="2454537"/>
            <a:ext cx="931134" cy="186636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860010" y="293451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sp>
        <p:nvSpPr>
          <p:cNvPr id="5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860010" y="355606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등록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ko-KR" altLang="en-US" sz="800" dirty="0">
                <a:solidFill>
                  <a:schemeClr val="tx1"/>
                </a:solidFill>
              </a:rPr>
              <a:t>수정</a:t>
            </a:r>
          </a:p>
        </p:txBody>
      </p:sp>
      <p:cxnSp>
        <p:nvCxnSpPr>
          <p:cNvPr id="5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3" idx="3"/>
            <a:endCxn id="55" idx="1"/>
          </p:cNvCxnSpPr>
          <p:nvPr/>
        </p:nvCxnSpPr>
        <p:spPr>
          <a:xfrm>
            <a:off x="6928876" y="3078513"/>
            <a:ext cx="931134" cy="62155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23" idx="3"/>
            <a:endCxn id="54" idx="1"/>
          </p:cNvCxnSpPr>
          <p:nvPr/>
        </p:nvCxnSpPr>
        <p:spPr>
          <a:xfrm>
            <a:off x="6928876" y="3078513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479774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7860904" y="3433393"/>
            <a:ext cx="54983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>
                <a:solidFill>
                  <a:schemeClr val="tx1"/>
                </a:solidFill>
              </a:rPr>
              <a:t>로그인 필요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541858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860010" y="541858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sp>
        <p:nvSpPr>
          <p:cNvPr id="9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860010" y="604013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등록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ko-KR" altLang="en-US" sz="800" dirty="0">
                <a:solidFill>
                  <a:schemeClr val="tx1"/>
                </a:solidFill>
              </a:rPr>
              <a:t>수정</a:t>
            </a:r>
          </a:p>
        </p:txBody>
      </p:sp>
      <p:cxnSp>
        <p:nvCxnSpPr>
          <p:cNvPr id="9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8" idx="3"/>
            <a:endCxn id="90" idx="1"/>
          </p:cNvCxnSpPr>
          <p:nvPr/>
        </p:nvCxnSpPr>
        <p:spPr>
          <a:xfrm>
            <a:off x="6928876" y="5562580"/>
            <a:ext cx="931134" cy="62155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7860904" y="5917460"/>
            <a:ext cx="54983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>
                <a:solidFill>
                  <a:schemeClr val="tx1"/>
                </a:solidFill>
              </a:rPr>
              <a:t>로그인 필요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88" idx="3"/>
            <a:endCxn id="89" idx="1"/>
          </p:cNvCxnSpPr>
          <p:nvPr/>
        </p:nvCxnSpPr>
        <p:spPr>
          <a:xfrm>
            <a:off x="6928876" y="5562580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34" idx="3"/>
            <a:endCxn id="63" idx="1"/>
          </p:cNvCxnSpPr>
          <p:nvPr/>
        </p:nvCxnSpPr>
        <p:spPr>
          <a:xfrm>
            <a:off x="5097742" y="4941743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88" idx="1"/>
          </p:cNvCxnSpPr>
          <p:nvPr/>
        </p:nvCxnSpPr>
        <p:spPr>
          <a:xfrm>
            <a:off x="5097742" y="4941743"/>
            <a:ext cx="931134" cy="62083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54" idx="3"/>
            <a:endCxn id="158" idx="2"/>
          </p:cNvCxnSpPr>
          <p:nvPr/>
        </p:nvCxnSpPr>
        <p:spPr>
          <a:xfrm>
            <a:off x="8760010" y="3078513"/>
            <a:ext cx="48931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55" idx="3"/>
            <a:endCxn id="158" idx="2"/>
          </p:cNvCxnSpPr>
          <p:nvPr/>
        </p:nvCxnSpPr>
        <p:spPr>
          <a:xfrm flipV="1">
            <a:off x="8760010" y="3078513"/>
            <a:ext cx="489317" cy="62155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9" idx="3"/>
            <a:endCxn id="158" idx="2"/>
          </p:cNvCxnSpPr>
          <p:nvPr/>
        </p:nvCxnSpPr>
        <p:spPr>
          <a:xfrm flipV="1">
            <a:off x="8760010" y="3078513"/>
            <a:ext cx="489317" cy="248406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0" idx="3"/>
            <a:endCxn id="158" idx="2"/>
          </p:cNvCxnSpPr>
          <p:nvPr/>
        </p:nvCxnSpPr>
        <p:spPr>
          <a:xfrm flipV="1">
            <a:off x="8760010" y="3078513"/>
            <a:ext cx="489317" cy="310562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2366608" y="1918348"/>
            <a:ext cx="20518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4197742" y="2619426"/>
            <a:ext cx="97622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국내 물품</a:t>
            </a:r>
            <a:r>
              <a:rPr lang="en-US" altLang="ko-KR" sz="800" dirty="0" smtClean="0">
                <a:solidFill>
                  <a:schemeClr val="tx1"/>
                </a:solidFill>
              </a:rPr>
              <a:t>, </a:t>
            </a:r>
            <a:r>
              <a:rPr lang="ko-KR" altLang="en-US" sz="800" dirty="0" smtClean="0">
                <a:solidFill>
                  <a:schemeClr val="tx1"/>
                </a:solidFill>
              </a:rPr>
              <a:t>용역</a:t>
            </a:r>
            <a:r>
              <a:rPr lang="en-US" altLang="ko-KR" sz="800" dirty="0" smtClean="0">
                <a:solidFill>
                  <a:schemeClr val="tx1"/>
                </a:solidFill>
              </a:rPr>
              <a:t>, </a:t>
            </a:r>
            <a:r>
              <a:rPr lang="ko-KR" altLang="en-US" sz="800" dirty="0" smtClean="0">
                <a:solidFill>
                  <a:schemeClr val="tx1"/>
                </a:solidFill>
              </a:rPr>
              <a:t>공사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r>
              <a:rPr lang="ko-KR" altLang="en-US" sz="800" dirty="0" smtClean="0">
                <a:solidFill>
                  <a:schemeClr val="tx1"/>
                </a:solidFill>
              </a:rPr>
              <a:t>국외 조달판단내역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860010" y="168656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연관사전규격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상세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24" idx="3"/>
            <a:endCxn id="57" idx="1"/>
          </p:cNvCxnSpPr>
          <p:nvPr/>
        </p:nvCxnSpPr>
        <p:spPr>
          <a:xfrm>
            <a:off x="6928876" y="1830562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57" idx="3"/>
            <a:endCxn id="158" idx="2"/>
          </p:cNvCxnSpPr>
          <p:nvPr/>
        </p:nvCxnSpPr>
        <p:spPr>
          <a:xfrm>
            <a:off x="8760010" y="1830562"/>
            <a:ext cx="489317" cy="124795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860010" y="479774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연관조달계획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상세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3" idx="3"/>
            <a:endCxn id="61" idx="1"/>
          </p:cNvCxnSpPr>
          <p:nvPr/>
        </p:nvCxnSpPr>
        <p:spPr>
          <a:xfrm>
            <a:off x="6928876" y="4941743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1" idx="3"/>
            <a:endCxn id="158" idx="2"/>
          </p:cNvCxnSpPr>
          <p:nvPr/>
        </p:nvCxnSpPr>
        <p:spPr>
          <a:xfrm flipV="1">
            <a:off x="8760010" y="3078513"/>
            <a:ext cx="489317" cy="186323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961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조달계획통합목록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PrcmIPlanntgListPage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검색필터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latin typeface="+mn-ea"/>
              </a:rPr>
              <a:t>PrcmPlanIntgList_SrchFilter</a:t>
            </a:r>
            <a:r>
              <a:rPr lang="en-US" altLang="ko-KR" sz="8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8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8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조달 계획 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PrcmPlanDtlPage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&lt;&lt;Controller&gt;&gt;</a:t>
            </a:r>
          </a:p>
          <a:p>
            <a:pPr algn="ctr"/>
            <a:r>
              <a:rPr lang="ko-KR" altLang="en-US" sz="1100" dirty="0" err="1"/>
              <a:t>사전규격</a:t>
            </a:r>
            <a:r>
              <a:rPr lang="ko-KR" altLang="en-US" sz="1100" dirty="0"/>
              <a:t> </a:t>
            </a:r>
            <a:r>
              <a:rPr lang="en-US" altLang="ko-KR" sz="1100" dirty="0"/>
              <a:t>Controller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65266"/>
            <a:ext cx="967509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992582" y="2465584"/>
            <a:ext cx="967509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사전규격</a:t>
            </a:r>
            <a:r>
              <a:rPr lang="ko-KR" altLang="en-US" sz="1000" dirty="0">
                <a:solidFill>
                  <a:schemeClr val="tx1"/>
                </a:solidFill>
              </a:rPr>
              <a:t> 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BfhdSpcfctDtlPage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품목명세서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PrcmPlanDtl_PrdList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업체의견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BfhdSpcfctDtl_OpnnList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.</a:t>
            </a:r>
            <a:r>
              <a:rPr lang="en-US" altLang="ko-KR" sz="1000" dirty="0" err="1">
                <a:solidFill>
                  <a:schemeClr val="tx1"/>
                </a:solidFill>
              </a:rPr>
              <a:t>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3455423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&lt;&lt;Controller&gt;&gt;</a:t>
            </a:r>
          </a:p>
          <a:p>
            <a:pPr algn="ctr"/>
            <a:r>
              <a:rPr lang="ko-KR" altLang="en-US" sz="1100" dirty="0" err="1"/>
              <a:t>검색필터</a:t>
            </a:r>
            <a:r>
              <a:rPr lang="ko-KR" altLang="en-US" sz="1100" dirty="0"/>
              <a:t> </a:t>
            </a:r>
            <a:r>
              <a:rPr lang="en-US" altLang="ko-KR" sz="1100" dirty="0"/>
              <a:t>Controller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28" idx="1"/>
          </p:cNvCxnSpPr>
          <p:nvPr/>
        </p:nvCxnSpPr>
        <p:spPr>
          <a:xfrm>
            <a:off x="5687291" y="2990174"/>
            <a:ext cx="1226127" cy="7082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24604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첨부서류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BfhdSpcfctDtl_Doc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992582" y="2990174"/>
            <a:ext cx="967509" cy="247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038966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&lt;&lt;Controller&gt;&gt;</a:t>
            </a:r>
          </a:p>
          <a:p>
            <a:pPr algn="ctr"/>
            <a:r>
              <a:rPr lang="ko-KR" altLang="en-US" sz="1100" dirty="0"/>
              <a:t>조달계획 </a:t>
            </a:r>
            <a:r>
              <a:rPr lang="en-US" altLang="ko-KR" sz="1100" dirty="0"/>
              <a:t>Controller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30" idx="1"/>
          </p:cNvCxnSpPr>
          <p:nvPr/>
        </p:nvCxnSpPr>
        <p:spPr>
          <a:xfrm flipV="1">
            <a:off x="5687291" y="2281946"/>
            <a:ext cx="1226127" cy="7082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817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</a:t>
            </a:r>
            <a:r>
              <a:rPr lang="en-US" altLang="ko-KR" dirty="0" smtClean="0"/>
              <a:t>[</a:t>
            </a:r>
            <a:r>
              <a:rPr lang="ko-KR" altLang="en-US" dirty="0" smtClean="0"/>
              <a:t>공지사항</a:t>
            </a:r>
            <a:r>
              <a:rPr lang="en-US" altLang="ko-KR" dirty="0" smtClean="0"/>
              <a:t>] </a:t>
            </a:r>
            <a:r>
              <a:rPr lang="ko-KR" altLang="en-US" dirty="0" smtClean="0"/>
              <a:t>및 </a:t>
            </a:r>
            <a:r>
              <a:rPr lang="en-US" altLang="ko-KR" dirty="0" smtClean="0"/>
              <a:t>[</a:t>
            </a:r>
            <a:r>
              <a:rPr lang="ko-KR" altLang="en-US" dirty="0" err="1" smtClean="0"/>
              <a:t>업무도움</a:t>
            </a:r>
            <a:r>
              <a:rPr lang="en-US" altLang="ko-KR" dirty="0"/>
              <a:t>]</a:t>
            </a:r>
            <a:r>
              <a:rPr lang="ko-KR" altLang="en-US" dirty="0" smtClean="0"/>
              <a:t>은 </a:t>
            </a:r>
            <a:r>
              <a:rPr lang="ko-KR" altLang="en-US" dirty="0"/>
              <a:t>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</a:t>
            </a:r>
            <a:r>
              <a:rPr lang="ko-KR" altLang="en-US" dirty="0" smtClean="0"/>
              <a:t>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공지사항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smtClean="0"/>
              <a:t>두가지가 노출될 수 있음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smtClean="0"/>
              <a:t>내역이 있는 경우 표시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내역이 없으면 항목을 표시하지 않음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smtClean="0">
                <a:solidFill>
                  <a:srgbClr val="FF0000"/>
                </a:solidFill>
              </a:rPr>
              <a:t>입찰공고는 </a:t>
            </a:r>
            <a:r>
              <a:rPr lang="en-US" altLang="ko-KR" dirty="0" smtClean="0">
                <a:solidFill>
                  <a:srgbClr val="FF0000"/>
                </a:solidFill>
              </a:rPr>
              <a:t>[</a:t>
            </a:r>
            <a:r>
              <a:rPr lang="ko-KR" altLang="en-US" dirty="0" smtClean="0">
                <a:solidFill>
                  <a:srgbClr val="FF0000"/>
                </a:solidFill>
              </a:rPr>
              <a:t>공지사항</a:t>
            </a:r>
            <a:r>
              <a:rPr lang="en-US" altLang="ko-KR" dirty="0" smtClean="0">
                <a:solidFill>
                  <a:srgbClr val="FF0000"/>
                </a:solidFill>
              </a:rPr>
              <a:t>], [</a:t>
            </a:r>
            <a:r>
              <a:rPr lang="ko-KR" altLang="en-US" dirty="0" err="1" smtClean="0">
                <a:solidFill>
                  <a:srgbClr val="FF0000"/>
                </a:solidFill>
              </a:rPr>
              <a:t>업무도움</a:t>
            </a:r>
            <a:r>
              <a:rPr lang="en-US" altLang="ko-KR" dirty="0" smtClean="0">
                <a:solidFill>
                  <a:srgbClr val="FF0000"/>
                </a:solidFill>
              </a:rPr>
              <a:t>]</a:t>
            </a:r>
            <a:r>
              <a:rPr lang="ko-KR" altLang="en-US" dirty="0" smtClean="0">
                <a:solidFill>
                  <a:srgbClr val="FF0000"/>
                </a:solidFill>
              </a:rPr>
              <a:t>이 존재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다른 목록 화면에서는 </a:t>
            </a:r>
            <a:r>
              <a:rPr lang="en-US" altLang="ko-KR" dirty="0" smtClean="0">
                <a:solidFill>
                  <a:srgbClr val="FF0000"/>
                </a:solidFill>
              </a:rPr>
              <a:t>[</a:t>
            </a:r>
            <a:r>
              <a:rPr lang="ko-KR" altLang="en-US" dirty="0" err="1" smtClean="0">
                <a:solidFill>
                  <a:srgbClr val="FF0000"/>
                </a:solidFill>
              </a:rPr>
              <a:t>업무도움</a:t>
            </a:r>
            <a:r>
              <a:rPr lang="en-US" altLang="ko-KR" dirty="0" smtClean="0">
                <a:solidFill>
                  <a:srgbClr val="FF0000"/>
                </a:solidFill>
              </a:rPr>
              <a:t>] 1</a:t>
            </a:r>
            <a:r>
              <a:rPr lang="ko-KR" altLang="en-US" dirty="0" smtClean="0">
                <a:solidFill>
                  <a:srgbClr val="FF0000"/>
                </a:solidFill>
              </a:rPr>
              <a:t>종만 존재함</a:t>
            </a:r>
            <a:r>
              <a:rPr lang="en-US" altLang="ko-KR" dirty="0" smtClean="0">
                <a:solidFill>
                  <a:srgbClr val="FF0000"/>
                </a:solidFill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검색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 err="1"/>
              <a:t>조달명</a:t>
            </a:r>
            <a:r>
              <a:rPr lang="ko-KR" altLang="en-US" dirty="0"/>
              <a:t> 선택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내용이 있는 경우 초기화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 버튼 클릭 시 즉시 목록 초기화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버튼은 표준에 따름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필터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en-US" altLang="ko-KR" dirty="0"/>
              <a:t>:</a:t>
            </a:r>
            <a:r>
              <a:rPr lang="ko-KR" altLang="en-US" dirty="0"/>
              <a:t> 검색 필터 </a:t>
            </a:r>
            <a:r>
              <a:rPr lang="ko-KR" altLang="en-US" dirty="0" err="1"/>
              <a:t>풀페이지</a:t>
            </a:r>
            <a:r>
              <a:rPr lang="ko-KR" altLang="en-US" dirty="0"/>
              <a:t> 팝업 </a:t>
            </a:r>
            <a:r>
              <a:rPr lang="ko-KR" altLang="en-US" dirty="0" smtClean="0"/>
              <a:t>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검색 필터 설정이 있는 경우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건수</a:t>
            </a:r>
            <a:r>
              <a:rPr lang="en-US" altLang="ko-KR" dirty="0"/>
              <a:t>, </a:t>
            </a:r>
            <a:r>
              <a:rPr lang="ko-KR" altLang="en-US" dirty="0"/>
              <a:t>개수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</a:t>
            </a:r>
            <a:r>
              <a:rPr lang="ko-KR" altLang="en-US" dirty="0" smtClean="0"/>
              <a:t>레이블</a:t>
            </a:r>
            <a:r>
              <a:rPr lang="en-US" altLang="ko-KR" dirty="0" smtClean="0"/>
              <a:t>(5</a:t>
            </a:r>
            <a:r>
              <a:rPr lang="ko-KR" altLang="en-US" dirty="0" err="1" smtClean="0"/>
              <a:t>번항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 </a:t>
            </a:r>
            <a:r>
              <a:rPr lang="ko-KR" altLang="en-US" dirty="0"/>
              <a:t>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en-US" altLang="ko-KR" dirty="0" smtClean="0"/>
              <a:t>[</a:t>
            </a:r>
            <a:r>
              <a:rPr lang="ko-KR" altLang="en-US" dirty="0" smtClean="0"/>
              <a:t>공통</a:t>
            </a:r>
            <a:r>
              <a:rPr lang="en-US" altLang="ko-KR" dirty="0" smtClean="0"/>
              <a:t>] </a:t>
            </a:r>
            <a:r>
              <a:rPr lang="ko-KR" altLang="en-US" dirty="0" smtClean="0"/>
              <a:t>카드 </a:t>
            </a:r>
            <a:r>
              <a:rPr lang="ko-KR" altLang="en-US" dirty="0"/>
              <a:t>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smtClean="0"/>
              <a:t>상단 </a:t>
            </a:r>
            <a:r>
              <a:rPr lang="ko-KR" altLang="en-US" dirty="0"/>
              <a:t>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</a:t>
            </a:r>
            <a:r>
              <a:rPr lang="ko-KR" altLang="en-US" dirty="0" smtClean="0"/>
              <a:t>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조달계획 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- </a:t>
            </a:r>
            <a:r>
              <a:rPr lang="ko-KR" altLang="en-US" dirty="0"/>
              <a:t>조달계획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조달계획 </a:t>
            </a:r>
            <a:r>
              <a:rPr lang="ko-KR" altLang="en-US" sz="800" dirty="0" err="1">
                <a:latin typeface="+mn-ea"/>
              </a:rPr>
              <a:t>통합목록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94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81461" y="3301466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6000A</a:t>
              </a:r>
            </a:p>
            <a:p>
              <a:r>
                <a:rPr lang="en-US" altLang="ko-KR" sz="900" b="1" dirty="0"/>
                <a:t>‘26</a:t>
              </a:r>
              <a:r>
                <a:rPr lang="ko-KR" altLang="en-US" sz="900" b="1" dirty="0"/>
                <a:t>년 </a:t>
              </a:r>
              <a:r>
                <a:rPr lang="en-US" altLang="ko-KR" sz="900" b="1" dirty="0"/>
                <a:t>K5</a:t>
              </a:r>
              <a:r>
                <a:rPr lang="ko-KR" altLang="en-US" sz="900" b="1" dirty="0"/>
                <a:t>방독면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538609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2026-03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화력총괄계약팀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22320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600795"/>
            <a:ext cx="2476203" cy="1083172"/>
            <a:chOff x="778515" y="2610063"/>
            <a:chExt cx="2476203" cy="1083172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2026-00590</a:t>
              </a:r>
            </a:p>
            <a:p>
              <a:r>
                <a:rPr lang="en-US" altLang="ko-KR" sz="900" b="1" dirty="0"/>
                <a:t>26-</a:t>
              </a:r>
              <a:r>
                <a:rPr lang="ko-KR" altLang="en-US" sz="900" b="1" dirty="0"/>
                <a:t>평 절개지 복구공사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9911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92,472,000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공사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제한경쟁</a:t>
              </a:r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8227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757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6734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7</a:t>
            </a:r>
            <a:endParaRPr lang="ko-KR" altLang="en-US" sz="900" b="1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발주기관 전체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발주기관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방위사업청</a:t>
            </a:r>
            <a:endParaRPr lang="ko-KR" altLang="en-US" sz="600" dirty="0"/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조달본부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경리단</a:t>
            </a:r>
            <a:endParaRPr lang="ko-KR" altLang="en-US" sz="600" dirty="0"/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군수사</a:t>
            </a:r>
            <a:endParaRPr lang="ko-KR" altLang="en-US" sz="6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교육사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학교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근지단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군병원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본부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-9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-A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기타</a:t>
            </a: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4321056" y="2203671"/>
            <a:ext cx="39399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조달계획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4762118" y="220367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사전규격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5221341" y="2203671"/>
            <a:ext cx="56515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연간조달계획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20951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검색유형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79" name="그룹 178"/>
          <p:cNvGrpSpPr/>
          <p:nvPr/>
        </p:nvGrpSpPr>
        <p:grpSpPr>
          <a:xfrm>
            <a:off x="3024315" y="3160671"/>
            <a:ext cx="776938" cy="1131139"/>
            <a:chOff x="3004764" y="2490533"/>
            <a:chExt cx="776938" cy="1131139"/>
          </a:xfrm>
        </p:grpSpPr>
        <p:sp>
          <p:nvSpPr>
            <p:cNvPr id="182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4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sp>
          <p:nvSpPr>
            <p:cNvPr id="185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50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grpSp>
          <p:nvGrpSpPr>
            <p:cNvPr id="186" name="그룹 185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2" name="그룹 191"/>
          <p:cNvGrpSpPr/>
          <p:nvPr/>
        </p:nvGrpSpPr>
        <p:grpSpPr>
          <a:xfrm>
            <a:off x="3143548" y="2983035"/>
            <a:ext cx="94010" cy="47005"/>
            <a:chOff x="6812560" y="3297172"/>
            <a:chExt cx="94010" cy="47005"/>
          </a:xfrm>
        </p:grpSpPr>
        <p:cxnSp>
          <p:nvCxnSpPr>
            <p:cNvPr id="193" name="직선 연결선 19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직선 연결선 19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5" name="그룹 194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96" name="모서리가 둥근 직사각형 195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타원 196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99" name="그룹 198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20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조달명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207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판단번호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200" name="타원 199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201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202" name="타원 201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3" name="그룹 20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204" name="직선 연결선 20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직선 연결선 20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21015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3550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42243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21791" y="225030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744573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</a:t>
            </a:r>
            <a:r>
              <a:rPr lang="en-US" altLang="ko-KR" dirty="0"/>
              <a:t>[</a:t>
            </a:r>
            <a:r>
              <a:rPr lang="ko-KR" altLang="en-US" dirty="0"/>
              <a:t>공지사항</a:t>
            </a:r>
            <a:r>
              <a:rPr lang="en-US" altLang="ko-KR" dirty="0"/>
              <a:t>] </a:t>
            </a:r>
            <a:r>
              <a:rPr lang="ko-KR" altLang="en-US" dirty="0"/>
              <a:t>및 </a:t>
            </a:r>
            <a:r>
              <a:rPr lang="en-US" altLang="ko-KR" dirty="0"/>
              <a:t>[</a:t>
            </a:r>
            <a:r>
              <a:rPr lang="ko-KR" altLang="en-US" dirty="0" err="1"/>
              <a:t>업무도움</a:t>
            </a:r>
            <a:r>
              <a:rPr lang="en-US" altLang="ko-KR" dirty="0"/>
              <a:t>]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</a:t>
            </a:r>
            <a:r>
              <a:rPr lang="en-US" altLang="ko-KR" dirty="0"/>
              <a:t>, </a:t>
            </a:r>
            <a:r>
              <a:rPr lang="ko-KR" altLang="en-US" dirty="0" err="1"/>
              <a:t>업무도움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두가지가 노출될 수 있음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내역이 있는 경우 표시</a:t>
            </a:r>
            <a:r>
              <a:rPr lang="en-US" altLang="ko-KR" dirty="0"/>
              <a:t>, </a:t>
            </a:r>
            <a:r>
              <a:rPr lang="ko-KR" altLang="en-US" dirty="0"/>
              <a:t>내역이 없으면 항목을 표시하지 않음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>
                <a:solidFill>
                  <a:srgbClr val="FF0000"/>
                </a:solidFill>
              </a:rPr>
              <a:t>입찰공고는 </a:t>
            </a: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>
                <a:solidFill>
                  <a:srgbClr val="FF0000"/>
                </a:solidFill>
              </a:rPr>
              <a:t>공지사항</a:t>
            </a:r>
            <a:r>
              <a:rPr lang="en-US" altLang="ko-KR" dirty="0">
                <a:solidFill>
                  <a:srgbClr val="FF0000"/>
                </a:solidFill>
              </a:rPr>
              <a:t>], [</a:t>
            </a:r>
            <a:r>
              <a:rPr lang="ko-KR" altLang="en-US" dirty="0" err="1">
                <a:solidFill>
                  <a:srgbClr val="FF0000"/>
                </a:solidFill>
              </a:rPr>
              <a:t>업무도움</a:t>
            </a:r>
            <a:r>
              <a:rPr lang="en-US" altLang="ko-KR" dirty="0">
                <a:solidFill>
                  <a:srgbClr val="FF0000"/>
                </a:solidFill>
              </a:rPr>
              <a:t>]</a:t>
            </a:r>
            <a:r>
              <a:rPr lang="ko-KR" altLang="en-US" dirty="0">
                <a:solidFill>
                  <a:srgbClr val="FF0000"/>
                </a:solidFill>
              </a:rPr>
              <a:t>이 존재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다른 목록 화면에서는 </a:t>
            </a: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 err="1">
                <a:solidFill>
                  <a:srgbClr val="FF0000"/>
                </a:solidFill>
              </a:rPr>
              <a:t>업무도움</a:t>
            </a:r>
            <a:r>
              <a:rPr lang="en-US" altLang="ko-KR" dirty="0">
                <a:solidFill>
                  <a:srgbClr val="FF0000"/>
                </a:solidFill>
              </a:rPr>
              <a:t>] 1</a:t>
            </a:r>
            <a:r>
              <a:rPr lang="ko-KR" altLang="en-US" dirty="0">
                <a:solidFill>
                  <a:srgbClr val="FF0000"/>
                </a:solidFill>
              </a:rPr>
              <a:t>종만 존재함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검색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 err="1"/>
              <a:t>조달명</a:t>
            </a:r>
            <a:r>
              <a:rPr lang="ko-KR" altLang="en-US" dirty="0"/>
              <a:t> 선택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내용이 있는 경우 초기화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 버튼 클릭 시 즉시 목록 초기화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버튼은 표준에 따름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필터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en-US" altLang="ko-KR" dirty="0"/>
              <a:t>:</a:t>
            </a:r>
            <a:r>
              <a:rPr lang="ko-KR" altLang="en-US" dirty="0"/>
              <a:t> 검색 필터 </a:t>
            </a:r>
            <a:r>
              <a:rPr lang="ko-KR" altLang="en-US" dirty="0" err="1"/>
              <a:t>풀페이지</a:t>
            </a:r>
            <a:r>
              <a:rPr lang="ko-KR" altLang="en-US" dirty="0"/>
              <a:t> 팝업 </a:t>
            </a:r>
            <a:r>
              <a:rPr lang="ko-KR" altLang="en-US" dirty="0" smtClean="0"/>
              <a:t>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필터 설정이 있는 경우 </a:t>
            </a:r>
            <a:r>
              <a:rPr lang="ko-KR" altLang="en-US" dirty="0" smtClean="0"/>
              <a:t>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건수</a:t>
            </a:r>
            <a:r>
              <a:rPr lang="en-US" altLang="ko-KR" dirty="0"/>
              <a:t>, </a:t>
            </a:r>
            <a:r>
              <a:rPr lang="ko-KR" altLang="en-US" dirty="0"/>
              <a:t>개수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</a:t>
            </a:r>
            <a:r>
              <a:rPr lang="en-US" altLang="ko-KR" dirty="0"/>
              <a:t>(5</a:t>
            </a:r>
            <a:r>
              <a:rPr lang="ko-KR" altLang="en-US" dirty="0" err="1"/>
              <a:t>번항</a:t>
            </a:r>
            <a:r>
              <a:rPr lang="en-US" altLang="ko-KR" dirty="0"/>
              <a:t>)</a:t>
            </a:r>
            <a:r>
              <a:rPr lang="ko-KR" altLang="en-US" dirty="0"/>
              <a:t>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카드 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/>
              <a:t>조달계획 </a:t>
            </a:r>
            <a:r>
              <a:rPr lang="ko-KR" altLang="en-US" dirty="0" err="1" smtClean="0"/>
              <a:t>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/>
              <a:t>조달계획 </a:t>
            </a:r>
            <a:r>
              <a:rPr lang="ko-KR" altLang="en-US" dirty="0" err="1" smtClean="0"/>
              <a:t>통합목록</a:t>
            </a:r>
            <a:r>
              <a:rPr lang="ko-KR" altLang="en-US" dirty="0" smtClean="0"/>
              <a:t> 화면 </a:t>
            </a:r>
            <a:r>
              <a:rPr lang="en-US" altLang="ko-KR" dirty="0" smtClean="0"/>
              <a:t>- </a:t>
            </a:r>
            <a:r>
              <a:rPr lang="ko-KR" altLang="en-US" dirty="0" err="1" smtClean="0"/>
              <a:t>사전계획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홈 </a:t>
            </a:r>
            <a:r>
              <a:rPr lang="en-US" altLang="ko-KR" dirty="0" smtClean="0"/>
              <a:t>&gt; </a:t>
            </a:r>
            <a:r>
              <a:rPr lang="ko-KR" altLang="en-US" dirty="0" smtClean="0">
                <a:latin typeface="+mn-ea"/>
              </a:rPr>
              <a:t>조달계획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조달계획 </a:t>
            </a:r>
            <a:r>
              <a:rPr lang="ko-KR" altLang="en-US" sz="800" dirty="0" err="1" smtClean="0">
                <a:latin typeface="+mn-ea"/>
              </a:rPr>
              <a:t>통합목록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81461" y="3268969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 smtClean="0"/>
                <a:t>판단번호</a:t>
              </a:r>
              <a:r>
                <a:rPr lang="ko-KR" altLang="en-US" sz="700" dirty="0" smtClean="0"/>
                <a:t> </a:t>
              </a:r>
              <a:r>
                <a:rPr lang="en-US" altLang="ko-KR" sz="700" dirty="0" smtClean="0"/>
                <a:t>99001</a:t>
              </a:r>
            </a:p>
            <a:p>
              <a:r>
                <a:rPr lang="ko-KR" altLang="en-US" sz="900" b="1" dirty="0" err="1" smtClean="0"/>
                <a:t>공마대</a:t>
              </a:r>
              <a:r>
                <a:rPr lang="ko-KR" altLang="en-US" sz="900" b="1" dirty="0" smtClean="0"/>
                <a:t> 등 </a:t>
              </a:r>
              <a:r>
                <a:rPr lang="en-US" altLang="ko-KR" sz="900" b="1" dirty="0" smtClean="0"/>
                <a:t>41</a:t>
              </a:r>
              <a:r>
                <a:rPr lang="ko-KR" altLang="en-US" sz="900" b="1" dirty="0" smtClean="0"/>
                <a:t>종 구매</a:t>
              </a:r>
              <a:endParaRPr lang="ko-KR" altLang="en-US" sz="900" b="1" dirty="0"/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공개일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발주기관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예산금액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접수기간</a:t>
              </a:r>
              <a:endParaRPr lang="en-US" altLang="ko-KR" sz="600" dirty="0" smtClean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3346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제</a:t>
              </a:r>
              <a:r>
                <a:rPr lang="en-US" altLang="ko-KR" sz="600" dirty="0" smtClean="0">
                  <a:latin typeface="+mn-ea"/>
                </a:rPr>
                <a:t>8385</a:t>
              </a:r>
              <a:r>
                <a:rPr lang="ko-KR" altLang="en-US" sz="600" dirty="0" smtClean="0">
                  <a:latin typeface="+mn-ea"/>
                </a:rPr>
                <a:t>부대</a:t>
              </a:r>
              <a:endParaRPr lang="en-US" altLang="ko-KR" sz="600" dirty="0" smtClean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11,616,000 </a:t>
              </a:r>
              <a:r>
                <a:rPr lang="ko-KR" altLang="en-US" sz="600" dirty="0" smtClean="0">
                  <a:latin typeface="+mn-ea"/>
                </a:rPr>
                <a:t>원</a:t>
              </a:r>
              <a:endParaRPr lang="en-US" altLang="ko-KR" sz="600" dirty="0" smtClean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2026-02-10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 smtClean="0">
                  <a:latin typeface="+mn-ea"/>
                </a:rPr>
                <a:t>~ 2026-02-12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smtClean="0"/>
                <a:t>수의계약</a:t>
              </a:r>
              <a:endParaRPr lang="ko-KR" altLang="en-US" sz="600" dirty="0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500573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568298"/>
            <a:ext cx="2476203" cy="1083172"/>
            <a:chOff x="778515" y="2610063"/>
            <a:chExt cx="2476203" cy="1083172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 smtClean="0"/>
                <a:t>03665</a:t>
              </a:r>
              <a:endParaRPr lang="en-US" altLang="ko-KR" sz="700" dirty="0"/>
            </a:p>
            <a:p>
              <a:r>
                <a:rPr lang="en-US" altLang="ko-KR" sz="900" b="1" dirty="0" smtClean="0"/>
                <a:t>26~27-N-</a:t>
              </a:r>
              <a:r>
                <a:rPr lang="ko-KR" altLang="en-US" sz="900" b="1" dirty="0" smtClean="0"/>
                <a:t>정보체계 </a:t>
              </a:r>
              <a:r>
                <a:rPr lang="en-US" altLang="ko-KR" sz="900" b="1" dirty="0" smtClean="0"/>
                <a:t>2</a:t>
              </a:r>
              <a:r>
                <a:rPr lang="ko-KR" altLang="en-US" sz="900" b="1" dirty="0" smtClean="0"/>
                <a:t>차 재개발</a:t>
              </a:r>
              <a:endParaRPr lang="ko-KR" altLang="en-US" sz="900" b="1" dirty="0"/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공개일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34219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2026-01-03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국군재정관리단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2,596,060,616,000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2026-01-03</a:t>
              </a:r>
              <a:r>
                <a:rPr lang="ko-KR" altLang="en-US" sz="600" dirty="0" smtClean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</a:t>
              </a:r>
              <a:r>
                <a:rPr lang="en-US" altLang="ko-KR" sz="600" dirty="0" smtClean="0">
                  <a:latin typeface="+mn-ea"/>
                </a:rPr>
                <a:t>2026-01-14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smtClean="0">
                  <a:solidFill>
                    <a:schemeClr val="dk1"/>
                  </a:solidFill>
                </a:rPr>
                <a:t>용역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smtClean="0"/>
                <a:t>제한경쟁</a:t>
              </a:r>
              <a:endParaRPr lang="ko-KR" altLang="en-US" sz="600" dirty="0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4977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173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101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공지사항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용역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공사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국외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전체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일반경쟁</a:t>
            </a:r>
            <a:endParaRPr lang="ko-KR" altLang="en-US" sz="6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계약방법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지명경쟁</a:t>
            </a:r>
            <a:endParaRPr lang="ko-KR" altLang="en-US" sz="600" dirty="0"/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제한경쟁</a:t>
            </a:r>
            <a:endParaRPr lang="ko-KR" altLang="en-US" sz="600" dirty="0"/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수의계약</a:t>
            </a:r>
            <a:endParaRPr lang="ko-KR" altLang="en-US" sz="600" dirty="0"/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협상에의한</a:t>
            </a:r>
            <a:r>
              <a:rPr lang="ko-KR" altLang="en-US" sz="600" dirty="0" smtClean="0"/>
              <a:t> 계약</a:t>
            </a:r>
            <a:r>
              <a:rPr lang="en-US" altLang="ko-KR" sz="600" dirty="0" smtClean="0"/>
              <a:t>(</a:t>
            </a:r>
            <a:r>
              <a:rPr lang="ko-KR" altLang="en-US" sz="600" dirty="0" smtClean="0"/>
              <a:t>서류</a:t>
            </a:r>
            <a:r>
              <a:rPr lang="en-US" altLang="ko-KR" sz="600" dirty="0" smtClean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 smtClean="0"/>
              <a:t>2</a:t>
            </a:r>
            <a:r>
              <a:rPr lang="ko-KR" altLang="en-US" sz="600" dirty="0" smtClean="0"/>
              <a:t>단계 경쟁</a:t>
            </a:r>
            <a:r>
              <a:rPr lang="en-US" altLang="ko-KR" sz="600" dirty="0" smtClean="0"/>
              <a:t>(</a:t>
            </a:r>
            <a:r>
              <a:rPr lang="ko-KR" altLang="en-US" sz="600" dirty="0" smtClean="0"/>
              <a:t>동시</a:t>
            </a:r>
            <a:r>
              <a:rPr lang="en-US" altLang="ko-KR" sz="600" dirty="0" smtClean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 smtClean="0"/>
              <a:t>2</a:t>
            </a:r>
            <a:r>
              <a:rPr lang="ko-KR" altLang="en-US" sz="600" dirty="0" smtClean="0"/>
              <a:t>단계 경쟁</a:t>
            </a:r>
            <a:r>
              <a:rPr lang="en-US" altLang="ko-KR" sz="600" dirty="0" smtClean="0"/>
              <a:t>(</a:t>
            </a:r>
            <a:r>
              <a:rPr lang="ko-KR" altLang="en-US" sz="600" dirty="0" smtClean="0"/>
              <a:t>분리</a:t>
            </a:r>
            <a:r>
              <a:rPr lang="en-US" altLang="ko-KR" sz="600" dirty="0" smtClean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협상에의한</a:t>
            </a:r>
            <a:r>
              <a:rPr lang="ko-KR" altLang="en-US" sz="600" dirty="0" smtClean="0"/>
              <a:t> 계약</a:t>
            </a:r>
            <a:r>
              <a:rPr lang="en-US" altLang="ko-KR" sz="600" dirty="0" smtClean="0"/>
              <a:t>(</a:t>
            </a:r>
            <a:r>
              <a:rPr lang="ko-KR" altLang="en-US" sz="600" dirty="0" smtClean="0"/>
              <a:t>전자</a:t>
            </a:r>
            <a:r>
              <a:rPr lang="en-US" altLang="ko-KR" sz="600" dirty="0" smtClean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역경매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발주기관 전체</a:t>
            </a:r>
            <a:endParaRPr lang="ko-KR" altLang="en-US" sz="6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발주기관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/>
              <a:t>방위사업청</a:t>
            </a:r>
            <a:endParaRPr lang="ko-KR" altLang="en-US" sz="600" dirty="0"/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조달본부</a:t>
            </a:r>
            <a:endParaRPr lang="ko-KR" altLang="en-US" sz="600" dirty="0"/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경리단</a:t>
            </a:r>
            <a:endParaRPr lang="ko-KR" altLang="en-US" sz="600" dirty="0"/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/>
              <a:t>군수사</a:t>
            </a:r>
            <a:endParaRPr lang="ko-KR" altLang="en-US" sz="6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교육사</a:t>
            </a:r>
            <a:endParaRPr lang="ko-KR" altLang="en-US" sz="600" dirty="0"/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학교</a:t>
            </a:r>
            <a:endParaRPr lang="ko-KR" altLang="en-US" sz="600" dirty="0"/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근지단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/>
              <a:t>군병원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본부</a:t>
            </a:r>
            <a:endParaRPr lang="ko-KR" altLang="en-US" sz="600" dirty="0"/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국방부</a:t>
            </a:r>
            <a:r>
              <a:rPr lang="en-US" altLang="ko-KR" sz="600" dirty="0" smtClean="0"/>
              <a:t>-9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국방부</a:t>
            </a:r>
            <a:r>
              <a:rPr lang="en-US" altLang="ko-KR" sz="600" dirty="0" smtClean="0"/>
              <a:t>-A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기타</a:t>
            </a:r>
            <a:endParaRPr lang="ko-KR" altLang="en-US" sz="600" dirty="0"/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4321056" y="2203671"/>
            <a:ext cx="39399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조달계획</a:t>
            </a:r>
            <a:endParaRPr lang="ko-KR" altLang="en-US" sz="600" dirty="0"/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4762118" y="220367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사전규격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5221341" y="2203671"/>
            <a:ext cx="56515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연간조달계획</a:t>
            </a:r>
            <a:endParaRPr lang="ko-KR" altLang="en-US" sz="600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20951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검색유형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 smtClean="0">
                <a:latin typeface="+mn-ea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smtClean="0">
                <a:latin typeface="+mn-ea"/>
              </a:rPr>
              <a:t>표시 개수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10 </a:t>
            </a:r>
            <a:r>
              <a:rPr lang="ko-KR" altLang="en-US" sz="700" dirty="0" smtClean="0">
                <a:latin typeface="+mn-ea"/>
              </a:rPr>
              <a:t>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0" name="그룹 109"/>
          <p:cNvGrpSpPr/>
          <p:nvPr/>
        </p:nvGrpSpPr>
        <p:grpSpPr>
          <a:xfrm>
            <a:off x="3143548" y="2983035"/>
            <a:ext cx="94010" cy="47005"/>
            <a:chOff x="6812560" y="3297172"/>
            <a:chExt cx="94010" cy="47005"/>
          </a:xfrm>
        </p:grpSpPr>
        <p:cxnSp>
          <p:nvCxnSpPr>
            <p:cNvPr id="111" name="직선 연결선 1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직선 연결선 1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3" name="그룹 112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14" name="모서리가 둥근 직사각형 113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17" name="그룹 116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2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 smtClean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조달명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33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 smtClean="0">
                    <a:latin typeface="맑은 고딕"/>
                    <a:ea typeface="맑은 고딕" panose="020B0503020000020004" pitchFamily="50" charset="-127"/>
                  </a:rPr>
                  <a:t>판단번호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18" name="타원 11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 smtClean="0"/>
                <a:t>V</a:t>
              </a:r>
              <a:endParaRPr lang="ko-KR" altLang="en-US" sz="600" dirty="0"/>
            </a:p>
          </p:txBody>
        </p:sp>
        <p:sp>
          <p:nvSpPr>
            <p:cNvPr id="11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 smtClean="0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20" name="타원 11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3" name="그룹 12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4" name="직선 연결선 12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3550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41" name="그룹 140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142" name="직선 연결선 1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직선 연결선 1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4" name="타원 14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94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6734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7</a:t>
            </a:r>
            <a:endParaRPr lang="ko-KR" altLang="en-US" sz="900" b="1" dirty="0"/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42243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21791" y="225030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93396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상단 </a:t>
            </a:r>
            <a:r>
              <a:rPr lang="en-US" altLang="ko-KR" dirty="0"/>
              <a:t>[</a:t>
            </a:r>
            <a:r>
              <a:rPr lang="ko-KR" altLang="en-US" dirty="0"/>
              <a:t>공지사항</a:t>
            </a:r>
            <a:r>
              <a:rPr lang="en-US" altLang="ko-KR" dirty="0"/>
              <a:t>] </a:t>
            </a:r>
            <a:r>
              <a:rPr lang="ko-KR" altLang="en-US" dirty="0"/>
              <a:t>및 </a:t>
            </a:r>
            <a:r>
              <a:rPr lang="en-US" altLang="ko-KR" dirty="0"/>
              <a:t>[</a:t>
            </a:r>
            <a:r>
              <a:rPr lang="ko-KR" altLang="en-US" dirty="0" err="1"/>
              <a:t>업무도움</a:t>
            </a:r>
            <a:r>
              <a:rPr lang="en-US" altLang="ko-KR" dirty="0"/>
              <a:t>]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</a:t>
            </a:r>
            <a:r>
              <a:rPr lang="en-US" altLang="ko-KR" dirty="0"/>
              <a:t>, </a:t>
            </a:r>
            <a:r>
              <a:rPr lang="ko-KR" altLang="en-US" dirty="0" err="1"/>
              <a:t>업무도움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두가지가 노출될 수 있음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내역이 있는 경우 표시</a:t>
            </a:r>
            <a:r>
              <a:rPr lang="en-US" altLang="ko-KR" dirty="0"/>
              <a:t>, </a:t>
            </a:r>
            <a:r>
              <a:rPr lang="ko-KR" altLang="en-US" dirty="0"/>
              <a:t>내역이 없으면 항목을 표시하지 않음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>
                <a:solidFill>
                  <a:srgbClr val="FF0000"/>
                </a:solidFill>
              </a:rPr>
              <a:t>입찰공고는 </a:t>
            </a: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>
                <a:solidFill>
                  <a:srgbClr val="FF0000"/>
                </a:solidFill>
              </a:rPr>
              <a:t>공지사항</a:t>
            </a:r>
            <a:r>
              <a:rPr lang="en-US" altLang="ko-KR" dirty="0">
                <a:solidFill>
                  <a:srgbClr val="FF0000"/>
                </a:solidFill>
              </a:rPr>
              <a:t>], [</a:t>
            </a:r>
            <a:r>
              <a:rPr lang="ko-KR" altLang="en-US" dirty="0" err="1">
                <a:solidFill>
                  <a:srgbClr val="FF0000"/>
                </a:solidFill>
              </a:rPr>
              <a:t>업무도움</a:t>
            </a:r>
            <a:r>
              <a:rPr lang="en-US" altLang="ko-KR" dirty="0">
                <a:solidFill>
                  <a:srgbClr val="FF0000"/>
                </a:solidFill>
              </a:rPr>
              <a:t>]</a:t>
            </a:r>
            <a:r>
              <a:rPr lang="ko-KR" altLang="en-US" dirty="0">
                <a:solidFill>
                  <a:srgbClr val="FF0000"/>
                </a:solidFill>
              </a:rPr>
              <a:t>이 존재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다른 목록 화면에서는 </a:t>
            </a: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 err="1">
                <a:solidFill>
                  <a:srgbClr val="FF0000"/>
                </a:solidFill>
              </a:rPr>
              <a:t>업무도움</a:t>
            </a:r>
            <a:r>
              <a:rPr lang="en-US" altLang="ko-KR" dirty="0">
                <a:solidFill>
                  <a:srgbClr val="FF0000"/>
                </a:solidFill>
              </a:rPr>
              <a:t>] 1</a:t>
            </a:r>
            <a:r>
              <a:rPr lang="ko-KR" altLang="en-US" dirty="0">
                <a:solidFill>
                  <a:srgbClr val="FF0000"/>
                </a:solidFill>
              </a:rPr>
              <a:t>종만 존재함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검색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연간조달계획으로 필터가 설정되는 경우 검색 </a:t>
            </a:r>
            <a:r>
              <a:rPr lang="ko-KR" altLang="en-US" dirty="0" smtClean="0"/>
              <a:t>버튼 값 </a:t>
            </a:r>
            <a:r>
              <a:rPr lang="ko-KR" altLang="en-US" dirty="0"/>
              <a:t>변경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재고번호</a:t>
            </a:r>
            <a:r>
              <a:rPr lang="en-US" altLang="ko-KR" dirty="0"/>
              <a:t>, </a:t>
            </a:r>
            <a:r>
              <a:rPr lang="ko-KR" altLang="en-US" dirty="0"/>
              <a:t>조달요구번호 검색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 err="1" smtClean="0"/>
              <a:t>재고번호</a:t>
            </a:r>
            <a:r>
              <a:rPr lang="ko-KR" altLang="en-US" dirty="0" smtClean="0"/>
              <a:t> </a:t>
            </a:r>
            <a:r>
              <a:rPr lang="ko-KR" altLang="en-US" dirty="0"/>
              <a:t>선택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내용이 있는 경우 초기화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 버튼 클릭 시 즉시 목록 초기화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버튼은 표준에 </a:t>
            </a:r>
            <a:r>
              <a:rPr lang="ko-KR" altLang="en-US" dirty="0" smtClean="0"/>
              <a:t>따름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필터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en-US" altLang="ko-KR" dirty="0"/>
              <a:t>:</a:t>
            </a:r>
            <a:r>
              <a:rPr lang="ko-KR" altLang="en-US" dirty="0"/>
              <a:t> 검색 필터 </a:t>
            </a:r>
            <a:r>
              <a:rPr lang="ko-KR" altLang="en-US" dirty="0" err="1"/>
              <a:t>풀페이지</a:t>
            </a:r>
            <a:r>
              <a:rPr lang="ko-KR" altLang="en-US" dirty="0"/>
              <a:t> 팝업 </a:t>
            </a:r>
            <a:r>
              <a:rPr lang="ko-KR" altLang="en-US" dirty="0" smtClean="0"/>
              <a:t>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필터 설정이 있는 경우 </a:t>
            </a:r>
            <a:r>
              <a:rPr lang="ko-KR" altLang="en-US" dirty="0" smtClean="0"/>
              <a:t>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건수</a:t>
            </a:r>
            <a:r>
              <a:rPr lang="en-US" altLang="ko-KR" dirty="0"/>
              <a:t>, </a:t>
            </a:r>
            <a:r>
              <a:rPr lang="ko-KR" altLang="en-US" dirty="0"/>
              <a:t>개수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</a:t>
            </a:r>
            <a:r>
              <a:rPr lang="en-US" altLang="ko-KR" dirty="0"/>
              <a:t>(5</a:t>
            </a:r>
            <a:r>
              <a:rPr lang="ko-KR" altLang="en-US" dirty="0" err="1"/>
              <a:t>번항</a:t>
            </a:r>
            <a:r>
              <a:rPr lang="en-US" altLang="ko-KR" dirty="0"/>
              <a:t>)</a:t>
            </a:r>
            <a:r>
              <a:rPr lang="ko-KR" altLang="en-US" dirty="0"/>
              <a:t>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카드 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</a:t>
            </a:r>
            <a:r>
              <a:rPr lang="ko-KR" altLang="en-US" dirty="0" smtClean="0"/>
              <a:t>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/>
              <a:t>조달계획 </a:t>
            </a:r>
            <a:r>
              <a:rPr lang="ko-KR" altLang="en-US" dirty="0" err="1" smtClean="0"/>
              <a:t>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/>
              <a:t>조달계획 </a:t>
            </a:r>
            <a:r>
              <a:rPr lang="ko-KR" altLang="en-US" dirty="0" err="1" smtClean="0"/>
              <a:t>통합목록</a:t>
            </a:r>
            <a:r>
              <a:rPr lang="ko-KR" altLang="en-US" dirty="0" smtClean="0"/>
              <a:t> 화면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연간조달계획 </a:t>
            </a:r>
            <a:r>
              <a:rPr lang="en-US" altLang="ko-KR" dirty="0" smtClean="0"/>
              <a:t>– [</a:t>
            </a:r>
            <a:r>
              <a:rPr lang="ko-KR" altLang="en-US" dirty="0" smtClean="0"/>
              <a:t>국외</a:t>
            </a:r>
            <a:r>
              <a:rPr lang="en-US" altLang="ko-KR" dirty="0" smtClean="0"/>
              <a:t>] </a:t>
            </a:r>
            <a:r>
              <a:rPr lang="ko-KR" altLang="en-US" dirty="0" smtClean="0"/>
              <a:t>조달계획 섹션 참조 </a:t>
            </a:r>
            <a:r>
              <a:rPr lang="en-US" altLang="ko-KR" dirty="0" smtClean="0"/>
              <a:t>69p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홈 </a:t>
            </a:r>
            <a:r>
              <a:rPr lang="en-US" altLang="ko-KR" dirty="0" smtClean="0"/>
              <a:t>&gt; </a:t>
            </a:r>
            <a:r>
              <a:rPr lang="ko-KR" altLang="en-US" dirty="0" smtClean="0">
                <a:latin typeface="+mn-ea"/>
              </a:rPr>
              <a:t>조달계획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조달계획 </a:t>
            </a:r>
            <a:r>
              <a:rPr lang="ko-KR" altLang="en-US" sz="800" dirty="0" err="1" smtClean="0">
                <a:latin typeface="+mn-ea"/>
              </a:rPr>
              <a:t>통합목록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81461" y="3311149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smtClean="0"/>
                <a:t>조달요구번호 </a:t>
              </a:r>
              <a:r>
                <a:rPr lang="en-US" altLang="ko-KR" sz="700" dirty="0" smtClean="0"/>
                <a:t>ABCD1234</a:t>
              </a:r>
            </a:p>
            <a:p>
              <a:r>
                <a:rPr lang="ko-KR" altLang="en-US" sz="900" b="1" dirty="0" err="1" smtClean="0"/>
                <a:t>재고번호</a:t>
              </a:r>
              <a:r>
                <a:rPr lang="ko-KR" altLang="en-US" sz="900" b="1" dirty="0" smtClean="0"/>
                <a:t> </a:t>
              </a:r>
              <a:r>
                <a:rPr lang="en-US" altLang="ko-KR" sz="900" b="1" dirty="0" smtClean="0"/>
                <a:t>A1234567890</a:t>
              </a:r>
              <a:endParaRPr lang="ko-KR" altLang="en-US" sz="900" b="1" dirty="0"/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부품번호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품질등급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생산자부호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접수기간</a:t>
              </a:r>
              <a:endParaRPr lang="en-US" altLang="ko-KR" sz="600" dirty="0" smtClean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2840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AA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-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A123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2026-02-10</a:t>
              </a:r>
              <a:r>
                <a:rPr lang="ko-KR" altLang="en-US" sz="600" dirty="0" smtClean="0">
                  <a:latin typeface="+mn-ea"/>
                </a:rPr>
                <a:t> </a:t>
              </a:r>
              <a:r>
                <a:rPr lang="en-US" altLang="ko-KR" sz="600" dirty="0" smtClean="0">
                  <a:latin typeface="+mn-ea"/>
                </a:rPr>
                <a:t>~ 2026-02-12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smtClean="0">
                  <a:solidFill>
                    <a:schemeClr val="dk1"/>
                  </a:solidFill>
                </a:rPr>
                <a:t>국외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6" y="2610063"/>
              <a:ext cx="26419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smtClean="0"/>
                <a:t>육군</a:t>
              </a:r>
              <a:endParaRPr lang="ko-KR" altLang="en-US" sz="600" dirty="0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500573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610478"/>
            <a:ext cx="2476203" cy="1083172"/>
            <a:chOff x="778515" y="2610063"/>
            <a:chExt cx="2476203" cy="1083172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600" dirty="0"/>
                <a:t>조달요구번호 </a:t>
              </a:r>
              <a:r>
                <a:rPr lang="en-US" altLang="ko-KR" sz="600" dirty="0" smtClean="0"/>
                <a:t>EFGH1234</a:t>
              </a:r>
              <a:endParaRPr lang="en-US" altLang="ko-KR" sz="600" dirty="0"/>
            </a:p>
            <a:p>
              <a:r>
                <a:rPr lang="ko-KR" altLang="en-US" sz="800" b="1" dirty="0" err="1"/>
                <a:t>재고번호</a:t>
              </a:r>
              <a:r>
                <a:rPr lang="ko-KR" altLang="en-US" sz="800" b="1" dirty="0"/>
                <a:t> </a:t>
              </a:r>
              <a:r>
                <a:rPr lang="en-US" altLang="ko-KR" sz="800" b="1" dirty="0" smtClean="0"/>
                <a:t>F987654123</a:t>
              </a:r>
              <a:endParaRPr lang="ko-KR" altLang="en-US" sz="800" b="1" dirty="0"/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부품번호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품질등급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생산자부호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2840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BB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B123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2026-01-03</a:t>
              </a:r>
              <a:r>
                <a:rPr lang="ko-KR" altLang="en-US" sz="600" dirty="0" smtClean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</a:t>
              </a:r>
              <a:r>
                <a:rPr lang="en-US" altLang="ko-KR" sz="600" dirty="0" smtClean="0">
                  <a:latin typeface="+mn-ea"/>
                </a:rPr>
                <a:t>2026-01-14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smtClean="0">
                  <a:solidFill>
                    <a:schemeClr val="dk1"/>
                  </a:solidFill>
                </a:rPr>
                <a:t>국외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6" y="2610063"/>
              <a:ext cx="26419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공군</a:t>
              </a:r>
              <a:endParaRPr lang="ko-KR" altLang="en-US" sz="600" dirty="0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195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101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공지사항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용역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공사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국외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전체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일반경쟁</a:t>
            </a:r>
            <a:endParaRPr lang="ko-KR" altLang="en-US" sz="6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계약방법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지명경쟁</a:t>
            </a:r>
            <a:endParaRPr lang="ko-KR" altLang="en-US" sz="600" dirty="0"/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제한경쟁</a:t>
            </a:r>
            <a:endParaRPr lang="ko-KR" altLang="en-US" sz="600" dirty="0"/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수의계약</a:t>
            </a:r>
            <a:endParaRPr lang="ko-KR" altLang="en-US" sz="600" dirty="0"/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협상에의한</a:t>
            </a:r>
            <a:r>
              <a:rPr lang="ko-KR" altLang="en-US" sz="600" dirty="0" smtClean="0"/>
              <a:t> 계약</a:t>
            </a:r>
            <a:r>
              <a:rPr lang="en-US" altLang="ko-KR" sz="600" dirty="0" smtClean="0"/>
              <a:t>(</a:t>
            </a:r>
            <a:r>
              <a:rPr lang="ko-KR" altLang="en-US" sz="600" dirty="0" smtClean="0"/>
              <a:t>서류</a:t>
            </a:r>
            <a:r>
              <a:rPr lang="en-US" altLang="ko-KR" sz="600" dirty="0" smtClean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 smtClean="0"/>
              <a:t>2</a:t>
            </a:r>
            <a:r>
              <a:rPr lang="ko-KR" altLang="en-US" sz="600" dirty="0" smtClean="0"/>
              <a:t>단계 경쟁</a:t>
            </a:r>
            <a:r>
              <a:rPr lang="en-US" altLang="ko-KR" sz="600" dirty="0" smtClean="0"/>
              <a:t>(</a:t>
            </a:r>
            <a:r>
              <a:rPr lang="ko-KR" altLang="en-US" sz="600" dirty="0" smtClean="0"/>
              <a:t>동시</a:t>
            </a:r>
            <a:r>
              <a:rPr lang="en-US" altLang="ko-KR" sz="600" dirty="0" smtClean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 smtClean="0"/>
              <a:t>2</a:t>
            </a:r>
            <a:r>
              <a:rPr lang="ko-KR" altLang="en-US" sz="600" dirty="0" smtClean="0"/>
              <a:t>단계 경쟁</a:t>
            </a:r>
            <a:r>
              <a:rPr lang="en-US" altLang="ko-KR" sz="600" dirty="0" smtClean="0"/>
              <a:t>(</a:t>
            </a:r>
            <a:r>
              <a:rPr lang="ko-KR" altLang="en-US" sz="600" dirty="0" smtClean="0"/>
              <a:t>분리</a:t>
            </a:r>
            <a:r>
              <a:rPr lang="en-US" altLang="ko-KR" sz="600" dirty="0" smtClean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협상에의한</a:t>
            </a:r>
            <a:r>
              <a:rPr lang="ko-KR" altLang="en-US" sz="600" dirty="0" smtClean="0"/>
              <a:t> 계약</a:t>
            </a:r>
            <a:r>
              <a:rPr lang="en-US" altLang="ko-KR" sz="600" dirty="0" smtClean="0"/>
              <a:t>(</a:t>
            </a:r>
            <a:r>
              <a:rPr lang="ko-KR" altLang="en-US" sz="600" dirty="0" smtClean="0"/>
              <a:t>전자</a:t>
            </a:r>
            <a:r>
              <a:rPr lang="en-US" altLang="ko-KR" sz="600" dirty="0" smtClean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역경매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발주기관 전체</a:t>
            </a:r>
            <a:endParaRPr lang="ko-KR" altLang="en-US" sz="6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발주기관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/>
              <a:t>방위사업청</a:t>
            </a:r>
            <a:endParaRPr lang="ko-KR" altLang="en-US" sz="600" dirty="0"/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조달본부</a:t>
            </a:r>
            <a:endParaRPr lang="ko-KR" altLang="en-US" sz="600" dirty="0"/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경리단</a:t>
            </a:r>
            <a:endParaRPr lang="ko-KR" altLang="en-US" sz="600" dirty="0"/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/>
              <a:t>군수사</a:t>
            </a:r>
            <a:endParaRPr lang="ko-KR" altLang="en-US" sz="6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교육사</a:t>
            </a:r>
            <a:endParaRPr lang="ko-KR" altLang="en-US" sz="600" dirty="0"/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학교</a:t>
            </a:r>
            <a:endParaRPr lang="ko-KR" altLang="en-US" sz="600" dirty="0"/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근지단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/>
              <a:t>군병원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본부</a:t>
            </a:r>
            <a:endParaRPr lang="ko-KR" altLang="en-US" sz="600" dirty="0"/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국방부</a:t>
            </a:r>
            <a:r>
              <a:rPr lang="en-US" altLang="ko-KR" sz="600" dirty="0" smtClean="0"/>
              <a:t>-9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국방부</a:t>
            </a:r>
            <a:r>
              <a:rPr lang="en-US" altLang="ko-KR" sz="600" dirty="0" smtClean="0"/>
              <a:t>-A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기타</a:t>
            </a:r>
            <a:endParaRPr lang="ko-KR" altLang="en-US" sz="600" dirty="0"/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4321056" y="2203671"/>
            <a:ext cx="39399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조달계획</a:t>
            </a:r>
            <a:endParaRPr lang="ko-KR" altLang="en-US" sz="600" dirty="0"/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4762118" y="220367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사전규격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5221341" y="2203671"/>
            <a:ext cx="56515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연간조달계획</a:t>
            </a:r>
            <a:endParaRPr lang="ko-KR" altLang="en-US" sz="600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20951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검색유형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173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 smtClean="0">
                <a:latin typeface="+mn-ea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smtClean="0">
                <a:latin typeface="+mn-ea"/>
              </a:rPr>
              <a:t>표시 개수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10 </a:t>
            </a:r>
            <a:r>
              <a:rPr lang="ko-KR" altLang="en-US" sz="700" dirty="0" smtClean="0">
                <a:latin typeface="+mn-ea"/>
              </a:rPr>
              <a:t>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0" name="그룹 109"/>
          <p:cNvGrpSpPr/>
          <p:nvPr/>
        </p:nvGrpSpPr>
        <p:grpSpPr>
          <a:xfrm>
            <a:off x="3143548" y="2983035"/>
            <a:ext cx="94010" cy="47005"/>
            <a:chOff x="6812560" y="3297172"/>
            <a:chExt cx="94010" cy="47005"/>
          </a:xfrm>
        </p:grpSpPr>
        <p:cxnSp>
          <p:nvCxnSpPr>
            <p:cNvPr id="111" name="직선 연결선 1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직선 연결선 1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3" name="그룹 112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14" name="모서리가 둥근 직사각형 113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17" name="그룹 116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2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 smtClean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재고번호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33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smtClean="0">
                    <a:latin typeface="맑은 고딕"/>
                    <a:ea typeface="맑은 고딕" panose="020B0503020000020004" pitchFamily="50" charset="-127"/>
                  </a:rPr>
                  <a:t>조달요구번호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18" name="타원 11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 smtClean="0"/>
                <a:t>V</a:t>
              </a:r>
              <a:endParaRPr lang="ko-KR" altLang="en-US" sz="600" dirty="0"/>
            </a:p>
          </p:txBody>
        </p:sp>
        <p:sp>
          <p:nvSpPr>
            <p:cNvPr id="11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 smtClean="0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20" name="타원 11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3" name="그룹 12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4" name="직선 연결선 12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3550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38" name="그룹 137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139" name="직선 연결선 13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직선 연결선 13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1" name="타원 14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94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6734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7</a:t>
            </a:r>
            <a:endParaRPr lang="ko-KR" altLang="en-US" sz="900" b="1" dirty="0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42243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21791" y="225030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504603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검색필터</a:t>
            </a:r>
            <a:r>
              <a:rPr lang="ko-KR" altLang="en-US" dirty="0" smtClean="0"/>
              <a:t> </a:t>
            </a:r>
            <a:r>
              <a:rPr lang="ko-KR" altLang="en-US" dirty="0"/>
              <a:t>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</a:t>
            </a:r>
            <a:r>
              <a:rPr lang="ko-KR" altLang="en-US" dirty="0" smtClean="0"/>
              <a:t>버튼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초기 </a:t>
            </a:r>
            <a:r>
              <a:rPr lang="ko-KR" altLang="en-US" dirty="0" err="1" smtClean="0"/>
              <a:t>상태값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검색유형</a:t>
            </a:r>
            <a:r>
              <a:rPr lang="ko-KR" altLang="en-US" dirty="0" smtClean="0"/>
              <a:t>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조달계획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업무구분</a:t>
            </a:r>
            <a:r>
              <a:rPr lang="ko-KR" altLang="en-US" dirty="0" smtClean="0"/>
              <a:t>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전체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기간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최근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개월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검색어</a:t>
            </a:r>
            <a:r>
              <a:rPr lang="ko-KR" altLang="en-US" dirty="0" smtClean="0"/>
              <a:t>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빈값</a:t>
            </a:r>
            <a:r>
              <a:rPr lang="en-US" altLang="ko-KR" dirty="0" smtClean="0"/>
              <a:t>, </a:t>
            </a:r>
            <a:r>
              <a:rPr lang="ko-KR" altLang="en-US" dirty="0" smtClean="0"/>
              <a:t>진행상태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전체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검색유형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조달계획</a:t>
            </a:r>
            <a:r>
              <a:rPr lang="en-US" altLang="ko-KR" dirty="0"/>
              <a:t>, </a:t>
            </a:r>
            <a:r>
              <a:rPr lang="ko-KR" altLang="en-US" dirty="0" err="1"/>
              <a:t>사전규격</a:t>
            </a:r>
            <a:r>
              <a:rPr lang="en-US" altLang="ko-KR" dirty="0"/>
              <a:t>, </a:t>
            </a:r>
            <a:r>
              <a:rPr lang="ko-KR" altLang="en-US" dirty="0" smtClean="0"/>
              <a:t>연간조달계획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조달계획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조달계획 선택 시 화면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업무 </a:t>
            </a:r>
            <a:r>
              <a:rPr lang="ko-KR" altLang="en-US" dirty="0" smtClean="0"/>
              <a:t>구분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전체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월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최근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빠른 </a:t>
            </a:r>
            <a:r>
              <a:rPr lang="ko-KR" altLang="en-US" dirty="0">
                <a:sym typeface="Wingdings" panose="05000000000000000000" pitchFamily="2" charset="2"/>
              </a:rPr>
              <a:t>설정으로 </a:t>
            </a:r>
            <a:r>
              <a:rPr lang="ko-KR" altLang="en-US" dirty="0" smtClean="0">
                <a:sym typeface="Wingdings" panose="05000000000000000000" pitchFamily="2" charset="2"/>
              </a:rPr>
              <a:t>날짜 </a:t>
            </a:r>
            <a:r>
              <a:rPr lang="ko-KR" altLang="en-US" dirty="0">
                <a:sym typeface="Wingdings" panose="05000000000000000000" pitchFamily="2" charset="2"/>
              </a:rPr>
              <a:t>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err="1" smtClean="0">
                <a:sym typeface="Wingdings" panose="05000000000000000000" pitchFamily="2" charset="2"/>
              </a:rPr>
              <a:t>대표품명</a:t>
            </a:r>
            <a:r>
              <a:rPr lang="ko-KR" altLang="en-US" dirty="0" smtClean="0">
                <a:sym typeface="Wingdings" panose="05000000000000000000" pitchFamily="2" charset="2"/>
              </a:rPr>
              <a:t> 클릭 시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  &gt; [</a:t>
            </a:r>
            <a:r>
              <a:rPr lang="ko-KR" altLang="en-US" dirty="0" smtClean="0">
                <a:sym typeface="Wingdings" panose="05000000000000000000" pitchFamily="2" charset="2"/>
              </a:rPr>
              <a:t>조달</a:t>
            </a:r>
            <a:r>
              <a:rPr lang="en-US" altLang="ko-KR" dirty="0" smtClean="0">
                <a:sym typeface="Wingdings" panose="05000000000000000000" pitchFamily="2" charset="2"/>
              </a:rPr>
              <a:t>]</a:t>
            </a:r>
            <a:r>
              <a:rPr lang="ko-KR" altLang="en-US" dirty="0" smtClean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품목별 </a:t>
            </a:r>
            <a:r>
              <a:rPr lang="ko-KR" altLang="en-US" dirty="0" smtClean="0">
                <a:sym typeface="Wingdings" panose="05000000000000000000" pitchFamily="2" charset="2"/>
              </a:rPr>
              <a:t>검색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 smtClean="0">
                <a:sym typeface="Wingdings" panose="05000000000000000000" pitchFamily="2" charset="2"/>
              </a:rPr>
              <a:t>MUI-OP-01-P71)</a:t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발주기관 클릭 시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  &gt; [</a:t>
            </a:r>
            <a:r>
              <a:rPr lang="ko-KR" altLang="en-US" dirty="0" smtClean="0">
                <a:sym typeface="Wingdings" panose="05000000000000000000" pitchFamily="2" charset="2"/>
              </a:rPr>
              <a:t>입찰</a:t>
            </a:r>
            <a:r>
              <a:rPr lang="en-US" altLang="ko-KR" dirty="0" smtClean="0">
                <a:sym typeface="Wingdings" panose="05000000000000000000" pitchFamily="2" charset="2"/>
              </a:rPr>
              <a:t>]</a:t>
            </a:r>
            <a:r>
              <a:rPr lang="ko-KR" altLang="en-US" dirty="0" smtClean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발주부서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기관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 smtClean="0">
                <a:sym typeface="Wingdings" panose="05000000000000000000" pitchFamily="2" charset="2"/>
              </a:rPr>
              <a:t>검색 </a:t>
            </a:r>
            <a:r>
              <a:rPr lang="en-US" altLang="ko-KR" dirty="0" smtClean="0">
                <a:sym typeface="Wingdings" panose="05000000000000000000" pitchFamily="2" charset="2"/>
              </a:rPr>
              <a:t>(MUI-BD-01-P04)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>
                <a:sym typeface="Wingdings" panose="05000000000000000000" pitchFamily="2" charset="2"/>
              </a:rPr>
              <a:t>구분 </a:t>
            </a:r>
            <a:r>
              <a:rPr lang="ko-KR" altLang="en-US" dirty="0">
                <a:sym typeface="Wingdings" panose="05000000000000000000" pitchFamily="2" charset="2"/>
              </a:rPr>
              <a:t>설정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드롭 다운으로 각 </a:t>
            </a:r>
            <a:r>
              <a:rPr lang="ko-KR" altLang="en-US" dirty="0" err="1">
                <a:sym typeface="Wingdings" panose="05000000000000000000" pitchFamily="2" charset="2"/>
              </a:rPr>
              <a:t>구분값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sym typeface="Wingdings" panose="05000000000000000000" pitchFamily="2" charset="2"/>
              </a:rPr>
              <a:t>설정 </a:t>
            </a:r>
            <a:r>
              <a:rPr lang="en-US" altLang="ko-KR" dirty="0" smtClean="0">
                <a:sym typeface="Wingdings" panose="05000000000000000000" pitchFamily="2" charset="2"/>
              </a:rPr>
              <a:t>(</a:t>
            </a:r>
            <a:r>
              <a:rPr lang="ko-KR" altLang="en-US" dirty="0" err="1" smtClean="0">
                <a:sym typeface="Wingdings" panose="05000000000000000000" pitchFamily="2" charset="2"/>
              </a:rPr>
              <a:t>항목설정</a:t>
            </a:r>
            <a:r>
              <a:rPr lang="ko-KR" altLang="en-US" dirty="0" smtClean="0">
                <a:sym typeface="Wingdings" panose="05000000000000000000" pitchFamily="2" charset="2"/>
              </a:rPr>
              <a:t> 참조</a:t>
            </a:r>
            <a:r>
              <a:rPr lang="en-US" altLang="ko-KR" dirty="0" smtClean="0">
                <a:sym typeface="Wingdings" panose="05000000000000000000" pitchFamily="2" charset="2"/>
              </a:rPr>
              <a:t>)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altLang="ko-KR" dirty="0" smtClean="0">
                <a:sym typeface="Wingdings" panose="05000000000000000000" pitchFamily="2" charset="2"/>
              </a:rPr>
              <a:t>[</a:t>
            </a:r>
            <a:r>
              <a:rPr lang="ko-KR" altLang="en-US" dirty="0" smtClean="0">
                <a:sym typeface="Wingdings" panose="05000000000000000000" pitchFamily="2" charset="2"/>
              </a:rPr>
              <a:t>공통</a:t>
            </a:r>
            <a:r>
              <a:rPr lang="en-US" altLang="ko-KR" dirty="0" smtClean="0">
                <a:sym typeface="Wingdings" panose="05000000000000000000" pitchFamily="2" charset="2"/>
              </a:rPr>
              <a:t>] </a:t>
            </a:r>
            <a:r>
              <a:rPr lang="ko-KR" altLang="en-US" dirty="0" smtClean="0">
                <a:sym typeface="Wingdings" panose="05000000000000000000" pitchFamily="2" charset="2"/>
              </a:rPr>
              <a:t>검색 </a:t>
            </a:r>
            <a:r>
              <a:rPr lang="ko-KR" altLang="en-US" dirty="0">
                <a:sym typeface="Wingdings" panose="05000000000000000000" pitchFamily="2" charset="2"/>
              </a:rPr>
              <a:t>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sym typeface="Wingdings" panose="05000000000000000000" pitchFamily="2" charset="2"/>
              </a:rPr>
              <a:t>처리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검색 클릭 시 목록에 </a:t>
            </a:r>
            <a:r>
              <a:rPr lang="ko-KR" altLang="en-US" dirty="0" err="1" smtClean="0">
                <a:sym typeface="Wingdings" panose="05000000000000000000" pitchFamily="2" charset="2"/>
              </a:rPr>
              <a:t>검색값</a:t>
            </a:r>
            <a:r>
              <a:rPr lang="ko-KR" altLang="en-US" dirty="0" smtClean="0">
                <a:sym typeface="Wingdings" panose="05000000000000000000" pitchFamily="2" charset="2"/>
              </a:rPr>
              <a:t> 표시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err="1" smtClean="0">
                <a:sym typeface="Wingdings" panose="05000000000000000000" pitchFamily="2" charset="2"/>
              </a:rPr>
              <a:t>검색필터에</a:t>
            </a:r>
            <a:r>
              <a:rPr lang="ko-KR" altLang="en-US" dirty="0" smtClean="0">
                <a:sym typeface="Wingdings" panose="05000000000000000000" pitchFamily="2" charset="2"/>
              </a:rPr>
              <a:t> 설정 표시 추가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  &gt; </a:t>
            </a:r>
            <a:r>
              <a:rPr lang="ko-KR" altLang="en-US" dirty="0" smtClean="0">
                <a:sym typeface="Wingdings" panose="05000000000000000000" pitchFamily="2" charset="2"/>
              </a:rPr>
              <a:t>필터 재진입 시 설정된 정보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검색 </a:t>
            </a:r>
            <a:r>
              <a:rPr lang="ko-KR" altLang="en-US" dirty="0">
                <a:latin typeface="+mn-ea"/>
              </a:rPr>
              <a:t>필터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입찰 공고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MUI-OP-01-M02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7777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675399" y="2970027"/>
            <a:ext cx="2712027" cy="1477263"/>
            <a:chOff x="675399" y="1921801"/>
            <a:chExt cx="2712027" cy="1477263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199593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 smtClean="0">
                  <a:latin typeface="+mn-ea"/>
                </a:rPr>
                <a:t>업무구분</a:t>
              </a:r>
              <a:r>
                <a:rPr lang="ko-KR" altLang="en-US" sz="700" b="1" dirty="0" smtClean="0">
                  <a:latin typeface="+mn-ea"/>
                </a:rPr>
                <a:t> </a:t>
              </a:r>
              <a:r>
                <a:rPr lang="en-US" altLang="ko-KR" sz="700" b="1" dirty="0" smtClean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41620" y="2226095"/>
              <a:ext cx="2305144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용역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국외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772169" y="2292407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772169" y="2509633"/>
              <a:ext cx="107950" cy="1079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4" name="그룹 133"/>
            <p:cNvGrpSpPr/>
            <p:nvPr/>
          </p:nvGrpSpPr>
          <p:grpSpPr>
            <a:xfrm flipV="1">
              <a:off x="3140949" y="2093627"/>
              <a:ext cx="91438" cy="45719"/>
              <a:chOff x="6812560" y="3297172"/>
              <a:chExt cx="94010" cy="47005"/>
            </a:xfrm>
          </p:grpSpPr>
          <p:cxnSp>
            <p:nvCxnSpPr>
              <p:cNvPr id="135" name="직선 연결선 1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7" name="직사각형 136"/>
            <p:cNvSpPr/>
            <p:nvPr/>
          </p:nvSpPr>
          <p:spPr>
            <a:xfrm>
              <a:off x="772169" y="2706723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772169" y="2921384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772169" y="3133350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12771" y="2471275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39906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192180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5083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675399" y="4538779"/>
            <a:ext cx="2712027" cy="797589"/>
            <a:chOff x="675399" y="3490553"/>
            <a:chExt cx="2712027" cy="7975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월 </a:t>
              </a:r>
              <a:r>
                <a:rPr lang="ko-KR" altLang="en-US" sz="700" b="1" dirty="0" smtClean="0">
                  <a:latin typeface="+mn-ea"/>
                </a:rPr>
                <a:t>설정 </a:t>
              </a:r>
              <a:r>
                <a:rPr lang="en-US" altLang="ko-KR" sz="700" b="1" dirty="0" smtClean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 설정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1" name="모서리가 둥근 직사각형 170"/>
            <p:cNvSpPr/>
            <p:nvPr/>
          </p:nvSpPr>
          <p:spPr>
            <a:xfrm>
              <a:off x="1467219" y="3532735"/>
              <a:ext cx="529856" cy="149124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800" kern="0">
                <a:solidFill>
                  <a:prstClr val="white"/>
                </a:solidFill>
                <a:latin typeface="맑은 고딕"/>
              </a:endParaRP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03890" y="3559275"/>
              <a:ext cx="45651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solidFill>
                    <a:schemeClr val="bg1"/>
                  </a:solidFill>
                  <a:latin typeface="+mn-ea"/>
                </a:rPr>
                <a:t>발주예정월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3740722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3760669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3971391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3740722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28814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25" name="TextBox 2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454753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구분 설정</a:t>
            </a:r>
          </a:p>
        </p:txBody>
      </p:sp>
      <p:grpSp>
        <p:nvGrpSpPr>
          <p:cNvPr id="226" name="그룹 225"/>
          <p:cNvGrpSpPr/>
          <p:nvPr/>
        </p:nvGrpSpPr>
        <p:grpSpPr>
          <a:xfrm flipV="1">
            <a:off x="6261284" y="3552443"/>
            <a:ext cx="91438" cy="45719"/>
            <a:chOff x="6812560" y="3297172"/>
            <a:chExt cx="94010" cy="47005"/>
          </a:xfrm>
        </p:grpSpPr>
        <p:cxnSp>
          <p:nvCxnSpPr>
            <p:cNvPr id="227" name="직선 연결선 22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9" name="모서리가 둥근 직사각형 228"/>
          <p:cNvSpPr/>
          <p:nvPr/>
        </p:nvSpPr>
        <p:spPr>
          <a:xfrm>
            <a:off x="4569619" y="3735244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683118"/>
            <a:ext cx="670770" cy="1892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10000"/>
              </a:lnSpc>
            </a:pPr>
            <a:r>
              <a:rPr lang="ko-KR" altLang="en-US" sz="700" dirty="0" smtClean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247" name="그룹 246"/>
          <p:cNvGrpSpPr/>
          <p:nvPr/>
        </p:nvGrpSpPr>
        <p:grpSpPr>
          <a:xfrm>
            <a:off x="6261284" y="3805984"/>
            <a:ext cx="91438" cy="45719"/>
            <a:chOff x="6812560" y="3297172"/>
            <a:chExt cx="94010" cy="47005"/>
          </a:xfrm>
        </p:grpSpPr>
        <p:cxnSp>
          <p:nvCxnSpPr>
            <p:cNvPr id="248" name="직선 연결선 24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직선 연결선 24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41735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2" name="타원 2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41675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5" name="그룹 4"/>
          <p:cNvGrpSpPr/>
          <p:nvPr/>
        </p:nvGrpSpPr>
        <p:grpSpPr>
          <a:xfrm>
            <a:off x="794115" y="1977748"/>
            <a:ext cx="2474595" cy="867151"/>
            <a:chOff x="3892504" y="4660546"/>
            <a:chExt cx="2474595" cy="867151"/>
          </a:xfrm>
        </p:grpSpPr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8850" y="4660546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 smtClean="0">
                  <a:latin typeface="+mn-ea"/>
                </a:rPr>
                <a:t>검색유형</a:t>
              </a:r>
              <a:r>
                <a:rPr lang="ko-KR" altLang="en-US" sz="700" b="1" dirty="0" smtClean="0">
                  <a:latin typeface="+mn-ea"/>
                </a:rPr>
                <a:t> </a:t>
              </a:r>
              <a:r>
                <a:rPr lang="en-US" altLang="ko-KR" sz="700" b="1" dirty="0" smtClean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283" name="그룹 282"/>
            <p:cNvGrpSpPr/>
            <p:nvPr/>
          </p:nvGrpSpPr>
          <p:grpSpPr>
            <a:xfrm flipV="1">
              <a:off x="6261284" y="4758236"/>
              <a:ext cx="91438" cy="45719"/>
              <a:chOff x="6812560" y="3297172"/>
              <a:chExt cx="94010" cy="47005"/>
            </a:xfrm>
          </p:grpSpPr>
          <p:cxnSp>
            <p:nvCxnSpPr>
              <p:cNvPr id="284" name="직선 연결선 28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5" name="직선 연결선 28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61955" y="4904371"/>
              <a:ext cx="2305144" cy="6120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조달계획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사전규격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연간조달계획</a:t>
              </a:r>
            </a:p>
          </p:txBody>
        </p:sp>
        <p:sp>
          <p:nvSpPr>
            <p:cNvPr id="290" name="타원 289"/>
            <p:cNvSpPr/>
            <p:nvPr/>
          </p:nvSpPr>
          <p:spPr>
            <a:xfrm>
              <a:off x="3892504" y="4977785"/>
              <a:ext cx="107950" cy="1079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1" name="타원 290"/>
            <p:cNvSpPr/>
            <p:nvPr/>
          </p:nvSpPr>
          <p:spPr>
            <a:xfrm>
              <a:off x="3892504" y="5198345"/>
              <a:ext cx="107950" cy="10795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타원 150"/>
            <p:cNvSpPr/>
            <p:nvPr/>
          </p:nvSpPr>
          <p:spPr>
            <a:xfrm>
              <a:off x="3892504" y="5419747"/>
              <a:ext cx="107950" cy="10795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3903622" y="1956581"/>
            <a:ext cx="2519558" cy="1370836"/>
            <a:chOff x="778515" y="4388257"/>
            <a:chExt cx="2519558" cy="1370836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제목을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55417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대표품명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발주기관을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2" name="모서리가 둥근 직사각형 211"/>
            <p:cNvSpPr/>
            <p:nvPr/>
          </p:nvSpPr>
          <p:spPr>
            <a:xfrm>
              <a:off x="1452235" y="5571893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담당자을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품명을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41" name="그룹 140"/>
            <p:cNvGrpSpPr/>
            <p:nvPr/>
          </p:nvGrpSpPr>
          <p:grpSpPr>
            <a:xfrm rot="16200000">
              <a:off x="3140951" y="5406408"/>
              <a:ext cx="91438" cy="45719"/>
              <a:chOff x="6812560" y="3297172"/>
              <a:chExt cx="94010" cy="47005"/>
            </a:xfrm>
          </p:grpSpPr>
          <p:cxnSp>
            <p:nvCxnSpPr>
              <p:cNvPr id="142" name="직선 연결선 14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3" name="그룹 162"/>
            <p:cNvGrpSpPr/>
            <p:nvPr/>
          </p:nvGrpSpPr>
          <p:grpSpPr>
            <a:xfrm rot="16200000">
              <a:off x="3140951" y="5184740"/>
              <a:ext cx="91438" cy="45719"/>
              <a:chOff x="6812560" y="3297172"/>
              <a:chExt cx="94010" cy="47005"/>
            </a:xfrm>
          </p:grpSpPr>
          <p:cxnSp>
            <p:nvCxnSpPr>
              <p:cNvPr id="164" name="직선 연결선 16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57513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7</a:t>
            </a:r>
            <a:endParaRPr lang="ko-KR" altLang="en-US" sz="900" b="1" dirty="0"/>
          </a:p>
        </p:txBody>
      </p:sp>
      <p:grpSp>
        <p:nvGrpSpPr>
          <p:cNvPr id="15" name="그룹 14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4" name="직사각형 1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2026-05-26 </a:t>
              </a:r>
              <a:r>
                <a:rPr lang="ko-KR" altLang="en-US" dirty="0" smtClean="0"/>
                <a:t>화면 수정</a:t>
              </a:r>
              <a:endParaRPr lang="ko-KR" altLang="en-US" dirty="0"/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필수 항목 표시 </a:t>
              </a:r>
              <a:r>
                <a:rPr lang="en-US" altLang="ko-KR" sz="700" dirty="0" smtClean="0"/>
                <a:t>* </a:t>
              </a:r>
              <a:r>
                <a:rPr lang="ko-KR" altLang="en-US" sz="700" dirty="0" smtClean="0"/>
                <a:t>표 추가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검색어</a:t>
              </a:r>
              <a:r>
                <a:rPr lang="en-US" altLang="ko-KR" sz="700" dirty="0"/>
                <a:t>, </a:t>
              </a:r>
              <a:r>
                <a:rPr lang="ko-KR" altLang="en-US" sz="700" dirty="0" err="1"/>
                <a:t>구분설정</a:t>
              </a:r>
              <a:r>
                <a:rPr lang="ko-KR" altLang="en-US" sz="700" dirty="0"/>
                <a:t> 수정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검색유형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사전규격</a:t>
            </a:r>
            <a:r>
              <a:rPr lang="ko-KR" altLang="en-US" dirty="0" smtClean="0"/>
              <a:t> 선택 시 화면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업무 구분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전체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사전규격은</a:t>
            </a:r>
            <a:r>
              <a:rPr lang="ko-KR" altLang="en-US" dirty="0" smtClean="0"/>
              <a:t> </a:t>
            </a:r>
            <a:r>
              <a:rPr lang="en-US" altLang="ko-KR" dirty="0" smtClean="0"/>
              <a:t>[</a:t>
            </a:r>
            <a:r>
              <a:rPr lang="ko-KR" altLang="en-US" dirty="0" smtClean="0"/>
              <a:t>국외</a:t>
            </a:r>
            <a:r>
              <a:rPr lang="en-US" altLang="ko-KR" dirty="0" smtClean="0"/>
              <a:t>]</a:t>
            </a:r>
            <a:r>
              <a:rPr lang="ko-KR" altLang="en-US" dirty="0" smtClean="0"/>
              <a:t> 없음</a:t>
            </a:r>
            <a:r>
              <a:rPr lang="en-US" altLang="ko-KR" dirty="0" smtClean="0"/>
              <a:t>. </a:t>
            </a:r>
            <a:r>
              <a:rPr lang="ko-KR" altLang="en-US" dirty="0" smtClean="0"/>
              <a:t>비활성화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일자 설정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최근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직접 입력 가능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아이콘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데이트 </a:t>
            </a:r>
            <a:r>
              <a:rPr lang="ko-KR" altLang="en-US" dirty="0" err="1" smtClean="0">
                <a:sym typeface="Wingdings" panose="05000000000000000000" pitchFamily="2" charset="2"/>
              </a:rPr>
              <a:t>피커</a:t>
            </a:r>
            <a:r>
              <a:rPr lang="ko-KR" altLang="en-US" dirty="0" smtClean="0">
                <a:sym typeface="Wingdings" panose="05000000000000000000" pitchFamily="2" charset="2"/>
              </a:rPr>
              <a:t> 호출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빠른 설정으로 날짜 업데이트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>
                <a:sym typeface="Wingdings" panose="05000000000000000000" pitchFamily="2" charset="2"/>
              </a:rPr>
              <a:t>검색어</a:t>
            </a:r>
            <a:r>
              <a:rPr lang="ko-KR" altLang="en-US" dirty="0" smtClean="0">
                <a:sym typeface="Wingdings" panose="05000000000000000000" pitchFamily="2" charset="2"/>
              </a:rPr>
              <a:t> 영역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발주기관 클릭 시 </a:t>
            </a:r>
            <a:r>
              <a:rPr lang="en-US" altLang="ko-KR" dirty="0">
                <a:sym typeface="Wingdings" panose="05000000000000000000" pitchFamily="2" charset="2"/>
              </a:rPr>
              <a:t>– [</a:t>
            </a:r>
            <a:r>
              <a:rPr lang="ko-KR" altLang="en-US" dirty="0">
                <a:sym typeface="Wingdings" panose="05000000000000000000" pitchFamily="2" charset="2"/>
              </a:rPr>
              <a:t>입찰</a:t>
            </a:r>
            <a:r>
              <a:rPr lang="en-US" altLang="ko-KR" dirty="0">
                <a:sym typeface="Wingdings" panose="05000000000000000000" pitchFamily="2" charset="2"/>
              </a:rPr>
              <a:t>]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발주부서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기관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 smtClean="0">
                <a:sym typeface="Wingdings" panose="05000000000000000000" pitchFamily="2" charset="2"/>
              </a:rPr>
              <a:t>검색 </a:t>
            </a:r>
            <a:r>
              <a:rPr lang="en-US" altLang="ko-KR" dirty="0">
                <a:sym typeface="Wingdings" panose="05000000000000000000" pitchFamily="2" charset="2"/>
              </a:rPr>
              <a:t>(MUI-BD-01-P04</a:t>
            </a:r>
            <a:r>
              <a:rPr lang="en-US" altLang="ko-KR" dirty="0" smtClean="0">
                <a:sym typeface="Wingdings" panose="05000000000000000000" pitchFamily="2" charset="2"/>
              </a:rPr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>
                <a:sym typeface="Wingdings" panose="05000000000000000000" pitchFamily="2" charset="2"/>
              </a:rPr>
              <a:t>공개일 설정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기본값 없음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ko-KR" altLang="en-US" dirty="0" smtClean="0">
                <a:sym typeface="Wingdings" panose="05000000000000000000" pitchFamily="2" charset="2"/>
              </a:rPr>
              <a:t>단일 날짜 선택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아이콘</a:t>
            </a:r>
            <a:r>
              <a:rPr lang="en-US" altLang="ko-KR" dirty="0" smtClean="0"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sym typeface="Wingdings" panose="05000000000000000000" pitchFamily="2" charset="2"/>
              </a:rPr>
              <a:t>클릭 시 데이트 </a:t>
            </a:r>
            <a:r>
              <a:rPr lang="ko-KR" altLang="en-US" dirty="0" err="1" smtClean="0">
                <a:sym typeface="Wingdings" panose="05000000000000000000" pitchFamily="2" charset="2"/>
              </a:rPr>
              <a:t>피커</a:t>
            </a:r>
            <a:r>
              <a:rPr lang="ko-KR" altLang="en-US" dirty="0" smtClean="0">
                <a:sym typeface="Wingdings" panose="05000000000000000000" pitchFamily="2" charset="2"/>
              </a:rPr>
              <a:t> 호출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</a:t>
            </a:r>
            <a:r>
              <a:rPr lang="ko-KR" altLang="en-US" dirty="0" smtClean="0">
                <a:latin typeface="+mn-ea"/>
              </a:rPr>
              <a:t>필터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입찰 공고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MUI-OP-01-M02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675399" y="2970027"/>
            <a:ext cx="2712027" cy="1477263"/>
            <a:chOff x="675399" y="1921801"/>
            <a:chExt cx="2712027" cy="1477263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199593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업무구분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41620" y="2226095"/>
              <a:ext cx="2305144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용역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국외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772169" y="2292407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772169" y="2509633"/>
              <a:ext cx="107950" cy="1079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4" name="그룹 133"/>
            <p:cNvGrpSpPr/>
            <p:nvPr/>
          </p:nvGrpSpPr>
          <p:grpSpPr>
            <a:xfrm flipV="1">
              <a:off x="3140949" y="2093627"/>
              <a:ext cx="91438" cy="45719"/>
              <a:chOff x="6812560" y="3297172"/>
              <a:chExt cx="94010" cy="47005"/>
            </a:xfrm>
          </p:grpSpPr>
          <p:cxnSp>
            <p:nvCxnSpPr>
              <p:cNvPr id="135" name="직선 연결선 1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7" name="직사각형 136"/>
            <p:cNvSpPr/>
            <p:nvPr/>
          </p:nvSpPr>
          <p:spPr>
            <a:xfrm>
              <a:off x="772169" y="2706723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772169" y="2921384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772169" y="3133350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12771" y="2471275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39906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192180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5083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538779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일자 설정 </a:t>
            </a:r>
            <a:r>
              <a:rPr lang="en-US" altLang="ko-KR" sz="700" b="1" dirty="0">
                <a:solidFill>
                  <a:srgbClr val="FF0000"/>
                </a:solidFill>
                <a:latin typeface="+mn-ea"/>
              </a:rPr>
              <a:t>*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761317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일자 설정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4636469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1" name="모서리가 둥근 직사각형 170"/>
          <p:cNvSpPr/>
          <p:nvPr/>
        </p:nvSpPr>
        <p:spPr>
          <a:xfrm>
            <a:off x="1467219" y="4580961"/>
            <a:ext cx="529856" cy="149124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800" kern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03890" y="4607501"/>
            <a:ext cx="45651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접수기간</a:t>
            </a:r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4788948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2025-10-10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4808895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5019617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4788948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2026-01-10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92" name="타원 2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41675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grpSp>
        <p:nvGrpSpPr>
          <p:cNvPr id="5" name="그룹 4"/>
          <p:cNvGrpSpPr/>
          <p:nvPr/>
        </p:nvGrpSpPr>
        <p:grpSpPr>
          <a:xfrm>
            <a:off x="794115" y="1977748"/>
            <a:ext cx="2474595" cy="867151"/>
            <a:chOff x="3892504" y="4660546"/>
            <a:chExt cx="2474595" cy="867151"/>
          </a:xfrm>
        </p:grpSpPr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8850" y="4660546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검색유형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283" name="그룹 282"/>
            <p:cNvGrpSpPr/>
            <p:nvPr/>
          </p:nvGrpSpPr>
          <p:grpSpPr>
            <a:xfrm flipV="1">
              <a:off x="6261284" y="4758236"/>
              <a:ext cx="91438" cy="45719"/>
              <a:chOff x="6812560" y="3297172"/>
              <a:chExt cx="94010" cy="47005"/>
            </a:xfrm>
          </p:grpSpPr>
          <p:cxnSp>
            <p:nvCxnSpPr>
              <p:cNvPr id="284" name="직선 연결선 28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5" name="직선 연결선 28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61955" y="4904371"/>
              <a:ext cx="2305144" cy="6120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조달계획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사전규격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연간조달계획</a:t>
              </a:r>
            </a:p>
          </p:txBody>
        </p:sp>
        <p:sp>
          <p:nvSpPr>
            <p:cNvPr id="290" name="타원 289"/>
            <p:cNvSpPr/>
            <p:nvPr/>
          </p:nvSpPr>
          <p:spPr>
            <a:xfrm>
              <a:off x="3892504" y="4977785"/>
              <a:ext cx="107950" cy="10795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1" name="타원 290"/>
            <p:cNvSpPr/>
            <p:nvPr/>
          </p:nvSpPr>
          <p:spPr>
            <a:xfrm>
              <a:off x="3892504" y="5198345"/>
              <a:ext cx="107950" cy="1079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타원 150"/>
            <p:cNvSpPr/>
            <p:nvPr/>
          </p:nvSpPr>
          <p:spPr>
            <a:xfrm>
              <a:off x="3892504" y="5419747"/>
              <a:ext cx="107950" cy="10795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3903622" y="1956581"/>
            <a:ext cx="2516607" cy="1134611"/>
            <a:chOff x="778515" y="4388257"/>
            <a:chExt cx="2516607" cy="1134611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제목을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smtClean="0">
                  <a:solidFill>
                    <a:schemeClr val="bg1">
                      <a:lumMod val="65000"/>
                    </a:schemeClr>
                  </a:solidFill>
                </a:rPr>
                <a:t>담당자를 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발주기관을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63" name="그룹 162"/>
            <p:cNvGrpSpPr/>
            <p:nvPr/>
          </p:nvGrpSpPr>
          <p:grpSpPr>
            <a:xfrm rot="16200000">
              <a:off x="3140951" y="5184740"/>
              <a:ext cx="91438" cy="45719"/>
              <a:chOff x="6812560" y="3297172"/>
              <a:chExt cx="94010" cy="47005"/>
            </a:xfrm>
          </p:grpSpPr>
          <p:cxnSp>
            <p:nvCxnSpPr>
              <p:cNvPr id="164" name="직선 연결선 16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그룹 13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0" name="직사각형 11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2026-05-26 </a:t>
              </a:r>
              <a:r>
                <a:rPr lang="ko-KR" altLang="en-US" dirty="0" smtClean="0"/>
                <a:t>화면 수정</a:t>
              </a:r>
              <a:endParaRPr lang="ko-KR" altLang="en-US" dirty="0"/>
            </a:p>
          </p:txBody>
        </p:sp>
        <p:sp>
          <p:nvSpPr>
            <p:cNvPr id="121" name="직사각형 12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필수 항목 표시 </a:t>
              </a:r>
              <a:r>
                <a:rPr lang="en-US" altLang="ko-KR" sz="700" dirty="0" smtClean="0"/>
                <a:t>* </a:t>
              </a:r>
              <a:r>
                <a:rPr lang="ko-KR" altLang="en-US" sz="700" dirty="0" smtClean="0"/>
                <a:t>표 추가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품명 검색 </a:t>
              </a:r>
              <a:r>
                <a:rPr lang="ko-KR" altLang="en-US" sz="700" dirty="0" smtClean="0">
                  <a:sym typeface="Wingdings" panose="05000000000000000000" pitchFamily="2" charset="2"/>
                </a:rPr>
                <a:t>삭제</a:t>
              </a:r>
              <a:endParaRPr lang="ko-KR" altLang="en-US" sz="700" dirty="0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3795734" y="3260182"/>
            <a:ext cx="2712027" cy="602717"/>
            <a:chOff x="675399" y="5310826"/>
            <a:chExt cx="2712027" cy="602717"/>
          </a:xfrm>
        </p:grpSpPr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591354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5358082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smtClean="0">
                  <a:latin typeface="+mn-ea"/>
                </a:rPr>
                <a:t>공개일 설정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5580620"/>
              <a:ext cx="6707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일자 </a:t>
              </a:r>
              <a:r>
                <a:rPr lang="ko-KR" altLang="en-US" sz="700" dirty="0" smtClean="0">
                  <a:latin typeface="+mn-ea"/>
                </a:rPr>
                <a:t>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26" name="그룹 12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0" y="5608251"/>
              <a:ext cx="1845146" cy="188244"/>
              <a:chOff x="5613534" y="2854836"/>
              <a:chExt cx="1727805" cy="188244"/>
            </a:xfrm>
          </p:grpSpPr>
          <p:sp>
            <p:nvSpPr>
              <p:cNvPr id="145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1727805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2025-10-10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46" name="그림 145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188784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53108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3104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1" name="타원 1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4025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954503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검색유형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smtClean="0"/>
              <a:t>연간조달계획 선택 시 화면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업무 구분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smtClean="0"/>
              <a:t>국외 활성화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타 버튼 비활성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연도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sym typeface="Wingdings" panose="05000000000000000000" pitchFamily="2" charset="2"/>
              </a:rPr>
              <a:t>호출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>
                <a:sym typeface="Wingdings" panose="05000000000000000000" pitchFamily="2" charset="2"/>
              </a:rPr>
              <a:t>검색어</a:t>
            </a:r>
            <a:r>
              <a:rPr lang="ko-KR" altLang="en-US" dirty="0" smtClean="0">
                <a:sym typeface="Wingdings" panose="05000000000000000000" pitchFamily="2" charset="2"/>
              </a:rPr>
              <a:t> 영역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재고번호조회 클릭 시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품목별 검색 </a:t>
            </a:r>
            <a:r>
              <a:rPr lang="en-US" altLang="ko-KR" dirty="0" smtClean="0">
                <a:sym typeface="Wingdings" panose="05000000000000000000" pitchFamily="2" charset="2"/>
              </a:rPr>
              <a:t>(</a:t>
            </a:r>
            <a:r>
              <a:rPr lang="en-US" altLang="ko-KR" dirty="0">
                <a:sym typeface="Wingdings" panose="05000000000000000000" pitchFamily="2" charset="2"/>
              </a:rPr>
              <a:t>MUI-OP-01-P71</a:t>
            </a:r>
            <a:r>
              <a:rPr lang="en-US" altLang="ko-KR" dirty="0" smtClean="0">
                <a:sym typeface="Wingdings" panose="05000000000000000000" pitchFamily="2" charset="2"/>
              </a:rPr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>
                <a:sym typeface="Wingdings" panose="05000000000000000000" pitchFamily="2" charset="2"/>
              </a:rPr>
              <a:t>품목</a:t>
            </a:r>
            <a:r>
              <a:rPr lang="en-US" altLang="ko-KR" dirty="0" smtClean="0">
                <a:sym typeface="Wingdings" panose="05000000000000000000" pitchFamily="2" charset="2"/>
              </a:rPr>
              <a:t>, </a:t>
            </a:r>
            <a:r>
              <a:rPr lang="ko-KR" altLang="en-US" dirty="0" smtClean="0">
                <a:sym typeface="Wingdings" panose="05000000000000000000" pitchFamily="2" charset="2"/>
              </a:rPr>
              <a:t>생산자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로그인 사용자에게 표시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품목 클릭 시 </a:t>
            </a:r>
            <a:r>
              <a:rPr lang="en-US" altLang="ko-KR" dirty="0" smtClean="0">
                <a:sym typeface="Wingdings" panose="05000000000000000000" pitchFamily="2" charset="2"/>
              </a:rPr>
              <a:t>&gt;</a:t>
            </a:r>
            <a:r>
              <a:rPr lang="ko-KR" altLang="en-US" dirty="0" smtClean="0">
                <a:sym typeface="Wingdings" panose="05000000000000000000" pitchFamily="2" charset="2"/>
              </a:rPr>
              <a:t> 품목별 검색 </a:t>
            </a:r>
            <a:r>
              <a:rPr lang="en-US" altLang="ko-KR" dirty="0" smtClean="0">
                <a:sym typeface="Wingdings" panose="05000000000000000000" pitchFamily="2" charset="2"/>
              </a:rPr>
              <a:t>(MUI-OP-01-P71)</a:t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생산자 클릭 시 </a:t>
            </a:r>
            <a:r>
              <a:rPr lang="en-US" altLang="ko-KR" dirty="0" smtClean="0">
                <a:sym typeface="Wingdings" panose="05000000000000000000" pitchFamily="2" charset="2"/>
              </a:rPr>
              <a:t>&gt; </a:t>
            </a:r>
            <a:r>
              <a:rPr lang="ko-KR" altLang="en-US" dirty="0" smtClean="0">
                <a:sym typeface="Wingdings" panose="05000000000000000000" pitchFamily="2" charset="2"/>
              </a:rPr>
              <a:t>생산자 검색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 smtClean="0">
                <a:sym typeface="Wingdings" panose="05000000000000000000" pitchFamily="2" charset="2"/>
              </a:rPr>
              <a:t>MUI-OP-01-P72)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>
                <a:sym typeface="Wingdings" panose="05000000000000000000" pitchFamily="2" charset="2"/>
              </a:rPr>
              <a:t>구분 </a:t>
            </a:r>
            <a:r>
              <a:rPr lang="ko-KR" altLang="en-US" dirty="0">
                <a:sym typeface="Wingdings" panose="05000000000000000000" pitchFamily="2" charset="2"/>
              </a:rPr>
              <a:t>설정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드롭 다운으로 각 </a:t>
            </a:r>
            <a:r>
              <a:rPr lang="ko-KR" altLang="en-US" dirty="0" err="1">
                <a:sym typeface="Wingdings" panose="05000000000000000000" pitchFamily="2" charset="2"/>
              </a:rPr>
              <a:t>구분값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sym typeface="Wingdings" panose="05000000000000000000" pitchFamily="2" charset="2"/>
              </a:rPr>
              <a:t>설정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각 </a:t>
            </a:r>
            <a:r>
              <a:rPr lang="ko-KR" altLang="en-US" dirty="0" err="1" smtClean="0">
                <a:sym typeface="Wingdings" panose="05000000000000000000" pitchFamily="2" charset="2"/>
              </a:rPr>
              <a:t>구분값은</a:t>
            </a:r>
            <a:r>
              <a:rPr lang="ko-KR" altLang="en-US" dirty="0" smtClean="0">
                <a:sym typeface="Wingdings" panose="05000000000000000000" pitchFamily="2" charset="2"/>
              </a:rPr>
              <a:t> 항목 설명 확인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</a:t>
            </a:r>
            <a:r>
              <a:rPr lang="ko-KR" altLang="en-US" dirty="0" smtClean="0">
                <a:latin typeface="+mn-ea"/>
              </a:rPr>
              <a:t>필터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입찰 공고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MUI-OP-01-M02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75162" y="38276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675399" y="2970027"/>
            <a:ext cx="2712027" cy="1477263"/>
            <a:chOff x="675399" y="1921801"/>
            <a:chExt cx="2712027" cy="1477263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199593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업무구분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41620" y="2226095"/>
              <a:ext cx="2305144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전체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물품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용역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공사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국외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772169" y="2292407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772169" y="2509633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4" name="그룹 133"/>
            <p:cNvGrpSpPr/>
            <p:nvPr/>
          </p:nvGrpSpPr>
          <p:grpSpPr>
            <a:xfrm flipV="1">
              <a:off x="3140949" y="2093627"/>
              <a:ext cx="91438" cy="45719"/>
              <a:chOff x="6812560" y="3297172"/>
              <a:chExt cx="94010" cy="47005"/>
            </a:xfrm>
          </p:grpSpPr>
          <p:cxnSp>
            <p:nvCxnSpPr>
              <p:cNvPr id="135" name="직선 연결선 1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7" name="직사각형 136"/>
            <p:cNvSpPr/>
            <p:nvPr/>
          </p:nvSpPr>
          <p:spPr>
            <a:xfrm>
              <a:off x="772169" y="2706723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772169" y="2921384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772169" y="3133350"/>
              <a:ext cx="107950" cy="1079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12771" y="3096396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39906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192180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46099" y="30624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675399" y="4532440"/>
            <a:ext cx="2712027" cy="619619"/>
            <a:chOff x="675399" y="3490553"/>
            <a:chExt cx="2712027" cy="61961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연도 설정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지시년도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1464781" y="3740722"/>
              <a:ext cx="1845146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7000" y="3761890"/>
              <a:ext cx="134873" cy="137278"/>
            </a:xfrm>
            <a:prstGeom prst="rect">
              <a:avLst/>
            </a:prstGeom>
          </p:spPr>
        </p:pic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11017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25" name="TextBox 2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742892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구분 설정</a:t>
            </a:r>
          </a:p>
        </p:txBody>
      </p:sp>
      <p:grpSp>
        <p:nvGrpSpPr>
          <p:cNvPr id="226" name="그룹 225"/>
          <p:cNvGrpSpPr/>
          <p:nvPr/>
        </p:nvGrpSpPr>
        <p:grpSpPr>
          <a:xfrm flipV="1">
            <a:off x="6261284" y="3840582"/>
            <a:ext cx="91438" cy="45719"/>
            <a:chOff x="6812560" y="3297172"/>
            <a:chExt cx="94010" cy="47005"/>
          </a:xfrm>
        </p:grpSpPr>
        <p:cxnSp>
          <p:nvCxnSpPr>
            <p:cNvPr id="227" name="직선 연결선 22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9" name="모서리가 둥근 직사각형 228"/>
          <p:cNvSpPr/>
          <p:nvPr/>
        </p:nvSpPr>
        <p:spPr>
          <a:xfrm>
            <a:off x="4569619" y="4023383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971257"/>
            <a:ext cx="670770" cy="9048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10000"/>
              </a:lnSpc>
            </a:pPr>
            <a:r>
              <a:rPr lang="ko-KR" altLang="en-US" sz="700" dirty="0" smtClean="0">
                <a:latin typeface="+mn-ea"/>
              </a:rPr>
              <a:t>부서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 smtClean="0">
                <a:latin typeface="+mn-ea"/>
              </a:rPr>
              <a:t>기능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 smtClean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 err="1" smtClean="0">
                <a:latin typeface="+mn-ea"/>
              </a:rPr>
              <a:t>품류</a:t>
            </a:r>
            <a:endParaRPr lang="en-US" altLang="ko-KR" sz="700" dirty="0">
              <a:latin typeface="+mn-ea"/>
            </a:endParaRPr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4569619" y="4246320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2" name="모서리가 둥근 직사각형 231"/>
          <p:cNvSpPr/>
          <p:nvPr/>
        </p:nvSpPr>
        <p:spPr>
          <a:xfrm>
            <a:off x="4569619" y="4467894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4572570" y="4704119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grpSp>
        <p:nvGrpSpPr>
          <p:cNvPr id="234" name="그룹 233"/>
          <p:cNvGrpSpPr/>
          <p:nvPr/>
        </p:nvGrpSpPr>
        <p:grpSpPr>
          <a:xfrm>
            <a:off x="6261284" y="4774860"/>
            <a:ext cx="91438" cy="45719"/>
            <a:chOff x="6812560" y="3297172"/>
            <a:chExt cx="94010" cy="47005"/>
          </a:xfrm>
        </p:grpSpPr>
        <p:cxnSp>
          <p:nvCxnSpPr>
            <p:cNvPr id="235" name="직선 연결선 2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6" name="직선 연결선 2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1" name="그룹 240"/>
          <p:cNvGrpSpPr/>
          <p:nvPr/>
        </p:nvGrpSpPr>
        <p:grpSpPr>
          <a:xfrm>
            <a:off x="6261284" y="4540972"/>
            <a:ext cx="91438" cy="45719"/>
            <a:chOff x="6812560" y="3297172"/>
            <a:chExt cx="94010" cy="47005"/>
          </a:xfrm>
        </p:grpSpPr>
        <p:cxnSp>
          <p:nvCxnSpPr>
            <p:cNvPr id="242" name="직선 연결선 2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3" name="직선 연결선 2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4" name="그룹 243"/>
          <p:cNvGrpSpPr/>
          <p:nvPr/>
        </p:nvGrpSpPr>
        <p:grpSpPr>
          <a:xfrm>
            <a:off x="6261284" y="4324805"/>
            <a:ext cx="91438" cy="45719"/>
            <a:chOff x="6812560" y="3297172"/>
            <a:chExt cx="94010" cy="47005"/>
          </a:xfrm>
        </p:grpSpPr>
        <p:cxnSp>
          <p:nvCxnSpPr>
            <p:cNvPr id="245" name="직선 연결선 24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6" name="직선 연결선 24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7" name="그룹 246"/>
          <p:cNvGrpSpPr/>
          <p:nvPr/>
        </p:nvGrpSpPr>
        <p:grpSpPr>
          <a:xfrm>
            <a:off x="6261284" y="4094123"/>
            <a:ext cx="91438" cy="45719"/>
            <a:chOff x="6812560" y="3297172"/>
            <a:chExt cx="94010" cy="47005"/>
          </a:xfrm>
        </p:grpSpPr>
        <p:cxnSp>
          <p:nvCxnSpPr>
            <p:cNvPr id="248" name="직선 연결선 24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직선 연결선 24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70549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2" name="타원 2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41675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grpSp>
        <p:nvGrpSpPr>
          <p:cNvPr id="5" name="그룹 4"/>
          <p:cNvGrpSpPr/>
          <p:nvPr/>
        </p:nvGrpSpPr>
        <p:grpSpPr>
          <a:xfrm>
            <a:off x="794115" y="1977748"/>
            <a:ext cx="2474595" cy="867151"/>
            <a:chOff x="3892504" y="4660546"/>
            <a:chExt cx="2474595" cy="867151"/>
          </a:xfrm>
        </p:grpSpPr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8850" y="4660546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검색유형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 smtClean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283" name="그룹 282"/>
            <p:cNvGrpSpPr/>
            <p:nvPr/>
          </p:nvGrpSpPr>
          <p:grpSpPr>
            <a:xfrm flipV="1">
              <a:off x="6261284" y="4758236"/>
              <a:ext cx="91438" cy="45719"/>
              <a:chOff x="6812560" y="3297172"/>
              <a:chExt cx="94010" cy="47005"/>
            </a:xfrm>
          </p:grpSpPr>
          <p:cxnSp>
            <p:nvCxnSpPr>
              <p:cNvPr id="284" name="직선 연결선 28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5" name="직선 연결선 28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61955" y="4904371"/>
              <a:ext cx="2305144" cy="6120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조달계획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사전규격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연간조달계획</a:t>
              </a:r>
            </a:p>
          </p:txBody>
        </p:sp>
        <p:sp>
          <p:nvSpPr>
            <p:cNvPr id="290" name="타원 289"/>
            <p:cNvSpPr/>
            <p:nvPr/>
          </p:nvSpPr>
          <p:spPr>
            <a:xfrm>
              <a:off x="3892504" y="4977785"/>
              <a:ext cx="107950" cy="10795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1" name="타원 290"/>
            <p:cNvSpPr/>
            <p:nvPr/>
          </p:nvSpPr>
          <p:spPr>
            <a:xfrm>
              <a:off x="3892504" y="5198345"/>
              <a:ext cx="107950" cy="10795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타원 150"/>
            <p:cNvSpPr/>
            <p:nvPr/>
          </p:nvSpPr>
          <p:spPr>
            <a:xfrm>
              <a:off x="3892504" y="5419747"/>
              <a:ext cx="107950" cy="1079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3622" y="1956581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검색어</a:t>
            </a:r>
            <a:r>
              <a:rPr lang="ko-KR" altLang="en-US" sz="700" b="1" dirty="0">
                <a:latin typeface="+mn-ea"/>
              </a:rPr>
              <a:t> </a:t>
            </a:r>
            <a:r>
              <a:rPr lang="en-US" altLang="ko-KR" sz="700" b="1" dirty="0">
                <a:latin typeface="+mn-ea"/>
              </a:rPr>
              <a:t>(</a:t>
            </a:r>
            <a:r>
              <a:rPr lang="ko-KR" altLang="en-US" sz="700" b="1" dirty="0">
                <a:latin typeface="+mn-ea"/>
              </a:rPr>
              <a:t>일부 입력 가능</a:t>
            </a:r>
            <a:r>
              <a:rPr lang="en-US" altLang="ko-KR" sz="700" b="1" dirty="0">
                <a:latin typeface="+mn-ea"/>
              </a:rPr>
              <a:t>)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201" name="그룹 200"/>
          <p:cNvGrpSpPr/>
          <p:nvPr/>
        </p:nvGrpSpPr>
        <p:grpSpPr>
          <a:xfrm flipV="1">
            <a:off x="6266056" y="2054271"/>
            <a:ext cx="91438" cy="45719"/>
            <a:chOff x="6812560" y="3297172"/>
            <a:chExt cx="94010" cy="47005"/>
          </a:xfrm>
        </p:grpSpPr>
        <p:cxnSp>
          <p:nvCxnSpPr>
            <p:cNvPr id="202" name="직선 연결선 2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직선 연결선 20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4" name="모서리가 둥근 직사각형 203"/>
          <p:cNvSpPr/>
          <p:nvPr/>
        </p:nvSpPr>
        <p:spPr>
          <a:xfrm>
            <a:off x="4574391" y="2237072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군구분을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3622" y="2193572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품질등급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부품번호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품목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생산자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207" name="모서리가 둥근 직사각형 206"/>
          <p:cNvSpPr/>
          <p:nvPr/>
        </p:nvSpPr>
        <p:spPr>
          <a:xfrm>
            <a:off x="4574391" y="2458629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품질등급을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8" name="모서리가 둥근 직사각형 207"/>
          <p:cNvSpPr/>
          <p:nvPr/>
        </p:nvSpPr>
        <p:spPr>
          <a:xfrm>
            <a:off x="4574391" y="2903992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부품번호을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6" name="모서리가 둥근 직사각형 265"/>
          <p:cNvSpPr/>
          <p:nvPr/>
        </p:nvSpPr>
        <p:spPr>
          <a:xfrm>
            <a:off x="4574391" y="2681348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재고번호을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ko-KR" altLang="en-US" sz="700" dirty="0" smtClean="0">
                <a:solidFill>
                  <a:schemeClr val="bg1">
                    <a:lumMod val="65000"/>
                  </a:schemeClr>
                </a:solidFill>
              </a:rPr>
              <a:t>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41" name="그룹 140"/>
          <p:cNvGrpSpPr/>
          <p:nvPr/>
        </p:nvGrpSpPr>
        <p:grpSpPr>
          <a:xfrm rot="16200000">
            <a:off x="6266059" y="2745833"/>
            <a:ext cx="91438" cy="45719"/>
            <a:chOff x="6812560" y="3297172"/>
            <a:chExt cx="94010" cy="47005"/>
          </a:xfrm>
        </p:grpSpPr>
        <p:cxnSp>
          <p:nvCxnSpPr>
            <p:cNvPr id="142" name="직선 연결선 1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직선 연결선 14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그룹 2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10" name="직사각형 10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2026-05-26 </a:t>
              </a:r>
              <a:r>
                <a:rPr lang="ko-KR" altLang="en-US" dirty="0" smtClean="0"/>
                <a:t>화면 수정</a:t>
              </a:r>
              <a:endParaRPr lang="ko-KR" altLang="en-US" dirty="0"/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필수 항목 표시 </a:t>
              </a:r>
              <a:r>
                <a:rPr lang="en-US" altLang="ko-KR" sz="700" dirty="0" smtClean="0"/>
                <a:t>* </a:t>
              </a:r>
              <a:r>
                <a:rPr lang="ko-KR" altLang="en-US" sz="700" dirty="0" smtClean="0"/>
                <a:t>표 추가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검색어</a:t>
              </a:r>
              <a:r>
                <a:rPr lang="en-US" altLang="ko-KR" sz="700" dirty="0" smtClean="0"/>
                <a:t>, </a:t>
              </a:r>
              <a:r>
                <a:rPr lang="ko-KR" altLang="en-US" sz="700" dirty="0" err="1" smtClean="0"/>
                <a:t>구분설정</a:t>
              </a:r>
              <a:r>
                <a:rPr lang="ko-KR" altLang="en-US" sz="700" dirty="0" smtClean="0"/>
                <a:t> 수정</a:t>
              </a:r>
              <a:endParaRPr lang="ko-KR" altLang="en-US" sz="700" dirty="0"/>
            </a:p>
          </p:txBody>
        </p:sp>
      </p:grpSp>
      <p:sp>
        <p:nvSpPr>
          <p:cNvPr id="104" name="모서리가 둥근 직사각형 103"/>
          <p:cNvSpPr/>
          <p:nvPr/>
        </p:nvSpPr>
        <p:spPr>
          <a:xfrm>
            <a:off x="4574391" y="3123173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smtClean="0">
                <a:solidFill>
                  <a:schemeClr val="bg1">
                    <a:lumMod val="65000"/>
                  </a:schemeClr>
                </a:solidFill>
              </a:rPr>
              <a:t>품목을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05" name="그룹 104"/>
          <p:cNvGrpSpPr/>
          <p:nvPr/>
        </p:nvGrpSpPr>
        <p:grpSpPr>
          <a:xfrm rot="16200000">
            <a:off x="6266059" y="3187658"/>
            <a:ext cx="91438" cy="45719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8" name="모서리가 둥근 직사각형 107"/>
          <p:cNvSpPr/>
          <p:nvPr/>
        </p:nvSpPr>
        <p:spPr>
          <a:xfrm>
            <a:off x="4574391" y="3344747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smtClean="0">
                <a:solidFill>
                  <a:schemeClr val="bg1">
                    <a:lumMod val="65000"/>
                  </a:schemeClr>
                </a:solidFill>
              </a:rPr>
              <a:t>생산자를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09" name="그룹 108"/>
          <p:cNvGrpSpPr/>
          <p:nvPr/>
        </p:nvGrpSpPr>
        <p:grpSpPr>
          <a:xfrm rot="16200000">
            <a:off x="6266059" y="3409232"/>
            <a:ext cx="91438" cy="45719"/>
            <a:chOff x="6812560" y="3297172"/>
            <a:chExt cx="94010" cy="47005"/>
          </a:xfrm>
        </p:grpSpPr>
        <p:cxnSp>
          <p:nvCxnSpPr>
            <p:cNvPr id="112" name="직선 연결선 11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직선 연결선 11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16746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grpSp>
        <p:nvGrpSpPr>
          <p:cNvPr id="115" name="그룹 114"/>
          <p:cNvGrpSpPr/>
          <p:nvPr/>
        </p:nvGrpSpPr>
        <p:grpSpPr>
          <a:xfrm>
            <a:off x="8223250" y="705888"/>
            <a:ext cx="3365500" cy="634511"/>
            <a:chOff x="8223250" y="569392"/>
            <a:chExt cx="3365500" cy="634511"/>
          </a:xfrm>
        </p:grpSpPr>
        <p:sp>
          <p:nvSpPr>
            <p:cNvPr id="120" name="직사각형 11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2026-06-01 </a:t>
              </a:r>
              <a:r>
                <a:rPr lang="ko-KR" altLang="en-US" dirty="0" smtClean="0"/>
                <a:t>화면 수정</a:t>
              </a:r>
              <a:endParaRPr lang="ko-KR" altLang="en-US" dirty="0"/>
            </a:p>
          </p:txBody>
        </p:sp>
        <p:sp>
          <p:nvSpPr>
            <p:cNvPr id="121" name="직사각형 12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700" dirty="0" smtClean="0"/>
                <a:t>5</a:t>
              </a:r>
              <a:r>
                <a:rPr lang="ko-KR" altLang="en-US" sz="700" dirty="0" smtClean="0"/>
                <a:t>번 품목</a:t>
              </a:r>
              <a:r>
                <a:rPr lang="en-US" altLang="ko-KR" sz="700" dirty="0" smtClean="0"/>
                <a:t>, </a:t>
              </a:r>
              <a:r>
                <a:rPr lang="ko-KR" altLang="en-US" sz="700" dirty="0" smtClean="0"/>
                <a:t>생산자 추가 됨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23971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(1/4)</a:t>
            </a:r>
            <a:endParaRPr lang="ko-KR" altLang="en-US" sz="1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33780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조달계획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dml_prcmPlanSrch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2620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   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srchType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목록 검색 유형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연간조달계획 에 따라 검색조건과 그리드 항목이 변경되어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 선택 가능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5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orderPrnmntYmFr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발주예정월의 </a:t>
                      </a:r>
                      <a:r>
                        <a:rPr lang="ko-KR" altLang="en-US" sz="800" dirty="0" err="1">
                          <a:latin typeface="+mn-ea"/>
                        </a:rPr>
                        <a:t>시작년월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</a:rPr>
                        <a:t>YYYY-MM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478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발주예정월의 </a:t>
                      </a:r>
                      <a:r>
                        <a:rPr lang="ko-KR" altLang="en-US" sz="800" dirty="0" err="1">
                          <a:latin typeface="+mn-ea"/>
                        </a:rPr>
                        <a:t>종료년월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</a:rPr>
                        <a:t>YYYY-MM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153222"/>
                  </a:ext>
                </a:extLst>
              </a:tr>
              <a:tr h="16733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제목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364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판단번호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03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발주기관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699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담당자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73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대표품명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rprsItemNm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품명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픔명검색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16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implPrgrsStcd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계약대기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9498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26680D8-99D4-91F3-4FFD-EB65B9B2D067}"/>
              </a:ext>
            </a:extLst>
          </p:cNvPr>
          <p:cNvSpPr txBox="1"/>
          <p:nvPr/>
        </p:nvSpPr>
        <p:spPr>
          <a:xfrm>
            <a:off x="453759" y="3733555"/>
            <a:ext cx="345984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사전규격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dml_bfhdSpcfctSrch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8E7BAD4-F50D-24DB-DF61-2D39C7BD5EB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8641" y="3944758"/>
          <a:ext cx="8994883" cy="2426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srchType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목록 검색 유형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연간조달계획 에 따라 검색조건과 그리드 항목이 변경되어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en-US" altLang="ko-KR" sz="800" dirty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선택 가능하며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 비활성화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5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rcptDtFrom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의견접수 시작일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800" dirty="0">
                          <a:latin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364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rcptDtTo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의견접수 종료일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800" dirty="0">
                          <a:latin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03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bfhdSpcfctNm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제목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699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판단번호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73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발주기관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94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담당자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640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wrtDt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공개일자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064780"/>
                  </a:ext>
                </a:extLst>
              </a:tr>
            </a:tbl>
          </a:graphicData>
        </a:graphic>
      </p:graphicFrame>
      <p:sp>
        <p:nvSpPr>
          <p:cNvPr id="6" name="Text Box 73">
            <a:extLst>
              <a:ext uri="{FF2B5EF4-FFF2-40B4-BE49-F238E27FC236}">
                <a16:creationId xmlns:a16="http://schemas.microsoft.com/office/drawing/2014/main" id="{4D9A6B9D-CFE4-2F0F-B878-6DBF9B4EC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3192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11824"/>
            <a:ext cx="377243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연간조달계획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dml_anlPrcmPlanSrch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23027"/>
          <a:ext cx="8994883" cy="2692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srchType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목록 검색 유형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연간조달계획 에 따라 검색조건과 그리드 항목이 변경되어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en-US" altLang="ko-KR" sz="800" dirty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 고정으로 선택되며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비활성화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5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지시년도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drctnYr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연간조달계획 </a:t>
                      </a:r>
                      <a:r>
                        <a:rPr lang="ko-KR" altLang="en-US" sz="800" dirty="0" err="1">
                          <a:latin typeface="+mn-ea"/>
                        </a:rPr>
                        <a:t>지시년도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478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부서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153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군구분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03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품질등급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품질등급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699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fscCdN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tnItemIdntfNo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73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prtsNo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16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기능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94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frcptlItemMsprgStcd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계약대기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776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itemFwkCd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46904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AC54895-1B91-3BE1-5957-341453357C80}"/>
              </a:ext>
            </a:extLst>
          </p:cNvPr>
          <p:cNvSpPr txBox="1"/>
          <p:nvPr/>
        </p:nvSpPr>
        <p:spPr>
          <a:xfrm>
            <a:off x="452999" y="3876156"/>
            <a:ext cx="342458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조달계획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dlt_prcmPlanList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9469F3D-3F23-707F-13E5-5ECD90AE75B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4088441"/>
          <a:ext cx="8994883" cy="2327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조달계획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판단번호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6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발주예정월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7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제목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18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발주기관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2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담당자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0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계약방법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CTMC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입찰방법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예산금액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implPrgrsStcd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계약대기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1604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15D3CB6-6479-0FC6-8DF5-5624382B608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(2/4)</a:t>
            </a:r>
            <a:endParaRPr lang="ko-KR" altLang="en-US" sz="1000" b="1" dirty="0"/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30779245-8131-5E14-D98C-055AAC3BB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41086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CC781-2003-6F31-D185-B31B97B7B3F2}"/>
              </a:ext>
            </a:extLst>
          </p:cNvPr>
          <p:cNvSpPr txBox="1"/>
          <p:nvPr/>
        </p:nvSpPr>
        <p:spPr>
          <a:xfrm>
            <a:off x="452999" y="825130"/>
            <a:ext cx="350633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사전규격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dlt_bfhdSpcfctList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ED8FB10-6797-1CDF-872E-B16E4190B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37415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판단번호 조회결과 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6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bfhdSpcfctNm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제목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7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발주기관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18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담당자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2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예산금액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0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opnnRcptPrd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의견접수 기간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yyyy-mm-dd</a:t>
                      </a:r>
                      <a:r>
                        <a:rPr lang="en-US" altLang="ko-KR" sz="800" dirty="0" err="1">
                          <a:latin typeface="+mn-ea"/>
                        </a:rPr>
                        <a:t>~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wrtDt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공개일자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E6C7D69-8E18-58C2-F69D-0DD0163465A7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(3/4)</a:t>
            </a:r>
            <a:endParaRPr lang="ko-KR" altLang="en-US" sz="1000" b="1" dirty="0"/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66D086BD-AFF6-8A4F-8A18-89325D17E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5012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2999" y="828149"/>
            <a:ext cx="3879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연간조달계획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dlt_anlPrcmPlanList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49143"/>
          <a:ext cx="8994883" cy="42662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31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연간조달계획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91456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58687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fscCdN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tnItemIdntfNo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532629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prtsNo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097123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품질 등급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품질 등급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704834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 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prdcrSgn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 부호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08397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 중복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prdcrDpcn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 중복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248165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68780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957907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지시단가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(USD)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지시단가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(USD)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282028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지시예산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(USD)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지시예산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(USD)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65203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7735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장비부호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aplcnEqpmntCd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장비부호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18442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장비명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aplcnEqpmntNm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장비명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21845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구매요청번호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grNo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구매요청번호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0925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clsfNo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42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기능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771210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frcptlItemMsprgStcd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itemFwkCd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3F09D5C-3137-5295-2F6D-8CE547F19C36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(4/4)</a:t>
            </a:r>
            <a:endParaRPr lang="ko-KR" altLang="en-US" sz="1000" b="1" dirty="0"/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F1344113-74F2-4858-507F-AC2BE28AF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09742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99E91E-3DCA-338A-F1DF-440EB57F2AF1}"/>
              </a:ext>
            </a:extLst>
          </p:cNvPr>
          <p:cNvSpPr txBox="1"/>
          <p:nvPr/>
        </p:nvSpPr>
        <p:spPr>
          <a:xfrm>
            <a:off x="458117" y="59037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AF5D669-579B-3B4F-CCC6-B5A75509D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970466"/>
              </p:ext>
            </p:extLst>
          </p:nvPr>
        </p:nvGraphicFramePr>
        <p:xfrm>
          <a:off x="453000" y="851805"/>
          <a:ext cx="8995591" cy="1651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발주예정월을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현재월로 세팅한다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부합하는 데이터가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02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초기화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scwin.btn_init_onclikc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검색조건이 기본값으로 초기화된다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931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조달계획 그리드</a:t>
                      </a:r>
                      <a:r>
                        <a:rPr lang="en-US" altLang="ko-KR" sz="800" dirty="0"/>
                        <a:t>-</a:t>
                      </a:r>
                      <a:r>
                        <a:rPr lang="ko-KR" altLang="en-US" sz="800" dirty="0"/>
                        <a:t>제목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scwin.grd_prcmPlan_onclick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상세화면으로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사전규격 그리드</a:t>
                      </a:r>
                      <a:r>
                        <a:rPr lang="en-US" altLang="ko-KR" sz="800" dirty="0"/>
                        <a:t>-</a:t>
                      </a:r>
                      <a:r>
                        <a:rPr lang="ko-KR" altLang="en-US" sz="800" dirty="0"/>
                        <a:t>제목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scwin.grd_bfhdSpcfct_onclick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 상세화면으로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500023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3DA083E2-857F-8E9F-A5B4-83E04F5B4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68" y="649812"/>
            <a:ext cx="136832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9456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타이틀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우측 버튼은 필요시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[</a:t>
            </a:r>
            <a:r>
              <a:rPr lang="ko-KR" altLang="en-US" dirty="0" smtClean="0"/>
              <a:t>조달계획 </a:t>
            </a:r>
            <a:r>
              <a:rPr lang="ko-KR" altLang="en-US" dirty="0" err="1" smtClean="0"/>
              <a:t>알림신청</a:t>
            </a:r>
            <a:r>
              <a:rPr lang="en-US" altLang="ko-KR" dirty="0" smtClean="0"/>
              <a:t>]</a:t>
            </a:r>
            <a:r>
              <a:rPr lang="ko-KR" altLang="en-US" dirty="0" smtClean="0"/>
              <a:t> 버튼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알림신청</a:t>
            </a:r>
            <a:r>
              <a:rPr lang="ko-KR" altLang="en-US" dirty="0" smtClean="0"/>
              <a:t> 클릭 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>
                <a:sym typeface="Wingdings" panose="05000000000000000000" pitchFamily="2" charset="2"/>
              </a:rPr>
              <a:t>  &gt; </a:t>
            </a:r>
            <a:r>
              <a:rPr lang="ko-KR" altLang="en-US" dirty="0" smtClean="0">
                <a:sym typeface="Wingdings" panose="05000000000000000000" pitchFamily="2" charset="2"/>
              </a:rPr>
              <a:t>입찰공고 </a:t>
            </a:r>
            <a:r>
              <a:rPr lang="ko-KR" altLang="en-US" dirty="0" err="1" smtClean="0">
                <a:sym typeface="Wingdings" panose="05000000000000000000" pitchFamily="2" charset="2"/>
              </a:rPr>
              <a:t>알림신청</a:t>
            </a:r>
            <a:r>
              <a:rPr lang="ko-KR" altLang="en-US" dirty="0" smtClean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(MUI-OP-01-P10)</a:t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출력 버튼 클릭 시 출력 가능 리포트 </a:t>
            </a:r>
            <a:r>
              <a:rPr lang="ko-KR" altLang="en-US" dirty="0" err="1" smtClean="0">
                <a:sym typeface="Wingdings" panose="05000000000000000000" pitchFamily="2" charset="2"/>
              </a:rPr>
              <a:t>바텀시트</a:t>
            </a:r>
            <a:r>
              <a:rPr lang="ko-KR" altLang="en-US" dirty="0" smtClean="0">
                <a:sym typeface="Wingdings" panose="05000000000000000000" pitchFamily="2" charset="2"/>
              </a:rPr>
              <a:t> 팝업 표시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 smtClean="0">
                <a:sym typeface="Wingdings" panose="05000000000000000000" pitchFamily="2" charset="2"/>
              </a:rPr>
              <a:t>MUI-BD-01-P17)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sym typeface="Wingdings" panose="05000000000000000000" pitchFamily="2" charset="2"/>
              </a:rPr>
              <a:t>버튼에서 버튼 출력물 명칭 표시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  &gt; </a:t>
            </a:r>
            <a:r>
              <a:rPr lang="ko-KR" altLang="en-US" dirty="0" smtClean="0">
                <a:sym typeface="Wingdings" panose="05000000000000000000" pitchFamily="2" charset="2"/>
              </a:rPr>
              <a:t>조달계획 상 출력물 참조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(UI-OP-01-R09) </a:t>
            </a:r>
            <a:r>
              <a:rPr lang="ko-KR" altLang="en-US" dirty="0" smtClean="0">
                <a:sym typeface="Wingdings" panose="05000000000000000000" pitchFamily="2" charset="2"/>
              </a:rPr>
              <a:t>물가조사서출력물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  &gt; </a:t>
            </a:r>
            <a:r>
              <a:rPr lang="ko-KR" altLang="en-US" dirty="0" smtClean="0">
                <a:sym typeface="Wingdings" panose="05000000000000000000" pitchFamily="2" charset="2"/>
              </a:rPr>
              <a:t>출력물 </a:t>
            </a:r>
            <a:r>
              <a:rPr lang="en-US" altLang="ko-KR" dirty="0" smtClean="0">
                <a:sym typeface="Wingdings" panose="05000000000000000000" pitchFamily="2" charset="2"/>
              </a:rPr>
              <a:t>OZ </a:t>
            </a:r>
            <a:r>
              <a:rPr lang="ko-KR" altLang="en-US" dirty="0" smtClean="0">
                <a:sym typeface="Wingdings" panose="05000000000000000000" pitchFamily="2" charset="2"/>
              </a:rPr>
              <a:t>리포트 연계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단계표시기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클릭 시 </a:t>
            </a:r>
            <a:r>
              <a:rPr lang="ko-KR" altLang="en-US" dirty="0" err="1" smtClean="0"/>
              <a:t>바텀시트에서</a:t>
            </a:r>
            <a:r>
              <a:rPr lang="ko-KR" altLang="en-US" dirty="0" smtClean="0"/>
              <a:t> 단계 상세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</a:t>
            </a:r>
            <a:r>
              <a:rPr lang="ko-KR" altLang="en-US" dirty="0"/>
              <a:t>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상세내용 </a:t>
            </a:r>
            <a:r>
              <a:rPr lang="en-US" altLang="ko-KR" dirty="0"/>
              <a:t>Tab</a:t>
            </a:r>
            <a:r>
              <a:rPr lang="ko-KR" altLang="en-US" dirty="0"/>
              <a:t>은 진입 시 고정 노출</a:t>
            </a:r>
            <a:r>
              <a:rPr lang="en-US" altLang="ko-KR" dirty="0"/>
              <a:t>- </a:t>
            </a:r>
            <a:r>
              <a:rPr lang="ko-KR" altLang="en-US" dirty="0"/>
              <a:t>탭 </a:t>
            </a:r>
            <a:r>
              <a:rPr lang="en-US" altLang="ko-KR" dirty="0"/>
              <a:t>- </a:t>
            </a:r>
            <a:r>
              <a:rPr lang="ko-KR" altLang="en-US" dirty="0"/>
              <a:t>상세내용</a:t>
            </a:r>
            <a:r>
              <a:rPr lang="en-US" altLang="ko-KR" dirty="0"/>
              <a:t>, </a:t>
            </a:r>
            <a:r>
              <a:rPr lang="ko-KR" altLang="en-US" dirty="0" err="1"/>
              <a:t>품목명세서</a:t>
            </a:r>
            <a:r>
              <a:rPr lang="en-US" altLang="ko-KR" dirty="0"/>
              <a:t>, </a:t>
            </a:r>
            <a:r>
              <a:rPr lang="ko-KR" altLang="en-US" dirty="0" err="1"/>
              <a:t>업체의견</a:t>
            </a:r>
            <a:r>
              <a:rPr lang="en-US" altLang="ko-KR" dirty="0"/>
              <a:t>, </a:t>
            </a:r>
            <a:r>
              <a:rPr lang="ko-KR" altLang="en-US" dirty="0"/>
              <a:t>계약특수조건</a:t>
            </a:r>
            <a:r>
              <a:rPr lang="en-US" altLang="ko-KR" dirty="0"/>
              <a:t>, </a:t>
            </a:r>
            <a:r>
              <a:rPr lang="ko-KR" altLang="en-US" dirty="0"/>
              <a:t>첨부파일 순으로 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업체 의견 등록은 로그인 </a:t>
            </a:r>
            <a:r>
              <a:rPr lang="ko-KR" altLang="en-US" dirty="0" smtClean="0"/>
              <a:t>사용자만 가능</a:t>
            </a:r>
            <a:r>
              <a:rPr lang="en-US" altLang="ko-KR" dirty="0"/>
              <a:t>.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/>
              <a:t>로그인 필요 서비스 안내 </a:t>
            </a:r>
            <a:r>
              <a:rPr lang="ko-KR" altLang="en-US" dirty="0" smtClean="0"/>
              <a:t>표시</a:t>
            </a:r>
            <a:r>
              <a:rPr lang="en-US" altLang="ko-KR" dirty="0" smtClean="0"/>
              <a:t>(</a:t>
            </a:r>
            <a:r>
              <a:rPr lang="en-US" altLang="ko-KR" dirty="0"/>
              <a:t>MUI-CM-03-P19)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상세내용에</a:t>
            </a:r>
            <a:r>
              <a:rPr lang="ko-KR" altLang="en-US" dirty="0"/>
              <a:t> 포함된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섹션마다 아코디언 기능 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별도 정의된 영역에 한하여 </a:t>
            </a:r>
            <a:r>
              <a:rPr lang="en-US" altLang="ko-KR" dirty="0" smtClean="0"/>
              <a:t>+ </a:t>
            </a:r>
            <a:r>
              <a:rPr lang="ko-KR" altLang="en-US" dirty="0" smtClean="0"/>
              <a:t>버튼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기본값은 상단 이동 버튼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현 상세내용 탭에서는 </a:t>
            </a:r>
            <a:r>
              <a:rPr lang="en-US" altLang="ko-KR" dirty="0" smtClean="0"/>
              <a:t>+</a:t>
            </a:r>
            <a:r>
              <a:rPr lang="ko-KR" altLang="en-US" dirty="0" smtClean="0"/>
              <a:t>버튼 없음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상세내용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첫 화면 </a:t>
            </a:r>
            <a:r>
              <a:rPr lang="en-US" altLang="ko-KR" dirty="0"/>
              <a:t>– </a:t>
            </a:r>
            <a:r>
              <a:rPr lang="ko-KR" altLang="en-US" dirty="0"/>
              <a:t>상세내용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조달계획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851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158410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판단번호</a:t>
            </a:r>
            <a:r>
              <a:rPr lang="ko-KR" altLang="en-US" sz="700" dirty="0"/>
              <a:t> </a:t>
            </a:r>
            <a:r>
              <a:rPr lang="en-US" altLang="ko-KR" sz="700" dirty="0"/>
              <a:t>6000A</a:t>
            </a:r>
          </a:p>
          <a:p>
            <a:r>
              <a:rPr lang="en-US" altLang="ko-KR" sz="900" b="1" dirty="0"/>
              <a:t>‘26</a:t>
            </a:r>
            <a:r>
              <a:rPr lang="ko-KR" altLang="en-US" sz="900" b="1" dirty="0"/>
              <a:t>년 </a:t>
            </a:r>
            <a:r>
              <a:rPr lang="en-US" altLang="ko-KR" sz="900" b="1" dirty="0"/>
              <a:t>K5</a:t>
            </a:r>
            <a:r>
              <a:rPr lang="ko-KR" altLang="en-US" sz="900" b="1" dirty="0"/>
              <a:t>방독면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493475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발주예정월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계약방법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예산금액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478086"/>
            <a:ext cx="538609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2026-03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화력총괄계약팀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총액제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197407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1974079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1256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85380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546317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577662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659648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타원 79"/>
          <p:cNvSpPr/>
          <p:nvPr/>
        </p:nvSpPr>
        <p:spPr>
          <a:xfrm>
            <a:off x="2926040" y="195767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3070040" y="1974079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출력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0821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39916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3991608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60915" y="3991608"/>
            <a:ext cx="39616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50526" y="3991608"/>
            <a:ext cx="57818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계약특수조건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08215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3953485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1454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27877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622031"/>
            <a:ext cx="792000" cy="16102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2203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622031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발주예정일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집행유형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수량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622031"/>
            <a:ext cx="18144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6000A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2026-06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85313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06684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28055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49425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0796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2167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3537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2337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15488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98" name="그룹 297"/>
          <p:cNvGrpSpPr/>
          <p:nvPr/>
        </p:nvGrpSpPr>
        <p:grpSpPr>
          <a:xfrm rot="16200000">
            <a:off x="1250697" y="3307709"/>
            <a:ext cx="94010" cy="47005"/>
            <a:chOff x="6812560" y="3297172"/>
            <a:chExt cx="94010" cy="47005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3" name="TextBox 3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277349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304" name="타원 303"/>
          <p:cNvSpPr/>
          <p:nvPr/>
        </p:nvSpPr>
        <p:spPr>
          <a:xfrm>
            <a:off x="1404035" y="3237230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277349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10" name="그룹 309"/>
          <p:cNvGrpSpPr/>
          <p:nvPr/>
        </p:nvGrpSpPr>
        <p:grpSpPr>
          <a:xfrm rot="16200000">
            <a:off x="1906808" y="3307709"/>
            <a:ext cx="94010" cy="47005"/>
            <a:chOff x="6812560" y="3297172"/>
            <a:chExt cx="94010" cy="47005"/>
          </a:xfrm>
        </p:grpSpPr>
        <p:cxnSp>
          <p:nvCxnSpPr>
            <p:cNvPr id="311" name="직선 연결선 3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2" name="직선 연결선 3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3" name="그룹 312"/>
          <p:cNvGrpSpPr/>
          <p:nvPr/>
        </p:nvGrpSpPr>
        <p:grpSpPr>
          <a:xfrm rot="16200000">
            <a:off x="2562920" y="3307709"/>
            <a:ext cx="94010" cy="47005"/>
            <a:chOff x="6812560" y="3297172"/>
            <a:chExt cx="94010" cy="47005"/>
          </a:xfrm>
        </p:grpSpPr>
        <p:cxnSp>
          <p:nvCxnSpPr>
            <p:cNvPr id="314" name="직선 연결선 3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5" name="직선 연결선 3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7" name="타원 296"/>
          <p:cNvSpPr/>
          <p:nvPr/>
        </p:nvSpPr>
        <p:spPr>
          <a:xfrm>
            <a:off x="747925" y="3237230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277349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277349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2058749" y="3237230"/>
            <a:ext cx="603798" cy="187961"/>
            <a:chOff x="2058749" y="3237230"/>
            <a:chExt cx="603798" cy="187961"/>
          </a:xfrm>
        </p:grpSpPr>
        <p:grpSp>
          <p:nvGrpSpPr>
            <p:cNvPr id="15" name="그룹 14"/>
            <p:cNvGrpSpPr/>
            <p:nvPr/>
          </p:nvGrpSpPr>
          <p:grpSpPr>
            <a:xfrm>
              <a:off x="2058749" y="3237230"/>
              <a:ext cx="187961" cy="187961"/>
              <a:chOff x="2058749" y="3237230"/>
              <a:chExt cx="187961" cy="187961"/>
            </a:xfrm>
          </p:grpSpPr>
          <p:sp>
            <p:nvSpPr>
              <p:cNvPr id="306" name="타원 305"/>
              <p:cNvSpPr/>
              <p:nvPr/>
            </p:nvSpPr>
            <p:spPr>
              <a:xfrm>
                <a:off x="2058749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113806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3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714860" y="3237230"/>
            <a:ext cx="603798" cy="187961"/>
            <a:chOff x="2714860" y="3237230"/>
            <a:chExt cx="603798" cy="187961"/>
          </a:xfrm>
        </p:grpSpPr>
        <p:grpSp>
          <p:nvGrpSpPr>
            <p:cNvPr id="8" name="그룹 7"/>
            <p:cNvGrpSpPr/>
            <p:nvPr/>
          </p:nvGrpSpPr>
          <p:grpSpPr>
            <a:xfrm>
              <a:off x="2714860" y="3237230"/>
              <a:ext cx="187961" cy="187961"/>
              <a:chOff x="2714860" y="3237230"/>
              <a:chExt cx="187961" cy="187961"/>
            </a:xfrm>
          </p:grpSpPr>
          <p:sp>
            <p:nvSpPr>
              <p:cNvPr id="324" name="타원 323"/>
              <p:cNvSpPr/>
              <p:nvPr/>
            </p:nvSpPr>
            <p:spPr>
              <a:xfrm>
                <a:off x="2714860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769917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4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smtClean="0">
                  <a:latin typeface="+mn-ea"/>
                </a:rPr>
                <a:t>이행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95940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판단번호</a:t>
            </a:r>
            <a:r>
              <a:rPr lang="ko-KR" altLang="en-US" sz="700" dirty="0"/>
              <a:t> </a:t>
            </a:r>
            <a:r>
              <a:rPr lang="en-US" altLang="ko-KR" sz="700" dirty="0"/>
              <a:t>6000A</a:t>
            </a:r>
          </a:p>
          <a:p>
            <a:r>
              <a:rPr lang="en-US" altLang="ko-KR" sz="900" b="1" dirty="0"/>
              <a:t>‘26</a:t>
            </a:r>
            <a:r>
              <a:rPr lang="ko-KR" altLang="en-US" sz="900" b="1" dirty="0"/>
              <a:t>년 </a:t>
            </a:r>
            <a:r>
              <a:rPr lang="en-US" altLang="ko-KR" sz="900" b="1" dirty="0"/>
              <a:t>K5</a:t>
            </a:r>
            <a:r>
              <a:rPr lang="ko-KR" altLang="en-US" sz="900" b="1" dirty="0"/>
              <a:t>방독면</a:t>
            </a: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85" name="모서리가 둥근 직사각형 184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9" name="타원 188"/>
          <p:cNvSpPr/>
          <p:nvPr/>
        </p:nvSpPr>
        <p:spPr>
          <a:xfrm>
            <a:off x="6029572" y="158593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모서리가 둥근 직사각형 189"/>
          <p:cNvSpPr/>
          <p:nvPr/>
        </p:nvSpPr>
        <p:spPr>
          <a:xfrm>
            <a:off x="6173572" y="1602341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출력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4993" y="2573550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252" name="그룹 251"/>
          <p:cNvGrpSpPr/>
          <p:nvPr/>
        </p:nvGrpSpPr>
        <p:grpSpPr>
          <a:xfrm flipV="1">
            <a:off x="6247080" y="2686881"/>
            <a:ext cx="94010" cy="47005"/>
            <a:chOff x="6812560" y="3297172"/>
            <a:chExt cx="94010" cy="47005"/>
          </a:xfrm>
        </p:grpSpPr>
        <p:cxnSp>
          <p:nvCxnSpPr>
            <p:cNvPr id="253" name="직선 연결선 2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직선 연결선 2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2" name="직사각형 261"/>
          <p:cNvSpPr/>
          <p:nvPr/>
        </p:nvSpPr>
        <p:spPr>
          <a:xfrm>
            <a:off x="3826115" y="2881035"/>
            <a:ext cx="792000" cy="10925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88103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3179" y="2881035"/>
            <a:ext cx="670770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발주예정일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0027" y="2881035"/>
            <a:ext cx="1814470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6000A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11214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32584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53955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7532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96696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6098765" y="3126805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4993" y="4178791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판단내역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286" name="그룹 285"/>
          <p:cNvGrpSpPr/>
          <p:nvPr/>
        </p:nvGrpSpPr>
        <p:grpSpPr>
          <a:xfrm flipV="1">
            <a:off x="6247080" y="4292122"/>
            <a:ext cx="94010" cy="47005"/>
            <a:chOff x="6812560" y="3297172"/>
            <a:chExt cx="94010" cy="47005"/>
          </a:xfrm>
        </p:grpSpPr>
        <p:cxnSp>
          <p:nvCxnSpPr>
            <p:cNvPr id="287" name="직선 연결선 28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1" name="직선 연결선 29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09903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1" name="타원 170"/>
          <p:cNvSpPr/>
          <p:nvPr/>
        </p:nvSpPr>
        <p:spPr>
          <a:xfrm>
            <a:off x="2380968" y="195767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2524968" y="1974079"/>
            <a:ext cx="395042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알림신청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75" name="타원 174"/>
          <p:cNvSpPr/>
          <p:nvPr/>
        </p:nvSpPr>
        <p:spPr>
          <a:xfrm>
            <a:off x="5481885" y="158460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모서리가 둥근 직사각형 175"/>
          <p:cNvSpPr/>
          <p:nvPr/>
        </p:nvSpPr>
        <p:spPr>
          <a:xfrm>
            <a:off x="5625885" y="1601011"/>
            <a:ext cx="395042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알림신청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827360" y="2211584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품목명세서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61565" y="2255927"/>
              <a:ext cx="39616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업체의견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351176" y="2255927"/>
              <a:ext cx="57818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계약특수조건</a:t>
              </a: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07" name="직사각형 206"/>
          <p:cNvSpPr/>
          <p:nvPr/>
        </p:nvSpPr>
        <p:spPr>
          <a:xfrm>
            <a:off x="3816506" y="4622031"/>
            <a:ext cx="792000" cy="16102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4413" y="462203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3570" y="4622031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발주예정일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집행유형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수량</a:t>
            </a:r>
            <a:endParaRPr lang="en-US" altLang="ko-KR" sz="700" dirty="0">
              <a:latin typeface="+mn-ea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60418" y="4622031"/>
            <a:ext cx="18144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6000A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2026-06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</a:t>
            </a:r>
          </a:p>
        </p:txBody>
      </p: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485313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2" name="직선 연결선 21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506684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3" name="직선 연결선 21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528055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4" name="직선 연결선 21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549425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570796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592167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613537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56" name="그룹 155"/>
          <p:cNvGrpSpPr/>
          <p:nvPr/>
        </p:nvGrpSpPr>
        <p:grpSpPr>
          <a:xfrm rot="5400000">
            <a:off x="3158978" y="3232595"/>
            <a:ext cx="187961" cy="187961"/>
            <a:chOff x="3876200" y="2234886"/>
            <a:chExt cx="187961" cy="187961"/>
          </a:xfrm>
        </p:grpSpPr>
        <p:sp>
          <p:nvSpPr>
            <p:cNvPr id="157" name="타원 15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8" name="그룹 15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59" name="직선 연결선 15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70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00816" y="1336107"/>
            <a:ext cx="247325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smtClean="0"/>
              <a:t>스크롤 시 표시 영역 상단 달라붙음 처리 </a:t>
            </a:r>
            <a:r>
              <a:rPr lang="en-US" altLang="ko-KR" sz="700" dirty="0" smtClean="0"/>
              <a:t>(sticky)</a:t>
            </a:r>
            <a:endParaRPr lang="ko-KR" altLang="en-US" sz="900" b="1" dirty="0"/>
          </a:p>
        </p:txBody>
      </p:sp>
      <p:sp>
        <p:nvSpPr>
          <p:cNvPr id="22" name="평행 사변형 21"/>
          <p:cNvSpPr/>
          <p:nvPr/>
        </p:nvSpPr>
        <p:spPr>
          <a:xfrm rot="16200000" flipH="1">
            <a:off x="3105747" y="1776324"/>
            <a:ext cx="971670" cy="408309"/>
          </a:xfrm>
          <a:prstGeom prst="parallelogram">
            <a:avLst>
              <a:gd name="adj" fmla="val 8680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3" name="평행 사변형 172"/>
          <p:cNvSpPr/>
          <p:nvPr/>
        </p:nvSpPr>
        <p:spPr>
          <a:xfrm rot="16200000" flipH="1">
            <a:off x="2546937" y="2975673"/>
            <a:ext cx="2089292" cy="408308"/>
          </a:xfrm>
          <a:prstGeom prst="parallelogram">
            <a:avLst>
              <a:gd name="adj" fmla="val 42262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26071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8190" y="440511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87" name="타원 186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4" name="그룹 193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6806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양쪽 모서리가 둥근 사각형 269"/>
          <p:cNvSpPr/>
          <p:nvPr/>
        </p:nvSpPr>
        <p:spPr>
          <a:xfrm>
            <a:off x="3789896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72" name="모서리가 둥근 직사각형 271"/>
          <p:cNvSpPr/>
          <p:nvPr/>
        </p:nvSpPr>
        <p:spPr>
          <a:xfrm>
            <a:off x="4875909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73" name="그룹 272"/>
          <p:cNvGrpSpPr/>
          <p:nvPr/>
        </p:nvGrpSpPr>
        <p:grpSpPr>
          <a:xfrm>
            <a:off x="6278835" y="1773925"/>
            <a:ext cx="94010" cy="94010"/>
            <a:chOff x="6812560" y="3297172"/>
            <a:chExt cx="94010" cy="94010"/>
          </a:xfrm>
        </p:grpSpPr>
        <p:cxnSp>
          <p:nvCxnSpPr>
            <p:cNvPr id="274" name="직선 연결선 273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6" name="TextBox 2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8973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입찰공고 </a:t>
            </a:r>
            <a:r>
              <a:rPr lang="ko-KR" altLang="en-US" sz="900" dirty="0" err="1">
                <a:latin typeface="+mn-ea"/>
              </a:rPr>
              <a:t>알림신청</a:t>
            </a:r>
            <a:endParaRPr lang="ko-KR" altLang="en-US" sz="900" dirty="0"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입찰공고 </a:t>
            </a:r>
            <a:r>
              <a:rPr lang="ko-KR" altLang="en-US" dirty="0" err="1"/>
              <a:t>알림신청</a:t>
            </a:r>
            <a:r>
              <a:rPr lang="ko-KR" altLang="en-US" dirty="0"/>
              <a:t> 팝업 화면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수신자 </a:t>
            </a:r>
            <a:r>
              <a:rPr lang="ko-KR" altLang="en-US" dirty="0" smtClean="0"/>
              <a:t>휴대폰 번호 입력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내 정보의 휴대폰 번호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disable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수정은 내 정보에서 처리 가능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수신동의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</a:t>
            </a:r>
            <a:r>
              <a:rPr lang="en-US" altLang="ko-KR" dirty="0"/>
              <a:t>: </a:t>
            </a:r>
            <a:r>
              <a:rPr lang="ko-KR" altLang="en-US" dirty="0" err="1" smtClean="0"/>
              <a:t>동의안함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동의 안함 상태 신청 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수신동의</a:t>
            </a:r>
            <a:r>
              <a:rPr lang="ko-KR" altLang="en-US" dirty="0" smtClean="0"/>
              <a:t> 이후 신청할 수 있습니다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모달</a:t>
            </a:r>
            <a:r>
              <a:rPr lang="ko-KR" altLang="en-US" dirty="0" smtClean="0"/>
              <a:t> 팝업 안내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입찰공고 </a:t>
            </a:r>
            <a:r>
              <a:rPr lang="ko-KR" altLang="en-US" dirty="0" err="1">
                <a:latin typeface="+mn-ea"/>
              </a:rPr>
              <a:t>알림신청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조달계획 상세 첫 화면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입찰공고 이후 알림을 신청하는 팝업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</a:t>
            </a:r>
            <a:r>
              <a:rPr lang="ko-KR" altLang="en-US" dirty="0" smtClean="0">
                <a:latin typeface="+mn-ea"/>
              </a:rPr>
              <a:t>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 smtClean="0">
                <a:latin typeface="+mn-ea"/>
              </a:rPr>
              <a:t>알림신청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MUI-OP-01-P10</a:t>
            </a:r>
            <a:endParaRPr lang="ko-KR" altLang="en-US" dirty="0"/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양쪽 모서리가 둥근 사각형 198"/>
          <p:cNvSpPr/>
          <p:nvPr/>
        </p:nvSpPr>
        <p:spPr>
          <a:xfrm>
            <a:off x="675399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1761412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19" name="그룹 218"/>
          <p:cNvGrpSpPr/>
          <p:nvPr/>
        </p:nvGrpSpPr>
        <p:grpSpPr>
          <a:xfrm>
            <a:off x="3164338" y="1773925"/>
            <a:ext cx="94010" cy="94010"/>
            <a:chOff x="6812560" y="3297172"/>
            <a:chExt cx="94010" cy="94010"/>
          </a:xfrm>
        </p:grpSpPr>
        <p:cxnSp>
          <p:nvCxnSpPr>
            <p:cNvPr id="220" name="직선 연결선 219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입찰공고 </a:t>
            </a:r>
            <a:r>
              <a:rPr lang="ko-KR" altLang="en-US" sz="900" dirty="0" err="1">
                <a:latin typeface="+mn-ea"/>
              </a:rPr>
              <a:t>알림신청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0160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498734"/>
            <a:ext cx="14443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800" b="1" dirty="0">
                <a:latin typeface="맑은 고딕" panose="020B0503020000020004" pitchFamily="50" charset="-127"/>
              </a:rPr>
              <a:t>입찰공고 </a:t>
            </a:r>
            <a:r>
              <a:rPr lang="ko-KR" altLang="en-US" sz="800" b="1" dirty="0" err="1">
                <a:latin typeface="맑은 고딕" panose="020B0503020000020004" pitchFamily="50" charset="-127"/>
              </a:rPr>
              <a:t>알림신청</a:t>
            </a:r>
            <a:r>
              <a:rPr lang="ko-KR" altLang="en-US" sz="800" b="1" dirty="0">
                <a:latin typeface="맑은 고딕" panose="020B0503020000020004" pitchFamily="50" charset="-127"/>
              </a:rPr>
              <a:t> 서비스 안내</a:t>
            </a:r>
          </a:p>
        </p:txBody>
      </p: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2704173"/>
            <a:ext cx="2603018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803991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서비스 개요</a:t>
            </a:r>
            <a:endParaRPr lang="en-US" altLang="ko-KR" sz="700" dirty="0">
              <a:latin typeface="맑은 고딕" panose="020B0503020000020004" pitchFamily="50" charset="-127"/>
            </a:endParaRPr>
          </a:p>
        </p:txBody>
      </p: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33069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모서리가 둥근 직사각형 227"/>
          <p:cNvSpPr/>
          <p:nvPr/>
        </p:nvSpPr>
        <p:spPr>
          <a:xfrm rot="5400000">
            <a:off x="2662242" y="274737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30" name="그룹 229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신청하기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3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취소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34" name="TextBox 23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988423"/>
            <a:ext cx="247394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013612">
              <a:defRPr/>
            </a:pPr>
            <a:r>
              <a:rPr lang="ko-KR" altLang="en-US" sz="700" dirty="0"/>
              <a:t>연초에 공개되는 조달계획에서  알림</a:t>
            </a:r>
            <a:r>
              <a:rPr lang="en-US" altLang="ko-KR" sz="700" dirty="0"/>
              <a:t> </a:t>
            </a:r>
            <a:r>
              <a:rPr lang="ko-KR" altLang="en-US" sz="700" dirty="0"/>
              <a:t>신청한 품목에 대한 입찰공고가 시스템에 게시되면 알려드리는 서비스입니다</a:t>
            </a:r>
            <a:r>
              <a:rPr lang="en-US" altLang="ko-KR" sz="700" dirty="0"/>
              <a:t>.</a:t>
            </a:r>
            <a:endParaRPr kumimoji="1" lang="en-US" altLang="ko-KR" sz="700" spc="-60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406816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신청방법</a:t>
            </a:r>
            <a:endParaRPr lang="en-US" altLang="ko-KR" sz="700" dirty="0">
              <a:latin typeface="맑은 고딕" panose="020B0503020000020004" pitchFamily="50" charset="-127"/>
            </a:endParaRPr>
          </a:p>
        </p:txBody>
      </p:sp>
      <p:cxnSp>
        <p:nvCxnSpPr>
          <p:cNvPr id="236" name="직선 연결선 2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39098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591248"/>
            <a:ext cx="247394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013612">
              <a:defRPr/>
            </a:pPr>
            <a:r>
              <a:rPr lang="ko-KR" altLang="en-US" sz="700" dirty="0"/>
              <a:t>조달계획 상세화면에서 ‘</a:t>
            </a:r>
            <a:r>
              <a:rPr lang="ko-KR" altLang="en-US" sz="700" dirty="0" err="1"/>
              <a:t>공고게시알림신청</a:t>
            </a:r>
            <a:r>
              <a:rPr lang="ko-KR" altLang="en-US" sz="700" dirty="0"/>
              <a:t>’ 버튼이 보이는 경우</a:t>
            </a:r>
            <a:r>
              <a:rPr lang="en-US" altLang="ko-KR" sz="700" dirty="0"/>
              <a:t>, </a:t>
            </a:r>
            <a:r>
              <a:rPr lang="ko-KR" altLang="en-US" sz="700" dirty="0"/>
              <a:t>버튼을 눌러 신청하시면 됩니다</a:t>
            </a:r>
            <a:r>
              <a:rPr lang="en-US" altLang="ko-KR" sz="700" dirty="0"/>
              <a:t>.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4015175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유의사항</a:t>
            </a:r>
            <a:endParaRPr lang="en-US" altLang="ko-KR" sz="700" dirty="0">
              <a:latin typeface="맑은 고딕" panose="020B0503020000020004" pitchFamily="50" charset="-127"/>
            </a:endParaRPr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474337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4199607"/>
            <a:ext cx="247394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013612">
              <a:defRPr/>
            </a:pPr>
            <a:r>
              <a:rPr lang="ko-KR" altLang="en-US" sz="700" dirty="0"/>
              <a:t>입찰공고는 </a:t>
            </a:r>
            <a:r>
              <a:rPr lang="ko-KR" altLang="en-US" sz="700" dirty="0" err="1"/>
              <a:t>국계법에</a:t>
            </a:r>
            <a:r>
              <a:rPr lang="ko-KR" altLang="en-US" sz="700" dirty="0"/>
              <a:t> 따라 </a:t>
            </a:r>
            <a:r>
              <a:rPr lang="ko-KR" altLang="en-US" sz="700" dirty="0" err="1"/>
              <a:t>조달업체가</a:t>
            </a:r>
            <a:r>
              <a:rPr lang="ko-KR" altLang="en-US" sz="700" dirty="0"/>
              <a:t> 직접 전자조달시스템에서 확인할 </a:t>
            </a:r>
            <a:r>
              <a:rPr lang="en-US" altLang="ko-KR" sz="700" dirty="0"/>
              <a:t>/</a:t>
            </a:r>
            <a:r>
              <a:rPr lang="ko-KR" altLang="en-US" sz="700" dirty="0" err="1"/>
              <a:t>미전송</a:t>
            </a:r>
            <a:r>
              <a:rPr lang="en-US" altLang="ko-KR" sz="700" dirty="0"/>
              <a:t>/</a:t>
            </a:r>
            <a:r>
              <a:rPr lang="ko-KR" altLang="en-US" sz="700" dirty="0" err="1"/>
              <a:t>스팸처리</a:t>
            </a:r>
            <a:r>
              <a:rPr lang="ko-KR" altLang="en-US" sz="700" dirty="0"/>
              <a:t> 등으로 사용자가 제대로 인지하지 못하였을 경우에 발생하는 문제에 대해 본 시스템은 책임지지 않습니다</a:t>
            </a:r>
            <a:r>
              <a:rPr lang="en-US" altLang="ko-KR" sz="700" dirty="0"/>
              <a:t>.</a:t>
            </a:r>
          </a:p>
        </p:txBody>
      </p:sp>
      <p:grpSp>
        <p:nvGrpSpPr>
          <p:cNvPr id="241" name="그룹 240"/>
          <p:cNvGrpSpPr/>
          <p:nvPr/>
        </p:nvGrpSpPr>
        <p:grpSpPr>
          <a:xfrm>
            <a:off x="720490" y="4879884"/>
            <a:ext cx="2610778" cy="409958"/>
            <a:chOff x="720490" y="3415355"/>
            <a:chExt cx="2610778" cy="409958"/>
          </a:xfrm>
        </p:grpSpPr>
        <p:sp>
          <p:nvSpPr>
            <p:cNvPr id="24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415355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수신자 </a:t>
              </a:r>
              <a:r>
                <a:rPr lang="ko-KR" altLang="en-US" sz="700" dirty="0" smtClean="0"/>
                <a:t>휴대폰 번호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243" name="모서리가 둥근 직사각형 242"/>
            <p:cNvSpPr/>
            <p:nvPr/>
          </p:nvSpPr>
          <p:spPr>
            <a:xfrm>
              <a:off x="720490" y="3578063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</p:grp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23783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4442" y="2123243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defTabSz="1013612">
              <a:defRPr/>
            </a:pPr>
            <a:r>
              <a:rPr lang="en-US" altLang="ko-KR" sz="700" b="1" dirty="0">
                <a:solidFill>
                  <a:srgbClr val="FF0000"/>
                </a:solidFill>
              </a:rPr>
              <a:t>※ </a:t>
            </a:r>
            <a:r>
              <a:rPr lang="ko-KR" altLang="en-US" sz="700" b="1" dirty="0">
                <a:solidFill>
                  <a:srgbClr val="FF0000"/>
                </a:solidFill>
              </a:rPr>
              <a:t>본 </a:t>
            </a:r>
            <a:r>
              <a:rPr lang="ko-KR" altLang="en-US" sz="700" b="1" dirty="0" err="1">
                <a:solidFill>
                  <a:srgbClr val="FF0000"/>
                </a:solidFill>
              </a:rPr>
              <a:t>조달계획은</a:t>
            </a:r>
            <a:r>
              <a:rPr lang="ko-KR" altLang="en-US" sz="700" b="1" dirty="0">
                <a:solidFill>
                  <a:srgbClr val="FF0000"/>
                </a:solidFill>
              </a:rPr>
              <a:t> </a:t>
            </a:r>
            <a:r>
              <a:rPr lang="ko-KR" altLang="en-US" sz="700" b="1" dirty="0" err="1">
                <a:solidFill>
                  <a:srgbClr val="FF0000"/>
                </a:solidFill>
              </a:rPr>
              <a:t>조달판단</a:t>
            </a:r>
            <a:r>
              <a:rPr lang="ko-KR" altLang="en-US" sz="700" b="1" dirty="0">
                <a:solidFill>
                  <a:srgbClr val="FF0000"/>
                </a:solidFill>
              </a:rPr>
              <a:t> 과정에서 변동될 수 있습니다</a:t>
            </a:r>
            <a:r>
              <a:rPr lang="en-US" altLang="ko-KR" sz="700" b="1" dirty="0">
                <a:solidFill>
                  <a:srgbClr val="FF0000"/>
                </a:solidFill>
              </a:rPr>
              <a:t>.</a:t>
            </a:r>
            <a:endParaRPr lang="en-US" altLang="ko-KR" sz="700" dirty="0"/>
          </a:p>
        </p:txBody>
      </p:sp>
      <p:cxnSp>
        <p:nvCxnSpPr>
          <p:cNvPr id="246" name="직선 연결선 24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2342507"/>
            <a:ext cx="2603018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7" name="직선 연결선 24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50082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4442" y="5637334"/>
            <a:ext cx="2473940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defTabSz="1013612">
              <a:defRPr/>
            </a:pPr>
            <a:r>
              <a:rPr lang="en-US" altLang="ko-KR" sz="700" dirty="0"/>
              <a:t>※ </a:t>
            </a:r>
            <a:r>
              <a:rPr lang="ko-KR" altLang="en-US" sz="700" dirty="0"/>
              <a:t>휴대폰 변경은</a:t>
            </a:r>
            <a:endParaRPr lang="en-US" altLang="ko-KR" sz="700" dirty="0"/>
          </a:p>
          <a:p>
            <a:pPr lvl="0" algn="ctr" defTabSz="1013612">
              <a:defRPr/>
            </a:pPr>
            <a:r>
              <a:rPr lang="ko-KR" altLang="en-US" sz="700" dirty="0" err="1"/>
              <a:t>마이페이지</a:t>
            </a:r>
            <a:r>
              <a:rPr lang="en-US" altLang="ko-KR" sz="700" dirty="0"/>
              <a:t>(</a:t>
            </a:r>
            <a:r>
              <a:rPr lang="ko-KR" altLang="en-US" sz="700" dirty="0" err="1"/>
              <a:t>조달업체</a:t>
            </a:r>
            <a:r>
              <a:rPr lang="en-US" altLang="ko-KR" sz="700" dirty="0"/>
              <a:t>) &gt; </a:t>
            </a:r>
            <a:r>
              <a:rPr lang="ko-KR" altLang="en-US" sz="700" dirty="0"/>
              <a:t>알림서비스신청 에서</a:t>
            </a:r>
            <a:endParaRPr lang="en-US" altLang="ko-KR" sz="700" dirty="0"/>
          </a:p>
          <a:p>
            <a:pPr lvl="0" algn="ctr" defTabSz="1013612">
              <a:defRPr/>
            </a:pPr>
            <a:r>
              <a:rPr lang="ko-KR" altLang="en-US" sz="700" dirty="0"/>
              <a:t>변경이 가능합니다</a:t>
            </a:r>
            <a:r>
              <a:rPr lang="en-US" altLang="ko-KR" sz="700" dirty="0"/>
              <a:t>.</a:t>
            </a:r>
          </a:p>
        </p:txBody>
      </p:sp>
      <p:sp>
        <p:nvSpPr>
          <p:cNvPr id="249" name="타원 2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1870" y="175360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0" name="타원 24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1870" y="484296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1892" y="2188672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/>
              <a:t>입찰 단계별 안내 </a:t>
            </a:r>
            <a:r>
              <a:rPr lang="ko-KR" altLang="en-US" sz="700" dirty="0" err="1"/>
              <a:t>수신동의</a:t>
            </a:r>
            <a:endParaRPr lang="en-US" altLang="ko-KR" sz="700" dirty="0">
              <a:latin typeface="맑은 고딕" panose="020B0503020000020004" pitchFamily="50" charset="-127"/>
            </a:endParaRPr>
          </a:p>
        </p:txBody>
      </p: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815" y="208332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56" name="그룹 255"/>
          <p:cNvGrpSpPr/>
          <p:nvPr/>
        </p:nvGrpSpPr>
        <p:grpSpPr>
          <a:xfrm>
            <a:off x="4553124" y="2478696"/>
            <a:ext cx="1197246" cy="107722"/>
            <a:chOff x="4526323" y="5902014"/>
            <a:chExt cx="1197246" cy="107722"/>
          </a:xfrm>
        </p:grpSpPr>
        <p:sp>
          <p:nvSpPr>
            <p:cNvPr id="257" name="타원 256"/>
            <p:cNvSpPr/>
            <p:nvPr/>
          </p:nvSpPr>
          <p:spPr>
            <a:xfrm>
              <a:off x="4526323" y="5907195"/>
              <a:ext cx="106031" cy="973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8" name="타원 257"/>
            <p:cNvSpPr/>
            <p:nvPr/>
          </p:nvSpPr>
          <p:spPr>
            <a:xfrm>
              <a:off x="5277619" y="5907195"/>
              <a:ext cx="106031" cy="9736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94755" y="5902014"/>
              <a:ext cx="391133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동의 안함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454265" y="5902014"/>
              <a:ext cx="269304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동의함</a:t>
              </a:r>
            </a:p>
          </p:txBody>
        </p:sp>
      </p:grp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815" y="28039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23929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57767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232966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물품</a:t>
            </a:r>
            <a:r>
              <a:rPr lang="en-US" altLang="ko-KR" dirty="0"/>
              <a:t>/</a:t>
            </a:r>
            <a:r>
              <a:rPr lang="ko-KR" altLang="en-US" dirty="0"/>
              <a:t>용역</a:t>
            </a:r>
            <a:r>
              <a:rPr lang="en-US" altLang="ko-KR" dirty="0"/>
              <a:t>]</a:t>
            </a:r>
            <a:r>
              <a:rPr lang="ko-KR" altLang="en-US" dirty="0"/>
              <a:t>상세내용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집행계획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판단내역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조달계획상세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첫 화면 </a:t>
            </a:r>
            <a:r>
              <a:rPr lang="en-US" altLang="ko-KR" dirty="0"/>
              <a:t>– [</a:t>
            </a:r>
            <a:r>
              <a:rPr lang="ko-KR" altLang="en-US" dirty="0"/>
              <a:t>물품</a:t>
            </a:r>
            <a:r>
              <a:rPr lang="en-US" altLang="ko-KR" dirty="0"/>
              <a:t>/</a:t>
            </a:r>
            <a:r>
              <a:rPr lang="ko-KR" altLang="en-US" dirty="0"/>
              <a:t>용역</a:t>
            </a:r>
            <a:r>
              <a:rPr lang="en-US" altLang="ko-KR" dirty="0"/>
              <a:t>]</a:t>
            </a:r>
            <a:r>
              <a:rPr lang="ko-KR" altLang="en-US" dirty="0"/>
              <a:t>상세내용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/>
          <p:cNvGrpSpPr/>
          <p:nvPr/>
        </p:nvGrpSpPr>
        <p:grpSpPr>
          <a:xfrm>
            <a:off x="701175" y="1527996"/>
            <a:ext cx="2642526" cy="3970026"/>
            <a:chOff x="701175" y="1527996"/>
            <a:chExt cx="2642526" cy="3970026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집행계획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3124233" y="1641327"/>
              <a:ext cx="94010" cy="47005"/>
              <a:chOff x="6812560" y="3297172"/>
              <a:chExt cx="94010" cy="47005"/>
            </a:xfrm>
          </p:grpSpPr>
          <p:cxnSp>
            <p:nvCxnSpPr>
              <p:cNvPr id="158" name="직선 연결선 15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0" name="직사각형 159"/>
            <p:cNvSpPr/>
            <p:nvPr/>
          </p:nvSpPr>
          <p:spPr>
            <a:xfrm>
              <a:off x="703268" y="1835481"/>
              <a:ext cx="792000" cy="3647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835481"/>
              <a:ext cx="725552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집행유형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본조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국채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장기국채</a:t>
              </a:r>
              <a:r>
                <a:rPr lang="en-US" altLang="ko-KR" sz="700" dirty="0">
                  <a:latin typeface="+mn-ea"/>
                </a:rPr>
                <a:t>-</a:t>
              </a:r>
              <a:r>
                <a:rPr lang="ko-KR" altLang="en-US" sz="700" dirty="0" err="1">
                  <a:latin typeface="+mn-ea"/>
                </a:rPr>
                <a:t>본조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장기국채</a:t>
              </a:r>
              <a:r>
                <a:rPr lang="en-US" altLang="ko-KR" sz="700" dirty="0">
                  <a:latin typeface="+mn-ea"/>
                </a:rPr>
                <a:t>-</a:t>
              </a:r>
              <a:r>
                <a:rPr lang="ko-KR" altLang="en-US" sz="700" dirty="0">
                  <a:latin typeface="+mn-ea"/>
                </a:rPr>
                <a:t>현금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합계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총부기금액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미확정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835481"/>
              <a:ext cx="179652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6000A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화력총괄계약팀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50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-26</a:t>
              </a:r>
              <a:r>
                <a:rPr lang="ko-KR" altLang="en-US" sz="700" dirty="0">
                  <a:latin typeface="+mn-ea"/>
                </a:rPr>
                <a:t>년 </a:t>
              </a:r>
              <a:r>
                <a:rPr lang="en-US" altLang="ko-KR" sz="700" dirty="0">
                  <a:latin typeface="+mn-ea"/>
                </a:rPr>
                <a:t>K5</a:t>
              </a:r>
              <a:r>
                <a:rPr lang="ko-KR" altLang="en-US" sz="700" dirty="0">
                  <a:latin typeface="+mn-ea"/>
                </a:rPr>
                <a:t>방독면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701175" y="1835481"/>
              <a:ext cx="2630093" cy="3650578"/>
              <a:chOff x="701175" y="1835481"/>
              <a:chExt cx="2630093" cy="3650578"/>
            </a:xfrm>
          </p:grpSpPr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9828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1976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1" name="직선 연결선 18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441236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2" name="직선 연결선 18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6271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3" name="직선 연결선 1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8418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0565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5" name="직선 연결선 18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2713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48605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23929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1455" y="152799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판단내역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73" name="그룹 72"/>
          <p:cNvGrpSpPr/>
          <p:nvPr/>
        </p:nvGrpSpPr>
        <p:grpSpPr>
          <a:xfrm flipV="1">
            <a:off x="6253542" y="1641327"/>
            <a:ext cx="94010" cy="47005"/>
            <a:chOff x="6812560" y="3297172"/>
            <a:chExt cx="94010" cy="47005"/>
          </a:xfrm>
        </p:grpSpPr>
        <p:cxnSp>
          <p:nvCxnSpPr>
            <p:cNvPr id="97" name="직선 연결선 9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직선 연결선 9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4" name="직사각형 73"/>
          <p:cNvSpPr/>
          <p:nvPr/>
        </p:nvSpPr>
        <p:spPr>
          <a:xfrm>
            <a:off x="3832577" y="1835481"/>
            <a:ext cx="792000" cy="4396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835481"/>
            <a:ext cx="725552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입찰방법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단가제유형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계약종류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낙찰자결정방법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적격심사 여부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입찰예정일자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품목코드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입찰형태</a:t>
            </a:r>
            <a:endParaRPr lang="en-US" altLang="ko-KR" sz="700" dirty="0"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9" y="1835481"/>
            <a:ext cx="1796521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수의계약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총액제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일반계약확정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협상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비대상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4240300004 : </a:t>
            </a:r>
            <a:r>
              <a:rPr lang="ko-KR" altLang="en-US" sz="700" dirty="0">
                <a:latin typeface="+mn-ea"/>
              </a:rPr>
              <a:t>방독면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전자입찰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183548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05022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2649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4797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69444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90918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312392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3386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5534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76814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07232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32118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458369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85302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10871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41216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62690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84164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60568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3822151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군수품 선택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계약여부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4085273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군수품 선택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계약체결업체수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4348395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생산능력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기준서 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4611517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국내한도액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계약여부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4874639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생산능력확인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소요기간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7795" y="5206578"/>
            <a:ext cx="7255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수의계약사유</a:t>
            </a:r>
            <a:endParaRPr lang="en-US" altLang="ko-KR" sz="700" dirty="0">
              <a:latin typeface="+mn-ea"/>
            </a:endParaRPr>
          </a:p>
        </p:txBody>
      </p:sp>
      <p:sp>
        <p:nvSpPr>
          <p:cNvPr id="257" name="타원 2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0133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3876012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비대상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4139134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4402256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1234567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4665378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비대상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4928500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64643" y="5397530"/>
            <a:ext cx="1775839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27199 : </a:t>
            </a:r>
            <a:r>
              <a:rPr lang="ko-KR" altLang="en-US" sz="700" dirty="0">
                <a:latin typeface="+mn-ea"/>
              </a:rPr>
              <a:t>그 외 기타 의료용 기기 제조업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5152717"/>
            <a:ext cx="177583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국계법시행령 제</a:t>
            </a:r>
            <a:r>
              <a:rPr lang="en-US" altLang="ko-KR" sz="700" dirty="0">
                <a:latin typeface="+mn-ea"/>
              </a:rPr>
              <a:t>26</a:t>
            </a:r>
            <a:r>
              <a:rPr lang="ko-KR" altLang="en-US" sz="700" dirty="0">
                <a:latin typeface="+mn-ea"/>
              </a:rPr>
              <a:t>조 제</a:t>
            </a:r>
            <a:r>
              <a:rPr lang="en-US" altLang="ko-KR" sz="700" dirty="0">
                <a:latin typeface="+mn-ea"/>
              </a:rPr>
              <a:t>1</a:t>
            </a:r>
            <a:r>
              <a:rPr lang="ko-KR" altLang="en-US" sz="700" dirty="0">
                <a:latin typeface="+mn-ea"/>
              </a:rPr>
              <a:t>항 제</a:t>
            </a:r>
            <a:r>
              <a:rPr lang="en-US" altLang="ko-KR" sz="700" dirty="0">
                <a:latin typeface="+mn-ea"/>
              </a:rPr>
              <a:t>5</a:t>
            </a:r>
            <a:r>
              <a:rPr lang="ko-KR" altLang="en-US" sz="700" dirty="0">
                <a:latin typeface="+mn-ea"/>
              </a:rPr>
              <a:t>호 </a:t>
            </a:r>
            <a:r>
              <a:rPr lang="ko-KR" altLang="en-US" sz="700" dirty="0" err="1">
                <a:latin typeface="+mn-ea"/>
              </a:rPr>
              <a:t>가목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2) </a:t>
            </a:r>
            <a:r>
              <a:rPr lang="ko-KR" altLang="en-US" sz="700" dirty="0">
                <a:latin typeface="+mn-ea"/>
              </a:rPr>
              <a:t>추정가격 </a:t>
            </a:r>
            <a:r>
              <a:rPr lang="en-US" altLang="ko-KR" sz="700" dirty="0">
                <a:latin typeface="+mn-ea"/>
              </a:rPr>
              <a:t>2</a:t>
            </a:r>
            <a:r>
              <a:rPr lang="ko-KR" altLang="en-US" sz="700" dirty="0" err="1">
                <a:latin typeface="+mn-ea"/>
              </a:rPr>
              <a:t>천만원이해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>
                <a:latin typeface="+mn-ea"/>
              </a:rPr>
              <a:t>제조</a:t>
            </a:r>
            <a:r>
              <a:rPr lang="en-US" altLang="ko-KR" sz="700" dirty="0">
                <a:latin typeface="+mn-ea"/>
              </a:rPr>
              <a:t>, </a:t>
            </a:r>
            <a:r>
              <a:rPr lang="ko-KR" altLang="en-US" sz="700" dirty="0">
                <a:latin typeface="+mn-ea"/>
              </a:rPr>
              <a:t>구매</a:t>
            </a:r>
            <a:r>
              <a:rPr lang="en-US" altLang="ko-KR" sz="700" dirty="0">
                <a:latin typeface="+mn-ea"/>
              </a:rPr>
              <a:t>, </a:t>
            </a:r>
            <a:r>
              <a:rPr lang="ko-KR" altLang="en-US" sz="700" dirty="0">
                <a:latin typeface="+mn-ea"/>
              </a:rPr>
              <a:t>용역</a:t>
            </a:r>
            <a:r>
              <a:rPr lang="en-US" altLang="ko-KR" sz="700" dirty="0">
                <a:latin typeface="+mn-ea"/>
              </a:rPr>
              <a:t>)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7795" y="5397530"/>
            <a:ext cx="725552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지명경쟁사유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산업분류번호</a:t>
            </a:r>
            <a:r>
              <a:rPr lang="en-US" altLang="ko-KR" sz="700" dirty="0">
                <a:latin typeface="+mn-ea"/>
              </a:rPr>
              <a:t>(1)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산업분류번호</a:t>
            </a:r>
            <a:r>
              <a:rPr lang="en-US" altLang="ko-KR" sz="700" dirty="0">
                <a:latin typeface="+mn-ea"/>
              </a:rPr>
              <a:t>(2)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종합판단</a:t>
            </a:r>
            <a:endParaRPr lang="en-US" altLang="ko-KR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5514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공사</a:t>
            </a:r>
            <a:r>
              <a:rPr lang="en-US" altLang="ko-KR" dirty="0"/>
              <a:t>]</a:t>
            </a:r>
            <a:r>
              <a:rPr lang="ko-KR" altLang="en-US" dirty="0"/>
              <a:t>상세내용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집행계획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판단내역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조달계획상세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첫 화면 </a:t>
            </a:r>
            <a:r>
              <a:rPr lang="en-US" altLang="ko-KR" dirty="0"/>
              <a:t>– [</a:t>
            </a:r>
            <a:r>
              <a:rPr lang="ko-KR" altLang="en-US" dirty="0"/>
              <a:t>공사</a:t>
            </a:r>
            <a:r>
              <a:rPr lang="en-US" altLang="ko-KR" dirty="0"/>
              <a:t>]</a:t>
            </a:r>
            <a:r>
              <a:rPr lang="ko-KR" altLang="en-US" dirty="0"/>
              <a:t>상세내용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/>
          <p:cNvGrpSpPr/>
          <p:nvPr/>
        </p:nvGrpSpPr>
        <p:grpSpPr>
          <a:xfrm>
            <a:off x="701175" y="1527996"/>
            <a:ext cx="2642526" cy="2246477"/>
            <a:chOff x="701175" y="1527996"/>
            <a:chExt cx="2642526" cy="2246477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집행계획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3124233" y="1641327"/>
              <a:ext cx="94010" cy="47005"/>
              <a:chOff x="6812560" y="3297172"/>
              <a:chExt cx="94010" cy="47005"/>
            </a:xfrm>
          </p:grpSpPr>
          <p:cxnSp>
            <p:nvCxnSpPr>
              <p:cNvPr id="158" name="직선 연결선 15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0" name="직사각형 159"/>
            <p:cNvSpPr/>
            <p:nvPr/>
          </p:nvSpPr>
          <p:spPr>
            <a:xfrm>
              <a:off x="703268" y="1835481"/>
              <a:ext cx="792000" cy="1932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835481"/>
              <a:ext cx="725552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총공사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예산금액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당해년도예산금액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835481"/>
              <a:ext cx="1796521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2026-00590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</a:t>
              </a:r>
              <a:r>
                <a:rPr lang="en-US" altLang="ko-KR" sz="700" dirty="0">
                  <a:latin typeface="+mn-ea"/>
                </a:rPr>
                <a:t>9911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-26</a:t>
              </a:r>
              <a:r>
                <a:rPr lang="ko-KR" altLang="en-US" sz="700" dirty="0">
                  <a:latin typeface="+mn-ea"/>
                </a:rPr>
                <a:t>년 </a:t>
              </a:r>
              <a:r>
                <a:rPr lang="en-US" altLang="ko-KR" sz="700" dirty="0">
                  <a:latin typeface="+mn-ea"/>
                </a:rPr>
                <a:t>K5</a:t>
              </a:r>
              <a:r>
                <a:rPr lang="ko-KR" altLang="en-US" sz="700" dirty="0">
                  <a:latin typeface="+mn-ea"/>
                </a:rPr>
                <a:t>방독면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701175" y="1835481"/>
              <a:ext cx="2630093" cy="1932660"/>
              <a:chOff x="701175" y="1835481"/>
              <a:chExt cx="2630093" cy="1932660"/>
            </a:xfrm>
          </p:grpSpPr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0484" y="1527996"/>
            <a:ext cx="2642526" cy="3323695"/>
            <a:chOff x="3830484" y="1527996"/>
            <a:chExt cx="2642526" cy="3323695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455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판단내역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73" name="그룹 72"/>
            <p:cNvGrpSpPr/>
            <p:nvPr/>
          </p:nvGrpSpPr>
          <p:grpSpPr>
            <a:xfrm flipV="1">
              <a:off x="6253542" y="1641327"/>
              <a:ext cx="94010" cy="47005"/>
              <a:chOff x="6812560" y="3297172"/>
              <a:chExt cx="94010" cy="47005"/>
            </a:xfrm>
          </p:grpSpPr>
          <p:cxnSp>
            <p:nvCxnSpPr>
              <p:cNvPr id="97" name="직선 연결선 9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4" name="직사각형 73"/>
            <p:cNvSpPr/>
            <p:nvPr/>
          </p:nvSpPr>
          <p:spPr>
            <a:xfrm>
              <a:off x="3832577" y="1835481"/>
              <a:ext cx="792000" cy="30148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9640" y="1835481"/>
              <a:ext cx="725552" cy="3016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입찰방법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사전심사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낙찰자결정방법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적격심사 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입찰예정일자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공동도급이행방식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입찰형태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공사개요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규모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수의계약사유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지명경쟁사유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낙찰자기준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76489" y="1835481"/>
              <a:ext cx="1796521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일반경쟁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총액제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2026-08-01 ~ 2027-09-30</a:t>
              </a:r>
            </a:p>
            <a:p>
              <a:pPr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비대상</a:t>
              </a:r>
              <a:endParaRPr kumimoji="1" lang="en-US" altLang="ko-KR" sz="700" spc="-60" dirty="0">
                <a:solidFill>
                  <a:srgbClr val="000000">
                    <a:lumMod val="65000"/>
                    <a:lumOff val="35000"/>
                  </a:srgbClr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적격심사제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대상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2026-03-05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전자입찰</a:t>
              </a:r>
              <a:endParaRPr lang="en-US" altLang="ko-KR" sz="700" dirty="0">
                <a:latin typeface="+mn-ea"/>
              </a:endParaRPr>
            </a:p>
            <a:p>
              <a:pPr lvl="0">
                <a:lnSpc>
                  <a:spcPct val="200000"/>
                </a:lnSpc>
              </a:pP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25-19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차 병영기본시설 </a:t>
              </a:r>
              <a:r>
                <a:rPr kumimoji="1" lang="ko-KR" altLang="en-US" sz="700" spc="-6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연차별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 </a:t>
              </a:r>
              <a:r>
                <a:rPr kumimoji="1" lang="ko-KR" altLang="en-US" sz="700" spc="-6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예산조정</a:t>
              </a:r>
              <a:endParaRPr kumimoji="1" lang="en-US" altLang="ko-KR" sz="700" spc="-60" dirty="0">
                <a:solidFill>
                  <a:srgbClr val="000000">
                    <a:lumMod val="65000"/>
                    <a:lumOff val="35000"/>
                  </a:srgbClr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4797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6944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90918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312392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3386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5534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7681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99726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1915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439945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6141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84350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7" name="타원 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0133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755336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용역</a:t>
            </a:r>
            <a:r>
              <a:rPr lang="en-US" altLang="ko-KR" dirty="0"/>
              <a:t>/</a:t>
            </a:r>
            <a:r>
              <a:rPr lang="ko-KR" altLang="en-US" dirty="0"/>
              <a:t>물품</a:t>
            </a:r>
            <a:r>
              <a:rPr lang="en-US" altLang="ko-KR" dirty="0"/>
              <a:t>/</a:t>
            </a:r>
            <a:r>
              <a:rPr lang="ko-KR" altLang="en-US" dirty="0"/>
              <a:t>공사 상세 내용 하단 정보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연관정보</a:t>
            </a:r>
            <a:r>
              <a:rPr lang="ko-KR" altLang="en-US" dirty="0"/>
              <a:t> </a:t>
            </a:r>
            <a:r>
              <a:rPr lang="ko-KR" altLang="en-US" dirty="0" smtClean="0"/>
              <a:t>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클릭 시 연관사전규격상세 팝업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  &gt; </a:t>
            </a:r>
            <a:r>
              <a:rPr lang="en-US" altLang="ko-KR" dirty="0"/>
              <a:t>MUI-OP-01-P13 </a:t>
            </a:r>
            <a:r>
              <a:rPr lang="ko-KR" altLang="en-US" dirty="0"/>
              <a:t>연관 </a:t>
            </a:r>
            <a:r>
              <a:rPr lang="ko-KR" altLang="en-US" dirty="0" smtClean="0"/>
              <a:t>사전규격상세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문의처 </a:t>
            </a:r>
            <a:r>
              <a:rPr lang="ko-KR" altLang="en-US" dirty="0"/>
              <a:t>정보 표시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조달계획상세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첫 화면 </a:t>
            </a:r>
            <a:r>
              <a:rPr lang="en-US" altLang="ko-KR" dirty="0"/>
              <a:t>– </a:t>
            </a:r>
            <a:r>
              <a:rPr lang="ko-KR" altLang="en-US" dirty="0"/>
              <a:t>상세내용 탭 하단 </a:t>
            </a: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</a:t>
            </a:r>
            <a:r>
              <a:rPr lang="ko-KR" altLang="en-US" dirty="0"/>
              <a:t>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57745" y="1633596"/>
            <a:ext cx="72887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연관정보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33" name="그룹 132"/>
          <p:cNvGrpSpPr/>
          <p:nvPr/>
        </p:nvGrpSpPr>
        <p:grpSpPr>
          <a:xfrm flipV="1">
            <a:off x="3119832" y="1746927"/>
            <a:ext cx="94010" cy="47005"/>
            <a:chOff x="6812560" y="3297172"/>
            <a:chExt cx="94010" cy="47005"/>
          </a:xfrm>
        </p:grpSpPr>
        <p:cxnSp>
          <p:nvCxnSpPr>
            <p:cNvPr id="134" name="직선 연결선 13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직선 연결선 13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57745" y="2576379"/>
            <a:ext cx="72887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문의처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2" name="그룹 151"/>
          <p:cNvGrpSpPr/>
          <p:nvPr/>
        </p:nvGrpSpPr>
        <p:grpSpPr>
          <a:xfrm flipV="1">
            <a:off x="3119832" y="2689710"/>
            <a:ext cx="94010" cy="47005"/>
            <a:chOff x="6812560" y="3297172"/>
            <a:chExt cx="94010" cy="47005"/>
          </a:xfrm>
        </p:grpSpPr>
        <p:cxnSp>
          <p:nvCxnSpPr>
            <p:cNvPr id="153" name="직선 연결선 1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직선 연결선 15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400" y="1509422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400" y="2441260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400" y="3475833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3" name="모서리가 둥근 직사각형 192"/>
          <p:cNvSpPr/>
          <p:nvPr/>
        </p:nvSpPr>
        <p:spPr>
          <a:xfrm>
            <a:off x="705042" y="3048695"/>
            <a:ext cx="2652743" cy="344810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/>
          <p:cNvGrpSpPr/>
          <p:nvPr/>
        </p:nvGrpSpPr>
        <p:grpSpPr>
          <a:xfrm>
            <a:off x="854871" y="2888603"/>
            <a:ext cx="2353084" cy="440219"/>
            <a:chOff x="854511" y="2888603"/>
            <a:chExt cx="2353084" cy="440219"/>
          </a:xfrm>
        </p:grpSpPr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54511" y="2888603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기관 부서명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47519" y="2888603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담당자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60081" y="2888603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연락처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54511" y="3167239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방위사업청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47519" y="3167239"/>
              <a:ext cx="63828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주무관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60081" y="3113378"/>
              <a:ext cx="64751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02-1234-5678</a:t>
              </a:r>
            </a:p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705042" y="1896864"/>
            <a:ext cx="2652743" cy="480718"/>
            <a:chOff x="722176" y="1896864"/>
            <a:chExt cx="2652743" cy="480718"/>
          </a:xfrm>
        </p:grpSpPr>
        <p:sp>
          <p:nvSpPr>
            <p:cNvPr id="137" name="모서리가 둥근 직사각형 136"/>
            <p:cNvSpPr/>
            <p:nvPr/>
          </p:nvSpPr>
          <p:spPr>
            <a:xfrm>
              <a:off x="722176" y="2031982"/>
              <a:ext cx="2652743" cy="34560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3084" y="2150921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1013612">
                <a:defRPr/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공개 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[#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사전규격번호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]</a:t>
              </a:r>
            </a:p>
          </p:txBody>
        </p:sp>
        <p:sp>
          <p:nvSpPr>
            <p:cNvPr id="144" name="타원 143"/>
            <p:cNvSpPr/>
            <p:nvPr/>
          </p:nvSpPr>
          <p:spPr>
            <a:xfrm>
              <a:off x="3082295" y="2132782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894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사전규격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5897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보기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56" name="타원 2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42493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4131422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품목명세서</a:t>
            </a:r>
            <a:r>
              <a:rPr lang="ko-KR" altLang="en-US" dirty="0" smtClean="0"/>
              <a:t> </a:t>
            </a:r>
            <a:r>
              <a:rPr lang="ko-KR" altLang="en-US" dirty="0"/>
              <a:t>목록 데이터 </a:t>
            </a:r>
            <a:r>
              <a:rPr lang="ko-KR" altLang="en-US" dirty="0" smtClean="0"/>
              <a:t>영역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>
                <a:latin typeface="+mn-ea"/>
              </a:rPr>
              <a:t>품목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물품 목록</a:t>
            </a:r>
            <a:r>
              <a:rPr lang="en-US" altLang="ko-KR" dirty="0" smtClean="0">
                <a:latin typeface="+mn-ea"/>
              </a:rPr>
              <a:t/>
            </a:r>
            <a:br>
              <a:rPr lang="en-US" altLang="ko-KR" dirty="0" smtClean="0">
                <a:latin typeface="+mn-ea"/>
              </a:rPr>
            </a:br>
            <a:r>
              <a:rPr lang="en-US" altLang="ko-KR" dirty="0" smtClean="0">
                <a:latin typeface="+mn-ea"/>
              </a:rPr>
              <a:t>- 4</a:t>
            </a:r>
            <a:r>
              <a:rPr lang="ko-KR" altLang="en-US" dirty="0" smtClean="0">
                <a:latin typeface="+mn-ea"/>
              </a:rPr>
              <a:t>열까지 기본 표시</a:t>
            </a:r>
            <a:r>
              <a:rPr lang="en-US" altLang="ko-KR" dirty="0" smtClean="0">
                <a:latin typeface="+mn-ea"/>
              </a:rPr>
              <a:t/>
            </a:r>
            <a:br>
              <a:rPr lang="en-US" altLang="ko-KR" dirty="0" smtClean="0">
                <a:latin typeface="+mn-ea"/>
              </a:rPr>
            </a:b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 smtClean="0">
                <a:latin typeface="+mn-ea"/>
              </a:rPr>
              <a:t>내역 펼쳐보기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내역 접기 아코디언 동작</a:t>
            </a:r>
            <a:endParaRPr lang="en-US" altLang="ko-KR" dirty="0" smtClean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>
                <a:latin typeface="+mn-ea"/>
              </a:rPr>
              <a:t>재고번호</a:t>
            </a:r>
            <a:r>
              <a:rPr lang="en-US" altLang="ko-KR" dirty="0" smtClean="0">
                <a:latin typeface="+mn-ea"/>
              </a:rPr>
              <a:t/>
            </a:r>
            <a:br>
              <a:rPr lang="en-US" altLang="ko-KR" dirty="0" smtClean="0">
                <a:latin typeface="+mn-ea"/>
              </a:rPr>
            </a:br>
            <a:r>
              <a:rPr lang="en-US" altLang="ko-KR" dirty="0">
                <a:latin typeface="+mn-ea"/>
              </a:rPr>
              <a:t>- MUI-OP-01-P75 </a:t>
            </a:r>
            <a:r>
              <a:rPr lang="ko-KR" altLang="en-US" dirty="0" smtClean="0">
                <a:latin typeface="+mn-ea"/>
              </a:rPr>
              <a:t>목록정보조회 팝업 호출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</a:t>
            </a:r>
            <a:r>
              <a:rPr lang="en-US" altLang="ko-KR" dirty="0" smtClean="0">
                <a:latin typeface="+mn-ea"/>
              </a:rPr>
              <a:t>MUI-OP-01-P76 </a:t>
            </a:r>
            <a:r>
              <a:rPr lang="ko-KR" altLang="en-US" dirty="0">
                <a:latin typeface="+mn-ea"/>
              </a:rPr>
              <a:t>목록정보조회 팝업 </a:t>
            </a:r>
            <a:r>
              <a:rPr lang="ko-KR" altLang="en-US" dirty="0" smtClean="0">
                <a:latin typeface="+mn-ea"/>
              </a:rPr>
              <a:t>호출</a:t>
            </a:r>
            <a:endParaRPr lang="en-US" altLang="ko-KR" dirty="0" smtClean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>
                <a:latin typeface="+mn-ea"/>
              </a:rPr>
              <a:t>품목명세서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콘텐츠 </a:t>
            </a:r>
            <a:r>
              <a:rPr lang="en-US" altLang="ko-KR" dirty="0">
                <a:latin typeface="+mn-ea"/>
              </a:rPr>
              <a:t>10</a:t>
            </a:r>
            <a:r>
              <a:rPr lang="ko-KR" altLang="en-US" dirty="0">
                <a:latin typeface="+mn-ea"/>
              </a:rPr>
              <a:t>개씩 노출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ko-KR" altLang="en-US" dirty="0" err="1">
                <a:latin typeface="+mn-ea"/>
              </a:rPr>
              <a:t>더보기</a:t>
            </a:r>
            <a:r>
              <a:rPr lang="ko-KR" altLang="en-US" dirty="0">
                <a:latin typeface="+mn-ea"/>
              </a:rPr>
              <a:t> 버튼 클릭으로 추가 </a:t>
            </a:r>
            <a:r>
              <a:rPr lang="en-US" altLang="ko-KR" dirty="0">
                <a:latin typeface="+mn-ea"/>
              </a:rPr>
              <a:t>10</a:t>
            </a:r>
            <a:r>
              <a:rPr lang="ko-KR" altLang="en-US" dirty="0">
                <a:latin typeface="+mn-ea"/>
              </a:rPr>
              <a:t>개씩 추가 </a:t>
            </a:r>
            <a:r>
              <a:rPr lang="ko-KR" altLang="en-US" dirty="0" smtClean="0">
                <a:latin typeface="+mn-ea"/>
              </a:rPr>
              <a:t>표시</a:t>
            </a:r>
            <a:endParaRPr lang="en-US" altLang="ko-KR" dirty="0" smtClean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altLang="ko-KR" dirty="0" smtClean="0">
                <a:sym typeface="Wingdings" panose="05000000000000000000" pitchFamily="2" charset="2"/>
              </a:rPr>
              <a:t>+ </a:t>
            </a:r>
            <a:r>
              <a:rPr lang="ko-KR" altLang="en-US" dirty="0" smtClean="0">
                <a:sym typeface="Wingdings" panose="05000000000000000000" pitchFamily="2" charset="2"/>
              </a:rPr>
              <a:t>버튼 표시 및 클릭 시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err="1" smtClean="0">
                <a:sym typeface="Wingdings" panose="05000000000000000000" pitchFamily="2" charset="2"/>
              </a:rPr>
              <a:t>바텀</a:t>
            </a:r>
            <a:r>
              <a:rPr lang="ko-KR" altLang="en-US" dirty="0" smtClean="0">
                <a:sym typeface="Wingdings" panose="05000000000000000000" pitchFamily="2" charset="2"/>
              </a:rPr>
              <a:t> 시트를 통한 버튼 표시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err="1" smtClean="0">
                <a:sym typeface="Wingdings" panose="05000000000000000000" pitchFamily="2" charset="2"/>
              </a:rPr>
              <a:t>바텀시트</a:t>
            </a:r>
            <a:r>
              <a:rPr lang="ko-KR" altLang="en-US" dirty="0" smtClean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팝업 표시 </a:t>
            </a:r>
            <a:r>
              <a:rPr lang="en-US" altLang="ko-KR" dirty="0">
                <a:sym typeface="Wingdings" panose="05000000000000000000" pitchFamily="2" charset="2"/>
              </a:rPr>
              <a:t>(MUI-BD-01-P17)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버튼에서 버튼 출력물 명칭 </a:t>
            </a:r>
            <a:r>
              <a:rPr lang="ko-KR" altLang="en-US" dirty="0" smtClean="0">
                <a:sym typeface="Wingdings" panose="05000000000000000000" pitchFamily="2" charset="2"/>
              </a:rPr>
              <a:t>표시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(UI-OP-01-R10) </a:t>
            </a:r>
            <a:r>
              <a:rPr lang="ko-KR" altLang="en-US" dirty="0">
                <a:sym typeface="Wingdings" panose="05000000000000000000" pitchFamily="2" charset="2"/>
              </a:rPr>
              <a:t>품목명세서출력물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출력물 </a:t>
            </a:r>
            <a:r>
              <a:rPr lang="en-US" altLang="ko-KR" dirty="0">
                <a:sym typeface="Wingdings" panose="05000000000000000000" pitchFamily="2" charset="2"/>
              </a:rPr>
              <a:t>OZ </a:t>
            </a:r>
            <a:r>
              <a:rPr lang="ko-KR" altLang="en-US" dirty="0">
                <a:sym typeface="Wingdings" panose="05000000000000000000" pitchFamily="2" charset="2"/>
              </a:rPr>
              <a:t>리포트 연계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품목명세서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품목명세서</a:t>
            </a:r>
            <a:r>
              <a:rPr lang="ko-KR" altLang="en-US" dirty="0"/>
              <a:t>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품목명세서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701175" y="2253421"/>
            <a:ext cx="2630093" cy="3877985"/>
            <a:chOff x="701175" y="1924234"/>
            <a:chExt cx="2630093" cy="3877985"/>
          </a:xfrm>
        </p:grpSpPr>
        <p:sp>
          <p:nvSpPr>
            <p:cNvPr id="160" name="직사각형 159"/>
            <p:cNvSpPr/>
            <p:nvPr/>
          </p:nvSpPr>
          <p:spPr>
            <a:xfrm>
              <a:off x="703268" y="1924234"/>
              <a:ext cx="792000" cy="38776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924234"/>
              <a:ext cx="725552" cy="38779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항목번호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규격번호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규격종류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규격공개여부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군급</a:t>
              </a:r>
              <a:r>
                <a:rPr lang="en-US" altLang="ko-KR" sz="700" dirty="0">
                  <a:latin typeface="+mn-ea"/>
                </a:rPr>
                <a:t>-</a:t>
              </a:r>
              <a:r>
                <a:rPr lang="ko-KR" altLang="en-US" sz="700" dirty="0" err="1">
                  <a:latin typeface="+mn-ea"/>
                </a:rPr>
                <a:t>재고번호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도면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 err="1">
                  <a:latin typeface="+mn-ea"/>
                </a:rPr>
                <a:t>부품번호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납지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품보형태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924234"/>
              <a:ext cx="1775839" cy="38779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MBDKE22026003B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4240-4009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국방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정식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25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srgbClr val="0070C0"/>
                  </a:solidFill>
                  <a:latin typeface="+mn-ea"/>
                </a:rPr>
                <a:t>4240-3753116870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A7005265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원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방독면</a:t>
              </a:r>
              <a:r>
                <a:rPr lang="en-US" altLang="ko-KR" sz="700" dirty="0">
                  <a:latin typeface="+mn-ea"/>
                </a:rPr>
                <a:t>,</a:t>
              </a:r>
              <a:r>
                <a:rPr lang="ko-KR" altLang="en-US" sz="700" dirty="0">
                  <a:latin typeface="+mn-ea"/>
                </a:rPr>
                <a:t>화학</a:t>
              </a:r>
              <a:r>
                <a:rPr lang="en-US" altLang="ko-KR" sz="700" dirty="0">
                  <a:latin typeface="+mn-ea"/>
                </a:rPr>
                <a:t>-</a:t>
              </a:r>
              <a:r>
                <a:rPr lang="ko-KR" altLang="en-US" sz="700" dirty="0" err="1">
                  <a:latin typeface="+mn-ea"/>
                </a:rPr>
                <a:t>생물학전용</a:t>
              </a:r>
              <a:r>
                <a:rPr lang="en-US" altLang="ko-KR" sz="700" dirty="0">
                  <a:latin typeface="+mn-ea"/>
                </a:rPr>
                <a:t>(K5)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체계품질보증형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본조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2026-12-15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701175" y="1924234"/>
              <a:ext cx="2630093" cy="3877644"/>
              <a:chOff x="701175" y="1835481"/>
              <a:chExt cx="2630093" cy="3877644"/>
            </a:xfrm>
          </p:grpSpPr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9828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1976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1" name="직선 연결선 18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441236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2" name="직선 연결선 18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6271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3" name="직선 연결선 1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8418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0565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5" name="직선 연결선 18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2713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48605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713125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836921" y="3674661"/>
              <a:ext cx="494347" cy="162000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rPr>
                <a:t>보기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365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901536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387137" y="1901536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36921" y="1901536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0516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27" name="그룹 126"/>
          <p:cNvGrpSpPr/>
          <p:nvPr/>
        </p:nvGrpSpPr>
        <p:grpSpPr>
          <a:xfrm>
            <a:off x="3143548" y="1999502"/>
            <a:ext cx="94010" cy="47005"/>
            <a:chOff x="6812560" y="3297172"/>
            <a:chExt cx="94010" cy="47005"/>
          </a:xfrm>
        </p:grpSpPr>
        <p:cxnSp>
          <p:nvCxnSpPr>
            <p:cNvPr id="128" name="직선 연결선 12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직선 연결선 12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4585727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3410128"/>
            <a:ext cx="76863" cy="292489"/>
            <a:chOff x="3750067" y="4683795"/>
            <a:chExt cx="76863" cy="292489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396579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78861" y="4639408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6793" y="4154658"/>
            <a:ext cx="2448261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700" dirty="0">
                <a:solidFill>
                  <a:srgbClr val="FF0000"/>
                </a:solidFill>
              </a:rPr>
              <a:t>※ </a:t>
            </a:r>
            <a:r>
              <a:rPr lang="ko-KR" altLang="en-US" sz="700" dirty="0" err="1">
                <a:solidFill>
                  <a:srgbClr val="FF0000"/>
                </a:solidFill>
              </a:rPr>
              <a:t>방위사업청</a:t>
            </a:r>
            <a:r>
              <a:rPr lang="ko-KR" altLang="en-US" sz="700" dirty="0">
                <a:solidFill>
                  <a:srgbClr val="FF0000"/>
                </a:solidFill>
              </a:rPr>
              <a:t> </a:t>
            </a:r>
            <a:r>
              <a:rPr lang="ko-KR" altLang="en-US" sz="700" dirty="0" err="1">
                <a:solidFill>
                  <a:srgbClr val="FF0000"/>
                </a:solidFill>
              </a:rPr>
              <a:t>조달계획은</a:t>
            </a:r>
            <a:r>
              <a:rPr lang="ko-KR" altLang="en-US" sz="700" dirty="0">
                <a:solidFill>
                  <a:srgbClr val="FF0000"/>
                </a:solidFill>
              </a:rPr>
              <a:t> </a:t>
            </a:r>
            <a:r>
              <a:rPr lang="ko-KR" altLang="en-US" sz="700" dirty="0" err="1">
                <a:solidFill>
                  <a:srgbClr val="FF0000"/>
                </a:solidFill>
              </a:rPr>
              <a:t>품목명세서</a:t>
            </a:r>
            <a:r>
              <a:rPr lang="ko-KR" altLang="en-US" sz="700" dirty="0">
                <a:solidFill>
                  <a:srgbClr val="FF0000"/>
                </a:solidFill>
              </a:rPr>
              <a:t> 상</a:t>
            </a:r>
            <a:endParaRPr lang="en-US" altLang="ko-KR" sz="700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rgbClr val="FF0000"/>
                </a:solidFill>
              </a:rPr>
              <a:t>단가</a:t>
            </a:r>
            <a:r>
              <a:rPr lang="en-US" altLang="ko-KR" sz="700" dirty="0">
                <a:solidFill>
                  <a:srgbClr val="FF0000"/>
                </a:solidFill>
              </a:rPr>
              <a:t>, </a:t>
            </a:r>
            <a:r>
              <a:rPr lang="ko-KR" altLang="en-US" sz="700" dirty="0">
                <a:solidFill>
                  <a:srgbClr val="FF0000"/>
                </a:solidFill>
              </a:rPr>
              <a:t>금액을 공개하지 않습니다</a:t>
            </a:r>
            <a:r>
              <a:rPr lang="en-US" altLang="ko-KR" sz="7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66926" y="228728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65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90250" y="6175977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kern="0" dirty="0"/>
              <a:t>내역 접기 ↑</a:t>
            </a:r>
            <a:endParaRPr kumimoji="1" lang="en-US" altLang="ko-KR" sz="700" kern="0" dirty="0"/>
          </a:p>
        </p:txBody>
      </p:sp>
      <p:grpSp>
        <p:nvGrpSpPr>
          <p:cNvPr id="66" name="그룹 65"/>
          <p:cNvGrpSpPr/>
          <p:nvPr/>
        </p:nvGrpSpPr>
        <p:grpSpPr>
          <a:xfrm>
            <a:off x="3836031" y="1580862"/>
            <a:ext cx="2631433" cy="1075183"/>
            <a:chOff x="3820170" y="3474433"/>
            <a:chExt cx="2631433" cy="1075183"/>
          </a:xfrm>
        </p:grpSpPr>
        <p:sp>
          <p:nvSpPr>
            <p:cNvPr id="67" name="직사각형 66"/>
            <p:cNvSpPr/>
            <p:nvPr/>
          </p:nvSpPr>
          <p:spPr>
            <a:xfrm>
              <a:off x="3820170" y="3474433"/>
              <a:ext cx="792000" cy="8651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0666" y="3474434"/>
              <a:ext cx="725552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항목번호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규격번호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69" name="그룹 68"/>
            <p:cNvGrpSpPr/>
            <p:nvPr/>
          </p:nvGrpSpPr>
          <p:grpSpPr>
            <a:xfrm>
              <a:off x="3821510" y="3474434"/>
              <a:ext cx="2630093" cy="1075182"/>
              <a:chOff x="701175" y="1835481"/>
              <a:chExt cx="2630093" cy="1075182"/>
            </a:xfrm>
          </p:grpSpPr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1066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67515" y="3474434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MBDKE22026003B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4240-4009</a:t>
              </a:r>
            </a:p>
          </p:txBody>
        </p:sp>
        <p:sp>
          <p:nvSpPr>
            <p:cNvPr id="7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3933132" y="4359933"/>
              <a:ext cx="2482324" cy="162000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7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내역 </a:t>
              </a:r>
              <a:r>
                <a:rPr kumimoji="1" lang="ko-KR" altLang="en-US" sz="700" kern="0" dirty="0"/>
                <a:t>펼쳐보기 ↓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117" name="그룹 116"/>
          <p:cNvGrpSpPr/>
          <p:nvPr/>
        </p:nvGrpSpPr>
        <p:grpSpPr>
          <a:xfrm>
            <a:off x="3004764" y="2116980"/>
            <a:ext cx="776938" cy="1131139"/>
            <a:chOff x="3004764" y="2490533"/>
            <a:chExt cx="776938" cy="1131139"/>
          </a:xfrm>
        </p:grpSpPr>
        <p:sp>
          <p:nvSpPr>
            <p:cNvPr id="118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9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20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23" name="그룹 122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24" name="직선 연결선 123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58" name="타원 2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592" y="1691582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78" name="타원 77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9" name="그룹 78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80" name="직선 연결선 79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직선 연결선 80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직선 연결선 81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직선 연결선 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4" name="타원 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5" name="그룹 84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양쪽 모서리가 둥근 사각형 87"/>
          <p:cNvSpPr/>
          <p:nvPr/>
        </p:nvSpPr>
        <p:spPr>
          <a:xfrm>
            <a:off x="3793173" y="5041678"/>
            <a:ext cx="2712027" cy="1190621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89" name="모서리가 둥근 직사각형 88"/>
          <p:cNvSpPr/>
          <p:nvPr/>
        </p:nvSpPr>
        <p:spPr>
          <a:xfrm>
            <a:off x="4879186" y="5078305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90" name="그룹 89"/>
          <p:cNvGrpSpPr/>
          <p:nvPr/>
        </p:nvGrpSpPr>
        <p:grpSpPr>
          <a:xfrm>
            <a:off x="6282112" y="5212721"/>
            <a:ext cx="94010" cy="94010"/>
            <a:chOff x="6812560" y="3297172"/>
            <a:chExt cx="94010" cy="94010"/>
          </a:xfrm>
        </p:grpSpPr>
        <p:cxnSp>
          <p:nvCxnSpPr>
            <p:cNvPr id="91" name="직선 연결선 90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직선 연결선 9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2250" y="5193400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latin typeface="+mn-ea"/>
              </a:rPr>
              <a:t> 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3173" y="545480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7" name="모서리가 둥근 직사각형 40">
            <a:extLst>
              <a:ext uri="{FF2B5EF4-FFF2-40B4-BE49-F238E27FC236}">
                <a16:creationId xmlns:a16="http://schemas.microsoft.com/office/drawing/2014/main" id="{3BE5C28A-F0C3-8BA2-3AC1-EFA405ADE137}"/>
              </a:ext>
            </a:extLst>
          </p:cNvPr>
          <p:cNvSpPr/>
          <p:nvPr/>
        </p:nvSpPr>
        <p:spPr bwMode="auto">
          <a:xfrm>
            <a:off x="3885476" y="5576342"/>
            <a:ext cx="2522014" cy="244350"/>
          </a:xfrm>
          <a:prstGeom prst="roundRect">
            <a:avLst/>
          </a:prstGeom>
          <a:solidFill>
            <a:srgbClr val="0F4294"/>
          </a:solidFill>
          <a:ln w="6350">
            <a:solidFill>
              <a:srgbClr val="0F4294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rIns="36000" anchor="ctr"/>
          <a:lstStyle/>
          <a:p>
            <a:pPr algn="ctr">
              <a:defRPr/>
            </a:pP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</a:rPr>
              <a:t>품목명세서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</a:rPr>
              <a:t> 출력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01701" y="563376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98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946768" y="2763950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</a:rPr>
              <a:t>내역 </a:t>
            </a:r>
            <a:r>
              <a:rPr kumimoji="1" lang="ko-KR" altLang="en-US" sz="700" kern="0" dirty="0"/>
              <a:t>펼쳐보기 ↓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195064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탭 </a:t>
            </a:r>
            <a:r>
              <a:rPr lang="ko-KR" altLang="en-US" dirty="0" smtClean="0"/>
              <a:t>타이틀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목록에서 풀 페이지 팝업으로 등록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수정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상세 내용을 표시함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의견등록</a:t>
            </a:r>
            <a:r>
              <a:rPr lang="ko-KR" altLang="en-US" dirty="0"/>
              <a:t> 버튼 클릭 이벤트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등록 </a:t>
            </a:r>
            <a:r>
              <a:rPr lang="ko-KR" altLang="en-US" dirty="0" smtClean="0"/>
              <a:t>팝업 화면 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목록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상세 보기 </a:t>
            </a:r>
            <a:r>
              <a:rPr lang="ko-KR" altLang="en-US" dirty="0" smtClean="0"/>
              <a:t>팝업 화면 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비공개 정보는 작성자만 접근 가능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smtClean="0"/>
              <a:t>비공개 글입니다</a:t>
            </a:r>
            <a:r>
              <a:rPr lang="en-US" altLang="ko-KR" dirty="0" smtClean="0"/>
              <a:t>. (</a:t>
            </a:r>
            <a:r>
              <a:rPr lang="ko-KR" altLang="en-US" dirty="0" smtClean="0"/>
              <a:t>확인</a:t>
            </a:r>
            <a:r>
              <a:rPr lang="en-US" altLang="ko-KR" dirty="0" smtClean="0"/>
              <a:t>) </a:t>
            </a:r>
            <a:r>
              <a:rPr lang="ko-KR" altLang="en-US" dirty="0" err="1" smtClean="0"/>
              <a:t>모달</a:t>
            </a:r>
            <a:r>
              <a:rPr lang="ko-KR" altLang="en-US" dirty="0" smtClean="0"/>
              <a:t> 팝업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업체의견</a:t>
            </a:r>
            <a:r>
              <a:rPr lang="ko-KR" altLang="en-US" dirty="0" smtClean="0"/>
              <a:t> 답변 데이터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답변 레이블 추가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답변은 답변 상세 팝업 화면 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의견에 대한 답글의 경우 최초 의견 글 바로 아래 답변 표시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탭 목록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365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901536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0516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8" name="타원 2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192084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043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6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2836921" y="1937500"/>
            <a:ext cx="494347" cy="162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의견등록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68" name="그룹 67"/>
          <p:cNvGrpSpPr/>
          <p:nvPr/>
        </p:nvGrpSpPr>
        <p:grpSpPr>
          <a:xfrm>
            <a:off x="781460" y="2325977"/>
            <a:ext cx="2473258" cy="821562"/>
            <a:chOff x="781460" y="2610063"/>
            <a:chExt cx="2473258" cy="821562"/>
          </a:xfrm>
        </p:grpSpPr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비공개</a:t>
              </a:r>
              <a:endParaRPr lang="en-US" altLang="ko-KR" sz="700" dirty="0"/>
            </a:p>
            <a:p>
              <a:r>
                <a:rPr lang="ko-KR" altLang="en-US" sz="900" b="1" dirty="0"/>
                <a:t>비공개</a:t>
              </a:r>
            </a:p>
          </p:txBody>
        </p:sp>
        <p:sp>
          <p:nvSpPr>
            <p:cNvPr id="70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1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비공개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비공개</a:t>
              </a:r>
            </a:p>
          </p:txBody>
        </p:sp>
      </p:grp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243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6" name="그룹 75"/>
          <p:cNvGrpSpPr/>
          <p:nvPr/>
        </p:nvGrpSpPr>
        <p:grpSpPr>
          <a:xfrm>
            <a:off x="781460" y="3345937"/>
            <a:ext cx="2473258" cy="821562"/>
            <a:chOff x="781460" y="2610063"/>
            <a:chExt cx="2473258" cy="821562"/>
          </a:xfrm>
        </p:grpSpPr>
        <p:sp>
          <p:nvSpPr>
            <p:cNvPr id="7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</a:t>
              </a:r>
              <a:r>
                <a:rPr lang="ko-KR" altLang="en-US" sz="700" dirty="0" err="1"/>
                <a:t>미래회사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78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9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80" name="모서리가 둥근 직사각형 79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8778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2" name="그룹 81"/>
          <p:cNvGrpSpPr/>
          <p:nvPr/>
        </p:nvGrpSpPr>
        <p:grpSpPr>
          <a:xfrm>
            <a:off x="781460" y="4421289"/>
            <a:ext cx="2473258" cy="821562"/>
            <a:chOff x="781460" y="2610063"/>
            <a:chExt cx="2473258" cy="821562"/>
          </a:xfrm>
        </p:grpSpPr>
        <p:sp>
          <p:nvSpPr>
            <p:cNvPr id="8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㈜길동주식회사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8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85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성춘향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86" name="모서리가 둥근 직사각형 85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386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9066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687418"/>
            <a:ext cx="76863" cy="292489"/>
            <a:chOff x="3750067" y="4683795"/>
            <a:chExt cx="76863" cy="292489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3918450" y="1641327"/>
            <a:ext cx="2473258" cy="821562"/>
            <a:chOff x="781460" y="2610063"/>
            <a:chExt cx="2473258" cy="821562"/>
          </a:xfrm>
        </p:grpSpPr>
        <p:sp>
          <p:nvSpPr>
            <p:cNvPr id="46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</a:t>
              </a:r>
              <a:r>
                <a:rPr lang="ko-KR" altLang="en-US" sz="700" dirty="0" err="1"/>
                <a:t>미래회사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47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4157" y="25831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2" name="그룹 51"/>
          <p:cNvGrpSpPr/>
          <p:nvPr/>
        </p:nvGrpSpPr>
        <p:grpSpPr>
          <a:xfrm>
            <a:off x="3918450" y="2716679"/>
            <a:ext cx="2473258" cy="821562"/>
            <a:chOff x="781460" y="2610063"/>
            <a:chExt cx="2473258" cy="821562"/>
          </a:xfrm>
        </p:grpSpPr>
        <p:sp>
          <p:nvSpPr>
            <p:cNvPr id="5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>
                  <a:solidFill>
                    <a:prstClr val="black"/>
                  </a:solidFill>
                </a:rPr>
                <a:t>㈜</a:t>
              </a:r>
              <a:r>
                <a:rPr lang="ko-KR" altLang="en-US" sz="700" dirty="0" err="1">
                  <a:solidFill>
                    <a:prstClr val="black"/>
                  </a:solidFill>
                </a:rPr>
                <a:t>미래회사</a:t>
              </a:r>
              <a:endParaRPr lang="en-US" altLang="ko-KR" sz="700" dirty="0">
                <a:solidFill>
                  <a:prstClr val="black"/>
                </a:solidFill>
              </a:endParaRPr>
            </a:p>
            <a:p>
              <a:pPr lvl="0"/>
              <a:r>
                <a:rPr lang="ko-KR" altLang="en-US" sz="900" b="1" dirty="0">
                  <a:solidFill>
                    <a:prstClr val="black"/>
                  </a:solidFill>
                </a:rPr>
                <a:t>업체의 의견이 있습니다</a:t>
              </a:r>
              <a:r>
                <a:rPr lang="en-US" altLang="ko-KR" sz="900" b="1" dirty="0">
                  <a:solidFill>
                    <a:prstClr val="black"/>
                  </a:solidFill>
                </a:rPr>
                <a:t>.</a:t>
              </a:r>
              <a:endParaRPr lang="ko-KR" altLang="en-US" sz="900" b="1" dirty="0">
                <a:solidFill>
                  <a:prstClr val="black"/>
                </a:solidFill>
              </a:endParaRPr>
            </a:p>
          </p:txBody>
        </p:sp>
        <p:sp>
          <p:nvSpPr>
            <p:cNvPr id="5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5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성춘향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56" name="모서리가 둥근 직사각형 55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1145236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smtClean="0">
                  <a:solidFill>
                    <a:schemeClr val="dk1"/>
                  </a:solidFill>
                </a:rPr>
                <a:t>답변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4157" y="36818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9" name="타원 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4336" y="317517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4201550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직사각형 9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상세 타이틀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항목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disable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첨부파일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작성자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en-US" altLang="ko-KR" dirty="0" smtClean="0"/>
              <a:t>disable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>
                <a:sym typeface="Wingdings" panose="05000000000000000000" pitchFamily="2" charset="2"/>
              </a:rPr>
              <a:t>버튼 </a:t>
            </a:r>
            <a:r>
              <a:rPr lang="ko-KR" altLang="en-US" dirty="0">
                <a:sym typeface="Wingdings" panose="05000000000000000000" pitchFamily="2" charset="2"/>
              </a:rPr>
              <a:t>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sym typeface="Wingdings" panose="05000000000000000000" pitchFamily="2" charset="2"/>
              </a:rPr>
              <a:t>처리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작성자 노출 버튼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  &gt; </a:t>
            </a:r>
            <a:r>
              <a:rPr lang="ko-KR" altLang="en-US" dirty="0" smtClean="0">
                <a:sym typeface="Wingdings" panose="05000000000000000000" pitchFamily="2" charset="2"/>
              </a:rPr>
              <a:t>수정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클릭 시 등록</a:t>
            </a:r>
            <a:r>
              <a:rPr lang="en-US" altLang="ko-KR" dirty="0" smtClean="0">
                <a:sym typeface="Wingdings" panose="05000000000000000000" pitchFamily="2" charset="2"/>
              </a:rPr>
              <a:t>/</a:t>
            </a:r>
            <a:r>
              <a:rPr lang="ko-KR" altLang="en-US" dirty="0" smtClean="0">
                <a:sym typeface="Wingdings" panose="05000000000000000000" pitchFamily="2" charset="2"/>
              </a:rPr>
              <a:t>수정 진입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  &gt; </a:t>
            </a:r>
            <a:r>
              <a:rPr lang="ko-KR" altLang="en-US" dirty="0" smtClean="0">
                <a:sym typeface="Wingdings" panose="05000000000000000000" pitchFamily="2" charset="2"/>
              </a:rPr>
              <a:t>삭제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클릭 시 삭제 확인 </a:t>
            </a:r>
            <a:r>
              <a:rPr lang="ko-KR" altLang="en-US" dirty="0" err="1" smtClean="0">
                <a:sym typeface="Wingdings" panose="05000000000000000000" pitchFamily="2" charset="2"/>
              </a:rPr>
              <a:t>모달</a:t>
            </a:r>
            <a:r>
              <a:rPr lang="ko-KR" altLang="en-US" dirty="0" smtClean="0">
                <a:sym typeface="Wingdings" panose="05000000000000000000" pitchFamily="2" charset="2"/>
              </a:rPr>
              <a:t> 팝업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err="1" smtClean="0">
                <a:sym typeface="Wingdings" panose="05000000000000000000" pitchFamily="2" charset="2"/>
              </a:rPr>
              <a:t>비작성자</a:t>
            </a:r>
            <a:r>
              <a:rPr lang="ko-KR" altLang="en-US" dirty="0" smtClean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닫기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상세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MUI-OP-01-P06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3790563" y="2349314"/>
            <a:ext cx="2717198" cy="3078289"/>
            <a:chOff x="675399" y="1846937"/>
            <a:chExt cx="2717198" cy="3078289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901536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32535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업체명</a:t>
              </a:r>
              <a:endParaRPr lang="ko-KR" altLang="en-US" sz="900" b="1" dirty="0"/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720490" y="248806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/>
                <a:t>㈜길동주식회사</a:t>
              </a: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9252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82795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사업자번호</a:t>
              </a:r>
              <a:endParaRPr lang="ko-KR" altLang="en-US" sz="900" b="1" dirty="0"/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720490" y="299066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123-45-67890</a:t>
              </a:r>
              <a:endParaRPr lang="ko-KR" altLang="en-US" sz="800" dirty="0"/>
            </a:p>
          </p:txBody>
        </p:sp>
        <p:sp>
          <p:nvSpPr>
            <p:cNvPr id="5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33173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성명</a:t>
              </a:r>
              <a:endParaRPr lang="ko-KR" altLang="en-US" sz="900" b="1" dirty="0"/>
            </a:p>
          </p:txBody>
        </p:sp>
        <p:sp>
          <p:nvSpPr>
            <p:cNvPr id="53" name="모서리가 둥근 직사각형 52"/>
            <p:cNvSpPr/>
            <p:nvPr/>
          </p:nvSpPr>
          <p:spPr>
            <a:xfrm>
              <a:off x="720490" y="349444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sp>
          <p:nvSpPr>
            <p:cNvPr id="5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82942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720490" y="399213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sp>
          <p:nvSpPr>
            <p:cNvPr id="60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4330977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이메일</a:t>
              </a:r>
              <a:endParaRPr lang="ko-KR" altLang="en-US" sz="900" b="1" dirty="0"/>
            </a:p>
          </p:txBody>
        </p:sp>
        <p:sp>
          <p:nvSpPr>
            <p:cNvPr id="61" name="모서리가 둥근 직사각형 60"/>
            <p:cNvSpPr/>
            <p:nvPr/>
          </p:nvSpPr>
          <p:spPr>
            <a:xfrm>
              <a:off x="720490" y="4493685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abcde@naver.com</a:t>
              </a:r>
              <a:endParaRPr lang="ko-KR" altLang="en-US" sz="800" dirty="0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88" name="그룹 87"/>
            <p:cNvGrpSpPr/>
            <p:nvPr/>
          </p:nvGrpSpPr>
          <p:grpSpPr>
            <a:xfrm flipV="1">
              <a:off x="3124233" y="1987998"/>
              <a:ext cx="94010" cy="47005"/>
              <a:chOff x="6812560" y="3297172"/>
              <a:chExt cx="94010" cy="47005"/>
            </a:xfrm>
          </p:grpSpPr>
          <p:cxnSp>
            <p:nvCxnSpPr>
              <p:cNvPr id="89" name="직선 연결선 8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18317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408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8" name="그룹 117"/>
          <p:cNvGrpSpPr/>
          <p:nvPr/>
        </p:nvGrpSpPr>
        <p:grpSpPr>
          <a:xfrm flipV="1">
            <a:off x="3124233" y="1977870"/>
            <a:ext cx="94010" cy="47005"/>
            <a:chOff x="6812560" y="3297172"/>
            <a:chExt cx="94010" cy="47005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직선 연결선 11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3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03034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smtClean="0"/>
              <a:t>제목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720467" y="2465742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684326" y="5064184"/>
            <a:ext cx="2712027" cy="347855"/>
            <a:chOff x="3831550" y="3745666"/>
            <a:chExt cx="2712027" cy="347855"/>
          </a:xfrm>
        </p:grpSpPr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39" name="그룹 138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40" name="직선 연결선 13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3" name="모서리가 둥근 직사각형 142"/>
          <p:cNvSpPr/>
          <p:nvPr/>
        </p:nvSpPr>
        <p:spPr>
          <a:xfrm>
            <a:off x="720142" y="5659395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20810" y="5787777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8338" y="5787777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46" name="타원 145"/>
          <p:cNvSpPr/>
          <p:nvPr/>
        </p:nvSpPr>
        <p:spPr>
          <a:xfrm>
            <a:off x="3108139" y="5769638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3831550" y="155078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167917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167917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50" name="타원 149"/>
          <p:cNvSpPr/>
          <p:nvPr/>
        </p:nvSpPr>
        <p:spPr>
          <a:xfrm>
            <a:off x="6219547" y="166103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20810" y="5524277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017655" y="5524277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6906" y="5524277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17367" y="2842211"/>
            <a:ext cx="2610778" cy="2013555"/>
            <a:chOff x="717367" y="2842211"/>
            <a:chExt cx="2610778" cy="2013555"/>
          </a:xfrm>
        </p:grpSpPr>
        <p:sp>
          <p:nvSpPr>
            <p:cNvPr id="10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2842211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smtClean="0"/>
                <a:t>내용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103" name="모서리가 둥근 직사각형 102"/>
            <p:cNvSpPr/>
            <p:nvPr/>
          </p:nvSpPr>
          <p:spPr>
            <a:xfrm>
              <a:off x="717367" y="3004919"/>
              <a:ext cx="2610778" cy="1572062"/>
            </a:xfrm>
            <a:prstGeom prst="roundRect">
              <a:avLst>
                <a:gd name="adj" fmla="val 431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t"/>
            <a:lstStyle/>
            <a:p>
              <a:r>
                <a:rPr lang="ko-KR" altLang="en-US" sz="800" dirty="0" err="1"/>
                <a:t>업체의견이</a:t>
              </a:r>
              <a:r>
                <a:rPr lang="ko-KR" altLang="en-US" sz="800" dirty="0"/>
                <a:t>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10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472734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smtClean="0"/>
                <a:t>공개여부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2608145" y="4706642"/>
              <a:ext cx="720000" cy="149124"/>
              <a:chOff x="4507439" y="3468375"/>
              <a:chExt cx="720000" cy="149124"/>
            </a:xfrm>
          </p:grpSpPr>
          <p:sp>
            <p:nvSpPr>
              <p:cNvPr id="125" name="모서리가 둥근 직사각형 124"/>
              <p:cNvSpPr/>
              <p:nvPr/>
            </p:nvSpPr>
            <p:spPr>
              <a:xfrm>
                <a:off x="4507439" y="3468375"/>
                <a:ext cx="720000" cy="14912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7" name="모서리가 둥근 직사각형 126"/>
              <p:cNvSpPr/>
              <p:nvPr/>
            </p:nvSpPr>
            <p:spPr>
              <a:xfrm>
                <a:off x="4507439" y="3468375"/>
                <a:ext cx="378000" cy="149124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kern="0">
                  <a:solidFill>
                    <a:prstClr val="white"/>
                  </a:solidFill>
                  <a:latin typeface="맑은 고딕"/>
                </a:endParaRP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579706" y="3494915"/>
                <a:ext cx="23346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공개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909257" y="3494915"/>
                <a:ext cx="280559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비공개</a:t>
                </a:r>
              </a:p>
            </p:txBody>
          </p:sp>
        </p:grp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890875" y="4411397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맑은 고딕" panose="020B0503020000020004" pitchFamily="50" charset="-127"/>
                </a:rPr>
                <a:t>0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/ 2000</a:t>
              </a:r>
            </a:p>
          </p:txBody>
        </p:sp>
      </p:grpSp>
      <p:grpSp>
        <p:nvGrpSpPr>
          <p:cNvPr id="166" name="그룹 165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수정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69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삭제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70" name="타원 16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573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03269" y="519473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7171" y="244671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3073" y="58211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0" name="그룹 79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81" name="직선 연결선 80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직선 연결선 8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상세</a:t>
            </a:r>
          </a:p>
        </p:txBody>
      </p:sp>
      <p:grpSp>
        <p:nvGrpSpPr>
          <p:cNvPr id="84" name="그룹 83"/>
          <p:cNvGrpSpPr/>
          <p:nvPr/>
        </p:nvGrpSpPr>
        <p:grpSpPr>
          <a:xfrm>
            <a:off x="3795734" y="6066295"/>
            <a:ext cx="2712027" cy="617588"/>
            <a:chOff x="675399" y="5614711"/>
            <a:chExt cx="2712027" cy="617588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86" name="그룹 8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93" name="직사각형 9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2026-05-27 </a:t>
              </a:r>
              <a:r>
                <a:rPr lang="ko-KR" altLang="en-US" dirty="0" smtClean="0"/>
                <a:t>화면 수정</a:t>
              </a:r>
              <a:endParaRPr lang="ko-KR" altLang="en-US" dirty="0"/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아이디 변경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풀페이지</a:t>
              </a:r>
              <a:r>
                <a:rPr lang="ko-KR" altLang="en-US" sz="700" dirty="0" smtClean="0"/>
                <a:t> 팝업으로 변경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396045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19722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업체의견상세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조달계획 식별을 위한 조달번호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의견 식별을 위한 의견번호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4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653889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의견내역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4290" y="1866174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brno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entlno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emlAddr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903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regYn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Y: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공개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N: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비공개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95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5373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93BF57-30C4-D2B9-87E2-11DC15807358}"/>
              </a:ext>
            </a:extLst>
          </p:cNvPr>
          <p:cNvSpPr txBox="1"/>
          <p:nvPr/>
        </p:nvSpPr>
        <p:spPr>
          <a:xfrm>
            <a:off x="458117" y="448640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66B705-20E7-7761-8102-6609B0A1F34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3000" y="4741567"/>
          <a:ext cx="8995591" cy="1335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scwin.btn_modify_onclick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업체의견등록 화면으로 이동된다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1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삭제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scwin.btn_delete_onclick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선택한 업체의견 정보가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DB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에서 삭제 처리되고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닫기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5986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590A7B4-31D4-047E-80C2-0EC131DD670B}"/>
              </a:ext>
            </a:extLst>
          </p:cNvPr>
          <p:cNvSpPr txBox="1"/>
          <p:nvPr/>
        </p:nvSpPr>
        <p:spPr>
          <a:xfrm>
            <a:off x="452999" y="3706738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37BC10A-9BEA-F81F-EBD8-9DDFBBD6C8E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3919023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0CCFA11-FBDA-DF60-57B0-7832DB50F007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endParaRPr lang="ko-KR" altLang="en-US" sz="1000" b="1" dirty="0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95E64C75-CA34-EF56-A1D2-C49BD4B7A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724562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직사각형 9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답변 상세 내용 표시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답변 상세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MUI-OP-01-P06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795734" y="3328139"/>
            <a:ext cx="2712027" cy="1389948"/>
            <a:chOff x="3677672" y="3328139"/>
            <a:chExt cx="2712027" cy="1389948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764419" y="3381713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3764419" y="3805530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담당자</a:t>
              </a:r>
              <a:endParaRPr lang="ko-KR" altLang="en-US" sz="900" b="1" dirty="0"/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3722763" y="3968238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677672" y="3328139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3764419" y="4308129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3722763" y="4470837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grpSp>
          <p:nvGrpSpPr>
            <p:cNvPr id="88" name="그룹 87"/>
            <p:cNvGrpSpPr/>
            <p:nvPr/>
          </p:nvGrpSpPr>
          <p:grpSpPr>
            <a:xfrm flipV="1">
              <a:off x="6126506" y="3468175"/>
              <a:ext cx="94010" cy="47005"/>
              <a:chOff x="6812560" y="3297172"/>
              <a:chExt cx="94010" cy="47005"/>
            </a:xfrm>
          </p:grpSpPr>
          <p:cxnSp>
            <p:nvCxnSpPr>
              <p:cNvPr id="89" name="직선 연결선 8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677672" y="366335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243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답변내역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8" name="그룹 117"/>
          <p:cNvGrpSpPr/>
          <p:nvPr/>
        </p:nvGrpSpPr>
        <p:grpSpPr>
          <a:xfrm flipV="1">
            <a:off x="3124233" y="1977705"/>
            <a:ext cx="94010" cy="47005"/>
            <a:chOff x="6812560" y="3297172"/>
            <a:chExt cx="94010" cy="47005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직선 연결선 11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288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26722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smtClean="0"/>
              <a:t>제목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720467" y="2489430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3795734" y="1493927"/>
            <a:ext cx="2712027" cy="347855"/>
            <a:chOff x="3831550" y="3745666"/>
            <a:chExt cx="2712027" cy="347855"/>
          </a:xfrm>
        </p:grpSpPr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39" name="그룹 138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40" name="직선 연결선 13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3" name="모서리가 둥근 직사각형 142"/>
          <p:cNvSpPr/>
          <p:nvPr/>
        </p:nvSpPr>
        <p:spPr>
          <a:xfrm>
            <a:off x="3831550" y="208913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221752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221752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46" name="타원 145"/>
          <p:cNvSpPr/>
          <p:nvPr/>
        </p:nvSpPr>
        <p:spPr>
          <a:xfrm>
            <a:off x="6219547" y="219938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3831550" y="249582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262420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262420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50" name="타원 149"/>
          <p:cNvSpPr/>
          <p:nvPr/>
        </p:nvSpPr>
        <p:spPr>
          <a:xfrm>
            <a:off x="6219547" y="260606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1954020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6129063" y="1954020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38314" y="1954020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2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7679" y="2882845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smtClean="0"/>
              <a:t>내용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726023" y="3045553"/>
            <a:ext cx="2610778" cy="1572062"/>
          </a:xfrm>
          <a:prstGeom prst="roundRect">
            <a:avLst>
              <a:gd name="adj" fmla="val 431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t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99531" y="4452031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0070C0"/>
                </a:solidFill>
                <a:latin typeface="맑은 고딕" panose="020B0503020000020004" pitchFamily="50" charset="-127"/>
              </a:rPr>
              <a:t>0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/ 2000</a:t>
            </a:r>
          </a:p>
        </p:txBody>
      </p:sp>
      <p:grpSp>
        <p:nvGrpSpPr>
          <p:cNvPr id="58" name="그룹 5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59" name="직선 연결선 5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답변 상세</a:t>
            </a:r>
          </a:p>
        </p:txBody>
      </p:sp>
      <p:grpSp>
        <p:nvGrpSpPr>
          <p:cNvPr id="55" name="그룹 54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56" name="직사각형 55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2026-05-27 </a:t>
              </a:r>
              <a:r>
                <a:rPr lang="ko-KR" altLang="en-US" dirty="0" smtClean="0"/>
                <a:t>화면 수정</a:t>
              </a:r>
              <a:endParaRPr lang="ko-KR" altLang="en-US" dirty="0"/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아이디 변경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풀페이지</a:t>
              </a:r>
              <a:r>
                <a:rPr lang="ko-KR" altLang="en-US" sz="700" dirty="0" smtClean="0"/>
                <a:t> 팝업으로 변경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603063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31688"/>
            <a:ext cx="174143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답변조회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42891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조달계획 식별을 위한 조달번호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의견 식별을 위한 의견번호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답변번호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upQnaNo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답변 식별을 위한 답변번호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5352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900951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답변조회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4290" y="211323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entlno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qnaCn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93BF57-30C4-D2B9-87E2-11DC15807358}"/>
              </a:ext>
            </a:extLst>
          </p:cNvPr>
          <p:cNvSpPr txBox="1"/>
          <p:nvPr/>
        </p:nvSpPr>
        <p:spPr>
          <a:xfrm>
            <a:off x="458117" y="4139042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66B705-20E7-7761-8102-6609B0A1F34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3000" y="4422783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닫기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5986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46F6DC8-5FEA-2EED-D6F1-EFE0AE591EDD}"/>
              </a:ext>
            </a:extLst>
          </p:cNvPr>
          <p:cNvSpPr txBox="1"/>
          <p:nvPr/>
        </p:nvSpPr>
        <p:spPr>
          <a:xfrm>
            <a:off x="452999" y="3354531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CBB55A0-0B20-1CB9-6A0A-6A0B310C71A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35668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33EC2C2-E12D-8494-7B92-58FB79E017E1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endParaRPr lang="ko-KR" altLang="en-US" sz="1000" b="1" dirty="0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D86AA471-07B0-6913-3EF3-4AB656B3A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685434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등록</a:t>
            </a:r>
            <a:r>
              <a:rPr lang="en-US" altLang="ko-KR" dirty="0"/>
              <a:t>, </a:t>
            </a:r>
            <a:r>
              <a:rPr lang="ko-KR" altLang="en-US" dirty="0"/>
              <a:t>수정 진입에 따라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제목</a:t>
            </a:r>
            <a:r>
              <a:rPr lang="en-US" altLang="ko-KR" dirty="0"/>
              <a:t>, </a:t>
            </a:r>
            <a:r>
              <a:rPr lang="ko-KR" altLang="en-US" dirty="0"/>
              <a:t>내용 필수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첨부파일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작성자 정보 </a:t>
            </a:r>
            <a:r>
              <a:rPr lang="ko-KR" altLang="en-US" dirty="0" smtClean="0"/>
              <a:t>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sym typeface="Wingdings" panose="05000000000000000000" pitchFamily="2" charset="2"/>
              </a:rPr>
              <a:t>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등록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등록</a:t>
            </a:r>
            <a:r>
              <a:rPr lang="en-US" altLang="ko-KR" dirty="0"/>
              <a:t>/</a:t>
            </a:r>
            <a:r>
              <a:rPr lang="ko-KR" altLang="en-US" dirty="0"/>
              <a:t>수정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등록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수정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MUI-OP-01-P07</a:t>
            </a:r>
            <a:endParaRPr lang="ko-KR" altLang="en-US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87" name="그룹 86"/>
          <p:cNvGrpSpPr/>
          <p:nvPr/>
        </p:nvGrpSpPr>
        <p:grpSpPr>
          <a:xfrm>
            <a:off x="3790563" y="2349314"/>
            <a:ext cx="2717198" cy="3078289"/>
            <a:chOff x="675399" y="1846937"/>
            <a:chExt cx="2717198" cy="3078289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901536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9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32535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업체명</a:t>
              </a:r>
              <a:endParaRPr lang="ko-KR" altLang="en-US" sz="900" b="1" dirty="0"/>
            </a:p>
          </p:txBody>
        </p:sp>
        <p:sp>
          <p:nvSpPr>
            <p:cNvPr id="95" name="모서리가 둥근 직사각형 94"/>
            <p:cNvSpPr/>
            <p:nvPr/>
          </p:nvSpPr>
          <p:spPr>
            <a:xfrm>
              <a:off x="720490" y="248806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/>
                <a:t>㈜길동주식회사</a:t>
              </a: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9252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82795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사업자번호</a:t>
              </a:r>
              <a:endParaRPr lang="ko-KR" altLang="en-US" sz="900" b="1" dirty="0"/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720490" y="299066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123-45-67890</a:t>
              </a:r>
              <a:endParaRPr lang="ko-KR" altLang="en-US" sz="800" dirty="0"/>
            </a:p>
          </p:txBody>
        </p:sp>
        <p:sp>
          <p:nvSpPr>
            <p:cNvPr id="9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33173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성명</a:t>
              </a:r>
              <a:endParaRPr lang="ko-KR" altLang="en-US" sz="900" b="1" dirty="0"/>
            </a:p>
          </p:txBody>
        </p:sp>
        <p:sp>
          <p:nvSpPr>
            <p:cNvPr id="100" name="모서리가 둥근 직사각형 99"/>
            <p:cNvSpPr/>
            <p:nvPr/>
          </p:nvSpPr>
          <p:spPr>
            <a:xfrm>
              <a:off x="720490" y="349444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sp>
          <p:nvSpPr>
            <p:cNvPr id="10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82942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106" name="모서리가 둥근 직사각형 105"/>
            <p:cNvSpPr/>
            <p:nvPr/>
          </p:nvSpPr>
          <p:spPr>
            <a:xfrm>
              <a:off x="720490" y="399213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sp>
          <p:nvSpPr>
            <p:cNvPr id="10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4330977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이메일</a:t>
              </a:r>
              <a:endParaRPr lang="ko-KR" altLang="en-US" sz="900" b="1" dirty="0"/>
            </a:p>
          </p:txBody>
        </p:sp>
        <p:sp>
          <p:nvSpPr>
            <p:cNvPr id="108" name="모서리가 둥근 직사각형 107"/>
            <p:cNvSpPr/>
            <p:nvPr/>
          </p:nvSpPr>
          <p:spPr>
            <a:xfrm>
              <a:off x="720490" y="4493685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abcde@naver.com</a:t>
              </a:r>
              <a:endParaRPr lang="ko-KR" altLang="en-US" sz="800" dirty="0"/>
            </a:p>
          </p:txBody>
        </p:sp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0" name="그룹 109"/>
            <p:cNvGrpSpPr/>
            <p:nvPr/>
          </p:nvGrpSpPr>
          <p:grpSpPr>
            <a:xfrm flipV="1">
              <a:off x="3124233" y="1987998"/>
              <a:ext cx="94010" cy="47005"/>
              <a:chOff x="6812560" y="3297172"/>
              <a:chExt cx="94010" cy="47005"/>
            </a:xfrm>
          </p:grpSpPr>
          <p:cxnSp>
            <p:nvCxnSpPr>
              <p:cNvPr id="112" name="직선 연결선 11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18317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408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6" name="그룹 115"/>
          <p:cNvGrpSpPr/>
          <p:nvPr/>
        </p:nvGrpSpPr>
        <p:grpSpPr>
          <a:xfrm flipV="1">
            <a:off x="3124233" y="1977870"/>
            <a:ext cx="94010" cy="47005"/>
            <a:chOff x="6812560" y="3297172"/>
            <a:chExt cx="94010" cy="47005"/>
          </a:xfrm>
        </p:grpSpPr>
        <p:cxnSp>
          <p:nvCxnSpPr>
            <p:cNvPr id="126" name="직선 연결선 12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직선 연결선 12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3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2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03034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 </a:t>
            </a:r>
            <a:r>
              <a:rPr lang="en-US" altLang="ko-KR" sz="700" dirty="0">
                <a:solidFill>
                  <a:srgbClr val="FF0000"/>
                </a:solidFill>
              </a:rPr>
              <a:t>*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33" name="모서리가 둥근 직사각형 132"/>
          <p:cNvSpPr/>
          <p:nvPr/>
        </p:nvSpPr>
        <p:spPr>
          <a:xfrm>
            <a:off x="720467" y="2465742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34" name="그룹 133"/>
          <p:cNvGrpSpPr/>
          <p:nvPr/>
        </p:nvGrpSpPr>
        <p:grpSpPr>
          <a:xfrm>
            <a:off x="684326" y="4960279"/>
            <a:ext cx="2712027" cy="347855"/>
            <a:chOff x="3831550" y="3745666"/>
            <a:chExt cx="2712027" cy="347855"/>
          </a:xfrm>
        </p:grpSpPr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56" name="그룹 155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58" name="직선 연결선 15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73" name="그룹 172"/>
          <p:cNvGrpSpPr/>
          <p:nvPr/>
        </p:nvGrpSpPr>
        <p:grpSpPr>
          <a:xfrm>
            <a:off x="717367" y="2842211"/>
            <a:ext cx="2610778" cy="2013555"/>
            <a:chOff x="717367" y="2842211"/>
            <a:chExt cx="2610778" cy="2013555"/>
          </a:xfrm>
        </p:grpSpPr>
        <p:sp>
          <p:nvSpPr>
            <p:cNvPr id="1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2842211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내용 </a:t>
              </a:r>
              <a:r>
                <a:rPr lang="en-US" altLang="ko-KR" sz="700" dirty="0">
                  <a:solidFill>
                    <a:srgbClr val="FF0000"/>
                  </a:solidFill>
                </a:rPr>
                <a:t>*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175" name="모서리가 둥근 직사각형 174"/>
            <p:cNvSpPr/>
            <p:nvPr/>
          </p:nvSpPr>
          <p:spPr>
            <a:xfrm>
              <a:off x="717367" y="3004919"/>
              <a:ext cx="2610778" cy="1572062"/>
            </a:xfrm>
            <a:prstGeom prst="roundRect">
              <a:avLst>
                <a:gd name="adj" fmla="val 4310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t"/>
            <a:lstStyle/>
            <a:p>
              <a:r>
                <a:rPr lang="ko-KR" altLang="en-US" sz="800" dirty="0" err="1"/>
                <a:t>업체의견이</a:t>
              </a:r>
              <a:r>
                <a:rPr lang="ko-KR" altLang="en-US" sz="800" dirty="0"/>
                <a:t>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176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472734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공개여부 </a:t>
              </a:r>
              <a:r>
                <a:rPr lang="en-US" altLang="ko-KR" sz="700" dirty="0">
                  <a:solidFill>
                    <a:srgbClr val="FF0000"/>
                  </a:solidFill>
                </a:rPr>
                <a:t>*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77" name="그룹 176"/>
            <p:cNvGrpSpPr/>
            <p:nvPr/>
          </p:nvGrpSpPr>
          <p:grpSpPr>
            <a:xfrm>
              <a:off x="2608145" y="4706642"/>
              <a:ext cx="720000" cy="149124"/>
              <a:chOff x="4507439" y="3468375"/>
              <a:chExt cx="720000" cy="149124"/>
            </a:xfrm>
          </p:grpSpPr>
          <p:sp>
            <p:nvSpPr>
              <p:cNvPr id="179" name="모서리가 둥근 직사각형 178"/>
              <p:cNvSpPr/>
              <p:nvPr/>
            </p:nvSpPr>
            <p:spPr>
              <a:xfrm>
                <a:off x="4507439" y="3468375"/>
                <a:ext cx="720000" cy="14912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80" name="모서리가 둥근 직사각형 179"/>
              <p:cNvSpPr/>
              <p:nvPr/>
            </p:nvSpPr>
            <p:spPr>
              <a:xfrm>
                <a:off x="4507439" y="3468375"/>
                <a:ext cx="378000" cy="149124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kern="0">
                  <a:solidFill>
                    <a:prstClr val="white"/>
                  </a:solidFill>
                  <a:latin typeface="맑은 고딕"/>
                </a:endParaRP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579706" y="3494915"/>
                <a:ext cx="23346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공개</a:t>
                </a: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909257" y="3494915"/>
                <a:ext cx="280559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비공개</a:t>
                </a:r>
              </a:p>
            </p:txBody>
          </p:sp>
        </p:grp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890875" y="4411397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맑은 고딕" panose="020B0503020000020004" pitchFamily="50" charset="-127"/>
                </a:rPr>
                <a:t>0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/ 2000</a:t>
              </a:r>
            </a:p>
          </p:txBody>
        </p:sp>
      </p:grpSp>
      <p:sp>
        <p:nvSpPr>
          <p:cNvPr id="183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04972" y="5384101"/>
            <a:ext cx="2652743" cy="207774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파일추가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grpSp>
        <p:nvGrpSpPr>
          <p:cNvPr id="185" name="그룹 184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저장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8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 smtClean="0">
                  <a:latin typeface="맑은 고딕"/>
                  <a:ea typeface="맑은 고딕" panose="020B0503020000020004" pitchFamily="50" charset="-127"/>
                </a:rPr>
                <a:t>취소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8438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7171" y="2447516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3073" y="58211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705041" y="5712463"/>
            <a:ext cx="2652743" cy="499604"/>
            <a:chOff x="713968" y="6113949"/>
            <a:chExt cx="2652743" cy="499604"/>
          </a:xfrm>
        </p:grpSpPr>
        <p:sp>
          <p:nvSpPr>
            <p:cNvPr id="194" name="모서리가 둥근 직사각형 193"/>
            <p:cNvSpPr/>
            <p:nvPr/>
          </p:nvSpPr>
          <p:spPr>
            <a:xfrm>
              <a:off x="713968" y="6249067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4636" y="6377449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2164" y="6377449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4636" y="6113949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36458" y="6113949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삭제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0732" y="6113949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956879" y="6343762"/>
              <a:ext cx="284126" cy="154884"/>
            </a:xfrm>
            <a:prstGeom prst="round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latin typeface="맑은 고딕"/>
                  <a:ea typeface="맑은 고딕" panose="020B0503020000020004" pitchFamily="50" charset="-127"/>
                </a:rPr>
                <a:t>삭제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207" name="그룹 206"/>
          <p:cNvGrpSpPr/>
          <p:nvPr/>
        </p:nvGrpSpPr>
        <p:grpSpPr>
          <a:xfrm>
            <a:off x="3831550" y="1591273"/>
            <a:ext cx="2652743" cy="364486"/>
            <a:chOff x="3421101" y="64023"/>
            <a:chExt cx="2652743" cy="364486"/>
          </a:xfrm>
        </p:grpSpPr>
        <p:sp>
          <p:nvSpPr>
            <p:cNvPr id="208" name="모서리가 둥근 직사각형 207"/>
            <p:cNvSpPr/>
            <p:nvPr/>
          </p:nvSpPr>
          <p:spPr>
            <a:xfrm>
              <a:off x="3421101" y="64023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1769" y="192405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499297" y="192405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21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5637130" y="168824"/>
              <a:ext cx="284126" cy="154884"/>
            </a:xfrm>
            <a:prstGeom prst="round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latin typeface="맑은 고딕"/>
                  <a:ea typeface="맑은 고딕" panose="020B0503020000020004" pitchFamily="50" charset="-127"/>
                </a:rPr>
                <a:t>삭제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15" name="타원 2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05929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88" name="그룹 8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89" name="직선 연결선 8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직선 연결선 8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등록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>
                <a:latin typeface="+mn-ea"/>
              </a:rPr>
              <a:t>수정</a:t>
            </a:r>
          </a:p>
        </p:txBody>
      </p:sp>
      <p:grpSp>
        <p:nvGrpSpPr>
          <p:cNvPr id="82" name="그룹 81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83" name="직사각형 8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2026-05-27 </a:t>
              </a:r>
              <a:r>
                <a:rPr lang="ko-KR" altLang="en-US" dirty="0" smtClean="0"/>
                <a:t>화면 수정</a:t>
              </a:r>
              <a:endParaRPr lang="ko-KR" altLang="en-US" dirty="0"/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아이디 변경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풀페이지</a:t>
              </a:r>
              <a:r>
                <a:rPr lang="ko-KR" altLang="en-US" sz="700" dirty="0" smtClean="0"/>
                <a:t> 팝업으로 변경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파일 업로드에서 파일 다운로드 기능 제거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5015516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19722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의견내역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사용자의 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brno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사용자의 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55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사용자의 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366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entlno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407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emlAddr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이메일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211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218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regYn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Y: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공개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N: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비공개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842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9916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93BF57-30C4-D2B9-87E2-11DC15807358}"/>
              </a:ext>
            </a:extLst>
          </p:cNvPr>
          <p:cNvSpPr txBox="1"/>
          <p:nvPr/>
        </p:nvSpPr>
        <p:spPr>
          <a:xfrm>
            <a:off x="458117" y="3632942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66B705-20E7-7761-8102-6609B0A1F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259659"/>
              </p:ext>
            </p:extLst>
          </p:nvPr>
        </p:nvGraphicFramePr>
        <p:xfrm>
          <a:off x="453000" y="3878583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업체명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사업자번호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성명이 로그인 사용자의 정보로 공개여부는 </a:t>
                      </a:r>
                      <a:r>
                        <a:rPr lang="en-US" altLang="ko-KR" sz="800" dirty="0"/>
                        <a:t>‘</a:t>
                      </a:r>
                      <a:r>
                        <a:rPr lang="ko-KR" altLang="en-US" sz="800" dirty="0"/>
                        <a:t>공개</a:t>
                      </a:r>
                      <a:r>
                        <a:rPr lang="en-US" altLang="ko-KR" sz="800" dirty="0"/>
                        <a:t>’</a:t>
                      </a:r>
                      <a:r>
                        <a:rPr lang="ko-KR" altLang="en-US" sz="800" dirty="0"/>
                        <a:t>로 디폴트 세팅한다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저장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scwin.btn_save_onclick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필수입력 값을 체크하고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입력한 값이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DB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에 저장된다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취소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입력된 정보가 저장되지 않고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업체의견등록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5986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8EA7005-D8B1-8380-2FE3-D385D906687C}"/>
              </a:ext>
            </a:extLst>
          </p:cNvPr>
          <p:cNvSpPr txBox="1"/>
          <p:nvPr/>
        </p:nvSpPr>
        <p:spPr>
          <a:xfrm>
            <a:off x="452999" y="2838093"/>
            <a:ext cx="196424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2BA1D5C-3E53-4F03-7DBF-D7F41AFB17F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3050378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635AA1F-881E-3993-C54A-FCB9D374B6B2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endParaRPr lang="ko-KR" altLang="en-US" sz="1000" b="1" dirty="0"/>
          </a:p>
        </p:txBody>
      </p:sp>
      <p:sp>
        <p:nvSpPr>
          <p:cNvPr id="18" name="Text Box 73">
            <a:extLst>
              <a:ext uri="{FF2B5EF4-FFF2-40B4-BE49-F238E27FC236}">
                <a16:creationId xmlns:a16="http://schemas.microsoft.com/office/drawing/2014/main" id="{410120E1-8E07-BB54-AE26-D7EE609BB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687576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계약특수조건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계약특수조건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/>
              <a:t>계약특수조건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계약특수조건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>
                <a:solidFill>
                  <a:srgbClr val="0070C0"/>
                </a:solidFill>
                <a:latin typeface="+mn-ea"/>
              </a:rPr>
              <a:t>다음에 </a:t>
            </a:r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계속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44009"/>
            <a:ext cx="103509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계약특수조건</a:t>
            </a:r>
          </a:p>
        </p:txBody>
      </p:sp>
      <p:grpSp>
        <p:nvGrpSpPr>
          <p:cNvPr id="105" name="그룹 104"/>
          <p:cNvGrpSpPr/>
          <p:nvPr/>
        </p:nvGrpSpPr>
        <p:grpSpPr>
          <a:xfrm flipV="1">
            <a:off x="3124233" y="1657340"/>
            <a:ext cx="94010" cy="47005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0621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0331" y="1835482"/>
            <a:ext cx="2532688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3.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6.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1498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1306134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집행계획 첨부파일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첨부파일명</a:t>
            </a:r>
            <a:r>
              <a:rPr lang="ko-KR" altLang="en-US" dirty="0" smtClean="0"/>
              <a:t> 클릭 시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뷰어로 문서 열기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다운로드 버튼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즉시 다운로드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조달판단</a:t>
            </a:r>
            <a:r>
              <a:rPr lang="ko-KR" altLang="en-US" dirty="0" smtClean="0"/>
              <a:t> </a:t>
            </a:r>
            <a:r>
              <a:rPr lang="ko-KR" altLang="en-US" dirty="0"/>
              <a:t>첨부파일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/>
              <a:t>첨부파일명</a:t>
            </a:r>
            <a:r>
              <a:rPr lang="ko-KR" altLang="en-US" dirty="0"/>
              <a:t> 클릭 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뷰어로 문서 열기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첨부서류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첨부서류</a:t>
            </a:r>
            <a:r>
              <a:rPr lang="ko-KR" altLang="en-US" dirty="0"/>
              <a:t>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첨부서류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MUI-OP-01-M09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>
                <a:solidFill>
                  <a:srgbClr val="0070C0"/>
                </a:solidFill>
                <a:latin typeface="+mn-ea"/>
              </a:rPr>
              <a:t>다음에 </a:t>
            </a:r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계속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44009"/>
            <a:ext cx="103509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첨부서류</a:t>
            </a:r>
          </a:p>
        </p:txBody>
      </p:sp>
      <p:grpSp>
        <p:nvGrpSpPr>
          <p:cNvPr id="105" name="그룹 104"/>
          <p:cNvGrpSpPr/>
          <p:nvPr/>
        </p:nvGrpSpPr>
        <p:grpSpPr>
          <a:xfrm flipV="1">
            <a:off x="3124233" y="1657340"/>
            <a:ext cx="94010" cy="47005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149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551" y="1867758"/>
            <a:ext cx="12980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집행계획 첨부파일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18021" y="226614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39452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1.PDF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239452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23" name="타원 22"/>
          <p:cNvSpPr/>
          <p:nvPr/>
        </p:nvSpPr>
        <p:spPr>
          <a:xfrm>
            <a:off x="3078140" y="237638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8021" y="2672830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801212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2.hwp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2801212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27" name="타원 26"/>
          <p:cNvSpPr/>
          <p:nvPr/>
        </p:nvSpPr>
        <p:spPr>
          <a:xfrm>
            <a:off x="3078140" y="278307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131026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87656" y="2131026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4785" y="2131026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49090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551" y="3543672"/>
            <a:ext cx="12980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조달판단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첨부파일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718021" y="394205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407044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3.hwp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407044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39" name="타원 38"/>
          <p:cNvSpPr/>
          <p:nvPr/>
        </p:nvSpPr>
        <p:spPr>
          <a:xfrm>
            <a:off x="3078140" y="405230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모서리가 둥근 직사각형 39"/>
          <p:cNvSpPr/>
          <p:nvPr/>
        </p:nvSpPr>
        <p:spPr>
          <a:xfrm>
            <a:off x="718021" y="434874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447712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4.pdf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447712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43" name="타원 42"/>
          <p:cNvSpPr/>
          <p:nvPr/>
        </p:nvSpPr>
        <p:spPr>
          <a:xfrm>
            <a:off x="3078140" y="445898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3806940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87656" y="3806940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4785" y="3806940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57586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6677232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양쪽 모서리가 둥근 사각형 269"/>
          <p:cNvSpPr/>
          <p:nvPr/>
        </p:nvSpPr>
        <p:spPr>
          <a:xfrm>
            <a:off x="3789896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72" name="모서리가 둥근 직사각형 271"/>
          <p:cNvSpPr/>
          <p:nvPr/>
        </p:nvSpPr>
        <p:spPr>
          <a:xfrm>
            <a:off x="4875909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73" name="그룹 272"/>
          <p:cNvGrpSpPr/>
          <p:nvPr/>
        </p:nvGrpSpPr>
        <p:grpSpPr>
          <a:xfrm>
            <a:off x="6278835" y="1773925"/>
            <a:ext cx="94010" cy="94010"/>
            <a:chOff x="6812560" y="3297172"/>
            <a:chExt cx="94010" cy="94010"/>
          </a:xfrm>
        </p:grpSpPr>
        <p:cxnSp>
          <p:nvCxnSpPr>
            <p:cNvPr id="274" name="직선 연결선 273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6" name="TextBox 2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8973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연관조달계획상세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입찰공고 </a:t>
            </a:r>
            <a:r>
              <a:rPr lang="ko-KR" altLang="en-US" dirty="0" err="1"/>
              <a:t>알림신청</a:t>
            </a:r>
            <a:r>
              <a:rPr lang="ko-KR" altLang="en-US" dirty="0"/>
              <a:t> 팝업 화면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수신자 </a:t>
            </a:r>
            <a:r>
              <a:rPr lang="ko-KR" altLang="en-US" dirty="0" smtClean="0"/>
              <a:t>휴대폰 번호 </a:t>
            </a:r>
            <a:r>
              <a:rPr lang="ko-KR" altLang="en-US" dirty="0"/>
              <a:t>입력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수신동의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</a:t>
            </a:r>
            <a:r>
              <a:rPr lang="en-US" altLang="ko-KR" dirty="0"/>
              <a:t>: </a:t>
            </a:r>
            <a:r>
              <a:rPr lang="ko-KR" altLang="en-US" dirty="0" err="1"/>
              <a:t>동의안함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연관조달계획상세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조달계획 외 업무 상세화면에서 연관 된 조달계획 정보를 조회한다</a:t>
            </a:r>
            <a:r>
              <a:rPr lang="en-US" altLang="ko-KR" dirty="0"/>
              <a:t>.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연관조달계획상세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MUI-OP-01-P12</a:t>
            </a:r>
            <a:endParaRPr lang="ko-KR" altLang="en-US" dirty="0"/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양쪽 모서리가 둥근 사각형 198"/>
          <p:cNvSpPr/>
          <p:nvPr/>
        </p:nvSpPr>
        <p:spPr>
          <a:xfrm>
            <a:off x="675399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1761412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19" name="그룹 218"/>
          <p:cNvGrpSpPr/>
          <p:nvPr/>
        </p:nvGrpSpPr>
        <p:grpSpPr>
          <a:xfrm>
            <a:off x="3164338" y="1773925"/>
            <a:ext cx="94010" cy="94010"/>
            <a:chOff x="6812560" y="3297172"/>
            <a:chExt cx="94010" cy="94010"/>
          </a:xfrm>
        </p:grpSpPr>
        <p:cxnSp>
          <p:nvCxnSpPr>
            <p:cNvPr id="220" name="직선 연결선 219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연관조달계획상세</a:t>
            </a:r>
          </a:p>
        </p:txBody>
      </p: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0160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모서리가 둥근 직사각형 227"/>
          <p:cNvSpPr/>
          <p:nvPr/>
        </p:nvSpPr>
        <p:spPr>
          <a:xfrm rot="5400000">
            <a:off x="2662242" y="274737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30" name="그룹 229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noProof="0" dirty="0" smtClean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49" name="타원 2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1870" y="175360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815" y="208332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23929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9" name="그룹 58"/>
          <p:cNvGrpSpPr/>
          <p:nvPr/>
        </p:nvGrpSpPr>
        <p:grpSpPr>
          <a:xfrm>
            <a:off x="701175" y="2164074"/>
            <a:ext cx="2642526" cy="2246477"/>
            <a:chOff x="701175" y="1527996"/>
            <a:chExt cx="2642526" cy="224647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집행계획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703268" y="1835481"/>
              <a:ext cx="792000" cy="1932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835481"/>
              <a:ext cx="725552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총공사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예산금액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당해년도예산금액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835481"/>
              <a:ext cx="1796521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2026-00590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</a:t>
              </a:r>
              <a:r>
                <a:rPr lang="en-US" altLang="ko-KR" sz="700" dirty="0">
                  <a:latin typeface="+mn-ea"/>
                </a:rPr>
                <a:t>9911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-26</a:t>
              </a:r>
              <a:r>
                <a:rPr lang="ko-KR" altLang="en-US" sz="700" dirty="0">
                  <a:latin typeface="+mn-ea"/>
                </a:rPr>
                <a:t>년 </a:t>
              </a:r>
              <a:r>
                <a:rPr lang="en-US" altLang="ko-KR" sz="700" dirty="0">
                  <a:latin typeface="+mn-ea"/>
                </a:rPr>
                <a:t>K5</a:t>
              </a:r>
              <a:r>
                <a:rPr lang="ko-KR" altLang="en-US" sz="700" dirty="0">
                  <a:latin typeface="+mn-ea"/>
                </a:rPr>
                <a:t>방독면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grpSp>
          <p:nvGrpSpPr>
            <p:cNvPr id="65" name="그룹 64"/>
            <p:cNvGrpSpPr/>
            <p:nvPr/>
          </p:nvGrpSpPr>
          <p:grpSpPr>
            <a:xfrm>
              <a:off x="701175" y="1835481"/>
              <a:ext cx="2630093" cy="1932660"/>
              <a:chOff x="701175" y="1835481"/>
              <a:chExt cx="2630093" cy="1932660"/>
            </a:xfrm>
          </p:grpSpPr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0" name="직선 연결선 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1" name="직선 연결선 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78" name="그룹 77"/>
          <p:cNvGrpSpPr/>
          <p:nvPr/>
        </p:nvGrpSpPr>
        <p:grpSpPr>
          <a:xfrm>
            <a:off x="3830484" y="2164074"/>
            <a:ext cx="2642526" cy="3323695"/>
            <a:chOff x="3830484" y="1527996"/>
            <a:chExt cx="2642526" cy="3323695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455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판단내역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3832577" y="1835481"/>
              <a:ext cx="792000" cy="30148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9640" y="1835481"/>
              <a:ext cx="725552" cy="3016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입찰방법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사전심사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낙찰자결정방법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적격심사 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입찰예정일자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공동도급이행방식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입찰형태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공사개요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규모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수의계약사유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지명경쟁사유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낙찰자기준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76489" y="1835481"/>
              <a:ext cx="1796521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일반경쟁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총액제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2026-08-01 ~ 2027-09-30</a:t>
              </a:r>
            </a:p>
            <a:p>
              <a:pPr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비대상</a:t>
              </a:r>
              <a:endParaRPr kumimoji="1" lang="en-US" altLang="ko-KR" sz="700" spc="-60" dirty="0">
                <a:solidFill>
                  <a:srgbClr val="000000">
                    <a:lumMod val="65000"/>
                    <a:lumOff val="35000"/>
                  </a:srgbClr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적격심사제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대상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2026-03-05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전자입찰</a:t>
              </a:r>
              <a:endParaRPr lang="en-US" altLang="ko-KR" sz="700" dirty="0">
                <a:latin typeface="+mn-ea"/>
              </a:endParaRPr>
            </a:p>
            <a:p>
              <a:pPr lvl="0">
                <a:lnSpc>
                  <a:spcPct val="200000"/>
                </a:lnSpc>
              </a:pP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25-19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차 병영기본시설 </a:t>
              </a:r>
              <a:r>
                <a:rPr kumimoji="1" lang="ko-KR" altLang="en-US" sz="700" spc="-6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연차별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 </a:t>
              </a:r>
              <a:r>
                <a:rPr kumimoji="1" lang="ko-KR" altLang="en-US" sz="700" spc="-6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예산조정</a:t>
              </a:r>
              <a:endParaRPr kumimoji="1" lang="en-US" altLang="ko-KR" sz="700" spc="-60" dirty="0">
                <a:solidFill>
                  <a:srgbClr val="000000">
                    <a:lumMod val="65000"/>
                    <a:lumOff val="35000"/>
                  </a:srgbClr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4797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6944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90918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312392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3386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5534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7681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99726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1915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439945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6141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84350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3128534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41213"/>
            <a:ext cx="201233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조달계획상세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524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조달계획 식별을 위한 조달번호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520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721974"/>
            <a:ext cx="236980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조달계획상세</a:t>
            </a:r>
            <a:r>
              <a:rPr lang="en-US" altLang="ko-KR" sz="900" b="1" dirty="0">
                <a:solidFill>
                  <a:prstClr val="black"/>
                </a:solidFill>
              </a:rPr>
              <a:t> Tab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4290" y="1934259"/>
          <a:ext cx="8994883" cy="1529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prcmPlanTab01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상세내용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품목명세서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prcmPlanTab02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품목명세서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업무영역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용역 일 경우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Tab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prcmPlanTab03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업무영역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용역 이고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중앙조달 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prcmPlanTab04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업무영역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용역 이고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중앙조달 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prcmPlanTab05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업무영역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용역 이고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중앙조달 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87D2EA7-FA76-1242-ED18-8094C5CB24E1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(1/6)</a:t>
            </a:r>
            <a:endParaRPr lang="ko-KR" altLang="en-US" sz="1000" b="1" dirty="0"/>
          </a:p>
        </p:txBody>
      </p:sp>
      <p:sp>
        <p:nvSpPr>
          <p:cNvPr id="10" name="Text Box 73">
            <a:extLst>
              <a:ext uri="{FF2B5EF4-FFF2-40B4-BE49-F238E27FC236}">
                <a16:creationId xmlns:a16="http://schemas.microsoft.com/office/drawing/2014/main" id="{32708897-3D4D-D0B9-A485-B33C34D0F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268214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845132"/>
            <a:ext cx="254132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물품</a:t>
            </a:r>
            <a:r>
              <a:rPr lang="en-US" altLang="ko-KR" sz="900" b="1" dirty="0">
                <a:solidFill>
                  <a:prstClr val="black"/>
                </a:solidFill>
              </a:rPr>
              <a:t>/</a:t>
            </a:r>
            <a:r>
              <a:rPr lang="ko-KR" altLang="en-US" sz="900" b="1" dirty="0">
                <a:solidFill>
                  <a:prstClr val="black"/>
                </a:solidFill>
              </a:rPr>
              <a:t>용역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4290" y="1057417"/>
          <a:ext cx="8994883" cy="37344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drctnYr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ctrtPrnmntYm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계약예정월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집행유형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bizTpcd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집행유형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903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totQty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95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대표품명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rprsItemNm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대표품명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537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118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bscbgtDrctnAmt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govbndDrctnAmt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6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7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ltrmBscbgtAmt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18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ltrmCashAmt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현금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2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sumAmt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0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총부기금액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sumAmt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총부기금액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nycfmAmt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BA5A517-4417-A886-1EA5-ED609C2C8EFE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(2/6)</a:t>
            </a:r>
            <a:endParaRPr lang="ko-KR" altLang="en-US" sz="1000" b="1" dirty="0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39688B5F-FD10-CEF8-CFEA-568924ED4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051201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BD63C0-AC03-EB83-C1E2-9D57F70E192C}"/>
              </a:ext>
            </a:extLst>
          </p:cNvPr>
          <p:cNvSpPr txBox="1"/>
          <p:nvPr/>
        </p:nvSpPr>
        <p:spPr>
          <a:xfrm>
            <a:off x="452999" y="848658"/>
            <a:ext cx="251247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판단정보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물품</a:t>
            </a:r>
            <a:r>
              <a:rPr lang="en-US" altLang="ko-KR" sz="900" b="1" dirty="0">
                <a:solidFill>
                  <a:prstClr val="black"/>
                </a:solidFill>
              </a:rPr>
              <a:t>/</a:t>
            </a:r>
            <a:r>
              <a:rPr lang="ko-KR" altLang="en-US" sz="900" b="1" dirty="0">
                <a:solidFill>
                  <a:prstClr val="black"/>
                </a:solidFill>
              </a:rPr>
              <a:t>용역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B1F1932-DBD1-4911-F4FE-E778F5BF43B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60943"/>
          <a:ext cx="8994883" cy="3928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CTMC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85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단가제유형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bidTpcd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단가제유형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BTUP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071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ctrtTpcd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CTKC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955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낙찰자결정방법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scsbdMthdCd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낙찰자결정방법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CCMT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50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적격심사 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elgbSrngYn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적격심사 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비대상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65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입찰예정일자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bidPrnmntYmd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입찰예정일자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353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품목코드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434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입찰형태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입찰형태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BMDC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26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군수품 선택 계약여부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wsccYn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군수품 선택 계약여부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558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군수품 선택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계약체결업체수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wsccCnclsBzentyCnt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군수품 선택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계약체결업체수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646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생산능력 기준서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pccsNo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생산능력 기준서 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국내한도액 계약여부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lmtamtCtrtYn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국내한도액 계약여부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79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생산능력확인 소요기간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prdcpIdntyDayCnt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생산능력확인 소요기간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010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pvctRncd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수의계약사유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73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cncmRncd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지명경쟁사유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187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산업분류번호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1,2….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itemCdNm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산업분류번호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1,2….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958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종합판단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prcmJdgmtCn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종합판단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042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F902108-3590-6ECB-C901-60D956D731D8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(3/6)</a:t>
            </a:r>
            <a:endParaRPr lang="ko-KR" altLang="en-US" sz="1000" b="1" dirty="0"/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7E3594D6-2C11-183F-7566-C46C6511D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140698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829343"/>
            <a:ext cx="225919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공사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618E693-C8E6-B945-230E-F1196BB3262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4290" y="1050337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drctnYr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cstrnSecd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공사구분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CBDV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819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총공사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총공사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예산금액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93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당해년도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tcstrnBgtAmt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당해년도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예산금액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082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1514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F3B21E-8F93-D0CA-9FF6-0980C181D5F7}"/>
              </a:ext>
            </a:extLst>
          </p:cNvPr>
          <p:cNvSpPr txBox="1"/>
          <p:nvPr/>
        </p:nvSpPr>
        <p:spPr>
          <a:xfrm>
            <a:off x="452999" y="2868044"/>
            <a:ext cx="22303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</a:t>
            </a:r>
            <a:r>
              <a:rPr lang="ko-KR" altLang="en-US" sz="900" b="1" dirty="0">
                <a:solidFill>
                  <a:prstClr val="black"/>
                </a:solidFill>
              </a:rPr>
              <a:t>판단정보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공사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EBA82FD-0A95-B67B-A3E5-5BBC2B31AAB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3080329"/>
          <a:ext cx="8994883" cy="31526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CTMC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85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cstrnPrdCn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398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사전심사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bfhdSrngEnfrcYn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사전심사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098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낙찰자결정방법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scsbdMthdCd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낙찰자결정방법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CCMT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50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적격심사 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elgbSrngEnfrcYn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적격심사 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비대상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65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입찰예정일자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bidPrnmntYmd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입찰예정일자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353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공동도급 이행방식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jsdShcd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공동도급 이행방식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CMCT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563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입찰형태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bidMediaCd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입찰형태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BMDC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26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공사개요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cstrnOtln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공사개요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694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cstrnSclNm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규모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56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pvctRncd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수의계약사유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＇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PCRC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73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cncmRncd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지명경쟁사유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＇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NCRC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187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낙찰자기준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scbdrCrtrCd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낙찰자기준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SBDD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8176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FB415AD-5931-5FCC-426F-82B0ADDA8D0E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(4/6)</a:t>
            </a:r>
            <a:endParaRPr lang="ko-KR" altLang="en-US" sz="1000" b="1" dirty="0"/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0EF305F3-E3AB-D5D2-9CCE-71BB50D44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65971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2999" y="834955"/>
            <a:ext cx="199630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1.7.  </a:t>
            </a:r>
            <a:r>
              <a:rPr lang="ko-KR" altLang="en-US" sz="900" b="1" dirty="0">
                <a:solidFill>
                  <a:prstClr val="black"/>
                </a:solidFill>
              </a:rPr>
              <a:t>연관정보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47240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 사전규격 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비공개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91162C9-A064-C7F2-1BA1-EF42BC6ADFD7}"/>
              </a:ext>
            </a:extLst>
          </p:cNvPr>
          <p:cNvSpPr txBox="1"/>
          <p:nvPr/>
        </p:nvSpPr>
        <p:spPr>
          <a:xfrm>
            <a:off x="452999" y="1493779"/>
            <a:ext cx="18808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1.8.  </a:t>
            </a:r>
            <a:r>
              <a:rPr lang="ko-KR" altLang="en-US" sz="900" b="1" dirty="0">
                <a:solidFill>
                  <a:prstClr val="black"/>
                </a:solidFill>
              </a:rPr>
              <a:t>문의처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91BC4AC-DB76-7B25-98E5-CDDE2AE31B0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706064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telno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E04CDB-614D-496A-10F6-C7C2DC7DEEDE}"/>
              </a:ext>
            </a:extLst>
          </p:cNvPr>
          <p:cNvSpPr txBox="1"/>
          <p:nvPr/>
        </p:nvSpPr>
        <p:spPr>
          <a:xfrm>
            <a:off x="452999" y="2352429"/>
            <a:ext cx="232331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1.9. </a:t>
            </a:r>
            <a:r>
              <a:rPr lang="ko-KR" altLang="en-US" sz="900" b="1" dirty="0">
                <a:solidFill>
                  <a:prstClr val="black"/>
                </a:solidFill>
              </a:rPr>
              <a:t>물품명세서 목록 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EFD2BC0-54DE-7319-800C-6A808F38FAF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564714"/>
          <a:ext cx="8994883" cy="3684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 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물품명세서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clsfNo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464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spcfctRlsYn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규격공개여부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747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108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fscNtnItemNo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32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097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29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도면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flrplnPrtsNo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도면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34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품보형태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품보형태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113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spcfctKndCd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규격종류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ITC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971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aplcnEqpmntCdNm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CSC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061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KB/UZ03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79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676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plcdlv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568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dudtYmd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-mm-dd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61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963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87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totalUntprc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8278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AF2989C-D820-ACF8-2AD0-70C7299014C8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(5/6)</a:t>
            </a:r>
            <a:endParaRPr lang="ko-KR" altLang="en-US" sz="1000" b="1" dirty="0"/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7142690F-B071-AAFD-EF62-CA84D0A4C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360789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808815-8EE4-0FCA-9892-7A6DE8515D84}"/>
              </a:ext>
            </a:extLst>
          </p:cNvPr>
          <p:cNvSpPr txBox="1"/>
          <p:nvPr/>
        </p:nvSpPr>
        <p:spPr>
          <a:xfrm>
            <a:off x="452999" y="829065"/>
            <a:ext cx="184883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1.10. </a:t>
            </a:r>
            <a:r>
              <a:rPr lang="ko-KR" altLang="en-US" sz="900" b="1" dirty="0">
                <a:solidFill>
                  <a:prstClr val="black"/>
                </a:solidFill>
              </a:rPr>
              <a:t>업체의견 목록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36C8A5D-6982-191F-50C1-D48C5827A1D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41350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업체의견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regYn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Y: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공개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N: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비공개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745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777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596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85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입력일시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wrtDt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입력일시</a:t>
                      </a:r>
                      <a:r>
                        <a:rPr lang="ko-KR" altLang="en-US" sz="800" dirty="0" err="1">
                          <a:latin typeface="+mn-ea"/>
                        </a:rPr>
                        <a:t>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hh24:mi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07107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716654A-8BE7-EF1E-FE8A-E6270A78B259}"/>
              </a:ext>
            </a:extLst>
          </p:cNvPr>
          <p:cNvSpPr txBox="1"/>
          <p:nvPr/>
        </p:nvSpPr>
        <p:spPr>
          <a:xfrm>
            <a:off x="452999" y="2473796"/>
            <a:ext cx="223515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1.11. </a:t>
            </a:r>
            <a:r>
              <a:rPr lang="ko-KR" altLang="en-US" sz="900" b="1" dirty="0">
                <a:solidFill>
                  <a:prstClr val="black"/>
                </a:solidFill>
              </a:rPr>
              <a:t>계약특수조건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836160C-3887-8039-514B-886F4BE49EC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686081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spclCndCn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71E34E-AB5A-E4AA-F8CF-2EDBCFF0DEB1}"/>
              </a:ext>
            </a:extLst>
          </p:cNvPr>
          <p:cNvSpPr txBox="1"/>
          <p:nvPr/>
        </p:nvSpPr>
        <p:spPr>
          <a:xfrm>
            <a:off x="452999" y="3148927"/>
            <a:ext cx="24659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1.12.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 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95DC659-A524-0804-CE04-45AFD82631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3361212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planDocId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AF186FE-361F-CB10-F3F6-B3C0DA0D921B}"/>
              </a:ext>
            </a:extLst>
          </p:cNvPr>
          <p:cNvSpPr txBox="1"/>
          <p:nvPr/>
        </p:nvSpPr>
        <p:spPr>
          <a:xfrm>
            <a:off x="452999" y="3833583"/>
            <a:ext cx="24659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1.13. </a:t>
            </a:r>
            <a:r>
              <a:rPr lang="ko-KR" altLang="en-US" sz="900" b="1" dirty="0">
                <a:solidFill>
                  <a:prstClr val="black"/>
                </a:solidFill>
              </a:rPr>
              <a:t>조달판단 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6E0F7BD8-19B6-4CCF-2441-49654499FE5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4045868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jdgDocId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C6506A8-9BA1-9E77-054B-86C8C1919269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(6/6)</a:t>
            </a:r>
            <a:endParaRPr lang="ko-KR" altLang="en-US" sz="1000" b="1" dirty="0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1EAC61B7-09D5-64FC-19B1-BFD45119A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470415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E50986-444A-3C87-3626-6E69412E202F}"/>
              </a:ext>
            </a:extLst>
          </p:cNvPr>
          <p:cNvSpPr txBox="1"/>
          <p:nvPr/>
        </p:nvSpPr>
        <p:spPr>
          <a:xfrm>
            <a:off x="458117" y="581669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71EBCAA-7B98-9BE9-EE25-662CA3DE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467577"/>
              </p:ext>
            </p:extLst>
          </p:nvPr>
        </p:nvGraphicFramePr>
        <p:xfrm>
          <a:off x="453000" y="846360"/>
          <a:ext cx="8995591" cy="3036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알림신청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scwin.btn_notiAply_onclick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 일 경우 하단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입찰공고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알림신청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서비스 안내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정보가 표출된다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44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err="1"/>
                        <a:t>물가조가서</a:t>
                      </a:r>
                      <a:r>
                        <a:rPr lang="ko-KR" altLang="en-US" sz="800" dirty="0"/>
                        <a:t>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scwin.btn_pricsExmnPrint_onclick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물가조사서가 출력된다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(UI-OP-01-R09)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물가조사서출력물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624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연관정보 사전규격 링크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scwin.btn_anlBfhdSpcfct_onclick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 사전규격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189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신청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scwin.btn_aply_onclick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알림서비스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안내 수신동의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를 체크한 후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알림신청이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저장된다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출력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scwin.btn_itemDtstPrint_onclick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품목명세서가 출력된다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(UI-OP-01-R10)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품목명세서출력물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818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의견등록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scwin.btn_opnnReg_onclick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 일 경우 업체의견 등록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02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업체의견목록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그리드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scwin.grd_opnnDtl_onclick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931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닫기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732504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4CAD4002-DE63-FE39-E878-539FF0340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68" y="649812"/>
            <a:ext cx="136832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885024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3821510" y="2461573"/>
            <a:ext cx="2660475" cy="1746642"/>
            <a:chOff x="3799186" y="2742738"/>
            <a:chExt cx="2660475" cy="1746642"/>
          </a:xfrm>
        </p:grpSpPr>
        <p:sp>
          <p:nvSpPr>
            <p:cNvPr id="157" name="직사각형 156"/>
            <p:cNvSpPr/>
            <p:nvPr/>
          </p:nvSpPr>
          <p:spPr>
            <a:xfrm>
              <a:off x="3801279" y="2742738"/>
              <a:ext cx="792000" cy="17466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9186" y="274273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8343" y="2742738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예산액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시작일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종료일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 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5191" y="2742738"/>
              <a:ext cx="18144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99001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화력총괄계약팀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2026-03-10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2026-06-10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</p:txBody>
        </p: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297384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18755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40125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6149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8286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0423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25608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4893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발주기관 규격서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사전규격</a:t>
            </a:r>
            <a:r>
              <a:rPr lang="ko-KR" altLang="en-US" dirty="0"/>
              <a:t> </a:t>
            </a:r>
            <a:r>
              <a:rPr lang="ko-KR" altLang="en-US" dirty="0" err="1"/>
              <a:t>연관정보</a:t>
            </a:r>
            <a:r>
              <a:rPr lang="ko-KR" altLang="en-US" dirty="0"/>
              <a:t>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조달계획번호 영역 클릭 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MUI-OP-01-P12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연관조달계획 팝업 호출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/>
              <a:t>상세내용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MUI-OP-01-M11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사전규격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35331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158410"/>
            <a:ext cx="2473257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600" dirty="0" err="1"/>
              <a:t>판단번호</a:t>
            </a:r>
            <a:r>
              <a:rPr lang="ko-KR" altLang="en-US" sz="600" dirty="0"/>
              <a:t> </a:t>
            </a:r>
            <a:r>
              <a:rPr lang="en-US" altLang="ko-KR" sz="600" dirty="0"/>
              <a:t>99001</a:t>
            </a:r>
          </a:p>
          <a:p>
            <a:r>
              <a:rPr lang="ko-KR" altLang="en-US" sz="900" b="1" dirty="0" err="1"/>
              <a:t>공마대</a:t>
            </a:r>
            <a:r>
              <a:rPr lang="ko-KR" altLang="en-US" sz="900" b="1" dirty="0"/>
              <a:t> 등 </a:t>
            </a:r>
            <a:r>
              <a:rPr lang="en-US" altLang="ko-KR" sz="900" b="1" dirty="0"/>
              <a:t>41</a:t>
            </a:r>
            <a:r>
              <a:rPr lang="ko-KR" altLang="en-US" sz="900" b="1" dirty="0"/>
              <a:t>종 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493475"/>
            <a:ext cx="307777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공개일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예산금액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접수기간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328890" y="2478086"/>
            <a:ext cx="904094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  <a:r>
              <a:rPr lang="ko-KR" altLang="en-US" sz="600" dirty="0">
                <a:latin typeface="+mn-ea"/>
              </a:rPr>
              <a:t> </a:t>
            </a:r>
            <a:r>
              <a:rPr lang="en-US" altLang="ko-KR" sz="600" dirty="0">
                <a:latin typeface="+mn-ea"/>
              </a:rPr>
              <a:t>~ 2026-02-12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197407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1974079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1256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85380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546317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577662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659648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타원 79"/>
          <p:cNvSpPr/>
          <p:nvPr/>
        </p:nvSpPr>
        <p:spPr>
          <a:xfrm>
            <a:off x="2926040" y="195767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3070040" y="1974079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출력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0821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39916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3991608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60915" y="3991608"/>
            <a:ext cx="39616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첨부파일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08215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3953485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14546"/>
            <a:ext cx="122357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 규격서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27877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709114"/>
            <a:ext cx="792000" cy="15300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70911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709114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예산액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의견접수</a:t>
            </a:r>
            <a:r>
              <a:rPr lang="ko-KR" altLang="en-US" sz="700" dirty="0">
                <a:latin typeface="+mn-ea"/>
              </a:rPr>
              <a:t> 시작일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의견접수</a:t>
            </a:r>
            <a:r>
              <a:rPr lang="ko-KR" altLang="en-US" sz="700" dirty="0">
                <a:latin typeface="+mn-ea"/>
              </a:rPr>
              <a:t> 종료일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709114"/>
            <a:ext cx="18144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99001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2026-03-10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2026-06-10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홍길동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94021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5392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6763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8134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9504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00875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224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0013" y="437823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15488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98" name="그룹 297"/>
          <p:cNvGrpSpPr/>
          <p:nvPr/>
        </p:nvGrpSpPr>
        <p:grpSpPr>
          <a:xfrm rot="16200000">
            <a:off x="1250697" y="3307709"/>
            <a:ext cx="94010" cy="47005"/>
            <a:chOff x="6812560" y="3297172"/>
            <a:chExt cx="94010" cy="47005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3" name="TextBox 3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277349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304" name="타원 303"/>
          <p:cNvSpPr/>
          <p:nvPr/>
        </p:nvSpPr>
        <p:spPr>
          <a:xfrm>
            <a:off x="1404035" y="3237230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277349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10" name="그룹 309"/>
          <p:cNvGrpSpPr/>
          <p:nvPr/>
        </p:nvGrpSpPr>
        <p:grpSpPr>
          <a:xfrm rot="16200000">
            <a:off x="1906808" y="3307709"/>
            <a:ext cx="94010" cy="47005"/>
            <a:chOff x="6812560" y="3297172"/>
            <a:chExt cx="94010" cy="47005"/>
          </a:xfrm>
        </p:grpSpPr>
        <p:cxnSp>
          <p:nvCxnSpPr>
            <p:cNvPr id="311" name="직선 연결선 3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2" name="직선 연결선 3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3" name="그룹 312"/>
          <p:cNvGrpSpPr/>
          <p:nvPr/>
        </p:nvGrpSpPr>
        <p:grpSpPr>
          <a:xfrm rot="16200000">
            <a:off x="2562920" y="3307709"/>
            <a:ext cx="94010" cy="47005"/>
            <a:chOff x="6812560" y="3297172"/>
            <a:chExt cx="94010" cy="47005"/>
          </a:xfrm>
        </p:grpSpPr>
        <p:cxnSp>
          <p:nvCxnSpPr>
            <p:cNvPr id="314" name="직선 연결선 3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5" name="직선 연결선 3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7" name="타원 296"/>
          <p:cNvSpPr/>
          <p:nvPr/>
        </p:nvSpPr>
        <p:spPr>
          <a:xfrm>
            <a:off x="747925" y="3237230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277349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277349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2058749" y="3237230"/>
            <a:ext cx="603798" cy="187961"/>
            <a:chOff x="2058749" y="3237230"/>
            <a:chExt cx="603798" cy="187961"/>
          </a:xfrm>
        </p:grpSpPr>
        <p:grpSp>
          <p:nvGrpSpPr>
            <p:cNvPr id="15" name="그룹 14"/>
            <p:cNvGrpSpPr/>
            <p:nvPr/>
          </p:nvGrpSpPr>
          <p:grpSpPr>
            <a:xfrm>
              <a:off x="2058749" y="3237230"/>
              <a:ext cx="187961" cy="187961"/>
              <a:chOff x="2058749" y="3237230"/>
              <a:chExt cx="187961" cy="187961"/>
            </a:xfrm>
          </p:grpSpPr>
          <p:sp>
            <p:nvSpPr>
              <p:cNvPr id="306" name="타원 305"/>
              <p:cNvSpPr/>
              <p:nvPr/>
            </p:nvSpPr>
            <p:spPr>
              <a:xfrm>
                <a:off x="2058749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113806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3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714860" y="3237230"/>
            <a:ext cx="603798" cy="187961"/>
            <a:chOff x="2714860" y="3237230"/>
            <a:chExt cx="603798" cy="187961"/>
          </a:xfrm>
        </p:grpSpPr>
        <p:grpSp>
          <p:nvGrpSpPr>
            <p:cNvPr id="8" name="그룹 7"/>
            <p:cNvGrpSpPr/>
            <p:nvPr/>
          </p:nvGrpSpPr>
          <p:grpSpPr>
            <a:xfrm>
              <a:off x="2714860" y="3237230"/>
              <a:ext cx="187961" cy="187961"/>
              <a:chOff x="2714860" y="3237230"/>
              <a:chExt cx="187961" cy="187961"/>
            </a:xfrm>
          </p:grpSpPr>
          <p:sp>
            <p:nvSpPr>
              <p:cNvPr id="324" name="타원 323"/>
              <p:cNvSpPr/>
              <p:nvPr/>
            </p:nvSpPr>
            <p:spPr>
              <a:xfrm>
                <a:off x="2714860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769917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4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</p:grpSp>
      <p:sp>
        <p:nvSpPr>
          <p:cNvPr id="18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판단번호</a:t>
            </a:r>
            <a:r>
              <a:rPr lang="ko-KR" altLang="en-US" sz="700" dirty="0"/>
              <a:t> </a:t>
            </a:r>
            <a:r>
              <a:rPr lang="en-US" altLang="ko-KR" sz="700" dirty="0"/>
              <a:t>99001</a:t>
            </a:r>
          </a:p>
          <a:p>
            <a:r>
              <a:rPr lang="en-US" altLang="ko-KR" sz="900" b="1" dirty="0"/>
              <a:t>‘</a:t>
            </a:r>
            <a:r>
              <a:rPr lang="ko-KR" altLang="en-US" sz="900" b="1" dirty="0" err="1"/>
              <a:t>공마대</a:t>
            </a:r>
            <a:r>
              <a:rPr lang="ko-KR" altLang="en-US" sz="900" b="1" dirty="0"/>
              <a:t> 등 </a:t>
            </a:r>
            <a:r>
              <a:rPr lang="en-US" altLang="ko-KR" sz="900" b="1" dirty="0"/>
              <a:t>41</a:t>
            </a:r>
            <a:r>
              <a:rPr lang="ko-KR" altLang="en-US" sz="900" b="1" dirty="0"/>
              <a:t>종 구매</a:t>
            </a: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85" name="모서리가 둥근 직사각형 184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9" name="타원 188"/>
          <p:cNvSpPr/>
          <p:nvPr/>
        </p:nvSpPr>
        <p:spPr>
          <a:xfrm>
            <a:off x="6029572" y="158593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모서리가 둥근 직사각형 189"/>
          <p:cNvSpPr/>
          <p:nvPr/>
        </p:nvSpPr>
        <p:spPr>
          <a:xfrm>
            <a:off x="6173572" y="1602341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출력</a:t>
            </a:r>
          </a:p>
        </p:txBody>
      </p:sp>
      <p:sp>
        <p:nvSpPr>
          <p:cNvPr id="282" name="모서리가 둥근 직사각형 281"/>
          <p:cNvSpPr/>
          <p:nvPr/>
        </p:nvSpPr>
        <p:spPr>
          <a:xfrm rot="5400000">
            <a:off x="6098765" y="3126805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29322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1" name="타원 170"/>
          <p:cNvSpPr/>
          <p:nvPr/>
        </p:nvSpPr>
        <p:spPr>
          <a:xfrm>
            <a:off x="2380968" y="195767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2524968" y="1974079"/>
            <a:ext cx="395042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chemeClr val="dk1"/>
                </a:solidFill>
              </a:rPr>
              <a:t>알림신청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75" name="타원 174"/>
          <p:cNvSpPr/>
          <p:nvPr/>
        </p:nvSpPr>
        <p:spPr>
          <a:xfrm>
            <a:off x="5481885" y="158460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모서리가 둥근 직사각형 175"/>
          <p:cNvSpPr/>
          <p:nvPr/>
        </p:nvSpPr>
        <p:spPr>
          <a:xfrm>
            <a:off x="5625885" y="1601011"/>
            <a:ext cx="395042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알림신청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827360" y="2211584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업체의견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61565" y="2255927"/>
              <a:ext cx="39616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8079" y="4322459"/>
            <a:ext cx="72887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연관정보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67" name="그룹 166"/>
          <p:cNvGrpSpPr/>
          <p:nvPr/>
        </p:nvGrpSpPr>
        <p:grpSpPr>
          <a:xfrm flipV="1">
            <a:off x="6240166" y="4435790"/>
            <a:ext cx="94010" cy="47005"/>
            <a:chOff x="6812560" y="3297172"/>
            <a:chExt cx="94010" cy="47005"/>
          </a:xfrm>
        </p:grpSpPr>
        <p:cxnSp>
          <p:nvCxnSpPr>
            <p:cNvPr id="168" name="직선 연결선 16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직선 연결선 16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5273904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73" name="그룹 172"/>
          <p:cNvGrpSpPr/>
          <p:nvPr/>
        </p:nvGrpSpPr>
        <p:grpSpPr>
          <a:xfrm>
            <a:off x="3825376" y="4729508"/>
            <a:ext cx="2652743" cy="480718"/>
            <a:chOff x="722176" y="1896864"/>
            <a:chExt cx="2652743" cy="480718"/>
          </a:xfrm>
        </p:grpSpPr>
        <p:sp>
          <p:nvSpPr>
            <p:cNvPr id="174" name="모서리가 둥근 직사각형 173"/>
            <p:cNvSpPr/>
            <p:nvPr/>
          </p:nvSpPr>
          <p:spPr>
            <a:xfrm>
              <a:off x="722176" y="2031982"/>
              <a:ext cx="2652743" cy="34560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3084" y="2150921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1013612">
                <a:defRPr/>
              </a:pP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[#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조달계획번호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]</a:t>
              </a:r>
            </a:p>
          </p:txBody>
        </p:sp>
        <p:sp>
          <p:nvSpPr>
            <p:cNvPr id="194" name="타원 193"/>
            <p:cNvSpPr/>
            <p:nvPr/>
          </p:nvSpPr>
          <p:spPr>
            <a:xfrm>
              <a:off x="3082295" y="2132782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894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조달계획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5897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보기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61584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2651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00816" y="1336107"/>
            <a:ext cx="247325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smtClean="0"/>
              <a:t>스크롤 시 표시 영역 상단 달라붙음 처리 </a:t>
            </a:r>
            <a:r>
              <a:rPr lang="en-US" altLang="ko-KR" sz="700" dirty="0" smtClean="0"/>
              <a:t>(sticky)</a:t>
            </a:r>
            <a:endParaRPr lang="ko-KR" altLang="en-US" sz="900" b="1" dirty="0"/>
          </a:p>
        </p:txBody>
      </p:sp>
      <p:sp>
        <p:nvSpPr>
          <p:cNvPr id="151" name="평행 사변형 150"/>
          <p:cNvSpPr/>
          <p:nvPr/>
        </p:nvSpPr>
        <p:spPr>
          <a:xfrm rot="16200000" flipH="1">
            <a:off x="3105747" y="1776324"/>
            <a:ext cx="971670" cy="408309"/>
          </a:xfrm>
          <a:prstGeom prst="parallelogram">
            <a:avLst>
              <a:gd name="adj" fmla="val 8680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평행 사변형 151"/>
          <p:cNvSpPr/>
          <p:nvPr/>
        </p:nvSpPr>
        <p:spPr>
          <a:xfrm rot="16200000" flipH="1">
            <a:off x="2546937" y="2975673"/>
            <a:ext cx="2089292" cy="408308"/>
          </a:xfrm>
          <a:prstGeom prst="parallelogram">
            <a:avLst>
              <a:gd name="adj" fmla="val 42262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3143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 smtClean="0"/>
              <a:t> </a:t>
            </a:r>
            <a:r>
              <a:rPr lang="ko-KR" altLang="en-US" dirty="0"/>
              <a:t>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탭 목록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MUI-OP-01-M05</a:t>
            </a:r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49" name="그룹 48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50" name="직선 연결선 4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직선 연결선 5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3" name="타원 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365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901536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0516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192084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043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5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2836921" y="1937500"/>
            <a:ext cx="494347" cy="162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의견등록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781460" y="2325977"/>
            <a:ext cx="2473258" cy="821562"/>
            <a:chOff x="781460" y="2610063"/>
            <a:chExt cx="2473258" cy="821562"/>
          </a:xfrm>
        </p:grpSpPr>
        <p:sp>
          <p:nvSpPr>
            <p:cNvPr id="61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비공개</a:t>
              </a:r>
              <a:endParaRPr lang="en-US" altLang="ko-KR" sz="700" dirty="0"/>
            </a:p>
            <a:p>
              <a:r>
                <a:rPr lang="ko-KR" altLang="en-US" sz="900" b="1" dirty="0"/>
                <a:t>비공개</a:t>
              </a:r>
            </a:p>
          </p:txBody>
        </p:sp>
        <p:sp>
          <p:nvSpPr>
            <p:cNvPr id="62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3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비공개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64" name="모서리가 둥근 직사각형 63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비공개</a:t>
              </a:r>
            </a:p>
          </p:txBody>
        </p:sp>
      </p:grp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243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6" name="그룹 65"/>
          <p:cNvGrpSpPr/>
          <p:nvPr/>
        </p:nvGrpSpPr>
        <p:grpSpPr>
          <a:xfrm>
            <a:off x="781460" y="3345937"/>
            <a:ext cx="2473258" cy="821562"/>
            <a:chOff x="781460" y="2610063"/>
            <a:chExt cx="2473258" cy="821562"/>
          </a:xfrm>
        </p:grpSpPr>
        <p:sp>
          <p:nvSpPr>
            <p:cNvPr id="7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</a:t>
              </a:r>
              <a:r>
                <a:rPr lang="ko-KR" altLang="en-US" sz="700" dirty="0" err="1"/>
                <a:t>미래회사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7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8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89" name="모서리가 둥근 직사각형 88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8778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1" name="그룹 90"/>
          <p:cNvGrpSpPr/>
          <p:nvPr/>
        </p:nvGrpSpPr>
        <p:grpSpPr>
          <a:xfrm>
            <a:off x="781460" y="4421289"/>
            <a:ext cx="2473258" cy="821562"/>
            <a:chOff x="781460" y="2610063"/>
            <a:chExt cx="2473258" cy="821562"/>
          </a:xfrm>
        </p:grpSpPr>
        <p:sp>
          <p:nvSpPr>
            <p:cNvPr id="9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㈜길동주식회사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93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94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성춘향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95" name="모서리가 둥근 직사각형 94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386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9066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687418"/>
            <a:ext cx="76863" cy="292489"/>
            <a:chOff x="3750067" y="4683795"/>
            <a:chExt cx="76863" cy="292489"/>
          </a:xfrm>
        </p:grpSpPr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03" name="그룹 102"/>
          <p:cNvGrpSpPr/>
          <p:nvPr/>
        </p:nvGrpSpPr>
        <p:grpSpPr>
          <a:xfrm>
            <a:off x="3918450" y="1641327"/>
            <a:ext cx="2473258" cy="821562"/>
            <a:chOff x="781460" y="2610063"/>
            <a:chExt cx="2473258" cy="821562"/>
          </a:xfrm>
        </p:grpSpPr>
        <p:sp>
          <p:nvSpPr>
            <p:cNvPr id="10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</a:t>
              </a:r>
              <a:r>
                <a:rPr lang="ko-KR" altLang="en-US" sz="700" dirty="0" err="1"/>
                <a:t>미래회사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10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0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107" name="모서리가 둥근 직사각형 106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4157" y="25831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0" name="그룹 109"/>
          <p:cNvGrpSpPr/>
          <p:nvPr/>
        </p:nvGrpSpPr>
        <p:grpSpPr>
          <a:xfrm>
            <a:off x="3918450" y="2716679"/>
            <a:ext cx="2473258" cy="821562"/>
            <a:chOff x="781460" y="2610063"/>
            <a:chExt cx="2473258" cy="821562"/>
          </a:xfrm>
        </p:grpSpPr>
        <p:sp>
          <p:nvSpPr>
            <p:cNvPr id="111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>
                  <a:solidFill>
                    <a:prstClr val="black"/>
                  </a:solidFill>
                </a:rPr>
                <a:t>㈜</a:t>
              </a:r>
              <a:r>
                <a:rPr lang="ko-KR" altLang="en-US" sz="700" dirty="0" err="1">
                  <a:solidFill>
                    <a:prstClr val="black"/>
                  </a:solidFill>
                </a:rPr>
                <a:t>미래회사</a:t>
              </a:r>
              <a:endParaRPr lang="en-US" altLang="ko-KR" sz="700" dirty="0">
                <a:solidFill>
                  <a:prstClr val="black"/>
                </a:solidFill>
              </a:endParaRPr>
            </a:p>
            <a:p>
              <a:pPr lvl="0"/>
              <a:r>
                <a:rPr lang="ko-KR" altLang="en-US" sz="900" b="1" dirty="0">
                  <a:solidFill>
                    <a:prstClr val="black"/>
                  </a:solidFill>
                </a:rPr>
                <a:t>업체의 의견이 있습니다</a:t>
              </a:r>
              <a:r>
                <a:rPr lang="en-US" altLang="ko-KR" sz="900" b="1" dirty="0">
                  <a:solidFill>
                    <a:prstClr val="black"/>
                  </a:solidFill>
                </a:rPr>
                <a:t>.</a:t>
              </a:r>
              <a:endParaRPr lang="ko-KR" altLang="en-US" sz="900" b="1" dirty="0">
                <a:solidFill>
                  <a:prstClr val="black"/>
                </a:solidFill>
              </a:endParaRPr>
            </a:p>
          </p:txBody>
        </p:sp>
        <p:sp>
          <p:nvSpPr>
            <p:cNvPr id="112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13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성춘향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115" name="모서리가 둥근 직사각형 114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  <p:sp>
          <p:nvSpPr>
            <p:cNvPr id="116" name="모서리가 둥근 직사각형 115"/>
            <p:cNvSpPr/>
            <p:nvPr/>
          </p:nvSpPr>
          <p:spPr>
            <a:xfrm>
              <a:off x="1145236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smtClean="0">
                  <a:solidFill>
                    <a:schemeClr val="dk1"/>
                  </a:solidFill>
                </a:rPr>
                <a:t>답변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4157" y="36818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8" name="타원 11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4336" y="317517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pSp>
        <p:nvGrpSpPr>
          <p:cNvPr id="44" name="그룹 43"/>
          <p:cNvGrpSpPr/>
          <p:nvPr/>
        </p:nvGrpSpPr>
        <p:grpSpPr>
          <a:xfrm>
            <a:off x="522514" y="1362269"/>
            <a:ext cx="6456784" cy="5038531"/>
            <a:chOff x="522514" y="1362269"/>
            <a:chExt cx="6456784" cy="5038531"/>
          </a:xfrm>
        </p:grpSpPr>
        <p:sp>
          <p:nvSpPr>
            <p:cNvPr id="45" name="직사각형 44"/>
            <p:cNvSpPr/>
            <p:nvPr/>
          </p:nvSpPr>
          <p:spPr>
            <a:xfrm>
              <a:off x="522514" y="1362269"/>
              <a:ext cx="6456784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980082" y="3696868"/>
              <a:ext cx="2656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조달계획 상세와 동일함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96698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 smtClean="0"/>
              <a:t> </a:t>
            </a:r>
            <a:r>
              <a:rPr lang="ko-KR" altLang="en-US" dirty="0"/>
              <a:t>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상세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MUI-OP-01-P06</a:t>
            </a:r>
            <a:endParaRPr lang="ko-KR" altLang="en-US" dirty="0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95" name="그룹 94"/>
          <p:cNvGrpSpPr/>
          <p:nvPr/>
        </p:nvGrpSpPr>
        <p:grpSpPr>
          <a:xfrm>
            <a:off x="3790563" y="2349314"/>
            <a:ext cx="2717198" cy="3078289"/>
            <a:chOff x="675399" y="1846937"/>
            <a:chExt cx="2717198" cy="3078289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901536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9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32535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업체명</a:t>
              </a:r>
              <a:endParaRPr lang="ko-KR" altLang="en-US" sz="900" b="1" dirty="0"/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720490" y="248806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/>
                <a:t>㈜길동주식회사</a:t>
              </a:r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9252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0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82795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사업자번호</a:t>
              </a:r>
              <a:endParaRPr lang="ko-KR" altLang="en-US" sz="900" b="1" dirty="0"/>
            </a:p>
          </p:txBody>
        </p:sp>
        <p:sp>
          <p:nvSpPr>
            <p:cNvPr id="101" name="모서리가 둥근 직사각형 100"/>
            <p:cNvSpPr/>
            <p:nvPr/>
          </p:nvSpPr>
          <p:spPr>
            <a:xfrm>
              <a:off x="720490" y="299066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123-45-67890</a:t>
              </a:r>
              <a:endParaRPr lang="ko-KR" altLang="en-US" sz="800" dirty="0"/>
            </a:p>
          </p:txBody>
        </p:sp>
        <p:sp>
          <p:nvSpPr>
            <p:cNvPr id="10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33173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성명</a:t>
              </a:r>
              <a:endParaRPr lang="ko-KR" altLang="en-US" sz="900" b="1" dirty="0"/>
            </a:p>
          </p:txBody>
        </p:sp>
        <p:sp>
          <p:nvSpPr>
            <p:cNvPr id="106" name="모서리가 둥근 직사각형 105"/>
            <p:cNvSpPr/>
            <p:nvPr/>
          </p:nvSpPr>
          <p:spPr>
            <a:xfrm>
              <a:off x="720490" y="349444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sp>
          <p:nvSpPr>
            <p:cNvPr id="10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82942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108" name="모서리가 둥근 직사각형 107"/>
            <p:cNvSpPr/>
            <p:nvPr/>
          </p:nvSpPr>
          <p:spPr>
            <a:xfrm>
              <a:off x="720490" y="399213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sp>
          <p:nvSpPr>
            <p:cNvPr id="10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4330977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이메일</a:t>
              </a:r>
              <a:endParaRPr lang="ko-KR" altLang="en-US" sz="900" b="1" dirty="0"/>
            </a:p>
          </p:txBody>
        </p:sp>
        <p:sp>
          <p:nvSpPr>
            <p:cNvPr id="110" name="모서리가 둥근 직사각형 109"/>
            <p:cNvSpPr/>
            <p:nvPr/>
          </p:nvSpPr>
          <p:spPr>
            <a:xfrm>
              <a:off x="720490" y="4493685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abcde@naver.com</a:t>
              </a:r>
              <a:endParaRPr lang="ko-KR" altLang="en-US" sz="800" dirty="0"/>
            </a:p>
          </p:txBody>
        </p: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2" name="그룹 111"/>
            <p:cNvGrpSpPr/>
            <p:nvPr/>
          </p:nvGrpSpPr>
          <p:grpSpPr>
            <a:xfrm flipV="1">
              <a:off x="3124233" y="1987998"/>
              <a:ext cx="94010" cy="47005"/>
              <a:chOff x="6812560" y="3297172"/>
              <a:chExt cx="94010" cy="47005"/>
            </a:xfrm>
          </p:grpSpPr>
          <p:cxnSp>
            <p:nvCxnSpPr>
              <p:cNvPr id="115" name="직선 연결선 11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18317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408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26" name="그룹 125"/>
          <p:cNvGrpSpPr/>
          <p:nvPr/>
        </p:nvGrpSpPr>
        <p:grpSpPr>
          <a:xfrm flipV="1">
            <a:off x="3124233" y="1977870"/>
            <a:ext cx="94010" cy="47005"/>
            <a:chOff x="6812560" y="3297172"/>
            <a:chExt cx="94010" cy="47005"/>
          </a:xfrm>
        </p:grpSpPr>
        <p:cxnSp>
          <p:nvCxnSpPr>
            <p:cNvPr id="130" name="직선 연결선 12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직선 연결선 13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3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03034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smtClean="0"/>
              <a:t>제목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34" name="모서리가 둥근 직사각형 133"/>
          <p:cNvSpPr/>
          <p:nvPr/>
        </p:nvSpPr>
        <p:spPr>
          <a:xfrm>
            <a:off x="720467" y="2465742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36" name="그룹 135"/>
          <p:cNvGrpSpPr/>
          <p:nvPr/>
        </p:nvGrpSpPr>
        <p:grpSpPr>
          <a:xfrm>
            <a:off x="684326" y="5064184"/>
            <a:ext cx="2712027" cy="347855"/>
            <a:chOff x="3831550" y="3745666"/>
            <a:chExt cx="2712027" cy="347855"/>
          </a:xfrm>
        </p:grpSpPr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55" name="그룹 154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57" name="직선 연결선 15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9" name="모서리가 둥근 직사각형 158"/>
          <p:cNvSpPr/>
          <p:nvPr/>
        </p:nvSpPr>
        <p:spPr>
          <a:xfrm>
            <a:off x="720142" y="5659395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20810" y="5787777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8338" y="5787777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63" name="타원 162"/>
          <p:cNvSpPr/>
          <p:nvPr/>
        </p:nvSpPr>
        <p:spPr>
          <a:xfrm>
            <a:off x="3108139" y="5769638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3831550" y="155078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167917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167917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77" name="타원 176"/>
          <p:cNvSpPr/>
          <p:nvPr/>
        </p:nvSpPr>
        <p:spPr>
          <a:xfrm>
            <a:off x="6219547" y="166103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20810" y="5524277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017655" y="5524277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6906" y="5524277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81" name="그룹 180"/>
          <p:cNvGrpSpPr/>
          <p:nvPr/>
        </p:nvGrpSpPr>
        <p:grpSpPr>
          <a:xfrm>
            <a:off x="717367" y="2842211"/>
            <a:ext cx="2610778" cy="2013555"/>
            <a:chOff x="717367" y="2842211"/>
            <a:chExt cx="2610778" cy="2013555"/>
          </a:xfrm>
        </p:grpSpPr>
        <p:sp>
          <p:nvSpPr>
            <p:cNvPr id="18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2842211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smtClean="0"/>
                <a:t>내용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183" name="모서리가 둥근 직사각형 182"/>
            <p:cNvSpPr/>
            <p:nvPr/>
          </p:nvSpPr>
          <p:spPr>
            <a:xfrm>
              <a:off x="717367" y="3004919"/>
              <a:ext cx="2610778" cy="1572062"/>
            </a:xfrm>
            <a:prstGeom prst="roundRect">
              <a:avLst>
                <a:gd name="adj" fmla="val 431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t"/>
            <a:lstStyle/>
            <a:p>
              <a:r>
                <a:rPr lang="ko-KR" altLang="en-US" sz="800" dirty="0" err="1"/>
                <a:t>업체의견이</a:t>
              </a:r>
              <a:r>
                <a:rPr lang="ko-KR" altLang="en-US" sz="800" dirty="0"/>
                <a:t>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18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472734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smtClean="0"/>
                <a:t>공개여부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85" name="그룹 184"/>
            <p:cNvGrpSpPr/>
            <p:nvPr/>
          </p:nvGrpSpPr>
          <p:grpSpPr>
            <a:xfrm>
              <a:off x="2608145" y="4706642"/>
              <a:ext cx="720000" cy="149124"/>
              <a:chOff x="4507439" y="3468375"/>
              <a:chExt cx="720000" cy="149124"/>
            </a:xfrm>
          </p:grpSpPr>
          <p:sp>
            <p:nvSpPr>
              <p:cNvPr id="187" name="모서리가 둥근 직사각형 186"/>
              <p:cNvSpPr/>
              <p:nvPr/>
            </p:nvSpPr>
            <p:spPr>
              <a:xfrm>
                <a:off x="4507439" y="3468375"/>
                <a:ext cx="720000" cy="14912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88" name="모서리가 둥근 직사각형 187"/>
              <p:cNvSpPr/>
              <p:nvPr/>
            </p:nvSpPr>
            <p:spPr>
              <a:xfrm>
                <a:off x="4507439" y="3468375"/>
                <a:ext cx="378000" cy="149124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kern="0">
                  <a:solidFill>
                    <a:prstClr val="white"/>
                  </a:solidFill>
                  <a:latin typeface="맑은 고딕"/>
                </a:endParaRP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579706" y="3494915"/>
                <a:ext cx="23346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공개</a:t>
                </a: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909257" y="3494915"/>
                <a:ext cx="280559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비공개</a:t>
                </a: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890875" y="4411397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맑은 고딕" panose="020B0503020000020004" pitchFamily="50" charset="-127"/>
                </a:rPr>
                <a:t>0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/ 2000</a:t>
              </a:r>
            </a:p>
          </p:txBody>
        </p:sp>
      </p:grpSp>
      <p:grpSp>
        <p:nvGrpSpPr>
          <p:cNvPr id="193" name="그룹 192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수정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6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삭제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97" name="타원 19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573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98" name="타원 19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03269" y="519473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99" name="타원 19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7171" y="244671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3073" y="58211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2" name="그룹 201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203" name="직선 연결선 202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" name="직선 연결선 203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상세</a:t>
            </a:r>
          </a:p>
        </p:txBody>
      </p:sp>
      <p:grpSp>
        <p:nvGrpSpPr>
          <p:cNvPr id="206" name="그룹 205"/>
          <p:cNvGrpSpPr/>
          <p:nvPr/>
        </p:nvGrpSpPr>
        <p:grpSpPr>
          <a:xfrm>
            <a:off x="3795734" y="6066295"/>
            <a:ext cx="2712027" cy="617588"/>
            <a:chOff x="675399" y="5614711"/>
            <a:chExt cx="2712027" cy="617588"/>
          </a:xfrm>
        </p:grpSpPr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84" name="그룹 83"/>
          <p:cNvGrpSpPr/>
          <p:nvPr/>
        </p:nvGrpSpPr>
        <p:grpSpPr>
          <a:xfrm>
            <a:off x="503269" y="1362269"/>
            <a:ext cx="6476029" cy="5038531"/>
            <a:chOff x="503269" y="1362269"/>
            <a:chExt cx="6476029" cy="5038531"/>
          </a:xfrm>
        </p:grpSpPr>
        <p:sp>
          <p:nvSpPr>
            <p:cNvPr id="85" name="직사각형 84"/>
            <p:cNvSpPr/>
            <p:nvPr/>
          </p:nvSpPr>
          <p:spPr>
            <a:xfrm>
              <a:off x="503269" y="1362269"/>
              <a:ext cx="6476029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3980082" y="3696868"/>
              <a:ext cx="2656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조달계획 상세와 동일함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10382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직사각형 9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 smtClean="0"/>
              <a:t> </a:t>
            </a:r>
            <a:r>
              <a:rPr lang="ko-KR" altLang="en-US" dirty="0"/>
              <a:t>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답변 상세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MUI-OP-01-P06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795734" y="3328139"/>
            <a:ext cx="2712027" cy="1389948"/>
            <a:chOff x="3677672" y="3328139"/>
            <a:chExt cx="2712027" cy="1389948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764419" y="3381713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3764419" y="3805530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담당자</a:t>
              </a:r>
              <a:endParaRPr lang="ko-KR" altLang="en-US" sz="900" b="1" dirty="0"/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3722763" y="3968238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677672" y="3328139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3764419" y="4308129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3722763" y="4470837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grpSp>
          <p:nvGrpSpPr>
            <p:cNvPr id="88" name="그룹 87"/>
            <p:cNvGrpSpPr/>
            <p:nvPr/>
          </p:nvGrpSpPr>
          <p:grpSpPr>
            <a:xfrm flipV="1">
              <a:off x="6126506" y="3468175"/>
              <a:ext cx="94010" cy="47005"/>
              <a:chOff x="6812560" y="3297172"/>
              <a:chExt cx="94010" cy="47005"/>
            </a:xfrm>
          </p:grpSpPr>
          <p:cxnSp>
            <p:nvCxnSpPr>
              <p:cNvPr id="89" name="직선 연결선 8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677672" y="366335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243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답변내역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8" name="그룹 117"/>
          <p:cNvGrpSpPr/>
          <p:nvPr/>
        </p:nvGrpSpPr>
        <p:grpSpPr>
          <a:xfrm flipV="1">
            <a:off x="3124233" y="1977705"/>
            <a:ext cx="94010" cy="47005"/>
            <a:chOff x="6812560" y="3297172"/>
            <a:chExt cx="94010" cy="47005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직선 연결선 11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288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26722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smtClean="0"/>
              <a:t>제목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720467" y="2489430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3795734" y="1493927"/>
            <a:ext cx="2712027" cy="347855"/>
            <a:chOff x="3831550" y="3745666"/>
            <a:chExt cx="2712027" cy="347855"/>
          </a:xfrm>
        </p:grpSpPr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39" name="그룹 138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40" name="직선 연결선 13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3" name="모서리가 둥근 직사각형 142"/>
          <p:cNvSpPr/>
          <p:nvPr/>
        </p:nvSpPr>
        <p:spPr>
          <a:xfrm>
            <a:off x="3831550" y="208913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221752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221752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46" name="타원 145"/>
          <p:cNvSpPr/>
          <p:nvPr/>
        </p:nvSpPr>
        <p:spPr>
          <a:xfrm>
            <a:off x="6219547" y="219938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3831550" y="249582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262420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262420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50" name="타원 149"/>
          <p:cNvSpPr/>
          <p:nvPr/>
        </p:nvSpPr>
        <p:spPr>
          <a:xfrm>
            <a:off x="6219547" y="260606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1954020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6129063" y="1954020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38314" y="1954020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2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7679" y="2882845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smtClean="0"/>
              <a:t>내용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726023" y="3045553"/>
            <a:ext cx="2610778" cy="1572062"/>
          </a:xfrm>
          <a:prstGeom prst="roundRect">
            <a:avLst>
              <a:gd name="adj" fmla="val 431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t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99531" y="4452031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0070C0"/>
                </a:solidFill>
                <a:latin typeface="맑은 고딕" panose="020B0503020000020004" pitchFamily="50" charset="-127"/>
              </a:rPr>
              <a:t>0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/ 2000</a:t>
            </a:r>
          </a:p>
        </p:txBody>
      </p:sp>
      <p:grpSp>
        <p:nvGrpSpPr>
          <p:cNvPr id="58" name="그룹 5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59" name="직선 연결선 5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답변 상세</a:t>
            </a:r>
          </a:p>
        </p:txBody>
      </p:sp>
      <p:grpSp>
        <p:nvGrpSpPr>
          <p:cNvPr id="62" name="그룹 61"/>
          <p:cNvGrpSpPr/>
          <p:nvPr/>
        </p:nvGrpSpPr>
        <p:grpSpPr>
          <a:xfrm>
            <a:off x="503269" y="1362269"/>
            <a:ext cx="6476029" cy="5038531"/>
            <a:chOff x="503269" y="1362269"/>
            <a:chExt cx="6476029" cy="5038531"/>
          </a:xfrm>
        </p:grpSpPr>
        <p:sp>
          <p:nvSpPr>
            <p:cNvPr id="64" name="직사각형 63"/>
            <p:cNvSpPr/>
            <p:nvPr/>
          </p:nvSpPr>
          <p:spPr>
            <a:xfrm>
              <a:off x="503269" y="1362269"/>
              <a:ext cx="6476029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980082" y="3696868"/>
              <a:ext cx="2656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조달계획 상세와 동일함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23388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등록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 smtClean="0"/>
              <a:t> </a:t>
            </a:r>
            <a:r>
              <a:rPr lang="ko-KR" altLang="en-US" dirty="0"/>
              <a:t>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등록</a:t>
            </a:r>
            <a:r>
              <a:rPr lang="en-US" altLang="ko-KR" dirty="0"/>
              <a:t>/</a:t>
            </a:r>
            <a:r>
              <a:rPr lang="ko-KR" altLang="en-US" dirty="0"/>
              <a:t>수정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등록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수정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MUI-OP-01-P07</a:t>
            </a:r>
            <a:endParaRPr lang="ko-KR" altLang="en-US" dirty="0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05" name="그룹 104"/>
          <p:cNvGrpSpPr/>
          <p:nvPr/>
        </p:nvGrpSpPr>
        <p:grpSpPr>
          <a:xfrm>
            <a:off x="3790563" y="2349314"/>
            <a:ext cx="2717198" cy="3078289"/>
            <a:chOff x="675399" y="1846937"/>
            <a:chExt cx="2717198" cy="3078289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901536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11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32535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업체명</a:t>
              </a:r>
              <a:endParaRPr lang="ko-KR" altLang="en-US" sz="900" b="1" dirty="0"/>
            </a:p>
          </p:txBody>
        </p:sp>
        <p:sp>
          <p:nvSpPr>
            <p:cNvPr id="118" name="모서리가 둥근 직사각형 117"/>
            <p:cNvSpPr/>
            <p:nvPr/>
          </p:nvSpPr>
          <p:spPr>
            <a:xfrm>
              <a:off x="720490" y="248806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/>
                <a:t>㈜길동주식회사</a:t>
              </a:r>
            </a:p>
          </p:txBody>
        </p: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9252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0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82795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사업자번호</a:t>
              </a:r>
              <a:endParaRPr lang="ko-KR" altLang="en-US" sz="900" b="1" dirty="0"/>
            </a:p>
          </p:txBody>
        </p:sp>
        <p:sp>
          <p:nvSpPr>
            <p:cNvPr id="121" name="모서리가 둥근 직사각형 120"/>
            <p:cNvSpPr/>
            <p:nvPr/>
          </p:nvSpPr>
          <p:spPr>
            <a:xfrm>
              <a:off x="720490" y="299066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123-45-67890</a:t>
              </a:r>
              <a:endParaRPr lang="ko-KR" altLang="en-US" sz="800" dirty="0"/>
            </a:p>
          </p:txBody>
        </p:sp>
        <p:sp>
          <p:nvSpPr>
            <p:cNvPr id="12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33173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성명</a:t>
              </a:r>
              <a:endParaRPr lang="ko-KR" altLang="en-US" sz="900" b="1" dirty="0"/>
            </a:p>
          </p:txBody>
        </p:sp>
        <p:sp>
          <p:nvSpPr>
            <p:cNvPr id="123" name="모서리가 둥근 직사각형 122"/>
            <p:cNvSpPr/>
            <p:nvPr/>
          </p:nvSpPr>
          <p:spPr>
            <a:xfrm>
              <a:off x="720490" y="349444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sp>
          <p:nvSpPr>
            <p:cNvPr id="12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82942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125" name="모서리가 둥근 직사각형 124"/>
            <p:cNvSpPr/>
            <p:nvPr/>
          </p:nvSpPr>
          <p:spPr>
            <a:xfrm>
              <a:off x="720490" y="399213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sp>
          <p:nvSpPr>
            <p:cNvPr id="12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4330977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이메일</a:t>
              </a:r>
              <a:endParaRPr lang="ko-KR" altLang="en-US" sz="900" b="1" dirty="0"/>
            </a:p>
          </p:txBody>
        </p:sp>
        <p:sp>
          <p:nvSpPr>
            <p:cNvPr id="128" name="모서리가 둥근 직사각형 127"/>
            <p:cNvSpPr/>
            <p:nvPr/>
          </p:nvSpPr>
          <p:spPr>
            <a:xfrm>
              <a:off x="720490" y="4493685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abcde@naver.com</a:t>
              </a:r>
              <a:endParaRPr lang="ko-KR" altLang="en-US" sz="800" dirty="0"/>
            </a:p>
          </p:txBody>
        </p: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5" name="그룹 134"/>
            <p:cNvGrpSpPr/>
            <p:nvPr/>
          </p:nvGrpSpPr>
          <p:grpSpPr>
            <a:xfrm flipV="1">
              <a:off x="3124233" y="1987998"/>
              <a:ext cx="94010" cy="47005"/>
              <a:chOff x="6812560" y="3297172"/>
              <a:chExt cx="94010" cy="47005"/>
            </a:xfrm>
          </p:grpSpPr>
          <p:cxnSp>
            <p:nvCxnSpPr>
              <p:cNvPr id="139" name="직선 연결선 13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18317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408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42" name="그룹 141"/>
          <p:cNvGrpSpPr/>
          <p:nvPr/>
        </p:nvGrpSpPr>
        <p:grpSpPr>
          <a:xfrm flipV="1">
            <a:off x="3124233" y="1977870"/>
            <a:ext cx="94010" cy="47005"/>
            <a:chOff x="6812560" y="3297172"/>
            <a:chExt cx="94010" cy="47005"/>
          </a:xfrm>
        </p:grpSpPr>
        <p:cxnSp>
          <p:nvCxnSpPr>
            <p:cNvPr id="143" name="직선 연결선 14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직선 연결선 14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3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6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03034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 </a:t>
            </a:r>
            <a:r>
              <a:rPr lang="en-US" altLang="ko-KR" sz="700" dirty="0">
                <a:solidFill>
                  <a:srgbClr val="FF0000"/>
                </a:solidFill>
              </a:rPr>
              <a:t>*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720467" y="2465742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48" name="그룹 147"/>
          <p:cNvGrpSpPr/>
          <p:nvPr/>
        </p:nvGrpSpPr>
        <p:grpSpPr>
          <a:xfrm>
            <a:off x="684326" y="4960279"/>
            <a:ext cx="2712027" cy="347855"/>
            <a:chOff x="3831550" y="3745666"/>
            <a:chExt cx="2712027" cy="347855"/>
          </a:xfrm>
        </p:grpSpPr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51" name="그룹 150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53" name="직선 연결선 15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55" name="그룹 154"/>
          <p:cNvGrpSpPr/>
          <p:nvPr/>
        </p:nvGrpSpPr>
        <p:grpSpPr>
          <a:xfrm>
            <a:off x="717367" y="2842211"/>
            <a:ext cx="2610778" cy="2013555"/>
            <a:chOff x="717367" y="2842211"/>
            <a:chExt cx="2610778" cy="2013555"/>
          </a:xfrm>
        </p:grpSpPr>
        <p:sp>
          <p:nvSpPr>
            <p:cNvPr id="160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2842211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내용 </a:t>
              </a:r>
              <a:r>
                <a:rPr lang="en-US" altLang="ko-KR" sz="700" dirty="0">
                  <a:solidFill>
                    <a:srgbClr val="FF0000"/>
                  </a:solidFill>
                </a:rPr>
                <a:t>*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17367" y="3004919"/>
              <a:ext cx="2610778" cy="1572062"/>
            </a:xfrm>
            <a:prstGeom prst="roundRect">
              <a:avLst>
                <a:gd name="adj" fmla="val 4310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t"/>
            <a:lstStyle/>
            <a:p>
              <a:r>
                <a:rPr lang="ko-KR" altLang="en-US" sz="800" dirty="0" err="1"/>
                <a:t>업체의견이</a:t>
              </a:r>
              <a:r>
                <a:rPr lang="ko-KR" altLang="en-US" sz="800" dirty="0"/>
                <a:t>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16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472734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공개여부 </a:t>
              </a:r>
              <a:r>
                <a:rPr lang="en-US" altLang="ko-KR" sz="700" dirty="0">
                  <a:solidFill>
                    <a:srgbClr val="FF0000"/>
                  </a:solidFill>
                </a:rPr>
                <a:t>*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63" name="그룹 162"/>
            <p:cNvGrpSpPr/>
            <p:nvPr/>
          </p:nvGrpSpPr>
          <p:grpSpPr>
            <a:xfrm>
              <a:off x="2608145" y="4706642"/>
              <a:ext cx="720000" cy="149124"/>
              <a:chOff x="4507439" y="3468375"/>
              <a:chExt cx="720000" cy="149124"/>
            </a:xfrm>
          </p:grpSpPr>
          <p:sp>
            <p:nvSpPr>
              <p:cNvPr id="165" name="모서리가 둥근 직사각형 164"/>
              <p:cNvSpPr/>
              <p:nvPr/>
            </p:nvSpPr>
            <p:spPr>
              <a:xfrm>
                <a:off x="4507439" y="3468375"/>
                <a:ext cx="720000" cy="14912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66" name="모서리가 둥근 직사각형 165"/>
              <p:cNvSpPr/>
              <p:nvPr/>
            </p:nvSpPr>
            <p:spPr>
              <a:xfrm>
                <a:off x="4507439" y="3468375"/>
                <a:ext cx="378000" cy="149124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kern="0">
                  <a:solidFill>
                    <a:prstClr val="white"/>
                  </a:solidFill>
                  <a:latin typeface="맑은 고딕"/>
                </a:endParaRP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579706" y="3494915"/>
                <a:ext cx="23346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공개</a:t>
                </a: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909257" y="3494915"/>
                <a:ext cx="280559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비공개</a:t>
                </a:r>
              </a:p>
            </p:txBody>
          </p: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890875" y="4411397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맑은 고딕" panose="020B0503020000020004" pitchFamily="50" charset="-127"/>
                </a:rPr>
                <a:t>0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/ 2000</a:t>
              </a:r>
            </a:p>
          </p:txBody>
        </p:sp>
      </p:grpSp>
      <p:sp>
        <p:nvSpPr>
          <p:cNvPr id="16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04972" y="5384101"/>
            <a:ext cx="2652743" cy="207774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파일추가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grpSp>
        <p:nvGrpSpPr>
          <p:cNvPr id="170" name="그룹 169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저장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8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 smtClean="0">
                  <a:latin typeface="맑은 고딕"/>
                  <a:ea typeface="맑은 고딕" panose="020B0503020000020004" pitchFamily="50" charset="-127"/>
                </a:rPr>
                <a:t>취소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8438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7171" y="2447516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03" name="타원 20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3073" y="58211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5" name="그룹 204"/>
          <p:cNvGrpSpPr/>
          <p:nvPr/>
        </p:nvGrpSpPr>
        <p:grpSpPr>
          <a:xfrm>
            <a:off x="705041" y="5712463"/>
            <a:ext cx="2652743" cy="499604"/>
            <a:chOff x="713968" y="6113949"/>
            <a:chExt cx="2652743" cy="499604"/>
          </a:xfrm>
        </p:grpSpPr>
        <p:sp>
          <p:nvSpPr>
            <p:cNvPr id="206" name="모서리가 둥근 직사각형 205"/>
            <p:cNvSpPr/>
            <p:nvPr/>
          </p:nvSpPr>
          <p:spPr>
            <a:xfrm>
              <a:off x="713968" y="6249067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4636" y="6377449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2164" y="6377449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4636" y="6113949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36458" y="6113949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삭제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0732" y="6113949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9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956879" y="6343762"/>
              <a:ext cx="284126" cy="154884"/>
            </a:xfrm>
            <a:prstGeom prst="round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latin typeface="맑은 고딕"/>
                  <a:ea typeface="맑은 고딕" panose="020B0503020000020004" pitchFamily="50" charset="-127"/>
                </a:rPr>
                <a:t>삭제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220" name="그룹 219"/>
          <p:cNvGrpSpPr/>
          <p:nvPr/>
        </p:nvGrpSpPr>
        <p:grpSpPr>
          <a:xfrm>
            <a:off x="3831550" y="1591273"/>
            <a:ext cx="2652743" cy="364486"/>
            <a:chOff x="3421101" y="64023"/>
            <a:chExt cx="2652743" cy="364486"/>
          </a:xfrm>
        </p:grpSpPr>
        <p:sp>
          <p:nvSpPr>
            <p:cNvPr id="221" name="모서리가 둥근 직사각형 220"/>
            <p:cNvSpPr/>
            <p:nvPr/>
          </p:nvSpPr>
          <p:spPr>
            <a:xfrm>
              <a:off x="3421101" y="64023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1769" y="192405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499297" y="192405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5637130" y="168824"/>
              <a:ext cx="284126" cy="154884"/>
            </a:xfrm>
            <a:prstGeom prst="round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latin typeface="맑은 고딕"/>
                  <a:ea typeface="맑은 고딕" panose="020B0503020000020004" pitchFamily="50" charset="-127"/>
                </a:rPr>
                <a:t>삭제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25" name="타원 22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05929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226" name="그룹 225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227" name="직선 연결선 226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9" name="TextBox 2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등록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>
                <a:latin typeface="+mn-ea"/>
              </a:rPr>
              <a:t>수정</a:t>
            </a:r>
          </a:p>
        </p:txBody>
      </p:sp>
      <p:grpSp>
        <p:nvGrpSpPr>
          <p:cNvPr id="230" name="그룹 229"/>
          <p:cNvGrpSpPr/>
          <p:nvPr/>
        </p:nvGrpSpPr>
        <p:grpSpPr>
          <a:xfrm>
            <a:off x="503269" y="1362269"/>
            <a:ext cx="6476029" cy="5038531"/>
            <a:chOff x="503269" y="1362269"/>
            <a:chExt cx="6476029" cy="5038531"/>
          </a:xfrm>
        </p:grpSpPr>
        <p:sp>
          <p:nvSpPr>
            <p:cNvPr id="231" name="직사각형 230"/>
            <p:cNvSpPr/>
            <p:nvPr/>
          </p:nvSpPr>
          <p:spPr>
            <a:xfrm>
              <a:off x="503269" y="1362269"/>
              <a:ext cx="6476029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3980082" y="3696868"/>
              <a:ext cx="2656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조달계획 상세와 동일함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93101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첨부서류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 smtClean="0"/>
              <a:t> </a:t>
            </a:r>
            <a:r>
              <a:rPr lang="ko-KR" altLang="en-US" dirty="0"/>
              <a:t>상세 화면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첨부서류</a:t>
            </a:r>
            <a:r>
              <a:rPr lang="ko-KR" altLang="en-US" dirty="0"/>
              <a:t>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첨부서류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MUI-OP-01-M09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>
                <a:solidFill>
                  <a:srgbClr val="0070C0"/>
                </a:solidFill>
                <a:latin typeface="+mn-ea"/>
              </a:rPr>
              <a:t>다음에 </a:t>
            </a:r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계속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44009"/>
            <a:ext cx="103509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첨부서류</a:t>
            </a:r>
          </a:p>
        </p:txBody>
      </p:sp>
      <p:grpSp>
        <p:nvGrpSpPr>
          <p:cNvPr id="105" name="그룹 104"/>
          <p:cNvGrpSpPr/>
          <p:nvPr/>
        </p:nvGrpSpPr>
        <p:grpSpPr>
          <a:xfrm flipV="1">
            <a:off x="3124233" y="1657340"/>
            <a:ext cx="94010" cy="47005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149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551" y="1867758"/>
            <a:ext cx="12980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첨부파일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18021" y="226614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39452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1.PDF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239452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23" name="타원 22"/>
          <p:cNvSpPr/>
          <p:nvPr/>
        </p:nvSpPr>
        <p:spPr>
          <a:xfrm>
            <a:off x="3078140" y="237638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8021" y="2672830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801212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2.hwp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2801212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27" name="타원 26"/>
          <p:cNvSpPr/>
          <p:nvPr/>
        </p:nvSpPr>
        <p:spPr>
          <a:xfrm>
            <a:off x="3078140" y="278307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131026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87656" y="2131026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4785" y="2131026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54" name="그룹 53"/>
          <p:cNvGrpSpPr/>
          <p:nvPr/>
        </p:nvGrpSpPr>
        <p:grpSpPr>
          <a:xfrm>
            <a:off x="522514" y="1362269"/>
            <a:ext cx="6456784" cy="5038531"/>
            <a:chOff x="522514" y="1362269"/>
            <a:chExt cx="6456784" cy="5038531"/>
          </a:xfrm>
        </p:grpSpPr>
        <p:sp>
          <p:nvSpPr>
            <p:cNvPr id="55" name="직사각형 54"/>
            <p:cNvSpPr/>
            <p:nvPr/>
          </p:nvSpPr>
          <p:spPr>
            <a:xfrm>
              <a:off x="522514" y="1362269"/>
              <a:ext cx="6456784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980082" y="3696868"/>
              <a:ext cx="2656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조달계획 상세와 동일함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42409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양쪽 모서리가 둥근 사각형 269"/>
          <p:cNvSpPr/>
          <p:nvPr/>
        </p:nvSpPr>
        <p:spPr>
          <a:xfrm>
            <a:off x="3789896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72" name="모서리가 둥근 직사각형 271"/>
          <p:cNvSpPr/>
          <p:nvPr/>
        </p:nvSpPr>
        <p:spPr>
          <a:xfrm>
            <a:off x="4875909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73" name="그룹 272"/>
          <p:cNvGrpSpPr/>
          <p:nvPr/>
        </p:nvGrpSpPr>
        <p:grpSpPr>
          <a:xfrm>
            <a:off x="6278835" y="1773925"/>
            <a:ext cx="94010" cy="94010"/>
            <a:chOff x="6812560" y="3297172"/>
            <a:chExt cx="94010" cy="94010"/>
          </a:xfrm>
        </p:grpSpPr>
        <p:cxnSp>
          <p:nvCxnSpPr>
            <p:cNvPr id="274" name="직선 연결선 273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6" name="TextBox 2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8973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</a:rPr>
              <a:t>사전규격상세</a:t>
            </a:r>
            <a:endParaRPr lang="ko-KR" altLang="en-US" sz="900" dirty="0"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사전규격</a:t>
            </a:r>
            <a:r>
              <a:rPr lang="ko-KR" altLang="en-US" dirty="0" smtClean="0"/>
              <a:t> 상세 내역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클릭시</a:t>
            </a:r>
            <a:r>
              <a:rPr lang="ko-KR" altLang="en-US" dirty="0" smtClean="0"/>
              <a:t> 업체 의견 팝업 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비공개 </a:t>
            </a:r>
            <a:r>
              <a:rPr lang="ko-KR" altLang="en-US" dirty="0"/>
              <a:t>정보는 작성자만 접근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비공개 글입니다</a:t>
            </a:r>
            <a:r>
              <a:rPr lang="en-US" altLang="ko-KR" dirty="0"/>
              <a:t>. (</a:t>
            </a:r>
            <a:r>
              <a:rPr lang="ko-KR" altLang="en-US" dirty="0"/>
              <a:t>확인</a:t>
            </a:r>
            <a:r>
              <a:rPr lang="en-US" altLang="ko-KR" dirty="0"/>
              <a:t>) </a:t>
            </a:r>
            <a:r>
              <a:rPr lang="ko-KR" altLang="en-US" dirty="0" err="1"/>
              <a:t>모달</a:t>
            </a:r>
            <a:r>
              <a:rPr lang="ko-KR" altLang="en-US" dirty="0"/>
              <a:t> </a:t>
            </a:r>
            <a:r>
              <a:rPr lang="ko-KR" altLang="en-US" dirty="0" smtClean="0"/>
              <a:t>팝업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en-US" altLang="ko-KR" dirty="0" smtClean="0">
                <a:latin typeface="+mn-ea"/>
              </a:rPr>
              <a:t>MUI-OP-01-P06 </a:t>
            </a:r>
            <a:r>
              <a:rPr lang="ko-KR" altLang="en-US" dirty="0" err="1" smtClean="0"/>
              <a:t>업체의견</a:t>
            </a:r>
            <a:r>
              <a:rPr lang="ko-KR" altLang="en-US" dirty="0" smtClean="0"/>
              <a:t> 상세</a:t>
            </a:r>
            <a:r>
              <a:rPr lang="en-US" altLang="ko-KR" dirty="0" smtClean="0">
                <a:latin typeface="+mn-ea"/>
              </a:rPr>
              <a:t/>
            </a:r>
            <a:br>
              <a:rPr lang="en-US" altLang="ko-KR" dirty="0" smtClean="0">
                <a:latin typeface="+mn-ea"/>
              </a:rPr>
            </a:br>
            <a:r>
              <a:rPr lang="en-US" altLang="ko-KR" dirty="0" smtClean="0">
                <a:latin typeface="+mn-ea"/>
              </a:rPr>
              <a:t>- MUI-OP-01-P06 </a:t>
            </a:r>
            <a:r>
              <a:rPr lang="ko-KR" altLang="en-US" dirty="0" err="1" smtClean="0">
                <a:latin typeface="+mn-ea"/>
              </a:rPr>
              <a:t>업체의견</a:t>
            </a:r>
            <a:r>
              <a:rPr lang="ko-KR" altLang="en-US" dirty="0" smtClean="0">
                <a:latin typeface="+mn-ea"/>
              </a:rPr>
              <a:t> 답변 상세</a:t>
            </a:r>
            <a:r>
              <a:rPr lang="en-US" altLang="ko-KR" dirty="0" smtClean="0">
                <a:latin typeface="+mn-ea"/>
              </a:rPr>
              <a:t/>
            </a:r>
            <a:br>
              <a:rPr lang="en-US" altLang="ko-KR" dirty="0" smtClean="0">
                <a:latin typeface="+mn-ea"/>
              </a:rPr>
            </a:b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 smtClean="0">
                <a:latin typeface="+mn-ea"/>
              </a:rPr>
              <a:t>의견 등록 버튼 없음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연관사전규격상세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 smtClean="0"/>
              <a:t>타메뉴</a:t>
            </a:r>
            <a:r>
              <a:rPr lang="ko-KR" altLang="en-US" dirty="0" smtClean="0"/>
              <a:t> </a:t>
            </a:r>
            <a:r>
              <a:rPr lang="ko-KR" altLang="en-US" dirty="0"/>
              <a:t>상세화면에서 연관 된 조달계획 정보를 조회한다</a:t>
            </a:r>
            <a:r>
              <a:rPr lang="en-US" altLang="ko-KR" dirty="0"/>
              <a:t>.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/>
              <a:t>연관사전규격상세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MUI-OP-01-P13</a:t>
            </a:r>
            <a:endParaRPr lang="ko-KR" altLang="en-US" dirty="0"/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양쪽 모서리가 둥근 사각형 198"/>
          <p:cNvSpPr/>
          <p:nvPr/>
        </p:nvSpPr>
        <p:spPr>
          <a:xfrm>
            <a:off x="675399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1761412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19" name="그룹 218"/>
          <p:cNvGrpSpPr/>
          <p:nvPr/>
        </p:nvGrpSpPr>
        <p:grpSpPr>
          <a:xfrm>
            <a:off x="3164338" y="1773925"/>
            <a:ext cx="94010" cy="94010"/>
            <a:chOff x="6812560" y="3297172"/>
            <a:chExt cx="94010" cy="94010"/>
          </a:xfrm>
        </p:grpSpPr>
        <p:cxnSp>
          <p:nvCxnSpPr>
            <p:cNvPr id="220" name="직선 연결선 219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</a:rPr>
              <a:t>사전규격상세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0160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9" name="타원 2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1870" y="175360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815" y="208332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23929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9" name="그룹 58"/>
          <p:cNvGrpSpPr/>
          <p:nvPr/>
        </p:nvGrpSpPr>
        <p:grpSpPr>
          <a:xfrm>
            <a:off x="701175" y="2110472"/>
            <a:ext cx="2642526" cy="2031034"/>
            <a:chOff x="701175" y="1527996"/>
            <a:chExt cx="2642526" cy="2031034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527996"/>
              <a:ext cx="125715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발주기관 규격서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703268" y="1835481"/>
              <a:ext cx="792000" cy="1717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835481"/>
              <a:ext cx="725552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판단번호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발주기관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예산액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의견접수</a:t>
              </a:r>
              <a:r>
                <a:rPr lang="ko-KR" altLang="en-US" sz="700" dirty="0" smtClean="0">
                  <a:latin typeface="+mn-ea"/>
                </a:rPr>
                <a:t> 시작일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의견접수</a:t>
              </a:r>
              <a:r>
                <a:rPr lang="ko-KR" altLang="en-US" sz="700" dirty="0" smtClean="0">
                  <a:latin typeface="+mn-ea"/>
                </a:rPr>
                <a:t> 종료일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담당자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담당자 연락처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835481"/>
              <a:ext cx="1796521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2026-00590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</a:t>
              </a:r>
              <a:r>
                <a:rPr lang="en-US" altLang="ko-KR" sz="700" dirty="0">
                  <a:latin typeface="+mn-ea"/>
                </a:rPr>
                <a:t>9911</a:t>
              </a:r>
              <a:r>
                <a:rPr lang="ko-KR" altLang="en-US" sz="700" dirty="0" smtClean="0">
                  <a:latin typeface="+mn-ea"/>
                </a:rPr>
                <a:t>부대</a:t>
              </a: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홍길동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02-1234-5678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65" name="그룹 64"/>
            <p:cNvGrpSpPr/>
            <p:nvPr/>
          </p:nvGrpSpPr>
          <p:grpSpPr>
            <a:xfrm>
              <a:off x="701175" y="1835481"/>
              <a:ext cx="2630093" cy="1717920"/>
              <a:chOff x="701175" y="1835481"/>
              <a:chExt cx="2630093" cy="1717920"/>
            </a:xfrm>
          </p:grpSpPr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0" name="직선 연결선 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1" name="직선 연결선 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1455" y="2164074"/>
            <a:ext cx="1290138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spc="-52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업체의견</a:t>
            </a:r>
            <a:r>
              <a:rPr lang="ko-KR" altLang="en-US" sz="700" b="1" spc="-52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목록 </a:t>
            </a:r>
            <a:r>
              <a:rPr lang="en-US" altLang="ko-KR" sz="700" b="1" spc="-52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0,000</a:t>
            </a:r>
            <a:r>
              <a:rPr lang="ko-KR" altLang="en-US" sz="700" b="1" spc="-52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  <a:endParaRPr lang="ko-KR" altLang="en-US" sz="700" b="1" spc="-52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675399" y="4231230"/>
            <a:ext cx="2712027" cy="1222329"/>
            <a:chOff x="675399" y="1814987"/>
            <a:chExt cx="2712027" cy="1222329"/>
          </a:xfrm>
        </p:grpSpPr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181498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551" y="1867758"/>
              <a:ext cx="129808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spc="-52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첨부파일 </a:t>
              </a:r>
              <a:r>
                <a:rPr lang="en-US" altLang="ko-KR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- </a:t>
              </a: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총 </a:t>
              </a:r>
              <a:r>
                <a:rPr lang="en-US" altLang="ko-KR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0</a:t>
              </a: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건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80" name="모서리가 둥근 직사각형 79"/>
            <p:cNvSpPr/>
            <p:nvPr/>
          </p:nvSpPr>
          <p:spPr>
            <a:xfrm>
              <a:off x="718021" y="2266144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8689" y="2394526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1.PDF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6217" y="2394526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101" name="타원 100"/>
            <p:cNvSpPr/>
            <p:nvPr/>
          </p:nvSpPr>
          <p:spPr>
            <a:xfrm>
              <a:off x="3078140" y="2376387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모서리가 둥근 직사각형 101"/>
            <p:cNvSpPr/>
            <p:nvPr/>
          </p:nvSpPr>
          <p:spPr>
            <a:xfrm>
              <a:off x="718021" y="2672830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8689" y="2801212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2.hwp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6217" y="2801212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105" name="타원 104"/>
            <p:cNvSpPr/>
            <p:nvPr/>
          </p:nvSpPr>
          <p:spPr>
            <a:xfrm>
              <a:off x="3078140" y="2783073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8689" y="2131026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87656" y="2131026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다운로드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4785" y="2131026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3834987" y="2471559"/>
            <a:ext cx="2621844" cy="2082620"/>
            <a:chOff x="720490" y="2205164"/>
            <a:chExt cx="2621844" cy="2082620"/>
          </a:xfrm>
        </p:grpSpPr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220516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4" name="그룹 113"/>
            <p:cNvGrpSpPr/>
            <p:nvPr/>
          </p:nvGrpSpPr>
          <p:grpSpPr>
            <a:xfrm>
              <a:off x="781460" y="2325977"/>
              <a:ext cx="2473258" cy="821562"/>
              <a:chOff x="781460" y="2610063"/>
              <a:chExt cx="2473258" cy="821562"/>
            </a:xfrm>
          </p:grpSpPr>
          <p:sp>
            <p:nvSpPr>
              <p:cNvPr id="115" name="TextBox 58">
                <a:extLst>
                  <a:ext uri="{FF2B5EF4-FFF2-40B4-BE49-F238E27FC236}">
                    <a16:creationId xmlns:a16="http://schemas.microsoft.com/office/drawing/2014/main" id="{02FC114B-B48B-345F-BD70-2B5A196F5B3E}"/>
                  </a:ext>
                </a:extLst>
              </p:cNvPr>
              <p:cNvSpPr txBox="1"/>
              <p:nvPr/>
            </p:nvSpPr>
            <p:spPr>
              <a:xfrm>
                <a:off x="781461" y="2794394"/>
                <a:ext cx="247325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dirty="0"/>
                  <a:t>비공개</a:t>
                </a:r>
                <a:endParaRPr lang="en-US" altLang="ko-KR" sz="700" dirty="0"/>
              </a:p>
              <a:p>
                <a:r>
                  <a:rPr lang="ko-KR" altLang="en-US" sz="900" b="1" dirty="0"/>
                  <a:t>비공개</a:t>
                </a:r>
              </a:p>
            </p:txBody>
          </p:sp>
          <p:sp>
            <p:nvSpPr>
              <p:cNvPr id="116" name="TextBox 59">
                <a:extLst>
                  <a:ext uri="{FF2B5EF4-FFF2-40B4-BE49-F238E27FC236}">
                    <a16:creationId xmlns:a16="http://schemas.microsoft.com/office/drawing/2014/main" id="{F77C802D-3BC8-270F-87FC-5F442BD8054D}"/>
                  </a:ext>
                </a:extLst>
              </p:cNvPr>
              <p:cNvSpPr txBox="1"/>
              <p:nvPr/>
            </p:nvSpPr>
            <p:spPr>
              <a:xfrm>
                <a:off x="781461" y="3154626"/>
                <a:ext cx="3077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600" dirty="0">
                    <a:latin typeface="+mn-ea"/>
                  </a:rPr>
                  <a:t>성명</a:t>
                </a:r>
                <a:endParaRPr lang="en-US" altLang="ko-KR" sz="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600" dirty="0" err="1">
                    <a:latin typeface="+mn-ea"/>
                  </a:rPr>
                  <a:t>입력일시</a:t>
                </a:r>
                <a:endParaRPr lang="en-US" altLang="ko-KR" sz="600" dirty="0">
                  <a:latin typeface="+mn-ea"/>
                </a:endParaRPr>
              </a:p>
            </p:txBody>
          </p:sp>
          <p:sp>
            <p:nvSpPr>
              <p:cNvPr id="117" name="TextBox 60">
                <a:extLst>
                  <a:ext uri="{FF2B5EF4-FFF2-40B4-BE49-F238E27FC236}">
                    <a16:creationId xmlns:a16="http://schemas.microsoft.com/office/drawing/2014/main" id="{8F5E3227-69E6-C89F-B8C5-534226E95EA8}"/>
                  </a:ext>
                </a:extLst>
              </p:cNvPr>
              <p:cNvSpPr txBox="1"/>
              <p:nvPr/>
            </p:nvSpPr>
            <p:spPr>
              <a:xfrm>
                <a:off x="2596303" y="3139237"/>
                <a:ext cx="6091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600" dirty="0">
                    <a:latin typeface="+mn-ea"/>
                  </a:rPr>
                  <a:t>비공개</a:t>
                </a:r>
                <a:endParaRPr lang="en-US" altLang="ko-KR" sz="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600" dirty="0"/>
                  <a:t>2026-01-03 14:50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18" name="모서리가 둥근 직사각형 117"/>
              <p:cNvSpPr/>
              <p:nvPr/>
            </p:nvSpPr>
            <p:spPr>
              <a:xfrm>
                <a:off x="781460" y="2610063"/>
                <a:ext cx="318677" cy="119400"/>
              </a:xfrm>
              <a:prstGeom prst="roundRect">
                <a:avLst>
                  <a:gd name="adj" fmla="val 23409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dk1"/>
                    </a:solidFill>
                  </a:rPr>
                  <a:t>비공개</a:t>
                </a:r>
              </a:p>
            </p:txBody>
          </p:sp>
        </p:grp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321243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20" name="그룹 119"/>
            <p:cNvGrpSpPr/>
            <p:nvPr/>
          </p:nvGrpSpPr>
          <p:grpSpPr>
            <a:xfrm>
              <a:off x="781460" y="3345937"/>
              <a:ext cx="2473258" cy="821562"/>
              <a:chOff x="781460" y="2610063"/>
              <a:chExt cx="2473258" cy="821562"/>
            </a:xfrm>
          </p:grpSpPr>
          <p:sp>
            <p:nvSpPr>
              <p:cNvPr id="121" name="TextBox 58">
                <a:extLst>
                  <a:ext uri="{FF2B5EF4-FFF2-40B4-BE49-F238E27FC236}">
                    <a16:creationId xmlns:a16="http://schemas.microsoft.com/office/drawing/2014/main" id="{02FC114B-B48B-345F-BD70-2B5A196F5B3E}"/>
                  </a:ext>
                </a:extLst>
              </p:cNvPr>
              <p:cNvSpPr txBox="1"/>
              <p:nvPr/>
            </p:nvSpPr>
            <p:spPr>
              <a:xfrm>
                <a:off x="781461" y="2794394"/>
                <a:ext cx="247325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dirty="0"/>
                  <a:t>㈜</a:t>
                </a:r>
                <a:r>
                  <a:rPr lang="ko-KR" altLang="en-US" sz="700" dirty="0" err="1"/>
                  <a:t>미래회사</a:t>
                </a:r>
                <a:endParaRPr lang="en-US" altLang="ko-KR" sz="700" dirty="0"/>
              </a:p>
              <a:p>
                <a:r>
                  <a:rPr lang="ko-KR" altLang="en-US" sz="900" b="1" dirty="0"/>
                  <a:t>업체의 의견이 있습니다</a:t>
                </a:r>
                <a:r>
                  <a:rPr lang="en-US" altLang="ko-KR" sz="900" b="1" dirty="0"/>
                  <a:t>.</a:t>
                </a:r>
                <a:endParaRPr lang="ko-KR" altLang="en-US" sz="900" b="1" dirty="0"/>
              </a:p>
            </p:txBody>
          </p:sp>
          <p:sp>
            <p:nvSpPr>
              <p:cNvPr id="122" name="TextBox 59">
                <a:extLst>
                  <a:ext uri="{FF2B5EF4-FFF2-40B4-BE49-F238E27FC236}">
                    <a16:creationId xmlns:a16="http://schemas.microsoft.com/office/drawing/2014/main" id="{F77C802D-3BC8-270F-87FC-5F442BD8054D}"/>
                  </a:ext>
                </a:extLst>
              </p:cNvPr>
              <p:cNvSpPr txBox="1"/>
              <p:nvPr/>
            </p:nvSpPr>
            <p:spPr>
              <a:xfrm>
                <a:off x="781461" y="3154626"/>
                <a:ext cx="3077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600" dirty="0">
                    <a:latin typeface="+mn-ea"/>
                  </a:rPr>
                  <a:t>성명</a:t>
                </a:r>
                <a:endParaRPr lang="en-US" altLang="ko-KR" sz="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600" dirty="0" err="1">
                    <a:latin typeface="+mn-ea"/>
                  </a:rPr>
                  <a:t>입력일시</a:t>
                </a:r>
                <a:endParaRPr lang="en-US" altLang="ko-KR" sz="600" dirty="0">
                  <a:latin typeface="+mn-ea"/>
                </a:endParaRPr>
              </a:p>
            </p:txBody>
          </p:sp>
          <p:sp>
            <p:nvSpPr>
              <p:cNvPr id="123" name="TextBox 60">
                <a:extLst>
                  <a:ext uri="{FF2B5EF4-FFF2-40B4-BE49-F238E27FC236}">
                    <a16:creationId xmlns:a16="http://schemas.microsoft.com/office/drawing/2014/main" id="{8F5E3227-69E6-C89F-B8C5-534226E95EA8}"/>
                  </a:ext>
                </a:extLst>
              </p:cNvPr>
              <p:cNvSpPr txBox="1"/>
              <p:nvPr/>
            </p:nvSpPr>
            <p:spPr>
              <a:xfrm>
                <a:off x="2596303" y="3139237"/>
                <a:ext cx="6091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600" dirty="0">
                    <a:latin typeface="+mn-ea"/>
                  </a:rPr>
                  <a:t>홍길동</a:t>
                </a:r>
                <a:endParaRPr lang="en-US" altLang="ko-KR" sz="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600" dirty="0"/>
                  <a:t>2026-01-03 14:50</a:t>
                </a:r>
              </a:p>
            </p:txBody>
          </p:sp>
          <p:sp>
            <p:nvSpPr>
              <p:cNvPr id="124" name="모서리가 둥근 직사각형 123"/>
              <p:cNvSpPr/>
              <p:nvPr/>
            </p:nvSpPr>
            <p:spPr>
              <a:xfrm>
                <a:off x="781460" y="2610063"/>
                <a:ext cx="318677" cy="119400"/>
              </a:xfrm>
              <a:prstGeom prst="roundRect">
                <a:avLst>
                  <a:gd name="adj" fmla="val 23409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dk1"/>
                    </a:solidFill>
                  </a:rPr>
                  <a:t>공개</a:t>
                </a:r>
              </a:p>
            </p:txBody>
          </p:sp>
        </p:grp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28778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28" name="모서리가 둥근 직사각형 227"/>
          <p:cNvSpPr/>
          <p:nvPr/>
        </p:nvSpPr>
        <p:spPr>
          <a:xfrm rot="5400000">
            <a:off x="2662242" y="274737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9052" y="276902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3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479035"/>
            <a:ext cx="2446613" cy="199541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917014"/>
            <a:ext cx="76863" cy="292489"/>
            <a:chOff x="3750067" y="4683795"/>
            <a:chExt cx="76863" cy="292489"/>
          </a:xfrm>
        </p:grpSpPr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230" name="그룹 229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noProof="0" dirty="0" smtClean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81" name="그룹 80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82" name="직사각형 81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2026-05-27 </a:t>
              </a:r>
              <a:r>
                <a:rPr lang="ko-KR" altLang="en-US" dirty="0" smtClean="0"/>
                <a:t>화면 수정</a:t>
              </a:r>
              <a:endParaRPr lang="ko-KR" altLang="en-US" dirty="0"/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페이지 추가됨</a:t>
              </a:r>
              <a:r>
                <a:rPr lang="en-US" altLang="ko-KR" sz="700" dirty="0" smtClean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03812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49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41213"/>
            <a:ext cx="201233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사전규격 상세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524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식별을 위한 조달번호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4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720520"/>
            <a:ext cx="22832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발주기관 규격서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4290" y="1932805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drctnYr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1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6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674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의견접수 시작일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rcptDtFrom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의견접수 시작일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5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의견접수 종료일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rcptDtTo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의견접수 종료일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8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telno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연락처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0940877-3BA8-DBAA-6E31-A353219C68C0}"/>
              </a:ext>
            </a:extLst>
          </p:cNvPr>
          <p:cNvSpPr txBox="1"/>
          <p:nvPr/>
        </p:nvSpPr>
        <p:spPr>
          <a:xfrm>
            <a:off x="452999" y="3738639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연관정보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B9F28F4-1D6A-2D23-4FC4-439DC7656AC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3950924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 조달계획의 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D732F0B-7384-2FC9-46BD-4F769F1FCBA2}"/>
              </a:ext>
            </a:extLst>
          </p:cNvPr>
          <p:cNvSpPr txBox="1"/>
          <p:nvPr/>
        </p:nvSpPr>
        <p:spPr>
          <a:xfrm>
            <a:off x="452999" y="4410729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F1487E1-9181-6C7E-F12B-AC19A398003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4623014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8947A1-E3B7-07DA-C8BB-D66235E2495F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(1/2)</a:t>
            </a:r>
            <a:endParaRPr lang="ko-KR" altLang="en-US" sz="1000" b="1" dirty="0"/>
          </a:p>
        </p:txBody>
      </p:sp>
      <p:sp>
        <p:nvSpPr>
          <p:cNvPr id="10" name="Text Box 73">
            <a:extLst>
              <a:ext uri="{FF2B5EF4-FFF2-40B4-BE49-F238E27FC236}">
                <a16:creationId xmlns:a16="http://schemas.microsoft.com/office/drawing/2014/main" id="{AB8D4575-7D83-3704-54E3-B02D52E5A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043081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CD876C-FBB7-97BC-42DF-2C8719EB5AEC}"/>
              </a:ext>
            </a:extLst>
          </p:cNvPr>
          <p:cNvSpPr txBox="1"/>
          <p:nvPr/>
        </p:nvSpPr>
        <p:spPr>
          <a:xfrm>
            <a:off x="444290" y="842212"/>
            <a:ext cx="216782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업체의견 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12261D8-16FA-64B9-ADFA-DB630E3728E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4290" y="1054497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업체의견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regYn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Y: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공개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N: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비공개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1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6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5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8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입력일시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wrtDt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입력일시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hh24:mi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EA80006-B550-AB59-C9AB-8BF88793186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(2/2)</a:t>
            </a:r>
            <a:endParaRPr lang="ko-KR" altLang="en-US" sz="1000" b="1" dirty="0"/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2012867A-1DD5-9141-4685-6A682B4EF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44477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E50986-444A-3C87-3626-6E69412E202F}"/>
              </a:ext>
            </a:extLst>
          </p:cNvPr>
          <p:cNvSpPr txBox="1"/>
          <p:nvPr/>
        </p:nvSpPr>
        <p:spPr>
          <a:xfrm>
            <a:off x="458117" y="581669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71EBCAA-7B98-9BE9-EE25-662CA3DE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760202"/>
              </p:ext>
            </p:extLst>
          </p:nvPr>
        </p:nvGraphicFramePr>
        <p:xfrm>
          <a:off x="453000" y="846360"/>
          <a:ext cx="8995591" cy="1651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연관정보 조달계획 링크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scwin.btn_anlPrcmPlan_onclick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 조달계획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(UI-OP-01-P03)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44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의견등록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scwin.btn_opnnReg_onclick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 일 경우 업체의견 등록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624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업체의견목록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그리드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scwin.grd_opnnDtl_onclick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205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닫기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4CAD4002-DE63-FE39-E878-539FF0340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68" y="649812"/>
            <a:ext cx="136832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005576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국외 </a:t>
            </a:r>
            <a:r>
              <a:rPr lang="ko-KR" altLang="en-US" dirty="0" smtClean="0">
                <a:latin typeface="+mn-ea"/>
              </a:rPr>
              <a:t>조달계획 </a:t>
            </a:r>
            <a:r>
              <a:rPr lang="ko-KR" altLang="en-US" dirty="0">
                <a:latin typeface="+mn-ea"/>
              </a:rPr>
              <a:t>통합</a:t>
            </a:r>
            <a:r>
              <a:rPr lang="ko-KR" altLang="en-US" dirty="0"/>
              <a:t> 목록 메뉴</a:t>
            </a:r>
            <a:endParaRPr lang="en-US" altLang="ko-KR" dirty="0"/>
          </a:p>
          <a:p>
            <a:r>
              <a:rPr lang="en-US" altLang="ko-KR" dirty="0" smtClean="0"/>
              <a:t>2.1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305190"/>
              </p:ext>
            </p:extLst>
          </p:nvPr>
        </p:nvGraphicFramePr>
        <p:xfrm>
          <a:off x="635474" y="1413419"/>
          <a:ext cx="8701200" cy="476734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MUI-OP-01-M01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통합목록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통합 목록 조회 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화면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국내와 동일함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UC-OP-03-01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MUI-OP-01-M02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검색필터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PrcmPlanIntgList_SrchFilter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국내와 동일함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PrcmPlanIntgList_SrchFilter.tsx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UC-OP-03-01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MUI-OP-01-P71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품목별조회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ItemInq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국외 검색 시</a:t>
                      </a:r>
                      <a:endParaRPr lang="en-US" altLang="ko-KR" sz="80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/>
                        <a:t>요구년도</a:t>
                      </a:r>
                      <a:r>
                        <a:rPr lang="en-US" altLang="ko-KR" sz="800" dirty="0" smtClean="0"/>
                        <a:t>, </a:t>
                      </a:r>
                      <a:r>
                        <a:rPr lang="ko-KR" altLang="en-US" sz="800" dirty="0" smtClean="0"/>
                        <a:t>품명</a:t>
                      </a:r>
                      <a:r>
                        <a:rPr lang="en-US" altLang="ko-KR" sz="800" dirty="0" smtClean="0"/>
                        <a:t>, </a:t>
                      </a:r>
                      <a:r>
                        <a:rPr lang="ko-KR" altLang="en-US" sz="800" dirty="0" err="1" smtClean="0"/>
                        <a:t>재고번호</a:t>
                      </a:r>
                      <a:r>
                        <a:rPr lang="en-US" altLang="ko-KR" sz="800" dirty="0" smtClean="0"/>
                        <a:t>, </a:t>
                      </a:r>
                      <a:r>
                        <a:rPr lang="ko-KR" altLang="en-US" sz="800" dirty="0" err="1" smtClean="0"/>
                        <a:t>부품번호로</a:t>
                      </a:r>
                      <a:r>
                        <a:rPr lang="ko-KR" altLang="en-US" sz="800" dirty="0" smtClean="0"/>
                        <a:t> 품목을 검색하는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ItemInq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UC-OP-03-01</a:t>
                      </a:r>
                      <a:endParaRPr lang="ko-KR" altLang="en-US" sz="800" dirty="0" smtClean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1136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MUI-OP-01-P72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PrdcrInq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국외 검색 시</a:t>
                      </a:r>
                      <a:endParaRPr lang="en-US" altLang="ko-KR" sz="80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생산자 목록 코드를 검색하는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BfhdSpcfctDtl_OpnnDtl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UC-OP-03-01</a:t>
                      </a:r>
                      <a:endParaRPr lang="ko-KR" altLang="en-US" sz="800" dirty="0" smtClean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2429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MUI-OP-01-M73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 조달계획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중 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집행계획상세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내용 탭 표시 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국내 조달계획 화면과 일부 중복됨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OvsPrcmPlanDtlPage.tsx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20861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MUI-OP-01-M74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결과목록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OvsPrcmPlanDtl_RsltList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 조달계획 상세 중 결과 목록 표시 탭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OvsPrcmPlanDtl_RsltList.tsx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 smtClean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855519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MUI-OP-01-P75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품목별가격자료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PrcDataList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조달계획상세조회에서 조회된 항목 중 실적이 있는 항목의 품목별가격자료를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PrcDataList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 smtClean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27287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MUI-OP-01-P76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목록정보조회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형상자료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WarSplList_Cnfg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군수품 목록 중 </a:t>
                      </a:r>
                      <a:r>
                        <a:rPr lang="ko-KR" altLang="en-US" sz="800" dirty="0" err="1" smtClean="0"/>
                        <a:t>형상자료</a:t>
                      </a:r>
                      <a:r>
                        <a:rPr lang="ko-KR" altLang="en-US" sz="800" dirty="0" smtClean="0"/>
                        <a:t> 정보를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WarSplList_Cnfg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9126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MUI-OP-01-P76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목록정보조회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 err="1" smtClean="0"/>
                        <a:t>식별자료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WarSplList_Idntf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군수품 목록 중 </a:t>
                      </a:r>
                      <a:r>
                        <a:rPr lang="ko-KR" altLang="en-US" sz="800" dirty="0" err="1" smtClean="0"/>
                        <a:t>식별자료</a:t>
                      </a:r>
                      <a:r>
                        <a:rPr lang="ko-KR" altLang="en-US" sz="800" dirty="0" smtClean="0"/>
                        <a:t> 정보를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WarSplList_Idntf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815226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MUI-OP-01-P76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목록정보조회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 smtClean="0"/>
                        <a:t>참고자료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WarSplList_Ref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군수품 목록 중 참고자료 정보를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WarSplList_Ref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36672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MUI-OP-01-P77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목록정보조회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업체정보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WarSplList_BzEnty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군수품 </a:t>
                      </a:r>
                      <a:r>
                        <a:rPr lang="ko-KR" altLang="en-US" sz="800" dirty="0" err="1" smtClean="0"/>
                        <a:t>형상자료의</a:t>
                      </a:r>
                      <a:r>
                        <a:rPr lang="ko-KR" altLang="en-US" sz="800" dirty="0" smtClean="0"/>
                        <a:t> 업체정보 </a:t>
                      </a:r>
                      <a:r>
                        <a:rPr lang="ko-KR" altLang="en-US" sz="800" dirty="0" err="1" smtClean="0"/>
                        <a:t>팝업화면</a:t>
                      </a:r>
                      <a:endParaRPr lang="ko-KR" altLang="en-US" sz="800" dirty="0" smtClean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WarSplList_BzEnty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552346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548241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2.2</a:t>
            </a:r>
            <a:r>
              <a:rPr lang="en-US" altLang="ko-KR" dirty="0"/>
              <a:t>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조달 계획 목록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619C48D-7E22-9D49-50C5-2404458A47CE}"/>
              </a:ext>
            </a:extLst>
          </p:cNvPr>
          <p:cNvSpPr txBox="1"/>
          <p:nvPr/>
        </p:nvSpPr>
        <p:spPr>
          <a:xfrm>
            <a:off x="777742" y="6257756"/>
            <a:ext cx="8640000" cy="2696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87313" lvl="0" indent="-87313" fontAlgn="base" latinLnBrk="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조달계획 진입 시 조달계획 목록이 먼저 노출되며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검색 필터에서 </a:t>
            </a:r>
            <a:r>
              <a:rPr lang="ko-KR" altLang="en-US" sz="800" kern="0" dirty="0" err="1">
                <a:solidFill>
                  <a:srgbClr val="0000FF"/>
                </a:solidFill>
                <a:latin typeface="+mn-ea"/>
              </a:rPr>
              <a:t>검색유형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조달계획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800" kern="0" dirty="0" err="1">
                <a:solidFill>
                  <a:srgbClr val="0000FF"/>
                </a:solidFill>
                <a:latin typeface="+mn-ea"/>
              </a:rPr>
              <a:t>사전규격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연간조달계획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)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을 설정함</a:t>
            </a: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1628964"/>
            <a:ext cx="900000" cy="288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검색 필터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9071415" y="4441277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9100412" y="4233785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934513"/>
            <a:ext cx="900000" cy="288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조달 계획 상세</a:t>
            </a: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162" idx="1"/>
          </p:cNvCxnSpPr>
          <p:nvPr/>
        </p:nvCxnSpPr>
        <p:spPr>
          <a:xfrm>
            <a:off x="3266608" y="1772964"/>
            <a:ext cx="931134" cy="130554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3732175" y="71339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5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2816608" y="1261938"/>
            <a:ext cx="1163780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검색 반영 </a:t>
            </a:r>
            <a:r>
              <a:rPr lang="en-US" altLang="ko-KR" sz="800" dirty="0" smtClean="0">
                <a:solidFill>
                  <a:schemeClr val="tx1"/>
                </a:solidFill>
              </a:rPr>
              <a:t>(</a:t>
            </a:r>
            <a:r>
              <a:rPr lang="ko-KR" altLang="en-US" sz="800" dirty="0" smtClean="0">
                <a:solidFill>
                  <a:schemeClr val="tx1"/>
                </a:solidFill>
              </a:rPr>
              <a:t>연간조달계획</a:t>
            </a:r>
            <a:r>
              <a:rPr lang="en-US" altLang="ko-KR" sz="800" dirty="0" smtClean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93451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2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품목별 검색</a:t>
            </a:r>
          </a:p>
        </p:txBody>
      </p:sp>
      <p:sp>
        <p:nvSpPr>
          <p:cNvPr id="2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생산자 검색</a:t>
            </a:r>
          </a:p>
        </p:txBody>
      </p:sp>
      <p:sp>
        <p:nvSpPr>
          <p:cNvPr id="3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355606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결과목록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9" idx="3"/>
            <a:endCxn id="24" idx="1"/>
          </p:cNvCxnSpPr>
          <p:nvPr/>
        </p:nvCxnSpPr>
        <p:spPr>
          <a:xfrm>
            <a:off x="5097742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3"/>
            <a:endCxn id="25" idx="1"/>
          </p:cNvCxnSpPr>
          <p:nvPr/>
        </p:nvCxnSpPr>
        <p:spPr>
          <a:xfrm>
            <a:off x="5097742" y="1772964"/>
            <a:ext cx="931134" cy="6815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30" idx="1"/>
          </p:cNvCxnSpPr>
          <p:nvPr/>
        </p:nvCxnSpPr>
        <p:spPr>
          <a:xfrm>
            <a:off x="5097742" y="3078513"/>
            <a:ext cx="931134" cy="62155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2366608" y="1918348"/>
            <a:ext cx="20518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62" idx="3"/>
            <a:endCxn id="23" idx="1"/>
          </p:cNvCxnSpPr>
          <p:nvPr/>
        </p:nvCxnSpPr>
        <p:spPr>
          <a:xfrm>
            <a:off x="5097742" y="3078513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4176906"/>
            <a:ext cx="900000" cy="288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목록정보조회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(</a:t>
            </a:r>
            <a:r>
              <a:rPr lang="ko-KR" altLang="en-US" sz="700" dirty="0" err="1" smtClean="0">
                <a:solidFill>
                  <a:schemeClr val="tx1"/>
                </a:solidFill>
              </a:rPr>
              <a:t>군수품목록</a:t>
            </a:r>
            <a:r>
              <a:rPr lang="en-US" altLang="ko-KR" sz="700" dirty="0" smtClean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906059" y="355606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품목별 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가격자료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30" idx="3"/>
            <a:endCxn id="77" idx="1"/>
          </p:cNvCxnSpPr>
          <p:nvPr/>
        </p:nvCxnSpPr>
        <p:spPr>
          <a:xfrm>
            <a:off x="6928876" y="3700069"/>
            <a:ext cx="977183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4197742" y="1918348"/>
            <a:ext cx="791883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국외 설정 시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r>
              <a:rPr lang="ko-KR" altLang="en-US" sz="800" dirty="0" smtClean="0">
                <a:solidFill>
                  <a:schemeClr val="tx1"/>
                </a:solidFill>
              </a:rPr>
              <a:t>우측 항목 추가됨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8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65" idx="1"/>
          </p:cNvCxnSpPr>
          <p:nvPr/>
        </p:nvCxnSpPr>
        <p:spPr>
          <a:xfrm>
            <a:off x="3266608" y="1772964"/>
            <a:ext cx="931134" cy="254794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417690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형상자료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479515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식별자료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541179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참고자료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5" idx="3"/>
            <a:endCxn id="96" idx="1"/>
          </p:cNvCxnSpPr>
          <p:nvPr/>
        </p:nvCxnSpPr>
        <p:spPr>
          <a:xfrm>
            <a:off x="5097742" y="4320906"/>
            <a:ext cx="931134" cy="61824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5" idx="3"/>
            <a:endCxn id="94" idx="1"/>
          </p:cNvCxnSpPr>
          <p:nvPr/>
        </p:nvCxnSpPr>
        <p:spPr>
          <a:xfrm>
            <a:off x="5097742" y="4320906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5" idx="3"/>
            <a:endCxn id="97" idx="1"/>
          </p:cNvCxnSpPr>
          <p:nvPr/>
        </p:nvCxnSpPr>
        <p:spPr>
          <a:xfrm>
            <a:off x="5097742" y="4320906"/>
            <a:ext cx="931134" cy="123488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4197742" y="4479561"/>
            <a:ext cx="791883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상세 탭으로 구성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3" idx="3"/>
            <a:endCxn id="158" idx="0"/>
          </p:cNvCxnSpPr>
          <p:nvPr/>
        </p:nvCxnSpPr>
        <p:spPr>
          <a:xfrm>
            <a:off x="6928876" y="3078513"/>
            <a:ext cx="2261536" cy="115527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7" idx="3"/>
            <a:endCxn id="158" idx="0"/>
          </p:cNvCxnSpPr>
          <p:nvPr/>
        </p:nvCxnSpPr>
        <p:spPr>
          <a:xfrm>
            <a:off x="8806059" y="3700069"/>
            <a:ext cx="384353" cy="53371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6" idx="3"/>
            <a:endCxn id="158" idx="2"/>
          </p:cNvCxnSpPr>
          <p:nvPr/>
        </p:nvCxnSpPr>
        <p:spPr>
          <a:xfrm flipV="1">
            <a:off x="6928876" y="4323785"/>
            <a:ext cx="2171536" cy="615367"/>
          </a:xfrm>
          <a:prstGeom prst="bentConnector3">
            <a:avLst>
              <a:gd name="adj1" fmla="val 9270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7" idx="3"/>
            <a:endCxn id="158" idx="2"/>
          </p:cNvCxnSpPr>
          <p:nvPr/>
        </p:nvCxnSpPr>
        <p:spPr>
          <a:xfrm flipV="1">
            <a:off x="6928876" y="4323785"/>
            <a:ext cx="2171536" cy="1232007"/>
          </a:xfrm>
          <a:prstGeom prst="bentConnector3">
            <a:avLst>
              <a:gd name="adj1" fmla="val 9270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4" idx="3"/>
            <a:endCxn id="51" idx="1"/>
          </p:cNvCxnSpPr>
          <p:nvPr/>
        </p:nvCxnSpPr>
        <p:spPr>
          <a:xfrm>
            <a:off x="6928876" y="4320906"/>
            <a:ext cx="977183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4197742" y="3234633"/>
            <a:ext cx="120225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국외 조달판단내역인 경우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r>
              <a:rPr lang="ko-KR" altLang="en-US" sz="800" dirty="0" smtClean="0">
                <a:solidFill>
                  <a:schemeClr val="tx1"/>
                </a:solidFill>
              </a:rPr>
              <a:t>상세 화면 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변경표시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상세 탭으로 </a:t>
            </a:r>
            <a:r>
              <a:rPr lang="ko-KR" altLang="en-US" sz="800" dirty="0" smtClean="0">
                <a:solidFill>
                  <a:schemeClr val="tx1"/>
                </a:solidFill>
              </a:rPr>
              <a:t>구성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906059" y="417690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업체정보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51" idx="3"/>
            <a:endCxn id="158" idx="2"/>
          </p:cNvCxnSpPr>
          <p:nvPr/>
        </p:nvCxnSpPr>
        <p:spPr>
          <a:xfrm>
            <a:off x="8806059" y="4320906"/>
            <a:ext cx="294353" cy="287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616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2.3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품목별 검색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ItemInq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생산자 검색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PrdcrInq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조달 계획 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OvsPrcmPlanDtlPage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&lt;&lt;Controller&gt;&gt;</a:t>
            </a:r>
          </a:p>
          <a:p>
            <a:pPr algn="ctr"/>
            <a:r>
              <a:rPr lang="ko-KR" altLang="en-US" sz="1100" dirty="0"/>
              <a:t>조달계획 </a:t>
            </a:r>
            <a:r>
              <a:rPr lang="en-US" altLang="ko-KR" sz="1100" dirty="0"/>
              <a:t>Controller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65266"/>
            <a:ext cx="967509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992582" y="2465584"/>
            <a:ext cx="967509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결과목록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OvsPrcmPlanDtl_RsltList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품목별가격자료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PrcDataList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목록정보조회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WarSplList_Cnfg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3455423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&lt;&lt;Controller&gt;&gt;</a:t>
            </a:r>
          </a:p>
          <a:p>
            <a:pPr algn="ctr"/>
            <a:r>
              <a:rPr lang="ko-KR" altLang="en-US" sz="1100" dirty="0" err="1"/>
              <a:t>검색필터</a:t>
            </a:r>
            <a:r>
              <a:rPr lang="ko-KR" altLang="en-US" sz="1100" dirty="0"/>
              <a:t> </a:t>
            </a:r>
            <a:r>
              <a:rPr lang="en-US" altLang="ko-KR" sz="1100" dirty="0"/>
              <a:t>Controller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28" idx="1"/>
          </p:cNvCxnSpPr>
          <p:nvPr/>
        </p:nvCxnSpPr>
        <p:spPr>
          <a:xfrm>
            <a:off x="5687291" y="2990174"/>
            <a:ext cx="1226127" cy="7082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24604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업체정보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WarSplList_BzEnty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247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0125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ko-KR" dirty="0" smtClean="0"/>
              <a:t>input</a:t>
            </a:r>
            <a:r>
              <a:rPr lang="ko-KR" altLang="en-US" dirty="0"/>
              <a:t>으로 포커스 </a:t>
            </a:r>
            <a:r>
              <a:rPr lang="ko-KR" altLang="en-US" dirty="0" err="1"/>
              <a:t>자동이동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활성화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입력이 있는 경우 내용 삭제 아이콘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입력 내용 기반 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Like </a:t>
            </a:r>
            <a:r>
              <a:rPr lang="ko-KR" altLang="en-US" dirty="0"/>
              <a:t>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버튼 클릭 시 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검색 버튼으로 동일 검색 기능 동작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결과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타이틀 영역 제외 스크롤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결과 클릭을 통해 검색 </a:t>
            </a:r>
            <a:r>
              <a:rPr lang="ko-KR" altLang="en-US" dirty="0" smtClean="0"/>
              <a:t>필터에 맞는 데이터 반영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진입 조건에 따라 필터에 맞춰 아래 정보 반환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smtClean="0"/>
              <a:t>품명 진입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품명 반환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err="1" smtClean="0"/>
              <a:t>재고번호</a:t>
            </a:r>
            <a:r>
              <a:rPr lang="ko-KR" altLang="en-US" dirty="0" smtClean="0"/>
              <a:t> 진입 </a:t>
            </a:r>
            <a:r>
              <a:rPr lang="en-US" altLang="ko-KR" dirty="0" smtClean="0"/>
              <a:t>-&gt; </a:t>
            </a:r>
            <a:r>
              <a:rPr lang="ko-KR" altLang="en-US" dirty="0" err="1" smtClean="0"/>
              <a:t>재고번호</a:t>
            </a:r>
            <a:r>
              <a:rPr lang="ko-KR" altLang="en-US" dirty="0" smtClean="0"/>
              <a:t> 반환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err="1" smtClean="0"/>
              <a:t>부품번호</a:t>
            </a:r>
            <a:r>
              <a:rPr lang="ko-KR" altLang="en-US" dirty="0" smtClean="0"/>
              <a:t> 진입 </a:t>
            </a:r>
            <a:r>
              <a:rPr lang="en-US" altLang="ko-KR" dirty="0" smtClean="0"/>
              <a:t>-&gt; </a:t>
            </a:r>
            <a:r>
              <a:rPr lang="ko-KR" altLang="en-US" dirty="0" err="1" smtClean="0"/>
              <a:t>부품번호</a:t>
            </a:r>
            <a:r>
              <a:rPr lang="ko-KR" altLang="en-US" dirty="0" smtClean="0"/>
              <a:t> 반환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품목별 검색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검색 </a:t>
            </a:r>
            <a:r>
              <a:rPr lang="ko-KR" altLang="en-US" dirty="0" smtClean="0"/>
              <a:t>시 </a:t>
            </a:r>
            <a:r>
              <a:rPr lang="ko-KR" altLang="en-US" dirty="0" err="1" smtClean="0"/>
              <a:t>요구년도</a:t>
            </a:r>
            <a:r>
              <a:rPr lang="en-US" altLang="ko-KR" dirty="0"/>
              <a:t>, </a:t>
            </a:r>
            <a:r>
              <a:rPr lang="ko-KR" altLang="en-US" dirty="0"/>
              <a:t>품명</a:t>
            </a:r>
            <a:r>
              <a:rPr lang="en-US" altLang="ko-KR" dirty="0"/>
              <a:t>, </a:t>
            </a:r>
            <a:r>
              <a:rPr lang="ko-KR" altLang="en-US" dirty="0" err="1"/>
              <a:t>재고번호</a:t>
            </a:r>
            <a:r>
              <a:rPr lang="en-US" altLang="ko-KR" dirty="0"/>
              <a:t>, </a:t>
            </a:r>
            <a:r>
              <a:rPr lang="ko-KR" altLang="en-US" dirty="0" err="1"/>
              <a:t>부품번호로</a:t>
            </a:r>
            <a:r>
              <a:rPr lang="ko-KR" altLang="en-US" dirty="0"/>
              <a:t> 품목을 검색하는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 smtClean="0">
                <a:latin typeface="+mn-ea"/>
              </a:rPr>
              <a:t>조달계획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품목별 검색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MUI-OP-01-P71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286" name="직선 연결선 2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7" name="직선 연결선 2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8" name="타원 2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품목별</a:t>
            </a:r>
            <a:r>
              <a:rPr lang="ko-KR" altLang="en-US" sz="900" dirty="0" smtClean="0">
                <a:latin typeface="+mn-ea"/>
              </a:rPr>
              <a:t> </a:t>
            </a:r>
            <a:r>
              <a:rPr lang="ko-KR" altLang="en-US" sz="900" dirty="0">
                <a:latin typeface="+mn-ea"/>
              </a:rPr>
              <a:t>검색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7" name="모서리가 둥근 직사각형 306"/>
          <p:cNvSpPr/>
          <p:nvPr/>
        </p:nvSpPr>
        <p:spPr>
          <a:xfrm>
            <a:off x="4564213" y="2653963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tx1"/>
                </a:solidFill>
              </a:rPr>
              <a:t>502323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722276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30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88037" y="2987678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675399" y="2416287"/>
            <a:ext cx="2712027" cy="3810875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1761412" y="2452915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3164338" y="2587331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568010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품목별</a:t>
            </a:r>
            <a:r>
              <a:rPr lang="ko-KR" altLang="en-US" sz="900" dirty="0" smtClean="0">
                <a:latin typeface="+mn-ea"/>
              </a:rPr>
              <a:t> </a:t>
            </a:r>
            <a:r>
              <a:rPr lang="ko-KR" altLang="en-US" sz="900" dirty="0">
                <a:latin typeface="+mn-ea"/>
              </a:rPr>
              <a:t>검색</a:t>
            </a: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941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9" name="모서리가 둥근 직사각형 168"/>
          <p:cNvSpPr/>
          <p:nvPr/>
        </p:nvSpPr>
        <p:spPr>
          <a:xfrm>
            <a:off x="1443878" y="3266959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 smtClean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 smtClean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33527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7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4196039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112794" y="3305245"/>
            <a:ext cx="145884" cy="145882"/>
            <a:chOff x="3112794" y="3984500"/>
            <a:chExt cx="145884" cy="145882"/>
          </a:xfrm>
        </p:grpSpPr>
        <p:sp>
          <p:nvSpPr>
            <p:cNvPr id="310" name="타원 30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1" name="그룹 31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312" name="직선 연결선 31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3" name="직선 연결선 31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14" name="타원 313"/>
          <p:cNvSpPr/>
          <p:nvPr/>
        </p:nvSpPr>
        <p:spPr>
          <a:xfrm>
            <a:off x="6240768" y="2696784"/>
            <a:ext cx="145884" cy="1458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5" name="그룹 314"/>
          <p:cNvGrpSpPr/>
          <p:nvPr/>
        </p:nvGrpSpPr>
        <p:grpSpPr>
          <a:xfrm>
            <a:off x="6284673" y="2740688"/>
            <a:ext cx="58075" cy="58074"/>
            <a:chOff x="6812560" y="3297172"/>
            <a:chExt cx="94010" cy="94010"/>
          </a:xfrm>
        </p:grpSpPr>
        <p:cxnSp>
          <p:nvCxnSpPr>
            <p:cNvPr id="316" name="직선 연결선 31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7" name="직선 연결선 31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3710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47811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766913"/>
            <a:ext cx="2542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 smtClean="0">
                <a:latin typeface="+mn-ea"/>
              </a:rPr>
              <a:t>순번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376691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 err="1" smtClean="0">
                <a:latin typeface="+mn-ea"/>
              </a:rPr>
              <a:t>세부정보</a:t>
            </a:r>
            <a:endParaRPr lang="en-US" altLang="ko-KR" sz="700" b="1" dirty="0">
              <a:latin typeface="+mn-ea"/>
            </a:endParaRPr>
          </a:p>
        </p:txBody>
      </p: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65365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3" name="직선 연결선 3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97235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4" name="TextBox 3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931496"/>
            <a:ext cx="229051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400000"/>
              </a:lnSpc>
            </a:pPr>
            <a:r>
              <a:rPr lang="en-US" altLang="ko-KR" sz="700" dirty="0" smtClean="0">
                <a:latin typeface="+mn-ea"/>
              </a:rPr>
              <a:t>1</a:t>
            </a:r>
          </a:p>
          <a:p>
            <a:pPr>
              <a:lnSpc>
                <a:spcPct val="400000"/>
              </a:lnSpc>
            </a:pPr>
            <a:r>
              <a:rPr lang="en-US" altLang="ko-KR" sz="700" dirty="0" smtClean="0">
                <a:latin typeface="+mn-ea"/>
              </a:rPr>
              <a:t>2</a:t>
            </a:r>
          </a:p>
          <a:p>
            <a:pPr>
              <a:lnSpc>
                <a:spcPct val="400000"/>
              </a:lnSpc>
            </a:pPr>
            <a:r>
              <a:rPr lang="en-US" altLang="ko-KR" sz="700" dirty="0" smtClean="0">
                <a:latin typeface="+mn-ea"/>
              </a:rPr>
              <a:t>3</a:t>
            </a:r>
          </a:p>
          <a:p>
            <a:pPr>
              <a:lnSpc>
                <a:spcPct val="400000"/>
              </a:lnSpc>
            </a:pPr>
            <a:r>
              <a:rPr lang="en-US" altLang="ko-KR" sz="700" dirty="0" smtClean="0">
                <a:latin typeface="+mn-ea"/>
              </a:rPr>
              <a:t>4</a:t>
            </a:r>
          </a:p>
          <a:p>
            <a:pPr>
              <a:lnSpc>
                <a:spcPct val="400000"/>
              </a:lnSpc>
            </a:pPr>
            <a:r>
              <a:rPr lang="en-US" altLang="ko-KR" sz="700" dirty="0" smtClean="0">
                <a:latin typeface="+mn-ea"/>
              </a:rPr>
              <a:t>5</a:t>
            </a:r>
            <a:endParaRPr lang="en-US" altLang="ko-KR" sz="700" dirty="0">
              <a:latin typeface="+mn-ea"/>
            </a:endParaRP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4009020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재고번호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부품번호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smtClean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327" name="직선 연결선 3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4285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9" name="직선 연결선 32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85597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1" name="직선 연결선 3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28338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3" name="직선 연결선 33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7107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5" name="직선 연결선 33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61382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6" name="모서리가 둥근 직사각형 335"/>
          <p:cNvSpPr/>
          <p:nvPr/>
        </p:nvSpPr>
        <p:spPr>
          <a:xfrm rot="5400000">
            <a:off x="5782577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0524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7" name="직사각형 33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338" name="타원 3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220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34414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340" name="타원 33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42038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78" name="모서리가 둥근 직사각형 77"/>
          <p:cNvSpPr/>
          <p:nvPr/>
        </p:nvSpPr>
        <p:spPr>
          <a:xfrm>
            <a:off x="1443878" y="296548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2026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03379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요구년도</a:t>
            </a:r>
            <a:r>
              <a:rPr lang="ko-KR" altLang="en-US" sz="700" dirty="0" smtClean="0">
                <a:latin typeface="+mn-ea"/>
              </a:rPr>
              <a:t> </a:t>
            </a:r>
            <a:r>
              <a:rPr lang="en-US" altLang="ko-KR" sz="700" dirty="0" smtClean="0">
                <a:solidFill>
                  <a:srgbClr val="FF0000"/>
                </a:solidFill>
                <a:latin typeface="+mn-ea"/>
              </a:rPr>
              <a:t>*</a:t>
            </a:r>
            <a:endParaRPr lang="en-US" altLang="ko-KR" sz="700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86" name="그룹 85"/>
          <p:cNvGrpSpPr/>
          <p:nvPr/>
        </p:nvGrpSpPr>
        <p:grpSpPr>
          <a:xfrm>
            <a:off x="3112794" y="3070968"/>
            <a:ext cx="91438" cy="45719"/>
            <a:chOff x="6812560" y="3297172"/>
            <a:chExt cx="94010" cy="47005"/>
          </a:xfrm>
        </p:grpSpPr>
        <p:cxnSp>
          <p:nvCxnSpPr>
            <p:cNvPr id="87" name="직선 연결선 8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직선 연결선 8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4" name="모서리가 둥근 직사각형 83"/>
          <p:cNvSpPr/>
          <p:nvPr/>
        </p:nvSpPr>
        <p:spPr>
          <a:xfrm>
            <a:off x="1443878" y="3862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930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3112794" y="3900610"/>
            <a:ext cx="145884" cy="145882"/>
            <a:chOff x="3112794" y="3984500"/>
            <a:chExt cx="145884" cy="145882"/>
          </a:xfrm>
        </p:grpSpPr>
        <p:sp>
          <p:nvSpPr>
            <p:cNvPr id="90" name="타원 8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1" name="그룹 9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모서리가 둥근 직사각형 93"/>
          <p:cNvSpPr/>
          <p:nvPr/>
        </p:nvSpPr>
        <p:spPr>
          <a:xfrm>
            <a:off x="1443878" y="3560849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62916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99" name="그룹 98"/>
          <p:cNvGrpSpPr/>
          <p:nvPr/>
        </p:nvGrpSpPr>
        <p:grpSpPr>
          <a:xfrm>
            <a:off x="3112794" y="3600694"/>
            <a:ext cx="145884" cy="145882"/>
            <a:chOff x="3112794" y="3984500"/>
            <a:chExt cx="145884" cy="145882"/>
          </a:xfrm>
        </p:grpSpPr>
        <p:sp>
          <p:nvSpPr>
            <p:cNvPr id="100" name="타원 9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1" name="그룹 10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02" name="직선 연결선 10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4009020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+mn-ea"/>
              </a:rPr>
              <a:t>BELLCOSRA ASSEMBTL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3766913"/>
            <a:ext cx="2542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 smtClean="0">
                <a:latin typeface="+mn-ea"/>
              </a:rPr>
              <a:t>구분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4448363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재고번호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부품번호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smtClean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4448363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+mn-ea"/>
              </a:rPr>
              <a:t>BELLCOSRA ASSEMBTL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4872589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재고번호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부품번호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smtClean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4872589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+mn-ea"/>
              </a:rPr>
              <a:t>BELLCOSRA ASSEMBTL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5303191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재고번호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부품번호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smtClean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5303191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+mn-ea"/>
              </a:rPr>
              <a:t>BELLCOSRA ASSEMBTL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5727130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재고번호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부품번호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smtClean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5727130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+mn-ea"/>
              </a:rPr>
              <a:t>BELLCOSRA ASSEMBTL</a:t>
            </a:r>
            <a:endParaRPr lang="en-US" altLang="ko-KR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850827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03638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품목 </a:t>
            </a:r>
            <a:r>
              <a:rPr lang="ko-KR" altLang="en-US" sz="900" b="1">
                <a:solidFill>
                  <a:prstClr val="black"/>
                </a:solidFill>
              </a:rPr>
              <a:t>검색조건 </a:t>
            </a:r>
            <a:r>
              <a:rPr lang="en-US" altLang="ko-KR" sz="900" b="1">
                <a:solidFill>
                  <a:prstClr val="black"/>
                </a:solidFill>
              </a:rPr>
              <a:t>(dm_searchInfo)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E9AA4C-D963-36B3-1B0C-BA042EBA36E5}"/>
              </a:ext>
            </a:extLst>
          </p:cNvPr>
          <p:cNvSpPr txBox="1"/>
          <p:nvPr/>
        </p:nvSpPr>
        <p:spPr>
          <a:xfrm>
            <a:off x="458117" y="415065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2413313"/>
            <a:ext cx="22030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검색결과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(dl_resultList)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rqtYmd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품명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재고번호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부품번호 입력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9598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3000" y="442878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당해년도로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클릭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scwin.btn_search_onclick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품목 목록을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551911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630011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부품번호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0155448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459B811C-7C6D-9F89-9354-C41CD9BE8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03243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ko-KR" dirty="0" smtClean="0"/>
              <a:t>input</a:t>
            </a:r>
            <a:r>
              <a:rPr lang="ko-KR" altLang="en-US" dirty="0"/>
              <a:t>으로 포커스 </a:t>
            </a:r>
            <a:r>
              <a:rPr lang="ko-KR" altLang="en-US" dirty="0" err="1"/>
              <a:t>자동이동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활성화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입력이 있는 경우 내용 삭제 아이콘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입력 내용 기반 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Like </a:t>
            </a:r>
            <a:r>
              <a:rPr lang="ko-KR" altLang="en-US" dirty="0"/>
              <a:t>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버튼 클릭 시 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검색 버튼으로 동일 검색 기능 동작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결과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타이틀 영역 제외 스크롤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결과 클릭을 통해 검색 필터에 </a:t>
            </a:r>
            <a:r>
              <a:rPr lang="ko-KR" altLang="en-US" dirty="0" smtClean="0"/>
              <a:t>맞는 데이터 반영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생산자 검색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검색 </a:t>
            </a:r>
            <a:r>
              <a:rPr lang="ko-KR" altLang="en-US" dirty="0" smtClean="0"/>
              <a:t>시 생산자 </a:t>
            </a:r>
            <a:r>
              <a:rPr lang="ko-KR" altLang="en-US" dirty="0"/>
              <a:t>목록 코드를 검색하는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 smtClean="0">
                <a:latin typeface="+mn-ea"/>
              </a:rPr>
              <a:t>조달계획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생산자 검색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MUI-OP-01-P72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286" name="직선 연결선 2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7" name="직선 연결선 2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8" name="타원 2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생산자 검색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7" name="모서리가 둥근 직사각형 306"/>
          <p:cNvSpPr/>
          <p:nvPr/>
        </p:nvSpPr>
        <p:spPr>
          <a:xfrm>
            <a:off x="4564213" y="2653963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tx1"/>
                </a:solidFill>
              </a:rPr>
              <a:t>502323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722276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생산자명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30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88037" y="2987678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675399" y="3310318"/>
            <a:ext cx="2712027" cy="2916846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1761412" y="3346945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3164338" y="3481361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462040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smtClean="0">
                <a:latin typeface="+mn-ea"/>
              </a:rPr>
              <a:t>생산자 </a:t>
            </a:r>
            <a:r>
              <a:rPr lang="ko-KR" altLang="en-US" sz="900" dirty="0">
                <a:latin typeface="+mn-ea"/>
              </a:rPr>
              <a:t>검색</a:t>
            </a: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2344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4196039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314" name="타원 313"/>
          <p:cNvSpPr/>
          <p:nvPr/>
        </p:nvSpPr>
        <p:spPr>
          <a:xfrm>
            <a:off x="6240768" y="2696784"/>
            <a:ext cx="145884" cy="1458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5" name="그룹 314"/>
          <p:cNvGrpSpPr/>
          <p:nvPr/>
        </p:nvGrpSpPr>
        <p:grpSpPr>
          <a:xfrm>
            <a:off x="6284673" y="2740688"/>
            <a:ext cx="58075" cy="58074"/>
            <a:chOff x="6812560" y="3297172"/>
            <a:chExt cx="94010" cy="94010"/>
          </a:xfrm>
        </p:grpSpPr>
        <p:cxnSp>
          <p:nvCxnSpPr>
            <p:cNvPr id="316" name="직선 연결선 31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7" name="직선 연결선 31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3710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47811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65365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6" name="모서리가 둥근 직사각형 335"/>
          <p:cNvSpPr/>
          <p:nvPr/>
        </p:nvSpPr>
        <p:spPr>
          <a:xfrm rot="5400000">
            <a:off x="5782577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89934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7" name="직사각형 33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338" name="타원 3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220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34414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340" name="타원 33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42038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4" name="모서리가 둥근 직사각형 83"/>
          <p:cNvSpPr/>
          <p:nvPr/>
        </p:nvSpPr>
        <p:spPr>
          <a:xfrm>
            <a:off x="1443878" y="3862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930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생산자명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3112794" y="3900610"/>
            <a:ext cx="145884" cy="145882"/>
            <a:chOff x="3112794" y="3984500"/>
            <a:chExt cx="145884" cy="145882"/>
          </a:xfrm>
        </p:grpSpPr>
        <p:sp>
          <p:nvSpPr>
            <p:cNvPr id="90" name="타원 8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1" name="그룹 9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766913"/>
            <a:ext cx="33764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b="1" dirty="0" smtClean="0">
                <a:latin typeface="+mn-ea"/>
              </a:rPr>
              <a:t>CAGE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564213" y="376691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 err="1" smtClean="0">
                <a:latin typeface="+mn-ea"/>
              </a:rPr>
              <a:t>생산자명</a:t>
            </a:r>
            <a:endParaRPr lang="en-US" altLang="ko-KR" sz="700" b="1" dirty="0">
              <a:latin typeface="+mn-ea"/>
            </a:endParaRP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97235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983744"/>
            <a:ext cx="337645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00000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00001</a:t>
            </a:r>
          </a:p>
          <a:p>
            <a:pPr algn="ctr">
              <a:lnSpc>
                <a:spcPct val="200000"/>
              </a:lnSpc>
            </a:pPr>
            <a:endParaRPr lang="en-US" altLang="ko-KR" sz="700" dirty="0" smtClean="0">
              <a:latin typeface="+mn-ea"/>
            </a:endParaRPr>
          </a:p>
          <a:p>
            <a:pPr algn="ctr">
              <a:lnSpc>
                <a:spcPct val="200000"/>
              </a:lnSpc>
            </a:pPr>
            <a:endParaRPr lang="en-US" altLang="ko-KR" sz="700" dirty="0" smtClean="0">
              <a:latin typeface="+mn-ea"/>
            </a:endParaRPr>
          </a:p>
          <a:p>
            <a:pPr algn="ctr"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00003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00004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00005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00006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00007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00008</a:t>
            </a:r>
            <a:endParaRPr lang="en-US" altLang="ko-KR" sz="700" dirty="0">
              <a:latin typeface="+mn-ea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564213" y="3983744"/>
            <a:ext cx="1814470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ORDNANCE </a:t>
            </a:r>
            <a:r>
              <a:rPr lang="en-US" altLang="ko-KR" sz="700" dirty="0" smtClean="0">
                <a:latin typeface="+mn-ea"/>
              </a:rPr>
              <a:t>CORPS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MGC CO</a:t>
            </a:r>
          </a:p>
          <a:p>
            <a:pPr>
              <a:lnSpc>
                <a:spcPct val="200000"/>
              </a:lnSpc>
            </a:pP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A </a:t>
            </a:r>
            <a:r>
              <a:rPr lang="en-US" altLang="ko-KR" sz="700" dirty="0">
                <a:latin typeface="+mn-ea"/>
              </a:rPr>
              <a:t>B C PRODUCTS CO INC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ORDNANCE CORPS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MGC CO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C PRODUCTS CO INC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ORDNANCE CORPS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MGC </a:t>
            </a:r>
            <a:r>
              <a:rPr lang="en-US" altLang="ko-KR" sz="700" dirty="0" smtClean="0">
                <a:latin typeface="+mn-ea"/>
              </a:rPr>
              <a:t>CO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21484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4285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85597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06967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28338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49709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7107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92450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61382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564213" y="4473482"/>
            <a:ext cx="1814470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dirty="0" smtClean="0">
                <a:latin typeface="+mn-ea"/>
              </a:rPr>
              <a:t>STOUGHTON </a:t>
            </a:r>
            <a:r>
              <a:rPr lang="en-US" altLang="ko-KR" sz="700" dirty="0">
                <a:latin typeface="+mn-ea"/>
              </a:rPr>
              <a:t>YOUTH </a:t>
            </a:r>
            <a:r>
              <a:rPr lang="en-US" altLang="ko-KR" sz="700" dirty="0" err="1">
                <a:latin typeface="+mn-ea"/>
              </a:rPr>
              <a:t>COMMISSION!div</a:t>
            </a:r>
            <a:r>
              <a:rPr lang="en-US" altLang="ko-KR" sz="700" dirty="0">
                <a:latin typeface="+mn-ea"/>
              </a:rPr>
              <a:t> </a:t>
            </a:r>
            <a:r>
              <a:rPr lang="en-US" altLang="ko-KR" sz="700" dirty="0" smtClean="0">
                <a:latin typeface="+mn-ea"/>
              </a:rPr>
              <a:t>municipal</a:t>
            </a:r>
            <a:endParaRPr lang="en-US" altLang="ko-KR" sz="700" dirty="0">
              <a:latin typeface="+mn-ea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4581203"/>
            <a:ext cx="33764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00002</a:t>
            </a:r>
          </a:p>
        </p:txBody>
      </p:sp>
    </p:spTree>
    <p:extLst>
      <p:ext uri="{BB962C8B-B14F-4D97-AF65-F5344CB8AC3E}">
        <p14:creationId xmlns:p14="http://schemas.microsoft.com/office/powerpoint/2010/main" val="11325349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58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07966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생산자 </a:t>
            </a:r>
            <a:r>
              <a:rPr lang="ko-KR" altLang="en-US" sz="900" b="1">
                <a:solidFill>
                  <a:prstClr val="black"/>
                </a:solidFill>
              </a:rPr>
              <a:t>검색조건 </a:t>
            </a:r>
            <a:r>
              <a:rPr lang="en-US" altLang="ko-KR" sz="900" b="1">
                <a:solidFill>
                  <a:prstClr val="black"/>
                </a:solidFill>
              </a:rPr>
              <a:t>(dm_searchInfo)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E9AA4C-D963-36B3-1B0C-BA042EBA36E5}"/>
              </a:ext>
            </a:extLst>
          </p:cNvPr>
          <p:cNvSpPr txBox="1"/>
          <p:nvPr/>
        </p:nvSpPr>
        <p:spPr>
          <a:xfrm>
            <a:off x="458117" y="415065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2297489"/>
            <a:ext cx="224316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검색결과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(dl_resultList)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prdctnNm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생산자명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3000" y="442878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 초기화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scwin.btn_search_onclick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생산자 목록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989148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514187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CAGE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cage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생산자코드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prdctnNm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생산자명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C0D61993-505C-4C71-9A36-4C847A52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296610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조달계획 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- </a:t>
            </a:r>
            <a:r>
              <a:rPr lang="ko-KR" altLang="en-US" dirty="0"/>
              <a:t>조달계획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조달계획 </a:t>
            </a:r>
            <a:r>
              <a:rPr lang="ko-KR" altLang="en-US" sz="800" dirty="0" err="1">
                <a:latin typeface="+mn-ea"/>
              </a:rPr>
              <a:t>통합목록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81461" y="3301466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6000A</a:t>
              </a:r>
            </a:p>
            <a:p>
              <a:r>
                <a:rPr lang="en-US" altLang="ko-KR" sz="900" b="1" dirty="0"/>
                <a:t>‘26</a:t>
              </a:r>
              <a:r>
                <a:rPr lang="ko-KR" altLang="en-US" sz="900" b="1" dirty="0"/>
                <a:t>년 </a:t>
              </a:r>
              <a:r>
                <a:rPr lang="en-US" altLang="ko-KR" sz="900" b="1" dirty="0"/>
                <a:t>K5</a:t>
              </a:r>
              <a:r>
                <a:rPr lang="ko-KR" altLang="en-US" sz="900" b="1" dirty="0"/>
                <a:t>방독면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538609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2026-03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화력총괄계약팀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22320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600795"/>
            <a:ext cx="2476203" cy="1083172"/>
            <a:chOff x="778515" y="2610063"/>
            <a:chExt cx="2476203" cy="1083172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2026-00590</a:t>
              </a:r>
            </a:p>
            <a:p>
              <a:r>
                <a:rPr lang="en-US" altLang="ko-KR" sz="900" b="1" dirty="0"/>
                <a:t>26-</a:t>
              </a:r>
              <a:r>
                <a:rPr lang="ko-KR" altLang="en-US" sz="900" b="1" dirty="0"/>
                <a:t>평 절개지 복구공사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9911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92,472,000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공사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제한경쟁</a:t>
              </a:r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8227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757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발주기관 전체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발주기관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방위사업청</a:t>
            </a:r>
            <a:endParaRPr lang="ko-KR" altLang="en-US" sz="600" dirty="0"/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조달본부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경리단</a:t>
            </a:r>
            <a:endParaRPr lang="ko-KR" altLang="en-US" sz="600" dirty="0"/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군수사</a:t>
            </a:r>
            <a:endParaRPr lang="ko-KR" altLang="en-US" sz="6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교육사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학교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근지단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군병원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본부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-9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-A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기타</a:t>
            </a: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4321056" y="2203671"/>
            <a:ext cx="39399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조달계획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4762118" y="220367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사전규격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5221341" y="2203671"/>
            <a:ext cx="56515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연간조달계획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20951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검색유형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79" name="그룹 178"/>
          <p:cNvGrpSpPr/>
          <p:nvPr/>
        </p:nvGrpSpPr>
        <p:grpSpPr>
          <a:xfrm>
            <a:off x="3024315" y="3160671"/>
            <a:ext cx="776938" cy="1131139"/>
            <a:chOff x="3004764" y="2490533"/>
            <a:chExt cx="776938" cy="1131139"/>
          </a:xfrm>
        </p:grpSpPr>
        <p:sp>
          <p:nvSpPr>
            <p:cNvPr id="182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4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sp>
          <p:nvSpPr>
            <p:cNvPr id="185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50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grpSp>
          <p:nvGrpSpPr>
            <p:cNvPr id="186" name="그룹 185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2" name="그룹 191"/>
          <p:cNvGrpSpPr/>
          <p:nvPr/>
        </p:nvGrpSpPr>
        <p:grpSpPr>
          <a:xfrm>
            <a:off x="3143548" y="2983035"/>
            <a:ext cx="94010" cy="47005"/>
            <a:chOff x="6812560" y="3297172"/>
            <a:chExt cx="94010" cy="47005"/>
          </a:xfrm>
        </p:grpSpPr>
        <p:cxnSp>
          <p:nvCxnSpPr>
            <p:cNvPr id="193" name="직선 연결선 19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직선 연결선 19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5" name="그룹 194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96" name="모서리가 둥근 직사각형 195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타원 196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99" name="그룹 198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20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조달명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207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판단번호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200" name="타원 199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201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202" name="타원 201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3" name="그룹 20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204" name="직선 연결선 20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직선 연결선 20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21015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3550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직사각형 2"/>
          <p:cNvSpPr/>
          <p:nvPr/>
        </p:nvSpPr>
        <p:spPr>
          <a:xfrm>
            <a:off x="476794" y="1260503"/>
            <a:ext cx="6577149" cy="2007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</a:rPr>
              <a:t>이해를 돕기 위한 화면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5914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타이틀 </a:t>
            </a:r>
            <a:r>
              <a:rPr lang="ko-KR" altLang="en-US" dirty="0"/>
              <a:t>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우측 </a:t>
            </a:r>
            <a:r>
              <a:rPr lang="ko-KR" altLang="en-US" dirty="0" err="1"/>
              <a:t>알림신청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공고게시</a:t>
            </a:r>
            <a:r>
              <a:rPr lang="ko-KR" altLang="en-US" dirty="0"/>
              <a:t> </a:t>
            </a:r>
            <a:r>
              <a:rPr lang="ko-KR" altLang="en-US" dirty="0" err="1"/>
              <a:t>알림신청</a:t>
            </a:r>
            <a:r>
              <a:rPr lang="en-US" altLang="ko-KR" dirty="0"/>
              <a:t>)</a:t>
            </a:r>
            <a:r>
              <a:rPr lang="ko-KR" altLang="en-US" dirty="0"/>
              <a:t>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클릭 시 </a:t>
            </a:r>
            <a:r>
              <a:rPr lang="ko-KR" altLang="en-US" dirty="0" err="1">
                <a:sym typeface="Wingdings" panose="05000000000000000000" pitchFamily="2" charset="2"/>
              </a:rPr>
              <a:t>바텀</a:t>
            </a:r>
            <a:r>
              <a:rPr lang="ko-KR" altLang="en-US" dirty="0">
                <a:sym typeface="Wingdings" panose="05000000000000000000" pitchFamily="2" charset="2"/>
              </a:rPr>
              <a:t> 시트에서 </a:t>
            </a:r>
            <a:r>
              <a:rPr lang="ko-KR" altLang="en-US" dirty="0" err="1" smtClean="0">
                <a:sym typeface="Wingdings" panose="05000000000000000000" pitchFamily="2" charset="2"/>
              </a:rPr>
              <a:t>알림신청</a:t>
            </a:r>
            <a:r>
              <a:rPr lang="ko-KR" altLang="en-US" dirty="0" smtClean="0">
                <a:sym typeface="Wingdings" panose="05000000000000000000" pitchFamily="2" charset="2"/>
              </a:rPr>
              <a:t> 팝업 </a:t>
            </a:r>
            <a:r>
              <a:rPr lang="ko-KR" altLang="en-US" dirty="0">
                <a:sym typeface="Wingdings" panose="05000000000000000000" pitchFamily="2" charset="2"/>
              </a:rPr>
              <a:t>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단계표시기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상세내용 </a:t>
            </a:r>
            <a:r>
              <a:rPr lang="en-US" altLang="ko-KR" dirty="0"/>
              <a:t>Tab</a:t>
            </a:r>
            <a:r>
              <a:rPr lang="ko-KR" altLang="en-US" dirty="0"/>
              <a:t>은 진입 시 고정 노출</a:t>
            </a:r>
            <a:r>
              <a:rPr lang="en-US" altLang="ko-KR" dirty="0"/>
              <a:t>- </a:t>
            </a:r>
            <a:r>
              <a:rPr lang="ko-KR" altLang="en-US" dirty="0"/>
              <a:t>탭 </a:t>
            </a:r>
            <a:r>
              <a:rPr lang="en-US" altLang="ko-KR" dirty="0"/>
              <a:t>- </a:t>
            </a:r>
            <a:r>
              <a:rPr lang="ko-KR" altLang="en-US" dirty="0"/>
              <a:t>상세내용</a:t>
            </a:r>
            <a:r>
              <a:rPr lang="en-US" altLang="ko-KR" dirty="0"/>
              <a:t>, </a:t>
            </a:r>
            <a:r>
              <a:rPr lang="ko-KR" altLang="en-US" dirty="0" err="1" smtClean="0"/>
              <a:t>결과목록</a:t>
            </a:r>
            <a:r>
              <a:rPr lang="ko-KR" altLang="en-US" dirty="0" smtClean="0"/>
              <a:t> </a:t>
            </a:r>
            <a:r>
              <a:rPr lang="ko-KR" altLang="en-US" dirty="0"/>
              <a:t>순으로 </a:t>
            </a:r>
            <a:r>
              <a:rPr lang="ko-KR" altLang="en-US" dirty="0" smtClean="0"/>
              <a:t>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상세내용에</a:t>
            </a:r>
            <a:r>
              <a:rPr lang="ko-KR" altLang="en-US" dirty="0"/>
              <a:t> 포함된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섹션마다 아코디언 기능 </a:t>
            </a:r>
            <a:r>
              <a:rPr lang="ko-KR" altLang="en-US" dirty="0" smtClean="0"/>
              <a:t>사용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상세내용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조달계획 상세 중 집행계획상세 내용 탭 표시 </a:t>
            </a:r>
            <a:r>
              <a:rPr lang="ko-KR" altLang="en-US" dirty="0" smtClean="0"/>
              <a:t>화면 </a:t>
            </a:r>
            <a:r>
              <a:rPr lang="en-US" altLang="ko-KR" dirty="0" smtClean="0"/>
              <a:t>/ </a:t>
            </a:r>
            <a:r>
              <a:rPr lang="ko-KR" altLang="en-US" dirty="0" smtClean="0"/>
              <a:t>국내 </a:t>
            </a:r>
            <a:r>
              <a:rPr lang="ko-KR" altLang="en-US" dirty="0"/>
              <a:t>조달계획 화면과 일부 중복됨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MUI-OP-01-M73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조달계획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851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158410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판단번호</a:t>
            </a:r>
            <a:r>
              <a:rPr lang="ko-KR" altLang="en-US" sz="700" dirty="0"/>
              <a:t> </a:t>
            </a:r>
            <a:r>
              <a:rPr lang="en-US" altLang="ko-KR" sz="700" dirty="0"/>
              <a:t>6000A</a:t>
            </a:r>
          </a:p>
          <a:p>
            <a:r>
              <a:rPr lang="ko-KR" altLang="en-US" sz="900" b="1" dirty="0"/>
              <a:t>‘</a:t>
            </a:r>
            <a:r>
              <a:rPr lang="en-US" altLang="ko-KR" sz="900" b="1" dirty="0"/>
              <a:t>26</a:t>
            </a:r>
            <a:r>
              <a:rPr lang="ko-KR" altLang="en-US" sz="900" b="1" dirty="0"/>
              <a:t>년 </a:t>
            </a:r>
            <a:r>
              <a:rPr lang="en-US" altLang="ko-KR" sz="900" b="1" dirty="0"/>
              <a:t>K5</a:t>
            </a:r>
            <a:r>
              <a:rPr lang="ko-KR" altLang="en-US" sz="900" b="1" dirty="0"/>
              <a:t>방독면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493475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발주예정월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계약방법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예산금액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478086"/>
            <a:ext cx="538609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2026-03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화력총괄계약팀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총액제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197407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국외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6" y="1974079"/>
            <a:ext cx="24555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육군</a:t>
            </a:r>
            <a:endParaRPr lang="ko-KR" altLang="en-US" sz="600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1256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85380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546317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577662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659648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0821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39916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3991608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결과목록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08215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3953485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1454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27877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622031"/>
            <a:ext cx="792000" cy="16102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2203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622031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사업명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구매요청번호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입찰유형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계약방법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공고시기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총예산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품목수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622031"/>
            <a:ext cx="1784088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500MD</a:t>
            </a:r>
            <a:r>
              <a:rPr lang="ko-KR" altLang="en-US" sz="700" dirty="0" smtClean="0">
                <a:latin typeface="+mn-ea"/>
              </a:rPr>
              <a:t>부품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BAD839380-001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단가제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일반경쟁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2025-12-21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$ 126,000.18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100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85313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06684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28055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49425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0796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2167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3537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2337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15488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98" name="그룹 297"/>
          <p:cNvGrpSpPr/>
          <p:nvPr/>
        </p:nvGrpSpPr>
        <p:grpSpPr>
          <a:xfrm rot="16200000">
            <a:off x="1250697" y="3307709"/>
            <a:ext cx="94010" cy="47005"/>
            <a:chOff x="6812560" y="3297172"/>
            <a:chExt cx="94010" cy="47005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3" name="TextBox 3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277349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304" name="타원 303"/>
          <p:cNvSpPr/>
          <p:nvPr/>
        </p:nvSpPr>
        <p:spPr>
          <a:xfrm>
            <a:off x="1404035" y="3237230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277349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10" name="그룹 309"/>
          <p:cNvGrpSpPr/>
          <p:nvPr/>
        </p:nvGrpSpPr>
        <p:grpSpPr>
          <a:xfrm rot="16200000">
            <a:off x="1906808" y="3307709"/>
            <a:ext cx="94010" cy="47005"/>
            <a:chOff x="6812560" y="3297172"/>
            <a:chExt cx="94010" cy="47005"/>
          </a:xfrm>
        </p:grpSpPr>
        <p:cxnSp>
          <p:nvCxnSpPr>
            <p:cNvPr id="311" name="직선 연결선 3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2" name="직선 연결선 3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3" name="그룹 312"/>
          <p:cNvGrpSpPr/>
          <p:nvPr/>
        </p:nvGrpSpPr>
        <p:grpSpPr>
          <a:xfrm rot="16200000">
            <a:off x="2562920" y="3307709"/>
            <a:ext cx="94010" cy="47005"/>
            <a:chOff x="6812560" y="3297172"/>
            <a:chExt cx="94010" cy="47005"/>
          </a:xfrm>
        </p:grpSpPr>
        <p:cxnSp>
          <p:nvCxnSpPr>
            <p:cNvPr id="314" name="직선 연결선 3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5" name="직선 연결선 3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7" name="타원 296"/>
          <p:cNvSpPr/>
          <p:nvPr/>
        </p:nvSpPr>
        <p:spPr>
          <a:xfrm>
            <a:off x="747925" y="3237230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277349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277349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2058749" y="3237230"/>
            <a:ext cx="603798" cy="187961"/>
            <a:chOff x="2058749" y="3237230"/>
            <a:chExt cx="603798" cy="187961"/>
          </a:xfrm>
        </p:grpSpPr>
        <p:grpSp>
          <p:nvGrpSpPr>
            <p:cNvPr id="15" name="그룹 14"/>
            <p:cNvGrpSpPr/>
            <p:nvPr/>
          </p:nvGrpSpPr>
          <p:grpSpPr>
            <a:xfrm>
              <a:off x="2058749" y="3237230"/>
              <a:ext cx="187961" cy="187961"/>
              <a:chOff x="2058749" y="3237230"/>
              <a:chExt cx="187961" cy="187961"/>
            </a:xfrm>
          </p:grpSpPr>
          <p:sp>
            <p:nvSpPr>
              <p:cNvPr id="306" name="타원 305"/>
              <p:cNvSpPr/>
              <p:nvPr/>
            </p:nvSpPr>
            <p:spPr>
              <a:xfrm>
                <a:off x="2058749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113806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3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714860" y="3237230"/>
            <a:ext cx="603798" cy="187961"/>
            <a:chOff x="2714860" y="3237230"/>
            <a:chExt cx="603798" cy="187961"/>
          </a:xfrm>
        </p:grpSpPr>
        <p:grpSp>
          <p:nvGrpSpPr>
            <p:cNvPr id="8" name="그룹 7"/>
            <p:cNvGrpSpPr/>
            <p:nvPr/>
          </p:nvGrpSpPr>
          <p:grpSpPr>
            <a:xfrm>
              <a:off x="2714860" y="3237230"/>
              <a:ext cx="187961" cy="187961"/>
              <a:chOff x="2714860" y="3237230"/>
              <a:chExt cx="187961" cy="187961"/>
            </a:xfrm>
          </p:grpSpPr>
          <p:sp>
            <p:nvSpPr>
              <p:cNvPr id="324" name="타원 323"/>
              <p:cNvSpPr/>
              <p:nvPr/>
            </p:nvSpPr>
            <p:spPr>
              <a:xfrm>
                <a:off x="2714860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769917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4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smtClean="0">
                  <a:latin typeface="+mn-ea"/>
                </a:rPr>
                <a:t>이행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95940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판단번호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6000A</a:t>
            </a:r>
          </a:p>
          <a:p>
            <a:pPr lvl="0"/>
            <a:r>
              <a:rPr lang="ko-KR" altLang="en-US" sz="900" b="1" dirty="0">
                <a:solidFill>
                  <a:prstClr val="black"/>
                </a:solidFill>
              </a:rPr>
              <a:t>‘</a:t>
            </a:r>
            <a:r>
              <a:rPr lang="en-US" altLang="ko-KR" sz="900" b="1" dirty="0">
                <a:solidFill>
                  <a:prstClr val="black"/>
                </a:solidFill>
              </a:rPr>
              <a:t>26</a:t>
            </a:r>
            <a:r>
              <a:rPr lang="ko-KR" altLang="en-US" sz="900" b="1" dirty="0">
                <a:solidFill>
                  <a:prstClr val="black"/>
                </a:solidFill>
              </a:rPr>
              <a:t>년 </a:t>
            </a:r>
            <a:r>
              <a:rPr lang="en-US" altLang="ko-KR" sz="900" b="1" dirty="0">
                <a:solidFill>
                  <a:prstClr val="black"/>
                </a:solidFill>
              </a:rPr>
              <a:t>K5</a:t>
            </a:r>
            <a:r>
              <a:rPr lang="ko-KR" altLang="en-US" sz="900" b="1" dirty="0">
                <a:solidFill>
                  <a:prstClr val="black"/>
                </a:solidFill>
              </a:rPr>
              <a:t>방독면</a:t>
            </a: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국외</a:t>
            </a:r>
          </a:p>
        </p:txBody>
      </p:sp>
      <p:sp>
        <p:nvSpPr>
          <p:cNvPr id="185" name="모서리가 둥근 직사각형 184"/>
          <p:cNvSpPr/>
          <p:nvPr/>
        </p:nvSpPr>
        <p:spPr>
          <a:xfrm>
            <a:off x="4179188" y="1602341"/>
            <a:ext cx="242794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육군</a:t>
            </a:r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4993" y="2573550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252" name="그룹 251"/>
          <p:cNvGrpSpPr/>
          <p:nvPr/>
        </p:nvGrpSpPr>
        <p:grpSpPr>
          <a:xfrm flipV="1">
            <a:off x="6247080" y="2686881"/>
            <a:ext cx="94010" cy="47005"/>
            <a:chOff x="6812560" y="3297172"/>
            <a:chExt cx="94010" cy="47005"/>
          </a:xfrm>
        </p:grpSpPr>
        <p:cxnSp>
          <p:nvCxnSpPr>
            <p:cNvPr id="253" name="직선 연결선 2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직선 연결선 2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2" name="직사각형 261"/>
          <p:cNvSpPr/>
          <p:nvPr/>
        </p:nvSpPr>
        <p:spPr>
          <a:xfrm>
            <a:off x="3826115" y="2881035"/>
            <a:ext cx="792000" cy="2369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88103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3179" y="2881035"/>
            <a:ext cx="670770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구매요청번호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입찰유형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공고시기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총예산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품목수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집행예정월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담당부서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담당자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연락처</a:t>
            </a:r>
            <a:endParaRPr lang="en-US" altLang="ko-KR" sz="700" dirty="0">
              <a:latin typeface="+mn-ea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0028" y="2881035"/>
            <a:ext cx="1784650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500MD</a:t>
            </a:r>
            <a:r>
              <a:rPr lang="ko-KR" altLang="en-US" sz="700" dirty="0">
                <a:latin typeface="+mn-ea"/>
              </a:rPr>
              <a:t>부품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BAD839380-001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단가제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일반경쟁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2025-12-21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$ 126,000.18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100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2025-06</a:t>
            </a: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국제부품계약팀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정영금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9900-9999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11214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32584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53955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7532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96696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6098765" y="3126805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533586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1" name="타원 170"/>
          <p:cNvSpPr/>
          <p:nvPr/>
        </p:nvSpPr>
        <p:spPr>
          <a:xfrm>
            <a:off x="2704841" y="195767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2848841" y="1974079"/>
            <a:ext cx="395042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알림신청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75" name="타원 174"/>
          <p:cNvSpPr/>
          <p:nvPr/>
        </p:nvSpPr>
        <p:spPr>
          <a:xfrm>
            <a:off x="5852678" y="158460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모서리가 둥근 직사각형 175"/>
          <p:cNvSpPr/>
          <p:nvPr/>
        </p:nvSpPr>
        <p:spPr>
          <a:xfrm>
            <a:off x="5996678" y="1601011"/>
            <a:ext cx="395042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알림신청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827360" y="2211584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결과목록</a:t>
              </a:r>
              <a:endParaRPr lang="ko-KR" altLang="en-US" sz="700" dirty="0">
                <a:latin typeface="+mn-ea"/>
              </a:endParaRP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56" name="그룹 155"/>
          <p:cNvGrpSpPr/>
          <p:nvPr/>
        </p:nvGrpSpPr>
        <p:grpSpPr>
          <a:xfrm rot="5400000">
            <a:off x="3158978" y="3232595"/>
            <a:ext cx="187961" cy="187961"/>
            <a:chOff x="3876200" y="2234886"/>
            <a:chExt cx="187961" cy="187961"/>
          </a:xfrm>
        </p:grpSpPr>
        <p:sp>
          <p:nvSpPr>
            <p:cNvPr id="157" name="타원 15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8" name="그룹 15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59" name="직선 연결선 15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17728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39098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6046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8184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50321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525091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00816" y="1336107"/>
            <a:ext cx="247325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smtClean="0"/>
              <a:t>스크롤 시 표시 영역 상단 달라붙음 처리 </a:t>
            </a:r>
            <a:r>
              <a:rPr lang="en-US" altLang="ko-KR" sz="700" dirty="0" smtClean="0"/>
              <a:t>(sticky)</a:t>
            </a:r>
            <a:endParaRPr lang="ko-KR" altLang="en-US" sz="900" b="1" dirty="0"/>
          </a:p>
        </p:txBody>
      </p:sp>
      <p:sp>
        <p:nvSpPr>
          <p:cNvPr id="149" name="평행 사변형 148"/>
          <p:cNvSpPr/>
          <p:nvPr/>
        </p:nvSpPr>
        <p:spPr>
          <a:xfrm rot="16200000" flipH="1">
            <a:off x="3105747" y="1776324"/>
            <a:ext cx="971670" cy="408309"/>
          </a:xfrm>
          <a:prstGeom prst="parallelogram">
            <a:avLst>
              <a:gd name="adj" fmla="val 8680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평행 사변형 149"/>
          <p:cNvSpPr/>
          <p:nvPr/>
        </p:nvSpPr>
        <p:spPr>
          <a:xfrm rot="16200000" flipH="1">
            <a:off x="2546937" y="2975673"/>
            <a:ext cx="2089292" cy="408308"/>
          </a:xfrm>
          <a:prstGeom prst="parallelogram">
            <a:avLst>
              <a:gd name="adj" fmla="val 42262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26071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9028409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결과목록</a:t>
            </a:r>
            <a:r>
              <a:rPr lang="ko-KR" altLang="en-US" dirty="0" smtClean="0"/>
              <a:t> 데이터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재고번호</a:t>
            </a:r>
            <a:r>
              <a:rPr lang="ko-KR" altLang="en-US" dirty="0" smtClean="0"/>
              <a:t> 클릭 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</a:t>
            </a:r>
            <a:r>
              <a:rPr lang="en-US" altLang="ko-KR" dirty="0"/>
              <a:t>&gt; </a:t>
            </a:r>
            <a:r>
              <a:rPr lang="ko-KR" altLang="en-US" dirty="0">
                <a:sym typeface="Wingdings" panose="05000000000000000000" pitchFamily="2" charset="2"/>
              </a:rPr>
              <a:t>실적이 있는 </a:t>
            </a:r>
            <a:r>
              <a:rPr lang="ko-KR" altLang="en-US" dirty="0" smtClean="0">
                <a:sym typeface="Wingdings" panose="05000000000000000000" pitchFamily="2" charset="2"/>
              </a:rPr>
              <a:t>경우 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   </a:t>
            </a:r>
            <a:r>
              <a:rPr lang="en-US" altLang="ko-KR" dirty="0" smtClean="0"/>
              <a:t>(</a:t>
            </a:r>
            <a:r>
              <a:rPr lang="en-US" altLang="ko-KR" dirty="0"/>
              <a:t>MUI-OP-01-P75) </a:t>
            </a:r>
            <a:r>
              <a:rPr lang="ko-KR" altLang="en-US" dirty="0" smtClean="0"/>
              <a:t>품목별가격자료조회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</a:t>
            </a:r>
            <a:r>
              <a:rPr lang="en-US" altLang="ko-KR" dirty="0"/>
              <a:t>&gt; </a:t>
            </a:r>
            <a:r>
              <a:rPr lang="ko-KR" altLang="en-US" dirty="0" smtClean="0"/>
              <a:t>그 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en-US" altLang="ko-KR" dirty="0" smtClean="0"/>
              <a:t>(</a:t>
            </a:r>
            <a:r>
              <a:rPr lang="en-US" altLang="ko-KR" dirty="0"/>
              <a:t>MUI-OP-01-P76) </a:t>
            </a:r>
            <a:r>
              <a:rPr lang="ko-KR" altLang="en-US" dirty="0" smtClean="0"/>
              <a:t>목록정보조회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추가 목록 로드 버튼</a:t>
            </a:r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결과목록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조달계획 상세 중 결과 목록 표시 </a:t>
            </a:r>
            <a:r>
              <a:rPr lang="ko-KR" altLang="en-US" dirty="0" smtClean="0"/>
              <a:t>탭 화면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결과목록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MUI-OP-01-M74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spc="-52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결과 목록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0" name="직사각형 159"/>
          <p:cNvSpPr/>
          <p:nvPr/>
        </p:nvSpPr>
        <p:spPr>
          <a:xfrm>
            <a:off x="703268" y="2171191"/>
            <a:ext cx="792000" cy="40611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0331" y="2171192"/>
            <a:ext cx="725552" cy="40934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항목번호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실적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품질등급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규격번호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장비부호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장비명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품명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단위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본조수량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당국수량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장국수량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수량합계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지시단가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지시예산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납기기준일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본조납기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당국납기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47180" y="2171192"/>
            <a:ext cx="1796521" cy="40934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solidFill>
                  <a:srgbClr val="0070C0"/>
                </a:solidFill>
                <a:latin typeface="+mn-ea"/>
              </a:rPr>
              <a:t>1450012032231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Y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50123-123023-231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B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0000 0000 0000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000 000 000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장비명칭</a:t>
            </a:r>
            <a:r>
              <a:rPr lang="ko-KR" altLang="en-US" sz="700" dirty="0" smtClean="0">
                <a:latin typeface="+mn-ea"/>
              </a:rPr>
              <a:t> 표시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품명 표시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EA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000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000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000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0000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000,000,000,000 </a:t>
            </a:r>
            <a:r>
              <a:rPr lang="ko-KR" altLang="en-US" sz="700" dirty="0" smtClean="0">
                <a:latin typeface="+mn-ea"/>
              </a:rPr>
              <a:t>원</a:t>
            </a:r>
            <a:endParaRPr lang="en-US" altLang="ko-KR" sz="700" dirty="0" smtClean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 smtClean="0">
                <a:latin typeface="+mn-ea"/>
              </a:rPr>
              <a:t>원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2026-12-31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2026-12-31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2026-12-31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701175" y="2171192"/>
            <a:ext cx="2630093" cy="3864431"/>
            <a:chOff x="701175" y="1835481"/>
            <a:chExt cx="2630093" cy="3864431"/>
          </a:xfrm>
        </p:grpSpPr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1175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4797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6944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90918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1175" y="312392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33386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35534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37681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39853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420007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1175" y="4414815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46295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484429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50590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1175" y="527043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54851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569991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3832577" y="1503147"/>
            <a:ext cx="792000" cy="8607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503147"/>
            <a:ext cx="725552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항목번호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실적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부품번호</a:t>
            </a:r>
            <a:endParaRPr lang="ko-KR" altLang="en-US" sz="700" dirty="0"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9" y="1503147"/>
            <a:ext cx="1796521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1450012032231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Y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50123-123023-231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150314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171788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193262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14736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3621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57684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0133" y="586139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69260" y="183481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8337" y="1928776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69260" y="211738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0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40841" y="1928776"/>
            <a:ext cx="26795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 smtClean="0">
                <a:latin typeface="+mn-ea"/>
              </a:rPr>
              <a:t>10 </a:t>
            </a:r>
            <a:r>
              <a:rPr lang="ko-KR" altLang="en-US" sz="700" dirty="0" smtClean="0">
                <a:latin typeface="+mn-ea"/>
              </a:rPr>
              <a:t>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62" name="그룹 61"/>
          <p:cNvGrpSpPr/>
          <p:nvPr/>
        </p:nvGrpSpPr>
        <p:grpSpPr>
          <a:xfrm>
            <a:off x="3143548" y="1958981"/>
            <a:ext cx="94010" cy="47005"/>
            <a:chOff x="6812560" y="3297172"/>
            <a:chExt cx="94010" cy="47005"/>
          </a:xfrm>
        </p:grpSpPr>
        <p:cxnSp>
          <p:nvCxnSpPr>
            <p:cNvPr id="63" name="직선 연결선 6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직선 연결선 6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4" name="사각형: 둥근 모서리 169">
            <a:extLst>
              <a:ext uri="{FF2B5EF4-FFF2-40B4-BE49-F238E27FC236}">
                <a16:creationId xmlns:a16="http://schemas.microsoft.com/office/drawing/2014/main" id="{A28DD831-0E4B-31EE-CB08-9E188754698D}"/>
              </a:ext>
            </a:extLst>
          </p:cNvPr>
          <p:cNvSpPr/>
          <p:nvPr/>
        </p:nvSpPr>
        <p:spPr>
          <a:xfrm>
            <a:off x="2859072" y="2424855"/>
            <a:ext cx="459189" cy="144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dirty="0" err="1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품목보기</a:t>
            </a:r>
            <a:endParaRPr kumimoji="1" lang="en-US" sz="700" kern="0" dirty="0">
              <a:solidFill>
                <a:srgbClr val="0070C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05" name="사각형: 둥근 모서리 169">
            <a:extLst>
              <a:ext uri="{FF2B5EF4-FFF2-40B4-BE49-F238E27FC236}">
                <a16:creationId xmlns:a16="http://schemas.microsoft.com/office/drawing/2014/main" id="{A28DD831-0E4B-31EE-CB08-9E188754698D}"/>
              </a:ext>
            </a:extLst>
          </p:cNvPr>
          <p:cNvSpPr/>
          <p:nvPr/>
        </p:nvSpPr>
        <p:spPr>
          <a:xfrm>
            <a:off x="6009019" y="1760100"/>
            <a:ext cx="459189" cy="144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dirty="0" err="1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품목보기</a:t>
            </a:r>
            <a:endParaRPr kumimoji="1" lang="en-US" sz="700" kern="0" dirty="0">
              <a:solidFill>
                <a:srgbClr val="0070C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95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90250" y="6257234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kern="0" dirty="0"/>
              <a:t>내역 접기 ↑</a:t>
            </a:r>
            <a:endParaRPr kumimoji="1" lang="en-US" altLang="ko-KR" sz="700" kern="0" dirty="0"/>
          </a:p>
        </p:txBody>
      </p:sp>
      <p:sp>
        <p:nvSpPr>
          <p:cNvPr id="9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946768" y="2395771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</a:rPr>
              <a:t>내역 </a:t>
            </a:r>
            <a:r>
              <a:rPr kumimoji="1" lang="ko-KR" altLang="en-US" sz="700" kern="0" dirty="0"/>
              <a:t>펼쳐보기 ↓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06" name="직사각형 105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2026-05-27 </a:t>
              </a:r>
              <a:r>
                <a:rPr lang="ko-KR" altLang="en-US" dirty="0" smtClean="0"/>
                <a:t>화면 수정</a:t>
              </a:r>
              <a:endParaRPr lang="ko-KR" altLang="en-US" dirty="0"/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목록 정보가 긴 경우</a:t>
              </a:r>
              <a:r>
                <a:rPr lang="en-US" altLang="ko-KR" sz="700" dirty="0" smtClean="0"/>
                <a:t/>
              </a:r>
              <a:br>
                <a:rPr lang="en-US" altLang="ko-KR" sz="700" dirty="0" smtClean="0"/>
              </a:br>
              <a:r>
                <a:rPr lang="ko-KR" altLang="en-US" sz="700" dirty="0" smtClean="0"/>
                <a:t>내역 접기</a:t>
              </a:r>
              <a:r>
                <a:rPr lang="en-US" altLang="ko-KR" sz="700" dirty="0" smtClean="0"/>
                <a:t>, </a:t>
              </a:r>
              <a:r>
                <a:rPr lang="ko-KR" altLang="en-US" sz="700" dirty="0" smtClean="0"/>
                <a:t>펼쳐보기 추가</a:t>
              </a:r>
              <a:endParaRPr lang="en-US" altLang="ko-KR" sz="7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0533665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30889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(dm_planInfo)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2327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공고의 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구매요청번호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prchsDmndNo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공고의 구매요청번호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31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입찰유형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bidMthd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입찰유형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183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ctrtMthdNm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계약방법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일반경쟁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단계경쟁 등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793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공고시기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pbancPrnmntDt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공고시기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31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sumBgtAmt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74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586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집행예정월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implPrnmntMm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집행예정월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440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담당부서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picDeptNm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방위사업청담당자 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540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방위사업청담당자 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picTlno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방위사업청담당자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B7B9B617-F611-D7D3-903E-5DD24751A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33189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63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030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결과목록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(dl_resultList)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4072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frcptlArtclNo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항목번호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452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prfmncYn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실적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2366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8644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품질등급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inspShpNm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품질등급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94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규격번호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spcfctNo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규격번호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009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장비부호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aplcnEqpmntCd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장비부호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665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aplcnEqpmntNm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장비명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407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5141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6467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본조수량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bscbgtQty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본조수량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794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당국수량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athrtQty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당국수량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873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장국수량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ltbndQty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장국수량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3104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수량합계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sumQty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수량합계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8197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지시단가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drctnUntprc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지시단가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628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지시예산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bgtAmt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지시예산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546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납기기준일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dudtYmd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납기기준일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553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본조납기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bscbgtDudtYmd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본조납기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015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당국납기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athrtDudtYmd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당국납기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장국납기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ltbndDudtYmd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장국납기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59797E5-AE72-9C87-02BB-E756394FF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07445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375469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64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4765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059919"/>
              </p:ext>
            </p:extLst>
          </p:nvPr>
        </p:nvGraphicFramePr>
        <p:xfrm>
          <a:off x="453000" y="826301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상세 정보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조달계획상세조회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품목목록조회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scwin.grd_list_oncellclick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/>
                        <a:t>실적이 </a:t>
                      </a:r>
                      <a:r>
                        <a:rPr lang="en-US" altLang="ko-KR" sz="800"/>
                        <a:t>‘Y’</a:t>
                      </a:r>
                      <a:r>
                        <a:rPr lang="ko-KR" altLang="en-US" sz="800"/>
                        <a:t>인 경우</a:t>
                      </a:r>
                      <a:r>
                        <a:rPr lang="en-US" altLang="ko-KR" sz="800"/>
                        <a:t>, </a:t>
                      </a:r>
                      <a:r>
                        <a:rPr lang="ko-KR" altLang="en-US" sz="800"/>
                        <a:t>품목별가격자료조회 팝업 호출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/>
                        <a:t>그 외</a:t>
                      </a:r>
                      <a:r>
                        <a:rPr lang="en-US" altLang="ko-KR" sz="800"/>
                        <a:t>, </a:t>
                      </a:r>
                      <a:r>
                        <a:rPr lang="ko-KR" altLang="en-US" sz="800"/>
                        <a:t>목록정보조회 팝업 호출</a:t>
                      </a:r>
                      <a:r>
                        <a:rPr lang="en-US" altLang="ko-KR" sz="800"/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품목별가격자료조회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(MUI-OP-01-P75)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목록정보조회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(MUI-OP-01-P76)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197490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A86C71F4-383E-B549-D909-8D545131A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63561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36321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검색조건 설정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획득 구분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전체</a:t>
            </a:r>
            <a:r>
              <a:rPr lang="en-US" altLang="ko-KR" dirty="0" smtClean="0"/>
              <a:t>/</a:t>
            </a:r>
            <a:r>
              <a:rPr lang="ko-KR" altLang="en-US" dirty="0" err="1" smtClean="0">
                <a:latin typeface="+mn-ea"/>
              </a:rPr>
              <a:t>상업실적사</a:t>
            </a:r>
            <a:r>
              <a:rPr lang="en-US" altLang="ko-KR" dirty="0">
                <a:latin typeface="+mn-ea"/>
              </a:rPr>
              <a:t>/FMS</a:t>
            </a:r>
            <a:r>
              <a:rPr lang="ko-KR" altLang="en-US" dirty="0" err="1">
                <a:latin typeface="+mn-ea"/>
              </a:rPr>
              <a:t>실적가</a:t>
            </a:r>
            <a:r>
              <a:rPr lang="en-US" altLang="ko-KR" dirty="0">
                <a:latin typeface="+mn-ea"/>
              </a:rPr>
              <a:t>/BOA</a:t>
            </a:r>
            <a:r>
              <a:rPr lang="ko-KR" altLang="en-US" dirty="0">
                <a:latin typeface="+mn-ea"/>
              </a:rPr>
              <a:t>청구가</a:t>
            </a:r>
            <a:r>
              <a:rPr lang="en-US" altLang="ko-KR" dirty="0">
                <a:latin typeface="+mn-ea"/>
              </a:rPr>
              <a:t>/CSP</a:t>
            </a:r>
            <a:r>
              <a:rPr lang="ko-KR" altLang="en-US" dirty="0">
                <a:latin typeface="+mn-ea"/>
              </a:rPr>
              <a:t>구매가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 err="1">
                <a:latin typeface="+mn-ea"/>
              </a:rPr>
              <a:t>업체공표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견적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가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 err="1" smtClean="0">
                <a:latin typeface="+mn-ea"/>
              </a:rPr>
              <a:t>무관정보가</a:t>
            </a:r>
            <a:r>
              <a:rPr lang="en-US" altLang="ko-KR" dirty="0" smtClean="0">
                <a:latin typeface="+mn-ea"/>
              </a:rPr>
              <a:t/>
            </a:r>
            <a:br>
              <a:rPr lang="en-US" altLang="ko-KR" dirty="0" smtClean="0">
                <a:latin typeface="+mn-ea"/>
              </a:rPr>
            </a:b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 smtClean="0">
                <a:latin typeface="+mn-ea"/>
              </a:rPr>
              <a:t>각 입력 폼은 부분 입력 가능</a:t>
            </a:r>
            <a:r>
              <a:rPr lang="en-US" altLang="ko-KR" dirty="0" smtClean="0">
                <a:latin typeface="+mn-ea"/>
              </a:rPr>
              <a:t/>
            </a:r>
            <a:br>
              <a:rPr lang="en-US" altLang="ko-KR" dirty="0" smtClean="0">
                <a:latin typeface="+mn-ea"/>
              </a:rPr>
            </a:b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 smtClean="0">
                <a:latin typeface="+mn-ea"/>
              </a:rPr>
              <a:t>진입 시 </a:t>
            </a:r>
            <a:r>
              <a:rPr lang="ko-KR" altLang="en-US" dirty="0" err="1" smtClean="0">
                <a:latin typeface="+mn-ea"/>
              </a:rPr>
              <a:t>군급</a:t>
            </a:r>
            <a:r>
              <a:rPr lang="ko-KR" altLang="en-US" dirty="0" smtClean="0">
                <a:latin typeface="+mn-ea"/>
              </a:rPr>
              <a:t> 입력 가능 상태로</a:t>
            </a:r>
            <a:r>
              <a:rPr lang="en-US" altLang="ko-KR" dirty="0" smtClean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가상 </a:t>
            </a:r>
            <a:r>
              <a:rPr lang="ko-KR" altLang="en-US" dirty="0" err="1" smtClean="0">
                <a:latin typeface="+mn-ea"/>
              </a:rPr>
              <a:t>키패드</a:t>
            </a:r>
            <a:r>
              <a:rPr lang="ko-KR" altLang="en-US" dirty="0" smtClean="0">
                <a:latin typeface="+mn-ea"/>
              </a:rPr>
              <a:t> 활성화</a:t>
            </a:r>
            <a:r>
              <a:rPr lang="en-US" altLang="ko-KR" dirty="0" smtClean="0">
                <a:latin typeface="+mn-ea"/>
              </a:rPr>
              <a:t/>
            </a:r>
            <a:br>
              <a:rPr lang="en-US" altLang="ko-KR" dirty="0" smtClean="0">
                <a:latin typeface="+mn-ea"/>
              </a:rPr>
            </a:b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 smtClean="0">
                <a:latin typeface="+mn-ea"/>
              </a:rPr>
              <a:t>진입 이전 정보가 있는 경우 해당 정보 입력 후 검색 결과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검색결과 데이터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항목 클릭 없음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품목별 </a:t>
            </a:r>
            <a:r>
              <a:rPr lang="ko-KR" altLang="en-US" dirty="0" err="1" smtClean="0">
                <a:latin typeface="+mn-ea"/>
              </a:rPr>
              <a:t>가격자료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조달계획상세조회에서 조회된 항목 중 실적이 있는 항목의 품목별가격자료를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조달 계획 </a:t>
            </a:r>
            <a:r>
              <a:rPr lang="en-US" altLang="ko-KR" dirty="0"/>
              <a:t>&gt; </a:t>
            </a:r>
            <a:r>
              <a:rPr lang="ko-KR" altLang="en-US" dirty="0"/>
              <a:t>상세 조회 </a:t>
            </a:r>
            <a:r>
              <a:rPr lang="en-US" altLang="ko-KR" dirty="0"/>
              <a:t>- </a:t>
            </a:r>
            <a:r>
              <a:rPr lang="ko-KR" altLang="en-US" dirty="0" err="1" smtClean="0"/>
              <a:t>결과목록</a:t>
            </a:r>
            <a:r>
              <a:rPr lang="en-US" altLang="ko-KR" dirty="0" smtClean="0">
                <a:latin typeface="+mn-ea"/>
              </a:rPr>
              <a:t> &gt; </a:t>
            </a:r>
            <a:r>
              <a:rPr lang="ko-KR" altLang="en-US" dirty="0" smtClean="0">
                <a:latin typeface="+mn-ea"/>
              </a:rPr>
              <a:t>품목별가격자료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MUI-OP-01-P75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품목별 </a:t>
            </a:r>
            <a:r>
              <a:rPr lang="ko-KR" altLang="en-US" sz="900" dirty="0" err="1">
                <a:latin typeface="+mn-ea"/>
              </a:rPr>
              <a:t>가격자료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88037" y="2529936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675399" y="2102291"/>
            <a:ext cx="2712027" cy="4124872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1761412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3164338" y="2273335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품목별 </a:t>
            </a:r>
            <a:r>
              <a:rPr lang="ko-KR" altLang="en-US" sz="900" dirty="0" err="1">
                <a:latin typeface="+mn-ea"/>
              </a:rPr>
              <a:t>가격자료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9" name="모서리가 둥근 직사각형 168"/>
          <p:cNvSpPr/>
          <p:nvPr/>
        </p:nvSpPr>
        <p:spPr>
          <a:xfrm>
            <a:off x="1443878" y="296443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 smtClean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 smtClean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03274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군</a:t>
            </a:r>
            <a:r>
              <a:rPr lang="ko-KR" altLang="en-US" sz="700" dirty="0" err="1" smtClean="0">
                <a:latin typeface="+mn-ea"/>
              </a:rPr>
              <a:t>급</a:t>
            </a:r>
            <a:endParaRPr lang="en-US" altLang="ko-KR" sz="700" dirty="0">
              <a:latin typeface="+mn-ea"/>
            </a:endParaRPr>
          </a:p>
        </p:txBody>
      </p:sp>
      <p:sp>
        <p:nvSpPr>
          <p:cNvPr id="17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4196039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112794" y="3002720"/>
            <a:ext cx="145884" cy="145882"/>
            <a:chOff x="3112794" y="3984500"/>
            <a:chExt cx="145884" cy="145882"/>
          </a:xfrm>
        </p:grpSpPr>
        <p:sp>
          <p:nvSpPr>
            <p:cNvPr id="310" name="타원 30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1" name="그룹 31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312" name="직선 연결선 31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3" name="직선 연결선 31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91334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020370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309171"/>
            <a:ext cx="2542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 smtClean="0">
                <a:latin typeface="+mn-ea"/>
              </a:rPr>
              <a:t>순번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3309171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 err="1" smtClean="0">
                <a:latin typeface="+mn-ea"/>
              </a:rPr>
              <a:t>세부정보</a:t>
            </a:r>
            <a:endParaRPr lang="en-US" altLang="ko-KR" sz="700" b="1" dirty="0">
              <a:latin typeface="+mn-ea"/>
            </a:endParaRPr>
          </a:p>
        </p:txBody>
      </p: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1959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3" name="직선 연결선 3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51461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4" name="TextBox 3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810509"/>
            <a:ext cx="2290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 smtClean="0">
                <a:latin typeface="+mn-ea"/>
              </a:rPr>
              <a:t>1</a:t>
            </a:r>
            <a:endParaRPr lang="en-US" altLang="ko-KR" sz="700" dirty="0">
              <a:latin typeface="+mn-ea"/>
            </a:endParaRP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3551278"/>
            <a:ext cx="464927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획득구분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획득구분명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군급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+mn-ea"/>
              </a:rPr>
              <a:t>NIIN</a:t>
            </a:r>
          </a:p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0524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7" name="직사각형 33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298371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78" name="모서리가 둥근 직사각형 77"/>
          <p:cNvSpPr/>
          <p:nvPr/>
        </p:nvSpPr>
        <p:spPr>
          <a:xfrm>
            <a:off x="1443878" y="2662959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smtClean="0">
                <a:solidFill>
                  <a:schemeClr val="tx1"/>
                </a:solidFill>
              </a:rPr>
              <a:t>전체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73127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획득구분</a:t>
            </a:r>
            <a:r>
              <a:rPr lang="ko-KR" altLang="en-US" sz="700" dirty="0" smtClean="0">
                <a:latin typeface="+mn-ea"/>
              </a:rPr>
              <a:t> </a:t>
            </a:r>
            <a:r>
              <a:rPr lang="en-US" altLang="ko-KR" sz="700" dirty="0" smtClean="0">
                <a:solidFill>
                  <a:srgbClr val="FF0000"/>
                </a:solidFill>
                <a:latin typeface="+mn-ea"/>
              </a:rPr>
              <a:t>*</a:t>
            </a:r>
            <a:endParaRPr lang="en-US" altLang="ko-KR" sz="700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86" name="그룹 85"/>
          <p:cNvGrpSpPr/>
          <p:nvPr/>
        </p:nvGrpSpPr>
        <p:grpSpPr>
          <a:xfrm>
            <a:off x="3112794" y="2768443"/>
            <a:ext cx="91438" cy="45719"/>
            <a:chOff x="6812560" y="3297172"/>
            <a:chExt cx="94010" cy="47005"/>
          </a:xfrm>
        </p:grpSpPr>
        <p:cxnSp>
          <p:nvCxnSpPr>
            <p:cNvPr id="87" name="직선 연결선 8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직선 연결선 8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4" name="모서리가 둥근 직사각형 83"/>
          <p:cNvSpPr/>
          <p:nvPr/>
        </p:nvSpPr>
        <p:spPr>
          <a:xfrm>
            <a:off x="1443878" y="3559799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62811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3112794" y="3598085"/>
            <a:ext cx="145884" cy="145882"/>
            <a:chOff x="3112794" y="3984500"/>
            <a:chExt cx="145884" cy="145882"/>
          </a:xfrm>
        </p:grpSpPr>
        <p:sp>
          <p:nvSpPr>
            <p:cNvPr id="90" name="타원 8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1" name="그룹 9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모서리가 둥근 직사각형 93"/>
          <p:cNvSpPr/>
          <p:nvPr/>
        </p:nvSpPr>
        <p:spPr>
          <a:xfrm>
            <a:off x="1443878" y="3258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326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 smtClean="0">
                <a:latin typeface="+mn-ea"/>
              </a:rPr>
              <a:t>NIIN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99" name="그룹 98"/>
          <p:cNvGrpSpPr/>
          <p:nvPr/>
        </p:nvGrpSpPr>
        <p:grpSpPr>
          <a:xfrm>
            <a:off x="3112794" y="3298169"/>
            <a:ext cx="145884" cy="145882"/>
            <a:chOff x="3112794" y="3984500"/>
            <a:chExt cx="145884" cy="145882"/>
          </a:xfrm>
        </p:grpSpPr>
        <p:sp>
          <p:nvSpPr>
            <p:cNvPr id="100" name="타원 9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1" name="그룹 10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02" name="직선 연결선 10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3551278"/>
            <a:ext cx="1232093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획득구분</a:t>
            </a:r>
            <a:r>
              <a:rPr lang="ko-KR" altLang="en-US" sz="700" dirty="0" smtClean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획득구분명</a:t>
            </a:r>
            <a:r>
              <a:rPr lang="ko-KR" altLang="en-US" sz="700" dirty="0" smtClean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군급</a:t>
            </a:r>
            <a:r>
              <a:rPr lang="ko-KR" altLang="en-US" sz="700" dirty="0" smtClean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+mn-ea"/>
              </a:rPr>
              <a:t>NIIN 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부품번호</a:t>
            </a:r>
            <a:r>
              <a:rPr lang="ko-KR" altLang="en-US" sz="700" dirty="0" smtClean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smtClean="0">
                <a:latin typeface="+mn-ea"/>
              </a:rPr>
              <a:t>표시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3309171"/>
            <a:ext cx="2542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 smtClean="0">
                <a:latin typeface="+mn-ea"/>
              </a:rPr>
              <a:t>구분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1441835" y="3862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433" y="3930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17" name="그룹 116"/>
          <p:cNvGrpSpPr/>
          <p:nvPr/>
        </p:nvGrpSpPr>
        <p:grpSpPr>
          <a:xfrm>
            <a:off x="3110751" y="3900610"/>
            <a:ext cx="145884" cy="145882"/>
            <a:chOff x="3112794" y="3984500"/>
            <a:chExt cx="145884" cy="145882"/>
          </a:xfrm>
        </p:grpSpPr>
        <p:sp>
          <p:nvSpPr>
            <p:cNvPr id="120" name="타원 11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36" name="모서리가 둥근 직사각형 335"/>
          <p:cNvSpPr/>
          <p:nvPr/>
        </p:nvSpPr>
        <p:spPr>
          <a:xfrm rot="5400000">
            <a:off x="5782577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5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946768" y="4270198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</a:rPr>
              <a:t>내역 </a:t>
            </a:r>
            <a:r>
              <a:rPr kumimoji="1" lang="ko-KR" altLang="en-US" sz="700" kern="0" dirty="0"/>
              <a:t>펼쳐보기 ↓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50674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4830370"/>
            <a:ext cx="2290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 smtClean="0">
                <a:latin typeface="+mn-ea"/>
              </a:rPr>
              <a:t>2</a:t>
            </a:r>
            <a:endParaRPr lang="en-US" altLang="ko-KR" sz="700" dirty="0">
              <a:latin typeface="+mn-ea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4571139"/>
            <a:ext cx="464927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획득구분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획득구분명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군급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+mn-ea"/>
              </a:rPr>
              <a:t>NIIN</a:t>
            </a:r>
          </a:p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4571139"/>
            <a:ext cx="1232093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획득구분</a:t>
            </a:r>
            <a:r>
              <a:rPr lang="ko-KR" altLang="en-US" sz="700" dirty="0" smtClean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획득구분명</a:t>
            </a:r>
            <a:r>
              <a:rPr lang="ko-KR" altLang="en-US" sz="700" dirty="0" smtClean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군급</a:t>
            </a:r>
            <a:r>
              <a:rPr lang="ko-KR" altLang="en-US" sz="700" dirty="0" smtClean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+mn-ea"/>
              </a:rPr>
              <a:t>NIIN 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 smtClean="0">
                <a:latin typeface="+mn-ea"/>
              </a:rPr>
              <a:t>부품번호</a:t>
            </a:r>
            <a:r>
              <a:rPr lang="ko-KR" altLang="en-US" sz="700" dirty="0" smtClean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smtClean="0">
                <a:latin typeface="+mn-ea"/>
              </a:rPr>
              <a:t>표시</a:t>
            </a:r>
            <a:endParaRPr lang="en-US" altLang="ko-KR" sz="700" dirty="0">
              <a:latin typeface="+mn-ea"/>
            </a:endParaRPr>
          </a:p>
        </p:txBody>
      </p:sp>
      <p:sp>
        <p:nvSpPr>
          <p:cNvPr id="82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946768" y="5290059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</a:rPr>
              <a:t>내역 </a:t>
            </a:r>
            <a:r>
              <a:rPr kumimoji="1" lang="ko-KR" altLang="en-US" sz="700" kern="0" dirty="0"/>
              <a:t>펼쳐보기 ↓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55266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7" name="그룹 9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98" name="직사각형 9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2026-05-27 </a:t>
              </a:r>
              <a:r>
                <a:rPr lang="ko-KR" altLang="en-US" dirty="0" smtClean="0"/>
                <a:t>화면 수정</a:t>
              </a:r>
              <a:endParaRPr lang="ko-KR" altLang="en-US" dirty="0"/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목록 정보가 긴 경우</a:t>
              </a:r>
              <a:r>
                <a:rPr lang="en-US" altLang="ko-KR" sz="700" dirty="0" smtClean="0"/>
                <a:t/>
              </a:r>
              <a:br>
                <a:rPr lang="en-US" altLang="ko-KR" sz="700" dirty="0" smtClean="0"/>
              </a:br>
              <a:r>
                <a:rPr lang="ko-KR" altLang="en-US" sz="700" dirty="0" smtClean="0"/>
                <a:t>내역 접기</a:t>
              </a:r>
              <a:r>
                <a:rPr lang="en-US" altLang="ko-KR" sz="700" dirty="0" smtClean="0"/>
                <a:t>, </a:t>
              </a:r>
              <a:r>
                <a:rPr lang="ko-KR" altLang="en-US" sz="700" dirty="0" smtClean="0"/>
                <a:t>펼쳐보기 추가</a:t>
              </a:r>
              <a:endParaRPr lang="en-US" altLang="ko-KR" sz="7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40513278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66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>
                <a:solidFill>
                  <a:prstClr val="black"/>
                </a:solidFill>
              </a:rPr>
              <a:t>항목 설명 </a:t>
            </a:r>
            <a:r>
              <a:rPr lang="en-US" altLang="ko-KR" sz="1000" b="1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196424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품목 </a:t>
            </a:r>
            <a:r>
              <a:rPr lang="ko-KR" altLang="en-US" sz="900" b="1">
                <a:solidFill>
                  <a:prstClr val="black"/>
                </a:solidFill>
              </a:rPr>
              <a:t>검색조건 </a:t>
            </a:r>
            <a:r>
              <a:rPr lang="en-US" altLang="ko-KR" sz="900" b="1">
                <a:solidFill>
                  <a:prstClr val="black"/>
                </a:solidFill>
              </a:rPr>
              <a:t>(dm_searchInfo)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285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획득구분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acqstnTypeCd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획득구분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상업실적사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/FMS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실적가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/BOA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/CSP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업체공표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무관정보가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NIIN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niin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국가식별코드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입력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822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286891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32125D8-8798-15F3-D587-EC3FA42F7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19971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748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67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>
                <a:solidFill>
                  <a:prstClr val="black"/>
                </a:solidFill>
              </a:rPr>
              <a:t>항목 설명 </a:t>
            </a:r>
            <a:r>
              <a:rPr lang="en-US" altLang="ko-KR" sz="1000" b="1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4316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검색결과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(dl_resultList)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08475"/>
          <a:ext cx="8994883" cy="44601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검색결과 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0232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acqstnTypeCd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획득구분코드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1435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acqstnTypeNm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획득구분명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41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군급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군급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364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NIIN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niin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국가식별코드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423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143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5652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규격번호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spcfctNo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885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aplcnEqpmntCd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적용장비코드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0490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적용장비명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aplcnEqpmntNm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적용장비명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623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48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화폐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crncNm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화폐단위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659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화폐구분명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crncEngNm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 화폐구분명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059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ntnCd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국가코드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65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국가명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ntnNm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국가명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211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untprc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228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71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계약서 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bzentyCd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계약서 계약업체 업체명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23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bzentyNm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계약서 계약업체명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09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acqstnYmd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658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획득근거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획득근거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6591369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206854D4-A859-BBEF-F79F-06C0E5EBA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6395976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68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>
                <a:solidFill>
                  <a:prstClr val="black"/>
                </a:solidFill>
                <a:latin typeface="+mn-ea"/>
              </a:rPr>
              <a:t> 이벤트 설명</a:t>
            </a:r>
            <a:endParaRPr lang="ko-KR" altLang="en-US" sz="10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 Box 73">
            <a:extLst>
              <a:ext uri="{FF2B5EF4-FFF2-40B4-BE49-F238E27FC236}">
                <a16:creationId xmlns:a16="http://schemas.microsoft.com/office/drawing/2014/main" id="{206854D4-A859-BBEF-F79F-06C0E5EBA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0B12C55-A3B8-F2F0-3E2D-C2777F356FC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3000" y="80842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품목별가격자료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scwin.btn_search_onclick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품목별가격자료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57648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국외 카드 항목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/>
              <a:t>클릭 시 </a:t>
            </a:r>
            <a:r>
              <a:rPr lang="en-US" altLang="ko-KR" dirty="0" smtClean="0"/>
              <a:t>MUI-OP-01-P76 </a:t>
            </a:r>
            <a:r>
              <a:rPr lang="ko-KR" altLang="en-US" dirty="0" smtClean="0"/>
              <a:t>목록정보조회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형상자료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풀페이지</a:t>
            </a:r>
            <a:r>
              <a:rPr lang="ko-KR" altLang="en-US" dirty="0" smtClean="0"/>
              <a:t> 팝업 표시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/>
              <a:t>조달계획 </a:t>
            </a:r>
            <a:r>
              <a:rPr lang="ko-KR" altLang="en-US" dirty="0" err="1" smtClean="0"/>
              <a:t>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/>
              <a:t>조달계획 </a:t>
            </a:r>
            <a:r>
              <a:rPr lang="ko-KR" altLang="en-US" dirty="0" err="1" smtClean="0"/>
              <a:t>통합목록</a:t>
            </a:r>
            <a:r>
              <a:rPr lang="ko-KR" altLang="en-US" dirty="0" smtClean="0"/>
              <a:t> 화면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연간조달계획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홈 </a:t>
            </a:r>
            <a:r>
              <a:rPr lang="en-US" altLang="ko-KR" dirty="0" smtClean="0"/>
              <a:t>&gt; </a:t>
            </a:r>
            <a:r>
              <a:rPr lang="ko-KR" altLang="en-US" dirty="0" smtClean="0">
                <a:latin typeface="+mn-ea"/>
              </a:rPr>
              <a:t>조달계획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MUI-OP-01-M01</a:t>
            </a:r>
            <a:endParaRPr lang="ko-KR" altLang="en-US" dirty="0"/>
          </a:p>
        </p:txBody>
      </p:sp>
      <p:sp>
        <p:nvSpPr>
          <p:cNvPr id="121" name="직사각형 120"/>
          <p:cNvSpPr/>
          <p:nvPr/>
        </p:nvSpPr>
        <p:spPr>
          <a:xfrm>
            <a:off x="476794" y="1260503"/>
            <a:ext cx="6577149" cy="2007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</a:rPr>
              <a:t>이해를 돕기 위한 화면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조달계획 </a:t>
            </a:r>
            <a:r>
              <a:rPr lang="ko-KR" altLang="en-US" sz="800" dirty="0" err="1" smtClean="0">
                <a:latin typeface="+mn-ea"/>
              </a:rPr>
              <a:t>통합목록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39" name="그룹 138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140" name="직선 연결선 13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직선 연결선 14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2" name="타원 141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44" name="그룹 143"/>
          <p:cNvGrpSpPr/>
          <p:nvPr/>
        </p:nvGrpSpPr>
        <p:grpSpPr>
          <a:xfrm>
            <a:off x="781461" y="3311149"/>
            <a:ext cx="2473257" cy="1098561"/>
            <a:chOff x="781461" y="2610063"/>
            <a:chExt cx="2473257" cy="1098561"/>
          </a:xfrm>
        </p:grpSpPr>
        <p:sp>
          <p:nvSpPr>
            <p:cNvPr id="171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smtClean="0"/>
                <a:t>조달요구번호 </a:t>
              </a:r>
              <a:r>
                <a:rPr lang="en-US" altLang="ko-KR" sz="700" dirty="0" smtClean="0"/>
                <a:t>ABCD1234</a:t>
              </a:r>
            </a:p>
            <a:p>
              <a:r>
                <a:rPr lang="ko-KR" altLang="en-US" sz="900" b="1" dirty="0" err="1" smtClean="0"/>
                <a:t>재고번호</a:t>
              </a:r>
              <a:r>
                <a:rPr lang="ko-KR" altLang="en-US" sz="900" b="1" dirty="0" smtClean="0"/>
                <a:t> </a:t>
              </a:r>
              <a:r>
                <a:rPr lang="en-US" altLang="ko-KR" sz="900" b="1" dirty="0" smtClean="0"/>
                <a:t>A1234567890</a:t>
              </a:r>
              <a:endParaRPr lang="ko-KR" altLang="en-US" sz="900" b="1" dirty="0"/>
            </a:p>
          </p:txBody>
        </p:sp>
        <p:sp>
          <p:nvSpPr>
            <p:cNvPr id="17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부품번호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품질등급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생산자부호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접수기간</a:t>
              </a:r>
              <a:endParaRPr lang="en-US" altLang="ko-KR" sz="600" dirty="0" smtClean="0">
                <a:latin typeface="+mn-ea"/>
              </a:endParaRPr>
            </a:p>
          </p:txBody>
        </p:sp>
        <p:sp>
          <p:nvSpPr>
            <p:cNvPr id="17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2840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AA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-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A123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2026-02-10</a:t>
              </a:r>
              <a:r>
                <a:rPr lang="ko-KR" altLang="en-US" sz="600" dirty="0" smtClean="0">
                  <a:latin typeface="+mn-ea"/>
                </a:rPr>
                <a:t> </a:t>
              </a:r>
              <a:r>
                <a:rPr lang="en-US" altLang="ko-KR" sz="600" dirty="0" smtClean="0">
                  <a:latin typeface="+mn-ea"/>
                </a:rPr>
                <a:t>~ 2026-02-12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79" name="모서리가 둥근 직사각형 178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smtClean="0">
                  <a:solidFill>
                    <a:schemeClr val="dk1"/>
                  </a:solidFill>
                </a:rPr>
                <a:t>국외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182" name="모서리가 둥근 직사각형 181"/>
            <p:cNvSpPr/>
            <p:nvPr/>
          </p:nvSpPr>
          <p:spPr>
            <a:xfrm>
              <a:off x="1075656" y="2610063"/>
              <a:ext cx="26419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smtClean="0"/>
                <a:t>육군</a:t>
              </a:r>
              <a:endParaRPr lang="ko-KR" altLang="en-US" sz="600" dirty="0"/>
            </a:p>
          </p:txBody>
        </p:sp>
      </p:grp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500573"/>
            <a:ext cx="76863" cy="292489"/>
            <a:chOff x="3750067" y="4683795"/>
            <a:chExt cx="76863" cy="292489"/>
          </a:xfrm>
        </p:grpSpPr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6" name="타원 185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88" name="그룹 187"/>
          <p:cNvGrpSpPr/>
          <p:nvPr/>
        </p:nvGrpSpPr>
        <p:grpSpPr>
          <a:xfrm>
            <a:off x="778515" y="4610478"/>
            <a:ext cx="2476203" cy="1083172"/>
            <a:chOff x="778515" y="2610063"/>
            <a:chExt cx="2476203" cy="1083172"/>
          </a:xfrm>
        </p:grpSpPr>
        <p:sp>
          <p:nvSpPr>
            <p:cNvPr id="18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600" dirty="0"/>
                <a:t>조달요구번호 </a:t>
              </a:r>
              <a:r>
                <a:rPr lang="en-US" altLang="ko-KR" sz="600" dirty="0" smtClean="0"/>
                <a:t>EFGH1234</a:t>
              </a:r>
              <a:endParaRPr lang="en-US" altLang="ko-KR" sz="600" dirty="0"/>
            </a:p>
            <a:p>
              <a:r>
                <a:rPr lang="ko-KR" altLang="en-US" sz="800" b="1" dirty="0" err="1"/>
                <a:t>재고번호</a:t>
              </a:r>
              <a:r>
                <a:rPr lang="ko-KR" altLang="en-US" sz="800" b="1" dirty="0"/>
                <a:t> </a:t>
              </a:r>
              <a:r>
                <a:rPr lang="en-US" altLang="ko-KR" sz="800" b="1" dirty="0" smtClean="0"/>
                <a:t>F987654123</a:t>
              </a:r>
              <a:endParaRPr lang="ko-KR" altLang="en-US" sz="800" b="1" dirty="0"/>
            </a:p>
          </p:txBody>
        </p:sp>
        <p:sp>
          <p:nvSpPr>
            <p:cNvPr id="190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부품번호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품질등급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생산자부호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91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2840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BB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B123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2026-01-03</a:t>
              </a:r>
              <a:r>
                <a:rPr lang="ko-KR" altLang="en-US" sz="600" dirty="0" smtClean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</a:t>
              </a:r>
              <a:r>
                <a:rPr lang="en-US" altLang="ko-KR" sz="600" dirty="0" smtClean="0">
                  <a:latin typeface="+mn-ea"/>
                </a:rPr>
                <a:t>2026-01-14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92" name="모서리가 둥근 직사각형 191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smtClean="0">
                  <a:solidFill>
                    <a:schemeClr val="dk1"/>
                  </a:solidFill>
                </a:rPr>
                <a:t>국외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193" name="모서리가 둥근 직사각형 192"/>
            <p:cNvSpPr/>
            <p:nvPr/>
          </p:nvSpPr>
          <p:spPr>
            <a:xfrm>
              <a:off x="1075656" y="2610063"/>
              <a:ext cx="26419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공군</a:t>
              </a:r>
              <a:endParaRPr lang="ko-KR" altLang="en-US" sz="600" dirty="0"/>
            </a:p>
          </p:txBody>
        </p:sp>
      </p:grp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195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101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공지사항</a:t>
            </a:r>
            <a:endParaRPr lang="ko-KR" altLang="en-US" sz="700" dirty="0">
              <a:latin typeface="+mn-ea"/>
            </a:endParaRPr>
          </a:p>
        </p:txBody>
      </p:sp>
      <p:sp>
        <p:nvSpPr>
          <p:cNvPr id="197" name="타원 196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8" name="그룹 197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99" name="직선 연결선 19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0" name="직선 연결선 19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1" name="모서리가 둥근 직사각형 200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sp>
        <p:nvSpPr>
          <p:cNvPr id="203" name="모서리가 둥근 직사각형 202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용역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204" name="모서리가 둥근 직사각형 203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공사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205" name="모서리가 둥근 직사각형 204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국외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206" name="모서리가 둥근 직사각형 205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전체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208" name="모서리가 둥근 직사각형 207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일반경쟁</a:t>
            </a:r>
            <a:endParaRPr lang="ko-KR" altLang="en-US" sz="600" dirty="0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계약방법</a:t>
            </a:r>
            <a:endParaRPr lang="ko-KR" altLang="en-US" sz="700" dirty="0">
              <a:latin typeface="+mn-ea"/>
            </a:endParaRPr>
          </a:p>
        </p:txBody>
      </p:sp>
      <p:sp>
        <p:nvSpPr>
          <p:cNvPr id="210" name="모서리가 둥근 직사각형 209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지명경쟁</a:t>
            </a:r>
            <a:endParaRPr lang="ko-KR" altLang="en-US" sz="600" dirty="0"/>
          </a:p>
        </p:txBody>
      </p:sp>
      <p:sp>
        <p:nvSpPr>
          <p:cNvPr id="211" name="모서리가 둥근 직사각형 210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제한경쟁</a:t>
            </a:r>
            <a:endParaRPr lang="ko-KR" altLang="en-US" sz="600" dirty="0"/>
          </a:p>
        </p:txBody>
      </p:sp>
      <p:sp>
        <p:nvSpPr>
          <p:cNvPr id="212" name="모서리가 둥근 직사각형 211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복수경쟁</a:t>
            </a:r>
            <a:endParaRPr lang="ko-KR" altLang="en-US" sz="600" dirty="0"/>
          </a:p>
        </p:txBody>
      </p:sp>
      <p:sp>
        <p:nvSpPr>
          <p:cNvPr id="213" name="모서리가 둥근 직사각형 212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수의계약</a:t>
            </a:r>
            <a:endParaRPr lang="ko-KR" altLang="en-US" sz="600" dirty="0"/>
          </a:p>
        </p:txBody>
      </p:sp>
      <p:sp>
        <p:nvSpPr>
          <p:cNvPr id="214" name="모서리가 둥근 직사각형 213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협상에의한</a:t>
            </a:r>
            <a:r>
              <a:rPr lang="ko-KR" altLang="en-US" sz="600" dirty="0" smtClean="0"/>
              <a:t> 계약</a:t>
            </a:r>
            <a:r>
              <a:rPr lang="en-US" altLang="ko-KR" sz="600" dirty="0" smtClean="0"/>
              <a:t>(</a:t>
            </a:r>
            <a:r>
              <a:rPr lang="ko-KR" altLang="en-US" sz="600" dirty="0" smtClean="0"/>
              <a:t>서류</a:t>
            </a:r>
            <a:r>
              <a:rPr lang="en-US" altLang="ko-KR" sz="600" dirty="0" smtClean="0"/>
              <a:t>)</a:t>
            </a:r>
            <a:endParaRPr lang="ko-KR" altLang="en-US" sz="600" dirty="0"/>
          </a:p>
        </p:txBody>
      </p:sp>
      <p:sp>
        <p:nvSpPr>
          <p:cNvPr id="215" name="모서리가 둥근 직사각형 214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 smtClean="0"/>
              <a:t>2</a:t>
            </a:r>
            <a:r>
              <a:rPr lang="ko-KR" altLang="en-US" sz="600" dirty="0" smtClean="0"/>
              <a:t>단계 경쟁</a:t>
            </a:r>
            <a:r>
              <a:rPr lang="en-US" altLang="ko-KR" sz="600" dirty="0" smtClean="0"/>
              <a:t>(</a:t>
            </a:r>
            <a:r>
              <a:rPr lang="ko-KR" altLang="en-US" sz="600" dirty="0" smtClean="0"/>
              <a:t>동시</a:t>
            </a:r>
            <a:r>
              <a:rPr lang="en-US" altLang="ko-KR" sz="600" dirty="0" smtClean="0"/>
              <a:t>)</a:t>
            </a:r>
            <a:endParaRPr lang="ko-KR" altLang="en-US" sz="600" dirty="0"/>
          </a:p>
        </p:txBody>
      </p:sp>
      <p:sp>
        <p:nvSpPr>
          <p:cNvPr id="216" name="모서리가 둥근 직사각형 215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 smtClean="0"/>
              <a:t>2</a:t>
            </a:r>
            <a:r>
              <a:rPr lang="ko-KR" altLang="en-US" sz="600" dirty="0" smtClean="0"/>
              <a:t>단계 경쟁</a:t>
            </a:r>
            <a:r>
              <a:rPr lang="en-US" altLang="ko-KR" sz="600" dirty="0" smtClean="0"/>
              <a:t>(</a:t>
            </a:r>
            <a:r>
              <a:rPr lang="ko-KR" altLang="en-US" sz="600" dirty="0" smtClean="0"/>
              <a:t>분리</a:t>
            </a:r>
            <a:r>
              <a:rPr lang="en-US" altLang="ko-KR" sz="600" dirty="0" smtClean="0"/>
              <a:t>)</a:t>
            </a:r>
            <a:endParaRPr lang="ko-KR" altLang="en-US" sz="600" dirty="0"/>
          </a:p>
        </p:txBody>
      </p:sp>
      <p:sp>
        <p:nvSpPr>
          <p:cNvPr id="217" name="모서리가 둥근 직사각형 216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종합낙찰제</a:t>
            </a:r>
            <a:endParaRPr lang="ko-KR" altLang="en-US" sz="600" dirty="0"/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협상에의한</a:t>
            </a:r>
            <a:r>
              <a:rPr lang="ko-KR" altLang="en-US" sz="600" dirty="0" smtClean="0"/>
              <a:t> 계약</a:t>
            </a:r>
            <a:r>
              <a:rPr lang="en-US" altLang="ko-KR" sz="600" dirty="0" smtClean="0"/>
              <a:t>(</a:t>
            </a:r>
            <a:r>
              <a:rPr lang="ko-KR" altLang="en-US" sz="600" dirty="0" smtClean="0"/>
              <a:t>전자</a:t>
            </a:r>
            <a:r>
              <a:rPr lang="en-US" altLang="ko-KR" sz="600" dirty="0" smtClean="0"/>
              <a:t>)</a:t>
            </a:r>
            <a:endParaRPr lang="ko-KR" altLang="en-US" sz="600" dirty="0"/>
          </a:p>
        </p:txBody>
      </p:sp>
      <p:sp>
        <p:nvSpPr>
          <p:cNvPr id="219" name="모서리가 둥근 직사각형 218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역경매</a:t>
            </a:r>
            <a:endParaRPr lang="ko-KR" altLang="en-US" sz="600" dirty="0"/>
          </a:p>
        </p:txBody>
      </p:sp>
      <p:sp>
        <p:nvSpPr>
          <p:cNvPr id="220" name="모서리가 둥근 직사각형 219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발주기관 전체</a:t>
            </a:r>
            <a:endParaRPr lang="ko-KR" altLang="en-US" sz="600" dirty="0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발주기관</a:t>
            </a:r>
            <a:endParaRPr lang="ko-KR" altLang="en-US" sz="700" dirty="0">
              <a:latin typeface="+mn-ea"/>
            </a:endParaRPr>
          </a:p>
        </p:txBody>
      </p:sp>
      <p:sp>
        <p:nvSpPr>
          <p:cNvPr id="222" name="모서리가 둥근 직사각형 221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/>
              <a:t>방위사업청</a:t>
            </a:r>
            <a:endParaRPr lang="ko-KR" altLang="en-US" sz="600" dirty="0"/>
          </a:p>
        </p:txBody>
      </p:sp>
      <p:sp>
        <p:nvSpPr>
          <p:cNvPr id="223" name="모서리가 둥근 직사각형 222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조달본부</a:t>
            </a:r>
            <a:endParaRPr lang="ko-KR" altLang="en-US" sz="600" dirty="0"/>
          </a:p>
        </p:txBody>
      </p:sp>
      <p:sp>
        <p:nvSpPr>
          <p:cNvPr id="224" name="모서리가 둥근 직사각형 223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경리단</a:t>
            </a:r>
            <a:endParaRPr lang="ko-KR" altLang="en-US" sz="600" dirty="0"/>
          </a:p>
        </p:txBody>
      </p:sp>
      <p:sp>
        <p:nvSpPr>
          <p:cNvPr id="225" name="모서리가 둥근 직사각형 224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/>
              <a:t>군수사</a:t>
            </a:r>
            <a:endParaRPr lang="ko-KR" altLang="en-US" sz="600" dirty="0"/>
          </a:p>
        </p:txBody>
      </p:sp>
      <p:sp>
        <p:nvSpPr>
          <p:cNvPr id="226" name="모서리가 둥근 직사각형 225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교육사</a:t>
            </a:r>
            <a:endParaRPr lang="ko-KR" altLang="en-US" sz="600" dirty="0"/>
          </a:p>
        </p:txBody>
      </p:sp>
      <p:sp>
        <p:nvSpPr>
          <p:cNvPr id="227" name="모서리가 둥근 직사각형 226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학교</a:t>
            </a:r>
            <a:endParaRPr lang="ko-KR" altLang="en-US" sz="600" dirty="0"/>
          </a:p>
        </p:txBody>
      </p:sp>
      <p:sp>
        <p:nvSpPr>
          <p:cNvPr id="228" name="모서리가 둥근 직사각형 227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근지단</a:t>
            </a:r>
            <a:endParaRPr lang="ko-KR" altLang="en-US" sz="600" dirty="0"/>
          </a:p>
        </p:txBody>
      </p:sp>
      <p:sp>
        <p:nvSpPr>
          <p:cNvPr id="229" name="모서리가 둥근 직사각형 228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/>
              <a:t>군병원</a:t>
            </a:r>
            <a:endParaRPr lang="ko-KR" altLang="en-US" sz="600" dirty="0"/>
          </a:p>
        </p:txBody>
      </p:sp>
      <p:sp>
        <p:nvSpPr>
          <p:cNvPr id="230" name="모서리가 둥근 직사각형 229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본부</a:t>
            </a:r>
            <a:endParaRPr lang="ko-KR" altLang="en-US" sz="600" dirty="0"/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국방부</a:t>
            </a:r>
            <a:r>
              <a:rPr lang="en-US" altLang="ko-KR" sz="600" dirty="0" smtClean="0"/>
              <a:t>-9</a:t>
            </a:r>
            <a:endParaRPr lang="ko-KR" altLang="en-US" sz="600" dirty="0"/>
          </a:p>
        </p:txBody>
      </p:sp>
      <p:sp>
        <p:nvSpPr>
          <p:cNvPr id="232" name="모서리가 둥근 직사각형 231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국방부</a:t>
            </a:r>
            <a:r>
              <a:rPr lang="en-US" altLang="ko-KR" sz="600" dirty="0" smtClean="0"/>
              <a:t>-A</a:t>
            </a:r>
            <a:endParaRPr lang="ko-KR" altLang="en-US" sz="600" dirty="0"/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기타</a:t>
            </a:r>
            <a:endParaRPr lang="ko-KR" altLang="en-US" sz="600" dirty="0"/>
          </a:p>
        </p:txBody>
      </p:sp>
      <p:sp>
        <p:nvSpPr>
          <p:cNvPr id="234" name="모서리가 둥근 직사각형 233"/>
          <p:cNvSpPr/>
          <p:nvPr/>
        </p:nvSpPr>
        <p:spPr>
          <a:xfrm>
            <a:off x="4321056" y="2203671"/>
            <a:ext cx="39399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조달계획</a:t>
            </a:r>
            <a:endParaRPr lang="ko-KR" altLang="en-US" sz="600" dirty="0"/>
          </a:p>
        </p:txBody>
      </p:sp>
      <p:sp>
        <p:nvSpPr>
          <p:cNvPr id="235" name="모서리가 둥근 직사각형 234"/>
          <p:cNvSpPr/>
          <p:nvPr/>
        </p:nvSpPr>
        <p:spPr>
          <a:xfrm>
            <a:off x="4762118" y="220367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사전규격</a:t>
            </a:r>
            <a:endParaRPr lang="ko-KR" altLang="en-US" sz="600" dirty="0"/>
          </a:p>
        </p:txBody>
      </p:sp>
      <p:sp>
        <p:nvSpPr>
          <p:cNvPr id="236" name="모서리가 둥근 직사각형 235"/>
          <p:cNvSpPr/>
          <p:nvPr/>
        </p:nvSpPr>
        <p:spPr>
          <a:xfrm>
            <a:off x="5221341" y="2203671"/>
            <a:ext cx="56515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연간조달계획</a:t>
            </a:r>
            <a:endParaRPr lang="ko-KR" altLang="en-US" sz="600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20951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검색유형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8" name="모서리가 둥근 직사각형 237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총액제</a:t>
            </a:r>
            <a:endParaRPr lang="ko-KR" altLang="en-US" sz="600" dirty="0"/>
          </a:p>
        </p:txBody>
      </p:sp>
      <p:sp>
        <p:nvSpPr>
          <p:cNvPr id="239" name="모서리가 둥근 직사각형 238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단가제</a:t>
            </a:r>
            <a:endParaRPr lang="ko-KR" altLang="en-US" sz="600" dirty="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41" name="직선 연결선 2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173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2" name="TextBox 24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 smtClean="0">
                <a:latin typeface="+mn-ea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smtClean="0">
                <a:latin typeface="+mn-ea"/>
              </a:rPr>
              <a:t>표시 개수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10 </a:t>
            </a:r>
            <a:r>
              <a:rPr lang="ko-KR" altLang="en-US" sz="700" dirty="0" smtClean="0">
                <a:latin typeface="+mn-ea"/>
              </a:rPr>
              <a:t>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245" name="그룹 244"/>
          <p:cNvGrpSpPr/>
          <p:nvPr/>
        </p:nvGrpSpPr>
        <p:grpSpPr>
          <a:xfrm>
            <a:off x="3143548" y="2983035"/>
            <a:ext cx="94010" cy="47005"/>
            <a:chOff x="6812560" y="3297172"/>
            <a:chExt cx="94010" cy="47005"/>
          </a:xfrm>
        </p:grpSpPr>
        <p:cxnSp>
          <p:nvCxnSpPr>
            <p:cNvPr id="246" name="직선 연결선 2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7" name="직선 연결선 2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8" name="그룹 247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249" name="모서리가 둥근 직사각형 248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0" name="타원 249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252" name="그룹 251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25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 smtClean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재고번호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260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smtClean="0">
                    <a:latin typeface="맑은 고딕"/>
                    <a:ea typeface="맑은 고딕" panose="020B0503020000020004" pitchFamily="50" charset="-127"/>
                  </a:rPr>
                  <a:t>조달요구번호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253" name="타원 252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 smtClean="0"/>
                <a:t>V</a:t>
              </a:r>
              <a:endParaRPr lang="ko-KR" altLang="en-US" sz="600" dirty="0"/>
            </a:p>
          </p:txBody>
        </p:sp>
        <p:sp>
          <p:nvSpPr>
            <p:cNvPr id="254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 smtClean="0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255" name="타원 254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56" name="그룹 255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257" name="직선 연결선 256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8" name="직선 연결선 25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3550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62" name="그룹 261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263" name="직선 연결선 26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4" name="직선 연결선 26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364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588312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군수품</a:t>
            </a:r>
            <a:r>
              <a:rPr lang="en-US" altLang="ko-KR" dirty="0" smtClean="0"/>
              <a:t> </a:t>
            </a:r>
            <a:r>
              <a:rPr lang="ko-KR" altLang="en-US" dirty="0" smtClean="0"/>
              <a:t>정보 </a:t>
            </a:r>
            <a:r>
              <a:rPr lang="en-US" altLang="ko-KR" dirty="0" smtClean="0"/>
              <a:t>NIIN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페이지 접근 시 </a:t>
            </a:r>
            <a:r>
              <a:rPr lang="en-US" altLang="ko-KR" dirty="0" smtClean="0"/>
              <a:t>NIIN</a:t>
            </a:r>
            <a:r>
              <a:rPr lang="ko-KR" altLang="en-US" dirty="0" smtClean="0"/>
              <a:t>이 있는 경우</a:t>
            </a:r>
            <a:r>
              <a:rPr lang="en-US" altLang="ko-KR" dirty="0" smtClean="0"/>
              <a:t> </a:t>
            </a:r>
            <a:r>
              <a:rPr lang="ko-KR" altLang="en-US" dirty="0" smtClean="0"/>
              <a:t>자동 채우기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다른 탭 페이지에서 </a:t>
            </a:r>
            <a:r>
              <a:rPr lang="en-US" altLang="ko-KR" dirty="0" smtClean="0"/>
              <a:t>NIIN </a:t>
            </a:r>
            <a:r>
              <a:rPr lang="ko-KR" altLang="en-US" dirty="0" smtClean="0"/>
              <a:t>설정 시 탭에 모두 </a:t>
            </a:r>
            <a:r>
              <a:rPr lang="en-US" altLang="ko-KR" dirty="0" smtClean="0"/>
              <a:t>NIIN </a:t>
            </a:r>
            <a:r>
              <a:rPr lang="ko-KR" altLang="en-US" dirty="0" smtClean="0"/>
              <a:t>유지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내용이 있는 경우 삭제</a:t>
            </a:r>
            <a:r>
              <a:rPr lang="en-US" altLang="ko-KR" dirty="0" smtClean="0"/>
              <a:t>(X)</a:t>
            </a:r>
            <a:r>
              <a:rPr lang="ko-KR" altLang="en-US" dirty="0" smtClean="0"/>
              <a:t> 버튼 활성화</a:t>
            </a:r>
            <a:r>
              <a:rPr lang="en-US" altLang="ko-KR" dirty="0" smtClean="0"/>
              <a:t>. 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내용이 없는 </a:t>
            </a:r>
            <a:r>
              <a:rPr lang="ko-KR" altLang="en-US" dirty="0"/>
              <a:t>경우 </a:t>
            </a:r>
            <a:r>
              <a:rPr lang="ko-KR" altLang="en-US" dirty="0" smtClean="0"/>
              <a:t>삭제 버튼 숨김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식별정보 </a:t>
            </a:r>
            <a:r>
              <a:rPr lang="ko-KR" altLang="en-US" dirty="0"/>
              <a:t>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참조번호</a:t>
            </a:r>
            <a:r>
              <a:rPr lang="ko-KR" altLang="en-US" dirty="0" smtClean="0"/>
              <a:t> </a:t>
            </a:r>
            <a:r>
              <a:rPr lang="ko-KR" altLang="en-US" dirty="0"/>
              <a:t>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업체정보 </a:t>
            </a:r>
            <a:r>
              <a:rPr lang="ko-KR" altLang="en-US" dirty="0"/>
              <a:t>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MUI-OP-01-P77 </a:t>
            </a:r>
            <a:r>
              <a:rPr lang="ko-KR" altLang="en-US" dirty="0" smtClean="0">
                <a:latin typeface="+mn-ea"/>
              </a:rPr>
              <a:t>업체정보 팝업 호출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목록정보조회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군수품 목록 중 </a:t>
            </a:r>
            <a:r>
              <a:rPr lang="ko-KR" altLang="en-US" dirty="0" err="1"/>
              <a:t>형상자료</a:t>
            </a:r>
            <a:r>
              <a:rPr lang="ko-KR" altLang="en-US" dirty="0"/>
              <a:t> 정보를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목록정보조회 </a:t>
            </a: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 err="1" smtClean="0">
                <a:latin typeface="+mn-ea"/>
              </a:rPr>
              <a:t>형상자료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MUI-OP-01-P76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30889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264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95603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 smtClean="0">
                <a:latin typeface="+mn-ea"/>
              </a:rPr>
              <a:t>형상자료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95603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식별자료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17264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917910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2988442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식별정보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310177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3295927"/>
            <a:ext cx="792000" cy="87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9592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295927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재고번호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영문품명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한글품명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295927"/>
            <a:ext cx="17840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1523-12-1251232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BELSCDFE ASSEMVGBY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밸크랭크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조립체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1612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5270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74073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95444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16815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03921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4993" y="189012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참조번호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252" name="그룹 251"/>
          <p:cNvGrpSpPr/>
          <p:nvPr/>
        </p:nvGrpSpPr>
        <p:grpSpPr>
          <a:xfrm flipV="1">
            <a:off x="6247080" y="2003454"/>
            <a:ext cx="94010" cy="47005"/>
            <a:chOff x="6812560" y="3297172"/>
            <a:chExt cx="94010" cy="47005"/>
          </a:xfrm>
        </p:grpSpPr>
        <p:cxnSp>
          <p:nvCxnSpPr>
            <p:cNvPr id="253" name="직선 연결선 2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직선 연결선 2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2" name="직사각형 261"/>
          <p:cNvSpPr/>
          <p:nvPr/>
        </p:nvSpPr>
        <p:spPr>
          <a:xfrm>
            <a:off x="3826115" y="2197608"/>
            <a:ext cx="792000" cy="87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19760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3179" y="2197608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참조번호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구분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생산자부호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생산자명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0028" y="2197608"/>
            <a:ext cx="178465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70400-01230-023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도면번호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78245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SIBSK ERKAS </a:t>
            </a:r>
            <a:r>
              <a:rPr lang="en-US" altLang="ko-KR" sz="700" dirty="0" smtClean="0">
                <a:latin typeface="+mn-ea"/>
              </a:rPr>
              <a:t>EKCORPO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42871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64242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85612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06983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6098765" y="2443378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75840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9237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54660" y="195603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참고자료</a:t>
            </a:r>
            <a:endParaRPr lang="ko-KR" altLang="en-US" sz="700" dirty="0">
              <a:latin typeface="+mn-ea"/>
            </a:endParaRPr>
          </a:p>
        </p:txBody>
      </p:sp>
      <p:sp>
        <p:nvSpPr>
          <p:cNvPr id="150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2604413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1443878" y="2270698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 smtClean="0">
                <a:solidFill>
                  <a:schemeClr val="bg1">
                    <a:lumMod val="65000"/>
                  </a:schemeClr>
                </a:solidFill>
              </a:rPr>
              <a:t>NIIN</a:t>
            </a:r>
            <a:r>
              <a:rPr lang="ko-KR" altLang="en-US" sz="700" dirty="0" smtClean="0">
                <a:solidFill>
                  <a:schemeClr val="bg1">
                    <a:lumMod val="65000"/>
                  </a:schemeClr>
                </a:solidFill>
              </a:rPr>
              <a:t>을 입력하세요</a:t>
            </a:r>
            <a:r>
              <a:rPr lang="en-US" altLang="ko-KR" sz="700" dirty="0" smtClean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339011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 smtClean="0">
                <a:latin typeface="+mn-ea"/>
              </a:rPr>
              <a:t>NIIN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3" name="그룹 152"/>
          <p:cNvGrpSpPr/>
          <p:nvPr/>
        </p:nvGrpSpPr>
        <p:grpSpPr>
          <a:xfrm>
            <a:off x="3112794" y="2308984"/>
            <a:ext cx="145884" cy="145882"/>
            <a:chOff x="3112794" y="3984500"/>
            <a:chExt cx="145884" cy="145882"/>
          </a:xfrm>
        </p:grpSpPr>
        <p:sp>
          <p:nvSpPr>
            <p:cNvPr id="154" name="타원 153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5" name="그룹 154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67" name="직선 연결선 166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4373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0" name="직사각형 169"/>
          <p:cNvSpPr/>
          <p:nvPr/>
        </p:nvSpPr>
        <p:spPr>
          <a:xfrm>
            <a:off x="3826115" y="3426381"/>
            <a:ext cx="792000" cy="87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342638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3179" y="3426381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참조번호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구분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생산자부호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생산자명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0028" y="3426381"/>
            <a:ext cx="178465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70400-01230-024</a:t>
            </a: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기타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23129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US </a:t>
            </a:r>
            <a:r>
              <a:rPr lang="en-US" altLang="ko-KR" sz="700" dirty="0" smtClean="0">
                <a:latin typeface="+mn-ea"/>
              </a:rPr>
              <a:t>ARPY </a:t>
            </a:r>
            <a:r>
              <a:rPr lang="en-US" altLang="ko-KR" sz="700" dirty="0">
                <a:latin typeface="+mn-ea"/>
              </a:rPr>
              <a:t>ACLHGET </a:t>
            </a:r>
            <a:r>
              <a:rPr lang="en-US" altLang="ko-KR" sz="700" dirty="0" smtClean="0">
                <a:latin typeface="+mn-ea"/>
              </a:rPr>
              <a:t>ASLTM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6574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87119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0849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2986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24" name="타원 22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422901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32275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6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90740" y="3104583"/>
            <a:ext cx="2522014" cy="18574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smtClean="0">
                <a:latin typeface="맑은 고딕"/>
                <a:ea typeface="맑은 고딕" panose="020B0503020000020004" pitchFamily="50" charset="-127"/>
              </a:rPr>
              <a:t>업체정보 보기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55324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90740" y="4335074"/>
            <a:ext cx="2522014" cy="18574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smtClean="0">
                <a:latin typeface="맑은 고딕"/>
                <a:ea typeface="맑은 고딕" panose="020B0503020000020004" pitchFamily="50" charset="-127"/>
              </a:rPr>
              <a:t>업체정보 보기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grpSp>
        <p:nvGrpSpPr>
          <p:cNvPr id="125" name="그룹 124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26" name="직선 연결선 12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직선 연결선 12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목록정보</a:t>
            </a:r>
            <a:r>
              <a:rPr lang="ko-KR" altLang="en-US" sz="900" dirty="0">
                <a:latin typeface="+mn-ea"/>
              </a:rPr>
              <a:t> 조회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795734" y="1630768"/>
            <a:ext cx="2712027" cy="216169"/>
            <a:chOff x="3795734" y="1630768"/>
            <a:chExt cx="2712027" cy="216169"/>
          </a:xfrm>
        </p:grpSpPr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20" name="그룹 119"/>
            <p:cNvGrpSpPr/>
            <p:nvPr/>
          </p:nvGrpSpPr>
          <p:grpSpPr>
            <a:xfrm>
              <a:off x="6253541" y="1650089"/>
              <a:ext cx="94010" cy="94010"/>
              <a:chOff x="6812560" y="3297172"/>
              <a:chExt cx="94010" cy="94010"/>
            </a:xfrm>
          </p:grpSpPr>
          <p:cxnSp>
            <p:nvCxnSpPr>
              <p:cNvPr id="121" name="직선 연결선 120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3679" y="1630768"/>
              <a:ext cx="179875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900" dirty="0" err="1">
                  <a:latin typeface="+mn-ea"/>
                </a:rPr>
                <a:t>목록정보</a:t>
              </a:r>
              <a:r>
                <a:rPr lang="ko-KR" altLang="en-US" sz="900" dirty="0">
                  <a:latin typeface="+mn-ea"/>
                </a:rPr>
                <a:t> 조회</a:t>
              </a:r>
            </a:p>
          </p:txBody>
        </p:sp>
      </p:grpSp>
      <p:grpSp>
        <p:nvGrpSpPr>
          <p:cNvPr id="87" name="그룹 8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89" name="직사각형 8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2026-05-27 </a:t>
              </a:r>
              <a:r>
                <a:rPr lang="ko-KR" altLang="en-US" dirty="0" smtClean="0"/>
                <a:t>화면 수정</a:t>
              </a:r>
              <a:endParaRPr lang="ko-KR" altLang="en-US" dirty="0"/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아이디 변경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풀페이지</a:t>
              </a:r>
              <a:r>
                <a:rPr lang="ko-KR" altLang="en-US" sz="700" dirty="0" smtClean="0"/>
                <a:t> 팝업으로 변경</a:t>
              </a:r>
              <a:endParaRPr lang="en-US" altLang="ko-KR" sz="7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61914724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업체정보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업체정보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군수품 </a:t>
            </a:r>
            <a:r>
              <a:rPr lang="ko-KR" altLang="en-US" dirty="0" err="1"/>
              <a:t>형상자료의</a:t>
            </a:r>
            <a:r>
              <a:rPr lang="ko-KR" altLang="en-US" dirty="0"/>
              <a:t> 업체정보 </a:t>
            </a:r>
            <a:r>
              <a:rPr lang="ko-KR" altLang="en-US" dirty="0" err="1"/>
              <a:t>팝업화면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조달 계획 </a:t>
            </a:r>
            <a:r>
              <a:rPr lang="en-US" altLang="ko-KR" dirty="0"/>
              <a:t>&gt; </a:t>
            </a:r>
            <a:r>
              <a:rPr lang="ko-KR" altLang="en-US" dirty="0"/>
              <a:t>상세 조회 </a:t>
            </a:r>
            <a:r>
              <a:rPr lang="en-US" altLang="ko-KR" dirty="0"/>
              <a:t>- </a:t>
            </a:r>
            <a:r>
              <a:rPr lang="ko-KR" altLang="en-US" dirty="0" err="1" smtClean="0"/>
              <a:t>결과목록</a:t>
            </a:r>
            <a:r>
              <a:rPr lang="en-US" altLang="ko-KR" dirty="0" smtClean="0">
                <a:latin typeface="+mn-ea"/>
              </a:rPr>
              <a:t> &gt; </a:t>
            </a:r>
            <a:r>
              <a:rPr lang="ko-KR" altLang="en-US" dirty="0" smtClean="0">
                <a:latin typeface="+mn-ea"/>
              </a:rPr>
              <a:t>품목별가격자료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MUI-OP-01-P77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675399" y="3658716"/>
            <a:ext cx="2712027" cy="2573583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1761412" y="3695344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3164338" y="3829760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810439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smtClean="0">
                <a:latin typeface="+mn-ea"/>
              </a:rPr>
              <a:t>업체정보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0718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7907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716084" y="4288140"/>
            <a:ext cx="2630656" cy="1292662"/>
            <a:chOff x="3824022" y="5160789"/>
            <a:chExt cx="2630656" cy="1292662"/>
          </a:xfrm>
        </p:grpSpPr>
        <p:sp>
          <p:nvSpPr>
            <p:cNvPr id="75" name="직사각형 74"/>
            <p:cNvSpPr/>
            <p:nvPr/>
          </p:nvSpPr>
          <p:spPr>
            <a:xfrm>
              <a:off x="3826115" y="5160789"/>
              <a:ext cx="792000" cy="12852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516078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3179" y="5160789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업체명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대표자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본사주소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사업자번호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전화번호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FAX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70028" y="5160789"/>
              <a:ext cx="178465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A </a:t>
              </a:r>
              <a:r>
                <a:rPr lang="ko-KR" altLang="en-US" sz="700" dirty="0" smtClean="0">
                  <a:latin typeface="+mn-ea"/>
                </a:rPr>
                <a:t>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홍길동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서울특별시 종로구</a:t>
              </a:r>
              <a:r>
                <a:rPr lang="en-US" altLang="ko-KR" sz="700" dirty="0" smtClean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123-45-67890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02-1234-5678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02-1234-6789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39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6056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81930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0330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45142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2453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7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닫기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185476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식별자료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목록정보조회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군수품 목록 중 </a:t>
            </a:r>
            <a:r>
              <a:rPr lang="ko-KR" altLang="en-US" dirty="0" err="1"/>
              <a:t>식별자료</a:t>
            </a:r>
            <a:r>
              <a:rPr lang="ko-KR" altLang="en-US" dirty="0"/>
              <a:t> 정보를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목록정보조회 </a:t>
            </a: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 err="1" smtClean="0">
                <a:latin typeface="+mn-ea"/>
              </a:rPr>
              <a:t>식별자료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MUI-OP-01-P76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299983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200000"/>
              </a:lnSpc>
              <a:defRPr sz="700">
                <a:latin typeface="+mn-ea"/>
              </a:defRPr>
            </a:lvl1pPr>
          </a:lstStyle>
          <a:p>
            <a:r>
              <a:rPr lang="ko-KR" altLang="en-US" dirty="0" err="1"/>
              <a:t>식별자료</a:t>
            </a:r>
            <a:endParaRPr lang="ko-KR" altLang="en-US" dirty="0"/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3113165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0484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3832577" y="1873082"/>
            <a:ext cx="933066" cy="4274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873082"/>
            <a:ext cx="725552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품명부호</a:t>
            </a:r>
            <a:r>
              <a:rPr lang="en-US" altLang="ko-KR" sz="700" dirty="0">
                <a:latin typeface="+mn-ea"/>
              </a:rPr>
              <a:t>(INC</a:t>
            </a:r>
            <a:r>
              <a:rPr lang="en-US" altLang="ko-KR" sz="700" dirty="0" smtClean="0">
                <a:latin typeface="+mn-ea"/>
              </a:rPr>
              <a:t>)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대체재고</a:t>
            </a:r>
            <a:r>
              <a:rPr lang="ko-KR" altLang="en-US" sz="700" dirty="0">
                <a:latin typeface="+mn-ea"/>
              </a:rPr>
              <a:t> 번호</a:t>
            </a:r>
          </a:p>
          <a:p>
            <a:pPr>
              <a:lnSpc>
                <a:spcPct val="200000"/>
              </a:lnSpc>
            </a:pP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품종 </a:t>
            </a:r>
            <a:r>
              <a:rPr lang="ko-KR" altLang="en-US" sz="700" dirty="0" err="1">
                <a:latin typeface="+mn-ea"/>
              </a:rPr>
              <a:t>구분번호</a:t>
            </a:r>
            <a:r>
              <a:rPr lang="en-US" altLang="ko-KR" sz="700" dirty="0">
                <a:latin typeface="+mn-ea"/>
              </a:rPr>
              <a:t>(CS)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제조국부호</a:t>
            </a:r>
            <a:r>
              <a:rPr lang="en-US" altLang="ko-KR" sz="700" dirty="0">
                <a:latin typeface="+mn-ea"/>
              </a:rPr>
              <a:t>(NTL)</a:t>
            </a:r>
          </a:p>
          <a:p>
            <a:pPr>
              <a:lnSpc>
                <a:spcPct val="200000"/>
              </a:lnSpc>
            </a:pP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목록화담당자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자료변경일자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800394" y="1873082"/>
            <a:ext cx="1672616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111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A12000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11112</a:t>
            </a:r>
          </a:p>
          <a:p>
            <a:pPr>
              <a:lnSpc>
                <a:spcPct val="200000"/>
              </a:lnSpc>
            </a:pP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M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9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A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B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0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1980-01-05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2026-03-06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187308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08782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30256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5173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73204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94678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316152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37626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5910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80574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03486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22913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44370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6517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88110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69260" y="330665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10086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29513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550305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71779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9471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616004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직사각형 104"/>
          <p:cNvSpPr/>
          <p:nvPr/>
        </p:nvSpPr>
        <p:spPr>
          <a:xfrm>
            <a:off x="722583" y="3391949"/>
            <a:ext cx="792000" cy="658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39194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391949"/>
            <a:ext cx="67077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군급분류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영문품명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한글품명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391949"/>
            <a:ext cx="1784088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1000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MODEL-Y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모델</a:t>
            </a:r>
            <a:r>
              <a:rPr lang="en-US" altLang="ko-KR" sz="700" dirty="0" smtClean="0">
                <a:latin typeface="+mn-ea"/>
              </a:rPr>
              <a:t>Y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62305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8367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05046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2633619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1443878" y="229990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 smtClean="0">
                <a:solidFill>
                  <a:schemeClr val="bg1">
                    <a:lumMod val="65000"/>
                  </a:schemeClr>
                </a:solidFill>
              </a:rPr>
              <a:t>NIIN</a:t>
            </a:r>
            <a:r>
              <a:rPr lang="ko-KR" altLang="en-US" sz="700" dirty="0" smtClean="0">
                <a:solidFill>
                  <a:schemeClr val="bg1">
                    <a:lumMod val="65000"/>
                  </a:schemeClr>
                </a:solidFill>
              </a:rPr>
              <a:t>을 입력하세요</a:t>
            </a:r>
            <a:r>
              <a:rPr lang="en-US" altLang="ko-KR" sz="700" dirty="0" smtClean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36821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 smtClean="0">
                <a:latin typeface="+mn-ea"/>
              </a:rPr>
              <a:t>NIIN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16" name="그룹 115"/>
          <p:cNvGrpSpPr/>
          <p:nvPr/>
        </p:nvGrpSpPr>
        <p:grpSpPr>
          <a:xfrm>
            <a:off x="3112794" y="2338190"/>
            <a:ext cx="145884" cy="145882"/>
            <a:chOff x="3112794" y="3984500"/>
            <a:chExt cx="145884" cy="145882"/>
          </a:xfrm>
        </p:grpSpPr>
        <p:sp>
          <p:nvSpPr>
            <p:cNvPr id="117" name="타원 116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8" name="그룹 117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19" name="직선 연결선 118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7293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873082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FIIG</a:t>
            </a:r>
            <a:r>
              <a:rPr lang="ko-KR" altLang="en-US" sz="700" dirty="0" err="1">
                <a:latin typeface="+mn-ea"/>
              </a:rPr>
              <a:t>긴요도부호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(FCC</a:t>
            </a:r>
            <a:r>
              <a:rPr lang="en-US" altLang="ko-KR" sz="700" dirty="0" smtClean="0">
                <a:latin typeface="+mn-ea"/>
              </a:rPr>
              <a:t>)</a:t>
            </a:r>
            <a:endParaRPr lang="en-US" altLang="ko-KR" sz="700" dirty="0">
              <a:latin typeface="+mn-ea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2088699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취소이유</a:t>
            </a:r>
            <a:r>
              <a:rPr lang="ko-KR" altLang="en-US" sz="700" dirty="0" smtClean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부호</a:t>
            </a:r>
            <a:r>
              <a:rPr lang="en-US" altLang="ko-KR" sz="700" dirty="0">
                <a:latin typeface="+mn-ea"/>
              </a:rPr>
              <a:t>(DRC</a:t>
            </a:r>
            <a:r>
              <a:rPr lang="en-US" altLang="ko-KR" sz="700" dirty="0" smtClean="0">
                <a:latin typeface="+mn-ea"/>
              </a:rPr>
              <a:t>)</a:t>
            </a:r>
            <a:endParaRPr lang="en-US" altLang="ko-KR" sz="700" dirty="0">
              <a:latin typeface="+mn-ea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2299904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품목식별</a:t>
            </a:r>
            <a:r>
              <a:rPr lang="ko-KR" altLang="en-US" sz="700" dirty="0" smtClean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지침서번호</a:t>
            </a:r>
            <a:r>
              <a:rPr lang="en-US" altLang="ko-KR" sz="700" dirty="0">
                <a:latin typeface="+mn-ea"/>
              </a:rPr>
              <a:t>(FIIG </a:t>
            </a:r>
            <a:r>
              <a:rPr lang="ko-KR" altLang="en-US" sz="700" dirty="0">
                <a:latin typeface="+mn-ea"/>
              </a:rPr>
              <a:t>순번</a:t>
            </a:r>
            <a:r>
              <a:rPr lang="en-US" altLang="ko-KR" sz="700" dirty="0" smtClean="0">
                <a:latin typeface="+mn-ea"/>
              </a:rPr>
              <a:t>)</a:t>
            </a:r>
            <a:endParaRPr lang="en-US" altLang="ko-KR" sz="700" dirty="0">
              <a:latin typeface="+mn-ea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2744986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자동자료처리 </a:t>
            </a:r>
            <a:r>
              <a:rPr lang="ko-KR" altLang="en-US" sz="700" dirty="0" err="1">
                <a:latin typeface="+mn-ea"/>
              </a:rPr>
              <a:t>장비부호</a:t>
            </a:r>
            <a:r>
              <a:rPr lang="en-US" altLang="ko-KR" sz="700" dirty="0">
                <a:latin typeface="+mn-ea"/>
              </a:rPr>
              <a:t>(ADPEC)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2947669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귀금속 </a:t>
            </a:r>
            <a:r>
              <a:rPr lang="ko-KR" altLang="en-US" sz="700" dirty="0" err="1">
                <a:latin typeface="+mn-ea"/>
              </a:rPr>
              <a:t>지시부호</a:t>
            </a:r>
            <a:r>
              <a:rPr lang="en-US" altLang="ko-KR" sz="700" dirty="0">
                <a:latin typeface="+mn-ea"/>
              </a:rPr>
              <a:t>(PMIC)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3156726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참조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부분 서술형 </a:t>
            </a:r>
            <a:r>
              <a:rPr lang="ko-KR" altLang="en-US" sz="700" dirty="0" err="1">
                <a:latin typeface="+mn-ea"/>
              </a:rPr>
              <a:t>원인부호</a:t>
            </a:r>
            <a:r>
              <a:rPr lang="en-US" altLang="ko-KR" sz="700" dirty="0">
                <a:latin typeface="+mn-ea"/>
              </a:rPr>
              <a:t>(RPDMRC)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3594949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품목식별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형태부호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(TIIC)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235259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재고번호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식별부호</a:t>
            </a:r>
            <a:r>
              <a:rPr lang="en-US" altLang="ko-KR" sz="700" dirty="0">
                <a:latin typeface="+mn-ea"/>
              </a:rPr>
              <a:t>(IS)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438170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비군사화 부호</a:t>
            </a:r>
            <a:r>
              <a:rPr lang="en-US" altLang="ko-KR" sz="700" dirty="0">
                <a:latin typeface="+mn-ea"/>
              </a:rPr>
              <a:t>(DEMIL)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661071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정전기 </a:t>
            </a:r>
            <a:r>
              <a:rPr lang="ko-KR" altLang="en-US" sz="700" dirty="0" err="1">
                <a:latin typeface="+mn-ea"/>
              </a:rPr>
              <a:t>방전부호</a:t>
            </a:r>
            <a:r>
              <a:rPr lang="en-US" altLang="ko-KR" sz="700" dirty="0">
                <a:latin typeface="+mn-ea"/>
              </a:rPr>
              <a:t>(ESDC)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882515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품목식별번호 </a:t>
            </a:r>
            <a:r>
              <a:rPr lang="ko-KR" altLang="en-US" sz="700" dirty="0" err="1">
                <a:latin typeface="+mn-ea"/>
              </a:rPr>
              <a:t>상태부호</a:t>
            </a:r>
            <a:r>
              <a:rPr lang="en-US" altLang="ko-KR" sz="700" dirty="0">
                <a:latin typeface="+mn-ea"/>
              </a:rPr>
              <a:t>(NSC)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5092514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위험물자부호</a:t>
            </a:r>
            <a:r>
              <a:rPr lang="en-US" altLang="ko-KR" sz="700" dirty="0">
                <a:latin typeface="+mn-ea"/>
              </a:rPr>
              <a:t>(HMIC)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5294791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위험특성부호 </a:t>
            </a:r>
            <a:r>
              <a:rPr lang="en-US" altLang="ko-KR" sz="700" dirty="0" smtClean="0">
                <a:latin typeface="+mn-ea"/>
              </a:rPr>
              <a:t>(</a:t>
            </a:r>
            <a:r>
              <a:rPr lang="en-US" altLang="ko-KR" sz="700" dirty="0">
                <a:latin typeface="+mn-ea"/>
              </a:rPr>
              <a:t>HCC)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5733773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국가품목</a:t>
            </a:r>
            <a:r>
              <a:rPr lang="ko-KR" altLang="en-US" sz="700" dirty="0">
                <a:latin typeface="+mn-ea"/>
              </a:rPr>
              <a:t> 식별번호</a:t>
            </a:r>
            <a:r>
              <a:rPr lang="en-US" altLang="ko-KR" sz="700" dirty="0">
                <a:latin typeface="+mn-ea"/>
              </a:rPr>
              <a:t>(NIIN)</a:t>
            </a:r>
            <a:r>
              <a:rPr lang="ko-KR" altLang="en-US" sz="700" dirty="0" err="1">
                <a:latin typeface="+mn-ea"/>
              </a:rPr>
              <a:t>부여일자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264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95603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형상자료</a:t>
            </a:r>
            <a:endParaRPr lang="ko-KR" altLang="en-US" sz="700" dirty="0">
              <a:latin typeface="+mn-ea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95603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 smtClean="0">
                <a:latin typeface="+mn-ea"/>
              </a:rPr>
              <a:t>식별자료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226273" y="217264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60" name="그룹 159"/>
          <p:cNvGrpSpPr/>
          <p:nvPr/>
        </p:nvGrpSpPr>
        <p:grpSpPr>
          <a:xfrm>
            <a:off x="2924086" y="1917910"/>
            <a:ext cx="422853" cy="187961"/>
            <a:chOff x="3641308" y="2234886"/>
            <a:chExt cx="422853" cy="187961"/>
          </a:xfrm>
        </p:grpSpPr>
        <p:sp>
          <p:nvSpPr>
            <p:cNvPr id="161" name="타원 160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2" name="그룹 161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167" name="직선 연결선 16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3" name="타원 162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4" name="그룹 163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65" name="직선 연결선 16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54660" y="195603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참고자료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70" name="그룹 169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71" name="직선 연결선 170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직선 연결선 17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3" name="TextBox 17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목록정보</a:t>
            </a:r>
            <a:r>
              <a:rPr lang="ko-KR" altLang="en-US" sz="900" dirty="0">
                <a:latin typeface="+mn-ea"/>
              </a:rPr>
              <a:t> 조회</a:t>
            </a:r>
          </a:p>
        </p:txBody>
      </p:sp>
      <p:grpSp>
        <p:nvGrpSpPr>
          <p:cNvPr id="174" name="그룹 173"/>
          <p:cNvGrpSpPr/>
          <p:nvPr/>
        </p:nvGrpSpPr>
        <p:grpSpPr>
          <a:xfrm>
            <a:off x="3795734" y="1630768"/>
            <a:ext cx="2712027" cy="216169"/>
            <a:chOff x="3795734" y="1630768"/>
            <a:chExt cx="2712027" cy="216169"/>
          </a:xfrm>
        </p:grpSpPr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76" name="그룹 175"/>
            <p:cNvGrpSpPr/>
            <p:nvPr/>
          </p:nvGrpSpPr>
          <p:grpSpPr>
            <a:xfrm>
              <a:off x="6253541" y="1650089"/>
              <a:ext cx="94010" cy="94010"/>
              <a:chOff x="6812560" y="3297172"/>
              <a:chExt cx="94010" cy="94010"/>
            </a:xfrm>
          </p:grpSpPr>
          <p:cxnSp>
            <p:nvCxnSpPr>
              <p:cNvPr id="178" name="직선 연결선 177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3679" y="1630768"/>
              <a:ext cx="179875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900" dirty="0" err="1">
                  <a:latin typeface="+mn-ea"/>
                </a:rPr>
                <a:t>목록정보</a:t>
              </a:r>
              <a:r>
                <a:rPr lang="ko-KR" altLang="en-US" sz="900" dirty="0">
                  <a:latin typeface="+mn-ea"/>
                </a:rPr>
                <a:t> 조회</a:t>
              </a:r>
            </a:p>
          </p:txBody>
        </p:sp>
      </p:grpSp>
      <p:grpSp>
        <p:nvGrpSpPr>
          <p:cNvPr id="97" name="그룹 9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98" name="직사각형 9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2026-05-27 </a:t>
              </a:r>
              <a:r>
                <a:rPr lang="ko-KR" altLang="en-US" dirty="0" smtClean="0"/>
                <a:t>화면 수정</a:t>
              </a:r>
              <a:endParaRPr lang="ko-KR" altLang="en-US" dirty="0"/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아이디 변경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풀페이지</a:t>
              </a:r>
              <a:r>
                <a:rPr lang="ko-KR" altLang="en-US" sz="700" dirty="0" smtClean="0"/>
                <a:t> 팝업으로 변경</a:t>
              </a:r>
              <a:endParaRPr lang="en-US" altLang="ko-KR" sz="7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75307990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참고자료 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목록정보조회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군수품 목록 중 참고자료 정보를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목록정보조회 </a:t>
            </a: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/>
              <a:t>참고자료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MUI-OP-01-P76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3109080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200000"/>
              </a:lnSpc>
              <a:defRPr sz="700">
                <a:latin typeface="+mn-ea"/>
              </a:defRPr>
            </a:lvl1pPr>
          </a:lstStyle>
          <a:p>
            <a:r>
              <a:rPr lang="ko-KR" altLang="en-US" dirty="0" smtClean="0"/>
              <a:t>참고자료</a:t>
            </a:r>
            <a:endParaRPr lang="ko-KR" altLang="en-US" dirty="0"/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3222411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15770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69260" y="341590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직사각형 104"/>
          <p:cNvSpPr/>
          <p:nvPr/>
        </p:nvSpPr>
        <p:spPr>
          <a:xfrm>
            <a:off x="722583" y="3501195"/>
            <a:ext cx="792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50119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501195"/>
            <a:ext cx="67077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참고번호</a:t>
            </a:r>
            <a:r>
              <a:rPr lang="ko-KR" altLang="en-US" sz="700" dirty="0" smtClean="0">
                <a:latin typeface="+mn-ea"/>
              </a:rPr>
              <a:t> </a:t>
            </a:r>
            <a:r>
              <a:rPr lang="en-US" altLang="ko-KR" sz="700" dirty="0" smtClean="0">
                <a:latin typeface="+mn-ea"/>
              </a:rPr>
              <a:t>R/N</a:t>
            </a: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생산자 </a:t>
            </a:r>
            <a:r>
              <a:rPr lang="en-US" altLang="ko-KR" sz="700" dirty="0" smtClean="0">
                <a:latin typeface="+mn-ea"/>
              </a:rPr>
              <a:t>NSCM</a:t>
            </a: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형태 </a:t>
            </a:r>
            <a:r>
              <a:rPr lang="en-US" altLang="ko-KR" sz="700" dirty="0" smtClean="0">
                <a:latin typeface="+mn-ea"/>
              </a:rPr>
              <a:t>RNFC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범주 </a:t>
            </a:r>
            <a:r>
              <a:rPr lang="en-US" altLang="ko-KR" sz="700" dirty="0" smtClean="0">
                <a:latin typeface="+mn-ea"/>
              </a:rPr>
              <a:t>RNCC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분류 </a:t>
            </a:r>
            <a:r>
              <a:rPr lang="en-US" altLang="ko-KR" sz="700" dirty="0" smtClean="0">
                <a:latin typeface="+mn-ea"/>
              </a:rPr>
              <a:t>RNVC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가용성 </a:t>
            </a:r>
            <a:r>
              <a:rPr lang="en-US" altLang="ko-KR" sz="700" dirty="0" smtClean="0">
                <a:latin typeface="+mn-ea"/>
              </a:rPr>
              <a:t>DAC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조치 </a:t>
            </a:r>
            <a:r>
              <a:rPr lang="en-US" altLang="ko-KR" sz="700" dirty="0" smtClean="0">
                <a:latin typeface="+mn-ea"/>
              </a:rPr>
              <a:t>RNAA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상태 </a:t>
            </a:r>
            <a:r>
              <a:rPr lang="en-US" altLang="ko-KR" sz="700" dirty="0" smtClean="0">
                <a:latin typeface="+mn-ea"/>
              </a:rPr>
              <a:t>RNSC</a:t>
            </a: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교정 </a:t>
            </a:r>
            <a:r>
              <a:rPr lang="en-US" altLang="ko-KR" sz="700" dirty="0" smtClean="0">
                <a:latin typeface="+mn-ea"/>
              </a:rPr>
              <a:t>RNIC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501195"/>
            <a:ext cx="1784088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10000-012345-123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12345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KE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7323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9460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15971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2742865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1443878" y="2409150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 smtClean="0">
                <a:solidFill>
                  <a:schemeClr val="bg1">
                    <a:lumMod val="65000"/>
                  </a:schemeClr>
                </a:solidFill>
              </a:rPr>
              <a:t>NIIN</a:t>
            </a:r>
            <a:r>
              <a:rPr lang="ko-KR" altLang="en-US" sz="700" dirty="0" smtClean="0">
                <a:solidFill>
                  <a:schemeClr val="bg1">
                    <a:lumMod val="65000"/>
                  </a:schemeClr>
                </a:solidFill>
              </a:rPr>
              <a:t>을 입력하세요</a:t>
            </a:r>
            <a:r>
              <a:rPr lang="en-US" altLang="ko-KR" sz="700" dirty="0" smtClean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47746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 smtClean="0">
                <a:latin typeface="+mn-ea"/>
              </a:rPr>
              <a:t>NIIN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16" name="그룹 115"/>
          <p:cNvGrpSpPr/>
          <p:nvPr/>
        </p:nvGrpSpPr>
        <p:grpSpPr>
          <a:xfrm>
            <a:off x="3112794" y="2447436"/>
            <a:ext cx="145884" cy="145882"/>
            <a:chOff x="3112794" y="3984500"/>
            <a:chExt cx="145884" cy="145882"/>
          </a:xfrm>
        </p:grpSpPr>
        <p:sp>
          <p:nvSpPr>
            <p:cNvPr id="117" name="타원 116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8" name="그룹 117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19" name="직선 연결선 118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08218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6334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59444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80815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02186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2326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44640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3840699" y="2057748"/>
            <a:ext cx="792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8606" y="205774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7763" y="2057748"/>
            <a:ext cx="67077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참고번호</a:t>
            </a:r>
            <a:r>
              <a:rPr lang="ko-KR" altLang="en-US" sz="700" dirty="0" smtClean="0">
                <a:latin typeface="+mn-ea"/>
              </a:rPr>
              <a:t> </a:t>
            </a:r>
            <a:r>
              <a:rPr lang="en-US" altLang="ko-KR" sz="700" dirty="0" smtClean="0">
                <a:latin typeface="+mn-ea"/>
              </a:rPr>
              <a:t>R/N</a:t>
            </a: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생산자 </a:t>
            </a:r>
            <a:r>
              <a:rPr lang="en-US" altLang="ko-KR" sz="700" dirty="0" smtClean="0">
                <a:latin typeface="+mn-ea"/>
              </a:rPr>
              <a:t>NSCM</a:t>
            </a: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형태 </a:t>
            </a:r>
            <a:r>
              <a:rPr lang="en-US" altLang="ko-KR" sz="700" dirty="0" smtClean="0">
                <a:latin typeface="+mn-ea"/>
              </a:rPr>
              <a:t>RNFC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범주 </a:t>
            </a:r>
            <a:r>
              <a:rPr lang="en-US" altLang="ko-KR" sz="700" dirty="0" smtClean="0">
                <a:latin typeface="+mn-ea"/>
              </a:rPr>
              <a:t>RNCC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분류 </a:t>
            </a:r>
            <a:r>
              <a:rPr lang="en-US" altLang="ko-KR" sz="700" dirty="0" smtClean="0">
                <a:latin typeface="+mn-ea"/>
              </a:rPr>
              <a:t>RNVC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가용성 </a:t>
            </a:r>
            <a:r>
              <a:rPr lang="en-US" altLang="ko-KR" sz="700" dirty="0" smtClean="0">
                <a:latin typeface="+mn-ea"/>
              </a:rPr>
              <a:t>DAC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조치 </a:t>
            </a:r>
            <a:r>
              <a:rPr lang="en-US" altLang="ko-KR" sz="700" dirty="0" smtClean="0">
                <a:latin typeface="+mn-ea"/>
              </a:rPr>
              <a:t>RNAA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상태 </a:t>
            </a:r>
            <a:r>
              <a:rPr lang="en-US" altLang="ko-KR" sz="700" dirty="0" smtClean="0">
                <a:latin typeface="+mn-ea"/>
              </a:rPr>
              <a:t>RNSC</a:t>
            </a: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교정 </a:t>
            </a:r>
            <a:r>
              <a:rPr lang="en-US" altLang="ko-KR" sz="700" dirty="0" smtClean="0">
                <a:latin typeface="+mn-ea"/>
              </a:rPr>
              <a:t>RNIC</a:t>
            </a:r>
            <a:endParaRPr lang="en-US" altLang="ko-KR" sz="700" dirty="0">
              <a:latin typeface="+mn-ea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84611" y="2057748"/>
            <a:ext cx="1784088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10000-012345-123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12345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KE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</a:t>
            </a: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228885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250256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271626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8606" y="291989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31510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336470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357841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378925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400295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7" name="직사각형 146"/>
          <p:cNvSpPr/>
          <p:nvPr/>
        </p:nvSpPr>
        <p:spPr>
          <a:xfrm>
            <a:off x="3840699" y="4133227"/>
            <a:ext cx="792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8606" y="413322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7763" y="4133227"/>
            <a:ext cx="67077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참고번호</a:t>
            </a:r>
            <a:r>
              <a:rPr lang="ko-KR" altLang="en-US" sz="700" dirty="0" smtClean="0">
                <a:latin typeface="+mn-ea"/>
              </a:rPr>
              <a:t> </a:t>
            </a:r>
            <a:r>
              <a:rPr lang="en-US" altLang="ko-KR" sz="700" dirty="0" smtClean="0">
                <a:latin typeface="+mn-ea"/>
              </a:rPr>
              <a:t>R/N</a:t>
            </a: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생산자 </a:t>
            </a:r>
            <a:r>
              <a:rPr lang="en-US" altLang="ko-KR" sz="700" dirty="0" smtClean="0">
                <a:latin typeface="+mn-ea"/>
              </a:rPr>
              <a:t>NSCM</a:t>
            </a: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형태 </a:t>
            </a:r>
            <a:r>
              <a:rPr lang="en-US" altLang="ko-KR" sz="700" dirty="0" smtClean="0">
                <a:latin typeface="+mn-ea"/>
              </a:rPr>
              <a:t>RNFC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범주 </a:t>
            </a:r>
            <a:r>
              <a:rPr lang="en-US" altLang="ko-KR" sz="700" dirty="0" smtClean="0">
                <a:latin typeface="+mn-ea"/>
              </a:rPr>
              <a:t>RNCC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분류 </a:t>
            </a:r>
            <a:r>
              <a:rPr lang="en-US" altLang="ko-KR" sz="700" dirty="0" smtClean="0">
                <a:latin typeface="+mn-ea"/>
              </a:rPr>
              <a:t>RNVC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가용성 </a:t>
            </a:r>
            <a:r>
              <a:rPr lang="en-US" altLang="ko-KR" sz="700" dirty="0" smtClean="0">
                <a:latin typeface="+mn-ea"/>
              </a:rPr>
              <a:t>DAC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조치 </a:t>
            </a:r>
            <a:r>
              <a:rPr lang="en-US" altLang="ko-KR" sz="700" dirty="0" smtClean="0">
                <a:latin typeface="+mn-ea"/>
              </a:rPr>
              <a:t>RNAA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상태 </a:t>
            </a:r>
            <a:r>
              <a:rPr lang="en-US" altLang="ko-KR" sz="700" dirty="0" smtClean="0">
                <a:latin typeface="+mn-ea"/>
              </a:rPr>
              <a:t>RNSC</a:t>
            </a: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교정 </a:t>
            </a:r>
            <a:r>
              <a:rPr lang="en-US" altLang="ko-KR" sz="700" dirty="0" smtClean="0">
                <a:latin typeface="+mn-ea"/>
              </a:rPr>
              <a:t>RNIC</a:t>
            </a:r>
            <a:endParaRPr lang="en-US" altLang="ko-KR" sz="700" dirty="0">
              <a:latin typeface="+mn-ea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84611" y="4133227"/>
            <a:ext cx="1784088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10000-012345-123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12345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KE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</a:t>
            </a: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43643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457803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479174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8606" y="499537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522648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544018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565389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58647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607843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264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95603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형상자료</a:t>
            </a:r>
            <a:endParaRPr lang="ko-KR" altLang="en-US" sz="700" dirty="0">
              <a:latin typeface="+mn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95603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식별자료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754660" y="217264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0" name="그룹 69"/>
          <p:cNvGrpSpPr/>
          <p:nvPr/>
        </p:nvGrpSpPr>
        <p:grpSpPr>
          <a:xfrm>
            <a:off x="2924086" y="1917910"/>
            <a:ext cx="422853" cy="187961"/>
            <a:chOff x="3641308" y="2234886"/>
            <a:chExt cx="422853" cy="187961"/>
          </a:xfrm>
        </p:grpSpPr>
        <p:sp>
          <p:nvSpPr>
            <p:cNvPr id="74" name="타원 73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5" name="그룹 74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81" name="직선 연결선 8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6" name="타원 75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8" name="그룹 7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79" name="직선 연결선 7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54660" y="195603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smtClean="0">
                <a:latin typeface="+mn-ea"/>
              </a:rPr>
              <a:t>참고자료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85" name="그룹 84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목록정보</a:t>
            </a:r>
            <a:r>
              <a:rPr lang="ko-KR" altLang="en-US" sz="900" dirty="0">
                <a:latin typeface="+mn-ea"/>
              </a:rPr>
              <a:t> 조회</a:t>
            </a:r>
          </a:p>
        </p:txBody>
      </p:sp>
      <p:grpSp>
        <p:nvGrpSpPr>
          <p:cNvPr id="89" name="그룹 88"/>
          <p:cNvGrpSpPr/>
          <p:nvPr/>
        </p:nvGrpSpPr>
        <p:grpSpPr>
          <a:xfrm>
            <a:off x="3795734" y="1630768"/>
            <a:ext cx="2712027" cy="216169"/>
            <a:chOff x="3795734" y="1630768"/>
            <a:chExt cx="2712027" cy="216169"/>
          </a:xfrm>
        </p:grpSpPr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1" name="그룹 90"/>
            <p:cNvGrpSpPr/>
            <p:nvPr/>
          </p:nvGrpSpPr>
          <p:grpSpPr>
            <a:xfrm>
              <a:off x="6253541" y="1650089"/>
              <a:ext cx="94010" cy="94010"/>
              <a:chOff x="6812560" y="3297172"/>
              <a:chExt cx="94010" cy="94010"/>
            </a:xfrm>
          </p:grpSpPr>
          <p:cxnSp>
            <p:nvCxnSpPr>
              <p:cNvPr id="93" name="직선 연결선 92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3679" y="1630768"/>
              <a:ext cx="179875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900" dirty="0" err="1">
                  <a:latin typeface="+mn-ea"/>
                </a:rPr>
                <a:t>목록정보</a:t>
              </a:r>
              <a:r>
                <a:rPr lang="ko-KR" altLang="en-US" sz="900" dirty="0">
                  <a:latin typeface="+mn-ea"/>
                </a:rPr>
                <a:t> 조회</a:t>
              </a:r>
            </a:p>
          </p:txBody>
        </p:sp>
      </p:grpSp>
      <p:grpSp>
        <p:nvGrpSpPr>
          <p:cNvPr id="99" name="그룹 98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00" name="직사각형 9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2026-05-27 </a:t>
              </a:r>
              <a:r>
                <a:rPr lang="ko-KR" altLang="en-US" dirty="0" smtClean="0"/>
                <a:t>화면 수정</a:t>
              </a:r>
              <a:endParaRPr lang="ko-KR" altLang="en-US" dirty="0"/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아이디 변경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풀페이지</a:t>
              </a:r>
              <a:r>
                <a:rPr lang="ko-KR" altLang="en-US" sz="700" dirty="0" smtClean="0"/>
                <a:t> 팝업으로 변경</a:t>
              </a:r>
              <a:endParaRPr lang="en-US" altLang="ko-KR" sz="7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7787890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74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(1/3)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19507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목록정보 </a:t>
            </a:r>
            <a:r>
              <a:rPr lang="ko-KR" altLang="en-US" sz="900" b="1">
                <a:solidFill>
                  <a:prstClr val="black"/>
                </a:solidFill>
              </a:rPr>
              <a:t>검색조건 </a:t>
            </a:r>
            <a:r>
              <a:rPr lang="en-US" altLang="ko-KR" sz="900" b="1">
                <a:solidFill>
                  <a:prstClr val="black"/>
                </a:solidFill>
              </a:rPr>
              <a:t>(dm_searchInfo)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1483622"/>
            <a:ext cx="20652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첨부자료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(dl_fileList)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재고번호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695458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첨부파일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atchFileNm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첨부파일 파일명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C0D61993-505C-4C71-9A36-4C847A52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A57EB-F12E-C7A6-6842-FBF70B3AE60F}"/>
              </a:ext>
            </a:extLst>
          </p:cNvPr>
          <p:cNvSpPr txBox="1"/>
          <p:nvPr/>
        </p:nvSpPr>
        <p:spPr>
          <a:xfrm>
            <a:off x="458117" y="2366698"/>
            <a:ext cx="224637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식별정보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(dm_itemInfo)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998842C-2EC2-DFB4-AE8C-020AF03BE6F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580794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재고번호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영문품명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itemNmEng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ea"/>
                        </a:rPr>
                        <a:t>영문품명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한글품명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itemNmKor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ea"/>
                        </a:rPr>
                        <a:t>한글품명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5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ea"/>
                        </a:rPr>
                        <a:t>군급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7735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C08C4C-316F-1057-06CD-E03ACDE76417}"/>
              </a:ext>
            </a:extLst>
          </p:cNvPr>
          <p:cNvSpPr txBox="1"/>
          <p:nvPr/>
        </p:nvSpPr>
        <p:spPr>
          <a:xfrm>
            <a:off x="458117" y="3623344"/>
            <a:ext cx="204600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참조번호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(dl_refList)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EA9CA9A-C29B-57CF-8AEE-025A6254F64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3824906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참조번호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rfrncNo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참조번호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prdctnCd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생산자부호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5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prdctnNm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생산자명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77358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83F75D0-A7C5-456D-60DA-64F21BF83E41}"/>
              </a:ext>
            </a:extLst>
          </p:cNvPr>
          <p:cNvSpPr txBox="1"/>
          <p:nvPr/>
        </p:nvSpPr>
        <p:spPr>
          <a:xfrm>
            <a:off x="458117" y="4938248"/>
            <a:ext cx="236980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업체정보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(dm_bzentyInfo)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53BC2E2-C46D-7DAE-280E-B7E561862F0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5150084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23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bzentyNm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rprsvNm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대표자명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본사주소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본사 주소지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5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bzmnNo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사업자번호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773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tlno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전화번호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3346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FAX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fxno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</a:t>
                      </a:r>
                      <a:r>
                        <a:rPr lang="en-US" altLang="ko-KR" sz="800" dirty="0">
                          <a:latin typeface="+mn-ea"/>
                        </a:rPr>
                        <a:t>FAX</a:t>
                      </a:r>
                      <a:r>
                        <a:rPr lang="ko-KR" altLang="en-US" sz="800" dirty="0">
                          <a:latin typeface="+mn-ea"/>
                        </a:rPr>
                        <a:t>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419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1086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75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(2/3)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6240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 </a:t>
            </a:r>
            <a:r>
              <a:rPr lang="ko-KR" altLang="en-US" sz="900" b="1" dirty="0">
                <a:solidFill>
                  <a:prstClr val="black"/>
                </a:solidFill>
              </a:rPr>
              <a:t>식별자료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(dm_idntfInfo)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C0D61993-505C-4C71-9A36-4C847A52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71C8B1F-F6B4-27AC-275E-C147E0E5754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5385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군급분류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lt"/>
                          <a:ea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군급분류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영문품명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itemNmEng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lt"/>
                          <a:ea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영문품명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750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한글품명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itemNmKor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lt"/>
                          <a:ea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한글품명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838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FIIG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긴요도부호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FCC)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fcc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장비의 안전을 관리하는 코드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216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취소이유 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(DRC)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drc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물리적 파괴나 변형이 필요한 정도를 구분하는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240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품목식별 지침서번호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(FIIG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순번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fiigNo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품목식별 지침서 가이드 번호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0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품명부호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INC)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표준화된 이름으로 식별하기 위해 부여된 식별번호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161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자동자료처리 장비부호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(ADPEC)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adpec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컴퓨터 관련장비 여부와 그 관리 유형을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497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귀금속 지시부호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(PMIC)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pmic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귀중금속의 함유 여부와 종류를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972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부분 서술형 원인부호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(RPDMRC)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rpdmrc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파괴방법이 명시된 기술 교범의 참조 부호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948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대체재고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sbst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nvtNo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대체재고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678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품목식별 형태부호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(TIIC)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tiic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형태를 구분하는 형태부호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951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품종 구분번호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(CS)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품종 구분번호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059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제조국부호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NTL)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ntl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제조국부호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726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재고번호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식별부호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(IS)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현재의 운용 지위를 구분하는 식별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444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비군사화 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(DEMIL)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demil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풀리적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파괴 강도를 결정하는 부호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064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정전기 방전부호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(ESDC)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esdc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정전기 방지대책 필요여부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1274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품목식별번호 상태부호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(NSC)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사용가능한 살아있는 번호 인지를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616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위험물자부호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(HMIC)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hmic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위험물 여부를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2177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위험특성부호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(HCC)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hcc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위험등급을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6750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목록화담당자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목록화담당자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150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국가품목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식별번호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(NIIN)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부여일자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niinYmd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고유 식별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2539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자료변경일자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chgYmd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자료변경일자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484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88897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76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(3/3)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04600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1.7. </a:t>
            </a:r>
            <a:r>
              <a:rPr lang="ko-KR" altLang="en-US" sz="900" b="1" dirty="0">
                <a:solidFill>
                  <a:prstClr val="black"/>
                </a:solidFill>
              </a:rPr>
              <a:t>참고자료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(dl_refList)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C0D61993-505C-4C71-9A36-4C847A52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71C8B1F-F6B4-27AC-275E-C147E0E5754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213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참고번호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R/N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제품 일련번호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생산자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NSCM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nscm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제조업체에 부여된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자리 고유 식별부호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750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형태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RNFC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rnfc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군수품 종류와 특성을 구분하는 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838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범주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RNCC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rncc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유효성을 구분하는 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216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분류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RNVC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rnvc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식별수준을 구분하는 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240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가용성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DAC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유해특성을 </a:t>
                      </a: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구반하는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 식별코드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0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조치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RNAA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rnaa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참조번호 구분부호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161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상태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참조번호 상태부호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497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교정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RNJC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rnjc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참조번호 정당화부호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972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설계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SADC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sadc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민군공용부호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948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980262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4EE9817-F435-3C64-C10C-316201A70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77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DB597-A49B-8096-250F-623826FE7BF3}"/>
              </a:ext>
            </a:extLst>
          </p:cNvPr>
          <p:cNvSpPr txBox="1"/>
          <p:nvPr/>
        </p:nvSpPr>
        <p:spPr>
          <a:xfrm>
            <a:off x="458117" y="58566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13A5854-3534-55A4-8BB0-F60C7ABCE69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3000" y="863797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 초기화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scwin.btn_search_onclick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군수품 목록정보 검색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989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kern="0" dirty="0" smtClean="0">
                          <a:latin typeface="+mn-lt"/>
                          <a:ea typeface="+mn-ea"/>
                        </a:rPr>
                        <a:t>업체정보 보기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>
                          <a:latin typeface="+mn-ea"/>
                          <a:ea typeface="+mn-ea"/>
                        </a:rPr>
                        <a:t>scwin.btn_searchDetail_onclick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선택한 업체정보조회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439429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3E990255-6E06-91ED-9E95-11F25BB06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220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11003</TotalTime>
  <Words>10613</Words>
  <Application>Microsoft Office PowerPoint</Application>
  <PresentationFormat>A4 용지(210x297mm)</PresentationFormat>
  <Paragraphs>5366</Paragraphs>
  <Slides>78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78</vt:i4>
      </vt:variant>
    </vt:vector>
  </HeadingPairs>
  <TitlesOfParts>
    <vt:vector size="87" baseType="lpstr">
      <vt:lpstr>Pretendard Medium</vt:lpstr>
      <vt:lpstr>맑은 고딕</vt:lpstr>
      <vt:lpstr>맑은 고딕 (본문)</vt:lpstr>
      <vt:lpstr>Arial</vt:lpstr>
      <vt:lpstr>Consolas</vt:lpstr>
      <vt:lpstr>Times New Roman</vt:lpstr>
      <vt:lpstr>Verdana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INSoft</cp:lastModifiedBy>
  <cp:revision>712</cp:revision>
  <cp:lastPrinted>2016-10-27T08:57:39Z</cp:lastPrinted>
  <dcterms:created xsi:type="dcterms:W3CDTF">2016-10-27T07:41:55Z</dcterms:created>
  <dcterms:modified xsi:type="dcterms:W3CDTF">2026-06-12T06:23:16Z</dcterms:modified>
  <cp:category>서브시스템/업무명</cp:category>
  <cp:contentStatus>0.1</cp:contentStatus>
</cp:coreProperties>
</file>