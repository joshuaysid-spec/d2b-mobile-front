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85"/>
  </p:notesMasterIdLst>
  <p:handoutMasterIdLst>
    <p:handoutMasterId r:id="rId86"/>
  </p:handoutMasterIdLst>
  <p:sldIdLst>
    <p:sldId id="256" r:id="rId2"/>
    <p:sldId id="790" r:id="rId3"/>
    <p:sldId id="759" r:id="rId4"/>
    <p:sldId id="356" r:id="rId5"/>
    <p:sldId id="260" r:id="rId6"/>
    <p:sldId id="791" r:id="rId7"/>
    <p:sldId id="792" r:id="rId8"/>
    <p:sldId id="793" r:id="rId9"/>
    <p:sldId id="809" r:id="rId10"/>
    <p:sldId id="794" r:id="rId11"/>
    <p:sldId id="798" r:id="rId12"/>
    <p:sldId id="795" r:id="rId13"/>
    <p:sldId id="796" r:id="rId14"/>
    <p:sldId id="797" r:id="rId15"/>
    <p:sldId id="813" r:id="rId16"/>
    <p:sldId id="758" r:id="rId17"/>
    <p:sldId id="785" r:id="rId18"/>
    <p:sldId id="292" r:id="rId19"/>
    <p:sldId id="782" r:id="rId20"/>
    <p:sldId id="760" r:id="rId21"/>
    <p:sldId id="761" r:id="rId22"/>
    <p:sldId id="630" r:id="rId23"/>
    <p:sldId id="631" r:id="rId24"/>
    <p:sldId id="633" r:id="rId25"/>
    <p:sldId id="709" r:id="rId26"/>
    <p:sldId id="762" r:id="rId27"/>
    <p:sldId id="763" r:id="rId28"/>
    <p:sldId id="764" r:id="rId29"/>
    <p:sldId id="713" r:id="rId30"/>
    <p:sldId id="714" r:id="rId31"/>
    <p:sldId id="715" r:id="rId32"/>
    <p:sldId id="716" r:id="rId33"/>
    <p:sldId id="765" r:id="rId34"/>
    <p:sldId id="766" r:id="rId35"/>
    <p:sldId id="767" r:id="rId36"/>
    <p:sldId id="784" r:id="rId37"/>
    <p:sldId id="768" r:id="rId38"/>
    <p:sldId id="722" r:id="rId39"/>
    <p:sldId id="723" r:id="rId40"/>
    <p:sldId id="724" r:id="rId41"/>
    <p:sldId id="725" r:id="rId42"/>
    <p:sldId id="786" r:id="rId43"/>
    <p:sldId id="769" r:id="rId44"/>
    <p:sldId id="770" r:id="rId45"/>
    <p:sldId id="771" r:id="rId46"/>
    <p:sldId id="730" r:id="rId47"/>
    <p:sldId id="731" r:id="rId48"/>
    <p:sldId id="732" r:id="rId49"/>
    <p:sldId id="787" r:id="rId50"/>
    <p:sldId id="733" r:id="rId51"/>
    <p:sldId id="734" r:id="rId52"/>
    <p:sldId id="772" r:id="rId53"/>
    <p:sldId id="773" r:id="rId54"/>
    <p:sldId id="774" r:id="rId55"/>
    <p:sldId id="738" r:id="rId56"/>
    <p:sldId id="739" r:id="rId57"/>
    <p:sldId id="740" r:id="rId58"/>
    <p:sldId id="742" r:id="rId59"/>
    <p:sldId id="775" r:id="rId60"/>
    <p:sldId id="776" r:id="rId61"/>
    <p:sldId id="745" r:id="rId62"/>
    <p:sldId id="746" r:id="rId63"/>
    <p:sldId id="748" r:id="rId64"/>
    <p:sldId id="788" r:id="rId65"/>
    <p:sldId id="749" r:id="rId66"/>
    <p:sldId id="750" r:id="rId67"/>
    <p:sldId id="777" r:id="rId68"/>
    <p:sldId id="778" r:id="rId69"/>
    <p:sldId id="779" r:id="rId70"/>
    <p:sldId id="720" r:id="rId71"/>
    <p:sldId id="704" r:id="rId72"/>
    <p:sldId id="799" r:id="rId73"/>
    <p:sldId id="800" r:id="rId74"/>
    <p:sldId id="804" r:id="rId75"/>
    <p:sldId id="805" r:id="rId76"/>
    <p:sldId id="803" r:id="rId77"/>
    <p:sldId id="810" r:id="rId78"/>
    <p:sldId id="811" r:id="rId79"/>
    <p:sldId id="812" r:id="rId80"/>
    <p:sldId id="756" r:id="rId81"/>
    <p:sldId id="781" r:id="rId82"/>
    <p:sldId id="789" r:id="rId83"/>
    <p:sldId id="780" r:id="rId84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790"/>
            <p14:sldId id="759"/>
            <p14:sldId id="356"/>
            <p14:sldId id="260"/>
          </p14:sldIdLst>
        </p14:section>
        <p14:section name="목록" id="{A88D8C4A-42D5-488C-851B-9A15CEB54A60}">
          <p14:sldIdLst>
            <p14:sldId id="791"/>
            <p14:sldId id="792"/>
            <p14:sldId id="793"/>
            <p14:sldId id="809"/>
          </p14:sldIdLst>
        </p14:section>
        <p14:section name="1.계약통합목록" id="{BB5718C8-07C1-4018-9189-79486BE9C0C5}">
          <p14:sldIdLst>
            <p14:sldId id="794"/>
            <p14:sldId id="798"/>
            <p14:sldId id="795"/>
            <p14:sldId id="796"/>
            <p14:sldId id="797"/>
            <p14:sldId id="813"/>
            <p14:sldId id="758"/>
            <p14:sldId id="785"/>
            <p14:sldId id="292"/>
            <p14:sldId id="782"/>
            <p14:sldId id="760"/>
            <p14:sldId id="761"/>
            <p14:sldId id="630"/>
            <p14:sldId id="631"/>
            <p14:sldId id="633"/>
            <p14:sldId id="709"/>
            <p14:sldId id="762"/>
            <p14:sldId id="763"/>
            <p14:sldId id="764"/>
            <p14:sldId id="713"/>
            <p14:sldId id="714"/>
            <p14:sldId id="715"/>
            <p14:sldId id="716"/>
            <p14:sldId id="765"/>
            <p14:sldId id="766"/>
            <p14:sldId id="767"/>
            <p14:sldId id="784"/>
            <p14:sldId id="768"/>
            <p14:sldId id="722"/>
            <p14:sldId id="723"/>
            <p14:sldId id="724"/>
            <p14:sldId id="725"/>
            <p14:sldId id="786"/>
            <p14:sldId id="769"/>
            <p14:sldId id="770"/>
            <p14:sldId id="771"/>
            <p14:sldId id="730"/>
            <p14:sldId id="731"/>
            <p14:sldId id="732"/>
            <p14:sldId id="787"/>
            <p14:sldId id="733"/>
            <p14:sldId id="734"/>
            <p14:sldId id="772"/>
            <p14:sldId id="773"/>
            <p14:sldId id="774"/>
            <p14:sldId id="738"/>
            <p14:sldId id="739"/>
            <p14:sldId id="740"/>
            <p14:sldId id="742"/>
            <p14:sldId id="775"/>
            <p14:sldId id="776"/>
            <p14:sldId id="745"/>
            <p14:sldId id="746"/>
            <p14:sldId id="748"/>
            <p14:sldId id="788"/>
            <p14:sldId id="749"/>
            <p14:sldId id="750"/>
            <p14:sldId id="777"/>
            <p14:sldId id="778"/>
            <p14:sldId id="779"/>
            <p14:sldId id="720"/>
            <p14:sldId id="704"/>
            <p14:sldId id="799"/>
            <p14:sldId id="800"/>
            <p14:sldId id="804"/>
            <p14:sldId id="805"/>
            <p14:sldId id="803"/>
            <p14:sldId id="810"/>
            <p14:sldId id="811"/>
            <p14:sldId id="812"/>
          </p14:sldIdLst>
        </p14:section>
        <p14:section name="2. 대금청구진행현황" id="{818F5B40-D4DD-4315-9209-98F8CD025444}">
          <p14:sldIdLst>
            <p14:sldId id="756"/>
            <p14:sldId id="781"/>
          </p14:sldIdLst>
        </p14:section>
        <p14:section name="3.대금지불정보(반납)" id="{ADA4911A-617C-45D8-B34E-F8DEC2891795}">
          <p14:sldIdLst>
            <p14:sldId id="789"/>
            <p14:sldId id="7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6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350" y="96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2026-07-27 (Monday)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2026-07-27 (Monday)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650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05.</a:t>
            </a:r>
            <a:r>
              <a:rPr lang="ko-KR" altLang="en-US" sz="1000" b="1" kern="100" dirty="0" err="1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대금청구및사후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05.</a:t>
            </a:r>
            <a:r>
              <a:rPr lang="ko-KR" altLang="en-US" dirty="0" err="1"/>
              <a:t>대금청구및사후</a:t>
            </a:r>
            <a:endParaRPr lang="ko-KR" altLang="en-US" dirty="0"/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D2BA-AP-3CD-0601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21A837-6853-B5CA-5641-F9A516F3B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F8D2BE-3FE8-714A-457C-A4A1521A282B}"/>
              </a:ext>
            </a:extLst>
          </p:cNvPr>
          <p:cNvSpPr/>
          <p:nvPr/>
        </p:nvSpPr>
        <p:spPr>
          <a:xfrm>
            <a:off x="3079266" y="1809750"/>
            <a:ext cx="3771900" cy="3400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국방전자조달시스템 고도화 구축 사업 이외의 어떠한 목적에도 사용을 금하며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사업관리기관 및 개발업체  요원 이외의 열람을 통제한다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방위사업청의 승인없이 발췌 및 복사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배포를 금지하며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방위사업청  문서관리규정에 의하여 관리한다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3A35A62-3F88-2F9F-9F03-E16DFE92E11E}"/>
              </a:ext>
            </a:extLst>
          </p:cNvPr>
          <p:cNvSpPr txBox="1">
            <a:spLocks/>
          </p:cNvSpPr>
          <p:nvPr/>
        </p:nvSpPr>
        <p:spPr>
          <a:xfrm>
            <a:off x="2265216" y="978498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/>
              <a:t>경 고 문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24944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049858"/>
              </p:ext>
            </p:extLst>
          </p:nvPr>
        </p:nvGraphicFramePr>
        <p:xfrm>
          <a:off x="652374" y="1286787"/>
          <a:ext cx="8782571" cy="3743598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0.9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PMO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 및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TF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검토요청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331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64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49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159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394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498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192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F55A7F85-0CCB-E3F1-ADC8-44D278CE1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303742"/>
              </p:ext>
            </p:extLst>
          </p:nvPr>
        </p:nvGraphicFramePr>
        <p:xfrm>
          <a:off x="652374" y="1416776"/>
          <a:ext cx="8782571" cy="491472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849427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대금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사후통합목록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9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11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smtClean="0">
                          <a:latin typeface="+mn-ea"/>
                          <a:ea typeface="+mn-ea"/>
                        </a:rPr>
                        <a:t>15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(1/4)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543680"/>
              </p:ext>
            </p:extLst>
          </p:nvPr>
        </p:nvGraphicFramePr>
        <p:xfrm>
          <a:off x="635474" y="1365204"/>
          <a:ext cx="8701200" cy="50831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대금청구통합목록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PymtClmIntgListPage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진행한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계약목록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MUI-WM-01-P12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PymtClmIntgList_SrchFilter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032035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MUI-WM-01-P13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대금청구신청목록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PymtClmIntgAplyList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계약에 따른 선금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대금청구를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신청한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계약목록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조회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PymtClmIntgAplyList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56370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선금신청서상세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PrpayApfrDtlPage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계약당시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선급지급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조건에 따라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선금신청을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진행한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PrpayApfrDtlPage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63248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신청정보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PrpayApfrDtl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선금신청서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PrpayApfrDtl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4119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세부신청내역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PrpayApfrDtl_AplyDtsm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선금신청서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PrpayApfrDtl_AplyDtsm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7571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중도금신청서상세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계약당시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지급조건에 따라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대금 신청을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진행한 조회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dpsmnItrpyApfrDtl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DpsmnItrpyApfrDtlPage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15931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신청정보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중도금신청서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DpsmnItrpyApfrDtl.tsx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9574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세부신청내역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DpsmnItrpyApfrDtl_AplyDtsm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중도금신청서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_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AplyDtsm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5622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MUI-WM-01-T23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지급상태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PrpayDpsmnItrpyGiveSttsPage</a:t>
                      </a:r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지급 상태를 조회하는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prpayDpsmnItrpyGiveStts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PrpayDpsmnItrpyGiveStts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66545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MUI-WM-01-M05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2086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계약정보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CenterPrcmPymtClmDtl_Ctrt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CenterPrcmPymtClmDtl_Ctrt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174161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1151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(2/4)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165191"/>
              </p:ext>
            </p:extLst>
          </p:nvPr>
        </p:nvGraphicFramePr>
        <p:xfrm>
          <a:off x="635474" y="1365204"/>
          <a:ext cx="8701200" cy="50111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공급자정보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CenterPrcmPymtClmDtl_Splr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CenterPrcmPymtClmDtl_Splr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19112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대금신청금액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CenterPrcmPymtClmDtl_Pymt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CenterPrcmPymtClmDtl_Pymt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8368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세금계산서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CenterPrcmPymtClmDtl_Txiv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CenterPrcmPymtClmDtl_Txiv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03046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</a:t>
                      </a: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sbsdPrcmPymtClmDtl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SbsdPrcmPymtClmDtlPage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08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MUI-WM-01-T09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계약정보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SbsdPrcmPymtClmDtl_Ctrt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sbsdPrcmPymtClmDtl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SbsdPrcmPymtClmDtl_Ctrt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0672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대금신청업체정보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SbsdPrcmPymtClmDtl_PymtBzenty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SbsdPrcmPymtClmDtl_PymtBzenty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67871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대금신청금액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SbsdPrcmPymtClmDtl_PymtAply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SbsdPrcmPymtClmDtl_PymtAply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2733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SbsdPrcmPymtClmDtl_Atch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SbsdPrcmPymtClmDtl_Atch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9457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CstrnPymtClmDtl</a:t>
                      </a: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9499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계약정보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CstrnPymtClmDtl_Ctrt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CstrnPymtClmDtl_Ctrt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21828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대가지급업체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CstrnPymtClmDtl_GiveBzenty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CstrnPymtClmDtl_GiveBzenty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77084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3447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(3/4)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798978"/>
              </p:ext>
            </p:extLst>
          </p:nvPr>
        </p:nvGraphicFramePr>
        <p:xfrm>
          <a:off x="635474" y="1365204"/>
          <a:ext cx="8701200" cy="45734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CstrnPymtClmDtl_Atch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CstrnPymtClmDtl_Atch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2060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MUI-WM-01-M08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784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MUI-WM-01-T16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계약정보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PxcndCstPymtClmDtl_Ctrt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PxcndCstPymtClmDtl_Ctrt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0969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MUI-WM-01-T17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기성대가신청금액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PxcndCstPymtClmDtl_PxcndPymt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PxcndCstPymtClmDtl_PxcndPymt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83006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MUI-WM-01-T18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세금계산서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PxcndCstPymtClmDtl_Txiv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PxcndCstPymtClmDtl_Txiv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90276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MUI-WM-01-T19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첨부파일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PxcndCstPymtClmDtl_Atch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PxcndCstPymtClmDtl_Atch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53175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MUI-WM-01-M13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사후정산청구상세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EpfcClclnClmDtlPage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사후정산청구신청서 상세 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EpfcClclnClmDtlPage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EpfcClclnClmDtlPage.tsx</a:t>
                      </a:r>
                      <a:endParaRPr lang="en-US" altLang="ko-KR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UC-WM-01-04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719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MUI-WM-01-T20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계약정보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EpfcClclnClmDtl_CN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사후정산청구신청서 상세 조회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계약정보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탭 화면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EpfcClclnClmDtlPage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EpfcClclnClmDtl_CN.tsx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09961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MUI-WM-01-T21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신청금액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EpfcClclnClmDtl_AplyAmt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사후정산청구신청서 상세 조회 신청금액 탭 화면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EpfcClclnClmDtlPage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EpfcClclnClmDtl_AplyAmt.tsx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451921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MUI-WM-01-T22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세금계산서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EpfcClclnClmDtl_Txiv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사후정산청구신청서 상세 조회 세금계산서 탭 화면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EpfcClclnClmDtlPage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EpfcClclnClmDtl_Txiv.tsx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792814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7364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(4/4)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948152"/>
              </p:ext>
            </p:extLst>
          </p:nvPr>
        </p:nvGraphicFramePr>
        <p:xfrm>
          <a:off x="635474" y="1365204"/>
          <a:ext cx="8701200" cy="126526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MUI-WM-01-P09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대금청구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안내문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PymtClmGdntc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안내문을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PymtClmGdntc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83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MUI-WM-01-M10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대금지불정보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반납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RtnPymtDfryInfoPage</a:t>
                      </a:r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조달업체에서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과지급된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대금에 대하여 반납해야하는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정보를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rtnPymtDfryInfo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RtnPymtDfryInfo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UC-WM-01-05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80518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MUI-WM-01-M11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대금청구진행현황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PymtClmPrgrsPrstPage</a:t>
                      </a:r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진행상태를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pymtClmPrgrsPrst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PymtClmPrgrsPrst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512742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5540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071925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사후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통합목록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493266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700126" y="1772964"/>
            <a:ext cx="3717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163098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검색필터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324838" y="284441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353835" y="2636921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2167097" y="983793"/>
            <a:ext cx="2019" cy="1292362"/>
          </a:xfrm>
          <a:prstGeom prst="bentConnector3">
            <a:avLst>
              <a:gd name="adj1" fmla="val 1142243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456237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6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218018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r>
              <a:rPr lang="ko-KR" altLang="en-US" sz="800" dirty="0">
                <a:solidFill>
                  <a:schemeClr val="tx1"/>
                </a:solidFill>
              </a:rPr>
              <a:t> 안내문</a:t>
            </a:r>
          </a:p>
        </p:txBody>
      </p: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66" idx="1"/>
          </p:cNvCxnSpPr>
          <p:nvPr/>
        </p:nvCxnSpPr>
        <p:spPr>
          <a:xfrm rot="16200000" flipH="1">
            <a:off x="1739494" y="1699395"/>
            <a:ext cx="407224" cy="84236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2" idx="2"/>
            <a:endCxn id="113" idx="1"/>
          </p:cNvCxnSpPr>
          <p:nvPr/>
        </p:nvCxnSpPr>
        <p:spPr>
          <a:xfrm rot="16200000" flipH="1">
            <a:off x="924985" y="3478083"/>
            <a:ext cx="1924573" cy="73069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1971925" y="1772964"/>
            <a:ext cx="392362" cy="20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00970" y="811681"/>
            <a:ext cx="3304672" cy="708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선금신청서상세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24629" y="107240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신청정보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919226" y="107240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세부신청내역</a:t>
            </a:r>
          </a:p>
        </p:txBody>
      </p:sp>
      <p:cxnSp>
        <p:nvCxnSpPr>
          <p:cNvPr id="14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1" idx="3"/>
            <a:endCxn id="140" idx="1"/>
          </p:cNvCxnSpPr>
          <p:nvPr/>
        </p:nvCxnSpPr>
        <p:spPr>
          <a:xfrm flipV="1">
            <a:off x="3264287" y="1166135"/>
            <a:ext cx="436683" cy="19682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그룹 87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89" name="그룹 88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94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C1E8D88-E9A4-C688-7101-A25821FC8D9D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1.2.1 </a:t>
            </a:r>
            <a:r>
              <a:rPr lang="ko-KR" altLang="en-US" sz="1200" dirty="0" err="1">
                <a:solidFill>
                  <a:schemeClr val="tx1"/>
                </a:solidFill>
              </a:rPr>
              <a:t>대금상세</a:t>
            </a:r>
            <a:r>
              <a:rPr lang="ko-KR" altLang="en-US" sz="1200" dirty="0">
                <a:solidFill>
                  <a:schemeClr val="tx1"/>
                </a:solidFill>
              </a:rPr>
              <a:t> 정보 조회</a:t>
            </a:r>
          </a:p>
        </p:txBody>
      </p:sp>
      <p:sp>
        <p:nvSpPr>
          <p:cNvPr id="10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299041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선금신청서상세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345865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착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중도금신청서상세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413470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중앙조달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454983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부대조달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496863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공사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53869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기성대가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252617" y="3871613"/>
            <a:ext cx="1125417" cy="1868206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계약에 따른 분기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2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30925" y="1648885"/>
            <a:ext cx="3342187" cy="708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착</a:t>
            </a:r>
            <a:r>
              <a:rPr lang="en-US" altLang="ko-KR" sz="800" b="1" dirty="0" smtClean="0">
                <a:solidFill>
                  <a:schemeClr val="tx1"/>
                </a:solidFill>
              </a:rPr>
              <a:t>.</a:t>
            </a:r>
            <a:r>
              <a:rPr lang="ko-KR" altLang="en-US" sz="800" b="1" dirty="0" smtClean="0">
                <a:solidFill>
                  <a:schemeClr val="tx1"/>
                </a:solidFill>
              </a:rPr>
              <a:t>중도금신청서상세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3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4585" y="190961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신청정보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49182" y="190961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세부신청내역</a:t>
            </a:r>
          </a:p>
        </p:txBody>
      </p:sp>
      <p:cxnSp>
        <p:nvCxnSpPr>
          <p:cNvPr id="13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4" idx="3"/>
            <a:endCxn id="129" idx="1"/>
          </p:cNvCxnSpPr>
          <p:nvPr/>
        </p:nvCxnSpPr>
        <p:spPr>
          <a:xfrm flipV="1">
            <a:off x="3264287" y="2003339"/>
            <a:ext cx="566638" cy="159931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32781" y="2486089"/>
            <a:ext cx="4373762" cy="710660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대금청구상세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중앙조달</a:t>
            </a:r>
            <a:r>
              <a:rPr lang="en-US" altLang="ko-KR" sz="800" b="1" dirty="0">
                <a:solidFill>
                  <a:schemeClr val="tx1"/>
                </a:solidFill>
              </a:rPr>
              <a:t>)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4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6440" y="27468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51037" y="27468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공급자정보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29" idx="3"/>
            <a:endCxn id="158" idx="0"/>
          </p:cNvCxnSpPr>
          <p:nvPr/>
        </p:nvCxnSpPr>
        <p:spPr>
          <a:xfrm>
            <a:off x="7173112" y="2003339"/>
            <a:ext cx="2270723" cy="63358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19339" y="27468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대금신청금액</a:t>
            </a:r>
          </a:p>
        </p:txBody>
      </p:sp>
      <p:sp>
        <p:nvSpPr>
          <p:cNvPr id="14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213936" y="27468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</a:p>
        </p:txBody>
      </p:sp>
      <p:cxnSp>
        <p:nvCxnSpPr>
          <p:cNvPr id="15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7" idx="3"/>
            <a:endCxn id="139" idx="1"/>
          </p:cNvCxnSpPr>
          <p:nvPr/>
        </p:nvCxnSpPr>
        <p:spPr>
          <a:xfrm flipV="1">
            <a:off x="3264287" y="2841419"/>
            <a:ext cx="568494" cy="1437287"/>
          </a:xfrm>
          <a:prstGeom prst="bentConnector3">
            <a:avLst>
              <a:gd name="adj1" fmla="val 5612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8383" y="3328809"/>
            <a:ext cx="4373762" cy="703132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대금청구상세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부대조달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5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082042" y="358953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176639" y="358953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대금신청업체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244941" y="358953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대금신청금액</a:t>
            </a:r>
          </a:p>
        </p:txBody>
      </p:sp>
      <p:sp>
        <p:nvSpPr>
          <p:cNvPr id="15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339538" y="358953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첨부파일</a:t>
            </a:r>
          </a:p>
        </p:txBody>
      </p:sp>
      <p:cxnSp>
        <p:nvCxnSpPr>
          <p:cNvPr id="16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9" idx="3"/>
            <a:endCxn id="151" idx="1"/>
          </p:cNvCxnSpPr>
          <p:nvPr/>
        </p:nvCxnSpPr>
        <p:spPr>
          <a:xfrm flipV="1">
            <a:off x="3264287" y="3680375"/>
            <a:ext cx="694096" cy="101346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32919" y="4161989"/>
            <a:ext cx="3340194" cy="708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대금청구상세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>
                <a:solidFill>
                  <a:schemeClr val="tx1"/>
                </a:solidFill>
              </a:rPr>
              <a:t>공사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6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6579" y="44227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51176" y="44227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대가지급업체</a:t>
            </a:r>
          </a:p>
        </p:txBody>
      </p:sp>
      <p:sp>
        <p:nvSpPr>
          <p:cNvPr id="17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45773" y="44227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첨부파일</a:t>
            </a:r>
          </a:p>
        </p:txBody>
      </p:sp>
      <p:cxnSp>
        <p:nvCxnSpPr>
          <p:cNvPr id="1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0" idx="3"/>
            <a:endCxn id="162" idx="1"/>
          </p:cNvCxnSpPr>
          <p:nvPr/>
        </p:nvCxnSpPr>
        <p:spPr>
          <a:xfrm flipV="1">
            <a:off x="3264287" y="4516443"/>
            <a:ext cx="568632" cy="596195"/>
          </a:xfrm>
          <a:prstGeom prst="bentConnector3">
            <a:avLst>
              <a:gd name="adj1" fmla="val 729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19084" y="5035548"/>
            <a:ext cx="4373762" cy="703132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대금청구상세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기성대가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7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42743" y="529627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37340" y="529627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기성대가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신청금액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05642" y="529627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</a:p>
        </p:txBody>
      </p:sp>
      <p:sp>
        <p:nvSpPr>
          <p:cNvPr id="18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200239" y="529627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첨부파일</a:t>
            </a:r>
          </a:p>
        </p:txBody>
      </p:sp>
      <p:cxnSp>
        <p:nvCxnSpPr>
          <p:cNvPr id="18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2" idx="3"/>
            <a:endCxn id="177" idx="1"/>
          </p:cNvCxnSpPr>
          <p:nvPr/>
        </p:nvCxnSpPr>
        <p:spPr>
          <a:xfrm flipV="1">
            <a:off x="3264287" y="5387114"/>
            <a:ext cx="554797" cy="14382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77" idx="3"/>
            <a:endCxn id="155" idx="2"/>
          </p:cNvCxnSpPr>
          <p:nvPr/>
        </p:nvCxnSpPr>
        <p:spPr>
          <a:xfrm flipV="1">
            <a:off x="8192846" y="2967524"/>
            <a:ext cx="1250989" cy="241959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155" idx="2"/>
          </p:cNvCxnSpPr>
          <p:nvPr/>
        </p:nvCxnSpPr>
        <p:spPr>
          <a:xfrm flipV="1">
            <a:off x="7173113" y="2967524"/>
            <a:ext cx="2270722" cy="154891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40" idx="3"/>
            <a:endCxn id="158" idx="0"/>
          </p:cNvCxnSpPr>
          <p:nvPr/>
        </p:nvCxnSpPr>
        <p:spPr>
          <a:xfrm>
            <a:off x="7005642" y="1166135"/>
            <a:ext cx="2438193" cy="147078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9" idx="3"/>
            <a:endCxn id="158" idx="2"/>
          </p:cNvCxnSpPr>
          <p:nvPr/>
        </p:nvCxnSpPr>
        <p:spPr>
          <a:xfrm flipV="1">
            <a:off x="8206543" y="2726921"/>
            <a:ext cx="1147292" cy="11449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51" idx="3"/>
            <a:endCxn id="155" idx="2"/>
          </p:cNvCxnSpPr>
          <p:nvPr/>
        </p:nvCxnSpPr>
        <p:spPr>
          <a:xfrm flipV="1">
            <a:off x="8332145" y="2967524"/>
            <a:ext cx="1111690" cy="7128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2" idx="2"/>
            <a:endCxn id="101" idx="1"/>
          </p:cNvCxnSpPr>
          <p:nvPr/>
        </p:nvCxnSpPr>
        <p:spPr>
          <a:xfrm rot="16200000" flipH="1">
            <a:off x="1816468" y="2586600"/>
            <a:ext cx="253276" cy="84236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2" idx="2"/>
            <a:endCxn id="104" idx="1"/>
          </p:cNvCxnSpPr>
          <p:nvPr/>
        </p:nvCxnSpPr>
        <p:spPr>
          <a:xfrm rot="16200000" flipH="1">
            <a:off x="1582349" y="2820719"/>
            <a:ext cx="721515" cy="84236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071925" y="259314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대금청구신청목록</a:t>
            </a: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2"/>
            <a:endCxn id="82" idx="0"/>
          </p:cNvCxnSpPr>
          <p:nvPr/>
        </p:nvCxnSpPr>
        <p:spPr>
          <a:xfrm>
            <a:off x="1521925" y="1916964"/>
            <a:ext cx="0" cy="67617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587040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사후정산청구상세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45773" y="191025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지급상태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13823" y="1072407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지급상태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3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2" idx="2"/>
            <a:endCxn id="114" idx="1"/>
          </p:cNvCxnSpPr>
          <p:nvPr/>
        </p:nvCxnSpPr>
        <p:spPr>
          <a:xfrm rot="16200000" flipH="1">
            <a:off x="376476" y="4026592"/>
            <a:ext cx="3133261" cy="84236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2700082" y="2800635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2729079" y="2593143"/>
            <a:ext cx="180000" cy="180000"/>
            <a:chOff x="5058274" y="2498299"/>
            <a:chExt cx="180000" cy="180000"/>
          </a:xfrm>
        </p:grpSpPr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6" idx="2"/>
            <a:endCxn id="146" idx="0"/>
          </p:cNvCxnSpPr>
          <p:nvPr/>
        </p:nvCxnSpPr>
        <p:spPr>
          <a:xfrm>
            <a:off x="2814287" y="2468188"/>
            <a:ext cx="4792" cy="1249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32919" y="5793955"/>
            <a:ext cx="3340194" cy="708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사후정산청구상세</a:t>
            </a:r>
            <a:r>
              <a:rPr lang="en-US" altLang="ko-KR" sz="800" b="1" dirty="0" smtClean="0">
                <a:solidFill>
                  <a:schemeClr val="tx1"/>
                </a:solidFill>
              </a:rPr>
              <a:t>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8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6579" y="605468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51176" y="605468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신청금액</a:t>
            </a:r>
          </a:p>
        </p:txBody>
      </p:sp>
      <p:sp>
        <p:nvSpPr>
          <p:cNvPr id="18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45773" y="605468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</a:p>
        </p:txBody>
      </p:sp>
      <p:cxnSp>
        <p:nvCxnSpPr>
          <p:cNvPr id="19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4" idx="3"/>
            <a:endCxn id="180" idx="1"/>
          </p:cNvCxnSpPr>
          <p:nvPr/>
        </p:nvCxnSpPr>
        <p:spPr>
          <a:xfrm>
            <a:off x="3264287" y="6014404"/>
            <a:ext cx="568632" cy="13400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80" idx="3"/>
            <a:endCxn id="155" idx="2"/>
          </p:cNvCxnSpPr>
          <p:nvPr/>
        </p:nvCxnSpPr>
        <p:spPr>
          <a:xfrm flipV="1">
            <a:off x="7173113" y="2967524"/>
            <a:ext cx="2270722" cy="318088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045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88" name="그룹 87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89" name="그룹 88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94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C1E8D88-E9A4-C688-7101-A25821FC8D9D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</a:rPr>
              <a:t>1.2.2 </a:t>
            </a:r>
            <a:r>
              <a:rPr lang="ko-KR" altLang="en-US" sz="1200" dirty="0" smtClean="0">
                <a:solidFill>
                  <a:schemeClr val="tx1"/>
                </a:solidFill>
              </a:rPr>
              <a:t>대금지불정보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2042420" y="2151836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13441" y="209985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대금지불정보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반납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662615" y="2942205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691612" y="2734713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2005391" y="1983725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9" idx="1"/>
          </p:cNvCxnSpPr>
          <p:nvPr/>
        </p:nvCxnSpPr>
        <p:spPr>
          <a:xfrm>
            <a:off x="2249280" y="2241836"/>
            <a:ext cx="1664161" cy="20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13441" y="314986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대금청구진행현황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3739" y="2099855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- </a:t>
            </a:r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2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5" idx="0"/>
            <a:endCxn id="69" idx="0"/>
          </p:cNvCxnSpPr>
          <p:nvPr/>
        </p:nvCxnSpPr>
        <p:spPr>
          <a:xfrm rot="16200000" flipV="1">
            <a:off x="5158590" y="1304706"/>
            <a:ext cx="12700" cy="1590298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101" idx="1"/>
          </p:cNvCxnSpPr>
          <p:nvPr/>
        </p:nvCxnSpPr>
        <p:spPr>
          <a:xfrm>
            <a:off x="2249280" y="2241836"/>
            <a:ext cx="1664161" cy="105203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2"/>
            <a:endCxn id="158" idx="2"/>
          </p:cNvCxnSpPr>
          <p:nvPr/>
        </p:nvCxnSpPr>
        <p:spPr>
          <a:xfrm rot="16200000" flipH="1">
            <a:off x="5809097" y="942198"/>
            <a:ext cx="436858" cy="332817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9" idx="3"/>
            <a:endCxn id="135" idx="1"/>
          </p:cNvCxnSpPr>
          <p:nvPr/>
        </p:nvCxnSpPr>
        <p:spPr>
          <a:xfrm>
            <a:off x="4813441" y="2243855"/>
            <a:ext cx="69029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1" idx="2"/>
            <a:endCxn id="36" idx="1"/>
          </p:cNvCxnSpPr>
          <p:nvPr/>
        </p:nvCxnSpPr>
        <p:spPr>
          <a:xfrm rot="16200000" flipH="1">
            <a:off x="4296259" y="3505049"/>
            <a:ext cx="1168303" cy="103393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9050" y="3935161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중앙조달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9050" y="4350293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부대조달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9050" y="4769093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공사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9050" y="5187392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기성대가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397380" y="3672068"/>
            <a:ext cx="1125417" cy="1868206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계약에 따른 분기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3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6" idx="3"/>
            <a:endCxn id="158" idx="2"/>
          </p:cNvCxnSpPr>
          <p:nvPr/>
        </p:nvCxnSpPr>
        <p:spPr>
          <a:xfrm flipV="1">
            <a:off x="6522797" y="2824713"/>
            <a:ext cx="1168815" cy="178145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3739" y="3155545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- </a:t>
            </a:r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7" idx="0"/>
            <a:endCxn id="101" idx="0"/>
          </p:cNvCxnSpPr>
          <p:nvPr/>
        </p:nvCxnSpPr>
        <p:spPr>
          <a:xfrm rot="16200000" flipV="1">
            <a:off x="5155752" y="2357558"/>
            <a:ext cx="5677" cy="1590298"/>
          </a:xfrm>
          <a:prstGeom prst="bentConnector3">
            <a:avLst>
              <a:gd name="adj1" fmla="val 412677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01" idx="3"/>
            <a:endCxn id="47" idx="1"/>
          </p:cNvCxnSpPr>
          <p:nvPr/>
        </p:nvCxnSpPr>
        <p:spPr>
          <a:xfrm>
            <a:off x="4813441" y="3293868"/>
            <a:ext cx="690298" cy="567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533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 smtClean="0"/>
              <a:t>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47958"/>
            <a:ext cx="967509" cy="114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335492"/>
            <a:ext cx="967509" cy="6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292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755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206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658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2109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대금청구및사후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(1/4)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4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대금청구통합목록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PymtClmIntgListPage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13167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PymtClmIntgList_SrchFilter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07862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smtClean="0">
                <a:solidFill>
                  <a:schemeClr val="tx1"/>
                </a:solidFill>
                <a:latin typeface="+mn-ea"/>
              </a:rPr>
              <a:t>선금신청서상세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PrpayApfrDtlPage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541431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err="1" smtClean="0">
                <a:solidFill>
                  <a:schemeClr val="tx1"/>
                </a:solidFill>
                <a:latin typeface="+mn-ea"/>
              </a:rPr>
              <a:t>신청정보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PrpayApfrDtl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992962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smtClean="0">
                <a:solidFill>
                  <a:schemeClr val="tx1"/>
                </a:solidFill>
                <a:latin typeface="+mn-ea"/>
              </a:rPr>
              <a:t>세부신청내역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PrpayApfrDtl_AplyDtsm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44449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착</a:t>
            </a:r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700" dirty="0" smtClean="0">
                <a:solidFill>
                  <a:schemeClr val="tx1"/>
                </a:solidFill>
                <a:latin typeface="+mn-ea"/>
              </a:rPr>
              <a:t>중도금신청서상세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DpsmnItrpyApfrDtlPage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89602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err="1" smtClean="0">
                <a:solidFill>
                  <a:schemeClr val="tx1"/>
                </a:solidFill>
                <a:latin typeface="+mn-ea"/>
              </a:rPr>
              <a:t>신청정보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DpsmnItrpyApfrDtl</a:t>
            </a:r>
            <a:r>
              <a:rPr lang="en-US" altLang="ko-KR" sz="7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354558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smtClean="0">
                <a:solidFill>
                  <a:schemeClr val="tx1"/>
                </a:solidFill>
                <a:latin typeface="+mn-ea"/>
              </a:rPr>
              <a:t>세부신청내역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DpsmnItrpyApfrDtl_AplyDtsm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798459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err="1">
                <a:solidFill>
                  <a:schemeClr val="tx1"/>
                </a:solidFill>
                <a:latin typeface="+mn-ea"/>
              </a:rPr>
              <a:t>지급상태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PrpayDpsmnItrpyGiveSttsPage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3"/>
            <a:endCxn id="9" idx="1"/>
          </p:cNvCxnSpPr>
          <p:nvPr/>
        </p:nvCxnSpPr>
        <p:spPr>
          <a:xfrm flipV="1">
            <a:off x="2992582" y="2990174"/>
            <a:ext cx="967509" cy="2568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7" idx="3"/>
            <a:endCxn id="9" idx="1"/>
          </p:cNvCxnSpPr>
          <p:nvPr/>
        </p:nvCxnSpPr>
        <p:spPr>
          <a:xfrm flipV="1">
            <a:off x="2992582" y="2990174"/>
            <a:ext cx="967509" cy="3012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6204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대금청구신청목록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PymtClmIntgAplyList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31" idx="3"/>
            <a:endCxn id="9" idx="1"/>
          </p:cNvCxnSpPr>
          <p:nvPr/>
        </p:nvCxnSpPr>
        <p:spPr>
          <a:xfrm>
            <a:off x="2992582" y="2824241"/>
            <a:ext cx="967509" cy="1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950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 smtClean="0"/>
              <a:t>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30843"/>
            <a:ext cx="967509" cy="115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92582" y="2824241"/>
            <a:ext cx="967509" cy="1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29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748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199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1651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3"/>
            <a:endCxn id="9" idx="1"/>
          </p:cNvCxnSpPr>
          <p:nvPr/>
        </p:nvCxnSpPr>
        <p:spPr>
          <a:xfrm flipV="1">
            <a:off x="2992582" y="2990174"/>
            <a:ext cx="967509" cy="2110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대금청구및사후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(2/4)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7" idx="3"/>
            <a:endCxn id="9" idx="1"/>
          </p:cNvCxnSpPr>
          <p:nvPr/>
        </p:nvCxnSpPr>
        <p:spPr>
          <a:xfrm flipV="1">
            <a:off x="2992582" y="2990174"/>
            <a:ext cx="967509" cy="2553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9" idx="3"/>
            <a:endCxn id="9" idx="1"/>
          </p:cNvCxnSpPr>
          <p:nvPr/>
        </p:nvCxnSpPr>
        <p:spPr>
          <a:xfrm flipV="1">
            <a:off x="2992582" y="2990174"/>
            <a:ext cx="967509" cy="2997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그룹 3"/>
          <p:cNvGrpSpPr/>
          <p:nvPr/>
        </p:nvGrpSpPr>
        <p:grpSpPr>
          <a:xfrm>
            <a:off x="1265382" y="1644140"/>
            <a:ext cx="1727200" cy="4547654"/>
            <a:chOff x="1265382" y="1644140"/>
            <a:chExt cx="1727200" cy="416577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FD7B626-4B5C-AE29-EFB9-628750B32B78}"/>
                </a:ext>
              </a:extLst>
            </p:cNvPr>
            <p:cNvSpPr/>
            <p:nvPr/>
          </p:nvSpPr>
          <p:spPr>
            <a:xfrm>
              <a:off x="1265382" y="1644140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77500" lnSpcReduction="20000"/>
            </a:bodyPr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대금청구상세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중앙조달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)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CenterPrcmPymtClmDtlPage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4F2CFBC-290B-2E89-63C0-62C22747051D}"/>
                </a:ext>
              </a:extLst>
            </p:cNvPr>
            <p:cNvSpPr/>
            <p:nvPr/>
          </p:nvSpPr>
          <p:spPr>
            <a:xfrm>
              <a:off x="1265382" y="2090735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77500" lnSpcReduction="20000"/>
            </a:bodyPr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 err="1" smtClean="0">
                  <a:solidFill>
                    <a:schemeClr val="tx1"/>
                  </a:solidFill>
                  <a:latin typeface="+mn-ea"/>
                </a:rPr>
                <a:t>계약정보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CenterPrcmPymtClmDtl_Ctrt.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2538442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 smtClean="0">
                  <a:solidFill>
                    <a:schemeClr val="tx1"/>
                  </a:solidFill>
                  <a:latin typeface="+mn-ea"/>
                </a:rPr>
                <a:t>공급자정보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CenterPrcmPymtClmDtl_Splr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2962386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대금신청금액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CenterPrcmPymtClmDtl_Pymt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337600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세금계산서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CenterPrcmPymtClmDtl_Txiv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3789616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대금청구상세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부대조달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)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SbsdPrcmPymtClmDtlPage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420323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계약정보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SbsdPrcmPymtClmDtl_Ctrt</a:t>
              </a:r>
              <a:r>
                <a:rPr lang="en-US" altLang="ko-KR" sz="1000" dirty="0" err="1" smtClean="0">
                  <a:solidFill>
                    <a:schemeClr val="tx1"/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462326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대금신청업체정보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SbsdPrcmPymtClmDtl_PymtBzenty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5029886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대금신청금액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SbsdPrcmPymtClmDtl_PymtAply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543651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첨부파일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SbsdPrcmPymtClmDtl_Atch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992582" y="2335492"/>
            <a:ext cx="967509" cy="6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82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 smtClean="0"/>
              <a:t>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30843"/>
            <a:ext cx="967509" cy="115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92582" y="2824241"/>
            <a:ext cx="967509" cy="1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29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748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199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1651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3"/>
            <a:endCxn id="9" idx="1"/>
          </p:cNvCxnSpPr>
          <p:nvPr/>
        </p:nvCxnSpPr>
        <p:spPr>
          <a:xfrm flipV="1">
            <a:off x="2992582" y="2990174"/>
            <a:ext cx="967509" cy="2110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대금청구및사후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(3/4)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7" idx="3"/>
            <a:endCxn id="9" idx="1"/>
          </p:cNvCxnSpPr>
          <p:nvPr/>
        </p:nvCxnSpPr>
        <p:spPr>
          <a:xfrm flipV="1">
            <a:off x="2992582" y="2990174"/>
            <a:ext cx="967509" cy="2553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4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대금청구상세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공사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CstrnPymtClmDtlPage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13167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+mn-ea"/>
              </a:rPr>
              <a:t>계약정보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CstrnPymtClmDtl_Ctrt.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6204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대가지급업체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CstrnPymtClmDtl_GiveBzenty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08323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첨부파일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CstrnPymtClmDtl_Atch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534761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대금청구상세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기성대가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PxcndCstPymtClmDtlPage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986292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계약정보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PxcndCstPymtClmDtl_Ctrt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4378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기성대가신청금액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PxcndCstPymtClmDtl_PxcndPymt</a:t>
            </a:r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896357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세금계산서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PxcndCstPymtClmDtl_Txiv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340258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첨부파일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PxcndCstPymtClmDtl_Atch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992582" y="2335492"/>
            <a:ext cx="967509" cy="6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559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 smtClean="0"/>
              <a:t>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30843"/>
            <a:ext cx="967509" cy="115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92582" y="2824241"/>
            <a:ext cx="967509" cy="1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29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748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199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1651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대금청구및사후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(4/4)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4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사후정산청구상세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EpfcClclnClmDtlPage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13167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+mn-ea"/>
              </a:rPr>
              <a:t>계약정보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EpfcClclnClmDtl_CN.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6204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신청금액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EpfcClclnClmDtl_AplyAmt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08323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세금계산서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EpfcClclnClmDtl_Txiv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534761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안내문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PymtClmGdntc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986292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대금청구진행현황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PymtClmPrgrsPrstPage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4378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대금지불정보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반납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RtnPymtDfryInfoPage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992582" y="2335492"/>
            <a:ext cx="967509" cy="6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230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대금청구통합목록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대금청구통합목록</a:t>
            </a:r>
            <a:r>
              <a:rPr lang="ko-KR" altLang="en-US" dirty="0"/>
              <a:t>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69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74704"/>
            <a:ext cx="2473257" cy="960061"/>
            <a:chOff x="781461" y="3087955"/>
            <a:chExt cx="2473257" cy="9600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8385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9881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3782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그룹 2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5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6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2184" y="2319361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3181434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18727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3181434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3181434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3181434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3181434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3353813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3353813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3353813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3521782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3521782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3521782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grpSp>
        <p:nvGrpSpPr>
          <p:cNvPr id="114" name="그룹 113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17" name="모서리가 둥근 직사각형 11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24" name="그룹 12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82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8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26" name="타원 125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3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40" name="타원 13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3" name="그룹 14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44" name="직선 연결선 14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2204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650" dirty="0"/>
              <a:t>상단 </a:t>
            </a:r>
            <a:r>
              <a:rPr lang="ko-KR" altLang="en-US" sz="650" dirty="0" err="1"/>
              <a:t>업무도움은</a:t>
            </a:r>
            <a:r>
              <a:rPr lang="ko-KR" altLang="en-US" sz="650" dirty="0"/>
              <a:t> 기본 값으로 접힘 상태로 정보 제공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 smtClean="0"/>
              <a:t>- </a:t>
            </a:r>
            <a:r>
              <a:rPr lang="ko-KR" altLang="en-US" sz="650" dirty="0" smtClean="0"/>
              <a:t>페이지 </a:t>
            </a:r>
            <a:r>
              <a:rPr lang="ko-KR" altLang="en-US" sz="650" dirty="0" err="1" smtClean="0"/>
              <a:t>호출시</a:t>
            </a:r>
            <a:r>
              <a:rPr lang="ko-KR" altLang="en-US" sz="650" dirty="0" smtClean="0"/>
              <a:t> </a:t>
            </a:r>
            <a:r>
              <a:rPr lang="en-US" altLang="ko-KR" sz="650" dirty="0" smtClean="0"/>
              <a:t>: </a:t>
            </a:r>
            <a:r>
              <a:rPr lang="ko-KR" altLang="en-US" sz="650" dirty="0" smtClean="0"/>
              <a:t>해당 업체에서 진행중인 모든 </a:t>
            </a:r>
            <a:r>
              <a:rPr lang="ko-KR" altLang="en-US" sz="650" dirty="0" err="1" smtClean="0"/>
              <a:t>계약건이</a:t>
            </a:r>
            <a:r>
              <a:rPr lang="ko-KR" altLang="en-US" sz="650" dirty="0" smtClean="0"/>
              <a:t> 노출됨</a:t>
            </a:r>
            <a:r>
              <a:rPr lang="en-US" altLang="ko-KR" sz="650" dirty="0" smtClean="0"/>
              <a:t/>
            </a:r>
            <a:br>
              <a:rPr lang="en-US" altLang="ko-KR" sz="650" dirty="0" smtClean="0"/>
            </a:br>
            <a:r>
              <a:rPr lang="en-US" altLang="ko-KR" sz="650" dirty="0" smtClean="0"/>
              <a:t>- </a:t>
            </a:r>
            <a:r>
              <a:rPr lang="ko-KR" altLang="en-US" sz="650" dirty="0" smtClean="0"/>
              <a:t>계약일자기준 당일 포함 이전 </a:t>
            </a:r>
            <a:r>
              <a:rPr lang="en-US" altLang="ko-KR" sz="650" dirty="0" smtClean="0"/>
              <a:t>30</a:t>
            </a:r>
            <a:r>
              <a:rPr lang="ko-KR" altLang="en-US" sz="650" dirty="0" smtClean="0"/>
              <a:t>일 동안 신청된 계약 건</a:t>
            </a:r>
            <a:r>
              <a:rPr lang="en-US" altLang="ko-KR" sz="650" dirty="0" smtClean="0"/>
              <a:t/>
            </a:r>
            <a:br>
              <a:rPr lang="en-US" altLang="ko-KR" sz="650" dirty="0" smtClean="0"/>
            </a:br>
            <a:r>
              <a:rPr lang="en-US" altLang="ko-KR" sz="650" dirty="0" smtClean="0"/>
              <a:t>- </a:t>
            </a:r>
            <a:r>
              <a:rPr lang="ko-KR" altLang="en-US" sz="650" dirty="0"/>
              <a:t>기본값 </a:t>
            </a:r>
            <a:r>
              <a:rPr lang="en-US" altLang="ko-KR" sz="650" dirty="0"/>
              <a:t>: </a:t>
            </a:r>
            <a:r>
              <a:rPr lang="ko-KR" altLang="en-US" sz="650" dirty="0"/>
              <a:t>접힘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사용자 </a:t>
            </a:r>
            <a:r>
              <a:rPr lang="ko-KR" altLang="en-US" sz="650" dirty="0" err="1"/>
              <a:t>클릭시</a:t>
            </a:r>
            <a:r>
              <a:rPr lang="ko-KR" altLang="en-US" sz="650" dirty="0"/>
              <a:t> 확장하여 정보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업무도움</a:t>
            </a:r>
            <a:r>
              <a:rPr lang="en-US" altLang="ko-KR" sz="650" dirty="0"/>
              <a:t> &gt; </a:t>
            </a:r>
            <a:r>
              <a:rPr lang="ko-KR" altLang="en-US" sz="650" dirty="0"/>
              <a:t>내역이 있는 경우 표시</a:t>
            </a:r>
            <a:r>
              <a:rPr lang="en-US" altLang="ko-KR" sz="650" dirty="0"/>
              <a:t>, </a:t>
            </a:r>
            <a:r>
              <a:rPr lang="ko-KR" altLang="en-US" sz="650" dirty="0"/>
              <a:t>내역이 없으면 항목을 표시하지 않음</a:t>
            </a:r>
            <a:r>
              <a:rPr lang="en-US" altLang="ko-KR" sz="650" dirty="0" smtClean="0"/>
              <a:t>.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err="1"/>
              <a:t>검색필터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2-1] </a:t>
            </a:r>
            <a:r>
              <a:rPr lang="ko-KR" altLang="en-US" sz="650" dirty="0"/>
              <a:t>통합참조정보</a:t>
            </a:r>
            <a:r>
              <a:rPr lang="en-US" altLang="ko-KR" sz="650" dirty="0"/>
              <a:t>, </a:t>
            </a:r>
            <a:r>
              <a:rPr lang="ko-KR" altLang="en-US" sz="650" dirty="0" err="1"/>
              <a:t>예약번호중</a:t>
            </a:r>
            <a:r>
              <a:rPr lang="ko-KR" altLang="en-US" sz="650" dirty="0"/>
              <a:t> 선택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2-2] </a:t>
            </a:r>
            <a:r>
              <a:rPr lang="ko-KR" altLang="en-US" sz="650" dirty="0" err="1"/>
              <a:t>검색어</a:t>
            </a:r>
            <a:r>
              <a:rPr lang="ko-KR" altLang="en-US" sz="650" dirty="0"/>
              <a:t> 입력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>
                <a:latin typeface="+mn-ea"/>
              </a:rPr>
              <a:t>검색 필터 호출</a:t>
            </a:r>
            <a:r>
              <a:rPr lang="en-US" altLang="ko-KR" sz="650" dirty="0">
                <a:latin typeface="+mn-ea"/>
              </a:rPr>
              <a:t/>
            </a:r>
            <a:br>
              <a:rPr lang="en-US" altLang="ko-KR" sz="650" dirty="0">
                <a:latin typeface="+mn-ea"/>
              </a:rPr>
            </a:br>
            <a:r>
              <a:rPr lang="ko-KR" altLang="en-US" sz="650" dirty="0">
                <a:latin typeface="+mn-ea"/>
              </a:rPr>
              <a:t> </a:t>
            </a:r>
            <a:r>
              <a:rPr lang="en-US" altLang="ko-KR" sz="650" dirty="0">
                <a:latin typeface="+mn-ea"/>
              </a:rPr>
              <a:t>– </a:t>
            </a:r>
            <a:r>
              <a:rPr lang="ko-KR" altLang="en-US" sz="650" dirty="0">
                <a:latin typeface="+mn-ea"/>
              </a:rPr>
              <a:t>계약 페이지 참고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smtClean="0"/>
              <a:t>표시 </a:t>
            </a:r>
            <a:r>
              <a:rPr lang="ko-KR" altLang="en-US" sz="650" dirty="0"/>
              <a:t>개수 영역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총 개수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표시 개수 </a:t>
            </a:r>
            <a:r>
              <a:rPr lang="en-US" altLang="ko-KR" sz="650" dirty="0"/>
              <a:t>(</a:t>
            </a:r>
            <a:r>
              <a:rPr lang="ko-KR" altLang="en-US" sz="650" dirty="0"/>
              <a:t>선택한 건수 만큼 보여주고 </a:t>
            </a:r>
            <a:r>
              <a:rPr lang="ko-KR" altLang="en-US" sz="650" dirty="0" err="1"/>
              <a:t>더보기시</a:t>
            </a:r>
            <a:r>
              <a:rPr lang="ko-KR" altLang="en-US" sz="650" dirty="0"/>
              <a:t> 추가로 불러옴</a:t>
            </a:r>
            <a:r>
              <a:rPr lang="en-US" altLang="ko-KR" sz="650" dirty="0"/>
              <a:t>)</a:t>
            </a:r>
            <a:br>
              <a:rPr lang="en-US" altLang="ko-KR" sz="650" dirty="0"/>
            </a:br>
            <a:r>
              <a:rPr lang="ko-KR" altLang="en-US" sz="650" dirty="0"/>
              <a:t>목록 카드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카드 </a:t>
            </a:r>
            <a:r>
              <a:rPr lang="ko-KR" altLang="en-US" sz="650" dirty="0" err="1"/>
              <a:t>클릭시</a:t>
            </a:r>
            <a:r>
              <a:rPr lang="ko-KR" altLang="en-US" sz="650" dirty="0"/>
              <a:t> </a:t>
            </a:r>
            <a:r>
              <a:rPr lang="ko-KR" altLang="en-US" sz="650" dirty="0" err="1" smtClean="0"/>
              <a:t>바텀시트</a:t>
            </a:r>
            <a:r>
              <a:rPr lang="ko-KR" altLang="en-US" sz="650" dirty="0" smtClean="0"/>
              <a:t> 호출</a:t>
            </a:r>
            <a:r>
              <a:rPr lang="en-US" altLang="ko-KR" sz="650" dirty="0" smtClean="0"/>
              <a:t>(</a:t>
            </a:r>
            <a:r>
              <a:rPr lang="en-US" altLang="ko-KR" sz="650" dirty="0" smtClean="0">
                <a:latin typeface="+mn-ea"/>
              </a:rPr>
              <a:t>MUI-WM-01-P13)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4-1] </a:t>
            </a:r>
            <a:r>
              <a:rPr lang="ko-KR" altLang="en-US" sz="650" dirty="0" err="1"/>
              <a:t>표시레이블</a:t>
            </a:r>
            <a:r>
              <a:rPr lang="ko-KR" altLang="en-US" sz="650" dirty="0"/>
              <a:t> 영역 </a:t>
            </a:r>
            <a:r>
              <a:rPr lang="ko-KR" altLang="en-US" sz="650" dirty="0" smtClean="0"/>
              <a:t>항목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레이블이 화면을 넘치는 경우 드래그하여 확인 가능 </a:t>
            </a:r>
            <a:r>
              <a:rPr lang="en-US" altLang="ko-KR" sz="650" dirty="0"/>
              <a:t>(</a:t>
            </a:r>
            <a:r>
              <a:rPr lang="ko-KR" altLang="en-US" sz="650" dirty="0" err="1"/>
              <a:t>스와이프기능</a:t>
            </a:r>
            <a:r>
              <a:rPr lang="ko-KR" altLang="en-US" sz="650" dirty="0"/>
              <a:t> 반영 필요</a:t>
            </a:r>
            <a:r>
              <a:rPr lang="en-US" altLang="ko-KR" sz="650" dirty="0"/>
              <a:t>)</a:t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업무구분</a:t>
            </a:r>
            <a:r>
              <a:rPr lang="ko-KR" altLang="en-US" sz="650" dirty="0"/>
              <a:t> </a:t>
            </a:r>
            <a:r>
              <a:rPr lang="en-US" altLang="ko-KR" sz="650" dirty="0"/>
              <a:t>:  </a:t>
            </a:r>
            <a:r>
              <a:rPr lang="ko-KR" altLang="en-US" sz="650" dirty="0"/>
              <a:t>전체</a:t>
            </a:r>
            <a:r>
              <a:rPr lang="en-US" altLang="ko-KR" sz="650" dirty="0"/>
              <a:t>, </a:t>
            </a:r>
            <a:r>
              <a:rPr lang="ko-KR" altLang="en-US" sz="650" dirty="0"/>
              <a:t>물품</a:t>
            </a:r>
            <a:r>
              <a:rPr lang="en-US" altLang="ko-KR" sz="650" dirty="0"/>
              <a:t>, </a:t>
            </a:r>
            <a:r>
              <a:rPr lang="ko-KR" altLang="en-US" sz="650" dirty="0"/>
              <a:t>용역</a:t>
            </a:r>
            <a:r>
              <a:rPr lang="en-US" altLang="ko-KR" sz="650" dirty="0"/>
              <a:t>, </a:t>
            </a:r>
            <a:r>
              <a:rPr lang="ko-KR" altLang="en-US" sz="650" dirty="0"/>
              <a:t>공사</a:t>
            </a:r>
            <a:r>
              <a:rPr lang="en-US" altLang="ko-KR" sz="650" dirty="0"/>
              <a:t>, </a:t>
            </a:r>
            <a:r>
              <a:rPr lang="ko-KR" altLang="en-US" sz="650" dirty="0"/>
              <a:t>국외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 smtClean="0"/>
              <a:t>입찰구분</a:t>
            </a:r>
            <a:r>
              <a:rPr lang="ko-KR" altLang="en-US" sz="650" dirty="0" smtClean="0"/>
              <a:t> </a:t>
            </a:r>
            <a:r>
              <a:rPr lang="en-US" altLang="ko-KR" sz="650" dirty="0"/>
              <a:t>: </a:t>
            </a:r>
            <a:r>
              <a:rPr lang="ko-KR" altLang="en-US" sz="650" dirty="0" err="1"/>
              <a:t>총액제</a:t>
            </a:r>
            <a:r>
              <a:rPr lang="en-US" altLang="ko-KR" sz="650" dirty="0"/>
              <a:t>, </a:t>
            </a:r>
            <a:r>
              <a:rPr lang="ko-KR" altLang="en-US" sz="650" dirty="0" err="1"/>
              <a:t>단가제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 smtClean="0"/>
              <a:t>- </a:t>
            </a:r>
            <a:r>
              <a:rPr lang="ko-KR" altLang="en-US" sz="650" dirty="0"/>
              <a:t>계약방법 </a:t>
            </a:r>
            <a:r>
              <a:rPr lang="en-US" altLang="ko-KR" sz="650" dirty="0"/>
              <a:t>:  </a:t>
            </a:r>
            <a:r>
              <a:rPr lang="ko-KR" altLang="en-US" sz="650" dirty="0"/>
              <a:t>일반경쟁</a:t>
            </a:r>
            <a:r>
              <a:rPr lang="en-US" altLang="ko-KR" sz="650" dirty="0"/>
              <a:t>, </a:t>
            </a:r>
            <a:r>
              <a:rPr lang="ko-KR" altLang="en-US" sz="650" dirty="0"/>
              <a:t>지명경쟁</a:t>
            </a:r>
            <a:r>
              <a:rPr lang="en-US" altLang="ko-KR" sz="650" dirty="0"/>
              <a:t>,</a:t>
            </a:r>
            <a:r>
              <a:rPr lang="ko-KR" altLang="en-US" sz="650" dirty="0"/>
              <a:t>제한경쟁</a:t>
            </a:r>
            <a:r>
              <a:rPr lang="en-US" altLang="ko-KR" sz="650" dirty="0"/>
              <a:t>,</a:t>
            </a:r>
            <a:r>
              <a:rPr lang="ko-KR" altLang="en-US" sz="650" dirty="0" err="1"/>
              <a:t>복수경쟁</a:t>
            </a:r>
            <a:r>
              <a:rPr lang="en-US" altLang="ko-KR" sz="650" dirty="0"/>
              <a:t>,</a:t>
            </a:r>
            <a:r>
              <a:rPr lang="ko-KR" altLang="en-US" sz="650" dirty="0"/>
              <a:t>수의계약</a:t>
            </a:r>
            <a:r>
              <a:rPr lang="en-US" altLang="ko-KR" sz="650" dirty="0"/>
              <a:t>,</a:t>
            </a:r>
            <a:r>
              <a:rPr lang="ko-KR" altLang="en-US" sz="650" dirty="0" err="1"/>
              <a:t>협상에의한계약</a:t>
            </a:r>
            <a:r>
              <a:rPr lang="en-US" altLang="ko-KR" sz="650" dirty="0"/>
              <a:t>(</a:t>
            </a:r>
            <a:r>
              <a:rPr lang="ko-KR" altLang="en-US" sz="650" dirty="0"/>
              <a:t>서류</a:t>
            </a:r>
            <a:r>
              <a:rPr lang="en-US" altLang="ko-KR" sz="650" dirty="0"/>
              <a:t>),2</a:t>
            </a:r>
            <a:r>
              <a:rPr lang="ko-KR" altLang="en-US" sz="650" dirty="0"/>
              <a:t>단계 경쟁</a:t>
            </a:r>
            <a:r>
              <a:rPr lang="en-US" altLang="ko-KR" sz="650" dirty="0"/>
              <a:t>(</a:t>
            </a:r>
            <a:r>
              <a:rPr lang="ko-KR" altLang="en-US" sz="650" dirty="0"/>
              <a:t>동시</a:t>
            </a:r>
            <a:r>
              <a:rPr lang="en-US" altLang="ko-KR" sz="650" dirty="0"/>
              <a:t>), 2</a:t>
            </a:r>
            <a:r>
              <a:rPr lang="ko-KR" altLang="en-US" sz="650" dirty="0"/>
              <a:t>단계 경쟁</a:t>
            </a:r>
            <a:r>
              <a:rPr lang="en-US" altLang="ko-KR" sz="650" dirty="0"/>
              <a:t>(</a:t>
            </a:r>
            <a:r>
              <a:rPr lang="ko-KR" altLang="en-US" sz="650" dirty="0"/>
              <a:t>분리</a:t>
            </a:r>
            <a:r>
              <a:rPr lang="en-US" altLang="ko-KR" sz="650" dirty="0"/>
              <a:t>), </a:t>
            </a:r>
            <a:r>
              <a:rPr lang="ko-KR" altLang="en-US" sz="650" dirty="0" err="1"/>
              <a:t>종합낙찰제</a:t>
            </a:r>
            <a:r>
              <a:rPr lang="en-US" altLang="ko-KR" sz="650" dirty="0"/>
              <a:t>, </a:t>
            </a:r>
            <a:r>
              <a:rPr lang="ko-KR" altLang="en-US" sz="650" dirty="0" err="1"/>
              <a:t>협상에의한</a:t>
            </a:r>
            <a:r>
              <a:rPr lang="ko-KR" altLang="en-US" sz="650" dirty="0"/>
              <a:t> 계약</a:t>
            </a:r>
            <a:r>
              <a:rPr lang="en-US" altLang="ko-KR" sz="650" dirty="0"/>
              <a:t>(</a:t>
            </a:r>
            <a:r>
              <a:rPr lang="ko-KR" altLang="en-US" sz="650" dirty="0"/>
              <a:t>전자</a:t>
            </a:r>
            <a:r>
              <a:rPr lang="en-US" altLang="ko-KR" sz="650" dirty="0"/>
              <a:t>), </a:t>
            </a:r>
            <a:r>
              <a:rPr lang="ko-KR" altLang="en-US" sz="650" dirty="0" err="1"/>
              <a:t>역경매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 smtClean="0"/>
              <a:t>4-2] </a:t>
            </a:r>
            <a:r>
              <a:rPr lang="ko-KR" altLang="en-US" sz="650" dirty="0"/>
              <a:t>문서 정보 영역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 smtClean="0"/>
              <a:t>계약번호</a:t>
            </a:r>
            <a:r>
              <a:rPr lang="en-US" altLang="ko-KR" sz="650" dirty="0" smtClean="0"/>
              <a:t>+</a:t>
            </a:r>
            <a:r>
              <a:rPr lang="ko-KR" altLang="en-US" sz="650" dirty="0" err="1" smtClean="0"/>
              <a:t>회차노출</a:t>
            </a:r>
            <a:r>
              <a:rPr lang="ko-KR" altLang="en-US" sz="650" dirty="0" smtClean="0"/>
              <a:t>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 smtClean="0"/>
              <a:t>계약번호</a:t>
            </a:r>
            <a:r>
              <a:rPr lang="ko-KR" altLang="en-US" sz="650" dirty="0" smtClean="0"/>
              <a:t> </a:t>
            </a:r>
            <a:r>
              <a:rPr lang="ko-KR" altLang="en-US" sz="650" dirty="0" err="1"/>
              <a:t>노출시</a:t>
            </a:r>
            <a:r>
              <a:rPr lang="ko-KR" altLang="en-US" sz="650" dirty="0"/>
              <a:t> 해당 라인을 넘어가면 </a:t>
            </a:r>
            <a:r>
              <a:rPr lang="en-US" altLang="ko-KR" sz="650" dirty="0"/>
              <a:t>(…) </a:t>
            </a:r>
            <a:r>
              <a:rPr lang="ko-KR" altLang="en-US" sz="650" dirty="0" err="1"/>
              <a:t>말줄임</a:t>
            </a:r>
            <a:r>
              <a:rPr lang="ko-KR" altLang="en-US" sz="650" dirty="0"/>
              <a:t>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:</a:t>
            </a:r>
            <a:r>
              <a:rPr lang="ko-KR" altLang="en-US" sz="650" dirty="0"/>
              <a:t>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+</a:t>
            </a:r>
            <a:r>
              <a:rPr lang="ko-KR" altLang="en-US" sz="650" dirty="0"/>
              <a:t>계약번호차수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 smtClean="0"/>
              <a:t>4-3] </a:t>
            </a:r>
            <a:r>
              <a:rPr lang="ko-KR" altLang="en-US" sz="650" dirty="0"/>
              <a:t>문서 제목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제목은 </a:t>
            </a:r>
            <a:r>
              <a:rPr lang="en-US" altLang="ko-KR" sz="650" dirty="0"/>
              <a:t>2</a:t>
            </a:r>
            <a:r>
              <a:rPr lang="ko-KR" altLang="en-US" sz="650" dirty="0"/>
              <a:t>줄 까지 노출 이후</a:t>
            </a:r>
            <a:r>
              <a:rPr lang="en-US" altLang="ko-KR" sz="650" dirty="0"/>
              <a:t>(…) </a:t>
            </a:r>
            <a:r>
              <a:rPr lang="ko-KR" altLang="en-US" sz="650" dirty="0" err="1"/>
              <a:t>말줄임</a:t>
            </a:r>
            <a:r>
              <a:rPr lang="ko-KR" altLang="en-US" sz="650" dirty="0"/>
              <a:t> 표시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err="1"/>
              <a:t>더보기</a:t>
            </a:r>
            <a:r>
              <a:rPr lang="ko-KR" altLang="en-US" sz="650" dirty="0"/>
              <a:t> 기능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- 3</a:t>
            </a:r>
            <a:r>
              <a:rPr lang="ko-KR" altLang="en-US" sz="650" dirty="0" err="1"/>
              <a:t>번항목</a:t>
            </a:r>
            <a:r>
              <a:rPr lang="ko-KR" altLang="en-US" sz="650" dirty="0"/>
              <a:t> 표시 개수 영역에서 선택한 개수로 증가</a:t>
            </a:r>
            <a:r>
              <a:rPr lang="en-US" altLang="ko-KR" sz="650" dirty="0"/>
              <a:t>.</a:t>
            </a:r>
            <a:br>
              <a:rPr lang="en-US" altLang="ko-KR" sz="650" dirty="0"/>
            </a:br>
            <a:r>
              <a:rPr lang="ko-KR" altLang="en-US" sz="650" dirty="0"/>
              <a:t>예</a:t>
            </a:r>
            <a:r>
              <a:rPr lang="en-US" altLang="ko-KR" sz="650" dirty="0"/>
              <a:t>) 10</a:t>
            </a:r>
            <a:r>
              <a:rPr lang="ko-KR" altLang="en-US" sz="650" dirty="0"/>
              <a:t>개 노출 이후 </a:t>
            </a:r>
            <a:r>
              <a:rPr lang="ko-KR" altLang="en-US" sz="650" dirty="0" err="1"/>
              <a:t>더보기</a:t>
            </a:r>
            <a:r>
              <a:rPr lang="ko-KR" altLang="en-US" sz="650" dirty="0"/>
              <a:t> 버튼 클릭으로 </a:t>
            </a:r>
            <a:r>
              <a:rPr lang="en-US" altLang="ko-KR" sz="650" dirty="0"/>
              <a:t>10</a:t>
            </a:r>
            <a:r>
              <a:rPr lang="ko-KR" altLang="en-US" sz="650" dirty="0"/>
              <a:t>개씩 추가 </a:t>
            </a:r>
            <a:r>
              <a:rPr lang="ko-KR" altLang="en-US" sz="650" dirty="0" smtClean="0"/>
              <a:t>로드</a:t>
            </a:r>
            <a:endParaRPr lang="en-US" altLang="ko-KR" sz="65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smtClean="0"/>
              <a:t>대금청구관련 안내문을 호출한다</a:t>
            </a:r>
            <a:r>
              <a:rPr lang="en-US" altLang="ko-KR" sz="650" dirty="0" smtClean="0"/>
              <a:t>.</a:t>
            </a:r>
            <a:r>
              <a:rPr lang="en-US" altLang="ko-KR" sz="650" dirty="0">
                <a:latin typeface="+mn-ea"/>
              </a:rPr>
              <a:t> </a:t>
            </a:r>
            <a:r>
              <a:rPr lang="en-US" altLang="ko-KR" sz="650" dirty="0" smtClean="0">
                <a:latin typeface="+mn-ea"/>
              </a:rPr>
              <a:t>(MUI-WM-01-P09)</a:t>
            </a:r>
            <a:r>
              <a:rPr lang="en-US" altLang="ko-KR" sz="650" dirty="0" smtClean="0"/>
              <a:t/>
            </a:r>
            <a:br>
              <a:rPr lang="en-US" altLang="ko-KR" sz="650" dirty="0" smtClean="0"/>
            </a:br>
            <a:endParaRPr lang="en-US" altLang="ko-KR" sz="650" dirty="0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2055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63636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84573" y="22247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250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8" name="직사각형 7"/>
          <p:cNvSpPr/>
          <p:nvPr/>
        </p:nvSpPr>
        <p:spPr>
          <a:xfrm>
            <a:off x="7098114" y="6054072"/>
            <a:ext cx="2305455" cy="21487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>
                <a:solidFill>
                  <a:schemeClr val="bg1"/>
                </a:solidFill>
              </a:rPr>
              <a:t>0701]</a:t>
            </a:r>
          </a:p>
          <a:p>
            <a:r>
              <a:rPr lang="ko-KR" altLang="en-US" sz="500" dirty="0" err="1" smtClean="0">
                <a:solidFill>
                  <a:schemeClr val="bg1"/>
                </a:solidFill>
              </a:rPr>
              <a:t>업체명</a:t>
            </a:r>
            <a:r>
              <a:rPr lang="en-US" altLang="ko-KR" sz="500" dirty="0" smtClean="0">
                <a:solidFill>
                  <a:schemeClr val="bg1"/>
                </a:solidFill>
              </a:rPr>
              <a:t>, </a:t>
            </a:r>
            <a:r>
              <a:rPr lang="ko-KR" altLang="en-US" sz="500" dirty="0" smtClean="0">
                <a:solidFill>
                  <a:schemeClr val="bg1"/>
                </a:solidFill>
              </a:rPr>
              <a:t>입찰방법</a:t>
            </a:r>
            <a:r>
              <a:rPr lang="en-US" altLang="ko-KR" sz="500" dirty="0" smtClean="0">
                <a:solidFill>
                  <a:schemeClr val="bg1"/>
                </a:solidFill>
              </a:rPr>
              <a:t>,</a:t>
            </a:r>
            <a:r>
              <a:rPr lang="ko-KR" altLang="en-US" sz="500" dirty="0" err="1" smtClean="0">
                <a:solidFill>
                  <a:schemeClr val="bg1"/>
                </a:solidFill>
              </a:rPr>
              <a:t>계약종류</a:t>
            </a:r>
            <a:r>
              <a:rPr lang="en-US" altLang="ko-KR" sz="500" dirty="0" smtClean="0">
                <a:solidFill>
                  <a:schemeClr val="bg1"/>
                </a:solidFill>
              </a:rPr>
              <a:t>,</a:t>
            </a:r>
            <a:r>
              <a:rPr lang="ko-KR" altLang="en-US" sz="500" dirty="0" err="1" smtClean="0">
                <a:solidFill>
                  <a:schemeClr val="bg1"/>
                </a:solidFill>
              </a:rPr>
              <a:t>계약일자</a:t>
            </a:r>
            <a:r>
              <a:rPr lang="en-US" altLang="ko-KR" sz="500" dirty="0">
                <a:solidFill>
                  <a:schemeClr val="bg1"/>
                </a:solidFill>
              </a:rPr>
              <a:t> </a:t>
            </a:r>
            <a:r>
              <a:rPr lang="ko-KR" altLang="en-US" sz="500" dirty="0" smtClean="0">
                <a:solidFill>
                  <a:schemeClr val="bg1"/>
                </a:solidFill>
              </a:rPr>
              <a:t>누락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50531" y="14618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</a:p>
        </p:txBody>
      </p:sp>
    </p:spTree>
    <p:extLst>
      <p:ext uri="{BB962C8B-B14F-4D97-AF65-F5344CB8AC3E}">
        <p14:creationId xmlns:p14="http://schemas.microsoft.com/office/powerpoint/2010/main" val="540538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대금청구통합목록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대금청구통합목록</a:t>
            </a:r>
            <a:r>
              <a:rPr lang="ko-KR" altLang="en-US" dirty="0"/>
              <a:t>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smtClean="0">
                <a:latin typeface="+mn-ea"/>
              </a:rPr>
              <a:t>사후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/>
              <a:t>대금청구통합목록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69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74704"/>
            <a:ext cx="2473257" cy="960061"/>
            <a:chOff x="781461" y="3087955"/>
            <a:chExt cx="2473257" cy="9600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8385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3782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grpSp>
        <p:nvGrpSpPr>
          <p:cNvPr id="114" name="그룹 113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17" name="모서리가 둥근 직사각형 11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24" name="그룹 12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82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8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26" name="타원 125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3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40" name="타원 13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3" name="그룹 14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44" name="직선 연결선 14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455540" y="358908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b="1" dirty="0"/>
              <a:t>２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선택한 </a:t>
            </a:r>
            <a:r>
              <a:rPr lang="ko-KR" altLang="en-US" sz="800" dirty="0" err="1" smtClean="0"/>
              <a:t>계약건에</a:t>
            </a:r>
            <a:r>
              <a:rPr lang="ko-KR" altLang="en-US" sz="800" dirty="0" smtClean="0"/>
              <a:t> 진행중인 대금 청구가 </a:t>
            </a:r>
            <a:r>
              <a:rPr lang="ko-KR" altLang="en-US" sz="800" dirty="0" err="1" smtClean="0"/>
              <a:t>없는경우</a:t>
            </a:r>
            <a:r>
              <a:rPr lang="ko-KR" altLang="en-US" sz="800" dirty="0" smtClean="0"/>
              <a:t> 토스트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“</a:t>
            </a:r>
            <a:r>
              <a:rPr lang="ko-KR" altLang="en-US" sz="800" dirty="0" smtClean="0"/>
              <a:t>진행중인 대금청구건이 없는 계약입니다</a:t>
            </a:r>
            <a:r>
              <a:rPr lang="en-US" altLang="ko-KR" sz="800" dirty="0" smtClean="0"/>
              <a:t>“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선택한 </a:t>
            </a:r>
            <a:r>
              <a:rPr lang="ko-KR" altLang="en-US" sz="800" dirty="0" err="1" smtClean="0"/>
              <a:t>계약건에</a:t>
            </a:r>
            <a:r>
              <a:rPr lang="ko-KR" altLang="en-US" sz="800" dirty="0" smtClean="0"/>
              <a:t> 진행중인 대금 청구가 있는 경우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바텀시트</a:t>
            </a:r>
            <a:r>
              <a:rPr lang="ko-KR" altLang="en-US" sz="800" dirty="0" smtClean="0"/>
              <a:t>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보유중인 신청 목록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endParaRPr lang="en-US" altLang="ko-KR" sz="800" dirty="0"/>
          </a:p>
        </p:txBody>
      </p:sp>
      <p:sp>
        <p:nvSpPr>
          <p:cNvPr id="4" name="직사각형 3"/>
          <p:cNvSpPr/>
          <p:nvPr/>
        </p:nvSpPr>
        <p:spPr>
          <a:xfrm>
            <a:off x="674315" y="3236053"/>
            <a:ext cx="2713111" cy="123463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18010" y="5196138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진행중인 </a:t>
            </a:r>
            <a:r>
              <a:rPr kumimoji="1" lang="ko-KR" altLang="en-US" sz="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대금청구가</a:t>
            </a:r>
            <a:r>
              <a:rPr kumimoji="1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 없는 계약 입니다</a:t>
            </a:r>
            <a:r>
              <a:rPr kumimoji="1" lang="en-US" altLang="ko-KR" sz="7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868868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129541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7403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74" name="그룹 173"/>
          <p:cNvGrpSpPr/>
          <p:nvPr/>
        </p:nvGrpSpPr>
        <p:grpSpPr>
          <a:xfrm rot="5400000">
            <a:off x="3948482" y="1640499"/>
            <a:ext cx="94010" cy="47005"/>
            <a:chOff x="6812560" y="3297172"/>
            <a:chExt cx="94010" cy="47005"/>
          </a:xfrm>
        </p:grpSpPr>
        <p:cxnSp>
          <p:nvCxnSpPr>
            <p:cNvPr id="175" name="직선 연결선 17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직선 연결선 17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7" name="타원 176"/>
          <p:cNvSpPr/>
          <p:nvPr/>
        </p:nvSpPr>
        <p:spPr>
          <a:xfrm>
            <a:off x="6238006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양쪽 모서리가 둥근 사각형 188"/>
          <p:cNvSpPr/>
          <p:nvPr/>
        </p:nvSpPr>
        <p:spPr>
          <a:xfrm>
            <a:off x="3868868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4954881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91" name="그룹 190"/>
          <p:cNvGrpSpPr/>
          <p:nvPr/>
        </p:nvGrpSpPr>
        <p:grpSpPr>
          <a:xfrm>
            <a:off x="6357807" y="2085445"/>
            <a:ext cx="94010" cy="94010"/>
            <a:chOff x="6812560" y="3297172"/>
            <a:chExt cx="94010" cy="94010"/>
          </a:xfrm>
        </p:grpSpPr>
        <p:cxnSp>
          <p:nvCxnSpPr>
            <p:cNvPr id="192" name="직선 연결선 19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직선 연결선 19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4" name="TextBox 1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97945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 smtClean="0">
                <a:latin typeface="+mn-ea"/>
              </a:rPr>
              <a:t>대금청구</a:t>
            </a:r>
            <a:r>
              <a:rPr lang="ko-KR" altLang="en-US" sz="900" dirty="0" smtClean="0">
                <a:latin typeface="+mn-ea"/>
              </a:rPr>
              <a:t> </a:t>
            </a:r>
            <a:r>
              <a:rPr lang="ko-KR" altLang="en-US" sz="900" dirty="0" err="1" smtClean="0">
                <a:latin typeface="+mn-ea"/>
              </a:rPr>
              <a:t>신청목록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68868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6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4001575" y="5813061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97" name="그룹 196"/>
          <p:cNvGrpSpPr/>
          <p:nvPr/>
        </p:nvGrpSpPr>
        <p:grpSpPr>
          <a:xfrm>
            <a:off x="3971985" y="3199121"/>
            <a:ext cx="2476202" cy="1171825"/>
            <a:chOff x="778516" y="2610063"/>
            <a:chExt cx="2476202" cy="1171825"/>
          </a:xfrm>
        </p:grpSpPr>
        <p:sp>
          <p:nvSpPr>
            <p:cNvPr id="198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616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 err="1"/>
                <a:t>청구번호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12315 - </a:t>
              </a:r>
              <a:r>
                <a:rPr lang="en-US" altLang="ko-KR" sz="800" dirty="0" smtClean="0"/>
                <a:t>42</a:t>
              </a:r>
            </a:p>
            <a:p>
              <a:r>
                <a:rPr lang="ko-KR" altLang="en-US" sz="900" b="1" dirty="0" err="1" smtClean="0"/>
                <a:t>대금청구서</a:t>
              </a:r>
              <a:endParaRPr lang="ko-KR" altLang="en-US" sz="1050" b="1" dirty="0"/>
            </a:p>
          </p:txBody>
        </p:sp>
        <p:sp>
          <p:nvSpPr>
            <p:cNvPr id="199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89391"/>
              <a:ext cx="307777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청구금액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확정구분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세액여부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작성일자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청구일자</a:t>
              </a:r>
              <a:endParaRPr lang="en-US" altLang="ko-KR" sz="600" dirty="0" smtClean="0">
                <a:latin typeface="+mn-ea"/>
              </a:endParaRPr>
            </a:p>
          </p:txBody>
        </p:sp>
        <p:sp>
          <p:nvSpPr>
            <p:cNvPr id="200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4574" y="3082030"/>
              <a:ext cx="657231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-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2025-10-15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2025-11-20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01" name="모서리가 둥근 직사각형 200"/>
            <p:cNvSpPr/>
            <p:nvPr/>
          </p:nvSpPr>
          <p:spPr>
            <a:xfrm>
              <a:off x="778516" y="2610063"/>
              <a:ext cx="480073" cy="12997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>
                  <a:solidFill>
                    <a:schemeClr val="dk1"/>
                  </a:solidFill>
                </a:rPr>
                <a:t>진행중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913959" y="443893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74930" y="2446715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2025 000 000 - 01</a:t>
            </a:r>
          </a:p>
          <a:p>
            <a:r>
              <a:rPr lang="ko-KR" altLang="en-US" sz="900" b="1" dirty="0" smtClean="0"/>
              <a:t>변속기 부품 계약의 건</a:t>
            </a:r>
            <a:endParaRPr lang="ko-KR" altLang="en-US" sz="900" b="1" dirty="0"/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68868" y="27593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68868" y="304507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55615" y="2771812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 smtClean="0">
                <a:solidFill>
                  <a:srgbClr val="0070C0"/>
                </a:solidFill>
                <a:latin typeface="+mn-ea"/>
              </a:rPr>
              <a:t>3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9" name="직선 화살표 연결선 8"/>
          <p:cNvCxnSpPr>
            <a:endCxn id="99" idx="0"/>
          </p:cNvCxnSpPr>
          <p:nvPr/>
        </p:nvCxnSpPr>
        <p:spPr>
          <a:xfrm flipH="1">
            <a:off x="2063172" y="4562778"/>
            <a:ext cx="1" cy="63336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/>
          <p:cNvCxnSpPr/>
          <p:nvPr/>
        </p:nvCxnSpPr>
        <p:spPr>
          <a:xfrm>
            <a:off x="3411164" y="3851307"/>
            <a:ext cx="317308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타원 2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106076" y="47375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grpSp>
        <p:nvGrpSpPr>
          <p:cNvPr id="215" name="그룹 214"/>
          <p:cNvGrpSpPr/>
          <p:nvPr/>
        </p:nvGrpSpPr>
        <p:grpSpPr>
          <a:xfrm>
            <a:off x="3971985" y="4572651"/>
            <a:ext cx="2476202" cy="1171825"/>
            <a:chOff x="778516" y="2610063"/>
            <a:chExt cx="2476202" cy="1171825"/>
          </a:xfrm>
        </p:grpSpPr>
        <p:sp>
          <p:nvSpPr>
            <p:cNvPr id="216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616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800" dirty="0" err="1">
                  <a:solidFill>
                    <a:prstClr val="black"/>
                  </a:solidFill>
                </a:rPr>
                <a:t>청구번호</a:t>
              </a:r>
              <a:r>
                <a:rPr lang="ko-KR" altLang="en-US" sz="800" dirty="0">
                  <a:solidFill>
                    <a:prstClr val="black"/>
                  </a:solidFill>
                </a:rPr>
                <a:t> </a:t>
              </a:r>
              <a:r>
                <a:rPr lang="en-US" altLang="ko-KR" sz="800" dirty="0">
                  <a:solidFill>
                    <a:prstClr val="black"/>
                  </a:solidFill>
                </a:rPr>
                <a:t>12315 - 42</a:t>
              </a:r>
            </a:p>
            <a:p>
              <a:r>
                <a:rPr lang="ko-KR" altLang="en-US" sz="900" b="1" dirty="0" err="1" smtClean="0"/>
                <a:t>선금신청서</a:t>
              </a:r>
              <a:r>
                <a:rPr lang="ko-KR" altLang="en-US" sz="900" b="1" dirty="0" smtClean="0"/>
                <a:t> </a:t>
              </a:r>
              <a:endParaRPr lang="ko-KR" altLang="en-US" sz="1050" b="1" dirty="0"/>
            </a:p>
          </p:txBody>
        </p:sp>
        <p:sp>
          <p:nvSpPr>
            <p:cNvPr id="217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89391"/>
              <a:ext cx="307777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청구금액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확정구분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세액여부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작성일자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청구일자</a:t>
              </a:r>
              <a:endParaRPr lang="en-US" altLang="ko-KR" sz="600" dirty="0" smtClean="0">
                <a:latin typeface="+mn-ea"/>
              </a:endParaRPr>
            </a:p>
          </p:txBody>
        </p:sp>
        <p:sp>
          <p:nvSpPr>
            <p:cNvPr id="21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4574" y="3082030"/>
              <a:ext cx="657231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-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2025-10-15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2025-11-20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19" name="모서리가 둥근 직사각형 218"/>
            <p:cNvSpPr/>
            <p:nvPr/>
          </p:nvSpPr>
          <p:spPr>
            <a:xfrm>
              <a:off x="778516" y="2610063"/>
              <a:ext cx="480073" cy="12997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 smtClean="0">
                  <a:solidFill>
                    <a:schemeClr val="dk1"/>
                  </a:solidFill>
                </a:rPr>
                <a:t>진행완료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913959" y="581246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3390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69852" y="1501912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검색필터</a:t>
            </a:r>
            <a:r>
              <a:rPr lang="ko-KR" altLang="en-US" sz="800" dirty="0"/>
              <a:t> 페이지 타이틀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초기화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창 닫기 버튼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/>
              <a:t>각 </a:t>
            </a:r>
            <a:r>
              <a:rPr lang="ko-KR" altLang="en-US" sz="800" dirty="0" err="1"/>
              <a:t>섹션명</a:t>
            </a:r>
            <a:r>
              <a:rPr lang="ko-KR" altLang="en-US" sz="800" dirty="0"/>
              <a:t> 클릭 시 아코디언 동작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업무 </a:t>
            </a:r>
            <a:r>
              <a:rPr lang="ko-KR" altLang="en-US" sz="800" dirty="0"/>
              <a:t>구분</a:t>
            </a:r>
            <a:r>
              <a:rPr lang="en-US" altLang="ko-KR" sz="800" dirty="0"/>
              <a:t>(</a:t>
            </a:r>
            <a:r>
              <a:rPr lang="ko-KR" altLang="en-US" sz="800" dirty="0" err="1"/>
              <a:t>필수값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항목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/>
              <a:t>전체</a:t>
            </a:r>
            <a:r>
              <a:rPr lang="en-US" altLang="ko-KR" sz="800" dirty="0"/>
              <a:t>, </a:t>
            </a:r>
            <a:r>
              <a:rPr lang="ko-KR" altLang="en-US" sz="800" dirty="0"/>
              <a:t>물품</a:t>
            </a:r>
            <a:r>
              <a:rPr lang="en-US" altLang="ko-KR" sz="800" dirty="0"/>
              <a:t>,</a:t>
            </a:r>
            <a:r>
              <a:rPr lang="ko-KR" altLang="en-US" sz="800" dirty="0"/>
              <a:t>용역</a:t>
            </a:r>
            <a:r>
              <a:rPr lang="en-US" altLang="ko-KR" sz="800" dirty="0"/>
              <a:t>,</a:t>
            </a:r>
            <a:r>
              <a:rPr lang="ko-KR" altLang="en-US" sz="800" dirty="0"/>
              <a:t>공사</a:t>
            </a:r>
            <a:r>
              <a:rPr lang="en-US" altLang="ko-KR" sz="800" dirty="0"/>
              <a:t>,</a:t>
            </a:r>
            <a:r>
              <a:rPr lang="ko-KR" altLang="en-US" sz="800" dirty="0"/>
              <a:t>국외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default) </a:t>
            </a:r>
            <a:r>
              <a:rPr lang="ko-KR" altLang="en-US" sz="800" dirty="0"/>
              <a:t>전체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검색 설정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서류요청</a:t>
            </a:r>
            <a:r>
              <a:rPr lang="ko-KR" altLang="en-US" sz="800" dirty="0"/>
              <a:t> </a:t>
            </a:r>
            <a:r>
              <a:rPr lang="ko-KR" altLang="en-US" sz="800" dirty="0" err="1"/>
              <a:t>수신일자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 err="1"/>
              <a:t>계약일자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default) </a:t>
            </a:r>
            <a:r>
              <a:rPr lang="ko-KR" altLang="en-US" sz="800" dirty="0"/>
              <a:t>당일 포함 과거 </a:t>
            </a:r>
            <a:r>
              <a:rPr lang="en-US" altLang="ko-KR" sz="800" dirty="0"/>
              <a:t>7</a:t>
            </a:r>
            <a:r>
              <a:rPr lang="ko-KR" altLang="en-US" sz="800" dirty="0"/>
              <a:t>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>
                <a:sym typeface="Wingdings" panose="05000000000000000000" pitchFamily="2" charset="2"/>
              </a:rPr>
              <a:t>선택 날짜 즉시 업데이트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en-US" altLang="ko-KR" sz="800" dirty="0" smtClean="0"/>
              <a:t>3-1</a:t>
            </a:r>
            <a:r>
              <a:rPr lang="en-US" altLang="ko-KR" sz="800" dirty="0"/>
              <a:t>)</a:t>
            </a:r>
            <a:r>
              <a:rPr lang="ko-KR" altLang="en-US" sz="800" dirty="0"/>
              <a:t>직접 입력 가능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좌</a:t>
            </a:r>
            <a:r>
              <a:rPr lang="en-US" altLang="ko-KR" sz="800" dirty="0"/>
              <a:t>)</a:t>
            </a:r>
            <a:r>
              <a:rPr lang="ko-KR" altLang="en-US" sz="800" dirty="0"/>
              <a:t>과거 우</a:t>
            </a:r>
            <a:r>
              <a:rPr lang="en-US" altLang="ko-KR" sz="800" dirty="0"/>
              <a:t>)</a:t>
            </a:r>
            <a:r>
              <a:rPr lang="ko-KR" altLang="en-US" sz="800" dirty="0" err="1"/>
              <a:t>현재로한다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우</a:t>
            </a:r>
            <a:r>
              <a:rPr lang="en-US" altLang="ko-KR" sz="800" dirty="0"/>
              <a:t>)</a:t>
            </a:r>
            <a:r>
              <a:rPr lang="ko-KR" altLang="en-US" sz="800" dirty="0"/>
              <a:t> 값은 미래를 선택</a:t>
            </a:r>
            <a:r>
              <a:rPr lang="en-US" altLang="ko-KR" sz="800" dirty="0"/>
              <a:t>,</a:t>
            </a:r>
            <a:r>
              <a:rPr lang="ko-KR" altLang="en-US" sz="800" dirty="0"/>
              <a:t>입력 할 </a:t>
            </a:r>
            <a:r>
              <a:rPr lang="ko-KR" altLang="en-US" sz="800" dirty="0" err="1"/>
              <a:t>수없다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우</a:t>
            </a:r>
            <a:r>
              <a:rPr lang="en-US" altLang="ko-KR" sz="800" dirty="0"/>
              <a:t>) </a:t>
            </a:r>
            <a:r>
              <a:rPr lang="ko-KR" altLang="en-US" sz="800" dirty="0"/>
              <a:t>값이 미래를 입력한 경우 오늘로 자동 변경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당일 기준 최대 </a:t>
            </a:r>
            <a:r>
              <a:rPr lang="en-US" altLang="ko-KR" sz="800" dirty="0"/>
              <a:t>1</a:t>
            </a:r>
            <a:r>
              <a:rPr lang="ko-KR" altLang="en-US" sz="800" dirty="0"/>
              <a:t>년</a:t>
            </a:r>
            <a:r>
              <a:rPr lang="en-US" altLang="ko-KR" sz="800" dirty="0"/>
              <a:t>(365</a:t>
            </a:r>
            <a:r>
              <a:rPr lang="ko-KR" altLang="en-US" sz="800" dirty="0"/>
              <a:t>일</a:t>
            </a:r>
            <a:r>
              <a:rPr lang="en-US" altLang="ko-KR" sz="800" dirty="0"/>
              <a:t>)</a:t>
            </a:r>
            <a:r>
              <a:rPr lang="ko-KR" altLang="en-US" sz="800" dirty="0"/>
              <a:t>까지 조회 가능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en-US" altLang="ko-KR" sz="800" dirty="0" smtClean="0"/>
              <a:t>3-2</a:t>
            </a:r>
            <a:r>
              <a:rPr lang="en-US" altLang="ko-KR" sz="800" dirty="0"/>
              <a:t>) </a:t>
            </a:r>
            <a:r>
              <a:rPr lang="ko-KR" altLang="en-US" sz="800" dirty="0"/>
              <a:t>아이콘 </a:t>
            </a:r>
            <a:r>
              <a:rPr lang="en-US" altLang="ko-KR" sz="800" dirty="0">
                <a:sym typeface="Wingdings" panose="05000000000000000000" pitchFamily="2" charset="2"/>
              </a:rPr>
              <a:t> </a:t>
            </a:r>
            <a:r>
              <a:rPr lang="ko-KR" altLang="en-US" sz="800" dirty="0">
                <a:sym typeface="Wingdings" panose="05000000000000000000" pitchFamily="2" charset="2"/>
              </a:rPr>
              <a:t>데이트 </a:t>
            </a:r>
            <a:r>
              <a:rPr lang="ko-KR" altLang="en-US" sz="800" dirty="0" err="1">
                <a:sym typeface="Wingdings" panose="05000000000000000000" pitchFamily="2" charset="2"/>
              </a:rPr>
              <a:t>피커</a:t>
            </a:r>
            <a:r>
              <a:rPr lang="ko-KR" altLang="en-US" sz="800" dirty="0">
                <a:sym typeface="Wingdings" panose="05000000000000000000" pitchFamily="2" charset="2"/>
              </a:rPr>
              <a:t> 호출</a:t>
            </a:r>
            <a:r>
              <a:rPr lang="en-US" altLang="ko-KR" sz="800" dirty="0">
                <a:sym typeface="Wingdings" panose="05000000000000000000" pitchFamily="2" charset="2"/>
              </a:rPr>
              <a:t>( </a:t>
            </a:r>
            <a:r>
              <a:rPr lang="ko-KR" altLang="en-US" sz="800" dirty="0" err="1">
                <a:sym typeface="Wingdings" panose="05000000000000000000" pitchFamily="2" charset="2"/>
              </a:rPr>
              <a:t>미래불가</a:t>
            </a:r>
            <a:r>
              <a:rPr lang="en-US" altLang="ko-KR" sz="800" dirty="0">
                <a:sym typeface="Wingdings" panose="05000000000000000000" pitchFamily="2" charset="2"/>
              </a:rPr>
              <a:t>)</a:t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en-US" altLang="ko-KR" sz="800" dirty="0" smtClean="0">
                <a:sym typeface="Wingdings" panose="05000000000000000000" pitchFamily="2" charset="2"/>
              </a:rPr>
              <a:t>3-3</a:t>
            </a:r>
            <a:r>
              <a:rPr lang="en-US" altLang="ko-KR" sz="800" dirty="0">
                <a:sym typeface="Wingdings" panose="05000000000000000000" pitchFamily="2" charset="2"/>
              </a:rPr>
              <a:t>) </a:t>
            </a:r>
            <a:r>
              <a:rPr lang="ko-KR" altLang="en-US" sz="800" dirty="0">
                <a:sym typeface="Wingdings" panose="05000000000000000000" pitchFamily="2" charset="2"/>
              </a:rPr>
              <a:t>최근</a:t>
            </a:r>
            <a:r>
              <a:rPr lang="en-US" altLang="ko-KR" sz="800" dirty="0">
                <a:sym typeface="Wingdings" panose="05000000000000000000" pitchFamily="2" charset="2"/>
              </a:rPr>
              <a:t>1,3,6</a:t>
            </a:r>
            <a:r>
              <a:rPr lang="ko-KR" altLang="en-US" sz="800" dirty="0">
                <a:sym typeface="Wingdings" panose="05000000000000000000" pitchFamily="2" charset="2"/>
              </a:rPr>
              <a:t>개월 버튼으로 당일 포함하여 </a:t>
            </a:r>
            <a:r>
              <a:rPr lang="en-US" altLang="ko-KR" sz="800" dirty="0">
                <a:sym typeface="Wingdings" panose="05000000000000000000" pitchFamily="2" charset="2"/>
              </a:rPr>
              <a:t>30</a:t>
            </a:r>
            <a:r>
              <a:rPr lang="ko-KR" altLang="en-US" sz="800" dirty="0">
                <a:sym typeface="Wingdings" panose="05000000000000000000" pitchFamily="2" charset="2"/>
              </a:rPr>
              <a:t>일</a:t>
            </a:r>
            <a:r>
              <a:rPr lang="en-US" altLang="ko-KR" sz="800" dirty="0">
                <a:sym typeface="Wingdings" panose="05000000000000000000" pitchFamily="2" charset="2"/>
              </a:rPr>
              <a:t>, 90</a:t>
            </a:r>
            <a:r>
              <a:rPr lang="ko-KR" altLang="en-US" sz="800" dirty="0">
                <a:sym typeface="Wingdings" panose="05000000000000000000" pitchFamily="2" charset="2"/>
              </a:rPr>
              <a:t>일</a:t>
            </a:r>
            <a:r>
              <a:rPr lang="en-US" altLang="ko-KR" sz="800" dirty="0">
                <a:sym typeface="Wingdings" panose="05000000000000000000" pitchFamily="2" charset="2"/>
              </a:rPr>
              <a:t>,180</a:t>
            </a:r>
            <a:r>
              <a:rPr lang="ko-KR" altLang="en-US" sz="800" dirty="0">
                <a:sym typeface="Wingdings" panose="05000000000000000000" pitchFamily="2" charset="2"/>
              </a:rPr>
              <a:t>일 이전 값을 표시</a:t>
            </a:r>
            <a:r>
              <a:rPr lang="en-US" altLang="ko-KR" sz="800" dirty="0">
                <a:sym typeface="Wingdings" panose="05000000000000000000" pitchFamily="2" charset="2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>
                <a:sym typeface="Wingdings" panose="05000000000000000000" pitchFamily="2" charset="2"/>
              </a:rPr>
              <a:t>검색어</a:t>
            </a:r>
            <a:r>
              <a:rPr lang="ko-KR" altLang="en-US" sz="800" dirty="0">
                <a:sym typeface="Wingdings" panose="05000000000000000000" pitchFamily="2" charset="2"/>
              </a:rPr>
              <a:t> 영역</a:t>
            </a:r>
            <a:r>
              <a:rPr lang="en-US" altLang="ko-KR" sz="800" dirty="0">
                <a:sym typeface="Wingdings" panose="05000000000000000000" pitchFamily="2" charset="2"/>
              </a:rPr>
              <a:t/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sz="800" dirty="0">
                <a:sym typeface="Wingdings" panose="05000000000000000000" pitchFamily="2" charset="2"/>
              </a:rPr>
              <a:t/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 err="1">
                <a:sym typeface="Wingdings" panose="05000000000000000000" pitchFamily="2" charset="2"/>
              </a:rPr>
              <a:t>계약건명</a:t>
            </a:r>
            <a:r>
              <a:rPr lang="en-US" altLang="ko-KR" sz="800" dirty="0" smtClean="0">
                <a:sym typeface="Wingdings" panose="05000000000000000000" pitchFamily="2" charset="2"/>
              </a:rPr>
              <a:t>, </a:t>
            </a:r>
            <a:r>
              <a:rPr lang="ko-KR" altLang="en-US" sz="800" dirty="0" err="1">
                <a:sym typeface="Wingdings" panose="05000000000000000000" pitchFamily="2" charset="2"/>
              </a:rPr>
              <a:t>계약번호</a:t>
            </a:r>
            <a:r>
              <a:rPr lang="en-US" altLang="ko-KR" sz="800" dirty="0">
                <a:sym typeface="Wingdings" panose="05000000000000000000" pitchFamily="2" charset="2"/>
              </a:rPr>
              <a:t>, </a:t>
            </a:r>
            <a:r>
              <a:rPr lang="en-US" altLang="ko-KR" sz="800" dirty="0" smtClean="0">
                <a:sym typeface="Wingdings" panose="05000000000000000000" pitchFamily="2" charset="2"/>
              </a:rPr>
              <a:t/>
            </a:r>
            <a:br>
              <a:rPr lang="en-US" altLang="ko-KR" sz="800" dirty="0" smtClean="0">
                <a:sym typeface="Wingdings" panose="05000000000000000000" pitchFamily="2" charset="2"/>
              </a:rPr>
            </a:br>
            <a:r>
              <a:rPr lang="en-US" altLang="ko-KR" sz="800" dirty="0" smtClean="0">
                <a:sym typeface="Wingdings" panose="05000000000000000000" pitchFamily="2" charset="2"/>
              </a:rPr>
              <a:t>- </a:t>
            </a:r>
            <a:r>
              <a:rPr lang="ko-KR" altLang="en-US" sz="800" dirty="0" err="1">
                <a:sym typeface="Wingdings" panose="05000000000000000000" pitchFamily="2" charset="2"/>
              </a:rPr>
              <a:t>글자검색</a:t>
            </a:r>
            <a:r>
              <a:rPr lang="en-US" altLang="ko-KR" sz="800" dirty="0">
                <a:sym typeface="Wingdings" panose="05000000000000000000" pitchFamily="2" charset="2"/>
              </a:rPr>
              <a:t>: </a:t>
            </a:r>
            <a:r>
              <a:rPr lang="ko-KR" altLang="en-US" sz="800" dirty="0" err="1" smtClean="0">
                <a:sym typeface="Wingdings" panose="05000000000000000000" pitchFamily="2" charset="2"/>
              </a:rPr>
              <a:t>계약건명</a:t>
            </a:r>
            <a:r>
              <a:rPr lang="en-US" altLang="ko-KR" sz="800" dirty="0">
                <a:sym typeface="Wingdings" panose="05000000000000000000" pitchFamily="2" charset="2"/>
              </a:rPr>
              <a:t/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 err="1">
                <a:sym typeface="Wingdings" panose="05000000000000000000" pitchFamily="2" charset="2"/>
              </a:rPr>
              <a:t>숫자검색</a:t>
            </a:r>
            <a:r>
              <a:rPr lang="en-US" altLang="ko-KR" sz="800" dirty="0" smtClean="0">
                <a:sym typeface="Wingdings" panose="05000000000000000000" pitchFamily="2" charset="2"/>
              </a:rPr>
              <a:t>: </a:t>
            </a:r>
            <a:r>
              <a:rPr lang="ko-KR" altLang="en-US" sz="800" dirty="0">
                <a:sym typeface="Wingdings" panose="05000000000000000000" pitchFamily="2" charset="2"/>
              </a:rPr>
              <a:t>계약 </a:t>
            </a:r>
            <a:r>
              <a:rPr lang="ko-KR" altLang="en-US" sz="800" dirty="0" smtClean="0">
                <a:sym typeface="Wingdings" panose="05000000000000000000" pitchFamily="2" charset="2"/>
              </a:rPr>
              <a:t>번호</a:t>
            </a:r>
            <a:endParaRPr lang="en-US" altLang="ko-KR" sz="800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>
                <a:sym typeface="Wingdings" panose="05000000000000000000" pitchFamily="2" charset="2"/>
              </a:rPr>
              <a:t>검색 </a:t>
            </a:r>
            <a:r>
              <a:rPr lang="ko-KR" altLang="en-US" sz="800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sz="800" dirty="0" err="1">
                <a:sym typeface="Wingdings" panose="05000000000000000000" pitchFamily="2" charset="2"/>
              </a:rPr>
              <a:t>플로팅</a:t>
            </a:r>
            <a:r>
              <a:rPr lang="ko-KR" altLang="en-US" sz="800" dirty="0">
                <a:sym typeface="Wingdings" panose="05000000000000000000" pitchFamily="2" charset="2"/>
              </a:rPr>
              <a:t> </a:t>
            </a:r>
            <a:r>
              <a:rPr lang="ko-KR" altLang="en-US" sz="800" dirty="0" smtClean="0">
                <a:sym typeface="Wingdings" panose="05000000000000000000" pitchFamily="2" charset="2"/>
              </a:rPr>
              <a:t>처리</a:t>
            </a:r>
            <a:endParaRPr lang="en-US" altLang="ko-KR" sz="800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>
                <a:sym typeface="Wingdings" panose="05000000000000000000" pitchFamily="2" charset="2"/>
              </a:rPr>
              <a:t>대금청구구분</a:t>
            </a:r>
            <a:r>
              <a:rPr lang="en-US" altLang="ko-KR" sz="800" dirty="0" smtClean="0">
                <a:sym typeface="Wingdings" panose="05000000000000000000" pitchFamily="2" charset="2"/>
              </a:rPr>
              <a:t/>
            </a:r>
            <a:br>
              <a:rPr lang="en-US" altLang="ko-KR" sz="800" dirty="0" smtClean="0">
                <a:sym typeface="Wingdings" panose="05000000000000000000" pitchFamily="2" charset="2"/>
              </a:rPr>
            </a:br>
            <a:r>
              <a:rPr lang="en-US" altLang="ko-KR" sz="800" dirty="0" smtClean="0">
                <a:sym typeface="Wingdings" panose="05000000000000000000" pitchFamily="2" charset="2"/>
              </a:rPr>
              <a:t>- </a:t>
            </a:r>
            <a:r>
              <a:rPr lang="ko-KR" altLang="en-US" sz="800" dirty="0" smtClean="0">
                <a:sym typeface="Wingdings" panose="05000000000000000000" pitchFamily="2" charset="2"/>
              </a:rPr>
              <a:t>전체</a:t>
            </a:r>
            <a:r>
              <a:rPr lang="en-US" altLang="ko-KR" sz="800" dirty="0" smtClean="0">
                <a:sym typeface="Wingdings" panose="05000000000000000000" pitchFamily="2" charset="2"/>
              </a:rPr>
              <a:t>, </a:t>
            </a:r>
            <a:r>
              <a:rPr lang="ko-KR" altLang="en-US" sz="800" dirty="0" err="1" smtClean="0">
                <a:sym typeface="Wingdings" panose="05000000000000000000" pitchFamily="2" charset="2"/>
              </a:rPr>
              <a:t>선금신청</a:t>
            </a:r>
            <a:r>
              <a:rPr lang="en-US" altLang="ko-KR" sz="800" dirty="0" smtClean="0">
                <a:sym typeface="Wingdings" panose="05000000000000000000" pitchFamily="2" charset="2"/>
              </a:rPr>
              <a:t>, </a:t>
            </a:r>
            <a:r>
              <a:rPr lang="ko-KR" altLang="en-US" sz="800" dirty="0" err="1" smtClean="0">
                <a:sym typeface="Wingdings" panose="05000000000000000000" pitchFamily="2" charset="2"/>
              </a:rPr>
              <a:t>착중도금신청</a:t>
            </a:r>
            <a:r>
              <a:rPr lang="en-US" altLang="ko-KR" sz="800" dirty="0" smtClean="0">
                <a:sym typeface="Wingdings" panose="05000000000000000000" pitchFamily="2" charset="2"/>
              </a:rPr>
              <a:t>,</a:t>
            </a:r>
            <a:r>
              <a:rPr lang="ko-KR" altLang="en-US" sz="800" dirty="0" smtClean="0">
                <a:sym typeface="Wingdings" panose="05000000000000000000" pitchFamily="2" charset="2"/>
              </a:rPr>
              <a:t>대금청구신청</a:t>
            </a:r>
            <a:r>
              <a:rPr lang="en-US" altLang="ko-KR" sz="800" dirty="0" smtClean="0">
                <a:sym typeface="Wingdings" panose="05000000000000000000" pitchFamily="2" charset="2"/>
              </a:rPr>
              <a:t>,</a:t>
            </a:r>
            <a:r>
              <a:rPr lang="ko-KR" altLang="en-US" sz="800" dirty="0" smtClean="0">
                <a:sym typeface="Wingdings" panose="05000000000000000000" pitchFamily="2" charset="2"/>
              </a:rPr>
              <a:t>사후정산청구서 </a:t>
            </a:r>
            <a:r>
              <a:rPr lang="en-US" altLang="ko-KR" sz="800" dirty="0">
                <a:sym typeface="Wingdings" panose="05000000000000000000" pitchFamily="2" charset="2"/>
              </a:rPr>
              <a:t/>
            </a:r>
            <a:br>
              <a:rPr lang="en-US" altLang="ko-KR" sz="800" dirty="0">
                <a:sym typeface="Wingdings" panose="05000000000000000000" pitchFamily="2" charset="2"/>
              </a:rPr>
            </a:br>
            <a:endParaRPr lang="en-US" altLang="ko-KR" sz="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endParaRPr lang="en-US" altLang="ko-KR" sz="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계약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검색 </a:t>
            </a:r>
            <a:r>
              <a:rPr lang="ko-KR" altLang="en-US" dirty="0">
                <a:latin typeface="+mn-ea"/>
              </a:rPr>
              <a:t>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MUI-WM-01-P12</a:t>
            </a:r>
            <a:endParaRPr lang="ko-KR" altLang="en-US" dirty="0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43205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221" name="그룹 220"/>
          <p:cNvGrpSpPr/>
          <p:nvPr/>
        </p:nvGrpSpPr>
        <p:grpSpPr>
          <a:xfrm>
            <a:off x="675399" y="5678278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93320" y="4306300"/>
            <a:ext cx="2516607" cy="883322"/>
            <a:chOff x="778515" y="4388257"/>
            <a:chExt cx="2516607" cy="883322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581494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grpSp>
        <p:nvGrpSpPr>
          <p:cNvPr id="134" name="그룹 133"/>
          <p:cNvGrpSpPr/>
          <p:nvPr/>
        </p:nvGrpSpPr>
        <p:grpSpPr>
          <a:xfrm flipV="1">
            <a:off x="3140949" y="2075438"/>
            <a:ext cx="91438" cy="45719"/>
            <a:chOff x="6812560" y="3297172"/>
            <a:chExt cx="94010" cy="4700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808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472364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검색 설정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94902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3570054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3722533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3742480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3953202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3722533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974060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2204218"/>
            <a:ext cx="230514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물품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용역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국외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772169" y="2270530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직사각형 162"/>
          <p:cNvSpPr/>
          <p:nvPr/>
        </p:nvSpPr>
        <p:spPr>
          <a:xfrm>
            <a:off x="772169" y="2487756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직사각형 167"/>
          <p:cNvSpPr/>
          <p:nvPr/>
        </p:nvSpPr>
        <p:spPr>
          <a:xfrm>
            <a:off x="772169" y="2684846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/>
          <p:cNvSpPr/>
          <p:nvPr/>
        </p:nvSpPr>
        <p:spPr>
          <a:xfrm>
            <a:off x="772169" y="2899507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/>
          <p:cNvSpPr/>
          <p:nvPr/>
        </p:nvSpPr>
        <p:spPr>
          <a:xfrm>
            <a:off x="772169" y="3111473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TextBox 178"/>
          <p:cNvSpPr txBox="1"/>
          <p:nvPr/>
        </p:nvSpPr>
        <p:spPr>
          <a:xfrm>
            <a:off x="712771" y="2449398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34067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08364" y="36989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3-1</a:t>
            </a:r>
            <a:endParaRPr lang="ko-KR" altLang="en-US" sz="500" b="1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219722" y="36989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3-2</a:t>
            </a:r>
            <a:endParaRPr lang="ko-KR" altLang="en-US" sz="500" b="1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08364" y="396605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/>
              <a:t>3</a:t>
            </a:r>
            <a:r>
              <a:rPr lang="en-US" altLang="ko-KR" sz="500" b="1" dirty="0" smtClean="0"/>
              <a:t>-3</a:t>
            </a:r>
            <a:endParaRPr lang="ko-KR" altLang="en-US" sz="500" b="1" dirty="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3476" y="192242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24318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세금계산서목록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세금계산서 </a:t>
            </a:r>
            <a:r>
              <a:rPr lang="ko-KR" altLang="en-US" dirty="0" err="1"/>
              <a:t>여러건이</a:t>
            </a:r>
            <a:r>
              <a:rPr lang="ko-KR" altLang="en-US" dirty="0"/>
              <a:t> 물려있는 경우 팝업에서 목록을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세부 목록 선택 시 상세 페이지 이동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대금청구신청목록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대금청구신청목록</a:t>
            </a:r>
            <a:r>
              <a:rPr lang="ko-KR" altLang="en-US" dirty="0" smtClean="0"/>
              <a:t> </a:t>
            </a:r>
            <a:r>
              <a:rPr lang="ko-KR" altLang="en-US" dirty="0"/>
              <a:t>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대금청구신청목록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MUI-WM-01-P13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양쪽 모서리가 둥근 사각형 165"/>
          <p:cNvSpPr/>
          <p:nvPr/>
        </p:nvSpPr>
        <p:spPr>
          <a:xfrm>
            <a:off x="675399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1761412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3164338" y="2085445"/>
            <a:ext cx="94010" cy="94010"/>
            <a:chOff x="6812560" y="3297172"/>
            <a:chExt cx="94010" cy="94010"/>
          </a:xfrm>
        </p:grpSpPr>
        <p:cxnSp>
          <p:nvCxnSpPr>
            <p:cNvPr id="169" name="직선 연결선 16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직선 연결선 16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 smtClean="0">
                <a:latin typeface="+mn-ea"/>
              </a:rPr>
              <a:t>대금청구</a:t>
            </a:r>
            <a:r>
              <a:rPr lang="ko-KR" altLang="en-US" sz="900" dirty="0" smtClean="0">
                <a:latin typeface="+mn-ea"/>
              </a:rPr>
              <a:t> </a:t>
            </a:r>
            <a:r>
              <a:rPr lang="ko-KR" altLang="en-US" sz="900" dirty="0" err="1" smtClean="0">
                <a:latin typeface="+mn-ea"/>
              </a:rPr>
              <a:t>신청목록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13061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91" name="그룹 190"/>
          <p:cNvGrpSpPr/>
          <p:nvPr/>
        </p:nvGrpSpPr>
        <p:grpSpPr>
          <a:xfrm>
            <a:off x="778516" y="3199121"/>
            <a:ext cx="2476202" cy="1171825"/>
            <a:chOff x="778516" y="2610063"/>
            <a:chExt cx="2476202" cy="1171825"/>
          </a:xfrm>
        </p:grpSpPr>
        <p:sp>
          <p:nvSpPr>
            <p:cNvPr id="19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616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800" dirty="0" err="1">
                  <a:solidFill>
                    <a:prstClr val="black"/>
                  </a:solidFill>
                </a:rPr>
                <a:t>청구번호</a:t>
              </a:r>
              <a:r>
                <a:rPr lang="ko-KR" altLang="en-US" sz="800" dirty="0">
                  <a:solidFill>
                    <a:prstClr val="black"/>
                  </a:solidFill>
                </a:rPr>
                <a:t> </a:t>
              </a:r>
              <a:r>
                <a:rPr lang="en-US" altLang="ko-KR" sz="800" dirty="0">
                  <a:solidFill>
                    <a:prstClr val="black"/>
                  </a:solidFill>
                </a:rPr>
                <a:t>12315 - 42</a:t>
              </a:r>
            </a:p>
            <a:p>
              <a:pPr lvl="0"/>
              <a:r>
                <a:rPr lang="ko-KR" altLang="en-US" sz="900" b="1" dirty="0" err="1">
                  <a:solidFill>
                    <a:prstClr val="black"/>
                  </a:solidFill>
                </a:rPr>
                <a:t>대금청구서</a:t>
              </a:r>
              <a:endParaRPr lang="ko-KR" altLang="en-US" sz="1050" b="1" dirty="0">
                <a:solidFill>
                  <a:prstClr val="black"/>
                </a:solidFill>
              </a:endParaRPr>
            </a:p>
          </p:txBody>
        </p:sp>
        <p:sp>
          <p:nvSpPr>
            <p:cNvPr id="19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89391"/>
              <a:ext cx="307777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청구금액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확정구분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세액여부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작성일자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청구일자</a:t>
              </a:r>
              <a:endParaRPr lang="en-US" altLang="ko-KR" sz="600" dirty="0" smtClean="0">
                <a:latin typeface="+mn-ea"/>
              </a:endParaRPr>
            </a:p>
          </p:txBody>
        </p:sp>
        <p:sp>
          <p:nvSpPr>
            <p:cNvPr id="19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4574" y="3082030"/>
              <a:ext cx="657231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-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2025-10-15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2025-11-20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95" name="모서리가 둥근 직사각형 194"/>
            <p:cNvSpPr/>
            <p:nvPr/>
          </p:nvSpPr>
          <p:spPr>
            <a:xfrm>
              <a:off x="778516" y="2610063"/>
              <a:ext cx="480073" cy="12997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>
                  <a:solidFill>
                    <a:schemeClr val="dk1"/>
                  </a:solidFill>
                </a:rPr>
                <a:t>진행중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314962"/>
            <a:ext cx="76863" cy="292489"/>
            <a:chOff x="3750067" y="4683795"/>
            <a:chExt cx="76863" cy="292489"/>
          </a:xfrm>
        </p:grpSpPr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3893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46715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2025 000 000 - 01</a:t>
            </a:r>
          </a:p>
          <a:p>
            <a:r>
              <a:rPr lang="ko-KR" altLang="en-US" sz="900" b="1" dirty="0" smtClean="0"/>
              <a:t>변속기 부품 계약의 건</a:t>
            </a:r>
            <a:endParaRPr lang="ko-KR" altLang="en-US" sz="900" b="1" dirty="0"/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593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4507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2771812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 smtClean="0">
                <a:solidFill>
                  <a:srgbClr val="0070C0"/>
                </a:solidFill>
                <a:latin typeface="+mn-ea"/>
              </a:rPr>
              <a:t>3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구분</a:t>
            </a:r>
          </a:p>
        </p:txBody>
      </p:sp>
      <p:sp>
        <p:nvSpPr>
          <p:cNvPr id="222" name="모서리가 둥근 직사각형 221"/>
          <p:cNvSpPr/>
          <p:nvPr/>
        </p:nvSpPr>
        <p:spPr>
          <a:xfrm>
            <a:off x="4608594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수정</a:t>
            </a:r>
          </a:p>
        </p:txBody>
      </p:sp>
      <p:sp>
        <p:nvSpPr>
          <p:cNvPr id="226" name="모서리가 둥근 직사각형 225"/>
          <p:cNvSpPr/>
          <p:nvPr/>
        </p:nvSpPr>
        <p:spPr>
          <a:xfrm>
            <a:off x="431316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일반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228" name="모서리가 둥근 직사각형 227"/>
          <p:cNvSpPr/>
          <p:nvPr/>
        </p:nvSpPr>
        <p:spPr>
          <a:xfrm>
            <a:off x="4318634" y="2877159"/>
            <a:ext cx="475615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국세청승인</a:t>
            </a:r>
            <a:endParaRPr lang="ko-KR" altLang="en-US" sz="6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진행상태</a:t>
            </a:r>
          </a:p>
        </p:txBody>
      </p:sp>
      <p:sp>
        <p:nvSpPr>
          <p:cNvPr id="230" name="모서리가 둥근 직사각형 229"/>
          <p:cNvSpPr/>
          <p:nvPr/>
        </p:nvSpPr>
        <p:spPr>
          <a:xfrm>
            <a:off x="4840814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작성</a:t>
            </a:r>
            <a:endParaRPr lang="ko-KR" altLang="en-US" sz="600" dirty="0"/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5130857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저장</a:t>
            </a:r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5099260" y="3209690"/>
            <a:ext cx="57287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공급가액 변동</a:t>
            </a: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4318635" y="3209690"/>
            <a:ext cx="72644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기재사항 </a:t>
            </a:r>
            <a:r>
              <a:rPr lang="ko-KR" altLang="en-US" sz="600" dirty="0" err="1"/>
              <a:t>착오정정</a:t>
            </a:r>
            <a:endParaRPr lang="ko-KR" altLang="en-US" sz="6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552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수정사유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5" name="모서리가 둥근 직사각형 234"/>
          <p:cNvSpPr/>
          <p:nvPr/>
        </p:nvSpPr>
        <p:spPr>
          <a:xfrm>
            <a:off x="6023985" y="3209690"/>
            <a:ext cx="51229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계약의 해제</a:t>
            </a:r>
          </a:p>
        </p:txBody>
      </p:sp>
      <p:sp>
        <p:nvSpPr>
          <p:cNvPr id="236" name="모서리가 둥근 직사각형 235"/>
          <p:cNvSpPr/>
          <p:nvPr/>
        </p:nvSpPr>
        <p:spPr>
          <a:xfrm>
            <a:off x="5726322" y="320969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rPr>
              <a:t>환입</a:t>
            </a:r>
            <a:endParaRPr lang="ko-KR" altLang="en-US" sz="600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542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7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13209" y="3646309"/>
            <a:ext cx="30777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통지번호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합격일자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납품일자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납품금액</a:t>
            </a:r>
            <a:endParaRPr lang="en-US" altLang="ko-KR" sz="600" dirty="0" smtClean="0">
              <a:latin typeface="+mn-ea"/>
            </a:endParaRPr>
          </a:p>
        </p:txBody>
      </p:sp>
      <p:sp>
        <p:nvSpPr>
          <p:cNvPr id="58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4471311" y="3638948"/>
            <a:ext cx="65723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000,000,000,000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2025-10-15</a:t>
            </a:r>
          </a:p>
          <a:p>
            <a:pPr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2025-11-20</a:t>
            </a: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000,000,000,000 </a:t>
            </a:r>
            <a:r>
              <a:rPr lang="ko-KR" altLang="en-US" sz="600" dirty="0" smtClean="0">
                <a:latin typeface="+mn-ea"/>
              </a:rPr>
              <a:t>원</a:t>
            </a:r>
            <a:endParaRPr lang="ko-KR" altLang="en-US" sz="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4628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08474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대금청구통합목록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dmt_PymtClmIntgSrch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2078900"/>
            <a:ext cx="26647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ctrtBgngYmd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-mm-dd((From-To))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02136"/>
              </p:ext>
            </p:extLst>
          </p:nvPr>
        </p:nvGraphicFramePr>
        <p:xfrm>
          <a:off x="452999" y="2301691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bidMthdNm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jntCtrtCdNm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하도급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주계약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DB6E65A-2A9E-428A-5B6F-2D9A70A8AC9B}"/>
              </a:ext>
            </a:extLst>
          </p:cNvPr>
          <p:cNvSpPr txBox="1"/>
          <p:nvPr/>
        </p:nvSpPr>
        <p:spPr>
          <a:xfrm>
            <a:off x="458117" y="4308312"/>
            <a:ext cx="322901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 신청목록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dlt_pymtClmAplyList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AFEE4E0-F73E-BA2F-1662-ED68211F1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541300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92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330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0053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807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bidMthdNm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18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jntCtrtCdNm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하도급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주계약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C6556DB-F5FC-C865-D984-44E8158CA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31434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835762"/>
              </p:ext>
            </p:extLst>
          </p:nvPr>
        </p:nvGraphicFramePr>
        <p:xfrm>
          <a:off x="453000" y="1041145"/>
          <a:ext cx="8995591" cy="2626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계약일자를 현재일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– M,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현재일로 기본 값 설정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업무구분은 전체로 설정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조회조건에 해당하는 결과를 대금청구목록 그리드에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018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대금청구안내문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scwin.btn_pymtClmGdntc_onclick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안내문을 팝업으로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(MUI-WM-01-P09)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대금청구안내문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62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err="1" smtClean="0"/>
                        <a:t>대금청구</a:t>
                      </a:r>
                      <a:r>
                        <a:rPr lang="ko-KR" altLang="en-US" sz="800" dirty="0" smtClean="0"/>
                        <a:t> </a:t>
                      </a:r>
                      <a:r>
                        <a:rPr lang="ko-KR" altLang="en-US" sz="800" dirty="0" err="1" smtClean="0"/>
                        <a:t>카드목록</a:t>
                      </a:r>
                      <a:r>
                        <a:rPr lang="ko-KR" altLang="en-US" sz="800" dirty="0" smtClean="0"/>
                        <a:t> 클릭 이벤트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latin typeface="+mn-ea"/>
                          <a:ea typeface="+mn-ea"/>
                        </a:rPr>
                        <a:t>scwin.btn_pymtClmMdfcnSbmsn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_</a:t>
                      </a:r>
                      <a:r>
                        <a:rPr lang="en-US" altLang="ko-KR" sz="800" dirty="0" err="1" smtClean="0">
                          <a:latin typeface="+mn-ea"/>
                          <a:ea typeface="+mn-ea"/>
                        </a:rPr>
                        <a:t>onclick</a:t>
                      </a:r>
                      <a:endParaRPr lang="ko-KR" altLang="en-US" sz="800" dirty="0" smtClean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대금청구신청목록을 호출한다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 smtClean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(MUI-WM-01-P13) 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대금청구신청목록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926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대금청구신청목록 카드 </a:t>
                      </a:r>
                      <a:r>
                        <a:rPr lang="ko-KR" altLang="en-US" sz="800" dirty="0"/>
                        <a:t>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latin typeface="+mn-ea"/>
                          <a:ea typeface="+mn-ea"/>
                        </a:rPr>
                        <a:t>scwin.btn_pymtClmMdfcnAplyDtl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상세화면을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(MUI-WM-01-M02)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선금신청서상세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(MUI-WM-01-M03)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착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중도금신청서상세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(MUI-WM-01-M05)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대금청구상세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중앙조달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(MUI-WM-01-M06)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대금청구상세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부대조달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(MUI-WM-01-M07)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대금청구상세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공사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(MUI-WM-01-M08)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대금청구상세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기성대가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(MUI-WM-01-M13)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사후정산청구상세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755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8B7293-4AE2-DAA5-5A01-3613EC5D2D28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6C2B2374-305A-4B28-5E32-57F40AE40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3745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타이틀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레이블이 화면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 넘치는 경우 드래그하여 확인 가능 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문서 정보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en-US" altLang="ko-KR" sz="800" dirty="0"/>
              <a:t>, 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노출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전체노출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노출시</a:t>
            </a:r>
            <a:r>
              <a:rPr lang="ko-KR" altLang="en-US" sz="800" dirty="0"/>
              <a:t> 해당 라인을 넘어가면 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1-3] </a:t>
            </a:r>
            <a:r>
              <a:rPr lang="ko-KR" altLang="en-US" sz="800" dirty="0"/>
              <a:t>문서 제목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제목은 </a:t>
            </a:r>
            <a:r>
              <a:rPr lang="en-US" altLang="ko-KR" sz="800" dirty="0"/>
              <a:t>2</a:t>
            </a:r>
            <a:r>
              <a:rPr lang="ko-KR" altLang="en-US" sz="800" dirty="0"/>
              <a:t>줄 까지 노출 이후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기본값 </a:t>
            </a:r>
            <a:r>
              <a:rPr lang="en-US" altLang="ko-KR" sz="800" dirty="0"/>
              <a:t>: </a:t>
            </a:r>
            <a:r>
              <a:rPr lang="ko-KR" altLang="en-US" sz="800" dirty="0"/>
              <a:t>접힘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확장하여 정보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</a:t>
            </a: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내역이 있는 경우 만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탭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 smtClean="0"/>
              <a:t>신청정보</a:t>
            </a:r>
            <a:r>
              <a:rPr lang="ko-KR" altLang="en-US" sz="800" dirty="0" smtClean="0"/>
              <a:t> </a:t>
            </a:r>
            <a:r>
              <a:rPr lang="en-US" altLang="ko-KR" sz="800" dirty="0"/>
              <a:t>Tab</a:t>
            </a:r>
            <a:r>
              <a:rPr lang="ko-KR" altLang="en-US" sz="800" dirty="0"/>
              <a:t>은 진입 시 고정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탭 내용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 err="1" smtClean="0"/>
              <a:t>신청정보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세부 </a:t>
            </a:r>
            <a:r>
              <a:rPr lang="ko-KR" altLang="en-US" sz="800" dirty="0" err="1" smtClean="0"/>
              <a:t>신청내역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진행상태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로그인 필요 서비스 안내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화면을 </a:t>
            </a:r>
            <a:r>
              <a:rPr lang="ko-KR" altLang="en-US" sz="800" dirty="0" err="1"/>
              <a:t>넘치는경우</a:t>
            </a:r>
            <a:r>
              <a:rPr lang="ko-KR" altLang="en-US" sz="800" dirty="0"/>
              <a:t> 드래그하여 확인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신청 </a:t>
            </a:r>
            <a:r>
              <a:rPr lang="ko-KR" altLang="en-US" sz="800" dirty="0"/>
              <a:t>정보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각 공고에 맞춰 폼 변화에 유의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상세내용에</a:t>
            </a:r>
            <a:r>
              <a:rPr lang="ko-KR" altLang="en-US" sz="800" dirty="0"/>
              <a:t> 포함된 정보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기본값은 상단 이동 버튼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/>
              <a:t>현 상세내용 탭에서는 </a:t>
            </a:r>
            <a:endParaRPr lang="en-US" altLang="ko-KR" sz="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선금신청서상세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선금신청서상세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142235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5010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0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164040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22077" y="1640406"/>
            <a:ext cx="59046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01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1602283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5370" y="504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1" name="모서리가 둥근 직사각형 250"/>
          <p:cNvSpPr/>
          <p:nvPr/>
        </p:nvSpPr>
        <p:spPr>
          <a:xfrm>
            <a:off x="1516736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grpSp>
        <p:nvGrpSpPr>
          <p:cNvPr id="9" name="그룹 8"/>
          <p:cNvGrpSpPr/>
          <p:nvPr/>
        </p:nvGrpSpPr>
        <p:grpSpPr>
          <a:xfrm>
            <a:off x="3796091" y="3551651"/>
            <a:ext cx="2712027" cy="830059"/>
            <a:chOff x="3796091" y="4161857"/>
            <a:chExt cx="2712027" cy="830059"/>
          </a:xfrm>
        </p:grpSpPr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304" name="그룹 303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305" name="직선 연결선 3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6" name="직선 연결선 3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1" name="모서리가 둥근 직사각형 310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1930185"/>
            <a:ext cx="2630093" cy="1551225"/>
            <a:chOff x="3836701" y="2575831"/>
            <a:chExt cx="2630093" cy="1551225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600147"/>
            <a:chOff x="720490" y="4465173"/>
            <a:chExt cx="2630093" cy="160014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신청금액 </a:t>
              </a:r>
              <a:r>
                <a:rPr lang="en-US" altLang="ko-KR" sz="700" dirty="0" smtClean="0">
                  <a:latin typeface="+mn-ea"/>
                </a:rPr>
                <a:t>(</a:t>
              </a:r>
              <a:r>
                <a:rPr lang="ko-KR" altLang="en-US" sz="700" dirty="0" smtClean="0">
                  <a:latin typeface="+mn-ea"/>
                </a:rPr>
                <a:t>일금</a:t>
              </a:r>
              <a:r>
                <a:rPr lang="en-US" altLang="ko-KR" sz="700" dirty="0" smtClean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지출원인금액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51" name="그룹 15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152" name="직선 연결선 15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55" name="타원 154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62" name="직선 연결선 16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4" name="그룹 163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65" name="직선 연결선 1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7" name="타원 16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73" name="타원 172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7" name="타원 176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0" name="그룹 179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1" name="타원 18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85" name="그룹 18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87" name="직선 연결선 18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2" name="직사각형 181"/>
          <p:cNvSpPr/>
          <p:nvPr/>
        </p:nvSpPr>
        <p:spPr>
          <a:xfrm>
            <a:off x="7053988" y="5956663"/>
            <a:ext cx="2349581" cy="259128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>
                <a:solidFill>
                  <a:schemeClr val="bg1"/>
                </a:solidFill>
              </a:rPr>
              <a:t>0701]</a:t>
            </a:r>
          </a:p>
          <a:p>
            <a:r>
              <a:rPr lang="ko-KR" altLang="en-US" sz="500" dirty="0" smtClean="0">
                <a:solidFill>
                  <a:schemeClr val="bg1"/>
                </a:solidFill>
              </a:rPr>
              <a:t>일금 누락</a:t>
            </a:r>
            <a:endParaRPr lang="en-US" altLang="ko-KR" sz="500" dirty="0" smtClean="0">
              <a:solidFill>
                <a:schemeClr val="bg1"/>
              </a:solidFill>
            </a:endParaRPr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18" name="타원 21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58181" y="23796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220" name="타원 2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801660" y="4142235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지급상태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918716" y="1639721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지급상태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82464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선금신청서</a:t>
            </a:r>
            <a:r>
              <a:rPr lang="ko-KR" altLang="en-US" dirty="0"/>
              <a:t> 차수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신청금액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계약내용 데이터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공급자 정보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신청정보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선금신청서상세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675399" y="4899940"/>
            <a:ext cx="2712027" cy="830059"/>
            <a:chOff x="3796091" y="4161857"/>
            <a:chExt cx="2712027" cy="830059"/>
          </a:xfrm>
        </p:grpSpPr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5" name="모서리가 둥근 직사각형 104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716366" y="3243034"/>
            <a:ext cx="2630093" cy="1586665"/>
            <a:chOff x="3836701" y="2540391"/>
            <a:chExt cx="2630093" cy="1586665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1" y="2540391"/>
              <a:ext cx="139170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0" name="그룹 129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3" name="그룹 132"/>
          <p:cNvGrpSpPr/>
          <p:nvPr/>
        </p:nvGrpSpPr>
        <p:grpSpPr>
          <a:xfrm>
            <a:off x="716366" y="1528651"/>
            <a:ext cx="2630093" cy="1600147"/>
            <a:chOff x="720490" y="4465173"/>
            <a:chExt cx="2630093" cy="1600147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신청금액 </a:t>
              </a:r>
              <a:r>
                <a:rPr lang="en-US" altLang="ko-KR" sz="700" dirty="0" smtClean="0">
                  <a:latin typeface="+mn-ea"/>
                </a:rPr>
                <a:t>(</a:t>
              </a:r>
              <a:r>
                <a:rPr lang="ko-KR" altLang="en-US" sz="700" dirty="0" smtClean="0">
                  <a:latin typeface="+mn-ea"/>
                </a:rPr>
                <a:t>일금</a:t>
              </a:r>
              <a:r>
                <a:rPr lang="en-US" altLang="ko-KR" sz="700" dirty="0" smtClean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지출원인금액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0227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3197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9660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54812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세부 </a:t>
            </a:r>
            <a:r>
              <a:rPr lang="ko-KR" altLang="en-US" dirty="0" err="1">
                <a:latin typeface="+mn-ea"/>
              </a:rPr>
              <a:t>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선금신청서상세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세부신청내역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038797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기사용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사용예정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신청금액의</a:t>
              </a:r>
              <a:r>
                <a:rPr lang="ko-KR" altLang="en-US" sz="700" dirty="0">
                  <a:latin typeface="+mn-ea"/>
                </a:rPr>
                <a:t> 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1782724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수입 재료비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716366" y="3413051"/>
            <a:ext cx="2630093" cy="1548736"/>
            <a:chOff x="716366" y="3441403"/>
            <a:chExt cx="2630093" cy="1548736"/>
          </a:xfrm>
        </p:grpSpPr>
        <p:grpSp>
          <p:nvGrpSpPr>
            <p:cNvPr id="53" name="그룹 52"/>
            <p:cNvGrpSpPr/>
            <p:nvPr/>
          </p:nvGrpSpPr>
          <p:grpSpPr>
            <a:xfrm>
              <a:off x="716366" y="3697476"/>
              <a:ext cx="2630093" cy="1292663"/>
              <a:chOff x="3865118" y="2946203"/>
              <a:chExt cx="2630093" cy="1292663"/>
            </a:xfrm>
          </p:grpSpPr>
          <p:sp>
            <p:nvSpPr>
              <p:cNvPr id="54" name="직사각형 53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3363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국내 재료비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재료비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직접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3836701" y="4784969"/>
            <a:ext cx="2630093" cy="1548736"/>
            <a:chOff x="3795734" y="3441403"/>
            <a:chExt cx="2630093" cy="1548736"/>
          </a:xfrm>
        </p:grpSpPr>
        <p:grpSp>
          <p:nvGrpSpPr>
            <p:cNvPr id="93" name="그룹 92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95" name="직사각형 94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간접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3525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세부 </a:t>
            </a:r>
            <a:r>
              <a:rPr lang="ko-KR" altLang="en-US" dirty="0" err="1">
                <a:latin typeface="+mn-ea"/>
              </a:rPr>
              <a:t>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선금신청서상세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716366" y="1527996"/>
            <a:ext cx="2630093" cy="1548736"/>
            <a:chOff x="3795734" y="3441403"/>
            <a:chExt cx="2630093" cy="1548736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직접 경비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716366" y="3154214"/>
            <a:ext cx="2630093" cy="1548736"/>
            <a:chOff x="3795734" y="3441403"/>
            <a:chExt cx="2630093" cy="15487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경비</a:t>
              </a: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716366" y="4784969"/>
            <a:ext cx="2630093" cy="1548736"/>
            <a:chOff x="3795734" y="3441403"/>
            <a:chExt cx="2630093" cy="1548736"/>
          </a:xfrm>
        </p:grpSpPr>
        <p:grpSp>
          <p:nvGrpSpPr>
            <p:cNvPr id="135" name="그룹 134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37" name="직사각형 136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일반 관리비</a:t>
              </a: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6327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20978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선금신청서 차수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dmt_prpayApfrCyclInfo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1817648"/>
            <a:ext cx="23970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계약내용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dmndDt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61466" y="2049148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092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36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mainBizCn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DCD4A05-B1B2-6704-0345-7056CB08D3D5}"/>
              </a:ext>
            </a:extLst>
          </p:cNvPr>
          <p:cNvSpPr txBox="1"/>
          <p:nvPr/>
        </p:nvSpPr>
        <p:spPr>
          <a:xfrm>
            <a:off x="458117" y="3466653"/>
            <a:ext cx="252529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신청금액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F33B436-336A-B501-0BE2-1B19942B1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111180"/>
              </p:ext>
            </p:extLst>
          </p:nvPr>
        </p:nvGraphicFramePr>
        <p:xfrm>
          <a:off x="452999" y="3698153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지출원인금액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지출원인금액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수정화면에서만 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F6F026C-B651-7520-0A7A-01E73FC938FC}"/>
              </a:ext>
            </a:extLst>
          </p:cNvPr>
          <p:cNvSpPr txBox="1"/>
          <p:nvPr/>
        </p:nvSpPr>
        <p:spPr>
          <a:xfrm>
            <a:off x="458117" y="4326026"/>
            <a:ext cx="26038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신청내역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dmt_aplyDsctnInfo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7EE4C8C-1596-E135-E8B4-EB82C0699BF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557526"/>
          <a:ext cx="8994883" cy="1601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prpayAplyDsctnAmtSeNm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금액구분명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컬럼별로 분리되어 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대상금액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895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기사용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arusAplyAmt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550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사용예정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usePrnmntAplyAmt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사용예정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657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aplySumAmt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신청금액과 사용예정 신청금액의 합계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신청금액의 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aplyAmtRt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신청금액의 비율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*100(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화면에서 계산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449522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5FFE7C35-2362-9481-0F6A-DA2217795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9633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146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공급자 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wrtrJbttlNm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EF13B1B-9846-067B-08DD-AB98FCEB3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C33E4-E4DC-F17B-082F-B9C39DF76C95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2558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F0E94EC-9BAC-208C-9C16-356647B1F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512735"/>
              </p:ext>
            </p:extLst>
          </p:nvPr>
        </p:nvGraphicFramePr>
        <p:xfrm>
          <a:off x="453000" y="1049851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차수정보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계약정보 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전자서명 검증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scwin.btn_elsgnVrfc_onclick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 검증 팝업을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scwin.btn_print_onclick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증명서 출력 팝업을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(UI-WM-01-P30)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증명서출력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4710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E4A288-7AB3-FB2A-21DF-A951B1303538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BC2CA564-7302-5E8B-9DF2-1E1715C11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443920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 smtClean="0">
                <a:latin typeface="+mn-ea"/>
              </a:rPr>
              <a:t>중도금신청서상세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 smtClean="0">
                <a:latin typeface="+mn-ea"/>
              </a:rPr>
              <a:t>중도금신청서상세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142235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50103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01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16404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22077" y="1640408"/>
            <a:ext cx="59046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015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1602285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" name="그룹 8"/>
          <p:cNvGrpSpPr/>
          <p:nvPr/>
        </p:nvGrpSpPr>
        <p:grpSpPr>
          <a:xfrm>
            <a:off x="3796091" y="3551653"/>
            <a:ext cx="2712027" cy="830059"/>
            <a:chOff x="3796091" y="4161857"/>
            <a:chExt cx="2712027" cy="830059"/>
          </a:xfrm>
        </p:grpSpPr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304" name="그룹 303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305" name="직선 연결선 3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6" name="직선 연결선 3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1" name="모서리가 둥근 직사각형 310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1930187"/>
            <a:ext cx="2630093" cy="1551225"/>
            <a:chOff x="3836701" y="2575831"/>
            <a:chExt cx="2630093" cy="1551225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618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 err="1">
                  <a:latin typeface="+mn-ea"/>
                </a:rPr>
                <a:t>대상금액</a:t>
              </a:r>
              <a:r>
                <a:rPr lang="en-US" altLang="ko-KR" sz="600" dirty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최종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600369"/>
            <a:chOff x="720490" y="4465173"/>
            <a:chExt cx="2630093" cy="1600369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2926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</a:t>
              </a:r>
              <a:r>
                <a:rPr lang="ko-KR" altLang="en-US" sz="700" dirty="0" smtClean="0">
                  <a:latin typeface="+mn-ea"/>
                </a:rPr>
                <a:t>원정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착수금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55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1513040" y="2278058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grpSp>
        <p:nvGrpSpPr>
          <p:cNvPr id="156" name="그룹 155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63" name="그룹 162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2" name="직선 연결선 2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65" name="타원 164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7" name="그룹 166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0" name="직선 연결선 21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그룹 167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18" name="직선 연결선 21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9" name="타원 168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74" name="타원 173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8" name="타원 177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1" name="그룹 180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5" name="타원 18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87" name="그룹 186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6" name="직선 연결선 2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2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68023" y="1513670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판단번호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, 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판단번호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전체노출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/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신청정보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err="1" smtClean="0"/>
              <a:t>신청정보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세부 </a:t>
            </a:r>
            <a:r>
              <a:rPr lang="ko-KR" altLang="en-US" sz="800" dirty="0" err="1" smtClean="0"/>
              <a:t>신청내역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지급상태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신청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현 상세내용 탭에서는 </a:t>
            </a:r>
            <a:endParaRPr lang="en-US" altLang="ko-KR" sz="800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5370" y="504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58181" y="23796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801660" y="4142235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지급상태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67666" y="5831775"/>
            <a:ext cx="2323463" cy="1672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0703) </a:t>
            </a:r>
            <a:r>
              <a:rPr lang="ko-KR" altLang="en-US" sz="500" dirty="0" smtClean="0"/>
              <a:t>품명</a:t>
            </a:r>
            <a:r>
              <a:rPr lang="en-US" altLang="ko-KR" sz="500" dirty="0" smtClean="0"/>
              <a:t>,</a:t>
            </a:r>
            <a:r>
              <a:rPr lang="ko-KR" altLang="en-US" sz="500" dirty="0" smtClean="0"/>
              <a:t>일금 </a:t>
            </a:r>
            <a:r>
              <a:rPr lang="en-US" altLang="ko-KR" sz="500" dirty="0" smtClean="0"/>
              <a:t>,</a:t>
            </a:r>
            <a:r>
              <a:rPr lang="ko-KR" altLang="en-US" sz="500" dirty="0" smtClean="0"/>
              <a:t>구분</a:t>
            </a:r>
            <a:r>
              <a:rPr lang="en-US" altLang="ko-KR" sz="500" dirty="0" smtClean="0"/>
              <a:t>,</a:t>
            </a:r>
            <a:r>
              <a:rPr lang="ko-KR" altLang="en-US" sz="500" dirty="0">
                <a:latin typeface="+mn-ea"/>
              </a:rPr>
              <a:t> 승인된 전 차수 </a:t>
            </a:r>
            <a:r>
              <a:rPr lang="ko-KR" altLang="en-US" sz="500" dirty="0" err="1">
                <a:latin typeface="+mn-ea"/>
              </a:rPr>
              <a:t>수령금액의</a:t>
            </a:r>
            <a:r>
              <a:rPr lang="ko-KR" altLang="en-US" sz="500" dirty="0">
                <a:latin typeface="+mn-ea"/>
              </a:rPr>
              <a:t> </a:t>
            </a:r>
            <a:r>
              <a:rPr lang="ko-KR" altLang="en-US" sz="500" dirty="0" smtClean="0">
                <a:latin typeface="+mn-ea"/>
              </a:rPr>
              <a:t>합계</a:t>
            </a:r>
            <a:r>
              <a:rPr lang="en-US" altLang="ko-KR" sz="500" dirty="0" smtClean="0">
                <a:latin typeface="+mn-ea"/>
              </a:rPr>
              <a:t>,</a:t>
            </a:r>
            <a:r>
              <a:rPr lang="ko-KR" altLang="en-US" sz="500" dirty="0">
                <a:latin typeface="+mn-ea"/>
              </a:rPr>
              <a:t> </a:t>
            </a:r>
            <a:r>
              <a:rPr lang="ko-KR" altLang="en-US" sz="500" dirty="0" err="1">
                <a:latin typeface="+mn-ea"/>
              </a:rPr>
              <a:t>신청금액의</a:t>
            </a:r>
            <a:r>
              <a:rPr lang="ko-KR" altLang="en-US" sz="500" dirty="0">
                <a:latin typeface="+mn-ea"/>
              </a:rPr>
              <a:t> </a:t>
            </a:r>
            <a:r>
              <a:rPr lang="ko-KR" altLang="en-US" sz="500" dirty="0" smtClean="0">
                <a:latin typeface="+mn-ea"/>
              </a:rPr>
              <a:t>비율</a:t>
            </a:r>
            <a:r>
              <a:rPr lang="en-US" altLang="ko-KR" sz="500" dirty="0" smtClean="0"/>
              <a:t> </a:t>
            </a:r>
            <a:endParaRPr lang="ko-KR" altLang="en-US" sz="500" dirty="0"/>
          </a:p>
        </p:txBody>
      </p:sp>
      <p:sp>
        <p:nvSpPr>
          <p:cNvPr id="154" name="직사각형 153"/>
          <p:cNvSpPr/>
          <p:nvPr/>
        </p:nvSpPr>
        <p:spPr>
          <a:xfrm>
            <a:off x="7067666" y="6021206"/>
            <a:ext cx="2300641" cy="1601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032491" y="1640408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지급상태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0755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선금신청서</a:t>
            </a:r>
            <a:r>
              <a:rPr lang="ko-KR" altLang="en-US" dirty="0"/>
              <a:t> 차수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신청금액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계약내용 데이터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공급자 정보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신청정보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772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675399" y="5300535"/>
            <a:ext cx="2712027" cy="830059"/>
            <a:chOff x="3796091" y="4161857"/>
            <a:chExt cx="2712027" cy="830059"/>
          </a:xfrm>
        </p:grpSpPr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5" name="모서리가 둥근 직사각형 104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716366" y="3643629"/>
            <a:ext cx="2630093" cy="1586665"/>
            <a:chOff x="3836701" y="2540391"/>
            <a:chExt cx="2630093" cy="1586665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1" y="2540391"/>
              <a:ext cx="139170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275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 err="1">
                  <a:latin typeface="+mn-ea"/>
                </a:rPr>
                <a:t>대상금액</a:t>
              </a:r>
              <a:r>
                <a:rPr lang="en-US" altLang="ko-KR" sz="600" dirty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최종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0" name="그룹 129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3" name="그룹 132"/>
          <p:cNvGrpSpPr/>
          <p:nvPr/>
        </p:nvGrpSpPr>
        <p:grpSpPr>
          <a:xfrm>
            <a:off x="716366" y="1929246"/>
            <a:ext cx="2630093" cy="1600147"/>
            <a:chOff x="720490" y="4465173"/>
            <a:chExt cx="2630093" cy="1600147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0287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036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36663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80565" y="3361888"/>
            <a:ext cx="26930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착수금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10858" y="1501035"/>
            <a:ext cx="2712027" cy="355980"/>
            <a:chOff x="3795734" y="1501035"/>
            <a:chExt cx="2712027" cy="355980"/>
          </a:xfrm>
        </p:grpSpPr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035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0408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신청정보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22077" y="1640408"/>
              <a:ext cx="59046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세부 </a:t>
              </a:r>
              <a:r>
                <a:rPr lang="ko-KR" altLang="en-US" sz="700" dirty="0" err="1">
                  <a:latin typeface="+mn-ea"/>
                </a:rPr>
                <a:t>신청내역</a:t>
              </a:r>
              <a:endParaRPr lang="ko-KR" altLang="en-US" sz="700" dirty="0">
                <a:latin typeface="+mn-ea"/>
              </a:endParaRPr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2" name="그룹 61"/>
            <p:cNvGrpSpPr/>
            <p:nvPr/>
          </p:nvGrpSpPr>
          <p:grpSpPr>
            <a:xfrm>
              <a:off x="6027618" y="1602285"/>
              <a:ext cx="422853" cy="187961"/>
              <a:chOff x="3641308" y="2234886"/>
              <a:chExt cx="422853" cy="187961"/>
            </a:xfrm>
          </p:grpSpPr>
          <p:sp>
            <p:nvSpPr>
              <p:cNvPr id="63" name="타원 6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4" name="그룹 63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9" name="직선 연결선 6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직선 연결선 6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5" name="타원 6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6" name="그룹 65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7" name="직선 연결선 6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직선 연결선 67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032491" y="1640408"/>
              <a:ext cx="58899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1767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세부신청내역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03364" y="1922681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433482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기사용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사용예정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신청금액의</a:t>
              </a:r>
              <a:r>
                <a:rPr lang="ko-KR" altLang="en-US" sz="700" dirty="0">
                  <a:latin typeface="+mn-ea"/>
                </a:rPr>
                <a:t> 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71328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2177409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수입 재료비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716366" y="3807736"/>
            <a:ext cx="2630093" cy="1548736"/>
            <a:chOff x="716366" y="3441403"/>
            <a:chExt cx="2630093" cy="1548736"/>
          </a:xfrm>
        </p:grpSpPr>
        <p:grpSp>
          <p:nvGrpSpPr>
            <p:cNvPr id="53" name="그룹 52"/>
            <p:cNvGrpSpPr/>
            <p:nvPr/>
          </p:nvGrpSpPr>
          <p:grpSpPr>
            <a:xfrm>
              <a:off x="716366" y="3697476"/>
              <a:ext cx="2630093" cy="1292663"/>
              <a:chOff x="3865118" y="2946203"/>
              <a:chExt cx="2630093" cy="1292663"/>
            </a:xfrm>
          </p:grpSpPr>
          <p:sp>
            <p:nvSpPr>
              <p:cNvPr id="54" name="직사각형 53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3363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국내 재료비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836701" y="1922681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재료비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548899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직접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3836701" y="5179654"/>
            <a:ext cx="2630093" cy="1548736"/>
            <a:chOff x="3795734" y="3441403"/>
            <a:chExt cx="2630093" cy="1548736"/>
          </a:xfrm>
        </p:grpSpPr>
        <p:grpSp>
          <p:nvGrpSpPr>
            <p:cNvPr id="93" name="그룹 92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95" name="직사각형 94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간접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710858" y="1501035"/>
            <a:ext cx="2712027" cy="355980"/>
            <a:chOff x="3795734" y="1501035"/>
            <a:chExt cx="2712027" cy="355980"/>
          </a:xfrm>
        </p:grpSpPr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035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0408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22077" y="1640408"/>
              <a:ext cx="59046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세부 </a:t>
              </a:r>
              <a:r>
                <a:rPr lang="ko-KR" altLang="en-US" sz="700" b="1" dirty="0" err="1">
                  <a:latin typeface="+mn-ea"/>
                </a:rPr>
                <a:t>신청내역</a:t>
              </a:r>
              <a:endParaRPr lang="ko-KR" altLang="en-US" sz="700" b="1" dirty="0">
                <a:latin typeface="+mn-ea"/>
              </a:endParaRPr>
            </a:p>
          </p:txBody>
        </p: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4322077" y="1857015"/>
              <a:ext cx="590461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1" name="그룹 110"/>
            <p:cNvGrpSpPr/>
            <p:nvPr/>
          </p:nvGrpSpPr>
          <p:grpSpPr>
            <a:xfrm>
              <a:off x="6027618" y="1602285"/>
              <a:ext cx="422853" cy="187961"/>
              <a:chOff x="3641308" y="2234886"/>
              <a:chExt cx="422853" cy="187961"/>
            </a:xfrm>
          </p:grpSpPr>
          <p:sp>
            <p:nvSpPr>
              <p:cNvPr id="114" name="타원 113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5" name="그룹 114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20" name="직선 연결선 119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직선 연결선 120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타원 115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7" name="그룹 116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18" name="직선 연결선 117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직선 연결선 118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032491" y="1640408"/>
              <a:ext cx="58899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3836701" y="1501035"/>
            <a:ext cx="2712027" cy="355980"/>
            <a:chOff x="3795734" y="1501035"/>
            <a:chExt cx="2712027" cy="355980"/>
          </a:xfrm>
        </p:grpSpPr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035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0408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22077" y="1640408"/>
              <a:ext cx="59046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세부 </a:t>
              </a:r>
              <a:r>
                <a:rPr lang="ko-KR" altLang="en-US" sz="700" b="1" dirty="0" err="1">
                  <a:latin typeface="+mn-ea"/>
                </a:rPr>
                <a:t>신청내역</a:t>
              </a:r>
              <a:endParaRPr lang="ko-KR" altLang="en-US" sz="700" b="1" dirty="0">
                <a:latin typeface="+mn-ea"/>
              </a:endParaRPr>
            </a:p>
          </p:txBody>
        </p: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4322077" y="1857015"/>
              <a:ext cx="590461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28" name="그룹 127"/>
            <p:cNvGrpSpPr/>
            <p:nvPr/>
          </p:nvGrpSpPr>
          <p:grpSpPr>
            <a:xfrm>
              <a:off x="6027618" y="1602285"/>
              <a:ext cx="422853" cy="187961"/>
              <a:chOff x="3641308" y="2234886"/>
              <a:chExt cx="422853" cy="187961"/>
            </a:xfrm>
          </p:grpSpPr>
          <p:sp>
            <p:nvSpPr>
              <p:cNvPr id="132" name="타원 131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33" name="그룹 132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40" name="직선 연결선 139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직선 연결선 142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4" name="타원 133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35" name="그룹 13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36" name="직선 연결선 13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직선 연결선 13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032491" y="1640408"/>
              <a:ext cx="58899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28526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세부신청내역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1850022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476240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716366" y="1850022"/>
            <a:ext cx="2630093" cy="1548736"/>
            <a:chOff x="3795734" y="3441403"/>
            <a:chExt cx="2630093" cy="1548736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직접 경비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716366" y="3476240"/>
            <a:ext cx="2630093" cy="1548736"/>
            <a:chOff x="3795734" y="3441403"/>
            <a:chExt cx="2630093" cy="15487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경비</a:t>
              </a: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716366" y="5106995"/>
            <a:ext cx="2630093" cy="1548736"/>
            <a:chOff x="3795734" y="3441403"/>
            <a:chExt cx="2630093" cy="1548736"/>
          </a:xfrm>
        </p:grpSpPr>
        <p:grpSp>
          <p:nvGrpSpPr>
            <p:cNvPr id="135" name="그룹 134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37" name="직사각형 136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일반 관리비</a:t>
              </a: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92" name="그룹 91"/>
          <p:cNvGrpSpPr/>
          <p:nvPr/>
        </p:nvGrpSpPr>
        <p:grpSpPr>
          <a:xfrm>
            <a:off x="710858" y="1501035"/>
            <a:ext cx="2712027" cy="355980"/>
            <a:chOff x="3795734" y="1501035"/>
            <a:chExt cx="2712027" cy="355980"/>
          </a:xfrm>
        </p:grpSpPr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035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0408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22077" y="1640408"/>
              <a:ext cx="59046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세부 </a:t>
              </a:r>
              <a:r>
                <a:rPr lang="ko-KR" altLang="en-US" sz="700" b="1" dirty="0" err="1">
                  <a:latin typeface="+mn-ea"/>
                </a:rPr>
                <a:t>신청내역</a:t>
              </a:r>
              <a:endParaRPr lang="ko-KR" altLang="en-US" sz="700" b="1" dirty="0">
                <a:latin typeface="+mn-ea"/>
              </a:endParaRPr>
            </a:p>
          </p:txBody>
        </p: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4322077" y="1857015"/>
              <a:ext cx="590461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8" name="그룹 97"/>
            <p:cNvGrpSpPr/>
            <p:nvPr/>
          </p:nvGrpSpPr>
          <p:grpSpPr>
            <a:xfrm>
              <a:off x="6027618" y="1602285"/>
              <a:ext cx="422853" cy="187961"/>
              <a:chOff x="3641308" y="2234886"/>
              <a:chExt cx="422853" cy="187961"/>
            </a:xfrm>
          </p:grpSpPr>
          <p:sp>
            <p:nvSpPr>
              <p:cNvPr id="100" name="타원 99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1" name="그룹 100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29" name="직선 연결선 12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직선 연결선 130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타원 101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3" name="그룹 102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04" name="직선 연결선 103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직선 연결선 112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032491" y="1640408"/>
              <a:ext cx="58899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138" name="그룹 137"/>
          <p:cNvGrpSpPr/>
          <p:nvPr/>
        </p:nvGrpSpPr>
        <p:grpSpPr>
          <a:xfrm>
            <a:off x="3836701" y="1501035"/>
            <a:ext cx="2712027" cy="355980"/>
            <a:chOff x="3795734" y="1501035"/>
            <a:chExt cx="2712027" cy="355980"/>
          </a:xfrm>
        </p:grpSpPr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035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0408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22077" y="1640408"/>
              <a:ext cx="59046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세부 </a:t>
              </a:r>
              <a:r>
                <a:rPr lang="ko-KR" altLang="en-US" sz="700" b="1" dirty="0" err="1">
                  <a:latin typeface="+mn-ea"/>
                </a:rPr>
                <a:t>신청내역</a:t>
              </a:r>
              <a:endParaRPr lang="ko-KR" altLang="en-US" sz="700" b="1" dirty="0">
                <a:latin typeface="+mn-ea"/>
              </a:endParaRPr>
            </a:p>
          </p:txBody>
        </p: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4322077" y="1857015"/>
              <a:ext cx="590461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4" name="그룹 153"/>
            <p:cNvGrpSpPr/>
            <p:nvPr/>
          </p:nvGrpSpPr>
          <p:grpSpPr>
            <a:xfrm>
              <a:off x="6027618" y="1602285"/>
              <a:ext cx="422853" cy="187961"/>
              <a:chOff x="3641308" y="2234886"/>
              <a:chExt cx="422853" cy="187961"/>
            </a:xfrm>
          </p:grpSpPr>
          <p:sp>
            <p:nvSpPr>
              <p:cNvPr id="156" name="타원 155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7" name="그룹 156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62" name="직선 연결선 161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직선 연결선 162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8" name="타원 157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9" name="그룹 158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60" name="직선 연결선 159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직선 연결선 160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032491" y="1640408"/>
              <a:ext cx="58899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6665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3588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착</a:t>
            </a:r>
            <a:r>
              <a:rPr lang="ko-KR" altLang="en-US" sz="9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900" b="1" dirty="0">
                <a:solidFill>
                  <a:prstClr val="black"/>
                </a:solidFill>
              </a:rPr>
              <a:t> 중도금신청서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dmt_dpsmnItrpyApfrInfo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dmndDt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F784F8A-DE0A-31A1-3FBE-B085A42597A0}"/>
              </a:ext>
            </a:extLst>
          </p:cNvPr>
          <p:cNvSpPr txBox="1"/>
          <p:nvPr/>
        </p:nvSpPr>
        <p:spPr>
          <a:xfrm>
            <a:off x="458117" y="1914110"/>
            <a:ext cx="23970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계약내용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88BDE79-BF23-DB8C-B477-712120D11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487162"/>
              </p:ext>
            </p:extLst>
          </p:nvPr>
        </p:nvGraphicFramePr>
        <p:xfrm>
          <a:off x="452999" y="2125313"/>
          <a:ext cx="8994883" cy="18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006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dudtYmd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 ~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납기일을 최대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최소로 시작일과 종료일을 표기함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226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mainBizCn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2428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fravItrpySecd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+mn-ea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631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fravItrpySecd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중도금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+mn-ea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0467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B8630A2-8BAD-BA52-B8EB-F2B7E828C720}"/>
              </a:ext>
            </a:extLst>
          </p:cNvPr>
          <p:cNvSpPr txBox="1"/>
          <p:nvPr/>
        </p:nvSpPr>
        <p:spPr>
          <a:xfrm>
            <a:off x="458117" y="4055031"/>
            <a:ext cx="252529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9879A10-7D9E-200F-57E7-3CC23071A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692718"/>
              </p:ext>
            </p:extLst>
          </p:nvPr>
        </p:nvGraphicFramePr>
        <p:xfrm>
          <a:off x="452999" y="4266234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일금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ED3BEC8-5614-CD32-7841-0B599058EF8D}"/>
              </a:ext>
            </a:extLst>
          </p:cNvPr>
          <p:cNvSpPr txBox="1"/>
          <p:nvPr/>
        </p:nvSpPr>
        <p:spPr>
          <a:xfrm>
            <a:off x="458117" y="4687734"/>
            <a:ext cx="26038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신청내역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dmt_aplyDsctnInfo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971E247-38D3-E4B4-4CAC-4149A98E1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188985"/>
              </p:ext>
            </p:extLst>
          </p:nvPr>
        </p:nvGraphicFramePr>
        <p:xfrm>
          <a:off x="452999" y="4898937"/>
          <a:ext cx="8994883" cy="1529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dpsmnItrpyAplyDsctnSeNm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합계는 자동계산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컬럼별로 분리되어 있음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대상금액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525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신청금액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승인된 전 차수 수령금액의 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aplyStotAmt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승인된 전 차수 수령금액의 합계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합산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신청금액의 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aplyAmtRt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신청금액의 비율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)*100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51853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A07E09A-342C-A174-B633-4277DA610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03058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0186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공급자 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wrtrJbttlNm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188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269020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C2247987-57BA-439D-E6D0-F1A9DB86C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D5F5B-3B3B-60FA-DE22-5A8F752BB4BD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8509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5E7B1B2-38C6-7614-0180-1BCA2E21F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824838"/>
              </p:ext>
            </p:extLst>
          </p:nvPr>
        </p:nvGraphicFramePr>
        <p:xfrm>
          <a:off x="453000" y="1049844"/>
          <a:ext cx="8995591" cy="82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차수정보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계약정보 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증명서 출력 팝업 화면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(UI-WM-01-P30)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증명서출력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6391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BDED4E1-CEE0-2778-ED59-1E6C078C7501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DACD6C03-FC7A-E226-2943-55ABE7FC8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26438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선금신청서상세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착</a:t>
            </a:r>
            <a:r>
              <a:rPr lang="en-US" altLang="ko-KR" dirty="0" smtClean="0"/>
              <a:t>,</a:t>
            </a:r>
            <a:r>
              <a:rPr lang="ko-KR" altLang="en-US" dirty="0" smtClean="0"/>
              <a:t>중도금신청서상세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사후정산청구상세 각 화면에서 보여지는 </a:t>
            </a:r>
            <a:r>
              <a:rPr lang="ko-KR" altLang="en-US" dirty="0" err="1" smtClean="0"/>
              <a:t>지급상태</a:t>
            </a:r>
            <a:r>
              <a:rPr lang="ko-KR" altLang="en-US" dirty="0" smtClean="0"/>
              <a:t> 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지급상태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선금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 smtClean="0">
                <a:latin typeface="+mn-ea"/>
              </a:rPr>
              <a:t>중도금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사후정산신청서 상세 중 </a:t>
            </a:r>
            <a:r>
              <a:rPr lang="ko-KR" altLang="en-US" dirty="0" err="1">
                <a:latin typeface="+mn-ea"/>
              </a:rPr>
              <a:t>지급상태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/>
              <a:t>탭 화면 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MUI-WM-01-T23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105" name="그룹 104"/>
          <p:cNvGrpSpPr/>
          <p:nvPr/>
        </p:nvGrpSpPr>
        <p:grpSpPr>
          <a:xfrm>
            <a:off x="716366" y="1527996"/>
            <a:ext cx="2630093" cy="1342001"/>
            <a:chOff x="3795734" y="3441403"/>
            <a:chExt cx="2630093" cy="1342001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7"/>
              <a:ext cx="2630093" cy="1085927"/>
              <a:chOff x="3865118" y="2946204"/>
              <a:chExt cx="2630093" cy="1085927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5"/>
                <a:ext cx="792000" cy="10859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077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신청년도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계약번호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신청차수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신청금액 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진행상태</a:t>
                </a:r>
                <a:endParaRPr lang="en-US" altLang="ko-KR" sz="700" dirty="0" smtClean="0">
                  <a:latin typeface="+mn-ea"/>
                </a:endParaRP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89335" y="2946204"/>
                <a:ext cx="1644143" cy="1077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2025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20250000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01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10,000,000 </a:t>
                </a:r>
                <a:r>
                  <a:rPr lang="ko-KR" altLang="en-US" sz="700" dirty="0" smtClean="0">
                    <a:latin typeface="+mn-ea"/>
                  </a:rPr>
                  <a:t>원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진행중</a:t>
                </a:r>
                <a:endParaRPr lang="en-US" altLang="ko-KR" sz="700" dirty="0" smtClean="0">
                  <a:latin typeface="+mn-ea"/>
                </a:endParaRPr>
              </a:p>
            </p:txBody>
          </p: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3213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4" name="직사각형 23"/>
          <p:cNvSpPr/>
          <p:nvPr/>
        </p:nvSpPr>
        <p:spPr>
          <a:xfrm>
            <a:off x="7100725" y="6130834"/>
            <a:ext cx="2302845" cy="148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28322082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243232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진행상태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dlt_prgrsSttsList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신청년도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rqstYr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신청년도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expndStcd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EPDS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006116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6509AC63-573C-E312-A1CF-7408DD54E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12177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 smtClean="0">
                <a:latin typeface="+mn-ea"/>
              </a:rPr>
              <a:t>대금청구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168391" y="4142235"/>
            <a:ext cx="5005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공급자 정보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3150467" y="3992719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5016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6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1641060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667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84908" y="1526557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1930839"/>
            <a:ext cx="2630093" cy="1975134"/>
            <a:chOff x="3836701" y="2575831"/>
            <a:chExt cx="2630093" cy="1975134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169259"/>
            <a:chOff x="720490" y="4465173"/>
            <a:chExt cx="2630093" cy="1169259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8534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30313" y="4142235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367029" y="414223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74274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48" name="그룹 147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9" name="그룹 148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2" name="직선 연결선 2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51" name="타원 150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3" name="그룹 152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0" name="직선 연결선 21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그룹 153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18" name="직선 연결선 21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5" name="타원 154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62" name="타원 161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9" name="타원 178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5" name="그룹 184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7" name="타원 18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5" name="그룹 20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6" name="직선 연결선 2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2" name="TextBox 18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414223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5370" y="504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58181" y="23796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294737" y="1648387"/>
            <a:ext cx="5005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공급자 정보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856659" y="1648387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493375" y="1648387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009170" y="1648387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타이틀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레이블이 화면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 넘치는 경우 드래그하여 확인 가능 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문서 정보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en-US" altLang="ko-KR" sz="800" dirty="0"/>
              <a:t>, 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노출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전체노출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노출시</a:t>
            </a:r>
            <a:r>
              <a:rPr lang="ko-KR" altLang="en-US" sz="800" dirty="0"/>
              <a:t> 해당 라인을 넘어가면 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1-3] </a:t>
            </a:r>
            <a:r>
              <a:rPr lang="ko-KR" altLang="en-US" sz="800" dirty="0"/>
              <a:t>문서 제목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제목은 </a:t>
            </a:r>
            <a:r>
              <a:rPr lang="en-US" altLang="ko-KR" sz="800" dirty="0"/>
              <a:t>2</a:t>
            </a:r>
            <a:r>
              <a:rPr lang="ko-KR" altLang="en-US" sz="800" dirty="0"/>
              <a:t>줄 까지 노출 이후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기본값 </a:t>
            </a:r>
            <a:r>
              <a:rPr lang="en-US" altLang="ko-KR" sz="800" dirty="0"/>
              <a:t>: </a:t>
            </a:r>
            <a:r>
              <a:rPr lang="ko-KR" altLang="en-US" sz="800" dirty="0"/>
              <a:t>접힘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확장하여 정보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</a:t>
            </a: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내역이 있는 경우 만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탭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신청정보</a:t>
            </a:r>
            <a:r>
              <a:rPr lang="ko-KR" altLang="en-US" sz="800" dirty="0"/>
              <a:t> </a:t>
            </a:r>
            <a:r>
              <a:rPr lang="en-US" altLang="ko-KR" sz="800" dirty="0"/>
              <a:t>Tab</a:t>
            </a:r>
            <a:r>
              <a:rPr lang="ko-KR" altLang="en-US" sz="800" dirty="0"/>
              <a:t>은 진입 시 고정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탭 내용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 err="1" smtClean="0"/>
              <a:t>계약정보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공급자정보</a:t>
            </a:r>
            <a:r>
              <a:rPr lang="en-US" altLang="ko-KR" sz="800" dirty="0" smtClean="0"/>
              <a:t>,</a:t>
            </a:r>
            <a:r>
              <a:rPr lang="ko-KR" altLang="en-US" sz="800" dirty="0" smtClean="0"/>
              <a:t>대금신청금액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세금계산서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진행상태 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로그인 필요 서비스 안내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화면을 </a:t>
            </a:r>
            <a:r>
              <a:rPr lang="ko-KR" altLang="en-US" sz="800" dirty="0" err="1"/>
              <a:t>넘치는경우</a:t>
            </a:r>
            <a:r>
              <a:rPr lang="ko-KR" altLang="en-US" sz="800" dirty="0"/>
              <a:t> 드래그하여 확인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세금계산서인 경우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화면에서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세금계산서번호 선택 을 체크한 경우 노출</a:t>
            </a:r>
            <a:r>
              <a:rPr lang="en-US" altLang="ko-KR" sz="800" dirty="0" smtClean="0"/>
              <a:t>＂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신청 정보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각 공고에 맞춰 폼 변화에 유의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상세내용에</a:t>
            </a:r>
            <a:r>
              <a:rPr lang="ko-KR" altLang="en-US" sz="800" dirty="0"/>
              <a:t> 포함된 정보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기본값은 상단 이동 버튼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/>
              <a:t>현 상세내용 탭에서는 </a:t>
            </a:r>
            <a:endParaRPr lang="en-US" altLang="ko-KR" sz="800" dirty="0"/>
          </a:p>
          <a:p>
            <a:endParaRPr lang="ko-KR" altLang="en-US" sz="800" dirty="0"/>
          </a:p>
        </p:txBody>
      </p:sp>
      <p:sp>
        <p:nvSpPr>
          <p:cNvPr id="167" name="직사각형 166"/>
          <p:cNvSpPr/>
          <p:nvPr/>
        </p:nvSpPr>
        <p:spPr>
          <a:xfrm>
            <a:off x="7103286" y="6104709"/>
            <a:ext cx="2275404" cy="1568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34528050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772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929246"/>
            <a:ext cx="2630093" cy="1160890"/>
            <a:chOff x="720490" y="4465173"/>
            <a:chExt cx="2630093" cy="1160890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9"/>
              <a:ext cx="792000" cy="8534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13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675399" y="3217433"/>
            <a:ext cx="2630093" cy="1975134"/>
            <a:chOff x="3836701" y="2575831"/>
            <a:chExt cx="2630093" cy="197513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27380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778029"/>
            <a:ext cx="76863" cy="292489"/>
            <a:chOff x="3750067" y="4683795"/>
            <a:chExt cx="76863" cy="292489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675399" y="1501687"/>
            <a:ext cx="2712027" cy="355980"/>
            <a:chOff x="3795734" y="1501687"/>
            <a:chExt cx="2712027" cy="355980"/>
          </a:xfrm>
        </p:grpSpPr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68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66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1060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667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294737" y="1648387"/>
              <a:ext cx="50057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56659" y="1648387"/>
              <a:ext cx="5753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493375" y="1648387"/>
              <a:ext cx="4544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6009170" y="1648387"/>
              <a:ext cx="4544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smtClean="0">
                  <a:latin typeface="+mn-ea"/>
                </a:rPr>
                <a:t>진행상태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25242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공급자정보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공급자 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SMS</a:t>
              </a:r>
              <a:r>
                <a:rPr lang="ko-KR" altLang="en-US" sz="700" dirty="0" err="1">
                  <a:latin typeface="+mn-ea"/>
                </a:rPr>
                <a:t>수신번호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3179706"/>
            <a:ext cx="245609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* SMS</a:t>
            </a:r>
            <a:r>
              <a:rPr lang="ko-KR" altLang="en-US" sz="700" dirty="0" err="1">
                <a:latin typeface="+mn-ea"/>
              </a:rPr>
              <a:t>수신번호는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[SMS</a:t>
            </a:r>
            <a:r>
              <a:rPr lang="ko-KR" altLang="en-US" sz="700" dirty="0" err="1">
                <a:latin typeface="+mn-ea"/>
              </a:rPr>
              <a:t>서비스신청</a:t>
            </a:r>
            <a:r>
              <a:rPr lang="en-US" altLang="ko-KR" sz="700" dirty="0">
                <a:latin typeface="+mn-ea"/>
              </a:rPr>
              <a:t>] </a:t>
            </a:r>
            <a:r>
              <a:rPr lang="ko-KR" altLang="en-US" sz="700" dirty="0">
                <a:latin typeface="+mn-ea"/>
              </a:rPr>
              <a:t>시 등록된 번호가 자동으로 입력됩니다</a:t>
            </a:r>
            <a:r>
              <a:rPr lang="en-US" altLang="ko-KR" sz="700" dirty="0">
                <a:latin typeface="+mn-ea"/>
              </a:rPr>
              <a:t>.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1012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2478625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 smtClean="0"/>
              <a:t>PC</a:t>
            </a:r>
            <a:r>
              <a:rPr lang="ko-KR" altLang="en-US" dirty="0" smtClean="0"/>
              <a:t>에서</a:t>
            </a:r>
            <a:r>
              <a:rPr lang="en-US" altLang="ko-KR" dirty="0"/>
              <a:t> </a:t>
            </a:r>
            <a:r>
              <a:rPr lang="ko-KR" altLang="en-US" dirty="0" err="1" smtClean="0"/>
              <a:t>대금청구</a:t>
            </a:r>
            <a:r>
              <a:rPr lang="ko-KR" altLang="en-US" dirty="0" smtClean="0"/>
              <a:t> 신청서 작성시</a:t>
            </a:r>
            <a:r>
              <a:rPr lang="en-US" altLang="ko-KR" dirty="0" smtClean="0"/>
              <a:t>, 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합격을 선택한 경우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합격일자</a:t>
            </a:r>
            <a:r>
              <a:rPr lang="ko-KR" altLang="en-US" dirty="0" smtClean="0"/>
              <a:t>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PC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 err="1"/>
              <a:t>대금청구</a:t>
            </a:r>
            <a:r>
              <a:rPr lang="ko-KR" altLang="en-US" dirty="0"/>
              <a:t> 신청서 작성시</a:t>
            </a:r>
            <a:r>
              <a:rPr lang="en-US" altLang="ko-KR" dirty="0"/>
              <a:t>, </a:t>
            </a:r>
            <a:r>
              <a:rPr lang="ko-KR" altLang="en-US" dirty="0" err="1" smtClean="0"/>
              <a:t>납품일자를</a:t>
            </a:r>
            <a:r>
              <a:rPr lang="ko-KR" altLang="en-US" dirty="0" smtClean="0"/>
              <a:t> 선택한 경우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납품일자</a:t>
            </a:r>
            <a:r>
              <a:rPr lang="ko-KR" altLang="en-US" dirty="0" smtClean="0"/>
              <a:t>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PC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 err="1"/>
              <a:t>대금청구</a:t>
            </a:r>
            <a:r>
              <a:rPr lang="ko-KR" altLang="en-US" dirty="0"/>
              <a:t> 신청서 작성시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세액 여부 있음을 선택한 경우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있음 노출 및 세액 항목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납품청구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신청서상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세액여부</a:t>
            </a:r>
            <a:r>
              <a:rPr lang="ko-KR" altLang="en-US" dirty="0" smtClean="0"/>
              <a:t> 없음 을 선택한 경우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-4-1] </a:t>
            </a:r>
            <a:r>
              <a:rPr lang="ko-KR" altLang="en-US" dirty="0" err="1" smtClean="0"/>
              <a:t>세액여부가</a:t>
            </a:r>
            <a:r>
              <a:rPr lang="ko-KR" altLang="en-US" dirty="0" smtClean="0"/>
              <a:t> 없음인 경우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세액항목</a:t>
            </a:r>
            <a:r>
              <a:rPr lang="ko-KR" altLang="en-US" dirty="0" smtClean="0"/>
              <a:t> </a:t>
            </a:r>
            <a:r>
              <a:rPr lang="en-US" altLang="ko-KR" dirty="0" smtClean="0"/>
              <a:t>“-”</a:t>
            </a:r>
            <a:r>
              <a:rPr lang="ko-KR" altLang="en-US" dirty="0" smtClean="0"/>
              <a:t>로 표기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smtClean="0">
                <a:latin typeface="+mn-ea"/>
              </a:rPr>
              <a:t>대금신청금액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2804005"/>
            <a:chOff x="3865118" y="2946203"/>
            <a:chExt cx="2630093" cy="280400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8040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면제원제출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보증보험증권제출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있음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161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5235" y="1808160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691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77757" y="1878063"/>
            <a:ext cx="47128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 smtClean="0">
                <a:latin typeface="+mn-ea"/>
              </a:rPr>
              <a:t>2026-01-30</a:t>
            </a:r>
            <a:endParaRPr lang="ko-KR" altLang="en-US" sz="700" dirty="0">
              <a:latin typeface="+mn-ea"/>
            </a:endParaRPr>
          </a:p>
        </p:txBody>
      </p:sp>
      <p:sp>
        <p:nvSpPr>
          <p:cNvPr id="47" name="타원 46"/>
          <p:cNvSpPr/>
          <p:nvPr/>
        </p:nvSpPr>
        <p:spPr>
          <a:xfrm flipH="1">
            <a:off x="1348969" y="210569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?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630801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0" name="그룹 49"/>
          <p:cNvGrpSpPr/>
          <p:nvPr/>
        </p:nvGrpSpPr>
        <p:grpSpPr>
          <a:xfrm>
            <a:off x="3758766" y="1527996"/>
            <a:ext cx="2456097" cy="181140"/>
            <a:chOff x="763157" y="1527996"/>
            <a:chExt cx="2456097" cy="181140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53" name="그룹 52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54" name="직선 연결선 5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6" name="그룹 55"/>
          <p:cNvGrpSpPr/>
          <p:nvPr/>
        </p:nvGrpSpPr>
        <p:grpSpPr>
          <a:xfrm>
            <a:off x="3671768" y="1820148"/>
            <a:ext cx="2630093" cy="2804005"/>
            <a:chOff x="3865118" y="2946203"/>
            <a:chExt cx="2630093" cy="2804005"/>
          </a:xfrm>
        </p:grpSpPr>
        <p:sp>
          <p:nvSpPr>
            <p:cNvPr id="57" name="직사각형 56"/>
            <p:cNvSpPr/>
            <p:nvPr/>
          </p:nvSpPr>
          <p:spPr>
            <a:xfrm>
              <a:off x="3867211" y="2946203"/>
              <a:ext cx="792000" cy="28040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면제원제출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보증보험증권제출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없음 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- 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-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161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630801" y="46691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33159" y="1878063"/>
            <a:ext cx="47128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 smtClean="0">
                <a:latin typeface="+mn-ea"/>
              </a:rPr>
              <a:t>2026-02-10</a:t>
            </a:r>
            <a:endParaRPr lang="ko-KR" altLang="en-US" sz="700" dirty="0">
              <a:latin typeface="+mn-ea"/>
            </a:endParaRPr>
          </a:p>
        </p:txBody>
      </p:sp>
      <p:sp>
        <p:nvSpPr>
          <p:cNvPr id="78" name="타원 77"/>
          <p:cNvSpPr/>
          <p:nvPr/>
        </p:nvSpPr>
        <p:spPr>
          <a:xfrm flipH="1">
            <a:off x="4304371" y="210569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?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652932" y="2688661"/>
            <a:ext cx="2689896" cy="20511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/>
          <p:cNvSpPr/>
          <p:nvPr/>
        </p:nvSpPr>
        <p:spPr>
          <a:xfrm>
            <a:off x="3652932" y="3357843"/>
            <a:ext cx="2689896" cy="20511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10193" y="522222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114415" y="5222223"/>
            <a:ext cx="5005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공급자 정보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76337" y="522222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313053" y="522222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28848" y="522222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10637" y="183709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5235" y="206881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10637" y="2078933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1708" y="2612173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  <a:endParaRPr lang="ko-KR" altLang="en-US" sz="500" b="1" dirty="0"/>
          </a:p>
        </p:txBody>
      </p:sp>
      <p:sp>
        <p:nvSpPr>
          <p:cNvPr id="75" name="직사각형 74"/>
          <p:cNvSpPr/>
          <p:nvPr/>
        </p:nvSpPr>
        <p:spPr>
          <a:xfrm>
            <a:off x="7103286" y="6139543"/>
            <a:ext cx="2287843" cy="1219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5172336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altLang="ko-KR" dirty="0" smtClean="0">
                <a:latin typeface="+mn-ea"/>
              </a:rPr>
              <a:t>PC</a:t>
            </a:r>
            <a:r>
              <a:rPr lang="ko-KR" altLang="en-US" dirty="0" smtClean="0">
                <a:latin typeface="+mn-ea"/>
              </a:rPr>
              <a:t>에서 사후정산청구서 작성시</a:t>
            </a:r>
            <a:r>
              <a:rPr lang="en-US" altLang="ko-KR" dirty="0" smtClean="0">
                <a:latin typeface="+mn-ea"/>
              </a:rPr>
              <a:t>(UI-WM-01-M47), </a:t>
            </a:r>
            <a:r>
              <a:rPr lang="ko-KR" altLang="en-US" dirty="0" smtClean="0">
                <a:latin typeface="+mn-ea"/>
              </a:rPr>
              <a:t>세금계산서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“</a:t>
            </a:r>
            <a:r>
              <a:rPr lang="ko-KR" altLang="en-US" dirty="0" smtClean="0">
                <a:latin typeface="+mn-ea"/>
              </a:rPr>
              <a:t>선택</a:t>
            </a:r>
            <a:r>
              <a:rPr lang="en-US" altLang="ko-KR" dirty="0" smtClean="0">
                <a:latin typeface="+mn-ea"/>
              </a:rPr>
              <a:t>” </a:t>
            </a:r>
            <a:r>
              <a:rPr lang="ko-KR" altLang="en-US" dirty="0" smtClean="0">
                <a:latin typeface="+mn-ea"/>
              </a:rPr>
              <a:t>을 선택한 경우 노출 되는 항목</a:t>
            </a:r>
            <a:endParaRPr lang="en-US" altLang="ko-KR" dirty="0" smtClean="0"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dirty="0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72000" tIns="36000" rIns="72000" bIns="36000">
            <a:noAutofit/>
          </a:bodyPr>
          <a:lstStyle/>
          <a:p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</a:t>
            </a:r>
            <a:r>
              <a:rPr lang="ko-KR" altLang="en-US" dirty="0" smtClean="0"/>
              <a:t>진행상태 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235931"/>
            <a:chOff x="3865118" y="2946203"/>
            <a:chExt cx="2630093" cy="23593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359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세금계산서번호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7303" y="2946204"/>
              <a:ext cx="17696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1234-5678-9012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7065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그룹 48"/>
          <p:cNvGrpSpPr/>
          <p:nvPr/>
        </p:nvGrpSpPr>
        <p:grpSpPr>
          <a:xfrm>
            <a:off x="716366" y="2363885"/>
            <a:ext cx="2630093" cy="1292663"/>
            <a:chOff x="3865118" y="2946203"/>
            <a:chExt cx="2630093" cy="1292663"/>
          </a:xfrm>
        </p:grpSpPr>
        <p:sp>
          <p:nvSpPr>
            <p:cNvPr id="50" name="직사각형 49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4" y="2090538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 정보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716366" y="3764258"/>
            <a:ext cx="2630093" cy="1292663"/>
            <a:chOff x="3865118" y="2946203"/>
            <a:chExt cx="2630093" cy="1292663"/>
          </a:xfrm>
        </p:grpSpPr>
        <p:sp>
          <p:nvSpPr>
            <p:cNvPr id="72" name="직사각형 71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253901"/>
            <a:ext cx="76863" cy="292489"/>
            <a:chOff x="3750067" y="4683795"/>
            <a:chExt cx="76863" cy="292489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63" name="직사각형 62"/>
          <p:cNvSpPr/>
          <p:nvPr/>
        </p:nvSpPr>
        <p:spPr>
          <a:xfrm>
            <a:off x="7103286" y="6036456"/>
            <a:ext cx="2275404" cy="1958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34574894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99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regDt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일자구분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8981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73129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086851"/>
            <a:ext cx="31616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대금신청대상목록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dlt_pymtAplyTrgtList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298054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avtsmtNo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dlvdocNo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srngYmd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bgtSecd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ctbkAmt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lqdmg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2444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30B8E2E-00BE-BADA-87DB-E8B83D44B4A0}"/>
              </a:ext>
            </a:extLst>
          </p:cNvPr>
          <p:cNvSpPr txBox="1"/>
          <p:nvPr/>
        </p:nvSpPr>
        <p:spPr>
          <a:xfrm>
            <a:off x="458117" y="4168979"/>
            <a:ext cx="237461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공급자정보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C36CD16-3261-893C-33B1-952BDA63F53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380182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SMS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SMS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27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bzentyAddr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주소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019130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554A4C22-E49D-27FC-D9FD-E7A0C6EBB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5801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30398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5540156-D732-C40F-C9B7-89B56D016403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836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ymdSeCd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I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합격월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D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납품월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B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ddcDsctnNm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면제원제출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exmptnSbmsnYn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면제원제출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보증보험증권제출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grnteInsrncScrtSbmsnYn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보증보험증권제출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1C4003-76ED-06D6-7598-4607A5689329}"/>
              </a:ext>
            </a:extLst>
          </p:cNvPr>
          <p:cNvSpPr txBox="1"/>
          <p:nvPr/>
        </p:nvSpPr>
        <p:spPr>
          <a:xfrm>
            <a:off x="458117" y="3959606"/>
            <a:ext cx="232171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dlt_txBllList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170809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txivChcYn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선택안함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dlvgdsQty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ctrtUntprc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4697EFF-DC34-4A4E-4B12-F5CFDC19D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5E047-FC26-7018-1149-CADBEEF4059D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9938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69890D6-BEE5-DDAF-C6C1-19EF9FF5A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81853"/>
              </p:ext>
            </p:extLst>
          </p:nvPr>
        </p:nvGraphicFramePr>
        <p:xfrm>
          <a:off x="453000" y="1068365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65C7748-B9E7-B5A0-7232-092364D0174A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A611DD90-B471-FCCC-FD98-DC05C3AF3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85958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61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210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210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1925276"/>
            <a:ext cx="2630093" cy="1975134"/>
            <a:chOff x="3836701" y="2575831"/>
            <a:chExt cx="2630093" cy="1975134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384703"/>
            <a:chOff x="720490" y="4465173"/>
            <a:chExt cx="2630093" cy="1384703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0772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4081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2210710" cy="107722"/>
            <a:chOff x="764169" y="4142235"/>
            <a:chExt cx="2210710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9988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979307" y="4142235"/>
              <a:ext cx="5753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10711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74274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50" name="그룹 149"/>
          <p:cNvGrpSpPr/>
          <p:nvPr/>
        </p:nvGrpSpPr>
        <p:grpSpPr>
          <a:xfrm>
            <a:off x="3869962" y="1636283"/>
            <a:ext cx="2210710" cy="107722"/>
            <a:chOff x="764169" y="4142235"/>
            <a:chExt cx="2210710" cy="107722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9988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979307" y="4142235"/>
              <a:ext cx="5753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10711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1597374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5" name="그룹 154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57" name="그룹 156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5" name="직선 연결선 22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6" name="직선 연결선 22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62" name="타원 161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7" name="그룹 166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3" name="직선 연결선 22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4" name="직선 연결선 22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그룹 167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21" name="직선 연결선 22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2" name="직선 연결선 22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9" name="타원 168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80" name="타원 179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87" name="타원 186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206" name="그룹 205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207" name="타원 20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18" name="그룹 217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19" name="직선 연결선 21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직선 연결선 21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67770" y="51973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4618" y="22023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38843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2620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65186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7073" y="23888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99111" y="25356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6599" y="27561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7" name="텍스트 개체 틀 2"/>
          <p:cNvSpPr txBox="1">
            <a:spLocks/>
          </p:cNvSpPr>
          <p:nvPr/>
        </p:nvSpPr>
        <p:spPr>
          <a:xfrm>
            <a:off x="7068896" y="1475995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판단번호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, 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노출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판단번호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전체노출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ko-KR" altLang="en-US" dirty="0" smtClean="0"/>
              <a:t> 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신청정보</a:t>
            </a:r>
            <a:r>
              <a:rPr lang="ko-KR" altLang="en-US" dirty="0" smtClean="0"/>
              <a:t>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err="1" smtClean="0"/>
              <a:t>계약정보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대금신청업체정보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대금신청금액</a:t>
            </a:r>
            <a:r>
              <a:rPr lang="en-US" altLang="ko-KR" dirty="0" smtClean="0"/>
              <a:t>, </a:t>
            </a:r>
            <a:r>
              <a:rPr lang="ko-KR" altLang="en-US" dirty="0" smtClean="0"/>
              <a:t>첨부파일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세금계산서인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화면에서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세금계산서번호 선택 을 체크한 경우 노출</a:t>
            </a:r>
            <a:r>
              <a:rPr lang="en-US" altLang="ko-KR" dirty="0" smtClean="0"/>
              <a:t>＂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계약정보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기본값은 상단 이동 버튼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현 상세내용 탭에서는 </a:t>
            </a:r>
            <a:r>
              <a:rPr lang="en-US" altLang="ko-KR" dirty="0" smtClean="0"/>
              <a:t>(+)</a:t>
            </a:r>
            <a:r>
              <a:rPr lang="ko-KR" altLang="en-US" dirty="0" smtClean="0"/>
              <a:t>더하기 버튼 없음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19128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MUI-WM-01-T09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00336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955371"/>
            <a:ext cx="2630093" cy="1358943"/>
            <a:chOff x="720490" y="4465173"/>
            <a:chExt cx="2630093" cy="1358943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042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0429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429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241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940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710959" y="3473371"/>
            <a:ext cx="2630093" cy="1975134"/>
            <a:chOff x="3836701" y="2575831"/>
            <a:chExt cx="2630093" cy="197513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5297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804154"/>
            <a:ext cx="76863" cy="292489"/>
            <a:chOff x="3750067" y="4683795"/>
            <a:chExt cx="76863" cy="292489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678142" y="1496124"/>
            <a:ext cx="2712027" cy="355980"/>
            <a:chOff x="3820614" y="1496124"/>
            <a:chExt cx="2712027" cy="355980"/>
          </a:xfrm>
        </p:grpSpPr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53" name="그룹 52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계약정보</a:t>
                </a:r>
                <a:endParaRPr lang="ko-KR" altLang="en-US" sz="700" b="1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대금신청</a:t>
                </a:r>
                <a:r>
                  <a:rPr lang="ko-KR" altLang="en-US" sz="700" dirty="0">
                    <a:latin typeface="+mn-ea"/>
                  </a:rPr>
                  <a:t> 금액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54" name="그룹 53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55" name="타원 54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6" name="그룹 55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82" name="직선 연결선 81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직선 연결선 82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타원 5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8" name="그룹 57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59" name="직선 연결선 5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3330624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공급자정보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err="1" smtClean="0">
                <a:latin typeface="+mn-ea"/>
              </a:rPr>
              <a:t>공급자정보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MUI-WM-01-T10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37299"/>
            <a:ext cx="2456097" cy="215444"/>
            <a:chOff x="763157" y="1527996"/>
            <a:chExt cx="2456097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29452"/>
            <a:ext cx="2630093" cy="1077218"/>
            <a:chOff x="3865118" y="2946204"/>
            <a:chExt cx="2630093" cy="10772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10737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8594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0076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7" name="그룹 26"/>
          <p:cNvGrpSpPr/>
          <p:nvPr/>
        </p:nvGrpSpPr>
        <p:grpSpPr>
          <a:xfrm>
            <a:off x="678142" y="1496124"/>
            <a:ext cx="2712027" cy="355980"/>
            <a:chOff x="3820614" y="1496124"/>
            <a:chExt cx="2712027" cy="355980"/>
          </a:xfrm>
        </p:grpSpPr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4297584" y="1852104"/>
              <a:ext cx="756359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31" name="그룹 30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대금신청</a:t>
                </a:r>
                <a:r>
                  <a:rPr lang="ko-KR" altLang="en-US" sz="700" dirty="0">
                    <a:latin typeface="+mn-ea"/>
                  </a:rPr>
                  <a:t> 금액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32" name="그룹 31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33" name="타원 3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4" name="그룹 33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39" name="직선 연결선 3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타원 3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" name="그룹 35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37" name="직선 연결선 3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연결선 37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1458087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- 1-1] </a:t>
            </a:r>
            <a:r>
              <a:rPr lang="ko-KR" altLang="en-US" dirty="0" smtClean="0"/>
              <a:t>대금 </a:t>
            </a:r>
            <a:r>
              <a:rPr lang="ko-KR" altLang="en-US" dirty="0" err="1" smtClean="0"/>
              <a:t>신청시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지급구분별</a:t>
            </a:r>
            <a:r>
              <a:rPr lang="ko-KR" altLang="en-US" dirty="0" smtClean="0"/>
              <a:t> 항목 확인 필요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- 1-2] </a:t>
            </a:r>
            <a:r>
              <a:rPr lang="ko-KR" altLang="en-US" dirty="0" err="1" smtClean="0"/>
              <a:t>세액여부별</a:t>
            </a:r>
            <a:r>
              <a:rPr lang="ko-KR" altLang="en-US" dirty="0" smtClean="0"/>
              <a:t> 항목 확인 필요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세액 여부</a:t>
            </a:r>
            <a:r>
              <a:rPr lang="en-US" altLang="ko-KR" dirty="0" smtClean="0"/>
              <a:t>) </a:t>
            </a:r>
            <a:r>
              <a:rPr lang="ko-KR" altLang="en-US" dirty="0" smtClean="0"/>
              <a:t>과세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면세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영세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- 1-3] </a:t>
            </a:r>
            <a:r>
              <a:rPr lang="ko-KR" altLang="en-US" dirty="0" err="1" smtClean="0"/>
              <a:t>신고구분</a:t>
            </a:r>
            <a:r>
              <a:rPr lang="en-US" altLang="ko-KR" dirty="0"/>
              <a:t>: </a:t>
            </a:r>
            <a:r>
              <a:rPr lang="ko-KR" altLang="en-US" dirty="0"/>
              <a:t>확정</a:t>
            </a:r>
            <a:r>
              <a:rPr lang="en-US" altLang="ko-KR" dirty="0"/>
              <a:t>, </a:t>
            </a:r>
            <a:r>
              <a:rPr lang="ko-KR" altLang="en-US" dirty="0" smtClean="0"/>
              <a:t>예정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대금신청금액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26559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18712"/>
            <a:ext cx="2630093" cy="2586565"/>
            <a:chOff x="3865118" y="2946204"/>
            <a:chExt cx="2630093" cy="258656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2585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선급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8023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06766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2" name="그룹 41"/>
          <p:cNvGrpSpPr/>
          <p:nvPr/>
        </p:nvGrpSpPr>
        <p:grpSpPr>
          <a:xfrm>
            <a:off x="1562371" y="2501943"/>
            <a:ext cx="580039" cy="107722"/>
            <a:chOff x="1746956" y="5895087"/>
            <a:chExt cx="580039" cy="10772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과세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326930" y="5895087"/>
              <a:ext cx="6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46326" y="4436791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확정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/>
          <p:cNvGrpSpPr/>
          <p:nvPr/>
        </p:nvGrpSpPr>
        <p:grpSpPr>
          <a:xfrm>
            <a:off x="3923699" y="1926559"/>
            <a:ext cx="2456097" cy="181140"/>
            <a:chOff x="763157" y="1527996"/>
            <a:chExt cx="2456097" cy="181140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58" name="그룹 57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59" name="직선 연결선 5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1" name="그룹 60"/>
          <p:cNvGrpSpPr/>
          <p:nvPr/>
        </p:nvGrpSpPr>
        <p:grpSpPr>
          <a:xfrm>
            <a:off x="3836701" y="2218712"/>
            <a:ext cx="2630093" cy="2586565"/>
            <a:chOff x="3865118" y="2946204"/>
            <a:chExt cx="2630093" cy="2586565"/>
          </a:xfrm>
        </p:grpSpPr>
        <p:sp>
          <p:nvSpPr>
            <p:cNvPr id="62" name="직사각형 61"/>
            <p:cNvSpPr/>
            <p:nvPr/>
          </p:nvSpPr>
          <p:spPr>
            <a:xfrm>
              <a:off x="3867211" y="2946204"/>
              <a:ext cx="792000" cy="2585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선급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06766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7755" y="2501943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면세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2706" y="4436791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확정</a:t>
            </a: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2203041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6222" y="2478802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441716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1-3</a:t>
            </a:r>
            <a:endParaRPr lang="ko-KR" altLang="en-US" sz="500" b="1" dirty="0"/>
          </a:p>
        </p:txBody>
      </p:sp>
      <p:sp>
        <p:nvSpPr>
          <p:cNvPr id="94" name="직사각형 93"/>
          <p:cNvSpPr/>
          <p:nvPr/>
        </p:nvSpPr>
        <p:spPr>
          <a:xfrm>
            <a:off x="7103286" y="6036456"/>
            <a:ext cx="2275404" cy="1450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grpSp>
        <p:nvGrpSpPr>
          <p:cNvPr id="3" name="그룹 2"/>
          <p:cNvGrpSpPr/>
          <p:nvPr/>
        </p:nvGrpSpPr>
        <p:grpSpPr>
          <a:xfrm>
            <a:off x="3820614" y="1496124"/>
            <a:ext cx="2712027" cy="355980"/>
            <a:chOff x="3820614" y="1496124"/>
            <a:chExt cx="2712027" cy="355980"/>
          </a:xfrm>
        </p:grpSpPr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5057280" y="1852104"/>
              <a:ext cx="628068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86" name="그룹 85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대금신청</a:t>
                </a:r>
                <a:r>
                  <a:rPr lang="ko-KR" altLang="en-US" sz="700" b="1" dirty="0">
                    <a:latin typeface="+mn-ea"/>
                  </a:rPr>
                  <a:t> 금액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92" name="그룹 91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95" name="타원 94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6" name="그룹 95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01" name="직선 연결선 100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직선 연결선 10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7" name="타원 9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8" name="그룹 97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99" name="직선 연결선 9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직선 연결선 9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04" name="그룹 103"/>
          <p:cNvGrpSpPr/>
          <p:nvPr/>
        </p:nvGrpSpPr>
        <p:grpSpPr>
          <a:xfrm>
            <a:off x="678142" y="1496124"/>
            <a:ext cx="2712027" cy="355980"/>
            <a:chOff x="3820614" y="1496124"/>
            <a:chExt cx="2712027" cy="355980"/>
          </a:xfrm>
        </p:grpSpPr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5059176" y="1852104"/>
              <a:ext cx="673499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09" name="그룹 108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대금신청</a:t>
                </a:r>
                <a:r>
                  <a:rPr lang="ko-KR" altLang="en-US" sz="700" b="1" dirty="0">
                    <a:latin typeface="+mn-ea"/>
                  </a:rPr>
                  <a:t> 금액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110" name="그룹 109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111" name="타원 110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2" name="그룹 111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18" name="직선 연결선 117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직선 연결선 118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4" name="타원 113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5" name="그룹 11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16" name="직선 연결선 11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직선 연결선 11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5866140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- 1-1] </a:t>
            </a:r>
            <a:r>
              <a:rPr lang="ko-KR" altLang="en-US" dirty="0" err="1"/>
              <a:t>세액여부별</a:t>
            </a:r>
            <a:r>
              <a:rPr lang="ko-KR" altLang="en-US" dirty="0"/>
              <a:t> 항목 확인 필요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세액 여부</a:t>
            </a:r>
            <a:r>
              <a:rPr lang="en-US" altLang="ko-KR" dirty="0"/>
              <a:t>) </a:t>
            </a:r>
            <a:r>
              <a:rPr lang="ko-KR" altLang="en-US" dirty="0"/>
              <a:t>과세</a:t>
            </a:r>
            <a:r>
              <a:rPr lang="en-US" altLang="ko-KR" dirty="0"/>
              <a:t>, </a:t>
            </a:r>
            <a:r>
              <a:rPr lang="ko-KR" altLang="en-US" dirty="0"/>
              <a:t>면세</a:t>
            </a:r>
            <a:r>
              <a:rPr lang="en-US" altLang="ko-KR" dirty="0"/>
              <a:t>, </a:t>
            </a:r>
            <a:r>
              <a:rPr lang="ko-KR" altLang="en-US" dirty="0"/>
              <a:t>영세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 smtClean="0"/>
              <a:t>1-2] </a:t>
            </a:r>
            <a:r>
              <a:rPr lang="ko-KR" altLang="en-US" dirty="0" err="1"/>
              <a:t>신고구분</a:t>
            </a:r>
            <a:r>
              <a:rPr lang="en-US" altLang="ko-KR" dirty="0"/>
              <a:t>: </a:t>
            </a:r>
            <a:r>
              <a:rPr lang="ko-KR" altLang="en-US" dirty="0"/>
              <a:t>확정</a:t>
            </a:r>
            <a:r>
              <a:rPr lang="en-US" altLang="ko-KR" dirty="0"/>
              <a:t>, </a:t>
            </a:r>
            <a:r>
              <a:rPr lang="ko-KR" altLang="en-US" dirty="0"/>
              <a:t>예정</a:t>
            </a:r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smtClean="0">
                <a:latin typeface="+mn-ea"/>
              </a:rPr>
              <a:t>대금신청금액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47607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39760"/>
            <a:ext cx="2630093" cy="2586565"/>
            <a:chOff x="3865118" y="2946204"/>
            <a:chExt cx="2630093" cy="258656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2585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선급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2001287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0887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2" name="그룹 41"/>
          <p:cNvGrpSpPr/>
          <p:nvPr/>
        </p:nvGrpSpPr>
        <p:grpSpPr>
          <a:xfrm>
            <a:off x="1562371" y="2522991"/>
            <a:ext cx="580039" cy="107722"/>
            <a:chOff x="1746956" y="5895087"/>
            <a:chExt cx="580039" cy="10772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 smtClean="0">
                  <a:latin typeface="+mn-ea"/>
                </a:rPr>
                <a:t>영세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326930" y="5895087"/>
              <a:ext cx="6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50814" y="4457839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예정</a:t>
            </a: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79823" y="2470727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79823" y="438236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40" name="직사각형 39"/>
          <p:cNvSpPr/>
          <p:nvPr/>
        </p:nvSpPr>
        <p:spPr>
          <a:xfrm>
            <a:off x="7103286" y="6036456"/>
            <a:ext cx="2275404" cy="1450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grpSp>
        <p:nvGrpSpPr>
          <p:cNvPr id="41" name="그룹 40"/>
          <p:cNvGrpSpPr/>
          <p:nvPr/>
        </p:nvGrpSpPr>
        <p:grpSpPr>
          <a:xfrm>
            <a:off x="678142" y="1496124"/>
            <a:ext cx="2712027" cy="355980"/>
            <a:chOff x="3820614" y="1496124"/>
            <a:chExt cx="2712027" cy="355980"/>
          </a:xfrm>
        </p:grpSpPr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5059176" y="1852104"/>
              <a:ext cx="673499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8" name="그룹 47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대금신청</a:t>
                </a:r>
                <a:r>
                  <a:rPr lang="ko-KR" altLang="en-US" sz="700" b="1" dirty="0">
                    <a:latin typeface="+mn-ea"/>
                  </a:rPr>
                  <a:t> 금액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49" name="그룹 48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50" name="타원 49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2" name="그룹 51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58" name="직선 연결선 57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직선 연결선 58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" name="타원 52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4" name="그룹 53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55" name="직선 연결선 5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0993699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700" dirty="0"/>
              <a:t>계약에 등록된 </a:t>
            </a:r>
            <a:r>
              <a:rPr lang="ko-KR" altLang="en-US" sz="700" dirty="0" err="1"/>
              <a:t>계약관</a:t>
            </a:r>
            <a:r>
              <a:rPr lang="ko-KR" altLang="en-US" sz="700" dirty="0"/>
              <a:t> 첨부서류 </a:t>
            </a:r>
            <a:r>
              <a:rPr lang="ko-KR" altLang="en-US" sz="700" dirty="0" err="1"/>
              <a:t>목록조회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default) </a:t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아코디언 전체 펼침 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업로드 기능 </a:t>
            </a:r>
            <a:r>
              <a:rPr lang="ko-KR" altLang="en-US" sz="700" dirty="0" err="1"/>
              <a:t>미지원</a:t>
            </a:r>
            <a:r>
              <a:rPr lang="ko-KR" altLang="en-US" sz="700" dirty="0"/>
              <a:t> 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 err="1" smtClean="0"/>
              <a:t>대금청구</a:t>
            </a:r>
            <a:r>
              <a:rPr lang="ko-KR" altLang="en-US" sz="700" dirty="0" smtClean="0"/>
              <a:t> </a:t>
            </a:r>
            <a:r>
              <a:rPr lang="ko-KR" altLang="en-US" sz="700" dirty="0"/>
              <a:t>첨부서류에 첨부된 파일이 있는 경우에만 목록 노출</a:t>
            </a: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파일 </a:t>
            </a:r>
            <a:r>
              <a:rPr lang="ko-KR" altLang="en-US" sz="700" dirty="0"/>
              <a:t>목록 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정렬</a:t>
            </a:r>
            <a:r>
              <a:rPr lang="en-US" altLang="ko-KR" sz="700" dirty="0"/>
              <a:t> : </a:t>
            </a:r>
            <a:r>
              <a:rPr lang="ko-KR" altLang="en-US" sz="700" dirty="0"/>
              <a:t>파일 업로드 시점의 </a:t>
            </a:r>
            <a:r>
              <a:rPr lang="ko-KR" altLang="en-US" sz="700" dirty="0" err="1"/>
              <a:t>등록일시</a:t>
            </a:r>
            <a:r>
              <a:rPr lang="ko-KR" altLang="en-US" sz="700" dirty="0"/>
              <a:t> 내림차순 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 err="1"/>
              <a:t>계약서류명</a:t>
            </a:r>
            <a:r>
              <a:rPr lang="en-US" altLang="ko-KR" sz="700" dirty="0"/>
              <a:t>, </a:t>
            </a:r>
            <a:r>
              <a:rPr lang="ko-KR" altLang="en-US" sz="700" dirty="0" err="1"/>
              <a:t>첨부파일명</a:t>
            </a:r>
            <a:r>
              <a:rPr lang="en-US" altLang="ko-KR" sz="700" dirty="0"/>
              <a:t>, </a:t>
            </a:r>
            <a:r>
              <a:rPr lang="ko-KR" altLang="en-US" sz="700" dirty="0"/>
              <a:t>파일 크기 표시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파일 크기 정보가 없거나</a:t>
            </a:r>
            <a:r>
              <a:rPr lang="en-US" altLang="ko-KR" sz="700" dirty="0"/>
              <a:t>, </a:t>
            </a:r>
            <a:r>
              <a:rPr lang="ko-KR" altLang="en-US" sz="700" dirty="0"/>
              <a:t>첨부서류 파일명이 없는 경우 </a:t>
            </a:r>
            <a:r>
              <a:rPr lang="en-US" altLang="ko-KR" sz="700" dirty="0"/>
              <a:t>“-” </a:t>
            </a:r>
            <a:r>
              <a:rPr lang="ko-KR" altLang="en-US" sz="700" dirty="0"/>
              <a:t>표시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파일명이 긴 경우 </a:t>
            </a:r>
            <a:r>
              <a:rPr lang="ko-KR" altLang="en-US" sz="700" dirty="0" err="1"/>
              <a:t>말줄임</a:t>
            </a:r>
            <a:r>
              <a:rPr lang="ko-KR" altLang="en-US" sz="700" dirty="0"/>
              <a:t> 표시</a:t>
            </a: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/>
              <a:t>다운로드 아이콘 노출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다운로드 </a:t>
            </a:r>
            <a:r>
              <a:rPr lang="ko-KR" altLang="en-US" sz="700" dirty="0" err="1"/>
              <a:t>클릭시</a:t>
            </a:r>
            <a:r>
              <a:rPr lang="en-US" altLang="ko-KR" sz="700" dirty="0"/>
              <a:t>, </a:t>
            </a:r>
            <a:r>
              <a:rPr lang="ko-KR" altLang="en-US" sz="700" dirty="0"/>
              <a:t>즉시 다운로드 실행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파일 다운로드 </a:t>
            </a:r>
            <a:r>
              <a:rPr lang="ko-KR" altLang="en-US" sz="700" dirty="0" err="1"/>
              <a:t>실패시</a:t>
            </a:r>
            <a:r>
              <a:rPr lang="ko-KR" altLang="en-US" sz="700" dirty="0"/>
              <a:t> </a:t>
            </a:r>
            <a:r>
              <a:rPr lang="en-US" altLang="ko-KR" sz="700" dirty="0"/>
              <a:t>, “</a:t>
            </a:r>
            <a:r>
              <a:rPr lang="ko-KR" altLang="en-US" sz="700" dirty="0"/>
              <a:t>다운로드에 실패했습니다</a:t>
            </a:r>
            <a:r>
              <a:rPr lang="en-US" altLang="ko-KR" sz="700" dirty="0"/>
              <a:t>”</a:t>
            </a:r>
            <a:r>
              <a:rPr lang="ko-KR" altLang="en-US" sz="700" dirty="0"/>
              <a:t> 토스트 노출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다운로드 </a:t>
            </a:r>
            <a:r>
              <a:rPr lang="ko-KR" altLang="en-US" sz="700" dirty="0" err="1"/>
              <a:t>성공시</a:t>
            </a:r>
            <a:r>
              <a:rPr lang="ko-KR" altLang="en-US" sz="700" dirty="0"/>
              <a:t> </a:t>
            </a:r>
            <a:r>
              <a:rPr lang="en-US" altLang="ko-KR" sz="700" dirty="0"/>
              <a:t>“</a:t>
            </a:r>
            <a:r>
              <a:rPr lang="ko-KR" altLang="en-US" sz="700" dirty="0"/>
              <a:t>다운로드에 성공했습니다</a:t>
            </a:r>
            <a:r>
              <a:rPr lang="en-US" altLang="ko-KR" sz="700" dirty="0"/>
              <a:t>“ </a:t>
            </a:r>
            <a:r>
              <a:rPr lang="ko-KR" altLang="en-US" sz="700" dirty="0"/>
              <a:t>노출</a:t>
            </a:r>
            <a:endParaRPr lang="en-US" altLang="ko-KR" sz="7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smtClean="0">
                <a:latin typeface="+mn-ea"/>
              </a:rPr>
              <a:t>첨부파일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12129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6580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675400" y="2175397"/>
            <a:ext cx="2712026" cy="1339020"/>
            <a:chOff x="4063785" y="1972404"/>
            <a:chExt cx="2712026" cy="1339020"/>
          </a:xfrm>
        </p:grpSpPr>
        <p:grpSp>
          <p:nvGrpSpPr>
            <p:cNvPr id="50" name="그룹 49"/>
            <p:cNvGrpSpPr/>
            <p:nvPr/>
          </p:nvGrpSpPr>
          <p:grpSpPr>
            <a:xfrm>
              <a:off x="4063785" y="1972404"/>
              <a:ext cx="2712026" cy="1339020"/>
              <a:chOff x="3795735" y="3141693"/>
              <a:chExt cx="2712026" cy="1339020"/>
            </a:xfrm>
          </p:grpSpPr>
          <p:sp>
            <p:nvSpPr>
              <p:cNvPr id="54" name="모서리가 둥근 직사각형 53"/>
              <p:cNvSpPr/>
              <p:nvPr/>
            </p:nvSpPr>
            <p:spPr>
              <a:xfrm>
                <a:off x="3831550" y="3276811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351332"/>
                <a:ext cx="16827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물품제조구매계약서</a:t>
                </a:r>
                <a:endParaRPr lang="en-US" altLang="ko-KR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ko-KR" altLang="en-US" sz="7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405193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1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7" name="타원 56"/>
              <p:cNvSpPr/>
              <p:nvPr/>
            </p:nvSpPr>
            <p:spPr>
              <a:xfrm>
                <a:off x="6240167" y="3387054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모서리가 둥근 직사각형 57"/>
              <p:cNvSpPr/>
              <p:nvPr/>
            </p:nvSpPr>
            <p:spPr>
              <a:xfrm>
                <a:off x="3831550" y="3683497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758018"/>
                <a:ext cx="141278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계약명세서</a:t>
                </a:r>
                <a:endParaRPr lang="en-US" altLang="ko-KR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ko-KR" altLang="en-US" sz="7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첨부파일명이너무길면어떻게</a:t>
                </a:r>
                <a:r>
                  <a:rPr lang="ko-KR" altLang="en-US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 노출</a:t>
                </a:r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... 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811879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2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61" name="타원 60"/>
              <p:cNvSpPr/>
              <p:nvPr/>
            </p:nvSpPr>
            <p:spPr>
              <a:xfrm>
                <a:off x="6240167" y="3793740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795735" y="4480713"/>
                <a:ext cx="2712026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332218" y="3141693"/>
                <a:ext cx="47434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6101185" y="3141693"/>
                <a:ext cx="32496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다운로드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838314" y="3141693"/>
                <a:ext cx="390650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번호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75" name="직사각형 74"/>
            <p:cNvSpPr/>
            <p:nvPr/>
          </p:nvSpPr>
          <p:spPr>
            <a:xfrm>
              <a:off x="5968922" y="2605294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5965336" y="2159928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</p:grpSp>
      <p:sp>
        <p:nvSpPr>
          <p:cNvPr id="78" name="타원 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853" y="231538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173895" y="294816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8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25536" y="593355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실패했습니다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81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08628" y="572603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성공했습니다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053116" y="583712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37" name="그룹 36"/>
          <p:cNvGrpSpPr/>
          <p:nvPr/>
        </p:nvGrpSpPr>
        <p:grpSpPr>
          <a:xfrm>
            <a:off x="678142" y="1496124"/>
            <a:ext cx="2712027" cy="355980"/>
            <a:chOff x="3820614" y="1496124"/>
            <a:chExt cx="2712027" cy="355980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5723121" y="185210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1" name="그룹 40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대금신청</a:t>
                </a:r>
                <a:r>
                  <a:rPr lang="ko-KR" altLang="en-US" sz="700" dirty="0">
                    <a:latin typeface="+mn-ea"/>
                  </a:rPr>
                  <a:t> 금액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43" name="타원 4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4" name="그룹 43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9" name="직선 연결선 4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연결선 5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타원 4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7" name="직선 연결선 4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직선 연결선 47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863216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831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4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대금신청번호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70730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374242"/>
            <a:ext cx="31616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대금신청대상목록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dlt_pymtAplyTrgtList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85445"/>
          <a:ext cx="8994883" cy="18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avtsmtNo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recrdPblcnNo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rcpmDt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bgtCd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UZ03</a:t>
                      </a:r>
                    </a:p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전년국채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당년국체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ctbkAmt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lqdmg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2444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30B8E2E-00BE-BADA-87DB-E8B83D44B4A0}"/>
              </a:ext>
            </a:extLst>
          </p:cNvPr>
          <p:cNvSpPr txBox="1"/>
          <p:nvPr/>
        </p:nvSpPr>
        <p:spPr>
          <a:xfrm>
            <a:off x="458117" y="4608773"/>
            <a:ext cx="3410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대금신청업체정보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dmt_pymtAplyBzentyInfo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C36CD16-3261-893C-33B1-952BDA63F53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81997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bzentyAddr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주소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120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019130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D6CFD2F-4DC0-741E-BC14-138D4D7E4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32462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30398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5540156-D732-C40F-C9B7-89B56D016403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520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EPNC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VATA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txamtDdcAmt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ddcDsctnNm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1C4003-76ED-06D6-7598-4607A5689329}"/>
              </a:ext>
            </a:extLst>
          </p:cNvPr>
          <p:cNvSpPr txBox="1"/>
          <p:nvPr/>
        </p:nvSpPr>
        <p:spPr>
          <a:xfrm>
            <a:off x="458117" y="3641739"/>
            <a:ext cx="222072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852942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0344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C55AFAB6-A1E3-0681-D91C-DD3EB4FE0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50219-680A-6FD4-592F-C671CBA010BC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54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69890D6-BEE5-DDAF-C6C1-19EF9FF5A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247406"/>
              </p:ext>
            </p:extLst>
          </p:nvPr>
        </p:nvGraphicFramePr>
        <p:xfrm>
          <a:off x="453000" y="1050944"/>
          <a:ext cx="8995591" cy="82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대금청구서를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(UI-WM-01-R31)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대금청구신청서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(UI-WM-01-R32)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대금청구신청서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24259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6F3B62-1B8D-DA6D-119E-CFA240CD0032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5" name="Text Box 73">
            <a:extLst>
              <a:ext uri="{FF2B5EF4-FFF2-40B4-BE49-F238E27FC236}">
                <a16:creationId xmlns:a16="http://schemas.microsoft.com/office/drawing/2014/main" id="{7D6E6027-667C-05A1-A04E-9C98E44C9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1875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en-US" altLang="ko-KR" sz="900" b="1" dirty="0"/>
              <a:t>000000 </a:t>
            </a:r>
            <a:r>
              <a:rPr lang="ko-KR" altLang="en-US" sz="900" b="1" dirty="0"/>
              <a:t>공사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50156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54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548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7672" y="1930720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6259759" y="1990073"/>
            <a:ext cx="94010" cy="47005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815590"/>
            <a:chOff x="720490" y="4465173"/>
            <a:chExt cx="2630093" cy="1815590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7"/>
              <a:ext cx="792000" cy="145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대표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 ~ 2026-12-30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4081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04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1636582" cy="107722"/>
            <a:chOff x="764169" y="4142235"/>
            <a:chExt cx="1636582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302043" y="4142235"/>
              <a:ext cx="5564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36583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664603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1602818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5" name="그룹 154"/>
          <p:cNvGrpSpPr/>
          <p:nvPr/>
        </p:nvGrpSpPr>
        <p:grpSpPr>
          <a:xfrm>
            <a:off x="3869962" y="1642048"/>
            <a:ext cx="1636582" cy="107722"/>
            <a:chOff x="764169" y="4142235"/>
            <a:chExt cx="1636582" cy="107722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302043" y="4142235"/>
              <a:ext cx="5564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36583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3795734" y="2193662"/>
            <a:ext cx="2712027" cy="1870733"/>
            <a:chOff x="3783912" y="2803333"/>
            <a:chExt cx="2712027" cy="1870733"/>
          </a:xfrm>
        </p:grpSpPr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83912" y="46740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44" y="2803333"/>
              <a:ext cx="253268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1. </a:t>
              </a:r>
              <a:r>
                <a:rPr lang="ko-KR" altLang="en-US" sz="700" dirty="0" err="1">
                  <a:latin typeface="+mn-ea"/>
                </a:rPr>
                <a:t>변경내역</a:t>
              </a:r>
              <a:r>
                <a:rPr lang="ko-KR" altLang="en-US" sz="700" dirty="0">
                  <a:latin typeface="+mn-ea"/>
                </a:rPr>
                <a:t> 표시</a:t>
              </a:r>
            </a:p>
          </p:txBody>
        </p:sp>
      </p:grpSp>
      <p:grpSp>
        <p:nvGrpSpPr>
          <p:cNvPr id="140" name="그룹 139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1" name="그룹 14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05" name="직선 연결선 2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43" name="타원 142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45" name="그룹 144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직선 연결선 20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그룹 145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81" name="직선 연결선 18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7" name="타원 14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51" name="타원 150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54" name="타원 153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71" name="그룹 170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72" name="타원 171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3" name="그룹 172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79" name="직선 연결선 17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직선 연결선 17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67770" y="51973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4618" y="22023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38843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2620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65186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7073" y="23888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99111" y="25356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6599" y="27561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3" name="직사각형 2"/>
          <p:cNvSpPr/>
          <p:nvPr/>
        </p:nvSpPr>
        <p:spPr>
          <a:xfrm>
            <a:off x="7079729" y="5991496"/>
            <a:ext cx="2378480" cy="19893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b="1" dirty="0" smtClean="0">
                <a:solidFill>
                  <a:schemeClr val="bg1"/>
                </a:solidFill>
              </a:rPr>
              <a:t>0706) </a:t>
            </a:r>
            <a:r>
              <a:rPr lang="ko-KR" altLang="ko-KR" sz="500" b="1" dirty="0" err="1" smtClean="0">
                <a:solidFill>
                  <a:schemeClr val="bg1"/>
                </a:solidFill>
              </a:rPr>
              <a:t>지급구분</a:t>
            </a:r>
            <a:r>
              <a:rPr lang="en-US" altLang="ko-KR" sz="500" b="1" dirty="0" smtClean="0">
                <a:solidFill>
                  <a:schemeClr val="bg1"/>
                </a:solidFill>
              </a:rPr>
              <a:t>, </a:t>
            </a:r>
            <a:r>
              <a:rPr lang="ko-KR" altLang="ko-KR" sz="500" b="1" dirty="0" smtClean="0">
                <a:solidFill>
                  <a:schemeClr val="bg1"/>
                </a:solidFill>
              </a:rPr>
              <a:t>신청금액</a:t>
            </a:r>
            <a:r>
              <a:rPr lang="en-US" altLang="ko-KR" sz="500" b="1" dirty="0" smtClean="0">
                <a:solidFill>
                  <a:schemeClr val="bg1"/>
                </a:solidFill>
              </a:rPr>
              <a:t> </a:t>
            </a:r>
            <a:r>
              <a:rPr lang="ko-KR" altLang="en-US" sz="500" b="1" dirty="0" smtClean="0">
                <a:solidFill>
                  <a:schemeClr val="bg1"/>
                </a:solidFill>
              </a:rPr>
              <a:t>누락</a:t>
            </a:r>
            <a:endParaRPr lang="ko-KR" altLang="ko-KR" sz="500" dirty="0">
              <a:solidFill>
                <a:schemeClr val="bg1"/>
              </a:solidFill>
            </a:endParaRPr>
          </a:p>
        </p:txBody>
      </p:sp>
      <p:sp>
        <p:nvSpPr>
          <p:cNvPr id="198" name="텍스트 개체 틀 2"/>
          <p:cNvSpPr txBox="1">
            <a:spLocks/>
          </p:cNvSpPr>
          <p:nvPr/>
        </p:nvSpPr>
        <p:spPr>
          <a:xfrm>
            <a:off x="7068896" y="1475995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판단번호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, 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노출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판단번호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전체노출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ko-KR" altLang="en-US" dirty="0" smtClean="0"/>
              <a:t> 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신청정보</a:t>
            </a:r>
            <a:r>
              <a:rPr lang="ko-KR" altLang="en-US" dirty="0" smtClean="0"/>
              <a:t>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err="1" smtClean="0"/>
              <a:t>계약정보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대가지금업체</a:t>
            </a:r>
            <a:r>
              <a:rPr lang="en-US" altLang="ko-KR" dirty="0" smtClean="0"/>
              <a:t>,</a:t>
            </a:r>
            <a:r>
              <a:rPr lang="ko-KR" altLang="en-US" dirty="0" smtClean="0"/>
              <a:t>첨부파일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ko-KR" altLang="en-US" dirty="0" err="1" smtClean="0"/>
              <a:t>계약정보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기본값은 상단 이동 버튼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현 상세내용 탭에서는 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87399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비고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9579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947801"/>
            <a:ext cx="2630093" cy="2031034"/>
            <a:chOff x="720490" y="4465173"/>
            <a:chExt cx="2630093" cy="2031034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6974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대표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 ~ 2026-12-30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241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4603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27201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4700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0582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4272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9336" y="4105459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</a:p>
        </p:txBody>
      </p:sp>
      <p:grpSp>
        <p:nvGrpSpPr>
          <p:cNvPr id="53" name="그룹 52"/>
          <p:cNvGrpSpPr/>
          <p:nvPr/>
        </p:nvGrpSpPr>
        <p:grpSpPr>
          <a:xfrm flipV="1">
            <a:off x="3151423" y="4164812"/>
            <a:ext cx="94010" cy="47005"/>
            <a:chOff x="6812560" y="3297172"/>
            <a:chExt cx="94010" cy="47005"/>
          </a:xfrm>
        </p:grpSpPr>
        <p:cxnSp>
          <p:nvCxnSpPr>
            <p:cNvPr id="54" name="직선 연결선 5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그룹 55"/>
          <p:cNvGrpSpPr/>
          <p:nvPr/>
        </p:nvGrpSpPr>
        <p:grpSpPr>
          <a:xfrm>
            <a:off x="687398" y="4368401"/>
            <a:ext cx="2712027" cy="1444013"/>
            <a:chOff x="3783912" y="2803333"/>
            <a:chExt cx="2712027" cy="1444013"/>
          </a:xfrm>
        </p:grpSpPr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83912" y="424734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44" y="2803333"/>
              <a:ext cx="253268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1. </a:t>
              </a:r>
              <a:r>
                <a:rPr lang="ko-KR" altLang="en-US" sz="700" dirty="0" err="1">
                  <a:latin typeface="+mn-ea"/>
                </a:rPr>
                <a:t>변경내역</a:t>
              </a:r>
              <a:r>
                <a:rPr lang="ko-KR" altLang="en-US" sz="700" dirty="0">
                  <a:latin typeface="+mn-ea"/>
                </a:rPr>
                <a:t> 표시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720490" y="1497658"/>
            <a:ext cx="2626449" cy="354413"/>
            <a:chOff x="720490" y="4004429"/>
            <a:chExt cx="2626449" cy="354413"/>
          </a:xfrm>
        </p:grpSpPr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0" name="그룹 39"/>
            <p:cNvGrpSpPr/>
            <p:nvPr/>
          </p:nvGrpSpPr>
          <p:grpSpPr>
            <a:xfrm>
              <a:off x="764169" y="4142235"/>
              <a:ext cx="1636582" cy="107722"/>
              <a:chOff x="764169" y="4142235"/>
              <a:chExt cx="1636582" cy="107722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계약정보</a:t>
                </a:r>
                <a:endParaRPr lang="ko-KR" altLang="en-US" sz="700" b="1" dirty="0">
                  <a:latin typeface="+mn-ea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302043" y="4142235"/>
                <a:ext cx="5564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대가지급업체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36583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44" name="그룹 43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45" name="타원 44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3" name="직선 연결선 6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" name="타원 58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0" name="그룹 59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1" name="직선 연결선 60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연결선 6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6741325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대가지급업체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smtClean="0">
                <a:latin typeface="+mn-ea"/>
              </a:rPr>
              <a:t>대가지급업체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54718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46871"/>
            <a:ext cx="2630093" cy="1508105"/>
            <a:chOff x="3865118" y="2946204"/>
            <a:chExt cx="2630093" cy="150810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15016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업체유형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은행명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계좌번호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계좌실명번호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예금주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농협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1100-12345-02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11000-11200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739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109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00336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0728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238576"/>
            <a:ext cx="76863" cy="292489"/>
            <a:chOff x="3750067" y="4683795"/>
            <a:chExt cx="76863" cy="29248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720490" y="1497658"/>
            <a:ext cx="2626449" cy="354413"/>
            <a:chOff x="720490" y="4004429"/>
            <a:chExt cx="2626449" cy="354413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1258688" y="4358842"/>
              <a:ext cx="599802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37" name="그룹 36"/>
            <p:cNvGrpSpPr/>
            <p:nvPr/>
          </p:nvGrpSpPr>
          <p:grpSpPr>
            <a:xfrm>
              <a:off x="764169" y="4142235"/>
              <a:ext cx="1636582" cy="107722"/>
              <a:chOff x="764169" y="4142235"/>
              <a:chExt cx="1636582" cy="107722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302043" y="4142235"/>
                <a:ext cx="5564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대가지급업체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36583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38" name="그룹 37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39" name="타원 38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0" name="그룹 3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5" name="직선 연결선 4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직선 연결선 4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타원 4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2" name="그룹 4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3" name="직선 연결선 4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연결선 4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5969703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smtClean="0">
                <a:latin typeface="+mn-ea"/>
              </a:rPr>
              <a:t>첨부파일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MUI-WM-01-T15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8613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/>
          <p:cNvGrpSpPr/>
          <p:nvPr/>
        </p:nvGrpSpPr>
        <p:grpSpPr>
          <a:xfrm>
            <a:off x="806578" y="1979819"/>
            <a:ext cx="2456097" cy="181140"/>
            <a:chOff x="763157" y="1527996"/>
            <a:chExt cx="2456097" cy="18114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34" name="그룹 33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35" name="직선 연결선 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타원 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9374" y="203349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8" name="그룹 37"/>
          <p:cNvGrpSpPr/>
          <p:nvPr/>
        </p:nvGrpSpPr>
        <p:grpSpPr>
          <a:xfrm>
            <a:off x="678614" y="2243087"/>
            <a:ext cx="2712026" cy="1339020"/>
            <a:chOff x="4063785" y="1972404"/>
            <a:chExt cx="2712026" cy="1339020"/>
          </a:xfrm>
        </p:grpSpPr>
        <p:grpSp>
          <p:nvGrpSpPr>
            <p:cNvPr id="39" name="그룹 38"/>
            <p:cNvGrpSpPr/>
            <p:nvPr/>
          </p:nvGrpSpPr>
          <p:grpSpPr>
            <a:xfrm>
              <a:off x="4063785" y="1972404"/>
              <a:ext cx="2712026" cy="1339020"/>
              <a:chOff x="3795735" y="3141693"/>
              <a:chExt cx="2712026" cy="1339020"/>
            </a:xfrm>
          </p:grpSpPr>
          <p:sp>
            <p:nvSpPr>
              <p:cNvPr id="42" name="모서리가 둥근 직사각형 41"/>
              <p:cNvSpPr/>
              <p:nvPr/>
            </p:nvSpPr>
            <p:spPr>
              <a:xfrm>
                <a:off x="3831550" y="3276811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412605"/>
                <a:ext cx="168273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405193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1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타원 44"/>
              <p:cNvSpPr/>
              <p:nvPr/>
            </p:nvSpPr>
            <p:spPr>
              <a:xfrm>
                <a:off x="6240167" y="3387054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모서리가 둥근 직사각형 45"/>
              <p:cNvSpPr/>
              <p:nvPr/>
            </p:nvSpPr>
            <p:spPr>
              <a:xfrm>
                <a:off x="3831550" y="3683497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819291"/>
                <a:ext cx="141278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811879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2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9" name="타원 48"/>
              <p:cNvSpPr/>
              <p:nvPr/>
            </p:nvSpPr>
            <p:spPr>
              <a:xfrm>
                <a:off x="6240167" y="3793740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795735" y="4480713"/>
                <a:ext cx="2712026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332218" y="3141693"/>
                <a:ext cx="47434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6101185" y="3141693"/>
                <a:ext cx="32496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다운로드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838314" y="3141693"/>
                <a:ext cx="390650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항목번호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40" name="직사각형 39"/>
            <p:cNvSpPr/>
            <p:nvPr/>
          </p:nvSpPr>
          <p:spPr>
            <a:xfrm>
              <a:off x="5968922" y="2605294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5965336" y="2159928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</p:grpSp>
      <p:sp>
        <p:nvSpPr>
          <p:cNvPr id="55" name="타원 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10067" y="238307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177109" y="301585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5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28750" y="593355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실패했습니다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8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11842" y="572603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성공했습니다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056330" y="583712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62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계약에 등록된 </a:t>
            </a:r>
            <a:r>
              <a:rPr lang="ko-KR" altLang="en-US" sz="800" dirty="0" err="1"/>
              <a:t>계약관</a:t>
            </a:r>
            <a:r>
              <a:rPr lang="ko-KR" altLang="en-US" sz="800" dirty="0"/>
              <a:t> 첨부서류 </a:t>
            </a:r>
            <a:r>
              <a:rPr lang="ko-KR" altLang="en-US" sz="800" dirty="0" err="1"/>
              <a:t>목록조회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default) 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아코디언 전체 펼침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업로드 기능 </a:t>
            </a:r>
            <a:r>
              <a:rPr lang="ko-KR" altLang="en-US" sz="800" dirty="0" err="1"/>
              <a:t>미지원</a:t>
            </a:r>
            <a:r>
              <a:rPr lang="ko-KR" altLang="en-US" sz="800" dirty="0"/>
              <a:t>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 smtClean="0"/>
              <a:t>대금청구</a:t>
            </a:r>
            <a:r>
              <a:rPr lang="ko-KR" altLang="en-US" sz="800" dirty="0" smtClean="0"/>
              <a:t> </a:t>
            </a:r>
            <a:r>
              <a:rPr lang="ko-KR" altLang="en-US" sz="800" dirty="0"/>
              <a:t>첨부서류에 첨부된 파일이 있는 경우에만 목록 노출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파일 </a:t>
            </a:r>
            <a:r>
              <a:rPr lang="ko-KR" altLang="en-US" sz="800" dirty="0"/>
              <a:t>목록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정렬</a:t>
            </a:r>
            <a:r>
              <a:rPr lang="en-US" altLang="ko-KR" sz="800" dirty="0"/>
              <a:t> : </a:t>
            </a:r>
            <a:r>
              <a:rPr lang="ko-KR" altLang="en-US" sz="800" dirty="0"/>
              <a:t>파일 업로드 시점의 </a:t>
            </a:r>
            <a:r>
              <a:rPr lang="ko-KR" altLang="en-US" sz="800" dirty="0" err="1"/>
              <a:t>등록일시</a:t>
            </a:r>
            <a:r>
              <a:rPr lang="ko-KR" altLang="en-US" sz="800" dirty="0"/>
              <a:t> 내림차순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계약서류명</a:t>
            </a:r>
            <a:r>
              <a:rPr lang="en-US" altLang="ko-KR" sz="800" dirty="0"/>
              <a:t>, </a:t>
            </a:r>
            <a:r>
              <a:rPr lang="ko-KR" altLang="en-US" sz="800" dirty="0" err="1"/>
              <a:t>첨부파일명</a:t>
            </a:r>
            <a:r>
              <a:rPr lang="en-US" altLang="ko-KR" sz="800" dirty="0"/>
              <a:t>, </a:t>
            </a:r>
            <a:r>
              <a:rPr lang="ko-KR" altLang="en-US" sz="800" dirty="0"/>
              <a:t>파일 크기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 크기 정보가 없거나</a:t>
            </a:r>
            <a:r>
              <a:rPr lang="en-US" altLang="ko-KR" sz="800" dirty="0"/>
              <a:t>, </a:t>
            </a:r>
            <a:r>
              <a:rPr lang="ko-KR" altLang="en-US" sz="800" dirty="0"/>
              <a:t>첨부서류 파일명이 없는 경우 </a:t>
            </a:r>
            <a:r>
              <a:rPr lang="en-US" altLang="ko-KR" sz="800" dirty="0"/>
              <a:t>“-” </a:t>
            </a:r>
            <a:r>
              <a:rPr lang="ko-KR" altLang="en-US" sz="800" dirty="0"/>
              <a:t>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파일명이 긴 경우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다운로드 아이콘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다운로드 </a:t>
            </a:r>
            <a:r>
              <a:rPr lang="ko-KR" altLang="en-US" sz="800" dirty="0" err="1"/>
              <a:t>클릭시</a:t>
            </a:r>
            <a:r>
              <a:rPr lang="en-US" altLang="ko-KR" sz="800" dirty="0"/>
              <a:t>, </a:t>
            </a:r>
            <a:r>
              <a:rPr lang="ko-KR" altLang="en-US" sz="800" dirty="0"/>
              <a:t>즉시 다운로드 실행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 다운로드 </a:t>
            </a:r>
            <a:r>
              <a:rPr lang="ko-KR" altLang="en-US" sz="800" dirty="0" err="1"/>
              <a:t>실패시</a:t>
            </a:r>
            <a:r>
              <a:rPr lang="ko-KR" altLang="en-US" sz="800" dirty="0"/>
              <a:t> </a:t>
            </a:r>
            <a:r>
              <a:rPr lang="en-US" altLang="ko-KR" sz="800" dirty="0"/>
              <a:t>,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다운로드에 실패했습니다</a:t>
            </a:r>
            <a:r>
              <a:rPr lang="en-US" altLang="ko-KR" sz="800" dirty="0" smtClean="0"/>
              <a:t>”</a:t>
            </a:r>
            <a:r>
              <a:rPr lang="ko-KR" altLang="en-US" sz="800" dirty="0" smtClean="0"/>
              <a:t> </a:t>
            </a:r>
            <a:r>
              <a:rPr lang="ko-KR" altLang="en-US" sz="800" dirty="0"/>
              <a:t>토스트 </a:t>
            </a:r>
            <a:r>
              <a:rPr lang="ko-KR" altLang="en-US" sz="800" dirty="0" smtClean="0"/>
              <a:t>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다운로드 </a:t>
            </a:r>
            <a:r>
              <a:rPr lang="ko-KR" altLang="en-US" sz="800" dirty="0" err="1" smtClean="0"/>
              <a:t>성공시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다운로드에 성공했습니다</a:t>
            </a:r>
            <a:r>
              <a:rPr lang="en-US" altLang="ko-KR" sz="800" dirty="0" smtClean="0"/>
              <a:t>“ </a:t>
            </a:r>
            <a:r>
              <a:rPr lang="ko-KR" altLang="en-US" sz="800" dirty="0" smtClean="0"/>
              <a:t>노출</a:t>
            </a:r>
            <a:endParaRPr lang="en-US" altLang="ko-KR" sz="800" dirty="0"/>
          </a:p>
        </p:txBody>
      </p:sp>
      <p:grpSp>
        <p:nvGrpSpPr>
          <p:cNvPr id="51" name="그룹 50"/>
          <p:cNvGrpSpPr/>
          <p:nvPr/>
        </p:nvGrpSpPr>
        <p:grpSpPr>
          <a:xfrm>
            <a:off x="720490" y="1497658"/>
            <a:ext cx="2626449" cy="354413"/>
            <a:chOff x="720490" y="4004429"/>
            <a:chExt cx="2626449" cy="354413"/>
          </a:xfrm>
        </p:grpSpPr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1983832" y="4358842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4" name="그룹 63"/>
            <p:cNvGrpSpPr/>
            <p:nvPr/>
          </p:nvGrpSpPr>
          <p:grpSpPr>
            <a:xfrm>
              <a:off x="764169" y="4142235"/>
              <a:ext cx="1636582" cy="107722"/>
              <a:chOff x="764169" y="4142235"/>
              <a:chExt cx="1636582" cy="107722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302043" y="4142235"/>
                <a:ext cx="5564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대가지급업체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36583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65" name="그룹 64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67" name="타원 66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8" name="그룹 67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73" name="직선 연결선 7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직선 연결선 7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9" name="타원 68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70" name="그룹 69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71" name="직선 연결선 70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3028878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bgncstYmd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831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4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inspYmd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707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pxcndAmt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344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690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83343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844506"/>
            <a:ext cx="278338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대가지급업체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dlt_giveBzentyList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055709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fbctnSecd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업체유형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은행명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dlngFnstNm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은행명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enacno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계좌실명번호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enacno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계좌실명번호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예금주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dpstrNm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예금주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86692DD-2BE6-B42B-B0B8-6EFA9C93C744}"/>
              </a:ext>
            </a:extLst>
          </p:cNvPr>
          <p:cNvSpPr txBox="1"/>
          <p:nvPr/>
        </p:nvSpPr>
        <p:spPr>
          <a:xfrm>
            <a:off x="458117" y="4678061"/>
            <a:ext cx="22014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86E9A2-63C6-E25A-5752-9C00FC9D6E00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889264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956986"/>
                  </a:ext>
                </a:extLst>
              </a:tr>
            </a:tbl>
          </a:graphicData>
        </a:graphic>
      </p:graphicFrame>
      <p:sp>
        <p:nvSpPr>
          <p:cNvPr id="6" name="Text Box 73">
            <a:extLst>
              <a:ext uri="{FF2B5EF4-FFF2-40B4-BE49-F238E27FC236}">
                <a16:creationId xmlns:a16="http://schemas.microsoft.com/office/drawing/2014/main" id="{C27F1755-0C59-34E4-D8B1-C5316286E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62573-9183-0B3A-6A93-3C857900E313}"/>
              </a:ext>
            </a:extLst>
          </p:cNvPr>
          <p:cNvSpPr txBox="1"/>
          <p:nvPr/>
        </p:nvSpPr>
        <p:spPr>
          <a:xfrm>
            <a:off x="458117" y="5758859"/>
            <a:ext cx="246919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비고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dmt_birqRmrkCnInfo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DC18F62-DCE3-5DF3-65FE-05BBE562069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5970062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8161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8AB979B-14AB-5021-AD38-81AFF5B86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541040"/>
              </p:ext>
            </p:extLst>
          </p:nvPr>
        </p:nvGraphicFramePr>
        <p:xfrm>
          <a:off x="453000" y="1042241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D0B2BC4-AD71-7E59-D96E-28B493C7629B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FB61C3E7-13C7-F5C3-BE78-71C249A4A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01928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777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37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3758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1926930"/>
            <a:ext cx="2630093" cy="1123811"/>
            <a:chOff x="3836701" y="2575831"/>
            <a:chExt cx="2630093" cy="1123811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업체정보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871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752297"/>
            <a:chOff x="720490" y="4465173"/>
            <a:chExt cx="2630093" cy="75229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4395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2210802" cy="107722"/>
            <a:chOff x="764169" y="4142235"/>
            <a:chExt cx="2210802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6001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신청금액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51333" y="4142235"/>
              <a:ext cx="46270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06088" y="4142235"/>
              <a:ext cx="36888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>
                  <a:latin typeface="+mn-ea"/>
                </a:rPr>
                <a:t>첨부파일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0" name="그룹 179"/>
          <p:cNvGrpSpPr/>
          <p:nvPr/>
        </p:nvGrpSpPr>
        <p:grpSpPr>
          <a:xfrm>
            <a:off x="3866367" y="1638089"/>
            <a:ext cx="2210802" cy="107722"/>
            <a:chOff x="764169" y="4142235"/>
            <a:chExt cx="2210802" cy="107722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6001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신청금액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51333" y="4142235"/>
              <a:ext cx="46270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06088" y="4142235"/>
              <a:ext cx="36888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>
                  <a:latin typeface="+mn-ea"/>
                </a:rPr>
                <a:t>첨부파일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1599028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1" name="그룹 14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172" name="직선 연결선 17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43" name="타원 142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45" name="그룹 144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70" name="직선 연결선 16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그룹 145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68" name="직선 연결선 16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7" name="타원 14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50" name="타원 149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53" name="타원 152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57" name="그룹 156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58" name="타원 157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62" name="그룹 16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65" name="직선 연결선 16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직선 연결선 16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74" name="직사각형 173"/>
          <p:cNvSpPr/>
          <p:nvPr/>
        </p:nvSpPr>
        <p:spPr>
          <a:xfrm>
            <a:off x="7057780" y="6054387"/>
            <a:ext cx="2345790" cy="17791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b="1" dirty="0" smtClean="0">
                <a:solidFill>
                  <a:schemeClr val="bg1"/>
                </a:solidFill>
              </a:rPr>
              <a:t>0706) </a:t>
            </a:r>
            <a:r>
              <a:rPr lang="ko-KR" altLang="en-US" sz="500" b="1" dirty="0" err="1" smtClean="0">
                <a:solidFill>
                  <a:schemeClr val="bg1"/>
                </a:solidFill>
              </a:rPr>
              <a:t>납품금액</a:t>
            </a:r>
            <a:r>
              <a:rPr lang="en-US" altLang="ko-KR" sz="500" b="1" dirty="0" smtClean="0">
                <a:solidFill>
                  <a:schemeClr val="bg1"/>
                </a:solidFill>
              </a:rPr>
              <a:t> </a:t>
            </a:r>
            <a:r>
              <a:rPr lang="ko-KR" altLang="en-US" sz="500" b="1" dirty="0" smtClean="0">
                <a:solidFill>
                  <a:schemeClr val="bg1"/>
                </a:solidFill>
              </a:rPr>
              <a:t>누락</a:t>
            </a:r>
            <a:endParaRPr lang="ko-KR" altLang="ko-KR" sz="500" dirty="0">
              <a:solidFill>
                <a:schemeClr val="bg1"/>
              </a:solidFill>
            </a:endParaRPr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67770" y="51973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77" name="타원 17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4618" y="22023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38843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2620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65186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7073" y="23888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99111" y="25356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6599" y="27561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0" name="텍스트 개체 틀 2"/>
          <p:cNvSpPr txBox="1">
            <a:spLocks/>
          </p:cNvSpPr>
          <p:nvPr/>
        </p:nvSpPr>
        <p:spPr>
          <a:xfrm>
            <a:off x="7068896" y="1475995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판단번호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, 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판단번호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전체노출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/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신청정보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err="1" smtClean="0"/>
              <a:t>계약정보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기성대가신청금액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세금계산서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첨부파일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세금계산서인 경우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화면에서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세금계산서번호 선택 을 체크한 경우 노출</a:t>
            </a:r>
            <a:r>
              <a:rPr lang="en-US" altLang="ko-KR" sz="800" dirty="0" smtClean="0"/>
              <a:t>＂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계약정보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현 상세내용 탭에서는 </a:t>
            </a:r>
            <a:r>
              <a:rPr lang="en-US" altLang="ko-KR" sz="800" dirty="0" smtClean="0"/>
              <a:t>(+)</a:t>
            </a:r>
            <a:r>
              <a:rPr lang="ko-KR" altLang="en-US" sz="800" dirty="0" smtClean="0"/>
              <a:t>더하기 버튼 없음</a:t>
            </a:r>
            <a:endParaRPr lang="en-US" altLang="ko-KR" sz="800" dirty="0" smtClean="0"/>
          </a:p>
          <a:p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2742655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4240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894411"/>
            <a:ext cx="2630093" cy="752298"/>
            <a:chOff x="720490" y="4465173"/>
            <a:chExt cx="2630093" cy="752298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9"/>
              <a:ext cx="792000" cy="4448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2039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716366" y="2799745"/>
            <a:ext cx="2630093" cy="1123811"/>
            <a:chOff x="3836701" y="2575831"/>
            <a:chExt cx="2630093" cy="112381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업체정보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8722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561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720490" y="1493927"/>
            <a:ext cx="2626449" cy="354413"/>
            <a:chOff x="720490" y="4004429"/>
            <a:chExt cx="2626449" cy="354413"/>
          </a:xfrm>
        </p:grpSpPr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0" name="그룹 39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계약정보</a:t>
                </a:r>
                <a:endParaRPr lang="ko-KR" altLang="en-US" sz="700" b="1" dirty="0">
                  <a:latin typeface="+mn-ea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기성대가</a:t>
                </a:r>
                <a:r>
                  <a:rPr lang="ko-KR" altLang="en-US" sz="700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>
                    <a:latin typeface="+mn-ea"/>
                  </a:rPr>
                  <a:t>첨부파일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grpSp>
          <p:nvGrpSpPr>
            <p:cNvPr id="45" name="그룹 44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46" name="타원 45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7" name="그룹 46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53" name="직선 연결선 5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연결선 5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타원 47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9" name="그룹 48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50" name="직선 연결선 49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연결선 5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8549606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기성대가신청금액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24695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16848"/>
            <a:ext cx="2630093" cy="3662541"/>
            <a:chOff x="3865118" y="2946204"/>
            <a:chExt cx="2630093" cy="366254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36315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선급금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총기성율</a:t>
              </a:r>
              <a:r>
                <a:rPr lang="en-US" altLang="ko-KR" sz="700" dirty="0">
                  <a:latin typeface="+mn-ea"/>
                </a:rPr>
                <a:t>(%)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선금정산액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금회정산액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332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69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03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40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5777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93666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75093" y="2499355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과세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2371" y="4434927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확정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2" name="그룹 61"/>
          <p:cNvGrpSpPr/>
          <p:nvPr/>
        </p:nvGrpSpPr>
        <p:grpSpPr>
          <a:xfrm>
            <a:off x="3923699" y="1915110"/>
            <a:ext cx="2456097" cy="181140"/>
            <a:chOff x="763157" y="1527996"/>
            <a:chExt cx="2456097" cy="181140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 금액</a:t>
              </a: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8" name="그룹 67"/>
          <p:cNvGrpSpPr/>
          <p:nvPr/>
        </p:nvGrpSpPr>
        <p:grpSpPr>
          <a:xfrm>
            <a:off x="3836701" y="2207263"/>
            <a:ext cx="2630093" cy="3662541"/>
            <a:chOff x="3865118" y="2946204"/>
            <a:chExt cx="2630093" cy="3662541"/>
          </a:xfrm>
        </p:grpSpPr>
        <p:sp>
          <p:nvSpPr>
            <p:cNvPr id="69" name="직사각형 68"/>
            <p:cNvSpPr/>
            <p:nvPr/>
          </p:nvSpPr>
          <p:spPr>
            <a:xfrm>
              <a:off x="3867211" y="2946204"/>
              <a:ext cx="792000" cy="36315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선급금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총기성율</a:t>
              </a:r>
              <a:r>
                <a:rPr lang="en-US" altLang="ko-KR" sz="700" dirty="0">
                  <a:latin typeface="+mn-ea"/>
                </a:rPr>
                <a:t>(%)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선금정산액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금회정산액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332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69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03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40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5777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92708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9918" y="2490494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면세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94576" y="4425342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예정</a:t>
            </a:r>
          </a:p>
        </p:txBody>
      </p:sp>
      <p:sp>
        <p:nvSpPr>
          <p:cNvPr id="110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- 1-1] </a:t>
            </a:r>
            <a:r>
              <a:rPr lang="ko-KR" altLang="en-US" dirty="0" smtClean="0"/>
              <a:t>대금 </a:t>
            </a:r>
            <a:r>
              <a:rPr lang="ko-KR" altLang="en-US" dirty="0" err="1" smtClean="0"/>
              <a:t>신청시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지급구분별</a:t>
            </a:r>
            <a:r>
              <a:rPr lang="ko-KR" altLang="en-US" dirty="0" smtClean="0"/>
              <a:t> 항목 확인 필요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- 1-2] </a:t>
            </a:r>
            <a:r>
              <a:rPr lang="ko-KR" altLang="en-US" dirty="0" err="1" smtClean="0"/>
              <a:t>세액여부별</a:t>
            </a:r>
            <a:r>
              <a:rPr lang="ko-KR" altLang="en-US" dirty="0" smtClean="0"/>
              <a:t> 항목 확인 필요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세액 여부</a:t>
            </a:r>
            <a:r>
              <a:rPr lang="en-US" altLang="ko-KR" dirty="0" smtClean="0"/>
              <a:t>) </a:t>
            </a:r>
            <a:r>
              <a:rPr lang="ko-KR" altLang="en-US" dirty="0" smtClean="0"/>
              <a:t>과세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면세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영세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- 1-3] </a:t>
            </a:r>
            <a:r>
              <a:rPr lang="ko-KR" altLang="en-US" dirty="0" err="1" smtClean="0"/>
              <a:t>신고구분</a:t>
            </a:r>
            <a:r>
              <a:rPr lang="en-US" altLang="ko-KR" dirty="0"/>
              <a:t>: </a:t>
            </a:r>
            <a:r>
              <a:rPr lang="ko-KR" altLang="en-US" dirty="0"/>
              <a:t>확정</a:t>
            </a:r>
            <a:r>
              <a:rPr lang="en-US" altLang="ko-KR" dirty="0"/>
              <a:t>, </a:t>
            </a:r>
            <a:r>
              <a:rPr lang="ko-KR" altLang="en-US" dirty="0" smtClean="0"/>
              <a:t>예정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7837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2201177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6222" y="2476938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441530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1-3</a:t>
            </a:r>
            <a:endParaRPr lang="ko-KR" altLang="en-US" sz="500" b="1" dirty="0"/>
          </a:p>
        </p:txBody>
      </p:sp>
      <p:grpSp>
        <p:nvGrpSpPr>
          <p:cNvPr id="93" name="그룹 92"/>
          <p:cNvGrpSpPr/>
          <p:nvPr/>
        </p:nvGrpSpPr>
        <p:grpSpPr>
          <a:xfrm>
            <a:off x="720490" y="1493927"/>
            <a:ext cx="2626449" cy="354413"/>
            <a:chOff x="720490" y="4004429"/>
            <a:chExt cx="2626449" cy="354413"/>
          </a:xfrm>
        </p:grpSpPr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1203209" y="4358842"/>
              <a:ext cx="747365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8" name="그룹 97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기성대가</a:t>
                </a:r>
                <a:r>
                  <a:rPr lang="ko-KR" altLang="en-US" sz="700" b="1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>
                    <a:latin typeface="+mn-ea"/>
                  </a:rPr>
                  <a:t>첨부파일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grpSp>
          <p:nvGrpSpPr>
            <p:cNvPr id="99" name="그룹 98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100" name="타원 99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1" name="그룹 100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08" name="직선 연결선 107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직선 연결선 108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타원 101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4" name="그룹 103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06" name="직선 연결선 1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직선 연결선 1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43" name="그룹 142"/>
          <p:cNvGrpSpPr/>
          <p:nvPr/>
        </p:nvGrpSpPr>
        <p:grpSpPr>
          <a:xfrm>
            <a:off x="3840345" y="1493927"/>
            <a:ext cx="2626449" cy="354413"/>
            <a:chOff x="720490" y="4004429"/>
            <a:chExt cx="2626449" cy="354413"/>
          </a:xfrm>
        </p:grpSpPr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1203209" y="4358842"/>
              <a:ext cx="747365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7" name="그룹 146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기성대가</a:t>
                </a:r>
                <a:r>
                  <a:rPr lang="ko-KR" altLang="en-US" sz="700" b="1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>
                    <a:latin typeface="+mn-ea"/>
                  </a:rPr>
                  <a:t>첨부파일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grpSp>
          <p:nvGrpSpPr>
            <p:cNvPr id="148" name="그룹 147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149" name="타원 148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0" name="그룹 14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56" name="직선 연결선 15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직선 연결선 15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1" name="타원 15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2" name="그룹 15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53" name="직선 연결선 15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직선 연결선 15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4213953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기성대가신청금액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22965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15118"/>
            <a:ext cx="2630093" cy="3662541"/>
            <a:chOff x="3865118" y="2946204"/>
            <a:chExt cx="2630093" cy="366254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36315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선급금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총기성율</a:t>
              </a:r>
              <a:r>
                <a:rPr lang="en-US" altLang="ko-KR" sz="700" dirty="0">
                  <a:latin typeface="+mn-ea"/>
                </a:rPr>
                <a:t>(%)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선금정산액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금회정산액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332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69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03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40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5777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93493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75093" y="2497625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영세</a:t>
            </a:r>
            <a:endParaRPr lang="ko-KR" altLang="en-US" sz="700" dirty="0"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2371" y="4433197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예정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0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- 1-1] </a:t>
            </a:r>
            <a:r>
              <a:rPr lang="ko-KR" altLang="en-US" dirty="0" smtClean="0"/>
              <a:t>대금 </a:t>
            </a:r>
            <a:r>
              <a:rPr lang="ko-KR" altLang="en-US" dirty="0" err="1" smtClean="0"/>
              <a:t>신청시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지급구분별</a:t>
            </a:r>
            <a:r>
              <a:rPr lang="ko-KR" altLang="en-US" dirty="0" smtClean="0"/>
              <a:t> 항목 확인 필요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- 1-2] </a:t>
            </a:r>
            <a:r>
              <a:rPr lang="ko-KR" altLang="en-US" dirty="0" err="1" smtClean="0"/>
              <a:t>세액여부별</a:t>
            </a:r>
            <a:r>
              <a:rPr lang="ko-KR" altLang="en-US" dirty="0" smtClean="0"/>
              <a:t> 항목 확인 필요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세액 여부</a:t>
            </a:r>
            <a:r>
              <a:rPr lang="en-US" altLang="ko-KR" dirty="0" smtClean="0"/>
              <a:t>) </a:t>
            </a:r>
            <a:r>
              <a:rPr lang="ko-KR" altLang="en-US" dirty="0" smtClean="0"/>
              <a:t>과세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면세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영세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- 1-3] </a:t>
            </a:r>
            <a:r>
              <a:rPr lang="ko-KR" altLang="en-US" dirty="0" err="1" smtClean="0"/>
              <a:t>신고구분</a:t>
            </a:r>
            <a:r>
              <a:rPr lang="en-US" altLang="ko-KR" dirty="0"/>
              <a:t>: </a:t>
            </a:r>
            <a:r>
              <a:rPr lang="ko-KR" altLang="en-US" dirty="0"/>
              <a:t>확정</a:t>
            </a:r>
            <a:r>
              <a:rPr lang="en-US" altLang="ko-KR" dirty="0"/>
              <a:t>, </a:t>
            </a:r>
            <a:r>
              <a:rPr lang="ko-KR" altLang="en-US" dirty="0" smtClean="0"/>
              <a:t>예정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7664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2199447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6222" y="2475208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441357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1-3</a:t>
            </a:r>
            <a:endParaRPr lang="ko-KR" altLang="en-US" sz="500" b="1" dirty="0"/>
          </a:p>
        </p:txBody>
      </p:sp>
      <p:grpSp>
        <p:nvGrpSpPr>
          <p:cNvPr id="44" name="그룹 43"/>
          <p:cNvGrpSpPr/>
          <p:nvPr/>
        </p:nvGrpSpPr>
        <p:grpSpPr>
          <a:xfrm>
            <a:off x="720490" y="1493927"/>
            <a:ext cx="2626449" cy="354413"/>
            <a:chOff x="720490" y="4004429"/>
            <a:chExt cx="2626449" cy="354413"/>
          </a:xfrm>
        </p:grpSpPr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1203209" y="4358842"/>
              <a:ext cx="747365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50" name="그룹 49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기성대가</a:t>
                </a:r>
                <a:r>
                  <a:rPr lang="ko-KR" altLang="en-US" sz="700" b="1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>
                    <a:latin typeface="+mn-ea"/>
                  </a:rPr>
                  <a:t>첨부파일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grpSp>
          <p:nvGrpSpPr>
            <p:cNvPr id="51" name="그룹 50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52" name="타원 51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3" name="그룹 52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3" name="직선 연결선 6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4" name="타원 53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6" name="그룹 55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1" name="직선 연결선 60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연결선 6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22676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altLang="ko-KR" dirty="0">
                <a:latin typeface="+mn-ea"/>
              </a:rPr>
              <a:t>PC</a:t>
            </a:r>
            <a:r>
              <a:rPr lang="ko-KR" altLang="en-US" dirty="0">
                <a:latin typeface="+mn-ea"/>
              </a:rPr>
              <a:t>에서 사후정산청구서 작성시</a:t>
            </a:r>
            <a:r>
              <a:rPr lang="en-US" altLang="ko-KR" dirty="0">
                <a:latin typeface="+mn-ea"/>
              </a:rPr>
              <a:t>(UI-WM-01-M47), </a:t>
            </a:r>
            <a:r>
              <a:rPr lang="ko-KR" altLang="en-US" dirty="0">
                <a:latin typeface="+mn-ea"/>
              </a:rPr>
              <a:t>세금계산서</a:t>
            </a:r>
            <a:r>
              <a:rPr lang="en-US" altLang="ko-KR" dirty="0">
                <a:latin typeface="+mn-ea"/>
              </a:rPr>
              <a:t> “</a:t>
            </a:r>
            <a:r>
              <a:rPr lang="ko-KR" altLang="en-US" dirty="0">
                <a:latin typeface="+mn-ea"/>
              </a:rPr>
              <a:t>선택</a:t>
            </a:r>
            <a:r>
              <a:rPr lang="en-US" altLang="ko-KR" dirty="0">
                <a:latin typeface="+mn-ea"/>
              </a:rPr>
              <a:t>” </a:t>
            </a:r>
            <a:r>
              <a:rPr lang="ko-KR" altLang="en-US" dirty="0">
                <a:latin typeface="+mn-ea"/>
              </a:rPr>
              <a:t>을 선택한 경우 노출 되는 항목</a:t>
            </a:r>
            <a:endParaRPr lang="en-US" altLang="ko-KR" dirty="0"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dirty="0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1937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11528"/>
            <a:ext cx="2630093" cy="235931"/>
            <a:chOff x="3865118" y="2946203"/>
            <a:chExt cx="2630093" cy="23593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359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세금계산서번호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7303" y="2946204"/>
              <a:ext cx="17696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1234-5678-9012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7305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60829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그룹 48"/>
          <p:cNvGrpSpPr/>
          <p:nvPr/>
        </p:nvGrpSpPr>
        <p:grpSpPr>
          <a:xfrm>
            <a:off x="716366" y="2781885"/>
            <a:ext cx="2630093" cy="1292663"/>
            <a:chOff x="3865118" y="2946203"/>
            <a:chExt cx="2630093" cy="1292663"/>
          </a:xfrm>
        </p:grpSpPr>
        <p:sp>
          <p:nvSpPr>
            <p:cNvPr id="50" name="직사각형 49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4" y="2508538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 정보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716366" y="4182258"/>
            <a:ext cx="2630093" cy="1292663"/>
            <a:chOff x="3865118" y="2946203"/>
            <a:chExt cx="2630093" cy="1292663"/>
          </a:xfrm>
        </p:grpSpPr>
        <p:sp>
          <p:nvSpPr>
            <p:cNvPr id="72" name="직사각형 71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671901"/>
            <a:ext cx="76863" cy="292489"/>
            <a:chOff x="3750067" y="4683795"/>
            <a:chExt cx="76863" cy="292489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720490" y="1493927"/>
            <a:ext cx="2626449" cy="354413"/>
            <a:chOff x="720490" y="4004429"/>
            <a:chExt cx="2626449" cy="354413"/>
          </a:xfrm>
        </p:grpSpPr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2033915" y="4358842"/>
              <a:ext cx="480123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7" name="그룹 66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기성대가</a:t>
                </a:r>
                <a:r>
                  <a:rPr lang="ko-KR" altLang="en-US" sz="700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>
                    <a:latin typeface="+mn-ea"/>
                  </a:rPr>
                  <a:t>첨부파일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grpSp>
          <p:nvGrpSpPr>
            <p:cNvPr id="68" name="그룹 67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69" name="타원 68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6" name="그룹 85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91" name="직선 연결선 90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직선 연결선 9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7" name="타원 8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8" name="그룹 87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89" name="직선 연결선 8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직선 연결선 8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7914900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계약에 등록된 </a:t>
            </a:r>
            <a:r>
              <a:rPr lang="ko-KR" altLang="en-US" sz="800" dirty="0" err="1"/>
              <a:t>계약관</a:t>
            </a:r>
            <a:r>
              <a:rPr lang="ko-KR" altLang="en-US" sz="800" dirty="0"/>
              <a:t> 첨부서류 </a:t>
            </a:r>
            <a:r>
              <a:rPr lang="ko-KR" altLang="en-US" sz="800" dirty="0" err="1"/>
              <a:t>목록조회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default) 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아코디언 전체 펼침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업로드 기능 </a:t>
            </a:r>
            <a:r>
              <a:rPr lang="ko-KR" altLang="en-US" sz="800" dirty="0" err="1"/>
              <a:t>미지원</a:t>
            </a:r>
            <a:r>
              <a:rPr lang="ko-KR" altLang="en-US" sz="800" dirty="0"/>
              <a:t>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대금청구</a:t>
            </a:r>
            <a:r>
              <a:rPr lang="ko-KR" altLang="en-US" sz="800" dirty="0"/>
              <a:t> 첨부서류에 첨부된 파일이 있는 경우에만 목록 노출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파일 목록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정렬</a:t>
            </a:r>
            <a:r>
              <a:rPr lang="en-US" altLang="ko-KR" sz="800" dirty="0"/>
              <a:t> : </a:t>
            </a:r>
            <a:r>
              <a:rPr lang="ko-KR" altLang="en-US" sz="800" dirty="0"/>
              <a:t>파일 업로드 시점의 </a:t>
            </a:r>
            <a:r>
              <a:rPr lang="ko-KR" altLang="en-US" sz="800" dirty="0" err="1"/>
              <a:t>등록일시</a:t>
            </a:r>
            <a:r>
              <a:rPr lang="ko-KR" altLang="en-US" sz="800" dirty="0"/>
              <a:t> 내림차순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계약서류명</a:t>
            </a:r>
            <a:r>
              <a:rPr lang="en-US" altLang="ko-KR" sz="800" dirty="0"/>
              <a:t>, </a:t>
            </a:r>
            <a:r>
              <a:rPr lang="ko-KR" altLang="en-US" sz="800" dirty="0" err="1"/>
              <a:t>첨부파일명</a:t>
            </a:r>
            <a:r>
              <a:rPr lang="en-US" altLang="ko-KR" sz="800" dirty="0"/>
              <a:t>, </a:t>
            </a:r>
            <a:r>
              <a:rPr lang="ko-KR" altLang="en-US" sz="800" dirty="0"/>
              <a:t>파일 크기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 크기 정보가 없거나</a:t>
            </a:r>
            <a:r>
              <a:rPr lang="en-US" altLang="ko-KR" sz="800" dirty="0"/>
              <a:t>, </a:t>
            </a:r>
            <a:r>
              <a:rPr lang="ko-KR" altLang="en-US" sz="800" dirty="0"/>
              <a:t>첨부서류 파일명이 없는 경우 </a:t>
            </a:r>
            <a:r>
              <a:rPr lang="en-US" altLang="ko-KR" sz="800" dirty="0"/>
              <a:t>“-” </a:t>
            </a:r>
            <a:r>
              <a:rPr lang="ko-KR" altLang="en-US" sz="800" dirty="0"/>
              <a:t>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파일명이 긴 경우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다운로드 아이콘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다운로드 </a:t>
            </a:r>
            <a:r>
              <a:rPr lang="ko-KR" altLang="en-US" sz="800" dirty="0" err="1"/>
              <a:t>클릭시</a:t>
            </a:r>
            <a:r>
              <a:rPr lang="en-US" altLang="ko-KR" sz="800" dirty="0"/>
              <a:t>, </a:t>
            </a:r>
            <a:r>
              <a:rPr lang="ko-KR" altLang="en-US" sz="800" dirty="0"/>
              <a:t>즉시 다운로드 실행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 다운로드 </a:t>
            </a:r>
            <a:r>
              <a:rPr lang="ko-KR" altLang="en-US" sz="800" dirty="0" err="1"/>
              <a:t>실패시</a:t>
            </a:r>
            <a:r>
              <a:rPr lang="ko-KR" altLang="en-US" sz="800" dirty="0"/>
              <a:t> </a:t>
            </a:r>
            <a:r>
              <a:rPr lang="en-US" altLang="ko-KR" sz="800" dirty="0"/>
              <a:t>, “</a:t>
            </a:r>
            <a:r>
              <a:rPr lang="ko-KR" altLang="en-US" sz="800" dirty="0"/>
              <a:t>다운로드에 실패했습니다</a:t>
            </a:r>
            <a:r>
              <a:rPr lang="en-US" altLang="ko-KR" sz="800" dirty="0"/>
              <a:t>”</a:t>
            </a:r>
            <a:r>
              <a:rPr lang="ko-KR" altLang="en-US" sz="800" dirty="0"/>
              <a:t> 토스트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다운로드 </a:t>
            </a:r>
            <a:r>
              <a:rPr lang="ko-KR" altLang="en-US" sz="800" dirty="0" err="1"/>
              <a:t>성공시</a:t>
            </a:r>
            <a:r>
              <a:rPr lang="ko-KR" altLang="en-US" sz="800" dirty="0"/>
              <a:t> </a:t>
            </a:r>
            <a:r>
              <a:rPr lang="en-US" altLang="ko-KR" sz="800" dirty="0"/>
              <a:t>“</a:t>
            </a:r>
            <a:r>
              <a:rPr lang="ko-KR" altLang="en-US" sz="800" dirty="0"/>
              <a:t>다운로드에 성공했습니다</a:t>
            </a:r>
            <a:r>
              <a:rPr lang="en-US" altLang="ko-KR" sz="800" dirty="0"/>
              <a:t>“ </a:t>
            </a:r>
            <a:r>
              <a:rPr lang="ko-KR" altLang="en-US" sz="800" dirty="0"/>
              <a:t>노출</a:t>
            </a:r>
            <a:endParaRPr lang="en-US" altLang="ko-KR" sz="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첨부파일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MUI-WM-01-T19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8613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1" name="그룹 60"/>
          <p:cNvGrpSpPr/>
          <p:nvPr/>
        </p:nvGrpSpPr>
        <p:grpSpPr>
          <a:xfrm>
            <a:off x="806578" y="1931604"/>
            <a:ext cx="2456097" cy="181140"/>
            <a:chOff x="763157" y="1527996"/>
            <a:chExt cx="2456097" cy="181140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70" name="그룹 69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71" name="직선 연결선 7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직선 연결선 7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73" name="타원 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9374" y="1985284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74" name="그룹 73"/>
          <p:cNvGrpSpPr/>
          <p:nvPr/>
        </p:nvGrpSpPr>
        <p:grpSpPr>
          <a:xfrm>
            <a:off x="678614" y="2194872"/>
            <a:ext cx="2712026" cy="1339020"/>
            <a:chOff x="4063785" y="1972404"/>
            <a:chExt cx="2712026" cy="1339020"/>
          </a:xfrm>
        </p:grpSpPr>
        <p:grpSp>
          <p:nvGrpSpPr>
            <p:cNvPr id="75" name="그룹 74"/>
            <p:cNvGrpSpPr/>
            <p:nvPr/>
          </p:nvGrpSpPr>
          <p:grpSpPr>
            <a:xfrm>
              <a:off x="4063785" y="1972404"/>
              <a:ext cx="2712026" cy="1339020"/>
              <a:chOff x="3795735" y="3141693"/>
              <a:chExt cx="2712026" cy="1339020"/>
            </a:xfrm>
          </p:grpSpPr>
          <p:sp>
            <p:nvSpPr>
              <p:cNvPr id="78" name="모서리가 둥근 직사각형 77"/>
              <p:cNvSpPr/>
              <p:nvPr/>
            </p:nvSpPr>
            <p:spPr>
              <a:xfrm>
                <a:off x="3831550" y="3276811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412605"/>
                <a:ext cx="168273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405193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1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81" name="타원 80"/>
              <p:cNvSpPr/>
              <p:nvPr/>
            </p:nvSpPr>
            <p:spPr>
              <a:xfrm>
                <a:off x="6240167" y="3387054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모서리가 둥근 직사각형 81"/>
              <p:cNvSpPr/>
              <p:nvPr/>
            </p:nvSpPr>
            <p:spPr>
              <a:xfrm>
                <a:off x="3831550" y="3683497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819291"/>
                <a:ext cx="141278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811879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2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85" name="타원 84"/>
              <p:cNvSpPr/>
              <p:nvPr/>
            </p:nvSpPr>
            <p:spPr>
              <a:xfrm>
                <a:off x="6240167" y="3793740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4" name="직선 연결선 9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795735" y="4480713"/>
                <a:ext cx="2712026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332218" y="3141693"/>
                <a:ext cx="47434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6101185" y="3141693"/>
                <a:ext cx="32496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다운로드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838314" y="3141693"/>
                <a:ext cx="390650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항목번호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76" name="직사각형 75"/>
            <p:cNvSpPr/>
            <p:nvPr/>
          </p:nvSpPr>
          <p:spPr>
            <a:xfrm>
              <a:off x="5968922" y="2605294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5965336" y="2159928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</p:grpSp>
      <p:sp>
        <p:nvSpPr>
          <p:cNvPr id="98" name="타원 9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10067" y="23348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177109" y="296764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0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28750" y="593355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실패했습니다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11842" y="572603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성공했습니다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056330" y="583712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37" name="그룹 36"/>
          <p:cNvGrpSpPr/>
          <p:nvPr/>
        </p:nvGrpSpPr>
        <p:grpSpPr>
          <a:xfrm>
            <a:off x="720490" y="1493927"/>
            <a:ext cx="2626449" cy="354413"/>
            <a:chOff x="720490" y="4004429"/>
            <a:chExt cx="2626449" cy="354413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2580165" y="4358842"/>
              <a:ext cx="480123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1" name="그룹 40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기성대가</a:t>
                </a:r>
                <a:r>
                  <a:rPr lang="ko-KR" altLang="en-US" sz="700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43" name="타원 4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4" name="그룹 43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9" name="직선 연결선 4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연결선 4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타원 4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7" name="직선 연결선 4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직선 연결선 47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3433762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999250B-FAE2-1F51-9C67-0E7F19794195}"/>
              </a:ext>
            </a:extLst>
          </p:cNvPr>
          <p:cNvSpPr txBox="1"/>
          <p:nvPr/>
        </p:nvSpPr>
        <p:spPr>
          <a:xfrm>
            <a:off x="458117" y="1652198"/>
            <a:ext cx="3410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대금신청업체정보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dmt_pymtAplyBzentyInfo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9B73F11-43C8-323E-2BCE-3FE211E579A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863401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BC6AD7A-7FEA-F809-E71E-27313A032F8A}"/>
              </a:ext>
            </a:extLst>
          </p:cNvPr>
          <p:cNvSpPr txBox="1"/>
          <p:nvPr/>
        </p:nvSpPr>
        <p:spPr>
          <a:xfrm>
            <a:off x="462469" y="2845273"/>
            <a:ext cx="357045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기성대가 신청 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dmt_PxcndCstAplyAmtInfo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6E49579-C1CC-D6B3-07FE-10A047B3DC53}"/>
              </a:ext>
            </a:extLst>
          </p:cNvPr>
          <p:cNvGraphicFramePr>
            <a:graphicFrameLocks noGrp="1"/>
          </p:cNvGraphicFramePr>
          <p:nvPr/>
        </p:nvGraphicFramePr>
        <p:xfrm>
          <a:off x="457351" y="3056476"/>
          <a:ext cx="8994883" cy="3490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EPNC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B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ddcSplyEqvl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ddcTxamt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ddcDsctnNm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선급금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선급금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647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총기성율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tpxcndRt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총기성율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648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총기성금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tpxcndAmt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총기성금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566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선금정산액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prpayClclnAmt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선금정산액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755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금회정산액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tstmClclnAmt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금회정산액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899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76F2115-AEA5-60DF-F20F-00DC038CE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51986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22014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3935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74032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A458C6-2001-CF3F-FE8A-1FE6B042F616}"/>
              </a:ext>
            </a:extLst>
          </p:cNvPr>
          <p:cNvSpPr txBox="1"/>
          <p:nvPr/>
        </p:nvSpPr>
        <p:spPr>
          <a:xfrm>
            <a:off x="458117" y="1879207"/>
            <a:ext cx="227843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9933174-C333-B54F-7FFD-9E0BA3052E1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090410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txivChcYn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 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N :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선택안함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bllPblcnYmd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yyyy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-mm-dd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splyEqvl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56D7E0CC-76BD-6960-A965-C8968E78B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FD3C76-3065-7A09-0BCD-20F59635848B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6620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68</a:t>
            </a:fld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0D48BDBB-D0E4-C290-79F1-6E5379B7A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085978"/>
              </p:ext>
            </p:extLst>
          </p:nvPr>
        </p:nvGraphicFramePr>
        <p:xfrm>
          <a:off x="453000" y="1068364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570381A-11EA-037D-2035-048FAEF0D9C1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0564137D-18F6-F736-06A0-678331B91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6173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안내문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안내문 팝업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화면의 </a:t>
            </a:r>
            <a:r>
              <a:rPr lang="ko-KR" altLang="en-US" dirty="0" err="1"/>
              <a:t>대금청구</a:t>
            </a:r>
            <a:r>
              <a:rPr lang="ko-KR" altLang="en-US" dirty="0"/>
              <a:t> 안내문 팝업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안내문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MUI-WM-01-P09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안내문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양쪽 모서리가 둥근 사각형 64"/>
          <p:cNvSpPr/>
          <p:nvPr/>
        </p:nvSpPr>
        <p:spPr>
          <a:xfrm>
            <a:off x="676601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1762614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67" name="그룹 66"/>
          <p:cNvGrpSpPr/>
          <p:nvPr/>
        </p:nvGrpSpPr>
        <p:grpSpPr>
          <a:xfrm>
            <a:off x="3165540" y="2273335"/>
            <a:ext cx="94010" cy="94010"/>
            <a:chOff x="6812560" y="3297172"/>
            <a:chExt cx="94010" cy="94010"/>
          </a:xfrm>
        </p:grpSpPr>
        <p:cxnSp>
          <p:nvCxnSpPr>
            <p:cNvPr id="68" name="직선 연결선 67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5678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안내문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601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8" name="모서리가 둥근 직사각형 97"/>
          <p:cNvSpPr/>
          <p:nvPr/>
        </p:nvSpPr>
        <p:spPr>
          <a:xfrm rot="5400000">
            <a:off x="2663444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2572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6" name="모서리가 둥근 직사각형 335"/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5" y="3423369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6270" y="2612075"/>
            <a:ext cx="2532688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atin typeface="+mn-ea"/>
              </a:rPr>
              <a:t>&lt;</a:t>
            </a:r>
            <a:r>
              <a:rPr lang="ko-KR" altLang="en-US" sz="900" dirty="0">
                <a:latin typeface="+mn-ea"/>
              </a:rPr>
              <a:t>계약업체 </a:t>
            </a:r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시 안내문</a:t>
            </a:r>
            <a:r>
              <a:rPr lang="en-US" altLang="ko-KR" sz="900" dirty="0">
                <a:latin typeface="+mn-ea"/>
              </a:rPr>
              <a:t>&gt;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● </a:t>
            </a:r>
            <a:r>
              <a:rPr lang="ko-KR" altLang="en-US" sz="700" dirty="0">
                <a:latin typeface="+mn-ea"/>
              </a:rPr>
              <a:t>국민연금법 제</a:t>
            </a:r>
            <a:r>
              <a:rPr lang="en-US" altLang="ko-KR" sz="700" dirty="0">
                <a:latin typeface="+mn-ea"/>
              </a:rPr>
              <a:t>95</a:t>
            </a:r>
            <a:r>
              <a:rPr lang="ko-KR" altLang="en-US" sz="700" dirty="0">
                <a:latin typeface="+mn-ea"/>
              </a:rPr>
              <a:t>조의 </a:t>
            </a:r>
            <a:r>
              <a:rPr lang="en-US" altLang="ko-KR" sz="700" dirty="0">
                <a:latin typeface="+mn-ea"/>
              </a:rPr>
              <a:t>2(</a:t>
            </a:r>
            <a:r>
              <a:rPr lang="ko-KR" altLang="en-US" sz="700" dirty="0">
                <a:latin typeface="+mn-ea"/>
              </a:rPr>
              <a:t>연금보험료 등의 </a:t>
            </a:r>
            <a:r>
              <a:rPr lang="ko-KR" altLang="en-US" sz="700" dirty="0" err="1">
                <a:latin typeface="+mn-ea"/>
              </a:rPr>
              <a:t>납부증명</a:t>
            </a:r>
            <a:r>
              <a:rPr lang="en-US" altLang="ko-KR" sz="700" dirty="0">
                <a:latin typeface="+mn-ea"/>
              </a:rPr>
              <a:t>) </a:t>
            </a:r>
            <a:r>
              <a:rPr lang="ko-KR" altLang="en-US" sz="700" dirty="0">
                <a:latin typeface="+mn-ea"/>
              </a:rPr>
              <a:t>시행중인 제도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국민연금보험료 </a:t>
            </a:r>
            <a:r>
              <a:rPr lang="ko-KR" altLang="en-US" sz="700" dirty="0" err="1">
                <a:latin typeface="+mn-ea"/>
              </a:rPr>
              <a:t>납부증명은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대금청구시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행정정보공동이용사전동의</a:t>
            </a:r>
            <a:r>
              <a:rPr lang="ko-KR" altLang="en-US" sz="700" dirty="0">
                <a:latin typeface="+mn-ea"/>
              </a:rPr>
              <a:t> 및 사업장관리번호 입력으로 갈음합니다</a:t>
            </a:r>
            <a:r>
              <a:rPr lang="en-US" altLang="ko-KR" sz="700" dirty="0">
                <a:latin typeface="+mn-ea"/>
              </a:rPr>
              <a:t>.(</a:t>
            </a:r>
            <a:r>
              <a:rPr lang="ko-KR" altLang="en-US" sz="700" dirty="0">
                <a:latin typeface="+mn-ea"/>
              </a:rPr>
              <a:t>사업장 관리번호 문의 </a:t>
            </a:r>
            <a:r>
              <a:rPr lang="en-US" altLang="ko-KR" sz="700" dirty="0">
                <a:latin typeface="+mn-ea"/>
              </a:rPr>
              <a:t>: </a:t>
            </a:r>
            <a:r>
              <a:rPr lang="ko-KR" altLang="en-US" sz="700" dirty="0">
                <a:latin typeface="+mn-ea"/>
              </a:rPr>
              <a:t>국민연금 콜센터 </a:t>
            </a:r>
            <a:r>
              <a:rPr lang="en-US" altLang="ko-KR" sz="700" dirty="0">
                <a:latin typeface="+mn-ea"/>
              </a:rPr>
              <a:t>1355)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● </a:t>
            </a:r>
            <a:r>
              <a:rPr lang="ko-KR" altLang="en-US" sz="700" dirty="0">
                <a:latin typeface="+mn-ea"/>
              </a:rPr>
              <a:t>국민건강보험법 제</a:t>
            </a:r>
            <a:r>
              <a:rPr lang="en-US" altLang="ko-KR" sz="700" dirty="0">
                <a:latin typeface="+mn-ea"/>
              </a:rPr>
              <a:t>81</a:t>
            </a:r>
            <a:r>
              <a:rPr lang="ko-KR" altLang="en-US" sz="700" dirty="0">
                <a:latin typeface="+mn-ea"/>
              </a:rPr>
              <a:t>조의</a:t>
            </a:r>
            <a:r>
              <a:rPr lang="en-US" altLang="ko-KR" sz="700" dirty="0">
                <a:latin typeface="+mn-ea"/>
              </a:rPr>
              <a:t>3 </a:t>
            </a:r>
            <a:r>
              <a:rPr lang="ko-KR" altLang="en-US" sz="700" dirty="0">
                <a:latin typeface="+mn-ea"/>
              </a:rPr>
              <a:t>및 시행령 제</a:t>
            </a:r>
            <a:r>
              <a:rPr lang="en-US" altLang="ko-KR" sz="700" dirty="0">
                <a:latin typeface="+mn-ea"/>
              </a:rPr>
              <a:t>47</a:t>
            </a:r>
            <a:r>
              <a:rPr lang="ko-KR" altLang="en-US" sz="700" dirty="0">
                <a:latin typeface="+mn-ea"/>
              </a:rPr>
              <a:t>조의</a:t>
            </a:r>
            <a:r>
              <a:rPr lang="en-US" altLang="ko-KR" sz="700" dirty="0">
                <a:latin typeface="+mn-ea"/>
              </a:rPr>
              <a:t>3(</a:t>
            </a:r>
            <a:r>
              <a:rPr lang="ko-KR" altLang="en-US" sz="700" dirty="0">
                <a:latin typeface="+mn-ea"/>
              </a:rPr>
              <a:t>보험료의 </a:t>
            </a:r>
            <a:r>
              <a:rPr lang="ko-KR" altLang="en-US" sz="700" dirty="0" err="1">
                <a:latin typeface="+mn-ea"/>
              </a:rPr>
              <a:t>납부증명</a:t>
            </a:r>
            <a:r>
              <a:rPr lang="ko-KR" altLang="en-US" sz="700" dirty="0">
                <a:latin typeface="+mn-ea"/>
              </a:rPr>
              <a:t> 등</a:t>
            </a:r>
            <a:r>
              <a:rPr lang="en-US" altLang="ko-KR" sz="700" dirty="0">
                <a:latin typeface="+mn-ea"/>
              </a:rPr>
              <a:t>) '16.8.4.</a:t>
            </a:r>
            <a:r>
              <a:rPr lang="ko-KR" altLang="en-US" sz="700" dirty="0">
                <a:latin typeface="+mn-ea"/>
              </a:rPr>
              <a:t>시행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대상 </a:t>
            </a:r>
            <a:r>
              <a:rPr lang="en-US" altLang="ko-KR" sz="700" dirty="0">
                <a:latin typeface="+mn-ea"/>
              </a:rPr>
              <a:t>: '16</a:t>
            </a:r>
            <a:r>
              <a:rPr lang="ko-KR" altLang="en-US" sz="700" dirty="0">
                <a:latin typeface="+mn-ea"/>
              </a:rPr>
              <a:t>년 </a:t>
            </a:r>
            <a:r>
              <a:rPr lang="en-US" altLang="ko-KR" sz="700" dirty="0">
                <a:latin typeface="+mn-ea"/>
              </a:rPr>
              <a:t>8</a:t>
            </a:r>
            <a:r>
              <a:rPr lang="ko-KR" altLang="en-US" sz="700" dirty="0">
                <a:latin typeface="+mn-ea"/>
              </a:rPr>
              <a:t>월 </a:t>
            </a:r>
            <a:r>
              <a:rPr lang="en-US" altLang="ko-KR" sz="700" dirty="0">
                <a:latin typeface="+mn-ea"/>
              </a:rPr>
              <a:t>4</a:t>
            </a:r>
            <a:r>
              <a:rPr lang="ko-KR" altLang="en-US" sz="700" dirty="0">
                <a:latin typeface="+mn-ea"/>
              </a:rPr>
              <a:t>일 이후 최초로 계약의 대가를 지급받는 자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제출서류 </a:t>
            </a:r>
            <a:r>
              <a:rPr lang="en-US" altLang="ko-KR" sz="700" dirty="0">
                <a:latin typeface="+mn-ea"/>
              </a:rPr>
              <a:t>: </a:t>
            </a:r>
            <a:r>
              <a:rPr lang="ko-KR" altLang="en-US" sz="700" dirty="0">
                <a:latin typeface="+mn-ea"/>
              </a:rPr>
              <a:t>건강</a:t>
            </a:r>
            <a:r>
              <a:rPr lang="en-US" altLang="ko-KR" sz="700" dirty="0">
                <a:latin typeface="+mn-ea"/>
              </a:rPr>
              <a:t>·</a:t>
            </a:r>
            <a:r>
              <a:rPr lang="ko-KR" altLang="en-US" sz="700" dirty="0">
                <a:latin typeface="+mn-ea"/>
              </a:rPr>
              <a:t>장기요양보험료 </a:t>
            </a:r>
            <a:r>
              <a:rPr lang="ko-KR" altLang="en-US" sz="700" dirty="0" err="1">
                <a:latin typeface="+mn-ea"/>
              </a:rPr>
              <a:t>납부증명서</a:t>
            </a:r>
            <a:r>
              <a:rPr lang="ko-KR" altLang="en-US" sz="700" dirty="0">
                <a:latin typeface="+mn-ea"/>
              </a:rPr>
              <a:t> 또는 </a:t>
            </a:r>
            <a:r>
              <a:rPr lang="en-US" altLang="ko-KR" sz="700" dirty="0">
                <a:latin typeface="+mn-ea"/>
              </a:rPr>
              <a:t>4</a:t>
            </a:r>
            <a:r>
              <a:rPr lang="ko-KR" altLang="en-US" sz="700" dirty="0">
                <a:latin typeface="+mn-ea"/>
              </a:rPr>
              <a:t>대 사회보험료 </a:t>
            </a:r>
            <a:r>
              <a:rPr lang="ko-KR" altLang="en-US" sz="700" dirty="0" err="1">
                <a:latin typeface="+mn-ea"/>
              </a:rPr>
              <a:t>완납증명서</a:t>
            </a:r>
            <a:r>
              <a:rPr lang="ko-KR" altLang="en-US" sz="700" dirty="0">
                <a:latin typeface="+mn-ea"/>
              </a:rPr>
              <a:t> 발급 후 스캔하여 </a:t>
            </a: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첨부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란에 첨부하여 </a:t>
            </a:r>
            <a:r>
              <a:rPr lang="ko-KR" altLang="en-US" sz="700" dirty="0" err="1">
                <a:latin typeface="+mn-ea"/>
              </a:rPr>
              <a:t>대금청구</a:t>
            </a:r>
            <a:endParaRPr lang="ko-KR" altLang="en-US" sz="700" dirty="0">
              <a:latin typeface="+mn-ea"/>
            </a:endParaRP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［인터넷 국민건강보험공단 사회보험징수포털</a:t>
            </a:r>
            <a:r>
              <a:rPr lang="en-US" altLang="ko-KR" sz="700" dirty="0">
                <a:latin typeface="+mn-ea"/>
              </a:rPr>
              <a:t>(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http://si4n.nhis.or.kr</a:t>
            </a:r>
            <a:r>
              <a:rPr lang="en-US" altLang="ko-KR" sz="700" dirty="0">
                <a:latin typeface="+mn-ea"/>
              </a:rPr>
              <a:t>), </a:t>
            </a:r>
            <a:r>
              <a:rPr lang="ko-KR" altLang="en-US" sz="700" dirty="0">
                <a:latin typeface="+mn-ea"/>
              </a:rPr>
              <a:t>지사 방문 등 발급］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절차 </a:t>
            </a:r>
            <a:r>
              <a:rPr lang="en-US" altLang="ko-KR" sz="700" dirty="0">
                <a:latin typeface="+mn-ea"/>
              </a:rPr>
              <a:t>: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방위사업청</a:t>
            </a:r>
            <a:r>
              <a:rPr lang="ko-KR" altLang="en-US" sz="700" dirty="0">
                <a:latin typeface="+mn-ea"/>
              </a:rPr>
              <a:t> 인터넷 홈페이지 국방전자조달시스템 → 물품</a:t>
            </a:r>
            <a:r>
              <a:rPr lang="en-US" altLang="ko-KR" sz="700" dirty="0">
                <a:latin typeface="+mn-ea"/>
              </a:rPr>
              <a:t>[</a:t>
            </a:r>
            <a:r>
              <a:rPr lang="ko-KR" altLang="en-US" sz="700" dirty="0">
                <a:latin typeface="+mn-ea"/>
              </a:rPr>
              <a:t>용역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공사</a:t>
            </a:r>
            <a:r>
              <a:rPr lang="en-US" altLang="ko-KR" sz="700" dirty="0">
                <a:latin typeface="+mn-ea"/>
              </a:rPr>
              <a:t>] → </a:t>
            </a:r>
            <a:r>
              <a:rPr lang="ko-KR" altLang="en-US" sz="700" dirty="0" err="1">
                <a:latin typeface="+mn-ea"/>
              </a:rPr>
              <a:t>대금청구</a:t>
            </a:r>
            <a:endParaRPr lang="ko-KR" altLang="en-US" sz="700" dirty="0">
              <a:latin typeface="+mn-ea"/>
            </a:endParaRP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→ 대금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선금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 err="1">
                <a:latin typeface="+mn-ea"/>
              </a:rPr>
              <a:t>착중도금</a:t>
            </a:r>
            <a:r>
              <a:rPr lang="ko-KR" altLang="en-US" sz="700" dirty="0">
                <a:latin typeface="+mn-ea"/>
              </a:rPr>
              <a:t> 신청 → 우측 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첨부</a:t>
            </a:r>
            <a:r>
              <a:rPr lang="en-US" altLang="ko-KR" sz="700" dirty="0">
                <a:latin typeface="+mn-ea"/>
              </a:rPr>
              <a:t>" </a:t>
            </a:r>
            <a:r>
              <a:rPr lang="ko-KR" altLang="en-US" sz="700" dirty="0">
                <a:latin typeface="+mn-ea"/>
              </a:rPr>
              <a:t>란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 err="1">
                <a:latin typeface="+mn-ea"/>
              </a:rPr>
              <a:t>보험료납부</a:t>
            </a:r>
            <a:r>
              <a:rPr lang="ko-KR" altLang="en-US" sz="700" dirty="0">
                <a:latin typeface="+mn-ea"/>
              </a:rPr>
              <a:t> 증명서</a:t>
            </a:r>
            <a:r>
              <a:rPr lang="en-US" altLang="ko-KR" sz="700" dirty="0">
                <a:latin typeface="+mn-ea"/>
              </a:rPr>
              <a:t>) </a:t>
            </a:r>
            <a:r>
              <a:rPr lang="ko-KR" altLang="en-US" sz="700" dirty="0">
                <a:latin typeface="+mn-ea"/>
              </a:rPr>
              <a:t>첨부 제출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5403" y="2612075"/>
            <a:ext cx="2532688" cy="7540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신청 전 </a:t>
            </a:r>
            <a:r>
              <a:rPr lang="en-US" altLang="ko-KR" sz="700" dirty="0">
                <a:latin typeface="+mn-ea"/>
              </a:rPr>
              <a:t>: </a:t>
            </a:r>
          </a:p>
          <a:p>
            <a:r>
              <a:rPr lang="ko-KR" altLang="en-US" sz="700" dirty="0">
                <a:latin typeface="+mn-ea"/>
              </a:rPr>
              <a:t>기반</a:t>
            </a:r>
            <a:r>
              <a:rPr lang="en-US" altLang="ko-KR" sz="700" dirty="0">
                <a:latin typeface="+mn-ea"/>
              </a:rPr>
              <a:t>_</a:t>
            </a:r>
            <a:r>
              <a:rPr lang="ko-KR" altLang="en-US" sz="700" dirty="0" err="1">
                <a:latin typeface="+mn-ea"/>
              </a:rPr>
              <a:t>지출심사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02)2079-4791,4793,4794</a:t>
            </a:r>
            <a:r>
              <a:rPr lang="ko-KR" altLang="en-US" sz="700" dirty="0">
                <a:latin typeface="+mn-ea"/>
              </a:rPr>
              <a:t>］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미래</a:t>
            </a:r>
            <a:r>
              <a:rPr lang="en-US" altLang="ko-KR" sz="700" dirty="0">
                <a:latin typeface="+mn-ea"/>
              </a:rPr>
              <a:t>_</a:t>
            </a:r>
            <a:r>
              <a:rPr lang="ko-KR" altLang="en-US" sz="700" dirty="0" err="1">
                <a:latin typeface="+mn-ea"/>
              </a:rPr>
              <a:t>지출심사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02)2079-4021,4023,4024</a:t>
            </a:r>
            <a:r>
              <a:rPr lang="ko-KR" altLang="en-US" sz="700" dirty="0">
                <a:latin typeface="+mn-ea"/>
              </a:rPr>
              <a:t>］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신청 후 </a:t>
            </a:r>
            <a:r>
              <a:rPr lang="en-US" altLang="ko-KR" sz="700" dirty="0">
                <a:latin typeface="+mn-ea"/>
              </a:rPr>
              <a:t>: </a:t>
            </a:r>
          </a:p>
          <a:p>
            <a:r>
              <a:rPr lang="ko-KR" altLang="en-US" sz="700" dirty="0">
                <a:latin typeface="+mn-ea"/>
              </a:rPr>
              <a:t>운영지원과 </a:t>
            </a:r>
            <a:r>
              <a:rPr lang="ko-KR" altLang="en-US" sz="700" dirty="0" err="1">
                <a:latin typeface="+mn-ea"/>
              </a:rPr>
              <a:t>재무팀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02)2079-6680,6681(</a:t>
            </a:r>
            <a:r>
              <a:rPr lang="ko-KR" altLang="en-US" sz="700" dirty="0">
                <a:latin typeface="+mn-ea"/>
              </a:rPr>
              <a:t>내자</a:t>
            </a:r>
            <a:r>
              <a:rPr lang="en-US" altLang="ko-KR" sz="700" dirty="0">
                <a:latin typeface="+mn-ea"/>
              </a:rPr>
              <a:t>), 02)2079-6670(</a:t>
            </a:r>
            <a:r>
              <a:rPr lang="ko-KR" altLang="en-US" sz="700" dirty="0">
                <a:latin typeface="+mn-ea"/>
              </a:rPr>
              <a:t>외자</a:t>
            </a:r>
            <a:r>
              <a:rPr lang="en-US" altLang="ko-KR" sz="700" dirty="0">
                <a:latin typeface="+mn-ea"/>
              </a:rPr>
              <a:t>)</a:t>
            </a:r>
            <a:r>
              <a:rPr lang="ko-KR" altLang="en-US" sz="700" dirty="0">
                <a:latin typeface="+mn-ea"/>
              </a:rPr>
              <a:t>］</a:t>
            </a:r>
          </a:p>
        </p:txBody>
      </p:sp>
      <p:grpSp>
        <p:nvGrpSpPr>
          <p:cNvPr id="93" name="그룹 92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10712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70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0667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입찰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계약체결단계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안내문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gdntc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안내문 내용 출력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화면에 텍스트로 입력되어 있는 내용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AEF4FEA-15CD-69A2-4C8C-8BABCE3423EC}"/>
              </a:ext>
            </a:extLst>
          </p:cNvPr>
          <p:cNvSpPr txBox="1"/>
          <p:nvPr/>
        </p:nvSpPr>
        <p:spPr>
          <a:xfrm>
            <a:off x="458117" y="150477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3D2C0FD-B7E6-BFF5-E0B8-21BA70A73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817151"/>
              </p:ext>
            </p:extLst>
          </p:nvPr>
        </p:nvGraphicFramePr>
        <p:xfrm>
          <a:off x="453000" y="1808593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안내문 내용이 출력된다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닫기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scwin.btn_Idnty_onclick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안내문 팝업이 닫힌다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6D6EB85-208E-BA56-0A60-736C4614C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60117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사후정산청구상세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 smtClean="0"/>
              <a:t>– </a:t>
            </a:r>
            <a:r>
              <a:rPr lang="ko-KR" altLang="en-US" dirty="0" smtClean="0">
                <a:latin typeface="+mn-ea"/>
              </a:rPr>
              <a:t>사후정산청구 상세 </a:t>
            </a:r>
            <a:r>
              <a:rPr lang="ko-KR" altLang="en-US" dirty="0" smtClean="0"/>
              <a:t>조회 </a:t>
            </a:r>
            <a:r>
              <a:rPr lang="ko-KR" altLang="en-US" dirty="0"/>
              <a:t>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사후정산청구상세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MUI-WM-01-M13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사후정산 </a:t>
            </a:r>
            <a:r>
              <a:rPr lang="ko-KR" altLang="en-US" sz="800" dirty="0" err="1" smtClean="0">
                <a:latin typeface="+mn-ea"/>
              </a:rPr>
              <a:t>청구상세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3150467" y="3992719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50129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27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1640670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277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84908" y="1526167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20490" y="4465173"/>
            <a:ext cx="2630093" cy="1600147"/>
            <a:chOff x="720490" y="4465173"/>
            <a:chExt cx="2630093" cy="160014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2926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2026-01-01 ~ 2026-12-31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751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532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사후청구</a:t>
            </a:r>
            <a:endParaRPr lang="ko-KR" altLang="en-US" sz="6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66970" y="4142235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85357" y="414223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grpSp>
        <p:nvGrpSpPr>
          <p:cNvPr id="148" name="그룹 147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9" name="그룹 148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2" name="직선 연결선 2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51" name="타원 150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3" name="그룹 152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0" name="직선 연결선 21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그룹 153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18" name="직선 연결선 21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5" name="타원 154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62" name="타원 161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9" name="타원 178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5" name="그룹 184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7" name="타원 18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5" name="그룹 20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6" name="직선 연결선 2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2" name="TextBox 18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414223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5370" y="504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58181" y="23796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478107" y="1647997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04099" y="1647997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009170" y="1647997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타이틀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레이블이 화면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 넘치는 경우 드래그하여 확인 가능 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문서 정보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en-US" altLang="ko-KR" sz="800" dirty="0"/>
              <a:t>, 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노출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전체노출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노출시</a:t>
            </a:r>
            <a:r>
              <a:rPr lang="ko-KR" altLang="en-US" sz="800" dirty="0"/>
              <a:t> 해당 라인을 넘어가면 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1-3] </a:t>
            </a:r>
            <a:r>
              <a:rPr lang="ko-KR" altLang="en-US" sz="800" dirty="0"/>
              <a:t>문서 제목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제목은 </a:t>
            </a:r>
            <a:r>
              <a:rPr lang="en-US" altLang="ko-KR" sz="800" dirty="0"/>
              <a:t>2</a:t>
            </a:r>
            <a:r>
              <a:rPr lang="ko-KR" altLang="en-US" sz="800" dirty="0"/>
              <a:t>줄 까지 노출 이후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기본값 </a:t>
            </a:r>
            <a:r>
              <a:rPr lang="en-US" altLang="ko-KR" sz="800" dirty="0"/>
              <a:t>: </a:t>
            </a:r>
            <a:r>
              <a:rPr lang="ko-KR" altLang="en-US" sz="800" dirty="0"/>
              <a:t>접힘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확장하여 정보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</a:t>
            </a: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내역이 있는 경우 만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탭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신청정보</a:t>
            </a:r>
            <a:r>
              <a:rPr lang="ko-KR" altLang="en-US" sz="800" dirty="0"/>
              <a:t> </a:t>
            </a:r>
            <a:r>
              <a:rPr lang="en-US" altLang="ko-KR" sz="800" dirty="0"/>
              <a:t>Tab</a:t>
            </a:r>
            <a:r>
              <a:rPr lang="ko-KR" altLang="en-US" sz="800" dirty="0"/>
              <a:t>은 진입 시 고정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탭 내용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 err="1" smtClean="0"/>
              <a:t>계약정보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공급자정보</a:t>
            </a:r>
            <a:r>
              <a:rPr lang="en-US" altLang="ko-KR" sz="800" dirty="0" smtClean="0"/>
              <a:t>,</a:t>
            </a:r>
            <a:r>
              <a:rPr lang="ko-KR" altLang="en-US" sz="800" dirty="0" smtClean="0"/>
              <a:t>대금신청금액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세금계산서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진행상태 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로그인 필요 서비스 안내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화면을 </a:t>
            </a:r>
            <a:r>
              <a:rPr lang="ko-KR" altLang="en-US" sz="800" dirty="0" err="1"/>
              <a:t>넘치는경우</a:t>
            </a:r>
            <a:r>
              <a:rPr lang="ko-KR" altLang="en-US" sz="800" dirty="0"/>
              <a:t> 드래그하여 확인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세금계산서인 경우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화면에서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세금계산서번호 선택 을 체크한 경우 노출</a:t>
            </a:r>
            <a:r>
              <a:rPr lang="en-US" altLang="ko-KR" sz="800" dirty="0" smtClean="0"/>
              <a:t>＂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신청 정보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각 공고에 맞춰 폼 변화에 유의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상세내용에</a:t>
            </a:r>
            <a:r>
              <a:rPr lang="ko-KR" altLang="en-US" sz="800" dirty="0"/>
              <a:t> 포함된 정보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기본값은 상단 이동 버튼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/>
              <a:t>현 상세내용 탭에서는 </a:t>
            </a:r>
            <a:endParaRPr lang="en-US" altLang="ko-KR" sz="800" dirty="0"/>
          </a:p>
          <a:p>
            <a:endParaRPr lang="ko-KR" altLang="en-US" sz="800" dirty="0"/>
          </a:p>
        </p:txBody>
      </p:sp>
      <p:sp>
        <p:nvSpPr>
          <p:cNvPr id="167" name="직사각형 166"/>
          <p:cNvSpPr/>
          <p:nvPr/>
        </p:nvSpPr>
        <p:spPr>
          <a:xfrm>
            <a:off x="7103286" y="6104709"/>
            <a:ext cx="2275404" cy="1568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grpSp>
        <p:nvGrpSpPr>
          <p:cNvPr id="201" name="그룹 200"/>
          <p:cNvGrpSpPr/>
          <p:nvPr/>
        </p:nvGrpSpPr>
        <p:grpSpPr>
          <a:xfrm>
            <a:off x="3836701" y="1988929"/>
            <a:ext cx="2630093" cy="1600147"/>
            <a:chOff x="720490" y="4465173"/>
            <a:chExt cx="2630093" cy="1600147"/>
          </a:xfrm>
        </p:grpSpPr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224" name="그룹 223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235" name="직선 연결선 2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6" name="직선 연결선 2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5" name="직사각형 224"/>
            <p:cNvSpPr/>
            <p:nvPr/>
          </p:nvSpPr>
          <p:spPr>
            <a:xfrm>
              <a:off x="722583" y="4772658"/>
              <a:ext cx="792000" cy="12926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2026-01-01 ~ 2026-12-31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</p:txBody>
        </p:sp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1" name="직선 연결선 2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2" name="직선 연결선 2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751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4" name="직선 연결선 2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532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37" name="그룹 236"/>
          <p:cNvGrpSpPr/>
          <p:nvPr/>
        </p:nvGrpSpPr>
        <p:grpSpPr>
          <a:xfrm>
            <a:off x="3919539" y="3735455"/>
            <a:ext cx="2456097" cy="181140"/>
            <a:chOff x="763157" y="1527996"/>
            <a:chExt cx="2456097" cy="181140"/>
          </a:xfrm>
        </p:grpSpPr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239" name="그룹 23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240" name="직선 연결선 2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1" name="직선 연결선 2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2" name="그룹 241"/>
          <p:cNvGrpSpPr/>
          <p:nvPr/>
        </p:nvGrpSpPr>
        <p:grpSpPr>
          <a:xfrm>
            <a:off x="3832541" y="4027607"/>
            <a:ext cx="2630093" cy="861981"/>
            <a:chOff x="3865118" y="2946203"/>
            <a:chExt cx="2630093" cy="861981"/>
          </a:xfrm>
        </p:grpSpPr>
        <p:sp>
          <p:nvSpPr>
            <p:cNvPr id="243" name="직사각형 242"/>
            <p:cNvSpPr/>
            <p:nvPr/>
          </p:nvSpPr>
          <p:spPr>
            <a:xfrm>
              <a:off x="3867211" y="2946203"/>
              <a:ext cx="792000" cy="8617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4" name="직선 연결선 2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 smtClean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작성자 성명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직책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247" name="직선 연결선 2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9" name="직선 연결선 2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0" name="직선 연결선 2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51" name="직선 연결선 2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1574" y="366709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8558491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사후정산청구 상세 </a:t>
            </a:r>
            <a:r>
              <a:rPr lang="ko-KR" altLang="en-US" dirty="0"/>
              <a:t>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사후정산청구상세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MUI-WM-01-T20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565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3" name="그룹 52"/>
          <p:cNvGrpSpPr/>
          <p:nvPr/>
        </p:nvGrpSpPr>
        <p:grpSpPr>
          <a:xfrm>
            <a:off x="720490" y="1961981"/>
            <a:ext cx="2630093" cy="1600147"/>
            <a:chOff x="720490" y="4465173"/>
            <a:chExt cx="2630093" cy="1600147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55" name="그룹 5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87" name="직선 연결선 8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6" name="직사각형 55"/>
            <p:cNvSpPr/>
            <p:nvPr/>
          </p:nvSpPr>
          <p:spPr>
            <a:xfrm>
              <a:off x="722583" y="4772658"/>
              <a:ext cx="792000" cy="12926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2026-01-01 ~ 2026-12-31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751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532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66970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85357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7320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92" name="그룹 91"/>
          <p:cNvGrpSpPr/>
          <p:nvPr/>
        </p:nvGrpSpPr>
        <p:grpSpPr>
          <a:xfrm>
            <a:off x="803364" y="3735455"/>
            <a:ext cx="2456097" cy="181140"/>
            <a:chOff x="763157" y="1527996"/>
            <a:chExt cx="2456097" cy="181140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94" name="그룹 93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95" name="직선 연결선 9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7" name="그룹 96"/>
          <p:cNvGrpSpPr/>
          <p:nvPr/>
        </p:nvGrpSpPr>
        <p:grpSpPr>
          <a:xfrm>
            <a:off x="716366" y="4027607"/>
            <a:ext cx="2630093" cy="861981"/>
            <a:chOff x="3865118" y="2946203"/>
            <a:chExt cx="2630093" cy="861981"/>
          </a:xfrm>
        </p:grpSpPr>
        <p:sp>
          <p:nvSpPr>
            <p:cNvPr id="98" name="직사각형 97"/>
            <p:cNvSpPr/>
            <p:nvPr/>
          </p:nvSpPr>
          <p:spPr>
            <a:xfrm>
              <a:off x="3867211" y="2946203"/>
              <a:ext cx="792000" cy="8617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 smtClean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작성자 성명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직책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709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5114064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신청금액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사후정산청구 상세 </a:t>
            </a:r>
            <a:r>
              <a:rPr lang="ko-KR" altLang="en-US" dirty="0"/>
              <a:t>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사후정산청구상세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MUI-WM-01-T21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03364" y="2788354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3266146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기사용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사용예정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신청금액의</a:t>
              </a:r>
              <a:r>
                <a:rPr lang="ko-KR" altLang="en-US" sz="700" dirty="0">
                  <a:latin typeface="+mn-ea"/>
                </a:rPr>
                <a:t> 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711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3010073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수입 재료비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716366" y="4640400"/>
            <a:ext cx="2630093" cy="1548736"/>
            <a:chOff x="716366" y="3441403"/>
            <a:chExt cx="2630093" cy="1548736"/>
          </a:xfrm>
        </p:grpSpPr>
        <p:grpSp>
          <p:nvGrpSpPr>
            <p:cNvPr id="53" name="그룹 52"/>
            <p:cNvGrpSpPr/>
            <p:nvPr/>
          </p:nvGrpSpPr>
          <p:grpSpPr>
            <a:xfrm>
              <a:off x="716366" y="3697476"/>
              <a:ext cx="2630093" cy="1292663"/>
              <a:chOff x="3865118" y="2946203"/>
              <a:chExt cx="2630093" cy="1292663"/>
            </a:xfrm>
          </p:grpSpPr>
          <p:sp>
            <p:nvSpPr>
              <p:cNvPr id="54" name="직사각형 53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3363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국내 재료비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836701" y="189375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재료비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51997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직접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3836701" y="5150729"/>
            <a:ext cx="2630093" cy="1548736"/>
            <a:chOff x="3795734" y="3441403"/>
            <a:chExt cx="2630093" cy="1548736"/>
          </a:xfrm>
        </p:grpSpPr>
        <p:grpSp>
          <p:nvGrpSpPr>
            <p:cNvPr id="93" name="그룹 92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95" name="직사각형 94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간접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303798" y="1855650"/>
            <a:ext cx="63854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66970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 smtClean="0">
                <a:latin typeface="+mn-ea"/>
              </a:rPr>
              <a:t>신청내역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85357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0380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4420009" y="1855650"/>
            <a:ext cx="63854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483181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신청내역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01568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999035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20" name="그룹 119"/>
          <p:cNvGrpSpPr/>
          <p:nvPr/>
        </p:nvGrpSpPr>
        <p:grpSpPr>
          <a:xfrm>
            <a:off x="797261" y="1853291"/>
            <a:ext cx="2456097" cy="181140"/>
            <a:chOff x="763157" y="1527996"/>
            <a:chExt cx="2456097" cy="181140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신청금액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2" name="그룹 121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23" name="직선 연결선 12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5" name="그룹 124"/>
          <p:cNvGrpSpPr/>
          <p:nvPr/>
        </p:nvGrpSpPr>
        <p:grpSpPr>
          <a:xfrm>
            <a:off x="710263" y="2110577"/>
            <a:ext cx="2630093" cy="658520"/>
            <a:chOff x="3865118" y="2946204"/>
            <a:chExt cx="2630093" cy="658520"/>
          </a:xfrm>
        </p:grpSpPr>
        <p:sp>
          <p:nvSpPr>
            <p:cNvPr id="126" name="직사각형 125"/>
            <p:cNvSpPr/>
            <p:nvPr/>
          </p:nvSpPr>
          <p:spPr>
            <a:xfrm>
              <a:off x="3867211" y="2946204"/>
              <a:ext cx="792000" cy="658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일금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일금 </a:t>
              </a:r>
              <a:r>
                <a:rPr lang="en-US" altLang="ko-KR" sz="700" dirty="0" smtClean="0">
                  <a:latin typeface="+mn-ea"/>
                </a:rPr>
                <a:t>(</a:t>
              </a:r>
              <a:r>
                <a:rPr lang="ko-KR" altLang="en-US" sz="700" dirty="0" smtClean="0">
                  <a:latin typeface="+mn-ea"/>
                </a:rPr>
                <a:t>한글</a:t>
              </a:r>
              <a:r>
                <a:rPr lang="en-US" altLang="ko-KR" sz="700" dirty="0" smtClean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지출원인금액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\ </a:t>
              </a:r>
              <a:r>
                <a:rPr lang="ko-KR" altLang="en-US" sz="700" dirty="0" smtClean="0">
                  <a:latin typeface="+mn-ea"/>
                </a:rPr>
                <a:t>일천만</a:t>
              </a:r>
              <a:r>
                <a:rPr lang="en-US" altLang="ko-KR" sz="700" dirty="0" smtClean="0">
                  <a:latin typeface="+mn-ea"/>
                </a:rPr>
                <a:t> </a:t>
              </a:r>
              <a:r>
                <a:rPr lang="ko-KR" altLang="en-US" sz="700" dirty="0" smtClean="0">
                  <a:latin typeface="+mn-ea"/>
                </a:rPr>
                <a:t>원정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2700477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신청금액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사후정산청구 상세 </a:t>
            </a:r>
            <a:r>
              <a:rPr lang="ko-KR" altLang="en-US" dirty="0"/>
              <a:t>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사후정산청구상세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MUI-WM-01-T21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1831489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457707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716366" y="1831489"/>
            <a:ext cx="2630093" cy="1548736"/>
            <a:chOff x="3795734" y="3441403"/>
            <a:chExt cx="2630093" cy="1548736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직접 경비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716366" y="3457707"/>
            <a:ext cx="2630093" cy="1548736"/>
            <a:chOff x="3795734" y="3441403"/>
            <a:chExt cx="2630093" cy="15487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경비</a:t>
              </a: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716366" y="5088462"/>
            <a:ext cx="2630093" cy="1548736"/>
            <a:chOff x="3795734" y="3441403"/>
            <a:chExt cx="2630093" cy="1548736"/>
          </a:xfrm>
        </p:grpSpPr>
        <p:grpSp>
          <p:nvGrpSpPr>
            <p:cNvPr id="135" name="그룹 134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37" name="직사각형 136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일반 관리비</a:t>
              </a: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303798" y="1855650"/>
            <a:ext cx="63854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66970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 smtClean="0">
                <a:latin typeface="+mn-ea"/>
              </a:rPr>
              <a:t>신청내역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85357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0380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4420009" y="1855650"/>
            <a:ext cx="63854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483181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신청내역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01568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999035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611180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altLang="ko-KR" dirty="0" smtClean="0">
                <a:latin typeface="+mn-ea"/>
              </a:rPr>
              <a:t>PC</a:t>
            </a:r>
            <a:r>
              <a:rPr lang="ko-KR" altLang="en-US" dirty="0" smtClean="0">
                <a:latin typeface="+mn-ea"/>
              </a:rPr>
              <a:t>에서 사후정산청구서 작성시</a:t>
            </a:r>
            <a:r>
              <a:rPr lang="en-US" altLang="ko-KR" dirty="0" smtClean="0">
                <a:latin typeface="+mn-ea"/>
              </a:rPr>
              <a:t>(UI-WM-01-M47), </a:t>
            </a:r>
            <a:r>
              <a:rPr lang="ko-KR" altLang="en-US" dirty="0" smtClean="0">
                <a:latin typeface="+mn-ea"/>
              </a:rPr>
              <a:t>세금계산서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“</a:t>
            </a:r>
            <a:r>
              <a:rPr lang="ko-KR" altLang="en-US" dirty="0" smtClean="0">
                <a:latin typeface="+mn-ea"/>
              </a:rPr>
              <a:t>선택</a:t>
            </a:r>
            <a:r>
              <a:rPr lang="en-US" altLang="ko-KR" dirty="0" smtClean="0">
                <a:latin typeface="+mn-ea"/>
              </a:rPr>
              <a:t>” </a:t>
            </a:r>
            <a:r>
              <a:rPr lang="ko-KR" altLang="en-US" dirty="0" smtClean="0">
                <a:latin typeface="+mn-ea"/>
              </a:rPr>
              <a:t>을 선택한 경우 노출 되는 항목</a:t>
            </a:r>
            <a:endParaRPr lang="en-US" altLang="ko-KR" dirty="0" smtClean="0"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dirty="0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사후정산청구 상세 </a:t>
            </a:r>
            <a:r>
              <a:rPr lang="ko-KR" altLang="en-US" dirty="0"/>
              <a:t>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사후정산청구상세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MUI-WM-01-T22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891115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183267"/>
            <a:ext cx="2630093" cy="235931"/>
            <a:chOff x="3865118" y="2946203"/>
            <a:chExt cx="2630093" cy="23593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359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세금계산서번호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7303" y="2946204"/>
              <a:ext cx="17696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1234-5678-9012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4479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60696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그룹 48"/>
          <p:cNvGrpSpPr/>
          <p:nvPr/>
        </p:nvGrpSpPr>
        <p:grpSpPr>
          <a:xfrm>
            <a:off x="716366" y="2727004"/>
            <a:ext cx="2630093" cy="1292663"/>
            <a:chOff x="3865118" y="2946203"/>
            <a:chExt cx="2630093" cy="1292663"/>
          </a:xfrm>
        </p:grpSpPr>
        <p:sp>
          <p:nvSpPr>
            <p:cNvPr id="50" name="직사각형 49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4" y="2453657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 정보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716366" y="4127377"/>
            <a:ext cx="2630093" cy="1292663"/>
            <a:chOff x="3865118" y="2946203"/>
            <a:chExt cx="2630093" cy="1292663"/>
          </a:xfrm>
        </p:grpSpPr>
        <p:sp>
          <p:nvSpPr>
            <p:cNvPr id="72" name="직사각형 71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617020"/>
            <a:ext cx="76863" cy="292489"/>
            <a:chOff x="3750067" y="4683795"/>
            <a:chExt cx="76863" cy="292489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63" name="직사각형 62"/>
          <p:cNvSpPr/>
          <p:nvPr/>
        </p:nvSpPr>
        <p:spPr>
          <a:xfrm>
            <a:off x="7103286" y="6036456"/>
            <a:ext cx="2275404" cy="1958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2150521" y="1855650"/>
            <a:ext cx="489284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66970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85357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세금계산서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821952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81090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사후정산청구서 차수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dmt_epfcClclnClmDocCyclInfo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1817648"/>
            <a:ext cx="23970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계약내용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663884"/>
              </p:ext>
            </p:extLst>
          </p:nvPr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 smtClean="0">
                          <a:latin typeface="+mn-ea"/>
                        </a:rPr>
                        <a:t>조회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latin typeface="+mn-ea"/>
                        </a:rPr>
                        <a:t>신청일자</a:t>
                      </a:r>
                      <a:r>
                        <a:rPr lang="ko-KR" altLang="en-US" sz="800" dirty="0" smtClean="0">
                          <a:latin typeface="+mn-ea"/>
                        </a:rPr>
                        <a:t> 조회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049148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092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36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dudtPrdCn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DCD4A05-B1B2-6704-0345-7056CB08D3D5}"/>
              </a:ext>
            </a:extLst>
          </p:cNvPr>
          <p:cNvSpPr txBox="1"/>
          <p:nvPr/>
        </p:nvSpPr>
        <p:spPr>
          <a:xfrm>
            <a:off x="458117" y="3466653"/>
            <a:ext cx="252529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신청금액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F33B436-336A-B501-0BE2-1B19942B1F9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3698153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지출원인금액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expndCsAmt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지출원인금액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F6F026C-B651-7520-0A7A-01E73FC938FC}"/>
              </a:ext>
            </a:extLst>
          </p:cNvPr>
          <p:cNvSpPr txBox="1"/>
          <p:nvPr/>
        </p:nvSpPr>
        <p:spPr>
          <a:xfrm>
            <a:off x="458117" y="4326026"/>
            <a:ext cx="26038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신청내역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dmt_aplyDsctnInfo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7EE4C8C-1596-E135-E8B4-EB82C0699BF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557526"/>
          <a:ext cx="8994883" cy="1479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금액구분명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컬럼별로 분리되어 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대상금액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895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기사용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arusAplyAmt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550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사용예정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usePrnmntAplyAmt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사용예정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657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aplySumAmt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신청금액과 사용예정 신청금액의 합계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신청금액의 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aplyAmtRt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신청금액의 비율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*100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449522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5FFE7C35-2362-9481-0F6A-DA2217795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38910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77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146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공급자 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 smtClean="0">
                          <a:latin typeface="+mn-ea"/>
                        </a:rPr>
                        <a:t>조회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신청일자</a:t>
                      </a:r>
                      <a:r>
                        <a:rPr lang="ko-KR" altLang="en-US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 smtClean="0">
                          <a:latin typeface="+mn-ea"/>
                        </a:rPr>
                        <a:t>조회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EF13B1B-9846-067B-08DD-AB98FCEB3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C33E4-E4DC-F17B-082F-B9C39DF76C95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FB8C94-46FF-7D29-7A9C-D4F6C039167C}"/>
              </a:ext>
            </a:extLst>
          </p:cNvPr>
          <p:cNvSpPr txBox="1"/>
          <p:nvPr/>
        </p:nvSpPr>
        <p:spPr>
          <a:xfrm>
            <a:off x="458117" y="1856477"/>
            <a:ext cx="227843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C21507C-ACEB-32D5-61C3-00031118E48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067680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txivChcYn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 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N :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선택안함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bllPblcnYmd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yyyy-mm-dd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dlvgdsQty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ctrtUntprc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splyEqvl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0732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78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F0E94EC-9BAC-208C-9C16-356647B1F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051238"/>
              </p:ext>
            </p:extLst>
          </p:nvPr>
        </p:nvGraphicFramePr>
        <p:xfrm>
          <a:off x="453000" y="1049851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 smtClean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차수정보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계약정보 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E4A288-7AB3-FB2A-21DF-A951B1303538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BC2CA564-7302-5E8B-9DF2-1E1715C11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318859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650" dirty="0"/>
              <a:t>상단 </a:t>
            </a:r>
            <a:r>
              <a:rPr lang="ko-KR" altLang="en-US" sz="650" dirty="0" err="1"/>
              <a:t>업무도움은</a:t>
            </a:r>
            <a:r>
              <a:rPr lang="ko-KR" altLang="en-US" sz="650" dirty="0"/>
              <a:t> 기본 값으로 접힘 상태로 정보 제공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페이지 </a:t>
            </a:r>
            <a:r>
              <a:rPr lang="ko-KR" altLang="en-US" sz="650" dirty="0" err="1"/>
              <a:t>호출시</a:t>
            </a:r>
            <a:r>
              <a:rPr lang="ko-KR" altLang="en-US" sz="650" dirty="0"/>
              <a:t> </a:t>
            </a:r>
            <a:r>
              <a:rPr lang="en-US" altLang="ko-KR" sz="650" dirty="0"/>
              <a:t>: </a:t>
            </a:r>
            <a:r>
              <a:rPr lang="ko-KR" altLang="en-US" sz="650" dirty="0"/>
              <a:t>해당 업체에서 진행중인 모든 </a:t>
            </a:r>
            <a:r>
              <a:rPr lang="ko-KR" altLang="en-US" sz="650" dirty="0" err="1"/>
              <a:t>계약건이</a:t>
            </a:r>
            <a:r>
              <a:rPr lang="ko-KR" altLang="en-US" sz="650" dirty="0"/>
              <a:t> 노출됨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계약일자기준 당일 포함 이전 </a:t>
            </a:r>
            <a:r>
              <a:rPr lang="en-US" altLang="ko-KR" sz="650" dirty="0"/>
              <a:t>30</a:t>
            </a:r>
            <a:r>
              <a:rPr lang="ko-KR" altLang="en-US" sz="650" dirty="0"/>
              <a:t>일 동안 신청된 계약 건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기본값 </a:t>
            </a:r>
            <a:r>
              <a:rPr lang="en-US" altLang="ko-KR" sz="650" dirty="0"/>
              <a:t>: </a:t>
            </a:r>
            <a:r>
              <a:rPr lang="ko-KR" altLang="en-US" sz="650" dirty="0"/>
              <a:t>접힘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사용자 </a:t>
            </a:r>
            <a:r>
              <a:rPr lang="ko-KR" altLang="en-US" sz="650" dirty="0" err="1"/>
              <a:t>클릭시</a:t>
            </a:r>
            <a:r>
              <a:rPr lang="ko-KR" altLang="en-US" sz="650" dirty="0"/>
              <a:t> 확장하여 정보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업무도움</a:t>
            </a:r>
            <a:r>
              <a:rPr lang="en-US" altLang="ko-KR" sz="650" dirty="0"/>
              <a:t> &gt; </a:t>
            </a:r>
            <a:r>
              <a:rPr lang="ko-KR" altLang="en-US" sz="650" dirty="0"/>
              <a:t>내역이 있는 경우 표시</a:t>
            </a:r>
            <a:r>
              <a:rPr lang="en-US" altLang="ko-KR" sz="650" dirty="0"/>
              <a:t>, </a:t>
            </a:r>
            <a:r>
              <a:rPr lang="ko-KR" altLang="en-US" sz="650" dirty="0"/>
              <a:t>내역이 없으면 항목을 표시하지 않음</a:t>
            </a:r>
            <a:r>
              <a:rPr lang="en-US" altLang="ko-KR" sz="65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err="1"/>
              <a:t>검색필터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2-1] </a:t>
            </a:r>
            <a:r>
              <a:rPr lang="ko-KR" altLang="en-US" sz="650" dirty="0"/>
              <a:t>통합참조정보</a:t>
            </a:r>
            <a:r>
              <a:rPr lang="en-US" altLang="ko-KR" sz="650" dirty="0"/>
              <a:t>, </a:t>
            </a:r>
            <a:r>
              <a:rPr lang="ko-KR" altLang="en-US" sz="650" dirty="0" err="1"/>
              <a:t>예약번호중</a:t>
            </a:r>
            <a:r>
              <a:rPr lang="ko-KR" altLang="en-US" sz="650" dirty="0"/>
              <a:t> 선택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2-2] </a:t>
            </a:r>
            <a:r>
              <a:rPr lang="ko-KR" altLang="en-US" sz="650" dirty="0" err="1"/>
              <a:t>검색어</a:t>
            </a:r>
            <a:r>
              <a:rPr lang="ko-KR" altLang="en-US" sz="650" dirty="0"/>
              <a:t> 입력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>
                <a:latin typeface="+mn-ea"/>
              </a:rPr>
              <a:t>검색 필터 호출</a:t>
            </a:r>
            <a:r>
              <a:rPr lang="en-US" altLang="ko-KR" sz="650" dirty="0">
                <a:latin typeface="+mn-ea"/>
              </a:rPr>
              <a:t/>
            </a:r>
            <a:br>
              <a:rPr lang="en-US" altLang="ko-KR" sz="650" dirty="0">
                <a:latin typeface="+mn-ea"/>
              </a:rPr>
            </a:br>
            <a:r>
              <a:rPr lang="ko-KR" altLang="en-US" sz="650" dirty="0">
                <a:latin typeface="+mn-ea"/>
              </a:rPr>
              <a:t> </a:t>
            </a:r>
            <a:r>
              <a:rPr lang="en-US" altLang="ko-KR" sz="650" dirty="0">
                <a:latin typeface="+mn-ea"/>
              </a:rPr>
              <a:t>– </a:t>
            </a:r>
            <a:r>
              <a:rPr lang="ko-KR" altLang="en-US" sz="650" dirty="0">
                <a:latin typeface="+mn-ea"/>
              </a:rPr>
              <a:t>계약 페이지 참고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/>
              <a:t>표시 개수 영역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총 개수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표시 개수 </a:t>
            </a:r>
            <a:r>
              <a:rPr lang="en-US" altLang="ko-KR" sz="650" dirty="0"/>
              <a:t>(</a:t>
            </a:r>
            <a:r>
              <a:rPr lang="ko-KR" altLang="en-US" sz="650" dirty="0"/>
              <a:t>선택한 건수 만큼 보여주고 </a:t>
            </a:r>
            <a:r>
              <a:rPr lang="ko-KR" altLang="en-US" sz="650" dirty="0" err="1"/>
              <a:t>더보기시</a:t>
            </a:r>
            <a:r>
              <a:rPr lang="ko-KR" altLang="en-US" sz="650" dirty="0"/>
              <a:t> 추가로 불러옴</a:t>
            </a:r>
            <a:r>
              <a:rPr lang="en-US" altLang="ko-KR" sz="650" dirty="0"/>
              <a:t>)</a:t>
            </a:r>
            <a:br>
              <a:rPr lang="en-US" altLang="ko-KR" sz="650" dirty="0"/>
            </a:br>
            <a:r>
              <a:rPr lang="ko-KR" altLang="en-US" sz="650" dirty="0"/>
              <a:t>목록 카드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카드 </a:t>
            </a:r>
            <a:r>
              <a:rPr lang="ko-KR" altLang="en-US" sz="650" dirty="0" err="1"/>
              <a:t>클릭시</a:t>
            </a:r>
            <a:r>
              <a:rPr lang="ko-KR" altLang="en-US" sz="650" dirty="0"/>
              <a:t> </a:t>
            </a:r>
            <a:r>
              <a:rPr lang="ko-KR" altLang="en-US" sz="650" dirty="0" err="1"/>
              <a:t>바텀시트</a:t>
            </a:r>
            <a:r>
              <a:rPr lang="ko-KR" altLang="en-US" sz="650" dirty="0"/>
              <a:t> 호출</a:t>
            </a:r>
            <a:r>
              <a:rPr lang="en-US" altLang="ko-KR" sz="650" dirty="0"/>
              <a:t>(</a:t>
            </a:r>
            <a:r>
              <a:rPr lang="en-US" altLang="ko-KR" sz="650" dirty="0">
                <a:latin typeface="+mn-ea"/>
              </a:rPr>
              <a:t>MUI-WM-01-P13)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4-1] </a:t>
            </a:r>
            <a:r>
              <a:rPr lang="ko-KR" altLang="en-US" sz="650" dirty="0" err="1"/>
              <a:t>표시레이블</a:t>
            </a:r>
            <a:r>
              <a:rPr lang="ko-KR" altLang="en-US" sz="650" dirty="0"/>
              <a:t> 영역 항목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레이블이 화면을 넘치는 경우 드래그하여 확인 가능 </a:t>
            </a:r>
            <a:r>
              <a:rPr lang="en-US" altLang="ko-KR" sz="650" dirty="0"/>
              <a:t>(</a:t>
            </a:r>
            <a:r>
              <a:rPr lang="ko-KR" altLang="en-US" sz="650" dirty="0" err="1"/>
              <a:t>스와이프기능</a:t>
            </a:r>
            <a:r>
              <a:rPr lang="ko-KR" altLang="en-US" sz="650" dirty="0"/>
              <a:t> 반영 필요</a:t>
            </a:r>
            <a:r>
              <a:rPr lang="en-US" altLang="ko-KR" sz="650" dirty="0"/>
              <a:t>)</a:t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업무구분</a:t>
            </a:r>
            <a:r>
              <a:rPr lang="ko-KR" altLang="en-US" sz="650" dirty="0"/>
              <a:t> </a:t>
            </a:r>
            <a:r>
              <a:rPr lang="en-US" altLang="ko-KR" sz="650" dirty="0"/>
              <a:t>:  </a:t>
            </a:r>
            <a:r>
              <a:rPr lang="ko-KR" altLang="en-US" sz="650" dirty="0"/>
              <a:t>전체</a:t>
            </a:r>
            <a:r>
              <a:rPr lang="en-US" altLang="ko-KR" sz="650" dirty="0"/>
              <a:t>, </a:t>
            </a:r>
            <a:r>
              <a:rPr lang="ko-KR" altLang="en-US" sz="650" dirty="0"/>
              <a:t>물품</a:t>
            </a:r>
            <a:r>
              <a:rPr lang="en-US" altLang="ko-KR" sz="650" dirty="0"/>
              <a:t>, </a:t>
            </a:r>
            <a:r>
              <a:rPr lang="ko-KR" altLang="en-US" sz="650" dirty="0"/>
              <a:t>용역</a:t>
            </a:r>
            <a:r>
              <a:rPr lang="en-US" altLang="ko-KR" sz="650" dirty="0"/>
              <a:t>, </a:t>
            </a:r>
            <a:r>
              <a:rPr lang="ko-KR" altLang="en-US" sz="650" dirty="0"/>
              <a:t>공사</a:t>
            </a:r>
            <a:r>
              <a:rPr lang="en-US" altLang="ko-KR" sz="650" dirty="0"/>
              <a:t>, </a:t>
            </a:r>
            <a:r>
              <a:rPr lang="ko-KR" altLang="en-US" sz="650" dirty="0"/>
              <a:t>국외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입찰구분</a:t>
            </a:r>
            <a:r>
              <a:rPr lang="ko-KR" altLang="en-US" sz="650" dirty="0"/>
              <a:t> </a:t>
            </a:r>
            <a:r>
              <a:rPr lang="en-US" altLang="ko-KR" sz="650" dirty="0"/>
              <a:t>: </a:t>
            </a:r>
            <a:r>
              <a:rPr lang="ko-KR" altLang="en-US" sz="650" dirty="0" err="1"/>
              <a:t>총액제</a:t>
            </a:r>
            <a:r>
              <a:rPr lang="en-US" altLang="ko-KR" sz="650" dirty="0"/>
              <a:t>, </a:t>
            </a:r>
            <a:r>
              <a:rPr lang="ko-KR" altLang="en-US" sz="650" dirty="0" err="1"/>
              <a:t>단가제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대금상태</a:t>
            </a:r>
            <a:r>
              <a:rPr lang="ko-KR" altLang="en-US" sz="650" dirty="0"/>
              <a:t> </a:t>
            </a:r>
            <a:r>
              <a:rPr lang="en-US" altLang="ko-KR" sz="650" dirty="0"/>
              <a:t>: </a:t>
            </a:r>
            <a:r>
              <a:rPr lang="ko-KR" altLang="en-US" sz="650" dirty="0" err="1"/>
              <a:t>선금신청</a:t>
            </a:r>
            <a:r>
              <a:rPr lang="en-US" altLang="ko-KR" sz="650" dirty="0"/>
              <a:t>, </a:t>
            </a:r>
            <a:r>
              <a:rPr lang="ko-KR" altLang="en-US" sz="650" dirty="0" err="1"/>
              <a:t>착중도금신청</a:t>
            </a:r>
            <a:r>
              <a:rPr lang="en-US" altLang="ko-KR" sz="650" dirty="0"/>
              <a:t>, </a:t>
            </a:r>
            <a:r>
              <a:rPr lang="ko-KR" altLang="en-US" sz="650" dirty="0" err="1"/>
              <a:t>대금청구</a:t>
            </a:r>
            <a:r>
              <a:rPr lang="en-US" altLang="ko-KR" sz="650" dirty="0"/>
              <a:t>, </a:t>
            </a:r>
            <a:r>
              <a:rPr lang="ko-KR" altLang="en-US" sz="650" dirty="0" err="1"/>
              <a:t>대금수정</a:t>
            </a:r>
            <a:r>
              <a:rPr lang="en-US" altLang="ko-KR" sz="650" dirty="0"/>
              <a:t>, </a:t>
            </a:r>
            <a:r>
              <a:rPr lang="ko-KR" altLang="en-US" sz="650" dirty="0" err="1"/>
              <a:t>대금확정</a:t>
            </a:r>
            <a:r>
              <a:rPr lang="en-US" altLang="ko-KR" sz="650" dirty="0"/>
              <a:t>, </a:t>
            </a:r>
            <a:r>
              <a:rPr lang="ko-KR" altLang="en-US" sz="650" dirty="0"/>
              <a:t>사후정산</a:t>
            </a:r>
            <a:br>
              <a:rPr lang="ko-KR" altLang="en-US" sz="650" dirty="0"/>
            </a:br>
            <a:r>
              <a:rPr lang="en-US" altLang="ko-KR" sz="650" dirty="0"/>
              <a:t>4-2] </a:t>
            </a:r>
            <a:r>
              <a:rPr lang="ko-KR" altLang="en-US" sz="650" dirty="0"/>
              <a:t>문서 정보 영역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+</a:t>
            </a:r>
            <a:r>
              <a:rPr lang="ko-KR" altLang="en-US" sz="650" dirty="0" err="1"/>
              <a:t>회차노출</a:t>
            </a:r>
            <a:r>
              <a:rPr lang="ko-KR" altLang="en-US" sz="650" dirty="0"/>
              <a:t>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계약번호</a:t>
            </a:r>
            <a:r>
              <a:rPr lang="ko-KR" altLang="en-US" sz="650" dirty="0"/>
              <a:t> </a:t>
            </a:r>
            <a:r>
              <a:rPr lang="ko-KR" altLang="en-US" sz="650" dirty="0" err="1"/>
              <a:t>노출시</a:t>
            </a:r>
            <a:r>
              <a:rPr lang="ko-KR" altLang="en-US" sz="650" dirty="0"/>
              <a:t> 해당 라인을 넘어가면 </a:t>
            </a:r>
            <a:r>
              <a:rPr lang="en-US" altLang="ko-KR" sz="650" dirty="0"/>
              <a:t>(…) </a:t>
            </a:r>
            <a:r>
              <a:rPr lang="ko-KR" altLang="en-US" sz="650" dirty="0" err="1"/>
              <a:t>말줄임</a:t>
            </a:r>
            <a:r>
              <a:rPr lang="ko-KR" altLang="en-US" sz="650" dirty="0"/>
              <a:t>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:</a:t>
            </a:r>
            <a:r>
              <a:rPr lang="ko-KR" altLang="en-US" sz="650" dirty="0"/>
              <a:t>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+</a:t>
            </a:r>
            <a:r>
              <a:rPr lang="ko-KR" altLang="en-US" sz="650" dirty="0"/>
              <a:t>계약번호차수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4-3] </a:t>
            </a:r>
            <a:r>
              <a:rPr lang="ko-KR" altLang="en-US" sz="650" dirty="0"/>
              <a:t>문서 제목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제목은 </a:t>
            </a:r>
            <a:r>
              <a:rPr lang="en-US" altLang="ko-KR" sz="650" dirty="0"/>
              <a:t>2</a:t>
            </a:r>
            <a:r>
              <a:rPr lang="ko-KR" altLang="en-US" sz="650" dirty="0"/>
              <a:t>줄 까지 노출 이후</a:t>
            </a:r>
            <a:r>
              <a:rPr lang="en-US" altLang="ko-KR" sz="650" dirty="0"/>
              <a:t>(…) </a:t>
            </a:r>
            <a:r>
              <a:rPr lang="ko-KR" altLang="en-US" sz="650" dirty="0" err="1"/>
              <a:t>말줄임</a:t>
            </a:r>
            <a:r>
              <a:rPr lang="ko-KR" altLang="en-US" sz="650" dirty="0"/>
              <a:t>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대금청구상세 페이지로 이동 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err="1"/>
              <a:t>더보기</a:t>
            </a:r>
            <a:r>
              <a:rPr lang="ko-KR" altLang="en-US" sz="650" dirty="0"/>
              <a:t> 기능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- 3</a:t>
            </a:r>
            <a:r>
              <a:rPr lang="ko-KR" altLang="en-US" sz="650" dirty="0" err="1"/>
              <a:t>번항목</a:t>
            </a:r>
            <a:r>
              <a:rPr lang="ko-KR" altLang="en-US" sz="650" dirty="0"/>
              <a:t> 표시 개수 영역에서 선택한 개수로 증가</a:t>
            </a:r>
            <a:r>
              <a:rPr lang="en-US" altLang="ko-KR" sz="650" dirty="0"/>
              <a:t>.</a:t>
            </a:r>
            <a:br>
              <a:rPr lang="en-US" altLang="ko-KR" sz="650" dirty="0"/>
            </a:br>
            <a:r>
              <a:rPr lang="ko-KR" altLang="en-US" sz="650" dirty="0"/>
              <a:t>예</a:t>
            </a:r>
            <a:r>
              <a:rPr lang="en-US" altLang="ko-KR" sz="650" dirty="0"/>
              <a:t>) 10</a:t>
            </a:r>
            <a:r>
              <a:rPr lang="ko-KR" altLang="en-US" sz="650" dirty="0"/>
              <a:t>개 노출 이후 </a:t>
            </a:r>
            <a:r>
              <a:rPr lang="ko-KR" altLang="en-US" sz="650" dirty="0" err="1"/>
              <a:t>더보기</a:t>
            </a:r>
            <a:r>
              <a:rPr lang="ko-KR" altLang="en-US" sz="650" dirty="0"/>
              <a:t> 버튼 클릭으로 </a:t>
            </a:r>
            <a:r>
              <a:rPr lang="en-US" altLang="ko-KR" sz="650" dirty="0"/>
              <a:t>10</a:t>
            </a:r>
            <a:r>
              <a:rPr lang="ko-KR" altLang="en-US" sz="650" dirty="0"/>
              <a:t>개씩 추가 로드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/>
              <a:t>대금청구관련 안내문을 호출한다</a:t>
            </a:r>
            <a:r>
              <a:rPr lang="en-US" altLang="ko-KR" sz="650" dirty="0"/>
              <a:t>.</a:t>
            </a:r>
            <a:r>
              <a:rPr lang="en-US" altLang="ko-KR" sz="650" dirty="0">
                <a:latin typeface="+mn-ea"/>
              </a:rPr>
              <a:t> (MUI-WM-01-P09)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endParaRPr lang="en-US" altLang="ko-KR" sz="6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대금청구진행현황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대금청구진행현황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대금청구진행현황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43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3143548" y="300864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89315"/>
            <a:ext cx="2473257" cy="960061"/>
            <a:chOff x="781461" y="3087955"/>
            <a:chExt cx="2473257" cy="9600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신청번호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1234-5678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/ </a:t>
              </a:r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수령액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청구금액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5426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243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418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3388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2323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대금상태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21930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762118" y="3220756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5833259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대금수정</a:t>
            </a:r>
            <a:endParaRPr lang="ko-KR" altLang="en-US" sz="600" dirty="0"/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364593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r>
              <a:rPr lang="ko-KR" altLang="en-US" sz="600" dirty="0"/>
              <a:t>                          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525063" y="338417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910872"/>
            <a:ext cx="130550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6286574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대금확정</a:t>
            </a:r>
            <a:endParaRPr lang="ko-KR" altLang="en-US" sz="600" dirty="0"/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4318634" y="341197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사후정산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1978768" y="338417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대금반납</a:t>
            </a:r>
            <a:endParaRPr lang="ko-KR" altLang="en-US" sz="600" dirty="0"/>
          </a:p>
        </p:txBody>
      </p:sp>
      <p:grpSp>
        <p:nvGrpSpPr>
          <p:cNvPr id="126" name="그룹 12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33" name="모서리가 둥근 직사각형 132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44" name="그룹 14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90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91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48" name="타원 14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8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86" name="타원 185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7" name="그룹 186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88" name="직선 연결선 187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4" name="그룹 193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195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6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7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98" name="그룹 19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99" name="직선 연결선 19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직선 연결선 19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2204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2055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63636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84573" y="22247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250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50531" y="14618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</a:p>
        </p:txBody>
      </p:sp>
      <p:sp>
        <p:nvSpPr>
          <p:cNvPr id="171" name="직사각형 170"/>
          <p:cNvSpPr/>
          <p:nvPr/>
        </p:nvSpPr>
        <p:spPr>
          <a:xfrm>
            <a:off x="7067290" y="6120986"/>
            <a:ext cx="2336280" cy="17214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b="1" dirty="0" smtClean="0">
                <a:solidFill>
                  <a:schemeClr val="bg1"/>
                </a:solidFill>
              </a:rPr>
              <a:t>0706) </a:t>
            </a:r>
            <a:r>
              <a:rPr lang="ko-KR" altLang="en-US" sz="500" b="1" dirty="0" err="1" smtClean="0">
                <a:solidFill>
                  <a:schemeClr val="bg1"/>
                </a:solidFill>
              </a:rPr>
              <a:t>계약일자</a:t>
            </a:r>
            <a:r>
              <a:rPr lang="en-US" altLang="ko-KR" sz="500" b="1" dirty="0" smtClean="0">
                <a:solidFill>
                  <a:schemeClr val="bg1"/>
                </a:solidFill>
              </a:rPr>
              <a:t>, </a:t>
            </a:r>
            <a:r>
              <a:rPr lang="ko-KR" altLang="en-US" sz="500" b="1" dirty="0" err="1" smtClean="0">
                <a:solidFill>
                  <a:schemeClr val="bg1"/>
                </a:solidFill>
              </a:rPr>
              <a:t>청구일자</a:t>
            </a:r>
            <a:r>
              <a:rPr lang="en-US" altLang="ko-KR" sz="500" b="1" dirty="0" smtClean="0">
                <a:solidFill>
                  <a:schemeClr val="bg1"/>
                </a:solidFill>
              </a:rPr>
              <a:t>,</a:t>
            </a:r>
            <a:r>
              <a:rPr lang="ko-KR" altLang="en-US" sz="500" b="1" dirty="0" err="1" smtClean="0">
                <a:solidFill>
                  <a:schemeClr val="bg1"/>
                </a:solidFill>
              </a:rPr>
              <a:t>수령금액</a:t>
            </a:r>
            <a:r>
              <a:rPr lang="ko-KR" altLang="en-US" sz="500" b="1" dirty="0" smtClean="0">
                <a:solidFill>
                  <a:schemeClr val="bg1"/>
                </a:solidFill>
              </a:rPr>
              <a:t> 누락</a:t>
            </a:r>
            <a:endParaRPr lang="ko-KR" altLang="ko-KR" sz="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69794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80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336046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대금청구진행현황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dmt_pymtClmPrgrsPrstSrch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C383C-55E0-D07A-4E04-846216D6522D}"/>
              </a:ext>
            </a:extLst>
          </p:cNvPr>
          <p:cNvSpPr txBox="1"/>
          <p:nvPr/>
        </p:nvSpPr>
        <p:spPr>
          <a:xfrm>
            <a:off x="458117" y="2490877"/>
            <a:ext cx="26647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407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ctrtBngnYmd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clmBngnYmd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clmEndYmd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00611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5D46A5E-37F4-8517-D03E-37CE77A215D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740763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109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93F0D25-F0ED-6C90-FFD8-CA354714AFA7}"/>
              </a:ext>
            </a:extLst>
          </p:cNvPr>
          <p:cNvSpPr txBox="1"/>
          <p:nvPr/>
        </p:nvSpPr>
        <p:spPr>
          <a:xfrm>
            <a:off x="458117" y="497442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A926DA9-86BF-3A57-B2B3-A50D61CC8A52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5278246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상세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scwin.btn_dtl_onclick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대금청구 상세조회 화면을 호출한다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(UI-WM-01-M17)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(UI-WM-01-M18)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(UI-WM-01-M19)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(UI-WM-01-M20)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대금청구진행현황 목록을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56487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BF0BCD30-B7AD-5863-DCBB-C31A8722B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75338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대금지불정보</a:t>
            </a:r>
            <a:r>
              <a:rPr lang="en-US" altLang="ko-KR" dirty="0"/>
              <a:t>(</a:t>
            </a:r>
            <a:r>
              <a:rPr lang="ko-KR" altLang="en-US" dirty="0"/>
              <a:t>반납</a:t>
            </a:r>
            <a:r>
              <a:rPr lang="en-US" altLang="ko-KR" dirty="0"/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대금지불정보</a:t>
            </a:r>
            <a:r>
              <a:rPr lang="en-US" altLang="ko-KR" dirty="0"/>
              <a:t>(</a:t>
            </a:r>
            <a:r>
              <a:rPr lang="ko-KR" altLang="en-US" dirty="0"/>
              <a:t>반납</a:t>
            </a:r>
            <a:r>
              <a:rPr lang="en-US" altLang="ko-KR" dirty="0"/>
              <a:t>)</a:t>
            </a:r>
            <a:r>
              <a:rPr lang="ko-KR" altLang="en-US" dirty="0"/>
              <a:t>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대금지불정보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반납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MUI-WM-01-M10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대금지불정보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>
                <a:latin typeface="+mn-ea"/>
              </a:rPr>
              <a:t>반납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43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3143548" y="300864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89662"/>
            <a:ext cx="2473257" cy="942236"/>
            <a:chOff x="781461" y="3087955"/>
            <a:chExt cx="2473257" cy="942236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신청번호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1234-5678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/ </a:t>
              </a:r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수령금액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반납금액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 smtClean="0"/>
                <a:t>단가제</a:t>
              </a:r>
              <a:endParaRPr lang="ko-KR" altLang="en-US" sz="6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5426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278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418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34207" y="230424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2323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대금상태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21930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762118" y="3220756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5833259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대금수정</a:t>
            </a:r>
            <a:endParaRPr lang="ko-KR" altLang="en-US" sz="600" dirty="0"/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364593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r>
              <a:rPr lang="ko-KR" altLang="en-US" sz="600" dirty="0"/>
              <a:t>                          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525063" y="3384523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/>
              <a:t>대금청구</a:t>
            </a:r>
            <a:endParaRPr lang="ko-KR" altLang="en-US" sz="6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910872"/>
            <a:ext cx="127319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6286574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대금확정</a:t>
            </a:r>
            <a:endParaRPr lang="ko-KR" altLang="en-US" sz="600" dirty="0"/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4318634" y="341197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사후정산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grpSp>
        <p:nvGrpSpPr>
          <p:cNvPr id="126" name="그룹 12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33" name="모서리가 둥근 직사각형 132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44" name="그룹 14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90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91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48" name="타원 14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8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86" name="타원 185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7" name="그룹 186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88" name="직선 연결선 187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4" name="그룹 193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195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6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7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98" name="그룹 19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99" name="직선 연결선 19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직선 연결선 19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2204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</a:p>
        </p:txBody>
      </p:sp>
      <p:sp>
        <p:nvSpPr>
          <p:cNvPr id="136" name="텍스트 개체 틀 5"/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상단 </a:t>
            </a:r>
            <a:r>
              <a:rPr lang="ko-KR" altLang="en-US" sz="700" dirty="0" err="1" smtClean="0"/>
              <a:t>업무도움은</a:t>
            </a:r>
            <a:r>
              <a:rPr lang="ko-KR" altLang="en-US" sz="700" dirty="0" smtClean="0"/>
              <a:t> 기본 값으로 접힘 상태로 정보 제공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페이지 </a:t>
            </a:r>
            <a:r>
              <a:rPr lang="ko-KR" altLang="en-US" sz="700" dirty="0" err="1" smtClean="0"/>
              <a:t>호출시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</a:t>
            </a:r>
            <a:r>
              <a:rPr lang="ko-KR" altLang="en-US" sz="700" dirty="0" smtClean="0"/>
              <a:t>해당 업체에서 진행중인 모든 </a:t>
            </a:r>
            <a:r>
              <a:rPr lang="ko-KR" altLang="en-US" sz="700" dirty="0" err="1" smtClean="0"/>
              <a:t>계약건이</a:t>
            </a:r>
            <a:r>
              <a:rPr lang="ko-KR" altLang="en-US" sz="700" dirty="0" smtClean="0"/>
              <a:t> 노출됨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계약일자기준 당일 포함 이전 </a:t>
            </a:r>
            <a:r>
              <a:rPr lang="en-US" altLang="ko-KR" sz="700" dirty="0" smtClean="0"/>
              <a:t>30</a:t>
            </a:r>
            <a:r>
              <a:rPr lang="ko-KR" altLang="en-US" sz="700" dirty="0" smtClean="0"/>
              <a:t>일 동안 신청된 계약 건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기본값 </a:t>
            </a:r>
            <a:r>
              <a:rPr lang="en-US" altLang="ko-KR" sz="700" dirty="0" smtClean="0"/>
              <a:t>: </a:t>
            </a:r>
            <a:r>
              <a:rPr lang="ko-KR" altLang="en-US" sz="700" dirty="0" smtClean="0"/>
              <a:t>접힘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사용자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확장하여 정보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업무도움</a:t>
            </a:r>
            <a:r>
              <a:rPr lang="en-US" altLang="ko-KR" sz="700" dirty="0" smtClean="0"/>
              <a:t> &gt; </a:t>
            </a:r>
            <a:r>
              <a:rPr lang="ko-KR" altLang="en-US" sz="700" dirty="0" smtClean="0"/>
              <a:t>내역이 있는 경우 표시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내역이 없으면 항목을 표시하지 않음</a:t>
            </a:r>
            <a:r>
              <a:rPr lang="en-US" altLang="ko-KR" sz="700" dirty="0" smtClean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검색필터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2-1] </a:t>
            </a:r>
            <a:r>
              <a:rPr lang="ko-KR" altLang="en-US" sz="700" dirty="0" smtClean="0"/>
              <a:t>통합참조정보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예약번호중</a:t>
            </a:r>
            <a:r>
              <a:rPr lang="ko-KR" altLang="en-US" sz="700" dirty="0" smtClean="0"/>
              <a:t> 선택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2-2] </a:t>
            </a:r>
            <a:r>
              <a:rPr lang="ko-KR" altLang="en-US" sz="700" dirty="0" err="1" smtClean="0"/>
              <a:t>검색어</a:t>
            </a:r>
            <a:r>
              <a:rPr lang="ko-KR" altLang="en-US" sz="700" dirty="0" smtClean="0"/>
              <a:t> 입력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>
                <a:latin typeface="+mn-ea"/>
              </a:rPr>
              <a:t>검색 필터 호출</a:t>
            </a:r>
            <a:r>
              <a:rPr lang="en-US" altLang="ko-KR" sz="700" dirty="0" smtClean="0">
                <a:latin typeface="+mn-ea"/>
              </a:rPr>
              <a:t/>
            </a:r>
            <a:br>
              <a:rPr lang="en-US" altLang="ko-KR" sz="700" dirty="0" smtClean="0">
                <a:latin typeface="+mn-ea"/>
              </a:rPr>
            </a:br>
            <a:r>
              <a:rPr lang="ko-KR" altLang="en-US" sz="700" dirty="0" smtClean="0">
                <a:latin typeface="+mn-ea"/>
              </a:rPr>
              <a:t> </a:t>
            </a:r>
            <a:r>
              <a:rPr lang="en-US" altLang="ko-KR" sz="700" dirty="0" smtClean="0">
                <a:latin typeface="+mn-ea"/>
              </a:rPr>
              <a:t>– </a:t>
            </a:r>
            <a:r>
              <a:rPr lang="ko-KR" altLang="en-US" sz="700" dirty="0" smtClean="0">
                <a:latin typeface="+mn-ea"/>
              </a:rPr>
              <a:t>계약 페이지 참고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표시 개수 영역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총 개수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표시 개수 </a:t>
            </a:r>
            <a:r>
              <a:rPr lang="en-US" altLang="ko-KR" sz="700" dirty="0" smtClean="0"/>
              <a:t>(</a:t>
            </a:r>
            <a:r>
              <a:rPr lang="ko-KR" altLang="en-US" sz="700" dirty="0" smtClean="0"/>
              <a:t>선택한 건수 만큼 보여주고 </a:t>
            </a:r>
            <a:r>
              <a:rPr lang="ko-KR" altLang="en-US" sz="700" dirty="0" err="1" smtClean="0"/>
              <a:t>더보기시</a:t>
            </a:r>
            <a:r>
              <a:rPr lang="ko-KR" altLang="en-US" sz="700" dirty="0" smtClean="0"/>
              <a:t> 추가로 불러옴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ko-KR" altLang="en-US" sz="700" dirty="0" smtClean="0"/>
              <a:t>목록 카드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카드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바텀시트</a:t>
            </a:r>
            <a:r>
              <a:rPr lang="ko-KR" altLang="en-US" sz="700" dirty="0" smtClean="0"/>
              <a:t> 호출</a:t>
            </a:r>
            <a:r>
              <a:rPr lang="en-US" altLang="ko-KR" sz="700" dirty="0" smtClean="0"/>
              <a:t>(</a:t>
            </a:r>
            <a:r>
              <a:rPr lang="en-US" altLang="ko-KR" sz="700" dirty="0" smtClean="0">
                <a:latin typeface="+mn-ea"/>
              </a:rPr>
              <a:t>MUI-WM-01-P13)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4-1] </a:t>
            </a:r>
            <a:r>
              <a:rPr lang="ko-KR" altLang="en-US" sz="700" dirty="0" err="1" smtClean="0"/>
              <a:t>표시레이블</a:t>
            </a:r>
            <a:r>
              <a:rPr lang="ko-KR" altLang="en-US" sz="700" dirty="0" smtClean="0"/>
              <a:t> 영역 항목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레이블이 화면을 넘치는 경우 드래그하여 확인 가능 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스와이프기능</a:t>
            </a:r>
            <a:r>
              <a:rPr lang="ko-KR" altLang="en-US" sz="700" dirty="0" smtClean="0"/>
              <a:t> 반영 필요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 </a:t>
            </a:r>
            <a:r>
              <a:rPr lang="ko-KR" altLang="en-US" sz="700" dirty="0" smtClean="0"/>
              <a:t>전체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물품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용역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공사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국외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입찰구분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</a:t>
            </a:r>
            <a:r>
              <a:rPr lang="ko-KR" altLang="en-US" sz="700" dirty="0" err="1" smtClean="0"/>
              <a:t>총액제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단가제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대금상태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</a:t>
            </a:r>
            <a:r>
              <a:rPr lang="ko-KR" altLang="en-US" sz="700" dirty="0" err="1" smtClean="0"/>
              <a:t>선금신청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착중도금신청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대금청구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대금수정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대금확정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사후정산</a:t>
            </a:r>
            <a:br>
              <a:rPr lang="ko-KR" altLang="en-US" sz="700" dirty="0" smtClean="0"/>
            </a:br>
            <a:r>
              <a:rPr lang="en-US" altLang="ko-KR" sz="700" dirty="0" smtClean="0"/>
              <a:t>4-2] </a:t>
            </a:r>
            <a:r>
              <a:rPr lang="ko-KR" altLang="en-US" sz="700" dirty="0" smtClean="0"/>
              <a:t>문서 정보 영역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err="1" smtClean="0"/>
              <a:t>회차노출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노출시</a:t>
            </a:r>
            <a:r>
              <a:rPr lang="ko-KR" altLang="en-US" sz="700" dirty="0" smtClean="0"/>
              <a:t> 해당 라인을 넘어가면 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: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smtClean="0"/>
              <a:t>계약번호차수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4-3] </a:t>
            </a:r>
            <a:r>
              <a:rPr lang="ko-KR" altLang="en-US" sz="700" dirty="0" smtClean="0"/>
              <a:t>문서 제목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제목은 </a:t>
            </a:r>
            <a:r>
              <a:rPr lang="en-US" altLang="ko-KR" sz="700" dirty="0" smtClean="0"/>
              <a:t>2</a:t>
            </a:r>
            <a:r>
              <a:rPr lang="ko-KR" altLang="en-US" sz="700" dirty="0" smtClean="0"/>
              <a:t>줄 까지 노출 이후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대금청구상세 페이지로 이동 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기능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- 3</a:t>
            </a:r>
            <a:r>
              <a:rPr lang="ko-KR" altLang="en-US" sz="700" dirty="0" err="1" smtClean="0"/>
              <a:t>번항목</a:t>
            </a:r>
            <a:r>
              <a:rPr lang="ko-KR" altLang="en-US" sz="700" dirty="0" smtClean="0"/>
              <a:t> 표시 개수 영역에서 선택한 개수로 증가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ko-KR" altLang="en-US" sz="700" dirty="0" smtClean="0"/>
              <a:t>예</a:t>
            </a:r>
            <a:r>
              <a:rPr lang="en-US" altLang="ko-KR" sz="700" dirty="0" smtClean="0"/>
              <a:t>) 10</a:t>
            </a:r>
            <a:r>
              <a:rPr lang="ko-KR" altLang="en-US" sz="700" dirty="0" smtClean="0"/>
              <a:t>개 노출 이후 </a:t>
            </a: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버튼 클릭으로 </a:t>
            </a:r>
            <a:r>
              <a:rPr lang="en-US" altLang="ko-KR" sz="700" dirty="0" smtClean="0"/>
              <a:t>10</a:t>
            </a:r>
            <a:r>
              <a:rPr lang="ko-KR" altLang="en-US" sz="700" dirty="0" smtClean="0"/>
              <a:t>개씩 추가 로드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대금청구관련 안내문을 호출한다</a:t>
            </a:r>
            <a:r>
              <a:rPr lang="en-US" altLang="ko-KR" sz="700" dirty="0" smtClean="0"/>
              <a:t>.</a:t>
            </a:r>
            <a:r>
              <a:rPr lang="en-US" altLang="ko-KR" dirty="0" smtClean="0">
                <a:latin typeface="+mn-ea"/>
              </a:rPr>
              <a:t> (</a:t>
            </a:r>
            <a:r>
              <a:rPr lang="en-US" altLang="ko-KR" sz="700" dirty="0" smtClean="0">
                <a:latin typeface="+mn-ea"/>
              </a:rPr>
              <a:t>MUI-WM-01-P09)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endParaRPr lang="en-US" altLang="ko-KR" sz="700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2055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63636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84573" y="22247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250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50531" y="14618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</a:p>
        </p:txBody>
      </p:sp>
    </p:spTree>
    <p:extLst>
      <p:ext uri="{BB962C8B-B14F-4D97-AF65-F5344CB8AC3E}">
        <p14:creationId xmlns:p14="http://schemas.microsoft.com/office/powerpoint/2010/main" val="327559358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319214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대금지불정보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반납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dmt_pymtDfryInfoSrch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C383C-55E0-D07A-4E04-846216D6522D}"/>
              </a:ext>
            </a:extLst>
          </p:cNvPr>
          <p:cNvSpPr txBox="1"/>
          <p:nvPr/>
        </p:nvSpPr>
        <p:spPr>
          <a:xfrm>
            <a:off x="458117" y="2157281"/>
            <a:ext cx="345664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대금지불정보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반납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r>
              <a:rPr lang="ko-KR" altLang="en-US" sz="900" b="1" dirty="0">
                <a:solidFill>
                  <a:prstClr val="black"/>
                </a:solidFill>
              </a:rPr>
              <a:t>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dlt_pymtDfryInfoList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ctrtBgngYmd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5D46A5E-37F4-8517-D03E-37CE77A215D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441035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반납금액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rtnAmt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반납금액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8E50FD7A-00F1-4BD9-507D-2C54F12D0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82DD0-1779-5E39-E529-9DDFC164E65F}"/>
              </a:ext>
            </a:extLst>
          </p:cNvPr>
          <p:cNvSpPr txBox="1"/>
          <p:nvPr/>
        </p:nvSpPr>
        <p:spPr>
          <a:xfrm>
            <a:off x="458117" y="446569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C11CE2-7F70-9E45-8C39-23589E2A9923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769516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대금지불정보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반납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en-US" sz="800" dirty="0"/>
                        <a:t>목록을 조회한다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1542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15057</TotalTime>
  <Words>10390</Words>
  <Application>Microsoft Office PowerPoint</Application>
  <PresentationFormat>A4 용지(210x297mm)</PresentationFormat>
  <Paragraphs>5051</Paragraphs>
  <Slides>83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83</vt:i4>
      </vt:variant>
    </vt:vector>
  </HeadingPairs>
  <TitlesOfParts>
    <vt:vector size="90" baseType="lpstr">
      <vt:lpstr>Pretendard Medium</vt:lpstr>
      <vt:lpstr>맑은 고딕</vt:lpstr>
      <vt:lpstr>Arial</vt:lpstr>
      <vt:lpstr>Times New Roman</vt:lpstr>
      <vt:lpstr>Verdana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889</cp:revision>
  <cp:lastPrinted>2016-10-27T08:57:39Z</cp:lastPrinted>
  <dcterms:created xsi:type="dcterms:W3CDTF">2016-10-27T07:41:55Z</dcterms:created>
  <dcterms:modified xsi:type="dcterms:W3CDTF">2026-07-27T08:16:55Z</dcterms:modified>
  <cp:category>서브시스템/업무명</cp:category>
  <cp:contentStatus>0.1</cp:contentStatus>
</cp:coreProperties>
</file>