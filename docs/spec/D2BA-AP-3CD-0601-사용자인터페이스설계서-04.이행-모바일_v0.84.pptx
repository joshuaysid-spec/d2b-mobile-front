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841" r:id="rId3"/>
    <p:sldId id="764" r:id="rId4"/>
    <p:sldId id="356" r:id="rId5"/>
    <p:sldId id="260" r:id="rId6"/>
    <p:sldId id="842" r:id="rId7"/>
    <p:sldId id="843" r:id="rId8"/>
    <p:sldId id="844" r:id="rId9"/>
    <p:sldId id="845" r:id="rId10"/>
    <p:sldId id="670" r:id="rId11"/>
    <p:sldId id="848" r:id="rId12"/>
    <p:sldId id="850" r:id="rId13"/>
    <p:sldId id="292" r:id="rId14"/>
    <p:sldId id="849" r:id="rId15"/>
    <p:sldId id="851" r:id="rId16"/>
    <p:sldId id="852" r:id="rId17"/>
    <p:sldId id="630" r:id="rId18"/>
    <p:sldId id="846" r:id="rId19"/>
    <p:sldId id="633" r:id="rId20"/>
    <p:sldId id="805" r:id="rId21"/>
    <p:sldId id="744" r:id="rId22"/>
    <p:sldId id="847" r:id="rId23"/>
    <p:sldId id="745" r:id="rId24"/>
    <p:sldId id="806" r:id="rId25"/>
    <p:sldId id="807" r:id="rId26"/>
    <p:sldId id="808" r:id="rId27"/>
    <p:sldId id="749" r:id="rId28"/>
    <p:sldId id="809" r:id="rId29"/>
    <p:sldId id="810" r:id="rId30"/>
    <p:sldId id="753" r:id="rId31"/>
    <p:sldId id="754" r:id="rId32"/>
    <p:sldId id="811" r:id="rId33"/>
    <p:sldId id="756" r:id="rId34"/>
    <p:sldId id="814" r:id="rId35"/>
    <p:sldId id="758" r:id="rId36"/>
    <p:sldId id="759" r:id="rId37"/>
    <p:sldId id="763" r:id="rId38"/>
    <p:sldId id="815" r:id="rId39"/>
    <p:sldId id="816" r:id="rId40"/>
    <p:sldId id="817" r:id="rId41"/>
    <p:sldId id="765" r:id="rId42"/>
    <p:sldId id="853" r:id="rId43"/>
    <p:sldId id="766" r:id="rId44"/>
    <p:sldId id="858" r:id="rId45"/>
    <p:sldId id="859" r:id="rId46"/>
    <p:sldId id="768" r:id="rId47"/>
    <p:sldId id="776" r:id="rId48"/>
    <p:sldId id="818" r:id="rId49"/>
    <p:sldId id="769" r:id="rId50"/>
    <p:sldId id="854" r:id="rId51"/>
    <p:sldId id="770" r:id="rId52"/>
    <p:sldId id="820" r:id="rId53"/>
    <p:sldId id="821" r:id="rId54"/>
    <p:sldId id="777" r:id="rId55"/>
    <p:sldId id="837" r:id="rId56"/>
    <p:sldId id="822" r:id="rId57"/>
    <p:sldId id="823" r:id="rId58"/>
    <p:sldId id="779" r:id="rId59"/>
    <p:sldId id="855" r:id="rId60"/>
    <p:sldId id="780" r:id="rId61"/>
    <p:sldId id="824" r:id="rId62"/>
    <p:sldId id="825" r:id="rId63"/>
    <p:sldId id="826" r:id="rId64"/>
    <p:sldId id="786" r:id="rId65"/>
    <p:sldId id="838" r:id="rId66"/>
    <p:sldId id="787" r:id="rId67"/>
    <p:sldId id="827" r:id="rId68"/>
    <p:sldId id="788" r:id="rId69"/>
    <p:sldId id="856" r:id="rId70"/>
    <p:sldId id="789" r:id="rId71"/>
    <p:sldId id="828" r:id="rId72"/>
    <p:sldId id="829" r:id="rId73"/>
    <p:sldId id="830" r:id="rId74"/>
    <p:sldId id="794" r:id="rId75"/>
    <p:sldId id="839" r:id="rId76"/>
    <p:sldId id="831" r:id="rId77"/>
    <p:sldId id="832" r:id="rId78"/>
    <p:sldId id="795" r:id="rId79"/>
    <p:sldId id="857" r:id="rId80"/>
    <p:sldId id="796" r:id="rId81"/>
    <p:sldId id="833" r:id="rId82"/>
    <p:sldId id="834" r:id="rId83"/>
    <p:sldId id="835" r:id="rId84"/>
    <p:sldId id="771" r:id="rId85"/>
    <p:sldId id="840" r:id="rId86"/>
    <p:sldId id="819" r:id="rId8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841"/>
            <p14:sldId id="764"/>
            <p14:sldId id="356"/>
            <p14:sldId id="260"/>
          </p14:sldIdLst>
        </p14:section>
        <p14:section name="목록" id="{A88D8C4A-42D5-488C-851B-9A15CEB54A60}">
          <p14:sldIdLst>
            <p14:sldId id="842"/>
            <p14:sldId id="843"/>
            <p14:sldId id="844"/>
          </p14:sldIdLst>
        </p14:section>
        <p14:section name="1.이행" id="{BB5718C8-07C1-4018-9189-79486BE9C0C5}">
          <p14:sldIdLst>
            <p14:sldId id="845"/>
            <p14:sldId id="670"/>
            <p14:sldId id="848"/>
            <p14:sldId id="850"/>
            <p14:sldId id="292"/>
            <p14:sldId id="849"/>
            <p14:sldId id="851"/>
            <p14:sldId id="852"/>
            <p14:sldId id="630"/>
            <p14:sldId id="846"/>
            <p14:sldId id="633"/>
            <p14:sldId id="805"/>
            <p14:sldId id="744"/>
            <p14:sldId id="847"/>
            <p14:sldId id="745"/>
            <p14:sldId id="806"/>
            <p14:sldId id="807"/>
            <p14:sldId id="808"/>
            <p14:sldId id="749"/>
            <p14:sldId id="809"/>
            <p14:sldId id="810"/>
            <p14:sldId id="753"/>
            <p14:sldId id="754"/>
            <p14:sldId id="811"/>
            <p14:sldId id="756"/>
            <p14:sldId id="814"/>
            <p14:sldId id="758"/>
            <p14:sldId id="759"/>
            <p14:sldId id="763"/>
            <p14:sldId id="815"/>
            <p14:sldId id="816"/>
            <p14:sldId id="817"/>
          </p14:sldIdLst>
        </p14:section>
        <p14:section name="[국외] 한도액계약" id="{435CC6E4-0D47-4966-8A17-65080AAA2FB5}">
          <p14:sldIdLst>
            <p14:sldId id="765"/>
            <p14:sldId id="853"/>
            <p14:sldId id="766"/>
            <p14:sldId id="858"/>
            <p14:sldId id="859"/>
            <p14:sldId id="768"/>
            <p14:sldId id="776"/>
            <p14:sldId id="818"/>
            <p14:sldId id="769"/>
            <p14:sldId id="854"/>
            <p14:sldId id="770"/>
            <p14:sldId id="820"/>
            <p14:sldId id="821"/>
            <p14:sldId id="777"/>
            <p14:sldId id="837"/>
            <p14:sldId id="822"/>
            <p14:sldId id="823"/>
            <p14:sldId id="779"/>
            <p14:sldId id="855"/>
            <p14:sldId id="780"/>
            <p14:sldId id="824"/>
            <p14:sldId id="825"/>
            <p14:sldId id="826"/>
            <p14:sldId id="786"/>
            <p14:sldId id="838"/>
            <p14:sldId id="787"/>
            <p14:sldId id="827"/>
            <p14:sldId id="788"/>
            <p14:sldId id="856"/>
            <p14:sldId id="789"/>
            <p14:sldId id="828"/>
            <p14:sldId id="829"/>
            <p14:sldId id="830"/>
            <p14:sldId id="794"/>
            <p14:sldId id="839"/>
            <p14:sldId id="831"/>
            <p14:sldId id="832"/>
            <p14:sldId id="795"/>
            <p14:sldId id="857"/>
            <p14:sldId id="796"/>
            <p14:sldId id="833"/>
            <p14:sldId id="834"/>
            <p14:sldId id="835"/>
            <p14:sldId id="771"/>
            <p14:sldId id="840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8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2026-08-04 (Tuesday)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2026-08-04 (Tuesday)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04.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이행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04.</a:t>
            </a:r>
            <a:r>
              <a:rPr lang="ko-KR" altLang="en-US" dirty="0"/>
              <a:t>이행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3721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362632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.9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2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3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9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3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7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37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14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6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AD5474A3-B992-4B2C-42CB-59514F09A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30591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305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이행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err="1">
                          <a:latin typeface="+mn-ea"/>
                        </a:rPr>
                        <a:t>한도액계약</a:t>
                      </a:r>
                      <a:r>
                        <a:rPr lang="ko-KR" altLang="en-US" sz="1200" dirty="0">
                          <a:latin typeface="+mn-ea"/>
                        </a:rPr>
                        <a:t> </a:t>
                      </a:r>
                      <a:r>
                        <a:rPr lang="ko-KR" altLang="en-US" sz="1200" dirty="0"/>
                        <a:t>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79108"/>
              </p:ext>
            </p:extLst>
          </p:nvPr>
        </p:nvGraphicFramePr>
        <p:xfrm>
          <a:off x="635474" y="1413419"/>
          <a:ext cx="8701200" cy="43101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InspIntgListInqPage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납품조서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기성 및 준공검사 대상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MUI-EX-01-P08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검사통합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InspIntgListInq_SrchFilter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납품통지목록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DlvgdsAvtsmtListPage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검사및납품조서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납품통지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inspIntgListInq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DlvgdsAvtsmtListPage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526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검사및납품조서목록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InspDlvdocListPage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검사및납품조서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납품통지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세부 목록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inspIntgListInq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InspDlvdocListPage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0692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MUI-EX-01-M02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MUI-EX-01-T01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2478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MUI-EX-01-T02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589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MUI-EX-01-M03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InspDlvdocDtlSbsdPrcmPage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InspDlvdocDtlSbsdPrcmDtl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4318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InspDlvdocDtlSbsdPrcmDtl_CmdtyList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0774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MUI-EX-01-M04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기성및준공검사상세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PxcndCmcnInspDtlPage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pxcndCmcnInspDtlPage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PxcndCmcnInspDtl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90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3746"/>
              </p:ext>
            </p:extLst>
          </p:nvPr>
        </p:nvGraphicFramePr>
        <p:xfrm>
          <a:off x="635474" y="1413419"/>
          <a:ext cx="8701200" cy="2456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검사및납품조서현황</a:t>
                      </a:r>
                      <a:r>
                        <a:rPr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현황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MUI-EX-01-P09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28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조서발행번호정보조회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RecrdPblcnNoInfoInqPage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조서발행번호 조회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054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MUI-EX-01-M07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9155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95350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126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검사통합목록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검사통합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4500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22170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0" idx="1"/>
          </p:cNvCxnSpPr>
          <p:nvPr/>
        </p:nvCxnSpPr>
        <p:spPr>
          <a:xfrm rot="16200000" flipH="1">
            <a:off x="2997822" y="1735750"/>
            <a:ext cx="537573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491608" y="953964"/>
            <a:ext cx="12700" cy="135000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22170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356149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기성및준공검사상세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34" idx="1"/>
          </p:cNvCxnSpPr>
          <p:nvPr/>
        </p:nvCxnSpPr>
        <p:spPr>
          <a:xfrm rot="16200000" flipH="1">
            <a:off x="2372343" y="2361229"/>
            <a:ext cx="1788531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158" idx="2"/>
          </p:cNvCxnSpPr>
          <p:nvPr/>
        </p:nvCxnSpPr>
        <p:spPr>
          <a:xfrm flipV="1">
            <a:off x="4616608" y="3083939"/>
            <a:ext cx="4632719" cy="621556"/>
          </a:xfrm>
          <a:prstGeom prst="bentConnector3">
            <a:avLst>
              <a:gd name="adj1" fmla="val 949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3441630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공사 계약 선택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67" idx="1"/>
          </p:cNvCxnSpPr>
          <p:nvPr/>
        </p:nvCxnSpPr>
        <p:spPr>
          <a:xfrm flipV="1">
            <a:off x="6022170" y="2318132"/>
            <a:ext cx="534770" cy="1364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388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91238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조서발행번호정보조회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2" idx="1"/>
          </p:cNvCxnSpPr>
          <p:nvPr/>
        </p:nvCxnSpPr>
        <p:spPr>
          <a:xfrm>
            <a:off x="1435474" y="1772964"/>
            <a:ext cx="931134" cy="26098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55877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 및 </a:t>
            </a:r>
            <a:r>
              <a:rPr lang="ko-KR" altLang="en-US" sz="800" dirty="0" err="1">
                <a:solidFill>
                  <a:schemeClr val="tx1"/>
                </a:solidFill>
              </a:rPr>
              <a:t>납품조서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23698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 flipV="1">
            <a:off x="3266608" y="4380989"/>
            <a:ext cx="450000" cy="18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2"/>
            <a:endCxn id="74" idx="1"/>
          </p:cNvCxnSpPr>
          <p:nvPr/>
        </p:nvCxnSpPr>
        <p:spPr>
          <a:xfrm rot="16200000" flipH="1">
            <a:off x="2664141" y="4679315"/>
            <a:ext cx="1204935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0"/>
            <a:endCxn id="62" idx="0"/>
          </p:cNvCxnSpPr>
          <p:nvPr/>
        </p:nvCxnSpPr>
        <p:spPr>
          <a:xfrm rot="16200000" flipH="1" flipV="1">
            <a:off x="3490678" y="3562918"/>
            <a:ext cx="1859" cy="1350000"/>
          </a:xfrm>
          <a:prstGeom prst="bentConnector3">
            <a:avLst>
              <a:gd name="adj1" fmla="val -122969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2"/>
            <a:endCxn id="71" idx="0"/>
          </p:cNvCxnSpPr>
          <p:nvPr/>
        </p:nvCxnSpPr>
        <p:spPr>
          <a:xfrm>
            <a:off x="4166608" y="4524989"/>
            <a:ext cx="0" cy="3873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76" idx="3"/>
          </p:cNvCxnSpPr>
          <p:nvPr/>
        </p:nvCxnSpPr>
        <p:spPr>
          <a:xfrm flipV="1">
            <a:off x="4616608" y="4380989"/>
            <a:ext cx="12700" cy="6753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56940" y="1996184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80599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7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75196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1" name="그룹 80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8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56940" y="2844435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80599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9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75196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022170" y="3083939"/>
            <a:ext cx="534770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51378" y="5347199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검사 및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납품조서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결과상세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275037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0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369634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97" idx="1"/>
          </p:cNvCxnSpPr>
          <p:nvPr/>
        </p:nvCxnSpPr>
        <p:spPr>
          <a:xfrm flipV="1">
            <a:off x="4616608" y="5669147"/>
            <a:ext cx="534770" cy="626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7" idx="3"/>
            <a:endCxn id="158" idx="2"/>
          </p:cNvCxnSpPr>
          <p:nvPr/>
        </p:nvCxnSpPr>
        <p:spPr>
          <a:xfrm flipV="1">
            <a:off x="7384870" y="3083939"/>
            <a:ext cx="1864457" cy="2585208"/>
          </a:xfrm>
          <a:prstGeom prst="bentConnector3">
            <a:avLst>
              <a:gd name="adj1" fmla="val 873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3" idx="3"/>
            <a:endCxn id="158" idx="2"/>
          </p:cNvCxnSpPr>
          <p:nvPr/>
        </p:nvCxnSpPr>
        <p:spPr>
          <a:xfrm flipV="1">
            <a:off x="8790432" y="3083939"/>
            <a:ext cx="458895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7" idx="3"/>
            <a:endCxn id="158" idx="2"/>
          </p:cNvCxnSpPr>
          <p:nvPr/>
        </p:nvCxnSpPr>
        <p:spPr>
          <a:xfrm>
            <a:off x="8790432" y="2318132"/>
            <a:ext cx="458895" cy="7658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납품통지목록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218913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sp>
        <p:nvSpPr>
          <p:cNvPr id="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93724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0" idx="2"/>
            <a:endCxn id="79" idx="0"/>
          </p:cNvCxnSpPr>
          <p:nvPr/>
        </p:nvCxnSpPr>
        <p:spPr>
          <a:xfrm>
            <a:off x="4166608" y="2598537"/>
            <a:ext cx="0" cy="33870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9" idx="3"/>
            <a:endCxn id="162" idx="1"/>
          </p:cNvCxnSpPr>
          <p:nvPr/>
        </p:nvCxnSpPr>
        <p:spPr>
          <a:xfrm flipV="1">
            <a:off x="4616608" y="2454537"/>
            <a:ext cx="505562" cy="6267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9" idx="3"/>
            <a:endCxn id="23" idx="1"/>
          </p:cNvCxnSpPr>
          <p:nvPr/>
        </p:nvCxnSpPr>
        <p:spPr>
          <a:xfrm>
            <a:off x="4616608" y="3081242"/>
            <a:ext cx="505562" cy="2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05932" y="3304135"/>
            <a:ext cx="821353" cy="1800000"/>
          </a:xfrm>
          <a:prstGeom prst="bentConnector4">
            <a:avLst>
              <a:gd name="adj1" fmla="val -80845"/>
              <a:gd name="adj2" fmla="val 11899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2"/>
            <a:endCxn id="23" idx="2"/>
          </p:cNvCxnSpPr>
          <p:nvPr/>
        </p:nvCxnSpPr>
        <p:spPr>
          <a:xfrm rot="5400000" flipH="1" flipV="1">
            <a:off x="3544934" y="2499613"/>
            <a:ext cx="1298909" cy="2755562"/>
          </a:xfrm>
          <a:prstGeom prst="bentConnector3">
            <a:avLst>
              <a:gd name="adj1" fmla="val -5782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0885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검사통합목록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0885" y="216638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</a:rPr>
              <a:t>검사통합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InspIntgListInq_SrchFilter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268863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검사및납품조서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</a:rPr>
              <a:t>inspDlvdoc</a:t>
            </a:r>
            <a:r>
              <a:rPr lang="en-US" altLang="ko-KR" sz="1100" dirty="0" err="1"/>
              <a:t>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48085" y="1865266"/>
            <a:ext cx="1212006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8085" y="2387512"/>
            <a:ext cx="1212006" cy="60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8085" y="2909758"/>
            <a:ext cx="1212006" cy="8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21087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73312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25536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77761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48085" y="2990174"/>
            <a:ext cx="1212006" cy="44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48085" y="2990174"/>
            <a:ext cx="1212006" cy="96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48085" y="2990174"/>
            <a:ext cx="1212006" cy="148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48085" y="2990174"/>
            <a:ext cx="1212006" cy="20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299862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48085" y="2990174"/>
            <a:ext cx="1212006" cy="253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기성및준공검사상세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PxcndCmcnInspDtlPage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3"/>
            <a:endCxn id="9" idx="1"/>
          </p:cNvCxnSpPr>
          <p:nvPr/>
        </p:nvCxnSpPr>
        <p:spPr>
          <a:xfrm flipV="1">
            <a:off x="2748085" y="2990174"/>
            <a:ext cx="1212006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4" idx="0"/>
            <a:endCxn id="9" idx="2"/>
          </p:cNvCxnSpPr>
          <p:nvPr/>
        </p:nvCxnSpPr>
        <p:spPr>
          <a:xfrm flipV="1">
            <a:off x="3659208" y="3810190"/>
            <a:ext cx="1164483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5" idx="0"/>
            <a:endCxn id="9" idx="2"/>
          </p:cNvCxnSpPr>
          <p:nvPr/>
        </p:nvCxnSpPr>
        <p:spPr>
          <a:xfrm flipH="1" flipV="1">
            <a:off x="4823691" y="3810190"/>
            <a:ext cx="437321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4" idx="0"/>
            <a:endCxn id="9" idx="2"/>
          </p:cNvCxnSpPr>
          <p:nvPr/>
        </p:nvCxnSpPr>
        <p:spPr>
          <a:xfrm flipH="1" flipV="1">
            <a:off x="4823691" y="3810190"/>
            <a:ext cx="437321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3" idx="0"/>
            <a:endCxn id="9" idx="2"/>
          </p:cNvCxnSpPr>
          <p:nvPr/>
        </p:nvCxnSpPr>
        <p:spPr>
          <a:xfrm flipH="1" flipV="1">
            <a:off x="4823691" y="3810190"/>
            <a:ext cx="437321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3" idx="0"/>
            <a:endCxn id="9" idx="2"/>
          </p:cNvCxnSpPr>
          <p:nvPr/>
        </p:nvCxnSpPr>
        <p:spPr>
          <a:xfrm flipV="1">
            <a:off x="3659208" y="3810190"/>
            <a:ext cx="1164483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2" idx="0"/>
            <a:endCxn id="9" idx="2"/>
          </p:cNvCxnSpPr>
          <p:nvPr/>
        </p:nvCxnSpPr>
        <p:spPr>
          <a:xfrm flipV="1">
            <a:off x="3659208" y="3810190"/>
            <a:ext cx="1164483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검사및납품조서현황목록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조서발행번호정보조회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RecrdPblcnNoInfoInqPage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4255369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납품통지목록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DlvgdsAvtsmtListPage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4255369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2" idx="0"/>
            <a:endCxn id="9" idx="2"/>
          </p:cNvCxnSpPr>
          <p:nvPr/>
        </p:nvCxnSpPr>
        <p:spPr>
          <a:xfrm flipV="1">
            <a:off x="3659208" y="3810190"/>
            <a:ext cx="1164483" cy="44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3" idx="0"/>
            <a:endCxn id="9" idx="2"/>
          </p:cNvCxnSpPr>
          <p:nvPr/>
        </p:nvCxnSpPr>
        <p:spPr>
          <a:xfrm flipH="1" flipV="1">
            <a:off x="4823691" y="3810190"/>
            <a:ext cx="437321" cy="44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검사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기성 및 준공검사 대상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계약업체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기성금액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검사일자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669404" y="3858386"/>
            <a:ext cx="565860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조달테스트</a:t>
            </a:r>
            <a:r>
              <a:rPr lang="ko-KR" altLang="en-US" sz="600" dirty="0" smtClean="0">
                <a:latin typeface="+mn-ea"/>
              </a:rPr>
              <a:t> 업체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5,000,000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2026-06-30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093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017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700479"/>
            <a:ext cx="2473257" cy="1219235"/>
            <a:chOff x="781461" y="3087955"/>
            <a:chExt cx="2473257" cy="12192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6746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기성금액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검사일자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669404" y="3617129"/>
              <a:ext cx="565860" cy="6746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조달테스트</a:t>
              </a:r>
              <a:r>
                <a:rPr lang="ko-KR" altLang="en-US" sz="600" dirty="0">
                  <a:latin typeface="+mn-ea"/>
                </a:rPr>
                <a:t> 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5,000,000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2026-06-30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공사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/>
                <a:t>준공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601784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MUI-EX-01-P08 </a:t>
            </a:r>
            <a:r>
              <a:rPr lang="ko-KR" altLang="en-US" sz="700" dirty="0" err="1"/>
              <a:t>검색필터</a:t>
            </a:r>
            <a:r>
              <a:rPr lang="en-US" altLang="ko-KR" sz="700" dirty="0"/>
              <a:t>-</a:t>
            </a:r>
            <a:r>
              <a:rPr lang="ko-KR" altLang="en-US" sz="700" dirty="0" err="1"/>
              <a:t>검사통합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상세 페이지 이동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클릭 </a:t>
            </a:r>
            <a:r>
              <a:rPr lang="ko-KR" altLang="en-US" sz="700" dirty="0" smtClean="0"/>
              <a:t>시 </a:t>
            </a:r>
            <a:r>
              <a:rPr lang="en-US" altLang="ko-KR" sz="700" dirty="0" smtClean="0"/>
              <a:t>–</a:t>
            </a:r>
            <a:r>
              <a:rPr lang="ko-KR" altLang="en-US" sz="700" dirty="0" smtClean="0">
                <a:solidFill>
                  <a:srgbClr val="FF0000"/>
                </a:solidFill>
              </a:rPr>
              <a:t>분기 조건 주의 필요</a:t>
            </a:r>
            <a:r>
              <a:rPr lang="en-US" altLang="ko-KR" sz="700" dirty="0" smtClean="0">
                <a:solidFill>
                  <a:srgbClr val="FF0000"/>
                </a:solidFill>
              </a:rPr>
              <a:t>.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 </a:t>
            </a:r>
            <a:r>
              <a:rPr lang="en-US" altLang="ko-KR" sz="700" dirty="0" smtClean="0"/>
              <a:t>: </a:t>
            </a:r>
            <a:r>
              <a:rPr lang="en-US" altLang="ko-KR" sz="700" dirty="0" smtClean="0"/>
              <a:t>(</a:t>
            </a:r>
            <a:r>
              <a:rPr lang="en-US" altLang="ko-KR" sz="700" dirty="0" smtClean="0"/>
              <a:t>MUI-EX-01-P10) </a:t>
            </a:r>
            <a:r>
              <a:rPr lang="ko-KR" altLang="en-US" sz="700" dirty="0" smtClean="0"/>
              <a:t>납품통지목록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공사 </a:t>
            </a:r>
            <a:r>
              <a:rPr lang="en-US" altLang="ko-KR" sz="700" dirty="0"/>
              <a:t>: </a:t>
            </a:r>
            <a:r>
              <a:rPr lang="en-US" altLang="ko-KR" sz="700" dirty="0" smtClean="0"/>
              <a:t>(MUI-EX-01-M04) </a:t>
            </a:r>
            <a:r>
              <a:rPr lang="ko-KR" altLang="en-US" sz="700" dirty="0" err="1" smtClean="0"/>
              <a:t>기성및준공검사상세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기성준공구분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기성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준공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수정계약요청수신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수정계약사유 항목 확인 불가</a:t>
            </a:r>
            <a:r>
              <a:rPr lang="en-US" altLang="ko-KR" sz="700" dirty="0" smtClean="0"/>
              <a:t>.</a:t>
            </a:r>
            <a:r>
              <a:rPr lang="ko-KR" altLang="en-US" sz="700" dirty="0" smtClean="0"/>
              <a:t> 항목명과 코드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전달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4-4]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4-5]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</a:t>
            </a:r>
            <a:r>
              <a:rPr lang="ko-KR" altLang="en-US" sz="700" dirty="0" smtClean="0"/>
              <a:t>로드</a:t>
            </a:r>
            <a:endParaRPr lang="en-US" altLang="ko-KR" sz="7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6594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7916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4-4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51731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4-5</a:t>
            </a:r>
            <a:endParaRPr lang="ko-KR" altLang="en-US" sz="6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7065497" y="5939649"/>
            <a:ext cx="2325632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</a:p>
          <a:p>
            <a:r>
              <a:rPr lang="ko-KR" altLang="en-US" sz="500" dirty="0" smtClean="0"/>
              <a:t>계약시작일자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종료일자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기성준공구분코드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검사일자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기성차수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납부기성금액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누락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11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027"/>
              </p:ext>
            </p:extLst>
          </p:nvPr>
        </p:nvGraphicFramePr>
        <p:xfrm>
          <a:off x="3801286" y="1616448"/>
          <a:ext cx="306977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기성준공구분코드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pxcndCmcnSecd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기성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준공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</a:tbl>
          </a:graphicData>
        </a:graphic>
      </p:graphicFrame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4402" y="13476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grpSp>
        <p:nvGrpSpPr>
          <p:cNvPr id="133" name="그룹 13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 </a:t>
              </a:r>
              <a:r>
                <a:rPr lang="ko-KR" altLang="en-US" sz="700" dirty="0" smtClean="0"/>
                <a:t>정리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표시 내역 정리</a:t>
              </a:r>
              <a:endParaRPr lang="ko-KR" altLang="en-US" sz="700" dirty="0"/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검사통합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MUI-EX-01-P08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국외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61471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6607" cy="689248"/>
            <a:chOff x="778515" y="4388257"/>
            <a:chExt cx="2516607" cy="689248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공사검사구분</a:t>
              </a: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기성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준공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522266"/>
              <a:chOff x="772169" y="2297325"/>
              <a:chExt cx="107950" cy="522266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61392" y="15199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070821" y="15232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51737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ko-KR" altLang="en-US" sz="700" dirty="0" smtClean="0"/>
              <a:t>각 </a:t>
            </a:r>
            <a:r>
              <a:rPr lang="ko-KR" altLang="en-US" sz="700" dirty="0" err="1"/>
              <a:t>섹션명</a:t>
            </a:r>
            <a:r>
              <a:rPr lang="ko-KR" altLang="en-US" sz="700" dirty="0"/>
              <a:t> 클릭 시 아코디언 </a:t>
            </a:r>
            <a:r>
              <a:rPr lang="ko-KR" altLang="en-US" sz="700" dirty="0" smtClean="0"/>
              <a:t>동작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업무 구분</a:t>
            </a:r>
            <a:r>
              <a:rPr lang="en-US" altLang="ko-KR" sz="700" dirty="0"/>
              <a:t>(</a:t>
            </a:r>
            <a:r>
              <a:rPr lang="ko-KR" altLang="en-US" sz="700" dirty="0" err="1"/>
              <a:t>필수값</a:t>
            </a:r>
            <a:r>
              <a:rPr lang="en-US" altLang="ko-KR" sz="700" dirty="0"/>
              <a:t>)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항목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ko-KR" altLang="en-US" sz="700" dirty="0"/>
              <a:t>전체</a:t>
            </a:r>
            <a:r>
              <a:rPr lang="en-US" altLang="ko-KR" sz="700" dirty="0"/>
              <a:t>, </a:t>
            </a:r>
            <a:r>
              <a:rPr lang="ko-KR" altLang="en-US" sz="700" dirty="0"/>
              <a:t>물품</a:t>
            </a:r>
            <a:r>
              <a:rPr lang="en-US" altLang="ko-KR" sz="700" dirty="0"/>
              <a:t>,</a:t>
            </a:r>
            <a:r>
              <a:rPr lang="ko-KR" altLang="en-US" sz="700" dirty="0"/>
              <a:t>용역</a:t>
            </a:r>
            <a:r>
              <a:rPr lang="en-US" altLang="ko-KR" sz="700" dirty="0"/>
              <a:t>,</a:t>
            </a:r>
            <a:r>
              <a:rPr lang="ko-KR" altLang="en-US" sz="700" dirty="0"/>
              <a:t>공사</a:t>
            </a:r>
            <a:r>
              <a:rPr lang="en-US" altLang="ko-KR" sz="700" dirty="0"/>
              <a:t>,</a:t>
            </a:r>
            <a:r>
              <a:rPr lang="ko-KR" altLang="en-US" sz="700" dirty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</a:t>
            </a:r>
            <a:r>
              <a:rPr lang="ko-KR" altLang="en-US" sz="700" dirty="0" smtClean="0"/>
              <a:t> 전체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국외 선택 불가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공사검사</a:t>
            </a:r>
            <a:r>
              <a:rPr lang="ko-KR" altLang="en-US" sz="700" dirty="0" smtClean="0"/>
              <a:t>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기성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준공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서류요청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수신일자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/ </a:t>
            </a:r>
            <a:r>
              <a:rPr lang="ko-KR" altLang="en-US" sz="700" dirty="0" err="1" smtClean="0"/>
              <a:t>계약일자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당일 포함 과거 </a:t>
            </a:r>
            <a:r>
              <a:rPr lang="en-US" altLang="ko-KR" sz="700" dirty="0" smtClean="0"/>
              <a:t>7</a:t>
            </a:r>
            <a:r>
              <a:rPr lang="ko-KR" altLang="en-US" sz="700" dirty="0" smtClean="0"/>
              <a:t>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ym typeface="Wingdings" panose="05000000000000000000" pitchFamily="2" charset="2"/>
              </a:rPr>
              <a:t>선택 날짜 즉시 </a:t>
            </a:r>
            <a:r>
              <a:rPr lang="ko-KR" altLang="en-US" sz="700" dirty="0" smtClean="0">
                <a:sym typeface="Wingdings" panose="05000000000000000000" pitchFamily="2" charset="2"/>
              </a:rPr>
              <a:t>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>
                <a:sym typeface="Wingdings" panose="05000000000000000000" pitchFamily="2" charset="2"/>
              </a:rPr>
              <a:t/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: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ym typeface="Wingdings" panose="05000000000000000000" pitchFamily="2" charset="2"/>
              </a:rPr>
              <a:t>계약 번호 </a:t>
            </a:r>
            <a:r>
              <a:rPr lang="en-US" altLang="ko-KR" sz="700" dirty="0">
                <a:sym typeface="Wingdings" panose="05000000000000000000" pitchFamily="2" charset="2"/>
              </a:rPr>
              <a:t>(MUI-EX-02-P79)</a:t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ko-KR" altLang="en-US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strike="sngStrike" dirty="0" smtClean="0">
                <a:sym typeface="Wingdings" panose="05000000000000000000" pitchFamily="2" charset="2"/>
              </a:rPr>
              <a:t>구분 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설정 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(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삭제 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0804)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strike="sngStrike" dirty="0">
                <a:sym typeface="Wingdings" panose="05000000000000000000" pitchFamily="2" charset="2"/>
              </a:rPr>
              <a:t/>
            </a:r>
            <a:br>
              <a:rPr lang="en-US" altLang="ko-KR" sz="700" strike="sngStrike" dirty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>
                <a:solidFill>
                  <a:prstClr val="black"/>
                </a:solidFill>
              </a:rPr>
              <a:t>항목 설명 </a:t>
            </a:r>
            <a:r>
              <a:rPr lang="ko-KR" altLang="en-US" sz="700" strike="sngStrike" dirty="0" smtClean="0">
                <a:solidFill>
                  <a:prstClr val="black"/>
                </a:solidFill>
              </a:rPr>
              <a:t>페이지 참고</a:t>
            </a:r>
            <a:endParaRPr lang="en-US" altLang="ko-KR" sz="700" strike="sngStrike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업무구분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공사검사구분 항목 변경</a:t>
              </a:r>
              <a:endParaRPr lang="ko-KR" altLang="en-US" sz="700" dirty="0"/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8223250" y="960471"/>
            <a:ext cx="3365500" cy="634511"/>
            <a:chOff x="8223250" y="569392"/>
            <a:chExt cx="3365500" cy="634511"/>
          </a:xfrm>
        </p:grpSpPr>
        <p:sp>
          <p:nvSpPr>
            <p:cNvPr id="144" name="직사각형 14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구분 검색 삭제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검색 링크 추가</a:t>
              </a:r>
              <a:endParaRPr lang="ko-KR" altLang="en-US" sz="700" dirty="0"/>
            </a:p>
          </p:txBody>
        </p:sp>
      </p:grpSp>
      <p:grpSp>
        <p:nvGrpSpPr>
          <p:cNvPr id="146" name="그룹 145"/>
          <p:cNvGrpSpPr/>
          <p:nvPr/>
        </p:nvGrpSpPr>
        <p:grpSpPr>
          <a:xfrm rot="16200000">
            <a:off x="6266061" y="2529369"/>
            <a:ext cx="91438" cy="45719"/>
            <a:chOff x="6812560" y="3297172"/>
            <a:chExt cx="94010" cy="47005"/>
          </a:xfrm>
        </p:grpSpPr>
        <p:cxnSp>
          <p:nvCxnSpPr>
            <p:cNvPr id="147" name="직선 연결선 14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918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98215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dml_InspIntgListSrchCnd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49590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420529"/>
            <a:ext cx="26230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dlt_InspIntgList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taskSecd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0859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377013"/>
              </p:ext>
            </p:extLst>
          </p:nvPr>
        </p:nvGraphicFramePr>
        <p:xfrm>
          <a:off x="453000" y="516018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73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417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4417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Scwin.grd_srchRsltList_onclick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</a:rPr>
                        <a:t>MUI-EX-01-P10 </a:t>
                      </a:r>
                      <a:r>
                        <a:rPr lang="ko-KR" altLang="en-US" sz="800" dirty="0" smtClean="0">
                          <a:latin typeface="+mn-ea"/>
                        </a:rPr>
                        <a:t>납품통지목록</a:t>
                      </a:r>
                      <a:endParaRPr lang="en-US" altLang="ko-KR" sz="800" dirty="0" smtClean="0">
                        <a:latin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MUI-EX-01-M04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검사통합목록을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9184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01708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lt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 조회결과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33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pxcndCycl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6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공사업무의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ctrtBzentyNm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1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납품기성금액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dlvgdsPxcndAmt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검수기성금액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조회결과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305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75457464-9D76-7948-2B1A-9B65EC2C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085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납품통지목록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납품통지목록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납품 통지 목록</a:t>
            </a:r>
            <a:endParaRPr lang="ko-KR" altLang="en-US" sz="900" dirty="0">
              <a:latin typeface="+mn-ea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목록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풀페이지</a:t>
            </a:r>
            <a:r>
              <a:rPr lang="ko-KR" altLang="en-US" dirty="0" smtClean="0"/>
              <a:t> 팝업으로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이전 목록에서 선택한 </a:t>
            </a:r>
            <a:r>
              <a:rPr lang="ko-KR" altLang="en-US" dirty="0" err="1" smtClean="0"/>
              <a:t>계약번호에</a:t>
            </a:r>
            <a:r>
              <a:rPr lang="ko-KR" altLang="en-US" dirty="0" smtClean="0"/>
              <a:t> 맞는 목록만을 표시함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별도의 기간 제한 없이 계약에 물려 있는 모든 내역을 불러와서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ko-KR" altLang="en-US" dirty="0" smtClean="0">
                <a:solidFill>
                  <a:srgbClr val="FF0000"/>
                </a:solidFill>
              </a:rPr>
              <a:t>별도 </a:t>
            </a:r>
            <a:r>
              <a:rPr lang="ko-KR" altLang="en-US" dirty="0" err="1" smtClean="0">
                <a:solidFill>
                  <a:srgbClr val="FF0000"/>
                </a:solidFill>
              </a:rPr>
              <a:t>검색필터</a:t>
            </a:r>
            <a:r>
              <a:rPr lang="ko-KR" altLang="en-US" dirty="0" smtClean="0">
                <a:solidFill>
                  <a:srgbClr val="FF0000"/>
                </a:solidFill>
              </a:rPr>
              <a:t> 없음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건수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표시개수</a:t>
            </a:r>
            <a:r>
              <a:rPr lang="ko-KR" altLang="en-US" dirty="0" smtClean="0"/>
              <a:t> 설정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내역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 설명 참조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en-US" altLang="ko-KR" dirty="0" smtClean="0">
                <a:latin typeface="+mn-ea"/>
              </a:rPr>
              <a:t>MUI-EX-01-P11 </a:t>
            </a:r>
            <a:r>
              <a:rPr lang="ko-KR" altLang="en-US" dirty="0" err="1" smtClean="0">
                <a:latin typeface="+mn-ea"/>
              </a:rPr>
              <a:t>검사및납품조서목록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바텀시트</a:t>
            </a:r>
            <a:r>
              <a:rPr lang="ko-KR" altLang="en-US" dirty="0" smtClean="0">
                <a:latin typeface="+mn-ea"/>
              </a:rPr>
              <a:t> 호출</a:t>
            </a:r>
            <a:endParaRPr lang="en-US" altLang="ko-KR" dirty="0" smtClean="0"/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납품통지목록 화면 추가</a:t>
              </a:r>
              <a:endParaRPr lang="ko-KR" altLang="en-US" sz="700" dirty="0"/>
            </a:p>
          </p:txBody>
        </p:sp>
      </p:grp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841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116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80670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197661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197661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67" name="그룹 166"/>
          <p:cNvGrpSpPr/>
          <p:nvPr/>
        </p:nvGrpSpPr>
        <p:grpSpPr>
          <a:xfrm>
            <a:off x="3143548" y="207843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106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29916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5642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통지번호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100</a:t>
            </a:r>
            <a:endParaRPr lang="en-US" altLang="ko-KR" sz="700" dirty="0"/>
          </a:p>
          <a:p>
            <a:r>
              <a:rPr lang="ko-KR" altLang="en-US" sz="900" b="1" dirty="0" smtClean="0"/>
              <a:t>관사 </a:t>
            </a:r>
            <a:r>
              <a:rPr lang="ko-KR" altLang="en-US" sz="900" b="1" dirty="0"/>
              <a:t>비품 구매</a:t>
            </a:r>
          </a:p>
        </p:txBody>
      </p:sp>
      <p:sp>
        <p:nvSpPr>
          <p:cNvPr id="209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6652"/>
            <a:ext cx="461665" cy="95167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작성수량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납품완료수량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계약단가</a:t>
            </a: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납기일자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납지명</a:t>
            </a:r>
            <a:endParaRPr lang="en-US" altLang="ko-KR" sz="600" dirty="0">
              <a:latin typeface="+mn-ea"/>
            </a:endParaRPr>
          </a:p>
        </p:txBody>
      </p:sp>
      <p:sp>
        <p:nvSpPr>
          <p:cNvPr id="210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20700" y="2916652"/>
            <a:ext cx="514564" cy="9694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2025-12-01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001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781461" y="237208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본조</a:t>
            </a:r>
            <a:endParaRPr lang="ko-KR" altLang="en-US" sz="600" dirty="0"/>
          </a:p>
        </p:txBody>
      </p: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652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5" name="그룹 214"/>
          <p:cNvGrpSpPr/>
          <p:nvPr/>
        </p:nvGrpSpPr>
        <p:grpSpPr>
          <a:xfrm>
            <a:off x="781460" y="4064053"/>
            <a:ext cx="2473258" cy="1496234"/>
            <a:chOff x="781460" y="3087955"/>
            <a:chExt cx="2473258" cy="1496234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통지번호</a:t>
              </a:r>
              <a:r>
                <a:rPr lang="ko-KR" altLang="en-US" sz="700" dirty="0"/>
                <a:t> </a:t>
              </a:r>
              <a:r>
                <a:rPr lang="en-US" altLang="ko-KR" sz="700" dirty="0" smtClean="0"/>
                <a:t>99</a:t>
              </a:r>
              <a:endParaRPr lang="en-US" altLang="ko-KR" sz="700" dirty="0"/>
            </a:p>
            <a:p>
              <a:r>
                <a:rPr lang="ko-KR" altLang="en-US" sz="900" b="1" dirty="0"/>
                <a:t>관사 비품 구매</a:t>
              </a:r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461665" cy="9516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계약수량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작성수량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납품완료수량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계약단가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납기일자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납지명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20700" y="3632518"/>
              <a:ext cx="514564" cy="9516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2025-12-01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781460" y="3087955"/>
              <a:ext cx="3996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latin typeface="+mn-ea"/>
                </a:rPr>
                <a:t>전년국채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63427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88751"/>
            <a:ext cx="76863" cy="292489"/>
            <a:chOff x="3750067" y="4683795"/>
            <a:chExt cx="76863" cy="292489"/>
          </a:xfrm>
        </p:grpSpPr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4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961172"/>
              </p:ext>
            </p:extLst>
          </p:nvPr>
        </p:nvGraphicFramePr>
        <p:xfrm>
          <a:off x="3801286" y="1616448"/>
          <a:ext cx="3069778" cy="1102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bgtSecdNm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당년국채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:UZ03(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8223250" y="960471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레이블</a:t>
              </a:r>
              <a:r>
                <a:rPr lang="en-US" altLang="ko-KR" sz="700" dirty="0"/>
                <a:t>(</a:t>
              </a:r>
              <a:r>
                <a:rPr lang="ko-KR" altLang="en-US" sz="700" dirty="0" err="1"/>
                <a:t>뱃지</a:t>
              </a:r>
              <a:r>
                <a:rPr lang="en-US" altLang="ko-KR" sz="700" dirty="0"/>
                <a:t>) </a:t>
              </a:r>
              <a:r>
                <a:rPr lang="ko-KR" altLang="en-US" sz="700" dirty="0"/>
                <a:t>정리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카드 표시 내역 정리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검사및납품조서목록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9755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목록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이전 목록에서 선택한 </a:t>
            </a:r>
            <a:r>
              <a:rPr lang="ko-KR" altLang="en-US" dirty="0" err="1" smtClean="0"/>
              <a:t>계약명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 err="1"/>
              <a:t>표시개수</a:t>
            </a:r>
            <a:r>
              <a:rPr lang="ko-KR" altLang="en-US" dirty="0"/>
              <a:t> 설정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내역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 설명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조건에 따라 </a:t>
            </a:r>
            <a:r>
              <a:rPr lang="ko-KR" altLang="en-US" dirty="0" err="1" smtClean="0"/>
              <a:t>중앙조달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통사</a:t>
            </a:r>
            <a:r>
              <a:rPr lang="en-US" altLang="ko-KR" dirty="0" smtClean="0"/>
              <a:t>), </a:t>
            </a:r>
            <a:r>
              <a:rPr lang="ko-KR" altLang="en-US" dirty="0" err="1" smtClean="0"/>
              <a:t>부대조달로</a:t>
            </a:r>
            <a:r>
              <a:rPr lang="ko-KR" altLang="en-US" dirty="0" smtClean="0"/>
              <a:t> 분기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en-US" altLang="ko-KR" dirty="0" smtClean="0">
                <a:latin typeface="+mn-ea"/>
              </a:rPr>
              <a:t>MUI-EX-01-M02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&gt; </a:t>
            </a:r>
            <a:r>
              <a:rPr lang="en-US" altLang="ko-KR" dirty="0" smtClean="0">
                <a:latin typeface="+mn-ea"/>
              </a:rPr>
              <a:t>MUI-EX-01-M03 </a:t>
            </a:r>
            <a:r>
              <a:rPr lang="ko-KR" altLang="en-US" dirty="0" err="1" smtClean="0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납품통지목록 화면 추가</a:t>
              </a:r>
              <a:endParaRPr lang="ko-KR" altLang="en-US" sz="700" dirty="0"/>
            </a:p>
          </p:txBody>
        </p:sp>
      </p:grp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77471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06299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계약차수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00</a:t>
            </a:r>
          </a:p>
          <a:p>
            <a:r>
              <a:rPr lang="ko-KR" altLang="en-US" sz="900" b="1" dirty="0" smtClean="0"/>
              <a:t>조서발행번호 </a:t>
            </a:r>
            <a:r>
              <a:rPr lang="en-US" altLang="ko-KR" sz="900" b="1" dirty="0" smtClean="0"/>
              <a:t>M2025MST000200-0001</a:t>
            </a:r>
            <a:endParaRPr lang="ko-KR" altLang="en-US" sz="900" b="1" dirty="0"/>
          </a:p>
        </p:txBody>
      </p:sp>
      <p:sp>
        <p:nvSpPr>
          <p:cNvPr id="14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423231"/>
            <a:ext cx="307777" cy="6746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납품금액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작성수량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납지명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지체일수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지체상금</a:t>
            </a:r>
            <a:endParaRPr lang="en-US" altLang="ko-KR" sz="600" dirty="0">
              <a:latin typeface="+mn-ea"/>
            </a:endParaRPr>
          </a:p>
        </p:txBody>
      </p:sp>
      <p:sp>
        <p:nvSpPr>
          <p:cNvPr id="14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908251" y="3423231"/>
            <a:ext cx="327013" cy="6746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100</a:t>
            </a:r>
            <a:endParaRPr lang="ko-KR" altLang="en-US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002</a:t>
            </a:r>
            <a:r>
              <a:rPr lang="ko-KR" altLang="en-US" sz="600" dirty="0">
                <a:latin typeface="+mn-ea"/>
              </a:rPr>
              <a:t>부대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10,000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781461" y="287866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1075655" y="2878668"/>
            <a:ext cx="40548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진행상태</a:t>
            </a:r>
            <a:endParaRPr lang="ko-KR" altLang="en-US" sz="600" dirty="0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193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47128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46723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46723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67" name="그룹 166"/>
          <p:cNvGrpSpPr/>
          <p:nvPr/>
        </p:nvGrpSpPr>
        <p:grpSpPr>
          <a:xfrm>
            <a:off x="3143548" y="2569056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양쪽 모서리가 둥근 사각형 51"/>
          <p:cNvSpPr/>
          <p:nvPr/>
        </p:nvSpPr>
        <p:spPr>
          <a:xfrm>
            <a:off x="675399" y="1983583"/>
            <a:ext cx="2712027" cy="424871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1761412" y="2020211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3164338" y="2154627"/>
            <a:ext cx="94010" cy="94010"/>
            <a:chOff x="6812560" y="3297172"/>
            <a:chExt cx="94010" cy="94010"/>
          </a:xfrm>
        </p:grpSpPr>
        <p:cxnSp>
          <p:nvCxnSpPr>
            <p:cNvPr id="55" name="직선 연결선 54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135306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관사 비품 </a:t>
            </a:r>
            <a:r>
              <a:rPr lang="ko-KR" altLang="en-US" sz="900" dirty="0" smtClean="0">
                <a:latin typeface="+mn-ea"/>
              </a:rPr>
              <a:t>구매 목록</a:t>
            </a:r>
            <a:endParaRPr lang="ko-KR" altLang="en-US" sz="900" dirty="0">
              <a:latin typeface="+mn-ea"/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59587"/>
            <a:ext cx="76863" cy="292489"/>
            <a:chOff x="3750067" y="4683795"/>
            <a:chExt cx="76863" cy="292489"/>
          </a:xfrm>
        </p:grpSpPr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4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962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6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34106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849881"/>
              </p:ext>
            </p:extLst>
          </p:nvPr>
        </p:nvGraphicFramePr>
        <p:xfrm>
          <a:off x="3801286" y="1616448"/>
          <a:ext cx="3069778" cy="1727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bgtSecdNm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당년국채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:UZ03(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납품조서진행상태코드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dlvdocPrgrsStcd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검사의뢰</a:t>
                      </a: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 등</a:t>
                      </a:r>
                      <a:endParaRPr lang="en-US" altLang="ko-KR" sz="7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:GTSA0003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납품조서진행상태</a:t>
                      </a: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개발시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확인 필요</a:t>
                      </a:r>
                      <a:endParaRPr lang="ko-KR" altLang="en-US" sz="7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515358"/>
                  </a:ext>
                </a:extLst>
              </a:tr>
            </a:tbl>
          </a:graphicData>
        </a:graphic>
      </p:graphicFrame>
      <p:grpSp>
        <p:nvGrpSpPr>
          <p:cNvPr id="46" name="그룹 45"/>
          <p:cNvGrpSpPr/>
          <p:nvPr/>
        </p:nvGrpSpPr>
        <p:grpSpPr>
          <a:xfrm>
            <a:off x="8223250" y="960471"/>
            <a:ext cx="3365500" cy="634511"/>
            <a:chOff x="8223250" y="569392"/>
            <a:chExt cx="3365500" cy="634511"/>
          </a:xfrm>
        </p:grpSpPr>
        <p:sp>
          <p:nvSpPr>
            <p:cNvPr id="47" name="직사각형 4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레이블</a:t>
              </a:r>
              <a:r>
                <a:rPr lang="en-US" altLang="ko-KR" sz="700" dirty="0"/>
                <a:t>(</a:t>
              </a:r>
              <a:r>
                <a:rPr lang="ko-KR" altLang="en-US" sz="700" dirty="0" err="1"/>
                <a:t>뱃지</a:t>
              </a:r>
              <a:r>
                <a:rPr lang="en-US" altLang="ko-KR" sz="700" dirty="0"/>
                <a:t>) </a:t>
              </a:r>
              <a:r>
                <a:rPr lang="ko-KR" altLang="en-US" sz="700" dirty="0" smtClean="0"/>
                <a:t>정리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1520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2380903"/>
            <a:ext cx="258140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납품통지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dmt_dlvntcList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5031056"/>
            <a:ext cx="31280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ko-KR" altLang="en-US" sz="900" b="1" dirty="0">
                <a:solidFill>
                  <a:prstClr val="black"/>
                </a:solidFill>
              </a:rPr>
              <a:t>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27965"/>
          <a:ext cx="8994883" cy="2255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:UZ03(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85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6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5236429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조회결과 자료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053A1CD7-9DC2-B421-A267-F42EBBA5E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EBA32-FB5E-5FDA-BFAE-884EA5701CC5}"/>
              </a:ext>
            </a:extLst>
          </p:cNvPr>
          <p:cNvSpPr txBox="1"/>
          <p:nvPr/>
        </p:nvSpPr>
        <p:spPr>
          <a:xfrm>
            <a:off x="458117" y="803113"/>
            <a:ext cx="309757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2BFF73A-0C08-F363-EE95-E47D4194540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dudt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dudt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납지명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838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A8CC61D-0667-F917-677C-1AEF74264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20340"/>
              </p:ext>
            </p:extLst>
          </p:nvPr>
        </p:nvGraphicFramePr>
        <p:xfrm>
          <a:off x="453000" y="2765910"/>
          <a:ext cx="8995591" cy="126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검사의뢰서 작성대상 계약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 </a:t>
                      </a:r>
                      <a:r>
                        <a:rPr lang="ko-KR" altLang="en-US" sz="800" dirty="0" smtClean="0"/>
                        <a:t>이벤트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smtClean="0"/>
                        <a:t>- </a:t>
                      </a:r>
                      <a:r>
                        <a:rPr lang="ko-KR" altLang="en-US" sz="800" dirty="0" smtClean="0"/>
                        <a:t>납품통지목록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Scwin.grd_inspRqstdocList_onclick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해당하는 검사 및 </a:t>
                      </a:r>
                      <a:r>
                        <a:rPr lang="ko-KR" altLang="en-US" sz="800" dirty="0" err="1" smtClean="0"/>
                        <a:t>검사및납품조서목록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 smtClean="0">
                          <a:latin typeface="+mn-ea"/>
                        </a:rPr>
                        <a:t>MUI-EX-01-P11 </a:t>
                      </a:r>
                      <a:r>
                        <a:rPr lang="ko-KR" altLang="en-US" sz="800" dirty="0" err="1" smtClean="0">
                          <a:latin typeface="+mn-ea"/>
                        </a:rPr>
                        <a:t>검사및납품조서목록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304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클릭 이벤트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smtClean="0"/>
                        <a:t>- </a:t>
                      </a:r>
                      <a:r>
                        <a:rPr lang="ko-KR" altLang="en-US" sz="800" dirty="0" err="1" smtClean="0"/>
                        <a:t>검사및납품조서목록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Scwin.grd_inspDlvdocList_onclick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MUI-EX-01-M02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MUI-EX-01-M03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B3F5A8-438A-C006-99A2-D2855E6B9511}"/>
              </a:ext>
            </a:extLst>
          </p:cNvPr>
          <p:cNvSpPr txBox="1"/>
          <p:nvPr/>
        </p:nvSpPr>
        <p:spPr>
          <a:xfrm>
            <a:off x="458117" y="253285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ABBACDD-A06B-69C6-BB18-5EA66C87D4D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96922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납품조서진행상태코드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:GTSA0003(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납품조서진행상태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arrsDayCnt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지체일수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lqdmg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49F1048-3526-2581-608B-BA432F2BC057}"/>
              </a:ext>
            </a:extLst>
          </p:cNvPr>
          <p:cNvSpPr txBox="1"/>
          <p:nvPr/>
        </p:nvSpPr>
        <p:spPr>
          <a:xfrm>
            <a:off x="458117" y="701103"/>
            <a:ext cx="34822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ko-KR" altLang="en-US" sz="900" b="1" dirty="0">
                <a:solidFill>
                  <a:prstClr val="black"/>
                </a:solidFill>
              </a:rPr>
              <a:t>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dlt_InspDlvdocList</a:t>
            </a:r>
            <a:r>
              <a:rPr lang="en-US" altLang="ko-KR" sz="900" b="1" dirty="0">
                <a:solidFill>
                  <a:prstClr val="black"/>
                </a:solidFill>
              </a:rPr>
              <a:t>) (</a:t>
            </a:r>
            <a:r>
              <a:rPr lang="ko-KR" altLang="en-US" sz="900" b="1" dirty="0">
                <a:solidFill>
                  <a:prstClr val="black"/>
                </a:solidFill>
              </a:rPr>
              <a:t>계속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2C8739B4-2482-3E82-AC41-FA83FDA01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2397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</a:t>
            </a:r>
            <a:r>
              <a:rPr lang="ko-KR" altLang="en-US" dirty="0" smtClean="0">
                <a:latin typeface="+mn-ea"/>
              </a:rPr>
              <a:t>화면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 smtClean="0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검사통합목록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ko-KR" altLang="en-US" dirty="0">
                <a:latin typeface="+mn-ea"/>
              </a:rPr>
              <a:t>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중앙조달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8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4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>
                <a:solidFill>
                  <a:srgbClr val="FF0000"/>
                </a:solidFill>
              </a:rPr>
              <a:t>  &gt; </a:t>
            </a:r>
            <a:r>
              <a:rPr lang="ko-KR" altLang="en-US" sz="800" dirty="0" smtClean="0">
                <a:solidFill>
                  <a:srgbClr val="FF0000"/>
                </a:solidFill>
              </a:rPr>
              <a:t>이전 목록에서 표시된 레이블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뱃지</a:t>
            </a:r>
            <a:r>
              <a:rPr lang="en-US" altLang="ko-KR" sz="800" dirty="0" smtClean="0">
                <a:solidFill>
                  <a:srgbClr val="FF0000"/>
                </a:solidFill>
              </a:rPr>
              <a:t>)</a:t>
            </a:r>
            <a:r>
              <a:rPr lang="ko-KR" altLang="en-US" sz="800" dirty="0" smtClean="0">
                <a:solidFill>
                  <a:srgbClr val="FF0000"/>
                </a:solidFill>
              </a:rPr>
              <a:t> 표시 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업무구분</a:t>
            </a:r>
            <a:r>
              <a:rPr lang="en-US" altLang="ko-KR" sz="800" dirty="0" smtClean="0">
                <a:solidFill>
                  <a:srgbClr val="FF0000"/>
                </a:solidFill>
              </a:rPr>
              <a:t>,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예산구분</a:t>
            </a:r>
            <a:r>
              <a:rPr lang="en-US" altLang="ko-KR" sz="800" dirty="0" smtClean="0">
                <a:solidFill>
                  <a:srgbClr val="FF0000"/>
                </a:solidFill>
              </a:rPr>
              <a:t>, </a:t>
            </a:r>
            <a:r>
              <a:rPr lang="ko-KR" altLang="en-US" sz="800" dirty="0" smtClean="0">
                <a:solidFill>
                  <a:srgbClr val="FF0000"/>
                </a:solidFill>
              </a:rPr>
              <a:t>진행상태</a:t>
            </a:r>
            <a:r>
              <a:rPr lang="en-US" altLang="ko-KR" sz="800" dirty="0" smtClean="0">
                <a:solidFill>
                  <a:srgbClr val="FF0000"/>
                </a:solidFill>
              </a:rPr>
              <a:t>)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</a:t>
            </a:r>
            <a:r>
              <a:rPr lang="ko-KR" altLang="en-US" sz="800" dirty="0" smtClean="0"/>
              <a:t>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>
                <a:solidFill>
                  <a:srgbClr val="FF0000"/>
                </a:solidFill>
              </a:rPr>
              <a:t>  &gt; </a:t>
            </a:r>
            <a:r>
              <a:rPr lang="ko-KR" altLang="en-US" sz="800" dirty="0" smtClean="0">
                <a:solidFill>
                  <a:srgbClr val="FF0000"/>
                </a:solidFill>
              </a:rPr>
              <a:t>계약 명칭</a:t>
            </a:r>
            <a:r>
              <a:rPr lang="en-US" altLang="ko-KR" sz="800" dirty="0" smtClean="0">
                <a:solidFill>
                  <a:srgbClr val="FF0000"/>
                </a:solidFill>
              </a:rPr>
              <a:t>,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계약일자</a:t>
            </a:r>
            <a:r>
              <a:rPr lang="en-US" altLang="ko-KR" sz="800" dirty="0" smtClean="0">
                <a:solidFill>
                  <a:srgbClr val="FF0000"/>
                </a:solidFill>
              </a:rPr>
              <a:t>, </a:t>
            </a:r>
            <a:r>
              <a:rPr lang="ko-KR" altLang="en-US" sz="800" dirty="0" smtClean="0">
                <a:solidFill>
                  <a:srgbClr val="FF0000"/>
                </a:solidFill>
              </a:rPr>
              <a:t>계약금액 정보는 이전 목록에서 추출하여 표시 필요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144" name="직사각형 143"/>
          <p:cNvSpPr/>
          <p:nvPr/>
        </p:nvSpPr>
        <p:spPr>
          <a:xfrm>
            <a:off x="7063882" y="5893849"/>
            <a:ext cx="2314808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납품완료수량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작성수량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조서발행번호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예산구분코드명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36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6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66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8" name="그룹 147"/>
          <p:cNvGrpSpPr/>
          <p:nvPr/>
        </p:nvGrpSpPr>
        <p:grpSpPr>
          <a:xfrm>
            <a:off x="6027618" y="1594935"/>
            <a:ext cx="422853" cy="187961"/>
            <a:chOff x="3641308" y="2234886"/>
            <a:chExt cx="422853" cy="187961"/>
          </a:xfrm>
        </p:grpSpPr>
        <p:sp>
          <p:nvSpPr>
            <p:cNvPr id="149" name="타원 148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0" name="그룹 149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55" name="직선 연결선 15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1" name="타원 150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그룹 151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265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163265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3792723" y="1884145"/>
            <a:ext cx="2712026" cy="2185367"/>
            <a:chOff x="696358" y="1533275"/>
            <a:chExt cx="2712026" cy="2185367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171" name="직선 연결선 1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4" name="모서리가 둥근 직사각형 173"/>
          <p:cNvSpPr/>
          <p:nvPr/>
        </p:nvSpPr>
        <p:spPr>
          <a:xfrm rot="5400000">
            <a:off x="6098765" y="250925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9" name="직사각형 13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 smtClean="0"/>
                <a:t>설명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상단 카드 타이틀 영역 정보는 이전 목록에서 추출하여 개발이 필요함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</a:t>
            </a:r>
            <a:r>
              <a:rPr lang="ko-KR" altLang="en-US" dirty="0" smtClean="0">
                <a:latin typeface="+mn-ea"/>
              </a:rPr>
              <a:t>화면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 smtClean="0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62783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611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70269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7026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70268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70268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5013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150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87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424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562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99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1" name="그룹 180"/>
          <p:cNvGrpSpPr/>
          <p:nvPr/>
        </p:nvGrpSpPr>
        <p:grpSpPr>
          <a:xfrm>
            <a:off x="676983" y="3700858"/>
            <a:ext cx="2712026" cy="2185367"/>
            <a:chOff x="696358" y="1533275"/>
            <a:chExt cx="2712026" cy="21853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219" name="직선 연결선 21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038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4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144" name="직사각형 143"/>
          <p:cNvSpPr/>
          <p:nvPr/>
        </p:nvSpPr>
        <p:spPr>
          <a:xfrm>
            <a:off x="7063882" y="5893849"/>
            <a:ext cx="2314808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납품완료수량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작성수량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조서발행번호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예산구분코드명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30426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935144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02122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</a:t>
              </a:r>
              <a:r>
                <a:rPr lang="en-US" altLang="ko-KR" sz="700" dirty="0">
                  <a:latin typeface="+mn-ea"/>
                </a:rPr>
                <a:t>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깍두기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임가공</a:t>
              </a:r>
              <a:r>
                <a:rPr lang="en-US" altLang="ko-KR" sz="700" dirty="0">
                  <a:latin typeface="+mn-ea"/>
                </a:rPr>
                <a:t>)(3</a:t>
              </a:r>
              <a:r>
                <a:rPr lang="ko-KR" altLang="en-US" sz="700" dirty="0">
                  <a:latin typeface="+mn-ea"/>
                </a:rPr>
                <a:t>지역</a:t>
              </a:r>
              <a:r>
                <a:rPr lang="en-US" altLang="ko-KR" sz="700" dirty="0">
                  <a:latin typeface="+mn-ea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379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7478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0694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716366" y="3804937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깍두기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임가공</a:t>
              </a:r>
              <a:r>
                <a:rPr lang="en-US" altLang="ko-KR" sz="700" dirty="0">
                  <a:latin typeface="+mn-ea"/>
                </a:rPr>
                <a:t>)(3</a:t>
              </a:r>
              <a:r>
                <a:rPr lang="ko-KR" altLang="en-US" sz="700" dirty="0">
                  <a:latin typeface="+mn-ea"/>
                </a:rPr>
                <a:t>지역</a:t>
              </a:r>
              <a:r>
                <a:rPr lang="en-US" altLang="ko-KR" sz="700" dirty="0">
                  <a:latin typeface="+mn-ea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50" name="타원 4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4" name="그룹 63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70" name="직선 연결선 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타원 6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7" name="그룹 66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68" name="직선 연결선 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87906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7166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누적 작성수량 조회결과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D996EE-2D40-91AC-7780-FEBC0CF4B2E0}"/>
              </a:ext>
            </a:extLst>
          </p:cNvPr>
          <p:cNvSpPr txBox="1"/>
          <p:nvPr/>
        </p:nvSpPr>
        <p:spPr>
          <a:xfrm>
            <a:off x="458117" y="42278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2333D1-7A13-5322-9835-A414405A42F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11567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84101F97-8F9F-076F-8AE7-28B5FE06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8EA37-76BE-6350-49C9-C7023D57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9258"/>
              </p:ext>
            </p:extLst>
          </p:nvPr>
        </p:nvGraphicFramePr>
        <p:xfrm>
          <a:off x="453000" y="5221270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9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D3E0ED-2BEB-8A79-9CF2-85650746C923}"/>
              </a:ext>
            </a:extLst>
          </p:cNvPr>
          <p:cNvSpPr txBox="1"/>
          <p:nvPr/>
        </p:nvSpPr>
        <p:spPr>
          <a:xfrm>
            <a:off x="458117" y="498821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</p:spTree>
    <p:extLst>
      <p:ext uri="{BB962C8B-B14F-4D97-AF65-F5344CB8AC3E}">
        <p14:creationId xmlns:p14="http://schemas.microsoft.com/office/powerpoint/2010/main" val="204833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5934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734347"/>
            <a:ext cx="2630093" cy="2677365"/>
            <a:chOff x="3801854" y="3355661"/>
            <a:chExt cx="2630093" cy="2677365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6"/>
              <a:ext cx="792000" cy="21904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물량검사관소속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물량검사관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07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>
                <a:solidFill>
                  <a:srgbClr val="FF0000"/>
                </a:solidFill>
              </a:rPr>
              <a:t>  &gt; </a:t>
            </a:r>
            <a:r>
              <a:rPr lang="ko-KR" altLang="en-US" sz="800" dirty="0">
                <a:solidFill>
                  <a:srgbClr val="FF0000"/>
                </a:solidFill>
              </a:rPr>
              <a:t>이전 목록에서 표시된 레이블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뱃지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ko-KR" altLang="en-US" sz="800" dirty="0">
                <a:solidFill>
                  <a:srgbClr val="FF0000"/>
                </a:solidFill>
              </a:rPr>
              <a:t> 표시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업무구분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예산구분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진행상태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olidFill>
                  <a:srgbClr val="FF0000"/>
                </a:solidFill>
              </a:rPr>
              <a:t>  &gt; </a:t>
            </a:r>
            <a:r>
              <a:rPr lang="ko-KR" altLang="en-US" sz="800" dirty="0">
                <a:solidFill>
                  <a:srgbClr val="FF0000"/>
                </a:solidFill>
              </a:rPr>
              <a:t>계약 명칭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계약일자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계약금액 정보는 이전 목록에서 추출하여 표시 </a:t>
            </a:r>
            <a:r>
              <a:rPr lang="ko-KR" altLang="en-US" sz="800" dirty="0" smtClean="0">
                <a:solidFill>
                  <a:srgbClr val="FF0000"/>
                </a:solidFill>
              </a:rPr>
              <a:t>필요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800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18" name="직사각형 217"/>
          <p:cNvSpPr/>
          <p:nvPr/>
        </p:nvSpPr>
        <p:spPr>
          <a:xfrm>
            <a:off x="7062318" y="5883956"/>
            <a:ext cx="2341251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납품조서번호 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품목명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219" name="직사각형 21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 smtClean="0"/>
                <a:t>설명 추가</a:t>
              </a:r>
              <a:endParaRPr lang="ko-KR" altLang="en-US" dirty="0"/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상</a:t>
              </a:r>
              <a:r>
                <a:rPr lang="ko-KR" altLang="en-US" sz="700" dirty="0" smtClean="0"/>
                <a:t>단 </a:t>
              </a:r>
              <a:r>
                <a:rPr lang="ko-KR" altLang="en-US" sz="700" dirty="0" err="1" smtClean="0"/>
                <a:t>계약정보</a:t>
              </a:r>
              <a:r>
                <a:rPr lang="ko-KR" altLang="en-US" sz="700" dirty="0" smtClean="0"/>
                <a:t> 타이틀 영역 설명을 추가함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81691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467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800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215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21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215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215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06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43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80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1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38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8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836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595106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282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163282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692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1880259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250942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116964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물량검사관소속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출납관</a:t>
              </a:r>
              <a:r>
                <a:rPr lang="ko-KR" altLang="en-US" sz="700" dirty="0" err="1" smtClean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출납관전화번호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10879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804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1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7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 상단 고정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정보 데이터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항목 설명 참조</a:t>
            </a:r>
            <a:endParaRPr lang="en-US" altLang="ko-KR" sz="800" dirty="0" smtClean="0"/>
          </a:p>
        </p:txBody>
      </p:sp>
      <p:sp>
        <p:nvSpPr>
          <p:cNvPr id="218" name="직사각형 217"/>
          <p:cNvSpPr/>
          <p:nvPr/>
        </p:nvSpPr>
        <p:spPr>
          <a:xfrm>
            <a:off x="7062318" y="5883956"/>
            <a:ext cx="2341251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납품조서번호 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품목명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화면에 맞는 설명으로 수정함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1818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85047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52025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</a:t>
              </a:r>
              <a:r>
                <a:rPr lang="en-US" altLang="ko-KR" sz="700" dirty="0">
                  <a:latin typeface="+mn-ea"/>
                </a:rPr>
                <a:t>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깍두기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임가공</a:t>
              </a:r>
              <a:r>
                <a:rPr lang="en-US" altLang="ko-KR" sz="700" dirty="0">
                  <a:latin typeface="+mn-ea"/>
                </a:rPr>
                <a:t>)(3</a:t>
              </a:r>
              <a:r>
                <a:rPr lang="ko-KR" altLang="en-US" sz="700" dirty="0">
                  <a:latin typeface="+mn-ea"/>
                </a:rPr>
                <a:t>지역</a:t>
              </a:r>
              <a:r>
                <a:rPr lang="en-US" altLang="ko-KR" sz="700" dirty="0">
                  <a:latin typeface="+mn-ea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3369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4814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754840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</a:t>
              </a:r>
              <a:r>
                <a:rPr lang="en-US" altLang="ko-KR" sz="700" dirty="0">
                  <a:latin typeface="+mn-ea"/>
                </a:rPr>
                <a:t>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깍두기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임가공</a:t>
              </a:r>
              <a:r>
                <a:rPr lang="en-US" altLang="ko-KR" sz="700" dirty="0">
                  <a:latin typeface="+mn-ea"/>
                </a:rPr>
                <a:t>)(3</a:t>
              </a:r>
              <a:r>
                <a:rPr lang="ko-KR" altLang="en-US" sz="700" dirty="0">
                  <a:latin typeface="+mn-ea"/>
                </a:rPr>
                <a:t>지역</a:t>
              </a:r>
              <a:r>
                <a:rPr lang="en-US" altLang="ko-KR" sz="700" dirty="0">
                  <a:latin typeface="+mn-ea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49,230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919620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2192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361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7" name="그룹 66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68" name="타원 6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9" name="그룹 68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74" name="직선 연결선 7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타원 69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2" name="직선 연결선 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78453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64496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81761"/>
              </p:ext>
            </p:extLst>
          </p:nvPr>
        </p:nvGraphicFramePr>
        <p:xfrm>
          <a:off x="452999" y="101431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납품조서번호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75713"/>
              </p:ext>
            </p:extLst>
          </p:nvPr>
        </p:nvGraphicFramePr>
        <p:xfrm>
          <a:off x="452999" y="292871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028133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55249"/>
              </p:ext>
            </p:extLst>
          </p:nvPr>
        </p:nvGraphicFramePr>
        <p:xfrm>
          <a:off x="452999" y="4311887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igiYmd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rcpmNo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techInspInstNm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물량검사관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64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615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32451"/>
              </p:ext>
            </p:extLst>
          </p:nvPr>
        </p:nvGraphicFramePr>
        <p:xfrm>
          <a:off x="453000" y="1058554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7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(UI-EX-01-R13)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517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932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1850213"/>
            <a:ext cx="2630093" cy="1514947"/>
            <a:chOff x="3801854" y="3663145"/>
            <a:chExt cx="2630093" cy="1514947"/>
          </a:xfrm>
        </p:grpSpPr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1514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기성비율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착공일자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실 </a:t>
              </a:r>
              <a:r>
                <a:rPr lang="ko-KR" altLang="en-US" sz="700" dirty="0" err="1">
                  <a:latin typeface="+mn-ea"/>
                </a:rPr>
                <a:t>준공일자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준공기한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제출일자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준공내용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000 000000000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기성 및 준공검사의 상세내역을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기성 및 준공검사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계약금액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기성차수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명칭 </a:t>
            </a:r>
            <a:r>
              <a:rPr lang="ko-KR" altLang="en-US" sz="700" dirty="0" err="1">
                <a:latin typeface="+mn-ea"/>
              </a:rPr>
              <a:t>표시영역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3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13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596621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2455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기성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434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모서리가 둥근 직사각형 234"/>
          <p:cNvSpPr/>
          <p:nvPr/>
        </p:nvSpPr>
        <p:spPr>
          <a:xfrm rot="5400000">
            <a:off x="6098765" y="308717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796091" y="3430059"/>
            <a:ext cx="2712027" cy="830059"/>
            <a:chOff x="3796091" y="4337014"/>
            <a:chExt cx="2712027" cy="83005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검사관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00" name="직선 연결선 1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3796091" y="4359751"/>
            <a:ext cx="2712027" cy="921016"/>
            <a:chOff x="3796091" y="4337014"/>
            <a:chExt cx="2712027" cy="921016"/>
          </a:xfrm>
        </p:grpSpPr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감독관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232" name="그룹 231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52580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4237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1676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692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218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83392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>
                <a:solidFill>
                  <a:srgbClr val="FF0000"/>
                </a:solidFill>
              </a:rPr>
              <a:t>  &gt; </a:t>
            </a:r>
            <a:r>
              <a:rPr lang="ko-KR" altLang="en-US" sz="800" dirty="0">
                <a:solidFill>
                  <a:srgbClr val="FF0000"/>
                </a:solidFill>
              </a:rPr>
              <a:t>이전 목록에서 표시된 레이블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뱃지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ko-KR" altLang="en-US" sz="800" dirty="0">
                <a:solidFill>
                  <a:srgbClr val="FF0000"/>
                </a:solidFill>
              </a:rPr>
              <a:t> 표시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업무구분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예산구분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진행상태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olidFill>
                  <a:srgbClr val="FF0000"/>
                </a:solidFill>
              </a:rPr>
              <a:t>  &gt; </a:t>
            </a:r>
            <a:r>
              <a:rPr lang="ko-KR" altLang="en-US" sz="800" dirty="0">
                <a:solidFill>
                  <a:srgbClr val="FF0000"/>
                </a:solidFill>
              </a:rPr>
              <a:t>계약 명칭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계약일자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계약금액 정보는 이전 목록에서 추출하여 표시 필요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현재 화면은 탭이 </a:t>
            </a:r>
            <a:r>
              <a:rPr lang="en-US" altLang="ko-KR" sz="800" dirty="0" smtClean="0"/>
              <a:t>1</a:t>
            </a:r>
            <a:r>
              <a:rPr lang="ko-KR" altLang="en-US" sz="800" dirty="0" smtClean="0"/>
              <a:t>종임</a:t>
            </a:r>
            <a:r>
              <a:rPr lang="en-US" altLang="ko-KR" sz="800" dirty="0" smtClean="0"/>
              <a:t>.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</a:t>
            </a:r>
            <a:r>
              <a:rPr lang="ko-KR" altLang="en-US" sz="800" dirty="0" smtClean="0"/>
              <a:t>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24" name="직사각형 223"/>
          <p:cNvSpPr/>
          <p:nvPr/>
        </p:nvSpPr>
        <p:spPr>
          <a:xfrm>
            <a:off x="7063881" y="6147648"/>
            <a:ext cx="2314807" cy="1788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기성및준공검사상세</a:t>
            </a:r>
            <a:r>
              <a:rPr lang="en-US" altLang="ko-KR" sz="500" dirty="0"/>
              <a:t>-</a:t>
            </a:r>
            <a:r>
              <a:rPr lang="ko-KR" altLang="en-US" sz="500" dirty="0" err="1" smtClean="0"/>
              <a:t>공사현황</a:t>
            </a:r>
            <a:r>
              <a:rPr lang="ko-KR" altLang="en-US" sz="500" dirty="0" smtClean="0"/>
              <a:t> 에서 </a:t>
            </a:r>
            <a:r>
              <a:rPr lang="en-US" altLang="ko-KR" sz="500" dirty="0" smtClean="0"/>
              <a:t>UI</a:t>
            </a:r>
            <a:r>
              <a:rPr lang="ko-KR" altLang="en-US" sz="500" dirty="0" smtClean="0"/>
              <a:t>명 변경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개요내용변경 </a:t>
            </a:r>
            <a:endParaRPr lang="en-US" altLang="ko-KR" sz="500" dirty="0" smtClean="0"/>
          </a:p>
        </p:txBody>
      </p:sp>
      <p:sp>
        <p:nvSpPr>
          <p:cNvPr id="225" name="직사각형 224"/>
          <p:cNvSpPr/>
          <p:nvPr/>
        </p:nvSpPr>
        <p:spPr>
          <a:xfrm>
            <a:off x="7079460" y="5896635"/>
            <a:ext cx="2299229" cy="23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계약금액</a:t>
            </a:r>
            <a:r>
              <a:rPr lang="en-US" altLang="ko-KR" sz="500" dirty="0" smtClean="0"/>
              <a:t>(</a:t>
            </a:r>
            <a:r>
              <a:rPr lang="ko-KR" altLang="en-US" sz="500" dirty="0" smtClean="0"/>
              <a:t>원</a:t>
            </a:r>
            <a:r>
              <a:rPr lang="en-US" altLang="ko-KR" sz="500" dirty="0" smtClean="0"/>
              <a:t>), </a:t>
            </a:r>
            <a:r>
              <a:rPr lang="ko-KR" altLang="en-US" sz="500" dirty="0" err="1" smtClean="0"/>
              <a:t>기성비율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104248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3811914"/>
            <a:ext cx="198829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dmt_Insptr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93522"/>
              </p:ext>
            </p:extLst>
          </p:nvPr>
        </p:nvGraphicFramePr>
        <p:xfrm>
          <a:off x="452999" y="1014316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1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4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8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검사일자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0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기성금액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9,4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착공일자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실준공일자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rlccYmd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준공기한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cmcnTermYmd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준공계제출일자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cmdocSbmsnYmd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9566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검사관소속명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검사관계급명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insptrEchlnNm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05C0EB-275D-E506-3616-3581C05850A1}"/>
              </a:ext>
            </a:extLst>
          </p:cNvPr>
          <p:cNvSpPr txBox="1"/>
          <p:nvPr/>
        </p:nvSpPr>
        <p:spPr>
          <a:xfrm>
            <a:off x="458117" y="4954066"/>
            <a:ext cx="191295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감독관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dmt_Sprv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6A7BFD-8C3C-42C1-9F9A-3ACB3788261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23782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감독관소속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감독관계급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sprvEchlnNm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F09CEF94-E7CA-DC88-306B-AB018690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3633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092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검사관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정보를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66CFCB-C363-5412-5544-0340E25C273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5DBF2411-506C-6DFD-5BA7-B35E2C37F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890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 smtClean="0"/>
              <a:t>조서발행번호 </a:t>
            </a:r>
            <a:r>
              <a:rPr lang="en-US" altLang="ko-KR" sz="900" b="1" dirty="0" smtClean="0"/>
              <a:t>000-0000-000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통지번호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납지명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14" y="3858386"/>
            <a:ext cx="472950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001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2026-02-10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11,616,000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제</a:t>
            </a:r>
            <a:r>
              <a:rPr lang="en-US" altLang="ko-KR" sz="600" dirty="0" smtClean="0">
                <a:latin typeface="+mn-ea"/>
              </a:rPr>
              <a:t>1111</a:t>
            </a:r>
            <a:r>
              <a:rPr lang="ko-KR" altLang="en-US" sz="600" dirty="0" smtClean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latin typeface="+mn-ea"/>
              </a:rPr>
              <a:t>대금청구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4426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743047"/>
            <a:ext cx="2473257" cy="1219235"/>
            <a:chOff x="781461" y="3087955"/>
            <a:chExt cx="2473257" cy="12192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조서발행번호 </a:t>
              </a:r>
              <a:r>
                <a:rPr lang="en-US" altLang="ko-KR" sz="900" b="1" dirty="0"/>
                <a:t>000-0000-000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6746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통지번호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납지명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6746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1111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latin typeface="+mn-ea"/>
                </a:rPr>
                <a:t>저장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60459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8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>
                <a:latin typeface="+mn-ea"/>
              </a:rPr>
              <a:t>검색 필터 </a:t>
            </a:r>
            <a:endParaRPr lang="en-US" altLang="ko-KR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olidFill>
                  <a:srgbClr val="FF0000"/>
                </a:solidFill>
              </a:rPr>
              <a:t>- </a:t>
            </a:r>
            <a:r>
              <a:rPr lang="ko-KR" altLang="en-US" sz="700" dirty="0" smtClean="0">
                <a:solidFill>
                  <a:srgbClr val="FF0000"/>
                </a:solidFill>
              </a:rPr>
              <a:t>카드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sz="700" dirty="0" smtClean="0">
                <a:solidFill>
                  <a:srgbClr val="FF0000"/>
                </a:solidFill>
              </a:rPr>
              <a:t> 상세 페이지 </a:t>
            </a:r>
            <a:r>
              <a:rPr lang="ko-KR" altLang="en-US" sz="700" dirty="0" smtClean="0">
                <a:solidFill>
                  <a:srgbClr val="FF0000"/>
                </a:solidFill>
              </a:rPr>
              <a:t>분기 </a:t>
            </a:r>
            <a:r>
              <a:rPr lang="en-US" altLang="ko-KR" sz="700" dirty="0" smtClean="0">
                <a:solidFill>
                  <a:srgbClr val="FF0000"/>
                </a:solidFill>
              </a:rPr>
              <a:t>– </a:t>
            </a:r>
            <a:r>
              <a:rPr lang="ko-KR" altLang="en-US" sz="700" dirty="0" smtClean="0">
                <a:solidFill>
                  <a:srgbClr val="FF0000"/>
                </a:solidFill>
              </a:rPr>
              <a:t>분기 조건 추후 개발 시 고려 필요</a:t>
            </a:r>
            <a:r>
              <a:rPr lang="en-US" altLang="ko-KR" sz="700" dirty="0" smtClean="0">
                <a:solidFill>
                  <a:srgbClr val="FF0000"/>
                </a:solidFill>
              </a:rPr>
              <a:t>.</a:t>
            </a:r>
            <a:br>
              <a:rPr lang="en-US" altLang="ko-KR" sz="700" dirty="0" smtClean="0">
                <a:solidFill>
                  <a:srgbClr val="FF0000"/>
                </a:solidFill>
              </a:rPr>
            </a:br>
            <a:r>
              <a:rPr lang="en-US" altLang="ko-KR" sz="700" dirty="0" smtClean="0">
                <a:solidFill>
                  <a:srgbClr val="FF0000"/>
                </a:solidFill>
              </a:rPr>
              <a:t>  </a:t>
            </a:r>
            <a:r>
              <a:rPr lang="en-US" altLang="ko-KR" sz="700" dirty="0">
                <a:solidFill>
                  <a:srgbClr val="FF0000"/>
                </a:solidFill>
              </a:rPr>
              <a:t>&gt; </a:t>
            </a:r>
            <a:r>
              <a:rPr lang="en-US" altLang="ko-KR" sz="700" dirty="0" smtClean="0">
                <a:solidFill>
                  <a:srgbClr val="FF0000"/>
                </a:solidFill>
              </a:rPr>
              <a:t>MUI-EX-01-M03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검사및납품조서상세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 err="1">
                <a:solidFill>
                  <a:srgbClr val="FF0000"/>
                </a:solidFill>
              </a:rPr>
              <a:t>부대조달</a:t>
            </a:r>
            <a:r>
              <a:rPr lang="en-US" altLang="ko-KR" sz="700" dirty="0" smtClean="0">
                <a:solidFill>
                  <a:srgbClr val="FF0000"/>
                </a:solidFill>
              </a:rPr>
              <a:t>)</a:t>
            </a:r>
            <a:br>
              <a:rPr lang="en-US" altLang="ko-KR" sz="700" dirty="0" smtClean="0">
                <a:solidFill>
                  <a:srgbClr val="FF0000"/>
                </a:solidFill>
              </a:rPr>
            </a:br>
            <a:r>
              <a:rPr lang="en-US" altLang="ko-KR" sz="700" dirty="0" smtClean="0">
                <a:solidFill>
                  <a:srgbClr val="FF0000"/>
                </a:solidFill>
              </a:rPr>
              <a:t>  </a:t>
            </a:r>
            <a:r>
              <a:rPr lang="en-US" altLang="ko-KR" sz="700" dirty="0">
                <a:solidFill>
                  <a:srgbClr val="FF0000"/>
                </a:solidFill>
              </a:rPr>
              <a:t>&gt; </a:t>
            </a:r>
            <a:r>
              <a:rPr lang="en-US" altLang="ko-KR" sz="700" dirty="0" smtClean="0">
                <a:solidFill>
                  <a:srgbClr val="FF0000"/>
                </a:solidFill>
              </a:rPr>
              <a:t>MUI-EX-01-M04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기성및준공검사상세</a:t>
            </a:r>
            <a:r>
              <a:rPr lang="en-US" altLang="ko-KR" sz="700" dirty="0" smtClean="0">
                <a:solidFill>
                  <a:srgbClr val="FF0000"/>
                </a:solidFill>
              </a:rPr>
              <a:t/>
            </a:r>
            <a:br>
              <a:rPr lang="en-US" altLang="ko-KR" sz="700" dirty="0" smtClean="0">
                <a:solidFill>
                  <a:srgbClr val="FF0000"/>
                </a:solidFill>
              </a:rPr>
            </a:br>
            <a:r>
              <a:rPr lang="en-US" altLang="ko-KR" sz="700" dirty="0" smtClean="0">
                <a:solidFill>
                  <a:srgbClr val="FF0000"/>
                </a:solidFill>
              </a:rPr>
              <a:t>  </a:t>
            </a:r>
            <a:r>
              <a:rPr lang="en-US" altLang="ko-KR" sz="700" dirty="0">
                <a:solidFill>
                  <a:srgbClr val="FF0000"/>
                </a:solidFill>
              </a:rPr>
              <a:t>&gt; </a:t>
            </a:r>
            <a:r>
              <a:rPr lang="en-US" altLang="ko-KR" sz="700" dirty="0" smtClean="0">
                <a:solidFill>
                  <a:srgbClr val="FF0000"/>
                </a:solidFill>
              </a:rPr>
              <a:t>MUI-EX-01-M07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검사및납품조서결과상세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strike="sngStrike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strike="sngStrike" dirty="0" smtClean="0"/>
              <a:t>- </a:t>
            </a:r>
            <a:r>
              <a:rPr lang="ko-KR" altLang="en-US" sz="700" strike="sngStrike" dirty="0" err="1" smtClean="0"/>
              <a:t>예산구분</a:t>
            </a:r>
            <a:r>
              <a:rPr lang="ko-KR" altLang="en-US" sz="700" strike="sngStrike" dirty="0" smtClean="0"/>
              <a:t> </a:t>
            </a:r>
            <a:r>
              <a:rPr lang="en-US" altLang="ko-KR" sz="700" strike="sngStrike" dirty="0" smtClean="0"/>
              <a:t>: </a:t>
            </a:r>
            <a:r>
              <a:rPr lang="ko-KR" altLang="en-US" sz="700" strike="sngStrike" dirty="0" err="1" smtClean="0"/>
              <a:t>전년국채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err="1" smtClean="0"/>
              <a:t>본조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err="1" smtClean="0"/>
              <a:t>당년국채</a:t>
            </a:r>
            <a:r>
              <a:rPr lang="en-US" altLang="ko-KR" sz="700" strike="sngStrike" dirty="0" smtClean="0"/>
              <a:t/>
            </a:r>
            <a:br>
              <a:rPr lang="en-US" altLang="ko-KR" sz="700" strike="sngStrike" dirty="0" smtClean="0"/>
            </a:br>
            <a:r>
              <a:rPr lang="en-US" altLang="ko-KR" sz="700" strike="sngStrike" dirty="0" smtClean="0"/>
              <a:t>- </a:t>
            </a:r>
            <a:r>
              <a:rPr lang="ko-KR" altLang="en-US" sz="700" strike="sngStrike" dirty="0" err="1" smtClean="0"/>
              <a:t>납지구분</a:t>
            </a:r>
            <a:r>
              <a:rPr lang="ko-KR" altLang="en-US" sz="700" strike="sngStrike" dirty="0" smtClean="0"/>
              <a:t>  </a:t>
            </a:r>
            <a:r>
              <a:rPr lang="en-US" altLang="ko-KR" sz="700" strike="sngStrike" dirty="0" smtClean="0"/>
              <a:t>: </a:t>
            </a:r>
            <a:r>
              <a:rPr lang="ko-KR" altLang="en-US" sz="700" strike="sngStrike" dirty="0" err="1" smtClean="0"/>
              <a:t>납지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진행상태 </a:t>
            </a:r>
            <a:r>
              <a:rPr lang="en-US" altLang="ko-KR" sz="700" dirty="0" smtClean="0"/>
              <a:t>: </a:t>
            </a:r>
            <a:r>
              <a:rPr lang="en-US" altLang="ko-KR" sz="7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r>
              <a:rPr lang="en-US" altLang="ko-KR" sz="7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표시값</a:t>
            </a:r>
            <a:r>
              <a:rPr lang="ko-KR" altLang="en-US" sz="7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참조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strike="sngStrike" dirty="0" smtClean="0"/>
              <a:t>문서 제목 </a:t>
            </a:r>
            <a:r>
              <a:rPr lang="en-US" altLang="ko-KR" sz="700" strike="sngStrike" dirty="0" smtClean="0"/>
              <a:t/>
            </a:r>
            <a:br>
              <a:rPr lang="en-US" altLang="ko-KR" sz="700" strike="sngStrike" dirty="0" smtClean="0"/>
            </a:br>
            <a:r>
              <a:rPr lang="en-US" altLang="ko-KR" sz="700" strike="sngStrike" dirty="0" smtClean="0"/>
              <a:t>- </a:t>
            </a:r>
            <a:r>
              <a:rPr lang="ko-KR" altLang="en-US" sz="700" strike="sngStrike" dirty="0" smtClean="0"/>
              <a:t>제목은 </a:t>
            </a:r>
            <a:r>
              <a:rPr lang="en-US" altLang="ko-KR" sz="700" strike="sngStrike" dirty="0" smtClean="0"/>
              <a:t>2</a:t>
            </a:r>
            <a:r>
              <a:rPr lang="ko-KR" altLang="en-US" sz="700" strike="sngStrike" dirty="0" smtClean="0"/>
              <a:t>줄 까지 노출 이후</a:t>
            </a:r>
            <a:r>
              <a:rPr lang="en-US" altLang="ko-KR" sz="700" strike="sngStrike" dirty="0" smtClean="0"/>
              <a:t>(…) </a:t>
            </a:r>
            <a:r>
              <a:rPr lang="ko-KR" altLang="en-US" sz="700" strike="sngStrike" dirty="0" err="1" smtClean="0"/>
              <a:t>말줄임</a:t>
            </a:r>
            <a:r>
              <a:rPr lang="ko-KR" altLang="en-US" sz="700" strike="sngStrike" dirty="0" smtClean="0"/>
              <a:t> </a:t>
            </a:r>
            <a:r>
              <a:rPr lang="ko-KR" altLang="en-US" sz="700" strike="sngStrike" dirty="0" smtClean="0"/>
              <a:t>표시</a:t>
            </a:r>
            <a:r>
              <a:rPr lang="en-US" altLang="ko-KR" sz="700" strike="sngStrike" dirty="0" smtClean="0"/>
              <a:t/>
            </a:r>
            <a:br>
              <a:rPr lang="en-US" altLang="ko-KR" sz="700" strike="sngStrike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조서발행번호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0" indent="0">
              <a:buNone/>
            </a:pP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5024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6045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6346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50161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7065496" y="6120986"/>
            <a:ext cx="2305455" cy="222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업무구분명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납품조서진행상태코드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grpSp>
        <p:nvGrpSpPr>
          <p:cNvPr id="95" name="그룹 9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6" name="직사각형 9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 </a:t>
              </a:r>
              <a:r>
                <a:rPr lang="ko-KR" altLang="en-US" sz="700" dirty="0" smtClean="0"/>
                <a:t>정리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표시 내역 정리</a:t>
              </a:r>
              <a:endParaRPr lang="ko-KR" altLang="en-US" sz="700" dirty="0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11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991036"/>
              </p:ext>
            </p:extLst>
          </p:nvPr>
        </p:nvGraphicFramePr>
        <p:xfrm>
          <a:off x="3801286" y="1616448"/>
          <a:ext cx="3069778" cy="2006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납품조서진행상태코드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dlvdocPrgrsStcd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'IX':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'N':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'EY':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'IN':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'I':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'A':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'R':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'X':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'EX':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'EN':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청구저장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</a:tbl>
          </a:graphicData>
        </a:graphic>
      </p:graphicFrame>
      <p:sp>
        <p:nvSpPr>
          <p:cNvPr id="123" name="타원 12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588274" y="13516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600549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6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검사및납품조서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국외</a:t>
            </a:r>
            <a:endParaRPr lang="en-US" altLang="ko-KR" sz="7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39582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62120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검사기간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37272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689751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09698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20420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689751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500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6607" cy="689248"/>
            <a:chOff x="778515" y="4388257"/>
            <a:chExt cx="2516607" cy="689248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 rot="16200000">
            <a:off x="6261285" y="2294066"/>
            <a:ext cx="91438" cy="45719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7" name="타원 1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606" y="17446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606" y="2201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606" y="34699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35767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72122" y="35767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513792" y="16723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223221" y="1675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38834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8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90845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각 </a:t>
            </a:r>
            <a:r>
              <a:rPr lang="ko-KR" altLang="en-US" sz="700" dirty="0" err="1" smtClean="0"/>
              <a:t>섹션명</a:t>
            </a:r>
            <a:r>
              <a:rPr lang="ko-KR" altLang="en-US" sz="700" dirty="0" smtClean="0"/>
              <a:t> 클릭 시 아코디언 동작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업무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</a:t>
            </a:r>
            <a:r>
              <a:rPr lang="ko-KR" altLang="en-US" sz="700" strike="sngStrike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strike="sngStrike" dirty="0" err="1" smtClean="0"/>
              <a:t>예산구분</a:t>
            </a:r>
            <a:r>
              <a:rPr lang="ko-KR" altLang="en-US" sz="700" strike="sngStrike" dirty="0" smtClean="0"/>
              <a:t> </a:t>
            </a:r>
            <a:r>
              <a:rPr lang="en-US" altLang="ko-KR" sz="700" strike="sngStrike" dirty="0" smtClean="0"/>
              <a:t>(</a:t>
            </a:r>
            <a:r>
              <a:rPr lang="ko-KR" altLang="en-US" sz="700" strike="sngStrike" dirty="0" err="1" smtClean="0"/>
              <a:t>필수값</a:t>
            </a:r>
            <a:r>
              <a:rPr lang="en-US" altLang="ko-KR" sz="700" strike="sngStrike" dirty="0" smtClean="0"/>
              <a:t>)</a:t>
            </a:r>
            <a:br>
              <a:rPr lang="en-US" altLang="ko-KR" sz="700" strike="sngStrike" dirty="0" smtClean="0"/>
            </a:br>
            <a:r>
              <a:rPr lang="en-US" altLang="ko-KR" sz="700" strike="sngStrike" dirty="0" smtClean="0"/>
              <a:t>- </a:t>
            </a:r>
            <a:r>
              <a:rPr lang="ko-KR" altLang="en-US" sz="700" strike="sngStrike" dirty="0" smtClean="0"/>
              <a:t>항목</a:t>
            </a:r>
            <a:r>
              <a:rPr lang="en-US" altLang="ko-KR" sz="700" strike="sngStrike" dirty="0" smtClean="0"/>
              <a:t/>
            </a:r>
            <a:br>
              <a:rPr lang="en-US" altLang="ko-KR" sz="700" strike="sngStrike" dirty="0" smtClean="0"/>
            </a:br>
            <a:r>
              <a:rPr lang="ko-KR" altLang="en-US" sz="700" strike="sngStrike" dirty="0" err="1" smtClean="0"/>
              <a:t>전체예산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err="1" smtClean="0"/>
              <a:t>전년국채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err="1" smtClean="0"/>
              <a:t>본조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err="1" smtClean="0"/>
              <a:t>당년국채</a:t>
            </a:r>
            <a:r>
              <a:rPr lang="en-US" altLang="ko-KR" sz="700" strike="sngStrike" dirty="0" smtClean="0"/>
              <a:t/>
            </a:r>
            <a:br>
              <a:rPr lang="en-US" altLang="ko-KR" sz="700" strike="sngStrike" dirty="0" smtClean="0"/>
            </a:br>
            <a:r>
              <a:rPr lang="en-US" altLang="ko-KR" sz="700" strike="sngStrike" dirty="0" smtClean="0"/>
              <a:t>(default) </a:t>
            </a:r>
            <a:r>
              <a:rPr lang="ko-KR" altLang="en-US" sz="700" strike="sngStrike" dirty="0" err="1" smtClean="0"/>
              <a:t>전체예산</a:t>
            </a:r>
            <a:endParaRPr lang="en-US" altLang="ko-KR" sz="700" strike="sngStrike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olidFill>
                  <a:srgbClr val="FF0000"/>
                </a:solidFill>
              </a:rPr>
              <a:t>-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검사기간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 smtClean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: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: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strike="sngStrike" dirty="0" smtClean="0">
                <a:sym typeface="Wingdings" panose="05000000000000000000" pitchFamily="2" charset="2"/>
              </a:rPr>
              <a:t>구분 설정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strike="sngStrike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strike="sngStrike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700" strike="sngStrike" dirty="0" smtClean="0">
                <a:sym typeface="Wingdings" panose="05000000000000000000" pitchFamily="2" charset="2"/>
              </a:rPr>
            </a:br>
            <a:r>
              <a:rPr lang="en-US" altLang="ko-KR" sz="7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700" strike="sngStrike" dirty="0" smtClean="0">
                <a:solidFill>
                  <a:prstClr val="black"/>
                </a:solidFill>
              </a:rPr>
              <a:t>항목 설명 페이지 참고</a:t>
            </a:r>
            <a:endParaRPr lang="en-US" altLang="ko-KR" sz="700" strike="sngStrike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grpSp>
        <p:nvGrpSpPr>
          <p:cNvPr id="153" name="그룹 152"/>
          <p:cNvGrpSpPr/>
          <p:nvPr/>
        </p:nvGrpSpPr>
        <p:grpSpPr>
          <a:xfrm rot="16200000">
            <a:off x="6261285" y="2512121"/>
            <a:ext cx="91438" cy="45719"/>
            <a:chOff x="6812560" y="3297172"/>
            <a:chExt cx="94010" cy="47005"/>
          </a:xfrm>
        </p:grpSpPr>
        <p:cxnSp>
          <p:nvCxnSpPr>
            <p:cNvPr id="154" name="직선 연결선 1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2" name="그룹 16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63" name="직사각형 16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표시항목</a:t>
              </a:r>
              <a:r>
                <a:rPr lang="ko-KR" altLang="en-US" sz="700" dirty="0" smtClean="0"/>
                <a:t> 수정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237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5111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dml_InspDlvdocPrstSrchCnd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29464"/>
            <a:ext cx="315207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839879"/>
              </p:ext>
            </p:extLst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4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06273"/>
              </p:ext>
            </p:extLst>
          </p:nvPr>
        </p:nvGraphicFramePr>
        <p:xfrm>
          <a:off x="452999" y="2552258"/>
          <a:ext cx="8994883" cy="249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납지명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납품조서진행상태코드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상태조회결과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'EY':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'A':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'R':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4F9ADD0A-13A1-5C33-A250-66B3A46D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E373-50AF-BDFB-07C6-76A91AE9B53A}"/>
              </a:ext>
            </a:extLst>
          </p:cNvPr>
          <p:cNvSpPr txBox="1"/>
          <p:nvPr/>
        </p:nvSpPr>
        <p:spPr>
          <a:xfrm>
            <a:off x="458117" y="508790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8E565-F813-3E47-DD9B-2CC3378DF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13077"/>
              </p:ext>
            </p:extLst>
          </p:nvPr>
        </p:nvGraphicFramePr>
        <p:xfrm>
          <a:off x="453000" y="5349334"/>
          <a:ext cx="8995591" cy="1069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검사기간을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Scwin.grd_inspDlvdocList_onclick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검사 및 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MUI-EX-01-M03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검사및납품조서상세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부대조달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MUI-EX-01-M04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기성및준공검사상세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MUI-EX-01-M07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검사및납품조서결과상세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84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조서발행번호 검색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영역 하단 검색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조서발행번호정보조회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조서발행번호에 대한 정보를 조회하는 </a:t>
            </a:r>
            <a:r>
              <a:rPr lang="ko-KR" altLang="en-US" dirty="0" err="1">
                <a:latin typeface="+mn-ea"/>
              </a:rPr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MUI-EX-01-P06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조서발행번호정보조회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465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0010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836701" y="2528179"/>
            <a:ext cx="2630093" cy="1976511"/>
            <a:chOff x="3836701" y="3418175"/>
            <a:chExt cx="2630093" cy="1976511"/>
          </a:xfrm>
        </p:grpSpPr>
        <p:sp>
          <p:nvSpPr>
            <p:cNvPr id="166" name="직사각형 165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0977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검색결과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69283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000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3836701" y="4559523"/>
            <a:ext cx="2630093" cy="1723550"/>
            <a:chOff x="3836701" y="3671136"/>
            <a:chExt cx="2630093" cy="1723550"/>
          </a:xfrm>
        </p:grpSpPr>
        <p:sp>
          <p:nvSpPr>
            <p:cNvPr id="203" name="직사각형 202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6892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8" name="그룹 117"/>
          <p:cNvGrpSpPr/>
          <p:nvPr/>
        </p:nvGrpSpPr>
        <p:grpSpPr>
          <a:xfrm>
            <a:off x="675399" y="3011653"/>
            <a:ext cx="2712027" cy="3215510"/>
            <a:chOff x="675399" y="3435608"/>
            <a:chExt cx="2712027" cy="3215510"/>
          </a:xfrm>
        </p:grpSpPr>
        <p:sp>
          <p:nvSpPr>
            <p:cNvPr id="119" name="양쪽 모서리가 둥근 사각형 118"/>
            <p:cNvSpPr/>
            <p:nvPr/>
          </p:nvSpPr>
          <p:spPr>
            <a:xfrm>
              <a:off x="675399" y="3435608"/>
              <a:ext cx="2712027" cy="3215510"/>
            </a:xfrm>
            <a:prstGeom prst="round2SameRect">
              <a:avLst>
                <a:gd name="adj1" fmla="val 4887"/>
                <a:gd name="adj2" fmla="val 0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1761412" y="3472235"/>
              <a:ext cx="540000" cy="457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3164338" y="3606651"/>
              <a:ext cx="94010" cy="94010"/>
              <a:chOff x="6812560" y="3297172"/>
              <a:chExt cx="94010" cy="94010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3587330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조서발행번호정보조회</a:t>
              </a:r>
              <a:endParaRPr lang="ko-KR" altLang="en-US" sz="900" dirty="0">
                <a:latin typeface="+mn-ea"/>
              </a:endParaRP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8487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6" name="모서리가 둥근 직사각형 125"/>
            <p:cNvSpPr/>
            <p:nvPr/>
          </p:nvSpPr>
          <p:spPr>
            <a:xfrm>
              <a:off x="1443878" y="3987279"/>
              <a:ext cx="1845838" cy="244348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>
                  <a:solidFill>
                    <a:schemeClr val="tx1"/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입력해주세요</a:t>
              </a:r>
              <a:r>
                <a:rPr lang="en-US" altLang="ko-KR" sz="700" dirty="0">
                  <a:solidFill>
                    <a:schemeClr val="tx1"/>
                  </a:solidFill>
                </a:rPr>
                <a:t>.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4055592"/>
              <a:ext cx="6707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4320994"/>
              <a:ext cx="2522014" cy="24435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3112794" y="4025565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3156699" y="4069469"/>
              <a:ext cx="58075" cy="58074"/>
              <a:chOff x="6812560" y="3297172"/>
              <a:chExt cx="94010" cy="94010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7062319" y="6036456"/>
            <a:ext cx="2328810" cy="190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00" dirty="0" smtClean="0">
                <a:latin typeface="+mn-ea"/>
              </a:rPr>
              <a:t/>
            </a:r>
            <a:br>
              <a:rPr lang="en-US" altLang="ko-KR" sz="400" dirty="0" smtClean="0">
                <a:latin typeface="+mn-ea"/>
              </a:rPr>
            </a:br>
            <a:r>
              <a:rPr lang="en-US" altLang="ko-KR" sz="400" dirty="0" smtClean="0">
                <a:latin typeface="+mn-ea"/>
              </a:rPr>
              <a:t>0629 </a:t>
            </a:r>
            <a:r>
              <a:rPr lang="ko-KR" altLang="en-US" sz="400" dirty="0" smtClean="0">
                <a:latin typeface="+mn-ea"/>
              </a:rPr>
              <a:t>개요내용변경</a:t>
            </a:r>
            <a:r>
              <a:rPr lang="en-US" altLang="ko-KR" sz="400" dirty="0" smtClean="0">
                <a:latin typeface="+mn-ea"/>
              </a:rPr>
              <a:t>]</a:t>
            </a:r>
            <a:br>
              <a:rPr lang="en-US" altLang="ko-KR" sz="400" dirty="0" smtClean="0">
                <a:latin typeface="+mn-ea"/>
              </a:rPr>
            </a:br>
            <a:r>
              <a:rPr lang="ko-KR" altLang="en-US" sz="400" dirty="0" err="1" smtClean="0">
                <a:latin typeface="+mn-ea"/>
              </a:rPr>
              <a:t>부대조달</a:t>
            </a:r>
            <a:r>
              <a:rPr lang="ko-KR" altLang="en-US" sz="400" dirty="0" smtClean="0">
                <a:latin typeface="+mn-ea"/>
              </a:rPr>
              <a:t> </a:t>
            </a:r>
            <a:r>
              <a:rPr lang="ko-KR" altLang="en-US" sz="400" dirty="0" err="1">
                <a:latin typeface="+mn-ea"/>
              </a:rPr>
              <a:t>검사및납품조서</a:t>
            </a:r>
            <a:r>
              <a:rPr lang="ko-KR" altLang="en-US" sz="400" dirty="0">
                <a:latin typeface="+mn-ea"/>
              </a:rPr>
              <a:t> 조서발행번호 조회 팝업 </a:t>
            </a:r>
            <a:r>
              <a:rPr lang="ko-KR" altLang="en-US" sz="400" dirty="0" smtClean="0">
                <a:latin typeface="+mn-ea"/>
              </a:rPr>
              <a:t>화면 </a:t>
            </a:r>
            <a:r>
              <a:rPr lang="en-US" altLang="ko-KR" sz="400" dirty="0" smtClean="0">
                <a:latin typeface="+mn-ea"/>
              </a:rPr>
              <a:t>&gt; </a:t>
            </a:r>
            <a:r>
              <a:rPr lang="ko-KR" altLang="en-US" sz="400" dirty="0" smtClean="0">
                <a:latin typeface="+mn-ea"/>
              </a:rPr>
              <a:t>조서발행번호에 </a:t>
            </a:r>
            <a:r>
              <a:rPr lang="ko-KR" altLang="en-US" sz="400" dirty="0">
                <a:latin typeface="+mn-ea"/>
              </a:rPr>
              <a:t>대한 정보를 조회하는 </a:t>
            </a:r>
            <a:r>
              <a:rPr lang="ko-KR" altLang="en-US" sz="400" dirty="0" err="1">
                <a:latin typeface="+mn-ea"/>
              </a:rPr>
              <a:t>팝업화면</a:t>
            </a:r>
            <a:endParaRPr lang="ko-KR" altLang="en-US" sz="400" dirty="0"/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400" dirty="0" smtClean="0">
                <a:latin typeface="+mn-ea"/>
              </a:rPr>
              <a:t> </a:t>
            </a:r>
            <a:endParaRPr lang="ko-KR" altLang="en-US" sz="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3471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79139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dmt_RecrdPblcnNo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550946"/>
            <a:ext cx="36906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조서발행번호품목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dlt_RecrdPblcnNoItemInfo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9660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36993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013019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15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latin typeface="+mn-ea"/>
              </a:rPr>
              <a:t>납품조서결과를 </a:t>
            </a:r>
            <a:r>
              <a:rPr lang="ko-KR" altLang="en-US" dirty="0">
                <a:latin typeface="+mn-ea"/>
              </a:rPr>
              <a:t>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검사및납품조서현황목록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 smtClean="0">
                <a:latin typeface="+mn-ea"/>
              </a:rPr>
              <a:t>납품조서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801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213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1389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452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2722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5918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5918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2106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8212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69545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88960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96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88960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납품장소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납품기일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조서발행번호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88960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07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44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481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18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5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92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24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75284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44924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75284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75284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44924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04805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04805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967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5103480"/>
            <a:ext cx="2630093" cy="1169259"/>
            <a:chOff x="3801854" y="3355661"/>
            <a:chExt cx="2630093" cy="1169259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821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80" name="그룹 179"/>
          <p:cNvGrpSpPr/>
          <p:nvPr/>
        </p:nvGrpSpPr>
        <p:grpSpPr>
          <a:xfrm>
            <a:off x="3836701" y="3819909"/>
            <a:ext cx="2630093" cy="1186690"/>
            <a:chOff x="3801854" y="3355661"/>
            <a:chExt cx="2630093" cy="118669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230" name="직선 연결선 22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7" name="직사각형 18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504844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06386" y="2075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25722" y="47293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189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686459" y="24829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394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4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>
                <a:solidFill>
                  <a:srgbClr val="FF0000"/>
                </a:solidFill>
              </a:rPr>
              <a:t> &gt; </a:t>
            </a:r>
            <a:r>
              <a:rPr lang="ko-KR" altLang="en-US" sz="800" dirty="0">
                <a:solidFill>
                  <a:srgbClr val="FF0000"/>
                </a:solidFill>
              </a:rPr>
              <a:t>이전 목록에서 표시된 레이블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뱃지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ko-KR" altLang="en-US" sz="800" dirty="0">
                <a:solidFill>
                  <a:srgbClr val="FF0000"/>
                </a:solidFill>
              </a:rPr>
              <a:t> 표시 </a:t>
            </a:r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</a:rPr>
              <a:t>업무구분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예산구분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진행상태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olidFill>
                  <a:srgbClr val="FF0000"/>
                </a:solidFill>
              </a:rPr>
              <a:t>  &gt; </a:t>
            </a:r>
            <a:r>
              <a:rPr lang="ko-KR" altLang="en-US" sz="800" dirty="0">
                <a:solidFill>
                  <a:srgbClr val="FF0000"/>
                </a:solidFill>
              </a:rPr>
              <a:t>계약 명칭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 err="1">
                <a:solidFill>
                  <a:srgbClr val="FF0000"/>
                </a:solidFill>
              </a:rPr>
              <a:t>계약일자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계약금액 정보는 이전 목록에서 추출하여 표시 </a:t>
            </a:r>
            <a:r>
              <a:rPr lang="ko-KR" altLang="en-US" sz="800" dirty="0" smtClean="0">
                <a:solidFill>
                  <a:srgbClr val="FF0000"/>
                </a:solidFill>
              </a:rPr>
              <a:t>필요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800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</a:t>
            </a:r>
            <a:r>
              <a:rPr lang="ko-KR" altLang="en-US" sz="800" dirty="0" smtClean="0"/>
              <a:t>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</a:t>
            </a:r>
            <a:r>
              <a:rPr lang="ko-KR" altLang="en-US" sz="800" dirty="0"/>
              <a:t>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47" name="직사각형 246"/>
          <p:cNvSpPr/>
          <p:nvPr/>
        </p:nvSpPr>
        <p:spPr>
          <a:xfrm>
            <a:off x="7071236" y="5893850"/>
            <a:ext cx="2332333" cy="389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 </a:t>
            </a:r>
            <a:r>
              <a:rPr lang="ko-KR" altLang="en-US" sz="500" dirty="0" err="1" smtClean="0"/>
              <a:t>항목설명과</a:t>
            </a:r>
            <a:r>
              <a:rPr lang="ko-KR" altLang="en-US" sz="500" dirty="0" smtClean="0"/>
              <a:t> 이름이 </a:t>
            </a:r>
            <a:r>
              <a:rPr lang="ko-KR" altLang="en-US" sz="500" dirty="0" err="1" smtClean="0"/>
              <a:t>다른것도</a:t>
            </a:r>
            <a:r>
              <a:rPr lang="ko-KR" altLang="en-US" sz="500" dirty="0" smtClean="0"/>
              <a:t> 함께 표기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r>
              <a:rPr lang="ko-KR" altLang="en-US" sz="500" dirty="0" err="1" smtClean="0"/>
              <a:t>예산구분명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납품장소명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납품기한일자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대표자명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출고일자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기술검사기관명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출납관소속명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물량검사관명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출납관명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출납관전화번호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3962501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계약자 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정비조회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이행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/>
          <p:cNvGrpSpPr/>
          <p:nvPr/>
        </p:nvGrpSpPr>
        <p:grpSpPr>
          <a:xfrm>
            <a:off x="720490" y="1527996"/>
            <a:ext cx="2630093" cy="1815590"/>
            <a:chOff x="720490" y="4582121"/>
            <a:chExt cx="2630093" cy="18155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58212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상세정보</a:t>
              </a:r>
            </a:p>
          </p:txBody>
        </p:sp>
        <p:grpSp>
          <p:nvGrpSpPr>
            <p:cNvPr id="80" name="그룹 79"/>
            <p:cNvGrpSpPr/>
            <p:nvPr/>
          </p:nvGrpSpPr>
          <p:grpSpPr>
            <a:xfrm flipV="1">
              <a:off x="3143548" y="4695452"/>
              <a:ext cx="94010" cy="47005"/>
              <a:chOff x="681256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1" name="직사각형 80"/>
            <p:cNvSpPr/>
            <p:nvPr/>
          </p:nvSpPr>
          <p:spPr>
            <a:xfrm>
              <a:off x="722583" y="4889606"/>
              <a:ext cx="792000" cy="1506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88960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88960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납품장소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납품기일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889606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(01)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12345 6789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2025-12-30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8385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2026-10-15 08:00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20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344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4812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6183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755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18924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3967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720490" y="3443397"/>
            <a:ext cx="2630093" cy="1186690"/>
            <a:chOff x="3801854" y="3355661"/>
            <a:chExt cx="2630093" cy="118669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96" name="그룹 9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직사각형 9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468428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3396876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836701" y="1527996"/>
            <a:ext cx="2630093" cy="1186690"/>
            <a:chOff x="3801854" y="3355661"/>
            <a:chExt cx="2630093" cy="118669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12" name="그룹 111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직사각형 113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3836701" y="2806727"/>
            <a:ext cx="2630093" cy="2892808"/>
            <a:chOff x="3801854" y="3355661"/>
            <a:chExt cx="2630093" cy="289280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26" name="그룹 12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직사각형 126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물량검사관소속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출납관전화번호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2762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574697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748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15737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28410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30476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49352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8370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25021"/>
              </p:ext>
            </p:extLst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예산구분명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당년국채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납품장소명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dlvgdsPlcNm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납품기한일자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dlvtrmYmd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66585"/>
              </p:ext>
            </p:extLst>
          </p:nvPr>
        </p:nvGraphicFramePr>
        <p:xfrm>
          <a:off x="452999" y="260649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768369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63677"/>
              </p:ext>
            </p:extLst>
          </p:nvPr>
        </p:nvGraphicFramePr>
        <p:xfrm>
          <a:off x="452999" y="4982451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unitCd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tctrtQty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C3E33B-D53C-1740-F6B2-DB73DC3B4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91713"/>
              </p:ext>
            </p:extLst>
          </p:nvPr>
        </p:nvGraphicFramePr>
        <p:xfrm>
          <a:off x="452999" y="3783839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0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2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ctrtMtncDayCnt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실정비일수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rlmtDayCnt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정비지시일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wrhsYmd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mtncDrctnYmd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출고일자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spmtYmd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72445F-640E-7784-6FB3-49FCBBD8F128}"/>
              </a:ext>
            </a:extLst>
          </p:cNvPr>
          <p:cNvSpPr txBox="1"/>
          <p:nvPr/>
        </p:nvSpPr>
        <p:spPr>
          <a:xfrm>
            <a:off x="458117" y="358717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정비조회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dmt_MtncInq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59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3DB9D-A2D3-D9FE-1EFB-369BD6199734}"/>
              </a:ext>
            </a:extLst>
          </p:cNvPr>
          <p:cNvSpPr txBox="1"/>
          <p:nvPr/>
        </p:nvSpPr>
        <p:spPr>
          <a:xfrm>
            <a:off x="458117" y="1465604"/>
            <a:ext cx="26006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납품조서결과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dmt_DlvdocRslt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480574-8FDA-09E2-1AEF-7B0B06DAC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65327"/>
              </p:ext>
            </p:extLst>
          </p:nvPr>
        </p:nvGraphicFramePr>
        <p:xfrm>
          <a:off x="452999" y="1676807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igiYmd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passYmd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Ogdp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IdfrNm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전화번호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06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5940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79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2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858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423455"/>
              </p:ext>
            </p:extLst>
          </p:nvPr>
        </p:nvGraphicFramePr>
        <p:xfrm>
          <a:off x="635474" y="1413419"/>
          <a:ext cx="8701200" cy="38918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ovsEstmtRqdcListPage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MUI-EX-02-P80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ovsEstmtRqdcList_SrchFilter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3325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8851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상세정보를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344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물품목록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ovsEstmtRqdcDtl_CmdtyList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물품목록을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2375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견적통보서목록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ovsEstmtNtdcListPage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74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견적통보서상세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42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5377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물품목록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물품목록을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ovsEstmtNtdcDtl_CmdtyList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3248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36166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66510"/>
              </p:ext>
            </p:extLst>
          </p:nvPr>
        </p:nvGraphicFramePr>
        <p:xfrm>
          <a:off x="635474" y="1413419"/>
          <a:ext cx="8701200" cy="40857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ovsOrderRqdcListPage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573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MUI-EX-02-P81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검색필터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ovsOrderRqdcList_SrchFilter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7002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ovsOrderRqdcDtlPage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0538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0367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물품목록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물품목록를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5400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발주통보서목록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ovsOrderNtdcListPage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763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발주통보서상세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10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2378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물품목록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물품목록를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339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MUI-EX-02-P79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계약번호조회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vsCtrtNoInq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계약년도와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계약정보목록을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7040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4008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632221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한도액계약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4227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1087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305094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견적의뢰서목록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2532221" y="1772964"/>
            <a:ext cx="7728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305094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견적통보서목록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2532221" y="1772964"/>
            <a:ext cx="772873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7199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305094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발주의뢰서목록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305094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발주통보서목록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2532221" y="1772964"/>
            <a:ext cx="772873" cy="38128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2532221" y="1772964"/>
            <a:ext cx="772873" cy="25619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214824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293993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계약번호조회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34592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41" idx="1"/>
          </p:cNvCxnSpPr>
          <p:nvPr/>
        </p:nvCxnSpPr>
        <p:spPr>
          <a:xfrm>
            <a:off x="4205094" y="1772964"/>
            <a:ext cx="7728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43" idx="1"/>
          </p:cNvCxnSpPr>
          <p:nvPr/>
        </p:nvCxnSpPr>
        <p:spPr>
          <a:xfrm>
            <a:off x="4205094" y="3083939"/>
            <a:ext cx="7728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4205094" y="4334897"/>
            <a:ext cx="7728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73" idx="1"/>
          </p:cNvCxnSpPr>
          <p:nvPr/>
        </p:nvCxnSpPr>
        <p:spPr>
          <a:xfrm>
            <a:off x="4205094" y="5585854"/>
            <a:ext cx="77287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2"/>
            <a:endCxn id="40" idx="1"/>
          </p:cNvCxnSpPr>
          <p:nvPr/>
        </p:nvCxnSpPr>
        <p:spPr>
          <a:xfrm rot="16200000" flipH="1">
            <a:off x="4178892" y="1493165"/>
            <a:ext cx="375276" cy="12228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1" idx="0"/>
            <a:endCxn id="69" idx="0"/>
          </p:cNvCxnSpPr>
          <p:nvPr/>
        </p:nvCxnSpPr>
        <p:spPr>
          <a:xfrm rot="16200000" flipV="1">
            <a:off x="4591531" y="792527"/>
            <a:ext cx="12700" cy="167287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470232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7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544185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계약번호조회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77967" y="595328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2"/>
            <a:endCxn id="44" idx="1"/>
          </p:cNvCxnSpPr>
          <p:nvPr/>
        </p:nvCxnSpPr>
        <p:spPr>
          <a:xfrm rot="16200000" flipH="1">
            <a:off x="4178892" y="2804140"/>
            <a:ext cx="375276" cy="12228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2"/>
            <a:endCxn id="71" idx="1"/>
          </p:cNvCxnSpPr>
          <p:nvPr/>
        </p:nvCxnSpPr>
        <p:spPr>
          <a:xfrm rot="16200000" flipH="1">
            <a:off x="4182816" y="4051174"/>
            <a:ext cx="367429" cy="12228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2"/>
            <a:endCxn id="74" idx="1"/>
          </p:cNvCxnSpPr>
          <p:nvPr/>
        </p:nvCxnSpPr>
        <p:spPr>
          <a:xfrm rot="16200000" flipH="1">
            <a:off x="4182815" y="5302132"/>
            <a:ext cx="367430" cy="12228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0"/>
            <a:endCxn id="162" idx="0"/>
          </p:cNvCxnSpPr>
          <p:nvPr/>
        </p:nvCxnSpPr>
        <p:spPr>
          <a:xfrm rot="16200000" flipV="1">
            <a:off x="4591531" y="2103502"/>
            <a:ext cx="12700" cy="167287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5" idx="0"/>
            <a:endCxn id="23" idx="0"/>
          </p:cNvCxnSpPr>
          <p:nvPr/>
        </p:nvCxnSpPr>
        <p:spPr>
          <a:xfrm rot="16200000" flipV="1">
            <a:off x="4591531" y="3354460"/>
            <a:ext cx="12700" cy="167287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3" idx="0"/>
            <a:endCxn id="34" idx="0"/>
          </p:cNvCxnSpPr>
          <p:nvPr/>
        </p:nvCxnSpPr>
        <p:spPr>
          <a:xfrm rot="16200000" flipV="1">
            <a:off x="4591531" y="4605417"/>
            <a:ext cx="12700" cy="167287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48" name="그룹 47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5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31359" y="1955786"/>
            <a:ext cx="2226318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5018" y="22165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상세정보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49615" y="22165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0839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계약번호조회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1" idx="3"/>
            <a:endCxn id="68" idx="1"/>
          </p:cNvCxnSpPr>
          <p:nvPr/>
        </p:nvCxnSpPr>
        <p:spPr>
          <a:xfrm>
            <a:off x="5877967" y="1772964"/>
            <a:ext cx="77287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16314" y="950789"/>
            <a:ext cx="12700" cy="135635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0" idx="3"/>
            <a:endCxn id="62" idx="1"/>
          </p:cNvCxnSpPr>
          <p:nvPr/>
        </p:nvCxnSpPr>
        <p:spPr>
          <a:xfrm>
            <a:off x="5877967" y="2292240"/>
            <a:ext cx="65339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3"/>
            <a:endCxn id="158" idx="2"/>
          </p:cNvCxnSpPr>
          <p:nvPr/>
        </p:nvCxnSpPr>
        <p:spPr>
          <a:xfrm>
            <a:off x="8757677" y="2292240"/>
            <a:ext cx="491650" cy="7916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31359" y="3266804"/>
            <a:ext cx="2226318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5018" y="352753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상세정보</a:t>
            </a:r>
          </a:p>
        </p:txBody>
      </p:sp>
      <p:sp>
        <p:nvSpPr>
          <p:cNvPr id="1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49615" y="352753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4" idx="3"/>
            <a:endCxn id="101" idx="1"/>
          </p:cNvCxnSpPr>
          <p:nvPr/>
        </p:nvCxnSpPr>
        <p:spPr>
          <a:xfrm>
            <a:off x="5877967" y="3603215"/>
            <a:ext cx="653392" cy="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0839" y="419089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계약번호조회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5" idx="3"/>
            <a:endCxn id="113" idx="1"/>
          </p:cNvCxnSpPr>
          <p:nvPr/>
        </p:nvCxnSpPr>
        <p:spPr>
          <a:xfrm>
            <a:off x="5877967" y="4334897"/>
            <a:ext cx="77287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16314" y="3503197"/>
            <a:ext cx="12700" cy="1356350"/>
          </a:xfrm>
          <a:prstGeom prst="bentConnector3">
            <a:avLst>
              <a:gd name="adj1" fmla="val 166285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31359" y="4511475"/>
            <a:ext cx="2226318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5018" y="477220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상세정보</a:t>
            </a:r>
          </a:p>
        </p:txBody>
      </p:sp>
      <p:sp>
        <p:nvSpPr>
          <p:cNvPr id="12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49615" y="477220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1" idx="3"/>
            <a:endCxn id="127" idx="1"/>
          </p:cNvCxnSpPr>
          <p:nvPr/>
        </p:nvCxnSpPr>
        <p:spPr>
          <a:xfrm>
            <a:off x="5877967" y="4846326"/>
            <a:ext cx="653392" cy="16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31359" y="5760830"/>
            <a:ext cx="2226318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55018" y="602155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상세정보</a:t>
            </a:r>
          </a:p>
        </p:txBody>
      </p:sp>
      <p:sp>
        <p:nvSpPr>
          <p:cNvPr id="1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49615" y="602155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4" idx="3"/>
            <a:endCxn id="134" idx="1"/>
          </p:cNvCxnSpPr>
          <p:nvPr/>
        </p:nvCxnSpPr>
        <p:spPr>
          <a:xfrm>
            <a:off x="5877967" y="6097284"/>
            <a:ext cx="65339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58" idx="2"/>
          </p:cNvCxnSpPr>
          <p:nvPr/>
        </p:nvCxnSpPr>
        <p:spPr>
          <a:xfrm flipV="1">
            <a:off x="8757677" y="3083939"/>
            <a:ext cx="491650" cy="5193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7" idx="3"/>
            <a:endCxn id="158" idx="2"/>
          </p:cNvCxnSpPr>
          <p:nvPr/>
        </p:nvCxnSpPr>
        <p:spPr>
          <a:xfrm flipV="1">
            <a:off x="8757677" y="3083939"/>
            <a:ext cx="491650" cy="17639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58" idx="2"/>
          </p:cNvCxnSpPr>
          <p:nvPr/>
        </p:nvCxnSpPr>
        <p:spPr>
          <a:xfrm flipV="1">
            <a:off x="8757677" y="3083939"/>
            <a:ext cx="491650" cy="30133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7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0885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견적의뢰서목록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ovsEstmtRqdcListPage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0885" y="216638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견적의뢰서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ovsEstmtRqdcList_SrchFilter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268863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견적의뢰서상세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한도액계약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OvsLmtamtCtrtController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48085" y="1865266"/>
            <a:ext cx="1212006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8085" y="2387512"/>
            <a:ext cx="1212006" cy="60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8085" y="2909758"/>
            <a:ext cx="1212006" cy="8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21087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73312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25536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rgbClr val="000000"/>
                </a:solidFill>
              </a:rPr>
              <a:t>견적통보서목록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77761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</a:rPr>
              <a:t>견적통보서상세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48085" y="2990174"/>
            <a:ext cx="1212006" cy="44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48085" y="2990174"/>
            <a:ext cx="1212006" cy="96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48085" y="2990174"/>
            <a:ext cx="1212006" cy="148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48085" y="2990174"/>
            <a:ext cx="1212006" cy="20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299862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48085" y="2990174"/>
            <a:ext cx="1212006" cy="253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rgbClr val="000000"/>
                </a:solidFill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3"/>
            <a:endCxn id="9" idx="1"/>
          </p:cNvCxnSpPr>
          <p:nvPr/>
        </p:nvCxnSpPr>
        <p:spPr>
          <a:xfrm flipV="1">
            <a:off x="2748085" y="2990174"/>
            <a:ext cx="1212006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771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0885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발주의뢰서목록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0885" y="216638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 smtClean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발주의뢰서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ovsOrderRqdcList_SrchFilter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268863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발주의뢰서상세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한도액계약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OvsLmtamtCtrtController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48085" y="1865266"/>
            <a:ext cx="1212006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8085" y="2387512"/>
            <a:ext cx="1212006" cy="60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8085" y="2909758"/>
            <a:ext cx="1212006" cy="8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21087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73312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25536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발주통보서목록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77761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발주통보서상세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ovsOrderNtdcDtlPage.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48085" y="2990174"/>
            <a:ext cx="1212006" cy="44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48085" y="2990174"/>
            <a:ext cx="1212006" cy="96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48085" y="2990174"/>
            <a:ext cx="1212006" cy="148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48085" y="2990174"/>
            <a:ext cx="1212006" cy="20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299862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rgbClr val="000000"/>
                </a:solidFill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48085" y="2990174"/>
            <a:ext cx="1212006" cy="253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rgbClr val="000000"/>
                </a:solidFill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3"/>
            <a:endCxn id="9" idx="1"/>
          </p:cNvCxnSpPr>
          <p:nvPr/>
        </p:nvCxnSpPr>
        <p:spPr>
          <a:xfrm flipV="1">
            <a:off x="2748085" y="2990174"/>
            <a:ext cx="1212006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73043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계약번호조회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ovsCtrtNoInqPage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64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견적번호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무역대리점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작성일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73235" y="5982789"/>
            <a:ext cx="2317894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/>
              <a:t> </a:t>
            </a:r>
            <a:r>
              <a:rPr lang="en-US" altLang="ko-KR" sz="500" dirty="0" smtClean="0"/>
              <a:t>from, 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ko-KR" sz="500" dirty="0" err="1" smtClean="0"/>
              <a:t>견적번호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항목수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무역대리점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사업명</a:t>
            </a:r>
            <a:endParaRPr lang="ko-KR" altLang="ko-KR" sz="500" dirty="0"/>
          </a:p>
          <a:p>
            <a:endParaRPr lang="en-US" altLang="ko-KR" sz="500" dirty="0" smtClean="0"/>
          </a:p>
        </p:txBody>
      </p:sp>
      <p:sp>
        <p:nvSpPr>
          <p:cNvPr id="7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8406" y="149558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 err="1" smtClean="0"/>
              <a:t>업무도움은</a:t>
            </a:r>
            <a:r>
              <a:rPr lang="ko-KR" altLang="en-US" sz="800" dirty="0" smtClean="0"/>
              <a:t> 기본 값으로 접힘 상태로 정보 제공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사용자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> &gt; </a:t>
            </a:r>
            <a:r>
              <a:rPr lang="ko-KR" altLang="en-US" sz="800" dirty="0" smtClean="0"/>
              <a:t>내역이 있는 경우 표시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내역이 없으면 항목을 표시하지 않음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검색필터</a:t>
            </a:r>
            <a:r>
              <a:rPr lang="ko-KR" altLang="en-US" sz="800" dirty="0" smtClean="0"/>
              <a:t> 항목 참고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>
                <a:latin typeface="+mn-ea"/>
              </a:rPr>
              <a:t>검색 필터 </a:t>
            </a:r>
            <a:endParaRPr lang="en-US" altLang="ko-KR" sz="8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개수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총 개수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표시 개수 </a:t>
            </a:r>
            <a:r>
              <a:rPr lang="en-US" altLang="ko-KR" sz="800" dirty="0" smtClean="0"/>
              <a:t>(</a:t>
            </a:r>
            <a:r>
              <a:rPr lang="ko-KR" altLang="en-US" sz="800" dirty="0" smtClean="0"/>
              <a:t>선택한 건수 만큼 보여주고 </a:t>
            </a:r>
            <a:r>
              <a:rPr lang="ko-KR" altLang="en-US" sz="800" dirty="0" err="1" smtClean="0"/>
              <a:t>더보기시</a:t>
            </a:r>
            <a:r>
              <a:rPr lang="ko-KR" altLang="en-US" sz="800" dirty="0" smtClean="0"/>
              <a:t> 추가로 불러옴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ko-KR" altLang="en-US" sz="800" dirty="0" smtClean="0"/>
              <a:t>목록 카드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카드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상세 페이지 이동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3-1] </a:t>
            </a:r>
            <a:r>
              <a:rPr lang="ko-KR" altLang="en-US" sz="800" dirty="0" err="1" smtClean="0"/>
              <a:t>견적번호</a:t>
            </a:r>
            <a:r>
              <a:rPr lang="ko-KR" altLang="en-US" sz="800" dirty="0" smtClean="0"/>
              <a:t>  </a:t>
            </a:r>
            <a:r>
              <a:rPr lang="en-US" altLang="ko-KR" sz="800" dirty="0" smtClean="0"/>
              <a:t>+</a:t>
            </a:r>
            <a:r>
              <a:rPr lang="ko-KR" altLang="en-US" sz="800" dirty="0"/>
              <a:t> </a:t>
            </a:r>
            <a:r>
              <a:rPr lang="ko-KR" altLang="en-US" sz="800" dirty="0" smtClean="0"/>
              <a:t>차수 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레이블이 화면을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4-1] </a:t>
            </a:r>
            <a:r>
              <a:rPr lang="ko-KR" altLang="en-US" sz="800" dirty="0" err="1" smtClean="0"/>
              <a:t>표시레이블</a:t>
            </a:r>
            <a:r>
              <a:rPr lang="ko-KR" altLang="en-US" sz="800" dirty="0" smtClean="0"/>
              <a:t> 영역 항목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통보서 상태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작성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미작성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송신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4-2] </a:t>
            </a:r>
            <a:r>
              <a:rPr lang="ko-KR" altLang="en-US" sz="800" dirty="0" smtClean="0"/>
              <a:t>문서 정보 영역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: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+</a:t>
            </a:r>
            <a:r>
              <a:rPr lang="ko-KR" altLang="en-US" sz="800" dirty="0" smtClean="0"/>
              <a:t>계약번호차수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기능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- 3</a:t>
            </a:r>
            <a:r>
              <a:rPr lang="ko-KR" altLang="en-US" sz="800" dirty="0" err="1" smtClean="0"/>
              <a:t>번항목</a:t>
            </a:r>
            <a:r>
              <a:rPr lang="ko-KR" altLang="en-US" sz="800" dirty="0" smtClean="0"/>
              <a:t> 표시 개수 영역에서 선택한 개수로 증가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r>
              <a:rPr lang="ko-KR" altLang="en-US" sz="800" dirty="0" smtClean="0"/>
              <a:t>예</a:t>
            </a:r>
            <a:r>
              <a:rPr lang="en-US" altLang="ko-KR" sz="800" dirty="0" smtClean="0"/>
              <a:t>) 10</a:t>
            </a:r>
            <a:r>
              <a:rPr lang="ko-KR" altLang="en-US" sz="800" dirty="0" smtClean="0"/>
              <a:t>개 노출 이후 </a:t>
            </a: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버튼 클릭으로 </a:t>
            </a:r>
            <a:r>
              <a:rPr lang="en-US" altLang="ko-KR" sz="800" dirty="0" smtClean="0"/>
              <a:t>10</a:t>
            </a:r>
            <a:r>
              <a:rPr lang="ko-KR" altLang="en-US" sz="800" dirty="0" smtClean="0"/>
              <a:t>개씩 추가 로드</a:t>
            </a:r>
            <a: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594768" y="13532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8278" y="3382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89" name="표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135159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 smtClean="0">
                          <a:latin typeface="+mn-ea"/>
                          <a:ea typeface="+mn-ea"/>
                        </a:rPr>
                        <a:t>통보서상태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ntdcStts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작성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미작성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송신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605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서류요청</a:t>
            </a:r>
            <a:r>
              <a:rPr lang="ko-KR" altLang="en-US" sz="800" dirty="0"/>
              <a:t> </a:t>
            </a:r>
            <a:r>
              <a:rPr lang="ko-KR" altLang="en-US" sz="800" dirty="0" err="1"/>
              <a:t>수신일자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1-3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800" dirty="0" smtClean="0">
                <a:sym typeface="Wingdings" panose="05000000000000000000" pitchFamily="2" charset="2"/>
              </a:rPr>
              <a:t> 영역 검색기능 제공 </a:t>
            </a:r>
            <a:endParaRPr lang="en-US" altLang="ko-KR" sz="800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견적의뢰서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MUI-EX-02-P80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0300" y="20389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06268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4524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</p:spTree>
    <p:extLst>
      <p:ext uri="{BB962C8B-B14F-4D97-AF65-F5344CB8AC3E}">
        <p14:creationId xmlns:p14="http://schemas.microsoft.com/office/powerpoint/2010/main" val="2170275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C3181-74F9-5FAE-8260-B8C585F42331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77216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57601"/>
              </p:ext>
            </p:extLst>
          </p:nvPr>
        </p:nvGraphicFramePr>
        <p:xfrm>
          <a:off x="452999" y="1024357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406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75921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07187"/>
              </p:ext>
            </p:extLst>
          </p:nvPr>
        </p:nvGraphicFramePr>
        <p:xfrm>
          <a:off x="452291" y="398749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277400484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6166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8291"/>
            <a:ext cx="26839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69867"/>
              </p:ext>
            </p:extLst>
          </p:nvPr>
        </p:nvGraphicFramePr>
        <p:xfrm>
          <a:off x="455558" y="21394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1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</a:t>
                      </a:r>
                      <a:r>
                        <a:rPr lang="ko-KR" altLang="en-US" sz="800" dirty="0" err="1">
                          <a:latin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무역대리점 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납기일자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작성일자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ntdcStts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3921AF14-0A7A-7CF4-2518-3705EA0C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860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견적의뢰서상세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5662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6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47645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MUI-EX-02-T71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3767" y="3521645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7" name="타원 1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56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6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항목설명 참조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94019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>
                <a:solidFill>
                  <a:prstClr val="black"/>
                </a:solidFill>
              </a:rPr>
              <a:t>견적의뢰서품목 </a:t>
            </a:r>
            <a:r>
              <a:rPr lang="ko-KR" altLang="en-US" dirty="0">
                <a:solidFill>
                  <a:prstClr val="black"/>
                </a:solidFill>
              </a:rPr>
              <a:t>데이터 영역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en-US" altLang="ko-KR" dirty="0" err="1">
                <a:solidFill>
                  <a:prstClr val="black"/>
                </a:solidFill>
              </a:rPr>
              <a:t>dl_estmtRqdcItem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62847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29825"/>
            <a:ext cx="2630093" cy="2369881"/>
            <a:chOff x="3865118" y="2946203"/>
            <a:chExt cx="2630093" cy="236988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69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1149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38526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58688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1" name="그룹 40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42" name="타원 41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3" name="그룹 4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타원 48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0" name="그룹 49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52" name="직선 연결선 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303357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799261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10464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464054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24675"/>
            <a:ext cx="293406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41289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4316845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trnsMthdCd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dlvgdsRqtYmd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납품요구일자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4805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6F95F2-604A-CD71-A157-16ADC3AFA5D2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E2B1C658-9190-4D02-673B-5B324223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776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9AF66-64E6-DF62-3BAF-E5063782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857E-A467-2211-5885-613C98FA5232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43DC5-460A-FFCD-4D6F-A07499D3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71437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1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견적의뢰서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견적의뢰서출력물</a:t>
                      </a:r>
                      <a:r>
                        <a:rPr lang="ko-KR" altLang="en-US" sz="800" dirty="0"/>
                        <a:t> 화면을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UI-EX-02-R85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819AA99-5229-6305-7DF5-CFF892B9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734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>-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</a:t>
            </a:r>
            <a:r>
              <a:rPr lang="ko-KR" altLang="en-US" dirty="0" smtClean="0"/>
              <a:t>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17110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3332" y="23164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1421" y="25801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2118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5241" y="2180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/>
              <a:t>2-3</a:t>
            </a:r>
            <a:endParaRPr lang="ko-KR" altLang="en-US" sz="600" b="1" dirty="0"/>
          </a:p>
        </p:txBody>
      </p:sp>
      <p:sp>
        <p:nvSpPr>
          <p:cNvPr id="209" name="직사각형 208"/>
          <p:cNvSpPr/>
          <p:nvPr/>
        </p:nvSpPr>
        <p:spPr>
          <a:xfrm>
            <a:off x="7071988" y="5982789"/>
            <a:ext cx="2331582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</a:t>
            </a:r>
            <a:endParaRPr lang="en-US" altLang="ko-KR" sz="500" dirty="0" smtClean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88230" y="4207300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정확히 입력해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987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 </a:t>
            </a:r>
            <a:r>
              <a:rPr lang="en-US" altLang="ko-KR" dirty="0"/>
              <a:t>(</a:t>
            </a:r>
            <a:r>
              <a:rPr lang="ko-KR" altLang="en-US" dirty="0"/>
              <a:t>선택한 건수 만큼 보여주고 </a:t>
            </a:r>
            <a:r>
              <a:rPr lang="ko-KR" altLang="en-US" dirty="0" err="1"/>
              <a:t>더보기시</a:t>
            </a:r>
            <a:r>
              <a:rPr lang="ko-KR" altLang="en-US" dirty="0"/>
              <a:t> 추가로 불러옴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목록 카드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</a:t>
            </a:r>
            <a:r>
              <a:rPr lang="ko-KR" altLang="en-US" dirty="0" err="1"/>
              <a:t>클릭시</a:t>
            </a:r>
            <a:r>
              <a:rPr lang="ko-KR" altLang="en-US" dirty="0"/>
              <a:t> 상세 페이지 </a:t>
            </a:r>
            <a:r>
              <a:rPr lang="ko-KR" altLang="en-US" dirty="0" smtClean="0"/>
              <a:t>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레이블이 화면을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4-1] </a:t>
            </a:r>
            <a:r>
              <a:rPr lang="ko-KR" altLang="en-US" dirty="0" err="1"/>
              <a:t>표시레이블</a:t>
            </a:r>
            <a:r>
              <a:rPr lang="ko-KR" altLang="en-US" dirty="0"/>
              <a:t> 영역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통보서 상태 </a:t>
            </a:r>
            <a:r>
              <a:rPr lang="en-US" altLang="ko-KR" dirty="0"/>
              <a:t>: </a:t>
            </a:r>
            <a:r>
              <a:rPr lang="ko-KR" altLang="en-US" dirty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4-2] </a:t>
            </a:r>
            <a:r>
              <a:rPr lang="ko-KR" altLang="en-US" dirty="0"/>
              <a:t>문서 정보 영역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기능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번항목</a:t>
            </a:r>
            <a:r>
              <a:rPr lang="ko-KR" altLang="en-US" dirty="0"/>
              <a:t> 표시 개수 영역에서 선택한 개수로 증가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) 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견적통보서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788595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12098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821217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30323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853839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82859" y="59999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125814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견적통보서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4357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04732633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350691"/>
            <a:ext cx="2627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37830"/>
              </p:ext>
            </p:extLst>
          </p:nvPr>
        </p:nvGraphicFramePr>
        <p:xfrm>
          <a:off x="455558" y="35618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94875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tradeSbtBzentyNm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7203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840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7108539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0A187A-601E-C504-77A1-6408CAB89188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247E2B1C-DD05-DA89-5308-75E3059E3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91281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58675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48822"/>
              </p:ext>
            </p:extLst>
          </p:nvPr>
        </p:nvGraphicFramePr>
        <p:xfrm>
          <a:off x="452291" y="81503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3151547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계약번호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scwin.btn_ctrtNoSrch_onclick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계약번호조회 팝업창을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견적통보서상세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UI-EX-02-M77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50527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6791A0A1-FC99-8362-722B-7163A15A8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34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86148" y="150025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399805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MUI-EX-02-T73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4671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800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2157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21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2156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215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06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43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80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1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25371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4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39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86148" y="150025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667365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품목수</a:t>
            </a:r>
            <a:r>
              <a:rPr lang="ko-KR" altLang="en-US" dirty="0" smtClean="0"/>
              <a:t> 데이터 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견적통보서품목데이터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78259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45237"/>
            <a:ext cx="2630093" cy="666849"/>
            <a:chOff x="3865118" y="2946203"/>
            <a:chExt cx="2630093" cy="66684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6668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변경 </a:t>
              </a: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2690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89771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905987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납품가능일자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MISSING </a:t>
                </a:r>
                <a:r>
                  <a:rPr lang="ko-KR" altLang="en-US" sz="700" dirty="0">
                    <a:latin typeface="+mn-ea"/>
                  </a:rPr>
                  <a:t>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비고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2025-05-01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endPara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AFLC IM : IG(6</a:t>
                </a:r>
                <a:r>
                  <a:rPr lang="ko-KR" altLang="en-US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급 홍길동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)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627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8"/>
            <a:ext cx="2630093" cy="3016211"/>
            <a:chOff x="3865118" y="2946203"/>
            <a:chExt cx="2630093" cy="3016211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3"/>
              <a:ext cx="792000" cy="29994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MISSING </a:t>
              </a: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21" y="293733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5" name="그룹 94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96" name="타원 95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7" name="그룹 96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8" name="타원 97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9" name="그룹 98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00" name="직선 연결선 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4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0897330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31519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42722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77358683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56933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7354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3915517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납품가능일자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540FFE-2400-F72E-FEF3-C0213792E88D}"/>
              </a:ext>
            </a:extLst>
          </p:cNvPr>
          <p:cNvSpPr txBox="1"/>
          <p:nvPr/>
        </p:nvSpPr>
        <p:spPr>
          <a:xfrm>
            <a:off x="458117" y="570805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F88B6F33-3B59-4E72-BA0A-6E61393E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5248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830447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0470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4627006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6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estmtChgSeCd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B4853B-77A9-063D-FD79-4874F64197E8}"/>
              </a:ext>
            </a:extLst>
          </p:cNvPr>
          <p:cNvSpPr txBox="1"/>
          <p:nvPr/>
        </p:nvSpPr>
        <p:spPr>
          <a:xfrm>
            <a:off x="449462" y="2346846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774463-17E5-59BA-C57D-82FEFFD58F5A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256346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92632093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작성품목수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chgItemCnt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ko-KR" altLang="en-US" sz="800" dirty="0" err="1">
                          <a:latin typeface="+mn-ea"/>
                        </a:rPr>
                        <a:t>총금액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5E5C85-FD4B-87B2-89FB-EFADA1BC3AFF}"/>
              </a:ext>
            </a:extLst>
          </p:cNvPr>
          <p:cNvSpPr txBox="1"/>
          <p:nvPr/>
        </p:nvSpPr>
        <p:spPr>
          <a:xfrm>
            <a:off x="458117" y="576901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7CFAF236-CC1E-CBBA-7EA4-443CFC13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6985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A18B3F-D143-C88D-B9A9-71068F2A7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9EDC-0ED7-3553-9AB2-299F5F45A058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4E6FDD-3643-671D-43FC-9D1C9000A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82061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UI-EX-02-R86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9699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94BB505-861D-7349-B600-49B8BD8C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8657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78516" y="2279604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3-2</a:t>
            </a:r>
            <a:endParaRPr lang="ko-KR" altLang="en-US" sz="600" b="1" dirty="0"/>
          </a:p>
        </p:txBody>
      </p:sp>
      <p:sp>
        <p:nvSpPr>
          <p:cNvPr id="9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</a:t>
            </a:r>
            <a:r>
              <a:rPr lang="ko-KR" altLang="en-US" dirty="0" smtClean="0"/>
              <a:t>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정확히 입력해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7071987" y="6052457"/>
            <a:ext cx="2319141" cy="2581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 err="1" smtClean="0"/>
              <a:t>frome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통보서상태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99399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발주번호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491839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042" y="23126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05600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1143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화폐단위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미 달러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7371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4110" y="31956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50214" y="57885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/>
              <a:t> </a:t>
            </a:r>
            <a:r>
              <a:rPr lang="ko-KR" altLang="en-US" dirty="0" smtClean="0"/>
              <a:t>해당 목록에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2-1]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미작성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9660" y="2226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06316" y="33645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1070" y="35577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2-3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2886866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발주의뢰서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MUI-EX-02-P81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0601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발주의뢰서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168725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1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413314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6007"/>
              </p:ext>
            </p:extLst>
          </p:nvPr>
        </p:nvGraphicFramePr>
        <p:xfrm>
          <a:off x="452291" y="4361426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1023524960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발주의뢰서상세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UI-EX-02-M80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7619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2081243"/>
            <a:ext cx="262468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55722"/>
              </p:ext>
            </p:extLst>
          </p:nvPr>
        </p:nvGraphicFramePr>
        <p:xfrm>
          <a:off x="455558" y="229244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836786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dudtYmd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ntdcStts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21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24788-20B5-1038-4512-AA9F9D45169D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BE2E44-CE92-75DD-1730-97CE577E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818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발주의뢰서상세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62389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1-1] </a:t>
            </a:r>
            <a:r>
              <a:rPr lang="ko-KR" altLang="en-US" dirty="0"/>
              <a:t>레이블이 화면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1-2] </a:t>
            </a:r>
            <a:r>
              <a:rPr lang="ko-KR" altLang="en-US" dirty="0"/>
              <a:t>문서 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상세정보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물품목록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화면을 </a:t>
            </a:r>
            <a:r>
              <a:rPr lang="ko-KR" altLang="en-US" dirty="0" err="1"/>
              <a:t>넘치는경우</a:t>
            </a:r>
            <a:r>
              <a:rPr lang="ko-KR" altLang="en-US" dirty="0"/>
              <a:t> 드래그하여 확인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 상세 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기본값은 상단 이동 버튼</a:t>
            </a:r>
            <a:endParaRPr lang="en-US" altLang="ko-KR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9458" y="48203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663725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11585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56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91292" y="5963807"/>
            <a:ext cx="2287397" cy="242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7992522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물품 </a:t>
            </a:r>
            <a:r>
              <a:rPr lang="ko-KR" altLang="en-US" dirty="0"/>
              <a:t>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54884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21861"/>
            <a:ext cx="2630093" cy="3662543"/>
            <a:chOff x="3865118" y="2946202"/>
            <a:chExt cx="2630093" cy="366254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2"/>
              <a:ext cx="792000" cy="3660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하자보증</a:t>
              </a:r>
              <a:r>
                <a:rPr lang="ko-KR" altLang="en-US" sz="700" dirty="0">
                  <a:latin typeface="+mn-ea"/>
                </a:rPr>
                <a:t> 유무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W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72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506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567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704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841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6075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35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1915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" name="그룹 52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54" name="타원 5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5" name="그룹 5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타원 5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58" name="직선 연결선 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타원 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4312978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501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48342"/>
              </p:ext>
            </p:extLst>
          </p:nvPr>
        </p:nvGraphicFramePr>
        <p:xfrm>
          <a:off x="455558" y="1108000"/>
          <a:ext cx="8994883" cy="290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9510346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신용장번호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lcNo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신용장번호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2403028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orderClmNo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청구번호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CA2773-291A-19B7-A65A-DF8C1BC71574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0570B5D5-1017-6AB3-E03A-8DC4E3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83334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41699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5831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2848911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필수여부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19E31C-2FDE-08F4-520A-F1BA3FF8AC3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F2EC95A-5A84-AF72-3864-F745DCE2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82447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176E2-B3F1-8A10-4975-9EAFB535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4B1C8-80A0-2A21-E2D6-F082A20592E4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7236D2-C531-C445-3790-00FDF6F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13164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발주의뢰서출력물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UI-EX-02-R87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228E10E-5D1D-7B44-A1BC-AD5D1054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3492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11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16122" y="1483462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“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검색하여 조회해 주세요</a:t>
            </a:r>
            <a:r>
              <a:rPr lang="en-US" altLang="ko-KR" dirty="0" smtClean="0"/>
              <a:t>“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정확히 입력해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24" name="직사각형 123"/>
          <p:cNvSpPr/>
          <p:nvPr/>
        </p:nvSpPr>
        <p:spPr>
          <a:xfrm>
            <a:off x="7066669" y="5986847"/>
            <a:ext cx="2324460" cy="3396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유효일자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무역대리점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885029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4494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06712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17116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28758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49738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발주통보서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20182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4-1]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77771" y="59488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035322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18568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3198629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448227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79325"/>
              </p:ext>
            </p:extLst>
          </p:nvPr>
        </p:nvGraphicFramePr>
        <p:xfrm>
          <a:off x="455558" y="365943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840203791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orderSeq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vldYmd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bzentyCd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1107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231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7763422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CAD3C8-5A1E-77CB-E6FB-DBE0E1FEA2E4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1D17EA86-8CD2-2112-B4CD-897EC68D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8153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8429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82291"/>
              </p:ext>
            </p:extLst>
          </p:nvPr>
        </p:nvGraphicFramePr>
        <p:xfrm>
          <a:off x="452291" y="912570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9274496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목록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4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203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5921939B-CCFC-7195-120A-D0BB70A0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20583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발주통보서상세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22583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3778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41845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46026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5458" y="24604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5458" y="27023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0823" y="25274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2" name="텍스트 개체 틀 4"/>
          <p:cNvSpPr txBox="1">
            <a:spLocks/>
          </p:cNvSpPr>
          <p:nvPr/>
        </p:nvSpPr>
        <p:spPr>
          <a:xfrm>
            <a:off x="706889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994" y="48320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6631410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2689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5419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9600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2" name="텍스트 개체 틀 4"/>
          <p:cNvSpPr txBox="1">
            <a:spLocks/>
          </p:cNvSpPr>
          <p:nvPr/>
        </p:nvSpPr>
        <p:spPr>
          <a:xfrm>
            <a:off x="706889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66335" y="5992323"/>
            <a:ext cx="2324794" cy="25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발주번호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하자보증유무</a:t>
            </a:r>
            <a:r>
              <a:rPr lang="en-US" altLang="ko-KR" sz="500" dirty="0" smtClean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374662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36217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03195"/>
            <a:ext cx="2630093" cy="1087280"/>
            <a:chOff x="3865118" y="2946203"/>
            <a:chExt cx="2630093" cy="1087280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수락품목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거부품목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 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1977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33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8486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5574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3269519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4" y="2946204"/>
                <a:ext cx="715881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청구번호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우선순위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err="1">
                    <a:latin typeface="+mn-ea"/>
                  </a:rPr>
                  <a:t>PriceList</a:t>
                </a:r>
                <a:r>
                  <a:rPr lang="en-US" altLang="ko-KR" sz="700" dirty="0">
                    <a:latin typeface="+mn-ea"/>
                  </a:rPr>
                  <a:t> </a:t>
                </a:r>
                <a:r>
                  <a:rPr lang="ko-KR" altLang="en-US" sz="700" dirty="0" err="1">
                    <a:latin typeface="+mn-ea"/>
                  </a:rPr>
                  <a:t>적용년도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KD111000001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ROU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298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7"/>
            <a:ext cx="2630093" cy="3447100"/>
            <a:chOff x="3865118" y="2946202"/>
            <a:chExt cx="2630093" cy="3447100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2"/>
              <a:ext cx="792000" cy="3417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729934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수락여부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수락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83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38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8" name="그룹 97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99" name="타원 98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0" name="그룹 99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1" name="타원 100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2" name="그룹 101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5419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4094224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561892"/>
              </p:ext>
            </p:extLst>
          </p:nvPr>
        </p:nvGraphicFramePr>
        <p:xfrm>
          <a:off x="455558" y="1108000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494516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계약번호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유효일자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사업명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군담당자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무역대리점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2578951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FD3310-381B-C4C2-9BA0-63548DC395D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910AE220-4A38-A146-1540-B5150A28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5969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18839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545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7182689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4DD6-163E-4927-19F6-7FD68A853F05}"/>
              </a:ext>
            </a:extLst>
          </p:cNvPr>
          <p:cNvSpPr txBox="1"/>
          <p:nvPr/>
        </p:nvSpPr>
        <p:spPr>
          <a:xfrm>
            <a:off x="449462" y="3040247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34117D-FD60-A747-5571-D9B5B3D877F1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32568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36870763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발주품목수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수락품목수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거부품목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rjtItemCnt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거부품목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수락금액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93E30-7A8D-CBC4-E413-05F3E468868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B85DE731-3AC1-F719-6910-09E0E135D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8729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28E51B-26C0-C10E-47E7-1C935F6C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A2ED-2D93-8941-BBD8-93B38E7B3455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BB6FA0-53AC-6096-D82C-DD9F4C7EC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19264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UI-EX-02-R88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080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67FF8F2-87CF-A6B6-1C9B-8B954374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1910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</a:t>
            </a:r>
            <a:r>
              <a:rPr lang="ko-KR" altLang="en-US" dirty="0" smtClean="0"/>
              <a:t>검색조건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당해 년도부터 과거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년까지 조회 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</a:t>
            </a:r>
            <a:r>
              <a:rPr lang="ko-KR" altLang="en-US" dirty="0" smtClean="0"/>
              <a:t>항에 선택한 계약 연도와 </a:t>
            </a:r>
            <a:r>
              <a:rPr lang="en-US" altLang="ko-KR" dirty="0" smtClean="0"/>
              <a:t>And </a:t>
            </a:r>
            <a:r>
              <a:rPr lang="ko-KR" altLang="en-US" dirty="0" smtClean="0"/>
              <a:t>조건으로 검색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클릭 이벤트 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바텀시트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결과 목록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- 4-1] </a:t>
            </a:r>
            <a:r>
              <a:rPr lang="ko-KR" altLang="en-US" dirty="0" err="1" smtClean="0"/>
              <a:t>결과항목</a:t>
            </a:r>
            <a:r>
              <a:rPr lang="ko-KR" altLang="en-US" dirty="0" smtClean="0"/>
              <a:t> 선택 후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선택시</a:t>
            </a:r>
            <a:r>
              <a:rPr lang="ko-KR" altLang="en-US" dirty="0" smtClean="0"/>
              <a:t> 화면에 결과값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9" name="양쪽 모서리가 둥근 사각형 118"/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133" name="직선 연결선 13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계약연도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82" name="직선 연결선 8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880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74" y="4136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68241" y="339527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7842587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선택시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하일라이트</a:t>
            </a:r>
            <a:r>
              <a:rPr lang="ko-KR" altLang="en-US" dirty="0" smtClean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 클릭 시 선택한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반환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7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675399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6366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0642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048948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711215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08965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711215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711215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711215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2662242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056407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0905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3" name="그룹 112"/>
          <p:cNvGrpSpPr/>
          <p:nvPr/>
        </p:nvGrpSpPr>
        <p:grpSpPr>
          <a:xfrm rot="5400000">
            <a:off x="3875348" y="1640499"/>
            <a:ext cx="94010" cy="47005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타원 115"/>
          <p:cNvSpPr/>
          <p:nvPr/>
        </p:nvSpPr>
        <p:spPr>
          <a:xfrm>
            <a:off x="6164872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40149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3904021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/>
          <p:cNvGrpSpPr/>
          <p:nvPr/>
        </p:nvGrpSpPr>
        <p:grpSpPr>
          <a:xfrm>
            <a:off x="6263883" y="2016004"/>
            <a:ext cx="94010" cy="47005"/>
            <a:chOff x="6812560" y="3297172"/>
            <a:chExt cx="94010" cy="47005"/>
          </a:xfrm>
        </p:grpSpPr>
        <p:cxnSp>
          <p:nvCxnSpPr>
            <p:cNvPr id="121" name="직선 연결선 12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7" name="그룹 136"/>
          <p:cNvGrpSpPr/>
          <p:nvPr/>
        </p:nvGrpSpPr>
        <p:grpSpPr>
          <a:xfrm>
            <a:off x="3888037" y="2274581"/>
            <a:ext cx="2527420" cy="473693"/>
            <a:chOff x="786326" y="2274581"/>
            <a:chExt cx="2527420" cy="473693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KD000000001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43" name="타원 142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</a:rPr>
                <a:t>V</a:t>
              </a:r>
              <a:endParaRPr lang="ko-KR" altLang="en-US" sz="600" dirty="0">
                <a:solidFill>
                  <a:srgbClr val="0070C0"/>
                </a:solidFill>
              </a:endParaRPr>
            </a:p>
          </p:txBody>
        </p:sp>
        <p:sp>
          <p:nvSpPr>
            <p:cNvPr id="144" name="타원 14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5" name="그룹 14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6" name="직선 연결선 14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8" name="TextBox 147"/>
          <p:cNvSpPr txBox="1"/>
          <p:nvPr/>
        </p:nvSpPr>
        <p:spPr>
          <a:xfrm flipH="1">
            <a:off x="6120673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4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648280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5" name="꺾인 연결선 4"/>
          <p:cNvCxnSpPr>
            <a:endCxn id="138" idx="2"/>
          </p:cNvCxnSpPr>
          <p:nvPr/>
        </p:nvCxnSpPr>
        <p:spPr>
          <a:xfrm flipV="1">
            <a:off x="3318301" y="2748274"/>
            <a:ext cx="1833446" cy="915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7098115" y="5890166"/>
            <a:ext cx="2280575" cy="342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/>
              <a:t>검색 </a:t>
            </a:r>
            <a:r>
              <a:rPr lang="ko-KR" altLang="en-US" sz="500" dirty="0" err="1"/>
              <a:t>기준값이</a:t>
            </a:r>
            <a:r>
              <a:rPr lang="ko-KR" altLang="en-US" sz="500" dirty="0"/>
              <a:t> 계약번호인데</a:t>
            </a:r>
            <a:r>
              <a:rPr lang="en-US" altLang="ko-KR" sz="500" dirty="0"/>
              <a:t>,</a:t>
            </a:r>
            <a:br>
              <a:rPr lang="en-US" altLang="ko-KR" sz="500" dirty="0"/>
            </a:br>
            <a:r>
              <a:rPr lang="ko-KR" altLang="en-US" sz="500" dirty="0"/>
              <a:t>결과값에는 </a:t>
            </a:r>
            <a:r>
              <a:rPr lang="ko-KR" altLang="en-US" sz="500" dirty="0" err="1"/>
              <a:t>계약번호가</a:t>
            </a:r>
            <a:r>
              <a:rPr lang="ko-KR" altLang="en-US" sz="500" dirty="0"/>
              <a:t> </a:t>
            </a:r>
            <a:r>
              <a:rPr lang="ko-KR" altLang="en-US" sz="500" dirty="0" err="1"/>
              <a:t>노출되지않음</a:t>
            </a:r>
            <a:r>
              <a:rPr lang="en-US" altLang="ko-KR" sz="500" dirty="0"/>
              <a:t>. </a:t>
            </a:r>
            <a:br>
              <a:rPr lang="en-US" altLang="ko-KR" sz="500" dirty="0"/>
            </a:br>
            <a:r>
              <a:rPr lang="ko-KR" altLang="en-US" sz="500" dirty="0"/>
              <a:t>해당 화면 </a:t>
            </a:r>
            <a:r>
              <a:rPr lang="ko-KR" altLang="en-US" sz="500" dirty="0" err="1"/>
              <a:t>검토필요</a:t>
            </a:r>
            <a:r>
              <a:rPr lang="en-US" altLang="ko-KR" sz="500" dirty="0"/>
              <a:t>(PC</a:t>
            </a:r>
            <a:r>
              <a:rPr lang="ko-KR" altLang="en-US" sz="500" dirty="0"/>
              <a:t>도 같은 상황</a:t>
            </a:r>
            <a:r>
              <a:rPr lang="en-US" altLang="ko-KR" sz="500" dirty="0"/>
              <a:t>)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35589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58350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6595537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07058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8261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711064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99060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/>
        </p:nvGraphicFramePr>
        <p:xfrm>
          <a:off x="452291" y="421888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760269521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현재연도로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확인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scwin.btn_confirm_onclick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그리드에 선택한 정보를 전달한다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6483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3465"/>
            <a:ext cx="24339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dl_resultList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13466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09871187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crncCd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화폐구분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ctrtBzentyCd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prcmPicNm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C81FA0-031D-901B-C2AD-4D01B4EC8917}"/>
              </a:ext>
            </a:extLst>
          </p:cNvPr>
          <p:cNvSpPr txBox="1"/>
          <p:nvPr/>
        </p:nvSpPr>
        <p:spPr>
          <a:xfrm>
            <a:off x="458117" y="576901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A8636BB8-3BC7-B066-A8CD-59D14853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00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16030</TotalTime>
  <Words>10482</Words>
  <Application>Microsoft Office PowerPoint</Application>
  <PresentationFormat>A4 용지(210x297mm)</PresentationFormat>
  <Paragraphs>5590</Paragraphs>
  <Slides>86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4" baseType="lpstr">
      <vt:lpstr>Pretendard Medium</vt:lpstr>
      <vt:lpstr>맑은 고딕</vt:lpstr>
      <vt:lpstr>맑은 고딕 (본문)</vt:lpstr>
      <vt:lpstr>Arial</vt:lpstr>
      <vt:lpstr>Segoe UI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911</cp:revision>
  <cp:lastPrinted>2016-10-27T08:57:39Z</cp:lastPrinted>
  <dcterms:created xsi:type="dcterms:W3CDTF">2016-10-27T07:41:55Z</dcterms:created>
  <dcterms:modified xsi:type="dcterms:W3CDTF">2026-08-04T10:43:31Z</dcterms:modified>
  <cp:category>서브시스템/업무명</cp:category>
  <cp:contentStatus>0.1</cp:contentStatus>
</cp:coreProperties>
</file>