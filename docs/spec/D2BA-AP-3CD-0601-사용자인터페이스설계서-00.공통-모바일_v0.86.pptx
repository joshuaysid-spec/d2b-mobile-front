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88"/>
  </p:notesMasterIdLst>
  <p:handoutMasterIdLst>
    <p:handoutMasterId r:id="rId389"/>
  </p:handoutMasterIdLst>
  <p:sldIdLst>
    <p:sldId id="256" r:id="rId2"/>
    <p:sldId id="300" r:id="rId3"/>
    <p:sldId id="502" r:id="rId4"/>
    <p:sldId id="295" r:id="rId5"/>
    <p:sldId id="741" r:id="rId6"/>
    <p:sldId id="742" r:id="rId7"/>
    <p:sldId id="294" r:id="rId8"/>
    <p:sldId id="745" r:id="rId9"/>
    <p:sldId id="281" r:id="rId10"/>
    <p:sldId id="265" r:id="rId11"/>
    <p:sldId id="304" r:id="rId12"/>
    <p:sldId id="287" r:id="rId13"/>
    <p:sldId id="270" r:id="rId14"/>
    <p:sldId id="757" r:id="rId15"/>
    <p:sldId id="743" r:id="rId16"/>
    <p:sldId id="758" r:id="rId17"/>
    <p:sldId id="273" r:id="rId18"/>
    <p:sldId id="275" r:id="rId19"/>
    <p:sldId id="276" r:id="rId20"/>
    <p:sldId id="277" r:id="rId21"/>
    <p:sldId id="279" r:id="rId22"/>
    <p:sldId id="744" r:id="rId23"/>
    <p:sldId id="301" r:id="rId24"/>
    <p:sldId id="503" r:id="rId25"/>
    <p:sldId id="284" r:id="rId26"/>
    <p:sldId id="288" r:id="rId27"/>
    <p:sldId id="289" r:id="rId28"/>
    <p:sldId id="290" r:id="rId29"/>
    <p:sldId id="308" r:id="rId30"/>
    <p:sldId id="309" r:id="rId31"/>
    <p:sldId id="310" r:id="rId32"/>
    <p:sldId id="724" r:id="rId33"/>
    <p:sldId id="780" r:id="rId34"/>
    <p:sldId id="386" r:id="rId35"/>
    <p:sldId id="782" r:id="rId36"/>
    <p:sldId id="313" r:id="rId37"/>
    <p:sldId id="783" r:id="rId38"/>
    <p:sldId id="779" r:id="rId39"/>
    <p:sldId id="420" r:id="rId40"/>
    <p:sldId id="311" r:id="rId41"/>
    <p:sldId id="777" r:id="rId42"/>
    <p:sldId id="778" r:id="rId43"/>
    <p:sldId id="314" r:id="rId44"/>
    <p:sldId id="715" r:id="rId45"/>
    <p:sldId id="317" r:id="rId46"/>
    <p:sldId id="322" r:id="rId47"/>
    <p:sldId id="716" r:id="rId48"/>
    <p:sldId id="781" r:id="rId49"/>
    <p:sldId id="318" r:id="rId50"/>
    <p:sldId id="323" r:id="rId51"/>
    <p:sldId id="717" r:id="rId52"/>
    <p:sldId id="324" r:id="rId53"/>
    <p:sldId id="718" r:id="rId54"/>
    <p:sldId id="319" r:id="rId55"/>
    <p:sldId id="315" r:id="rId56"/>
    <p:sldId id="316" r:id="rId57"/>
    <p:sldId id="321" r:id="rId58"/>
    <p:sldId id="320" r:id="rId59"/>
    <p:sldId id="326" r:id="rId60"/>
    <p:sldId id="325" r:id="rId61"/>
    <p:sldId id="759" r:id="rId62"/>
    <p:sldId id="327" r:id="rId63"/>
    <p:sldId id="328" r:id="rId64"/>
    <p:sldId id="330" r:id="rId65"/>
    <p:sldId id="329" r:id="rId66"/>
    <p:sldId id="331" r:id="rId67"/>
    <p:sldId id="746" r:id="rId68"/>
    <p:sldId id="374" r:id="rId69"/>
    <p:sldId id="375" r:id="rId70"/>
    <p:sldId id="760" r:id="rId71"/>
    <p:sldId id="332" r:id="rId72"/>
    <p:sldId id="788" r:id="rId73"/>
    <p:sldId id="371" r:id="rId74"/>
    <p:sldId id="789" r:id="rId75"/>
    <p:sldId id="747" r:id="rId76"/>
    <p:sldId id="762" r:id="rId77"/>
    <p:sldId id="748" r:id="rId78"/>
    <p:sldId id="761" r:id="rId79"/>
    <p:sldId id="749" r:id="rId80"/>
    <p:sldId id="378" r:id="rId81"/>
    <p:sldId id="379" r:id="rId82"/>
    <p:sldId id="725" r:id="rId83"/>
    <p:sldId id="380" r:id="rId84"/>
    <p:sldId id="381" r:id="rId85"/>
    <p:sldId id="382" r:id="rId86"/>
    <p:sldId id="383" r:id="rId87"/>
    <p:sldId id="726" r:id="rId88"/>
    <p:sldId id="727" r:id="rId89"/>
    <p:sldId id="384" r:id="rId90"/>
    <p:sldId id="728" r:id="rId91"/>
    <p:sldId id="385" r:id="rId92"/>
    <p:sldId id="400" r:id="rId93"/>
    <p:sldId id="401" r:id="rId94"/>
    <p:sldId id="729" r:id="rId95"/>
    <p:sldId id="402" r:id="rId96"/>
    <p:sldId id="504" r:id="rId97"/>
    <p:sldId id="403" r:id="rId98"/>
    <p:sldId id="770" r:id="rId99"/>
    <p:sldId id="404" r:id="rId100"/>
    <p:sldId id="771" r:id="rId101"/>
    <p:sldId id="730" r:id="rId102"/>
    <p:sldId id="731" r:id="rId103"/>
    <p:sldId id="732" r:id="rId104"/>
    <p:sldId id="733" r:id="rId105"/>
    <p:sldId id="734" r:id="rId106"/>
    <p:sldId id="735" r:id="rId107"/>
    <p:sldId id="736" r:id="rId108"/>
    <p:sldId id="405" r:id="rId109"/>
    <p:sldId id="737" r:id="rId110"/>
    <p:sldId id="406" r:id="rId111"/>
    <p:sldId id="738" r:id="rId112"/>
    <p:sldId id="626" r:id="rId113"/>
    <p:sldId id="407" r:id="rId114"/>
    <p:sldId id="408" r:id="rId115"/>
    <p:sldId id="739" r:id="rId116"/>
    <p:sldId id="409" r:id="rId117"/>
    <p:sldId id="740" r:id="rId118"/>
    <p:sldId id="410" r:id="rId119"/>
    <p:sldId id="577" r:id="rId120"/>
    <p:sldId id="411" r:id="rId121"/>
    <p:sldId id="772" r:id="rId122"/>
    <p:sldId id="412" r:id="rId123"/>
    <p:sldId id="505" r:id="rId124"/>
    <p:sldId id="506" r:id="rId125"/>
    <p:sldId id="507" r:id="rId126"/>
    <p:sldId id="508" r:id="rId127"/>
    <p:sldId id="413" r:id="rId128"/>
    <p:sldId id="719" r:id="rId129"/>
    <p:sldId id="414" r:id="rId130"/>
    <p:sldId id="509" r:id="rId131"/>
    <p:sldId id="510" r:id="rId132"/>
    <p:sldId id="511" r:id="rId133"/>
    <p:sldId id="512" r:id="rId134"/>
    <p:sldId id="513" r:id="rId135"/>
    <p:sldId id="514" r:id="rId136"/>
    <p:sldId id="515" r:id="rId137"/>
    <p:sldId id="516" r:id="rId138"/>
    <p:sldId id="415" r:id="rId139"/>
    <p:sldId id="518" r:id="rId140"/>
    <p:sldId id="519" r:id="rId141"/>
    <p:sldId id="517" r:id="rId142"/>
    <p:sldId id="521" r:id="rId143"/>
    <p:sldId id="773" r:id="rId144"/>
    <p:sldId id="524" r:id="rId145"/>
    <p:sldId id="522" r:id="rId146"/>
    <p:sldId id="525" r:id="rId147"/>
    <p:sldId id="526" r:id="rId148"/>
    <p:sldId id="720" r:id="rId149"/>
    <p:sldId id="528" r:id="rId150"/>
    <p:sldId id="529" r:id="rId151"/>
    <p:sldId id="530" r:id="rId152"/>
    <p:sldId id="531" r:id="rId153"/>
    <p:sldId id="532" r:id="rId154"/>
    <p:sldId id="541" r:id="rId155"/>
    <p:sldId id="756" r:id="rId156"/>
    <p:sldId id="536" r:id="rId157"/>
    <p:sldId id="537" r:id="rId158"/>
    <p:sldId id="538" r:id="rId159"/>
    <p:sldId id="539" r:id="rId160"/>
    <p:sldId id="540" r:id="rId161"/>
    <p:sldId id="533" r:id="rId162"/>
    <p:sldId id="535" r:id="rId163"/>
    <p:sldId id="542" r:id="rId164"/>
    <p:sldId id="543" r:id="rId165"/>
    <p:sldId id="544" r:id="rId166"/>
    <p:sldId id="545" r:id="rId167"/>
    <p:sldId id="546" r:id="rId168"/>
    <p:sldId id="547" r:id="rId169"/>
    <p:sldId id="548" r:id="rId170"/>
    <p:sldId id="549" r:id="rId171"/>
    <p:sldId id="550" r:id="rId172"/>
    <p:sldId id="551" r:id="rId173"/>
    <p:sldId id="552" r:id="rId174"/>
    <p:sldId id="553" r:id="rId175"/>
    <p:sldId id="556" r:id="rId176"/>
    <p:sldId id="557" r:id="rId177"/>
    <p:sldId id="560" r:id="rId178"/>
    <p:sldId id="558" r:id="rId179"/>
    <p:sldId id="559" r:id="rId180"/>
    <p:sldId id="555" r:id="rId181"/>
    <p:sldId id="554" r:id="rId182"/>
    <p:sldId id="561" r:id="rId183"/>
    <p:sldId id="562" r:id="rId184"/>
    <p:sldId id="563" r:id="rId185"/>
    <p:sldId id="564" r:id="rId186"/>
    <p:sldId id="565" r:id="rId187"/>
    <p:sldId id="566" r:id="rId188"/>
    <p:sldId id="569" r:id="rId189"/>
    <p:sldId id="567" r:id="rId190"/>
    <p:sldId id="568" r:id="rId191"/>
    <p:sldId id="570" r:id="rId192"/>
    <p:sldId id="571" r:id="rId193"/>
    <p:sldId id="572" r:id="rId194"/>
    <p:sldId id="722" r:id="rId195"/>
    <p:sldId id="574" r:id="rId196"/>
    <p:sldId id="578" r:id="rId197"/>
    <p:sldId id="575" r:id="rId198"/>
    <p:sldId id="576" r:id="rId199"/>
    <p:sldId id="590" r:id="rId200"/>
    <p:sldId id="591" r:id="rId201"/>
    <p:sldId id="592" r:id="rId202"/>
    <p:sldId id="588" r:id="rId203"/>
    <p:sldId id="589" r:id="rId204"/>
    <p:sldId id="593" r:id="rId205"/>
    <p:sldId id="595" r:id="rId206"/>
    <p:sldId id="596" r:id="rId207"/>
    <p:sldId id="594" r:id="rId208"/>
    <p:sldId id="579" r:id="rId209"/>
    <p:sldId id="583" r:id="rId210"/>
    <p:sldId id="580" r:id="rId211"/>
    <p:sldId id="582" r:id="rId212"/>
    <p:sldId id="584" r:id="rId213"/>
    <p:sldId id="587" r:id="rId214"/>
    <p:sldId id="586" r:id="rId215"/>
    <p:sldId id="585" r:id="rId216"/>
    <p:sldId id="337" r:id="rId217"/>
    <p:sldId id="763" r:id="rId218"/>
    <p:sldId id="764" r:id="rId219"/>
    <p:sldId id="765" r:id="rId220"/>
    <p:sldId id="338" r:id="rId221"/>
    <p:sldId id="790" r:id="rId222"/>
    <p:sldId id="766" r:id="rId223"/>
    <p:sldId id="750" r:id="rId224"/>
    <p:sldId id="767" r:id="rId225"/>
    <p:sldId id="768" r:id="rId226"/>
    <p:sldId id="388" r:id="rId227"/>
    <p:sldId id="611" r:id="rId228"/>
    <p:sldId id="612" r:id="rId229"/>
    <p:sldId id="613" r:id="rId230"/>
    <p:sldId id="614" r:id="rId231"/>
    <p:sldId id="615" r:id="rId232"/>
    <p:sldId id="616" r:id="rId233"/>
    <p:sldId id="617" r:id="rId234"/>
    <p:sldId id="389" r:id="rId235"/>
    <p:sldId id="618" r:id="rId236"/>
    <p:sldId id="619" r:id="rId237"/>
    <p:sldId id="620" r:id="rId238"/>
    <p:sldId id="621" r:id="rId239"/>
    <p:sldId id="622" r:id="rId240"/>
    <p:sldId id="623" r:id="rId241"/>
    <p:sldId id="624" r:id="rId242"/>
    <p:sldId id="390" r:id="rId243"/>
    <p:sldId id="627" r:id="rId244"/>
    <p:sldId id="774" r:id="rId245"/>
    <p:sldId id="392" r:id="rId246"/>
    <p:sldId id="393" r:id="rId247"/>
    <p:sldId id="787" r:id="rId248"/>
    <p:sldId id="628" r:id="rId249"/>
    <p:sldId id="629" r:id="rId250"/>
    <p:sldId id="394" r:id="rId251"/>
    <p:sldId id="775" r:id="rId252"/>
    <p:sldId id="630" r:id="rId253"/>
    <p:sldId id="631" r:id="rId254"/>
    <p:sldId id="632" r:id="rId255"/>
    <p:sldId id="633" r:id="rId256"/>
    <p:sldId id="634" r:id="rId257"/>
    <p:sldId id="635" r:id="rId258"/>
    <p:sldId id="636" r:id="rId259"/>
    <p:sldId id="637" r:id="rId260"/>
    <p:sldId id="638" r:id="rId261"/>
    <p:sldId id="639" r:id="rId262"/>
    <p:sldId id="640" r:id="rId263"/>
    <p:sldId id="641" r:id="rId264"/>
    <p:sldId id="642" r:id="rId265"/>
    <p:sldId id="643" r:id="rId266"/>
    <p:sldId id="644" r:id="rId267"/>
    <p:sldId id="645" r:id="rId268"/>
    <p:sldId id="646" r:id="rId269"/>
    <p:sldId id="647" r:id="rId270"/>
    <p:sldId id="668" r:id="rId271"/>
    <p:sldId id="669" r:id="rId272"/>
    <p:sldId id="670" r:id="rId273"/>
    <p:sldId id="648" r:id="rId274"/>
    <p:sldId id="649" r:id="rId275"/>
    <p:sldId id="650" r:id="rId276"/>
    <p:sldId id="723" r:id="rId277"/>
    <p:sldId id="652" r:id="rId278"/>
    <p:sldId id="653" r:id="rId279"/>
    <p:sldId id="654" r:id="rId280"/>
    <p:sldId id="655" r:id="rId281"/>
    <p:sldId id="656" r:id="rId282"/>
    <p:sldId id="657" r:id="rId283"/>
    <p:sldId id="658" r:id="rId284"/>
    <p:sldId id="659" r:id="rId285"/>
    <p:sldId id="660" r:id="rId286"/>
    <p:sldId id="661" r:id="rId287"/>
    <p:sldId id="662" r:id="rId288"/>
    <p:sldId id="663" r:id="rId289"/>
    <p:sldId id="664" r:id="rId290"/>
    <p:sldId id="665" r:id="rId291"/>
    <p:sldId id="666" r:id="rId292"/>
    <p:sldId id="667" r:id="rId293"/>
    <p:sldId id="776" r:id="rId294"/>
    <p:sldId id="395" r:id="rId295"/>
    <p:sldId id="671" r:id="rId296"/>
    <p:sldId id="672" r:id="rId297"/>
    <p:sldId id="673" r:id="rId298"/>
    <p:sldId id="674" r:id="rId299"/>
    <p:sldId id="675" r:id="rId300"/>
    <p:sldId id="676" r:id="rId301"/>
    <p:sldId id="677" r:id="rId302"/>
    <p:sldId id="678" r:id="rId303"/>
    <p:sldId id="679" r:id="rId304"/>
    <p:sldId id="680" r:id="rId305"/>
    <p:sldId id="681" r:id="rId306"/>
    <p:sldId id="682" r:id="rId307"/>
    <p:sldId id="683" r:id="rId308"/>
    <p:sldId id="684" r:id="rId309"/>
    <p:sldId id="685" r:id="rId310"/>
    <p:sldId id="686" r:id="rId311"/>
    <p:sldId id="687" r:id="rId312"/>
    <p:sldId id="688" r:id="rId313"/>
    <p:sldId id="689" r:id="rId314"/>
    <p:sldId id="690" r:id="rId315"/>
    <p:sldId id="691" r:id="rId316"/>
    <p:sldId id="692" r:id="rId317"/>
    <p:sldId id="693" r:id="rId318"/>
    <p:sldId id="694" r:id="rId319"/>
    <p:sldId id="695" r:id="rId320"/>
    <p:sldId id="696" r:id="rId321"/>
    <p:sldId id="697" r:id="rId322"/>
    <p:sldId id="698" r:id="rId323"/>
    <p:sldId id="699" r:id="rId324"/>
    <p:sldId id="700" r:id="rId325"/>
    <p:sldId id="701" r:id="rId326"/>
    <p:sldId id="702" r:id="rId327"/>
    <p:sldId id="703" r:id="rId328"/>
    <p:sldId id="704" r:id="rId329"/>
    <p:sldId id="705" r:id="rId330"/>
    <p:sldId id="706" r:id="rId331"/>
    <p:sldId id="707" r:id="rId332"/>
    <p:sldId id="708" r:id="rId333"/>
    <p:sldId id="709" r:id="rId334"/>
    <p:sldId id="710" r:id="rId335"/>
    <p:sldId id="711" r:id="rId336"/>
    <p:sldId id="712" r:id="rId337"/>
    <p:sldId id="713" r:id="rId338"/>
    <p:sldId id="597" r:id="rId339"/>
    <p:sldId id="599" r:id="rId340"/>
    <p:sldId id="600" r:id="rId341"/>
    <p:sldId id="598" r:id="rId342"/>
    <p:sldId id="601" r:id="rId343"/>
    <p:sldId id="602" r:id="rId344"/>
    <p:sldId id="603" r:id="rId345"/>
    <p:sldId id="604" r:id="rId346"/>
    <p:sldId id="605" r:id="rId347"/>
    <p:sldId id="340" r:id="rId348"/>
    <p:sldId id="341" r:id="rId349"/>
    <p:sldId id="751" r:id="rId350"/>
    <p:sldId id="365" r:id="rId351"/>
    <p:sldId id="366" r:id="rId352"/>
    <p:sldId id="367" r:id="rId353"/>
    <p:sldId id="368" r:id="rId354"/>
    <p:sldId id="369" r:id="rId355"/>
    <p:sldId id="370" r:id="rId356"/>
    <p:sldId id="387" r:id="rId357"/>
    <p:sldId id="356" r:id="rId358"/>
    <p:sldId id="357" r:id="rId359"/>
    <p:sldId id="753" r:id="rId360"/>
    <p:sldId id="359" r:id="rId361"/>
    <p:sldId id="360" r:id="rId362"/>
    <p:sldId id="361" r:id="rId363"/>
    <p:sldId id="755" r:id="rId364"/>
    <p:sldId id="363" r:id="rId365"/>
    <p:sldId id="364" r:id="rId366"/>
    <p:sldId id="344" r:id="rId367"/>
    <p:sldId id="345" r:id="rId368"/>
    <p:sldId id="752" r:id="rId369"/>
    <p:sldId id="343" r:id="rId370"/>
    <p:sldId id="347" r:id="rId371"/>
    <p:sldId id="348" r:id="rId372"/>
    <p:sldId id="349" r:id="rId373"/>
    <p:sldId id="350" r:id="rId374"/>
    <p:sldId id="351" r:id="rId375"/>
    <p:sldId id="352" r:id="rId376"/>
    <p:sldId id="353" r:id="rId377"/>
    <p:sldId id="354" r:id="rId378"/>
    <p:sldId id="786" r:id="rId379"/>
    <p:sldId id="769" r:id="rId380"/>
    <p:sldId id="784" r:id="rId381"/>
    <p:sldId id="785" r:id="rId382"/>
    <p:sldId id="608" r:id="rId383"/>
    <p:sldId id="609" r:id="rId384"/>
    <p:sldId id="754" r:id="rId385"/>
    <p:sldId id="607" r:id="rId386"/>
    <p:sldId id="625" r:id="rId387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2DA4170-F762-425B-95F8-DAAFDEEB0953}">
          <p14:sldIdLst>
            <p14:sldId id="256"/>
            <p14:sldId id="300"/>
            <p14:sldId id="502"/>
            <p14:sldId id="295"/>
            <p14:sldId id="741"/>
            <p14:sldId id="742"/>
          </p14:sldIdLst>
        </p14:section>
        <p14:section name="01.앱실행, 로그인" id="{7E43C6AD-2135-422B-B2B2-E0906DF4CC1E}">
          <p14:sldIdLst>
            <p14:sldId id="294"/>
            <p14:sldId id="745"/>
            <p14:sldId id="281"/>
            <p14:sldId id="265"/>
            <p14:sldId id="304"/>
            <p14:sldId id="287"/>
            <p14:sldId id="270"/>
            <p14:sldId id="757"/>
            <p14:sldId id="743"/>
            <p14:sldId id="758"/>
            <p14:sldId id="273"/>
            <p14:sldId id="275"/>
            <p14:sldId id="276"/>
            <p14:sldId id="277"/>
            <p14:sldId id="279"/>
            <p14:sldId id="744"/>
            <p14:sldId id="301"/>
            <p14:sldId id="503"/>
            <p14:sldId id="284"/>
            <p14:sldId id="288"/>
            <p14:sldId id="289"/>
            <p14:sldId id="290"/>
            <p14:sldId id="308"/>
            <p14:sldId id="309"/>
            <p14:sldId id="310"/>
            <p14:sldId id="724"/>
            <p14:sldId id="780"/>
            <p14:sldId id="386"/>
            <p14:sldId id="782"/>
            <p14:sldId id="313"/>
            <p14:sldId id="783"/>
            <p14:sldId id="779"/>
            <p14:sldId id="420"/>
            <p14:sldId id="311"/>
            <p14:sldId id="777"/>
            <p14:sldId id="778"/>
            <p14:sldId id="314"/>
            <p14:sldId id="715"/>
            <p14:sldId id="317"/>
            <p14:sldId id="322"/>
            <p14:sldId id="716"/>
            <p14:sldId id="781"/>
            <p14:sldId id="318"/>
            <p14:sldId id="323"/>
            <p14:sldId id="717"/>
            <p14:sldId id="324"/>
            <p14:sldId id="718"/>
            <p14:sldId id="319"/>
            <p14:sldId id="315"/>
            <p14:sldId id="316"/>
            <p14:sldId id="321"/>
            <p14:sldId id="320"/>
            <p14:sldId id="326"/>
            <p14:sldId id="325"/>
            <p14:sldId id="759"/>
            <p14:sldId id="327"/>
            <p14:sldId id="328"/>
            <p14:sldId id="330"/>
            <p14:sldId id="329"/>
          </p14:sldIdLst>
        </p14:section>
        <p14:section name="02.마이페이지" id="{0DFCED7B-14DB-43DA-80A6-9739242572F6}">
          <p14:sldIdLst>
            <p14:sldId id="331"/>
            <p14:sldId id="746"/>
            <p14:sldId id="374"/>
            <p14:sldId id="375"/>
            <p14:sldId id="760"/>
            <p14:sldId id="332"/>
            <p14:sldId id="788"/>
            <p14:sldId id="371"/>
            <p14:sldId id="789"/>
            <p14:sldId id="747"/>
            <p14:sldId id="762"/>
            <p14:sldId id="748"/>
            <p14:sldId id="761"/>
            <p14:sldId id="749"/>
            <p14:sldId id="378"/>
            <p14:sldId id="379"/>
            <p14:sldId id="725"/>
            <p14:sldId id="380"/>
            <p14:sldId id="381"/>
            <p14:sldId id="382"/>
            <p14:sldId id="383"/>
            <p14:sldId id="726"/>
            <p14:sldId id="727"/>
            <p14:sldId id="384"/>
            <p14:sldId id="728"/>
            <p14:sldId id="385"/>
            <p14:sldId id="400"/>
            <p14:sldId id="401"/>
            <p14:sldId id="729"/>
            <p14:sldId id="402"/>
            <p14:sldId id="504"/>
            <p14:sldId id="403"/>
            <p14:sldId id="770"/>
            <p14:sldId id="404"/>
            <p14:sldId id="771"/>
            <p14:sldId id="730"/>
            <p14:sldId id="731"/>
            <p14:sldId id="732"/>
            <p14:sldId id="733"/>
            <p14:sldId id="734"/>
            <p14:sldId id="735"/>
            <p14:sldId id="736"/>
            <p14:sldId id="405"/>
            <p14:sldId id="737"/>
            <p14:sldId id="406"/>
            <p14:sldId id="738"/>
            <p14:sldId id="626"/>
            <p14:sldId id="407"/>
            <p14:sldId id="408"/>
            <p14:sldId id="739"/>
            <p14:sldId id="409"/>
            <p14:sldId id="740"/>
          </p14:sldIdLst>
        </p14:section>
        <p14:section name="업체정보관리" id="{50D8D151-F082-4229-B97C-00A16B270850}">
          <p14:sldIdLst>
            <p14:sldId id="410"/>
            <p14:sldId id="577"/>
            <p14:sldId id="411"/>
            <p14:sldId id="772"/>
            <p14:sldId id="412"/>
            <p14:sldId id="505"/>
            <p14:sldId id="506"/>
            <p14:sldId id="507"/>
            <p14:sldId id="508"/>
            <p14:sldId id="413"/>
            <p14:sldId id="719"/>
            <p14:sldId id="414"/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415"/>
            <p14:sldId id="518"/>
            <p14:sldId id="519"/>
            <p14:sldId id="517"/>
            <p14:sldId id="521"/>
            <p14:sldId id="773"/>
            <p14:sldId id="524"/>
            <p14:sldId id="522"/>
            <p14:sldId id="525"/>
            <p14:sldId id="526"/>
            <p14:sldId id="720"/>
            <p14:sldId id="528"/>
            <p14:sldId id="529"/>
            <p14:sldId id="530"/>
            <p14:sldId id="531"/>
            <p14:sldId id="532"/>
            <p14:sldId id="541"/>
            <p14:sldId id="756"/>
            <p14:sldId id="536"/>
            <p14:sldId id="537"/>
            <p14:sldId id="538"/>
            <p14:sldId id="539"/>
            <p14:sldId id="540"/>
            <p14:sldId id="533"/>
            <p14:sldId id="535"/>
            <p14:sldId id="542"/>
            <p14:sldId id="543"/>
            <p14:sldId id="544"/>
            <p14:sldId id="545"/>
            <p14:sldId id="546"/>
            <p14:sldId id="547"/>
            <p14:sldId id="548"/>
            <p14:sldId id="549"/>
            <p14:sldId id="550"/>
            <p14:sldId id="551"/>
            <p14:sldId id="552"/>
            <p14:sldId id="553"/>
            <p14:sldId id="556"/>
            <p14:sldId id="557"/>
            <p14:sldId id="560"/>
            <p14:sldId id="558"/>
            <p14:sldId id="559"/>
            <p14:sldId id="555"/>
            <p14:sldId id="554"/>
            <p14:sldId id="561"/>
            <p14:sldId id="562"/>
            <p14:sldId id="563"/>
            <p14:sldId id="564"/>
            <p14:sldId id="565"/>
            <p14:sldId id="566"/>
            <p14:sldId id="569"/>
            <p14:sldId id="567"/>
            <p14:sldId id="568"/>
            <p14:sldId id="570"/>
            <p14:sldId id="571"/>
            <p14:sldId id="572"/>
            <p14:sldId id="722"/>
          </p14:sldIdLst>
        </p14:section>
        <p14:section name="사용자정보관리" id="{41411C3E-8007-4445-AF0C-3F184754AE3A}">
          <p14:sldIdLst>
            <p14:sldId id="574"/>
            <p14:sldId id="578"/>
            <p14:sldId id="575"/>
            <p14:sldId id="576"/>
            <p14:sldId id="590"/>
            <p14:sldId id="591"/>
            <p14:sldId id="592"/>
            <p14:sldId id="588"/>
            <p14:sldId id="589"/>
            <p14:sldId id="593"/>
            <p14:sldId id="595"/>
            <p14:sldId id="596"/>
            <p14:sldId id="594"/>
            <p14:sldId id="579"/>
            <p14:sldId id="583"/>
            <p14:sldId id="580"/>
            <p14:sldId id="582"/>
            <p14:sldId id="584"/>
            <p14:sldId id="587"/>
            <p14:sldId id="586"/>
            <p14:sldId id="585"/>
          </p14:sldIdLst>
        </p14:section>
        <p14:section name="03.고객센터" id="{31AD4FE9-64B7-4CD8-8B66-89803A7FBCEB}">
          <p14:sldIdLst>
            <p14:sldId id="337"/>
            <p14:sldId id="763"/>
            <p14:sldId id="764"/>
            <p14:sldId id="765"/>
            <p14:sldId id="338"/>
            <p14:sldId id="790"/>
            <p14:sldId id="766"/>
            <p14:sldId id="750"/>
            <p14:sldId id="767"/>
            <p14:sldId id="768"/>
            <p14:sldId id="388"/>
            <p14:sldId id="611"/>
            <p14:sldId id="612"/>
            <p14:sldId id="613"/>
            <p14:sldId id="614"/>
            <p14:sldId id="615"/>
            <p14:sldId id="616"/>
            <p14:sldId id="617"/>
            <p14:sldId id="389"/>
            <p14:sldId id="618"/>
            <p14:sldId id="619"/>
            <p14:sldId id="620"/>
            <p14:sldId id="621"/>
            <p14:sldId id="622"/>
            <p14:sldId id="623"/>
            <p14:sldId id="624"/>
            <p14:sldId id="390"/>
            <p14:sldId id="627"/>
            <p14:sldId id="774"/>
            <p14:sldId id="392"/>
            <p14:sldId id="393"/>
            <p14:sldId id="787"/>
            <p14:sldId id="628"/>
            <p14:sldId id="629"/>
            <p14:sldId id="394"/>
            <p14:sldId id="775"/>
            <p14:sldId id="630"/>
            <p14:sldId id="631"/>
            <p14:sldId id="632"/>
            <p14:sldId id="633"/>
            <p14:sldId id="634"/>
            <p14:sldId id="635"/>
            <p14:sldId id="636"/>
            <p14:sldId id="637"/>
            <p14:sldId id="638"/>
            <p14:sldId id="639"/>
            <p14:sldId id="640"/>
            <p14:sldId id="641"/>
            <p14:sldId id="642"/>
            <p14:sldId id="643"/>
            <p14:sldId id="644"/>
            <p14:sldId id="645"/>
            <p14:sldId id="646"/>
            <p14:sldId id="647"/>
            <p14:sldId id="668"/>
            <p14:sldId id="669"/>
            <p14:sldId id="670"/>
            <p14:sldId id="648"/>
            <p14:sldId id="649"/>
            <p14:sldId id="650"/>
            <p14:sldId id="723"/>
            <p14:sldId id="652"/>
            <p14:sldId id="653"/>
            <p14:sldId id="654"/>
            <p14:sldId id="655"/>
            <p14:sldId id="656"/>
            <p14:sldId id="657"/>
            <p14:sldId id="658"/>
            <p14:sldId id="659"/>
            <p14:sldId id="660"/>
            <p14:sldId id="661"/>
            <p14:sldId id="662"/>
            <p14:sldId id="663"/>
            <p14:sldId id="664"/>
            <p14:sldId id="665"/>
            <p14:sldId id="666"/>
            <p14:sldId id="667"/>
            <p14:sldId id="776"/>
            <p14:sldId id="395"/>
            <p14:sldId id="671"/>
            <p14:sldId id="672"/>
            <p14:sldId id="673"/>
            <p14:sldId id="674"/>
            <p14:sldId id="675"/>
            <p14:sldId id="676"/>
            <p14:sldId id="677"/>
            <p14:sldId id="678"/>
            <p14:sldId id="679"/>
            <p14:sldId id="680"/>
            <p14:sldId id="681"/>
            <p14:sldId id="682"/>
            <p14:sldId id="683"/>
            <p14:sldId id="684"/>
            <p14:sldId id="685"/>
            <p14:sldId id="686"/>
            <p14:sldId id="687"/>
            <p14:sldId id="688"/>
            <p14:sldId id="689"/>
            <p14:sldId id="690"/>
            <p14:sldId id="691"/>
            <p14:sldId id="692"/>
            <p14:sldId id="693"/>
            <p14:sldId id="694"/>
            <p14:sldId id="695"/>
            <p14:sldId id="696"/>
            <p14:sldId id="697"/>
            <p14:sldId id="698"/>
            <p14:sldId id="699"/>
            <p14:sldId id="700"/>
            <p14:sldId id="701"/>
            <p14:sldId id="702"/>
            <p14:sldId id="703"/>
            <p14:sldId id="704"/>
            <p14:sldId id="705"/>
            <p14:sldId id="706"/>
            <p14:sldId id="707"/>
            <p14:sldId id="708"/>
            <p14:sldId id="709"/>
            <p14:sldId id="710"/>
            <p14:sldId id="711"/>
            <p14:sldId id="712"/>
            <p14:sldId id="713"/>
            <p14:sldId id="597"/>
            <p14:sldId id="599"/>
            <p14:sldId id="600"/>
            <p14:sldId id="598"/>
            <p14:sldId id="601"/>
            <p14:sldId id="602"/>
            <p14:sldId id="603"/>
            <p14:sldId id="604"/>
            <p14:sldId id="605"/>
          </p14:sldIdLst>
        </p14:section>
        <p14:section name="04.인증센터" id="{370026AB-4560-42C7-933C-20AD7FF7D4C7}">
          <p14:sldIdLst>
            <p14:sldId id="340"/>
            <p14:sldId id="341"/>
            <p14:sldId id="751"/>
            <p14:sldId id="365"/>
            <p14:sldId id="366"/>
            <p14:sldId id="367"/>
            <p14:sldId id="368"/>
            <p14:sldId id="369"/>
            <p14:sldId id="370"/>
            <p14:sldId id="387"/>
          </p14:sldIdLst>
        </p14:section>
        <p14:section name="05.국방전자조달 소개" id="{317907BD-AF37-4930-AA6E-11361BD27737}">
          <p14:sldIdLst>
            <p14:sldId id="356"/>
            <p14:sldId id="357"/>
            <p14:sldId id="753"/>
            <p14:sldId id="359"/>
            <p14:sldId id="360"/>
            <p14:sldId id="361"/>
            <p14:sldId id="755"/>
            <p14:sldId id="363"/>
            <p14:sldId id="364"/>
          </p14:sldIdLst>
        </p14:section>
        <p14:section name="06.이용안내" id="{2AA9B4A0-6D89-4E2A-BCBC-A38FB8486982}">
          <p14:sldIdLst>
            <p14:sldId id="344"/>
            <p14:sldId id="345"/>
            <p14:sldId id="752"/>
            <p14:sldId id="343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786"/>
            <p14:sldId id="769"/>
            <p14:sldId id="784"/>
            <p14:sldId id="785"/>
          </p14:sldIdLst>
        </p14:section>
        <p14:section name="07. 앱설정" id="{8336C8C1-3D30-4EFD-A9FE-B72CDC643A19}">
          <p14:sldIdLst>
            <p14:sldId id="608"/>
            <p14:sldId id="609"/>
            <p14:sldId id="754"/>
            <p14:sldId id="607"/>
            <p14:sldId id="62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0D0D"/>
    <a:srgbClr val="FFFFFF"/>
    <a:srgbClr val="000000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6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77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notesMaster" Target="notesMasters/notesMaster1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390" Type="http://schemas.openxmlformats.org/officeDocument/2006/relationships/presProps" Target="presProps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392" Type="http://schemas.openxmlformats.org/officeDocument/2006/relationships/theme" Target="theme/theme1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393" Type="http://schemas.openxmlformats.org/officeDocument/2006/relationships/tableStyles" Target="tableStyles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slide" Target="slides/slide382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slide" Target="slides/slide383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slide" Target="slides/slide384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slide" Target="slides/slide385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slide" Target="slides/slide386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openxmlformats.org/officeDocument/2006/relationships/handoutMaster" Target="handoutMasters/handoutMaster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391" Type="http://schemas.openxmlformats.org/officeDocument/2006/relationships/viewProps" Target="viewProps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486772-663E-498C-98A4-55676C0C79D5}" type="datetimeFigureOut">
              <a:rPr lang="ko-KR" altLang="en-US" smtClean="0"/>
              <a:t>2026-08-07 (Friday)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28BB6-27BE-4996-B82F-8E6CE98335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904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80DED-BD55-4631-A63F-CC2459F192F4}" type="datetimeFigureOut">
              <a:rPr lang="ko-KR" altLang="en-US" smtClean="0"/>
              <a:t>2026-08-07 (Friday)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E14ED1-D705-4645-B89F-2D03A70CCA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18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60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37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43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8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56036D5-DD5F-441E-9594-5002CA0E85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295427" y="5938279"/>
            <a:ext cx="1331674" cy="1648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694" y="1306235"/>
            <a:ext cx="8640000" cy="612000"/>
          </a:xfrm>
          <a:prstGeom prst="rect">
            <a:avLst/>
          </a:prstGeom>
          <a:ln w="12700">
            <a:noFill/>
          </a:ln>
        </p:spPr>
        <p:txBody>
          <a:bodyPr anchor="b"/>
          <a:lstStyle>
            <a:lvl1pPr algn="r">
              <a:lnSpc>
                <a:spcPct val="100000"/>
              </a:lnSpc>
              <a:defRPr sz="2400" b="1" u="none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7669" y="1942226"/>
            <a:ext cx="8649025" cy="39637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endParaRPr lang="en-US" dirty="0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37669" y="1925053"/>
            <a:ext cx="86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표 10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54155541"/>
              </p:ext>
            </p:extLst>
          </p:nvPr>
        </p:nvGraphicFramePr>
        <p:xfrm>
          <a:off x="4551204" y="3815479"/>
          <a:ext cx="4744543" cy="952503"/>
        </p:xfrm>
        <a:graphic>
          <a:graphicData uri="http://schemas.openxmlformats.org/drawingml/2006/table">
            <a:tbl>
              <a:tblPr firstRow="1" firstCol="1" bandRow="1"/>
              <a:tblGrid>
                <a:gridCol w="971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3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프로젝트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문서번호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제개정일</a:t>
                      </a:r>
                      <a:endParaRPr lang="ko-KR" sz="1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5183031"/>
                  </a:ext>
                </a:extLst>
              </a:tr>
            </a:tbl>
          </a:graphicData>
        </a:graphic>
      </p:graphicFrame>
      <p:sp>
        <p:nvSpPr>
          <p:cNvPr id="14" name="텍스트 개체 틀 12"/>
          <p:cNvSpPr>
            <a:spLocks noGrp="1"/>
          </p:cNvSpPr>
          <p:nvPr>
            <p:ph type="body" sz="quarter" idx="11"/>
          </p:nvPr>
        </p:nvSpPr>
        <p:spPr>
          <a:xfrm>
            <a:off x="5540722" y="3848071"/>
            <a:ext cx="3736946" cy="252000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ko-KR" altLang="ko-KR" sz="1000" kern="100" dirty="0">
              <a:effectLst/>
              <a:latin typeface="맑은 고딕" panose="020B0503020000020004" pitchFamily="50" charset="-127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텍스트 개체 틀 12"/>
          <p:cNvSpPr>
            <a:spLocks noGrp="1"/>
          </p:cNvSpPr>
          <p:nvPr>
            <p:ph type="body" sz="quarter" idx="12"/>
          </p:nvPr>
        </p:nvSpPr>
        <p:spPr>
          <a:xfrm>
            <a:off x="5540722" y="416352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527804" y="6225242"/>
            <a:ext cx="6858548" cy="408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altLang="ko-KR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Copyright © 2025 by </a:t>
            </a: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</a:t>
            </a:r>
            <a:endParaRPr lang="en-US" altLang="ko-KR" sz="900" kern="100" dirty="0">
              <a:effectLst/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방위사업청의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사전 승인 없이 본 내용의 전부 또는 일부에 대한 복사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전재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배포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사용을 금합니다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.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2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5540722" y="447994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pic>
        <p:nvPicPr>
          <p:cNvPr id="17" name="그림 16" descr="그래픽, 폰트, 그래픽 디자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9D3F7C-59D2-46B0-9671-095C3D9268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7641" y="465349"/>
            <a:ext cx="1005840" cy="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0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/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622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0" name="텍스트 개체 틀 12"/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1" u="sng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4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660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&amp;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734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67025" y="612000"/>
            <a:ext cx="9000000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2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1038808"/>
            <a:ext cx="9000000" cy="5424196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0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03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내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612000"/>
            <a:ext cx="9000000" cy="5851004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1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96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서식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47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인터페이스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72137626"/>
              </p:ext>
            </p:extLst>
          </p:nvPr>
        </p:nvGraphicFramePr>
        <p:xfrm>
          <a:off x="458167" y="719999"/>
          <a:ext cx="8988374" cy="5755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8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4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765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</a:t>
                      </a:r>
                      <a:r>
                        <a:rPr lang="en-US" altLang="ko-KR" sz="900" b="1" baseline="0" dirty="0"/>
                        <a:t> ID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 </a:t>
                      </a:r>
                      <a:r>
                        <a:rPr lang="ko-KR" altLang="en-US" sz="900" b="1" dirty="0"/>
                        <a:t>명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화면경로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개요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22">
                <a:tc rowSpan="2"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설명 및 특이사항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1007">
                <a:tc gridSpan="6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7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9DF8E3FD-B4FB-473B-BCAD-C4534B9A9D9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2"/>
          </p:nvPr>
        </p:nvSpPr>
        <p:spPr>
          <a:xfrm>
            <a:off x="3390640" y="755764"/>
            <a:ext cx="2101850" cy="162201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956623" y="1010025"/>
            <a:ext cx="8434506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텍스트 개체 틀 10"/>
          <p:cNvSpPr>
            <a:spLocks noGrp="1"/>
          </p:cNvSpPr>
          <p:nvPr>
            <p:ph type="body" sz="quarter" idx="14"/>
          </p:nvPr>
        </p:nvSpPr>
        <p:spPr>
          <a:xfrm>
            <a:off x="6238614" y="755764"/>
            <a:ext cx="3140076" cy="177622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10"/>
          <p:cNvSpPr>
            <a:spLocks noGrp="1"/>
          </p:cNvSpPr>
          <p:nvPr>
            <p:ph type="body" sz="quarter" idx="15"/>
          </p:nvPr>
        </p:nvSpPr>
        <p:spPr>
          <a:xfrm>
            <a:off x="956623" y="755764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971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D11E9F2C-2481-4ADA-BED0-11F45689328C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8685200" y="6640342"/>
            <a:ext cx="738733" cy="9148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445168" y="540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>
            <a:off x="465216" y="6588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 userDrawn="1"/>
        </p:nvSpPr>
        <p:spPr>
          <a:xfrm>
            <a:off x="4950372" y="376754"/>
            <a:ext cx="4519928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사용자인터페이스설계서 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– 00.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공통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-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모바일</a:t>
            </a:r>
            <a:endParaRPr lang="ko-KR" altLang="en-US" sz="100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445168" y="376754"/>
            <a:ext cx="393945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000" b="1" kern="100" dirty="0">
                <a:effectLst/>
              </a:rPr>
              <a:t>국방전자조달시스템 고도화 구축사업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3BECD7E0-1778-4975-BFA0-E9C4CE243F5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74463" y="6577231"/>
            <a:ext cx="668534" cy="23371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1401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4" r:id="rId4"/>
    <p:sldLayoutId id="2147483665" r:id="rId5"/>
    <p:sldLayoutId id="2147483666" r:id="rId6"/>
    <p:sldLayoutId id="2147483668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delis.mnd.go.kr:8080/" TargetMode="Externa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hyperlink" Target="http://developer.android.com/sdk/index.html" TargetMode="External"/><Relationship Id="rId1" Type="http://schemas.openxmlformats.org/officeDocument/2006/relationships/slideLayout" Target="../slideLayouts/slideLayout7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제목 5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사용자인터페이스 설계서 </a:t>
            </a:r>
            <a:r>
              <a:rPr lang="en-US" altLang="ko-KR" dirty="0"/>
              <a:t>- </a:t>
            </a:r>
            <a:r>
              <a:rPr lang="ko-KR" altLang="en-US" dirty="0"/>
              <a:t>모바일</a:t>
            </a:r>
          </a:p>
        </p:txBody>
      </p:sp>
      <p:sp>
        <p:nvSpPr>
          <p:cNvPr id="54" name="부제목 5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00.</a:t>
            </a:r>
            <a:r>
              <a:rPr lang="ko-KR" altLang="en-US" dirty="0" err="1"/>
              <a:t>스플래시</a:t>
            </a:r>
            <a:r>
              <a:rPr lang="ko-KR" altLang="en-US" dirty="0"/>
              <a:t> </a:t>
            </a:r>
            <a:r>
              <a:rPr lang="en-US" altLang="ko-KR" dirty="0"/>
              <a:t>~ </a:t>
            </a:r>
            <a:r>
              <a:rPr lang="ko-KR" altLang="en-US" dirty="0"/>
              <a:t>공통</a:t>
            </a:r>
          </a:p>
        </p:txBody>
      </p:sp>
      <p:sp>
        <p:nvSpPr>
          <p:cNvPr id="56" name="텍스트 개체 틀 5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국방전자조달시스템 고도화 구축사업</a:t>
            </a:r>
          </a:p>
        </p:txBody>
      </p:sp>
      <p:sp>
        <p:nvSpPr>
          <p:cNvPr id="57" name="텍스트 개체 틀 5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D2BA-AP-3CD-0601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2026.06.18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563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F21A837-6853-B5CA-5641-F9A516F3B3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F8D2BE-3FE8-714A-457C-A4A1521A282B}"/>
              </a:ext>
            </a:extLst>
          </p:cNvPr>
          <p:cNvSpPr/>
          <p:nvPr/>
        </p:nvSpPr>
        <p:spPr>
          <a:xfrm>
            <a:off x="3079266" y="1809750"/>
            <a:ext cx="3771900" cy="3400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국방전자조달시스템 고도화 구축 사업 이외의 어떠한 목적에도 사용을 금하며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사업관리기관 및 개발업체  요원 이외의 열람을 통제한다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방위사업청의 승인없이 발췌 및 복사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배포를 금지하며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방위사업청  문서관리규정에 의하여 관리한다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3A35A62-3F88-2F9F-9F03-E16DFE92E11E}"/>
              </a:ext>
            </a:extLst>
          </p:cNvPr>
          <p:cNvSpPr txBox="1">
            <a:spLocks/>
          </p:cNvSpPr>
          <p:nvPr/>
        </p:nvSpPr>
        <p:spPr>
          <a:xfrm>
            <a:off x="2265216" y="978498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/>
              <a:t>경 고 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1223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텍스트 개체 틀 15">
            <a:extLst>
              <a:ext uri="{FF2B5EF4-FFF2-40B4-BE49-F238E27FC236}">
                <a16:creationId xmlns:a16="http://schemas.microsoft.com/office/drawing/2014/main" id="{44A815B9-A3EA-BA0B-410C-A69AB9D1A0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</p:spPr>
        <p:txBody>
          <a:bodyPr/>
          <a:lstStyle/>
          <a:p>
            <a:r>
              <a:rPr lang="ko-KR" altLang="en-US" dirty="0" err="1"/>
              <a:t>제</a:t>
            </a:r>
            <a:r>
              <a:rPr lang="ko-KR" altLang="en-US" dirty="0" err="1">
                <a:sym typeface="Wingdings" panose="05000000000000000000" pitchFamily="2" charset="2"/>
              </a:rPr>
              <a:t></a:t>
            </a:r>
            <a:r>
              <a:rPr lang="ko-KR" altLang="en-US" dirty="0" err="1"/>
              <a:t>개</a:t>
            </a:r>
            <a:r>
              <a:rPr lang="ko-KR" altLang="en-US" dirty="0"/>
              <a:t> 정 이 력</a:t>
            </a:r>
          </a:p>
        </p:txBody>
      </p:sp>
      <p:graphicFrame>
        <p:nvGraphicFramePr>
          <p:cNvPr id="7" name="Group 759">
            <a:extLst>
              <a:ext uri="{FF2B5EF4-FFF2-40B4-BE49-F238E27FC236}">
                <a16:creationId xmlns:a16="http://schemas.microsoft.com/office/drawing/2014/main" id="{2831990E-7701-AF86-804F-42A7268A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355922"/>
              </p:ext>
            </p:extLst>
          </p:nvPr>
        </p:nvGraphicFramePr>
        <p:xfrm>
          <a:off x="652374" y="1286787"/>
          <a:ext cx="8782571" cy="3270414"/>
        </p:xfrm>
        <a:graphic>
          <a:graphicData uri="http://schemas.openxmlformats.org/drawingml/2006/table">
            <a:tbl>
              <a:tblPr/>
              <a:tblGrid>
                <a:gridCol w="784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9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9745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제개정일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버전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제개정내용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작성자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승인자 및 관련근거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2025.11.03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작성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신미영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2026.03.16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수정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김민재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2026.04.23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차 작성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0.4.1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작성 완료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내부 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0.6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PL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황종서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0.7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품질 검토</a:t>
                      </a:r>
                    </a:p>
                  </a:txBody>
                  <a:tcPr marL="53975" marR="53975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0.8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박재욱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457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930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462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620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016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7" name="텍스트 개체 틀 15">
            <a:extLst>
              <a:ext uri="{FF2B5EF4-FFF2-40B4-BE49-F238E27FC236}">
                <a16:creationId xmlns:a16="http://schemas.microsoft.com/office/drawing/2014/main" id="{74E68DA1-2E20-231A-31AD-28EAC2F24FE9}"/>
              </a:ext>
            </a:extLst>
          </p:cNvPr>
          <p:cNvSpPr txBox="1">
            <a:spLocks/>
          </p:cNvSpPr>
          <p:nvPr/>
        </p:nvSpPr>
        <p:spPr>
          <a:xfrm>
            <a:off x="2250485" y="959912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신구 변경 </a:t>
            </a:r>
            <a:r>
              <a:rPr lang="ko-KR" altLang="en-US" dirty="0" err="1"/>
              <a:t>내용표</a:t>
            </a:r>
            <a:endParaRPr lang="ko-KR" altLang="en-US" dirty="0"/>
          </a:p>
        </p:txBody>
      </p:sp>
      <p:graphicFrame>
        <p:nvGraphicFramePr>
          <p:cNvPr id="8" name="Group 759">
            <a:extLst>
              <a:ext uri="{FF2B5EF4-FFF2-40B4-BE49-F238E27FC236}">
                <a16:creationId xmlns:a16="http://schemas.microsoft.com/office/drawing/2014/main" id="{319C15BD-6050-0EF7-51D6-033B70274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1982"/>
              </p:ext>
            </p:extLst>
          </p:nvPr>
        </p:nvGraphicFramePr>
        <p:xfrm>
          <a:off x="652374" y="1416776"/>
          <a:ext cx="8782571" cy="491472"/>
        </p:xfrm>
        <a:graphic>
          <a:graphicData uri="http://schemas.openxmlformats.org/drawingml/2006/table">
            <a:tbl>
              <a:tblPr/>
              <a:tblGrid>
                <a:gridCol w="5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4489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  <a:gridCol w="938150">
                  <a:extLst>
                    <a:ext uri="{9D8B030D-6E8A-4147-A177-3AD203B41FA5}">
                      <a16:colId xmlns:a16="http://schemas.microsoft.com/office/drawing/2014/main" val="39264155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순번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구버전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신버전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변경 항목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내용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996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574036"/>
              </p:ext>
            </p:extLst>
          </p:nvPr>
        </p:nvGraphicFramePr>
        <p:xfrm>
          <a:off x="988586" y="1265003"/>
          <a:ext cx="7926814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 err="1"/>
                        <a:t>앱실행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로그인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1200" dirty="0" err="1"/>
                        <a:t>마이페이지</a:t>
                      </a:r>
                      <a:r>
                        <a:rPr lang="ko-KR" altLang="en-US" sz="1200" dirty="0"/>
                        <a:t>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 </a:t>
                      </a:r>
                      <a:r>
                        <a:rPr lang="ko-KR" altLang="en-US" sz="1200" dirty="0"/>
                        <a:t>고객센터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13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67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199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199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86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17802"/>
              </p:ext>
            </p:extLst>
          </p:nvPr>
        </p:nvGraphicFramePr>
        <p:xfrm>
          <a:off x="988586" y="1265003"/>
          <a:ext cx="7926814" cy="5349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69286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 </a:t>
                      </a:r>
                      <a:r>
                        <a:rPr lang="ko-KR" altLang="en-US" sz="1150" dirty="0"/>
                        <a:t>인증센터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 </a:t>
                      </a:r>
                      <a:r>
                        <a:rPr lang="ko-KR" altLang="en-US" sz="1150" dirty="0"/>
                        <a:t>국방전자조달 소개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 </a:t>
                      </a:r>
                      <a:r>
                        <a:rPr lang="ko-KR" altLang="en-US" sz="1150" dirty="0"/>
                        <a:t>이용안내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 </a:t>
                      </a:r>
                      <a:r>
                        <a:rPr lang="ko-KR" altLang="en-US" sz="1150" dirty="0"/>
                        <a:t>앱 설정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319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319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339340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341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353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8676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1570426"/>
              </p:ext>
            </p:extLst>
          </p:nvPr>
        </p:nvGraphicFramePr>
        <p:xfrm>
          <a:off x="635474" y="1413419"/>
          <a:ext cx="8701200" cy="46175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MUI-MS-01-M01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앱실행스플래시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–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로고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SplashPage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기동 시 노출되는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스플래시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로딩 시 보안 프로그램 동작 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/biz/cm/splash/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splashPage.tsx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Native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App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-01-M02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앱접근권한동의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최초 앱 기동 시 앱 접근 권한 동의 설명 화면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-01-P03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앱접근권한동의팝업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접근 권한 동의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-01-P04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앱업데이트안내팝업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AppUpdateInfo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업데이트가 있는 경우 노출되는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AppUpdateInfo.tsx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-01-P05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앱오류안내팝업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AppErrInfo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오류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장애 등 실행이 불가능한 경우 노출되는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AppErrInfo.tsx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7252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-01-M06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앱이용안내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최초 앱 기동 시 앱 이용 안내 설명 화면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-01-M07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메인홈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기동 완료 후 노출되는 메인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비로그인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사용자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UC-ZZ-18-02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8231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-P08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중요공지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시스템안내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SysExpln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메인에서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중요 공지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시스템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SysExpln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Native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App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7137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</a:t>
                      </a: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-M09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통합검색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메인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서브에서 검색 영역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아이콘을 클릭하는 경우 통합 검색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9813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-M10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통합검색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결과목록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IntgSrch_Rslt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통합 검색 결과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IntgSrch_Rslt.tsx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88162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MUI-MS-01-M11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챗봇문의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챗봇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095591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MUI-MS-01-M12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햄버거메뉴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MenuPage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메뉴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/biz/cm/menu/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MenuPage.tsx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4479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MUI-MS-01-M13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알림현황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푸시 알림 현황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UC-ZZ-11-07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UC-ZZ-14-03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4346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MUI-MS-01-P14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로그인업체설정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소속된 업체가 많은 경우 로그인 이후 로그인할 업체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6353761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8304" y="1140446"/>
            <a:ext cx="2346262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2)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 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모바일 시스템은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유스케이스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가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부존재함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9344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667125"/>
              </p:ext>
            </p:extLst>
          </p:nvPr>
        </p:nvGraphicFramePr>
        <p:xfrm>
          <a:off x="635474" y="1413419"/>
          <a:ext cx="8701200" cy="316030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MUI-CM-03-M01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방식선택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mainLoginPage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ID/PW,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간편인증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mainLogin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MainLoginPage.tsx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01900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MUI-CM-03-M02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ID/PW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idPswdLoginPage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ID/PW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입력화면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idPswdLogin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IdPswdLoginPage.tsx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84910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MUI-CM-03-M03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06234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MUI-CM-03-M04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등록정보로찾기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IdRegInfoFndngPage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등록정보로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IdRegInfoFndng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IdRegInfoFndngPage.tsx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7318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MUI-CM-03-M05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찾기결과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IdRsltPage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찾기의 성공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실패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IdRslt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IdRsltPage.tsx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2546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MUI-CM-03-M06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6889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MUI-CM-03-M07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등록정보로찾기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PswdRegInfoFndngPage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등록정보로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PswdRegInfoFndng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PswdRegInfoFndngPage.tsx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MUI-CM-03-M08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찾기결과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PswdRsltPage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찾기 성공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실패 화면 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–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성공 시 비밀번호 변경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PswdRslt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PswdRsltPage.tsx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04602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MUI-CM-03-M09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사용자등록안내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UserRegInfoPage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 등록한 대상만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버전에서 사용자 등록이 가능함</a:t>
                      </a: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안내 페이지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등록만 가능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UserRegInfo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UserRegInfoPage.tsx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5963418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8304" y="1140446"/>
            <a:ext cx="2346262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2)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 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모바일 시스템은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유스케이스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가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부존재함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3146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7799172"/>
              </p:ext>
            </p:extLst>
          </p:nvPr>
        </p:nvGraphicFramePr>
        <p:xfrm>
          <a:off x="635474" y="1413419"/>
          <a:ext cx="8701200" cy="473950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간편인증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SimpleCert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간편인증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simpleCert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SimpleCert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937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금융인증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FnstCert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금융인증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fnstCert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FnstCert.tsx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98586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공동인증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JntCert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공동인증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jntCert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JntCert.tsx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20418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MUI-CM-03-P13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모바일신분증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MobileIdntyCert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행안부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모바일 신분증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mobileIdntyCert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MobileIdntyCert.tsx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3305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휴대폰의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기능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255434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MUI-CM-03-M15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BioInfoCertRegPage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시스템의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 프로세스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51901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MUI-CM-03-M20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생체인증등록완료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BioInfoCertRsltPage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시스템의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등록 완료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BioInfoCertRsltPage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966996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MUI-CM-03-P16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인증성공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실패안내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CertRsltPage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로그인 방식에 따른 인증 성공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성공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실패 안내 메시지</a:t>
                      </a: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성공의 경우는 안내 메시지 또는 토스트 메시지 없이 메인 페이지 이동으로 변경될 수 있음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certRslt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CertRslt.tsx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MUI-CM-03-M17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PCQR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PcQRLgnPage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화면의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QR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코드를 앱에서 읽어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시키는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pcQRLgn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PcQRLgnPage.tsx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로그아웃안내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LgoInfo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로그아웃 안내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background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복귀 시 </a:t>
                      </a:r>
                      <a:r>
                        <a:rPr lang="ko-KR" altLang="en-US" sz="800" baseline="0" dirty="0" smtClean="0">
                          <a:latin typeface="+mn-ea"/>
                          <a:ea typeface="+mn-ea"/>
                        </a:rPr>
                        <a:t>안내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lgoInfo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LgoInfo.tsx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MUI-CM-03-P19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로그인필요서비스안내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LgnSrvcInfo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비로그인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상태에서 로그인 서비스 사용 </a:t>
                      </a:r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시도시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노출되는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lgnSrvcInfo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LgnSrvcInfo.tsx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MUI-CM-03-P21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통합로그인계정등록안내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NewIdChgInfo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구버전의</a:t>
                      </a:r>
                      <a:r>
                        <a:rPr lang="ko-KR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아이디로 로그인 하는 경우 신규 통합 아이디로 변경되는 사항 안내 팝업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NewId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NewIdChgInfo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59618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MUI-CM-03-M22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통합로그인계정등록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NewIdPwReg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신규 </a:t>
                      </a:r>
                      <a:r>
                        <a:rPr lang="ko-KR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통합 아이디와 비밀번호 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입력 </a:t>
                      </a:r>
                      <a:r>
                        <a:rPr lang="ko-KR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NewId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NewIdPwReg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97124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MUI-CM-03-M23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통합로그인계정등록완료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NewIdCmptn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신규 통합 아이디 등록 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완료 </a:t>
                      </a:r>
                      <a:r>
                        <a:rPr lang="ko-KR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NewId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NewIdCmptn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9218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" name="직사각형 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FontTx/>
                <a:buAutoNum type="arabicPeriod"/>
              </a:pPr>
              <a:r>
                <a:rPr lang="ko-KR" altLang="en-US" sz="700" dirty="0"/>
                <a:t>통합로그인계정 관련 추가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 smtClean="0"/>
                <a:t>MUI-CM-03-P21</a:t>
              </a:r>
              <a:br>
                <a:rPr lang="en-US" altLang="ko-KR" sz="700" dirty="0" smtClean="0"/>
              </a:br>
              <a:r>
                <a:rPr lang="en-US" altLang="ko-KR" sz="700" dirty="0" smtClean="0"/>
                <a:t>MUI-CM-03-M22</a:t>
              </a:r>
              <a:br>
                <a:rPr lang="en-US" altLang="ko-KR" sz="700" dirty="0" smtClean="0"/>
              </a:br>
              <a:r>
                <a:rPr lang="en-US" altLang="ko-KR" sz="700" dirty="0" smtClean="0"/>
                <a:t>MUI-CM-03-M23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03895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앱실행스플래시</a:t>
            </a:r>
            <a:r>
              <a:rPr lang="en-US" altLang="ko-KR" sz="800" dirty="0">
                <a:solidFill>
                  <a:schemeClr val="tx1"/>
                </a:solidFill>
              </a:rPr>
              <a:t>–</a:t>
            </a:r>
            <a:r>
              <a:rPr lang="ko-KR" altLang="en-US" sz="800" dirty="0">
                <a:solidFill>
                  <a:schemeClr val="tx1"/>
                </a:solidFill>
              </a:rPr>
              <a:t>로고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507268" y="1632242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앱 실행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보안 프로그램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업데이트 여부 검증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앱업데이트안내팝업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2451750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116426" y="2307750"/>
            <a:ext cx="89447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필수 업데이트 있음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750504" y="2307750"/>
            <a:ext cx="447238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버전 체크</a:t>
            </a:r>
          </a:p>
        </p:txBody>
      </p:sp>
      <p:sp>
        <p:nvSpPr>
          <p:cNvPr id="8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종료</a:t>
            </a:r>
          </a:p>
        </p:txBody>
      </p:sp>
      <p:sp>
        <p:nvSpPr>
          <p:cNvPr id="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업데이트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실행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 err="1">
                <a:solidFill>
                  <a:schemeClr val="tx1"/>
                </a:solidFill>
              </a:rPr>
              <a:t>재기동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82" idx="1"/>
          </p:cNvCxnSpPr>
          <p:nvPr/>
        </p:nvCxnSpPr>
        <p:spPr>
          <a:xfrm>
            <a:off x="6928876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34" idx="3"/>
            <a:endCxn id="83" idx="1"/>
          </p:cNvCxnSpPr>
          <p:nvPr/>
        </p:nvCxnSpPr>
        <p:spPr>
          <a:xfrm>
            <a:off x="6928876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394799" y="2307750"/>
            <a:ext cx="447238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미동의 시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497391" y="2986536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동의 시</a:t>
            </a:r>
          </a:p>
        </p:txBody>
      </p: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670961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최초 기동 여부 검증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4" idx="2"/>
            <a:endCxn id="71" idx="0"/>
          </p:cNvCxnSpPr>
          <p:nvPr/>
        </p:nvCxnSpPr>
        <p:spPr>
          <a:xfrm>
            <a:off x="4647742" y="2595750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97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앱이용안내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00122" y="3670961"/>
            <a:ext cx="82875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현 버전 최초 실행</a:t>
            </a: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29698" y="255800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58695" y="2361749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2" idx="3"/>
            <a:endCxn id="104" idx="2"/>
          </p:cNvCxnSpPr>
          <p:nvPr/>
        </p:nvCxnSpPr>
        <p:spPr>
          <a:xfrm flipV="1">
            <a:off x="8760010" y="2451749"/>
            <a:ext cx="398685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4974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이용 안내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STEP </a:t>
            </a:r>
            <a:r>
              <a:rPr lang="ko-KR" altLang="en-US" sz="800" dirty="0">
                <a:solidFill>
                  <a:schemeClr val="tx1"/>
                </a:solidFill>
              </a:rPr>
              <a:t>표시</a:t>
            </a: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440195" y="4349746"/>
            <a:ext cx="58669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보기 선택 시</a:t>
            </a:r>
          </a:p>
        </p:txBody>
      </p: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670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앱접근권한동의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3670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앱접근권한동의팝업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3287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메인홈</a:t>
            </a:r>
            <a:r>
              <a:rPr lang="ko-KR" altLang="en-US" sz="800" dirty="0" smtClean="0">
                <a:solidFill>
                  <a:schemeClr val="tx1"/>
                </a:solidFill>
              </a:rPr>
              <a:t> 진입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3"/>
            <a:endCxn id="140" idx="1"/>
          </p:cNvCxnSpPr>
          <p:nvPr/>
        </p:nvCxnSpPr>
        <p:spPr>
          <a:xfrm>
            <a:off x="5097742" y="381496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40" idx="3"/>
            <a:endCxn id="142" idx="1"/>
          </p:cNvCxnSpPr>
          <p:nvPr/>
        </p:nvCxnSpPr>
        <p:spPr>
          <a:xfrm>
            <a:off x="6928876" y="381496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3"/>
            <a:endCxn id="118" idx="1"/>
          </p:cNvCxnSpPr>
          <p:nvPr/>
        </p:nvCxnSpPr>
        <p:spPr>
          <a:xfrm>
            <a:off x="5097742" y="449374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2"/>
            <a:endCxn id="98" idx="0"/>
          </p:cNvCxnSpPr>
          <p:nvPr/>
        </p:nvCxnSpPr>
        <p:spPr>
          <a:xfrm>
            <a:off x="4647742" y="3958961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2"/>
            <a:endCxn id="151" idx="0"/>
          </p:cNvCxnSpPr>
          <p:nvPr/>
        </p:nvCxnSpPr>
        <p:spPr>
          <a:xfrm>
            <a:off x="4647742" y="4637746"/>
            <a:ext cx="0" cy="395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8" idx="2"/>
            <a:endCxn id="151" idx="0"/>
          </p:cNvCxnSpPr>
          <p:nvPr/>
        </p:nvCxnSpPr>
        <p:spPr>
          <a:xfrm rot="5400000">
            <a:off x="5365745" y="3919743"/>
            <a:ext cx="395128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4528745" y="5757160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4557742" y="5560902"/>
            <a:ext cx="180000" cy="180000"/>
            <a:chOff x="5058274" y="2498299"/>
            <a:chExt cx="180000" cy="180000"/>
          </a:xfrm>
        </p:grpSpPr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51" idx="2"/>
            <a:endCxn id="192" idx="0"/>
          </p:cNvCxnSpPr>
          <p:nvPr/>
        </p:nvCxnSpPr>
        <p:spPr>
          <a:xfrm>
            <a:off x="4647742" y="5320874"/>
            <a:ext cx="0" cy="2400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2" idx="2"/>
            <a:endCxn id="98" idx="0"/>
          </p:cNvCxnSpPr>
          <p:nvPr/>
        </p:nvCxnSpPr>
        <p:spPr>
          <a:xfrm rot="5400000">
            <a:off x="6283484" y="2323219"/>
            <a:ext cx="390785" cy="36622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3" idx="3"/>
            <a:endCxn id="104" idx="2"/>
          </p:cNvCxnSpPr>
          <p:nvPr/>
        </p:nvCxnSpPr>
        <p:spPr>
          <a:xfrm flipV="1">
            <a:off x="8760010" y="2451749"/>
            <a:ext cx="398685" cy="67878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4647742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>
                <a:solidFill>
                  <a:schemeClr val="tx1"/>
                </a:solidFill>
              </a:rPr>
              <a:t>앱 실행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업데이트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필수</a:t>
            </a:r>
            <a:r>
              <a:rPr lang="en-US" altLang="ko-KR" sz="1200" dirty="0">
                <a:solidFill>
                  <a:schemeClr val="tx1"/>
                </a:solidFill>
              </a:rPr>
              <a:t>), </a:t>
            </a:r>
            <a:r>
              <a:rPr lang="ko-KR" altLang="en-US" sz="1200" dirty="0">
                <a:solidFill>
                  <a:schemeClr val="tx1"/>
                </a:solidFill>
              </a:rPr>
              <a:t>권한 동의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57" name="그룹 56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6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5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서버 연결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앱오류안내팝업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1" idx="2"/>
            <a:endCxn id="91" idx="0"/>
          </p:cNvCxnSpPr>
          <p:nvPr/>
        </p:nvCxnSpPr>
        <p:spPr>
          <a:xfrm>
            <a:off x="4647742" y="3274535"/>
            <a:ext cx="0" cy="39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1" idx="3"/>
            <a:endCxn id="72" idx="1"/>
          </p:cNvCxnSpPr>
          <p:nvPr/>
        </p:nvCxnSpPr>
        <p:spPr>
          <a:xfrm>
            <a:off x="5097742" y="3130535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2" idx="2"/>
            <a:endCxn id="91" idx="0"/>
          </p:cNvCxnSpPr>
          <p:nvPr/>
        </p:nvCxnSpPr>
        <p:spPr>
          <a:xfrm rot="5400000">
            <a:off x="5365096" y="2557181"/>
            <a:ext cx="396426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424203" y="2944110"/>
            <a:ext cx="58669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 smtClean="0">
                <a:solidFill>
                  <a:schemeClr val="tx1"/>
                </a:solidFill>
              </a:rPr>
              <a:t>장애 발생 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10902" y="50328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중요공지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,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시스템안내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51" idx="3"/>
            <a:endCxn id="87" idx="1"/>
          </p:cNvCxnSpPr>
          <p:nvPr/>
        </p:nvCxnSpPr>
        <p:spPr>
          <a:xfrm>
            <a:off x="5097742" y="5176874"/>
            <a:ext cx="9131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7" idx="2"/>
            <a:endCxn id="192" idx="0"/>
          </p:cNvCxnSpPr>
          <p:nvPr/>
        </p:nvCxnSpPr>
        <p:spPr>
          <a:xfrm rot="5400000">
            <a:off x="5434308" y="4534308"/>
            <a:ext cx="240028" cy="18131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35010" y="5002392"/>
            <a:ext cx="7918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 smtClean="0">
                <a:solidFill>
                  <a:schemeClr val="tx1"/>
                </a:solidFill>
              </a:rPr>
              <a:t>정보가 있는 경우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342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메인홈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햄버거메뉴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클릭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로그인</a:t>
            </a:r>
            <a:r>
              <a:rPr lang="en-US" altLang="ko-KR" sz="800" dirty="0" smtClean="0">
                <a:solidFill>
                  <a:schemeClr val="tx1"/>
                </a:solidFill>
              </a:rPr>
              <a:t>-</a:t>
            </a:r>
            <a:r>
              <a:rPr lang="ko-KR" altLang="en-US" sz="800" dirty="0" smtClean="0">
                <a:solidFill>
                  <a:schemeClr val="tx1"/>
                </a:solidFill>
              </a:rPr>
              <a:t>방식 </a:t>
            </a:r>
            <a:r>
              <a:rPr lang="ko-KR" altLang="en-US" sz="800" dirty="0">
                <a:solidFill>
                  <a:schemeClr val="tx1"/>
                </a:solidFill>
              </a:rPr>
              <a:t>선택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3130536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104" idx="2"/>
          </p:cNvCxnSpPr>
          <p:nvPr/>
        </p:nvCxnSpPr>
        <p:spPr>
          <a:xfrm flipV="1">
            <a:off x="6928876" y="3130535"/>
            <a:ext cx="2229819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29698" y="323679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58695" y="3040535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1.2.2 </a:t>
            </a:r>
            <a:r>
              <a:rPr lang="ko-KR" altLang="en-US" sz="1200" dirty="0">
                <a:solidFill>
                  <a:schemeClr val="tx1"/>
                </a:solidFill>
              </a:rPr>
              <a:t>메인 페이지</a:t>
            </a:r>
          </a:p>
        </p:txBody>
      </p:sp>
      <p:cxnSp>
        <p:nvCxnSpPr>
          <p:cNvPr id="5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4" idx="1"/>
          </p:cNvCxnSpPr>
          <p:nvPr/>
        </p:nvCxnSpPr>
        <p:spPr>
          <a:xfrm>
            <a:off x="3266608" y="1772964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398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통합검색</a:t>
            </a:r>
          </a:p>
        </p:txBody>
      </p:sp>
      <p:cxnSp>
        <p:nvCxnSpPr>
          <p:cNvPr id="6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58" idx="1"/>
          </p:cNvCxnSpPr>
          <p:nvPr/>
        </p:nvCxnSpPr>
        <p:spPr>
          <a:xfrm>
            <a:off x="3266608" y="1772964"/>
            <a:ext cx="931134" cy="271091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186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알림현황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63" idx="1"/>
          </p:cNvCxnSpPr>
          <p:nvPr/>
        </p:nvCxnSpPr>
        <p:spPr>
          <a:xfrm>
            <a:off x="3266608" y="1772964"/>
            <a:ext cx="931134" cy="338970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398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통합검색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 err="1">
                <a:solidFill>
                  <a:schemeClr val="tx1"/>
                </a:solidFill>
              </a:rPr>
              <a:t>결과목록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58" idx="3"/>
            <a:endCxn id="68" idx="1"/>
          </p:cNvCxnSpPr>
          <p:nvPr/>
        </p:nvCxnSpPr>
        <p:spPr>
          <a:xfrm>
            <a:off x="5097742" y="4483878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세부 메뉴 이동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93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로그인필요서비스안내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532876" y="2060260"/>
            <a:ext cx="1033937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미로그인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상태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r>
              <a:rPr lang="ko-KR" altLang="en-US" sz="800" dirty="0" smtClean="0">
                <a:solidFill>
                  <a:schemeClr val="tx1"/>
                </a:solidFill>
              </a:rPr>
              <a:t>로그인 필요 메뉴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501866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 페이지 이동</a:t>
            </a: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8" idx="2"/>
            <a:endCxn id="133" idx="0"/>
          </p:cNvCxnSpPr>
          <p:nvPr/>
        </p:nvCxnSpPr>
        <p:spPr>
          <a:xfrm>
            <a:off x="6478876" y="4627878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3" idx="3"/>
            <a:endCxn id="133" idx="1"/>
          </p:cNvCxnSpPr>
          <p:nvPr/>
        </p:nvCxnSpPr>
        <p:spPr>
          <a:xfrm flipV="1">
            <a:off x="5097742" y="5162663"/>
            <a:ext cx="9311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66824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사용자등록안내</a:t>
            </a:r>
          </a:p>
        </p:txBody>
      </p:sp>
      <p:cxnSp>
        <p:nvCxnSpPr>
          <p:cNvPr id="1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3" idx="3"/>
            <a:endCxn id="104" idx="2"/>
          </p:cNvCxnSpPr>
          <p:nvPr/>
        </p:nvCxnSpPr>
        <p:spPr>
          <a:xfrm>
            <a:off x="6928876" y="1772964"/>
            <a:ext cx="2229819" cy="135757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69029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 smtClean="0">
                <a:solidFill>
                  <a:schemeClr val="tx1"/>
                </a:solidFill>
              </a:rPr>
              <a:t>챗봇문의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71" idx="1"/>
          </p:cNvCxnSpPr>
          <p:nvPr/>
        </p:nvCxnSpPr>
        <p:spPr>
          <a:xfrm>
            <a:off x="3266608" y="1772964"/>
            <a:ext cx="931134" cy="40613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5" idx="3"/>
            <a:endCxn id="104" idx="2"/>
          </p:cNvCxnSpPr>
          <p:nvPr/>
        </p:nvCxnSpPr>
        <p:spPr>
          <a:xfrm flipV="1">
            <a:off x="6928876" y="3130535"/>
            <a:ext cx="2229819" cy="68170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42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사용자 등록 안내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-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</a:p>
        </p:txBody>
      </p:sp>
      <p:grpSp>
        <p:nvGrpSpPr>
          <p:cNvPr id="75" name="그룹 7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76" name="그룹 75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8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3" idx="2"/>
            <a:endCxn id="112" idx="0"/>
          </p:cNvCxnSpPr>
          <p:nvPr/>
        </p:nvCxnSpPr>
        <p:spPr>
          <a:xfrm>
            <a:off x="6478876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2" idx="2"/>
            <a:endCxn id="34" idx="0"/>
          </p:cNvCxnSpPr>
          <p:nvPr/>
        </p:nvCxnSpPr>
        <p:spPr>
          <a:xfrm>
            <a:off x="6478876" y="2595750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2"/>
            <a:endCxn id="145" idx="0"/>
          </p:cNvCxnSpPr>
          <p:nvPr/>
        </p:nvCxnSpPr>
        <p:spPr>
          <a:xfrm>
            <a:off x="6478876" y="3274536"/>
            <a:ext cx="0" cy="39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3" idx="3"/>
            <a:endCxn id="104" idx="2"/>
          </p:cNvCxnSpPr>
          <p:nvPr/>
        </p:nvCxnSpPr>
        <p:spPr>
          <a:xfrm flipV="1">
            <a:off x="6928876" y="3130535"/>
            <a:ext cx="2229819" cy="20321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1" idx="3"/>
            <a:endCxn id="102" idx="2"/>
          </p:cNvCxnSpPr>
          <p:nvPr/>
        </p:nvCxnSpPr>
        <p:spPr>
          <a:xfrm flipV="1">
            <a:off x="5097742" y="3359904"/>
            <a:ext cx="4150953" cy="247439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973386" y="1485248"/>
            <a:ext cx="1136530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err="1" smtClean="0">
                <a:solidFill>
                  <a:schemeClr val="tx1"/>
                </a:solidFill>
              </a:rPr>
              <a:t>기로그인</a:t>
            </a:r>
            <a:r>
              <a:rPr lang="ko-KR" altLang="en-US" sz="800" dirty="0" smtClean="0">
                <a:solidFill>
                  <a:schemeClr val="tx1"/>
                </a:solidFill>
              </a:rPr>
              <a:t> 상태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r>
              <a:rPr lang="ko-KR" altLang="en-US" sz="800" dirty="0" smtClean="0">
                <a:solidFill>
                  <a:schemeClr val="tx1"/>
                </a:solidFill>
              </a:rPr>
              <a:t>로그인 불필요 메뉴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48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 err="1">
                <a:solidFill>
                  <a:schemeClr val="tx1"/>
                </a:solidFill>
              </a:rPr>
              <a:t>방식선택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266608" y="1772964"/>
            <a:ext cx="81534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1064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선택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9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09" idx="1"/>
          </p:cNvCxnSpPr>
          <p:nvPr/>
        </p:nvCxnSpPr>
        <p:spPr>
          <a:xfrm>
            <a:off x="3266608" y="1772964"/>
            <a:ext cx="815348" cy="32971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Any-ID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솔루션 프로세스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101" idx="1"/>
          </p:cNvCxnSpPr>
          <p:nvPr/>
        </p:nvCxnSpPr>
        <p:spPr>
          <a:xfrm>
            <a:off x="5207373" y="1772964"/>
            <a:ext cx="8215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인증성공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 err="1">
                <a:solidFill>
                  <a:schemeClr val="tx1"/>
                </a:solidFill>
              </a:rPr>
              <a:t>실패안내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인증성공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 err="1">
                <a:solidFill>
                  <a:schemeClr val="tx1"/>
                </a:solidFill>
              </a:rPr>
              <a:t>실패안내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1" idx="3"/>
            <a:endCxn id="124" idx="1"/>
          </p:cNvCxnSpPr>
          <p:nvPr/>
        </p:nvCxnSpPr>
        <p:spPr>
          <a:xfrm>
            <a:off x="6928876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3483918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3282255"/>
            <a:ext cx="180000" cy="180000"/>
            <a:chOff x="5058274" y="2498299"/>
            <a:chExt cx="180000" cy="180000"/>
          </a:xfrm>
        </p:grpSpPr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인증센터</a:t>
            </a:r>
          </a:p>
        </p:txBody>
      </p:sp>
      <p:cxnSp>
        <p:nvCxnSpPr>
          <p:cNvPr id="20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4" idx="3"/>
            <a:endCxn id="205" idx="1"/>
          </p:cNvCxnSpPr>
          <p:nvPr/>
        </p:nvCxnSpPr>
        <p:spPr>
          <a:xfrm>
            <a:off x="5094665" y="2545861"/>
            <a:ext cx="934211" cy="584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2986536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미 등록</a:t>
            </a: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2310649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기 등록</a:t>
            </a:r>
          </a:p>
        </p:txBody>
      </p:sp>
      <p:sp>
        <p:nvSpPr>
          <p:cNvPr id="25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/>
            <a:r>
              <a:rPr lang="ko-KR" altLang="en-US" sz="800" dirty="0">
                <a:solidFill>
                  <a:schemeClr val="tx1"/>
                </a:solidFill>
              </a:rPr>
              <a:t>인증서 가져오기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 algn="ctr"/>
            <a:r>
              <a:rPr lang="en-US" altLang="ko-KR" sz="700" dirty="0">
                <a:solidFill>
                  <a:prstClr val="black"/>
                </a:solidFill>
              </a:rPr>
              <a:t>(PC </a:t>
            </a:r>
            <a:r>
              <a:rPr lang="en-US" altLang="ko-KR" sz="700" dirty="0">
                <a:solidFill>
                  <a:prstClr val="black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700" dirty="0">
                <a:solidFill>
                  <a:prstClr val="black"/>
                </a:solidFill>
                <a:sym typeface="Wingdings" panose="05000000000000000000" pitchFamily="2" charset="2"/>
              </a:rPr>
              <a:t>모바일</a:t>
            </a:r>
            <a:r>
              <a:rPr lang="en-US" altLang="ko-KR" sz="700" dirty="0">
                <a:solidFill>
                  <a:prstClr val="black"/>
                </a:solidFill>
              </a:rPr>
              <a:t>)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05" idx="3"/>
            <a:endCxn id="259" idx="1"/>
          </p:cNvCxnSpPr>
          <p:nvPr/>
        </p:nvCxnSpPr>
        <p:spPr>
          <a:xfrm>
            <a:off x="6928876" y="313053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직사각형 26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853858" y="2180725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회원정보 없음</a:t>
            </a:r>
          </a:p>
        </p:txBody>
      </p:sp>
      <p:cxnSp>
        <p:nvCxnSpPr>
          <p:cNvPr id="2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59" idx="0"/>
            <a:endCxn id="76" idx="2"/>
          </p:cNvCxnSpPr>
          <p:nvPr/>
        </p:nvCxnSpPr>
        <p:spPr>
          <a:xfrm rot="16200000" flipV="1">
            <a:off x="7200500" y="1877026"/>
            <a:ext cx="387887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직사각형 28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853858" y="1508753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회원정보 있음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42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사용자 등록 안내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-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.</a:t>
            </a:r>
          </a:p>
        </p:txBody>
      </p:sp>
      <p:cxnSp>
        <p:nvCxnSpPr>
          <p:cNvPr id="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5" idx="3"/>
            <a:endCxn id="166" idx="2"/>
          </p:cNvCxnSpPr>
          <p:nvPr/>
        </p:nvCxnSpPr>
        <p:spPr>
          <a:xfrm>
            <a:off x="8760010" y="2451750"/>
            <a:ext cx="436938" cy="92050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1.2.3 </a:t>
            </a:r>
            <a:r>
              <a:rPr lang="ko-KR" altLang="en-US" sz="1200" dirty="0">
                <a:solidFill>
                  <a:schemeClr val="tx1"/>
                </a:solidFill>
              </a:rPr>
              <a:t>로그인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n-US" altLang="ko-KR" sz="1200" dirty="0" smtClean="0">
                <a:solidFill>
                  <a:schemeClr val="tx1"/>
                </a:solidFill>
              </a:rPr>
              <a:t>1/2)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cxnSp>
        <p:nvCxnSpPr>
          <p:cNvPr id="6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1" idx="3"/>
            <a:endCxn id="125" idx="1"/>
          </p:cNvCxnSpPr>
          <p:nvPr/>
        </p:nvCxnSpPr>
        <p:spPr>
          <a:xfrm>
            <a:off x="6928876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그룹 6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69" name="그룹 6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1665891"/>
            <a:ext cx="900000" cy="293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간편인증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354308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477550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</a:t>
            </a:r>
            <a:r>
              <a:rPr lang="ko-KR" altLang="en-US" sz="800" dirty="0">
                <a:solidFill>
                  <a:schemeClr val="tx1"/>
                </a:solidFill>
              </a:rPr>
              <a:t>찾기</a:t>
            </a:r>
          </a:p>
        </p:txBody>
      </p:sp>
      <p:sp>
        <p:nvSpPr>
          <p:cNvPr id="10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513738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PW</a:t>
            </a:r>
            <a:r>
              <a:rPr lang="ko-KR" altLang="en-US" sz="800" dirty="0">
                <a:solidFill>
                  <a:schemeClr val="tx1"/>
                </a:solidFill>
              </a:rPr>
              <a:t>찾기</a:t>
            </a:r>
          </a:p>
        </p:txBody>
      </p:sp>
      <p:sp>
        <p:nvSpPr>
          <p:cNvPr id="1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549925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사용자등록안내</a:t>
            </a:r>
          </a:p>
        </p:txBody>
      </p:sp>
      <p:sp>
        <p:nvSpPr>
          <p:cNvPr id="1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1956" y="4247160"/>
            <a:ext cx="1125417" cy="1645935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b="1" dirty="0" smtClean="0">
                <a:solidFill>
                  <a:schemeClr val="tx1"/>
                </a:solidFill>
              </a:rPr>
              <a:t>ID/PW</a:t>
            </a:r>
            <a:r>
              <a:rPr lang="ko-KR" altLang="en-US" sz="800" b="1" dirty="0" smtClean="0">
                <a:solidFill>
                  <a:schemeClr val="tx1"/>
                </a:solidFill>
              </a:rPr>
              <a:t>로그인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1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1956" y="1449344"/>
            <a:ext cx="1125417" cy="1716811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en-US" altLang="ko-KR" sz="800" b="1" dirty="0" smtClean="0">
                <a:solidFill>
                  <a:schemeClr val="tx1"/>
                </a:solidFill>
              </a:rPr>
              <a:t>Any-ID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1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2032415"/>
            <a:ext cx="900000" cy="293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금융인증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2398939"/>
            <a:ext cx="900000" cy="293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공동인증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2764577"/>
            <a:ext cx="900000" cy="293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모바일신분증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4665" y="44107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11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04" idx="1"/>
          </p:cNvCxnSpPr>
          <p:nvPr/>
        </p:nvCxnSpPr>
        <p:spPr>
          <a:xfrm>
            <a:off x="3266608" y="1772964"/>
            <a:ext cx="928057" cy="1914124"/>
          </a:xfrm>
          <a:prstGeom prst="bentConnector3">
            <a:avLst>
              <a:gd name="adj1" fmla="val 4437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4" idx="3"/>
            <a:endCxn id="76" idx="1"/>
          </p:cNvCxnSpPr>
          <p:nvPr/>
        </p:nvCxnSpPr>
        <p:spPr>
          <a:xfrm flipV="1">
            <a:off x="5094665" y="2454649"/>
            <a:ext cx="934211" cy="912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54308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생체인증등록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1941" y="354308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생체인증등록완료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4" idx="3"/>
            <a:endCxn id="149" idx="1"/>
          </p:cNvCxnSpPr>
          <p:nvPr/>
        </p:nvCxnSpPr>
        <p:spPr>
          <a:xfrm>
            <a:off x="5094665" y="3687088"/>
            <a:ext cx="93421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49" idx="3"/>
            <a:endCxn id="150" idx="1"/>
          </p:cNvCxnSpPr>
          <p:nvPr/>
        </p:nvCxnSpPr>
        <p:spPr>
          <a:xfrm>
            <a:off x="6928876" y="3687088"/>
            <a:ext cx="92306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4" idx="3"/>
            <a:endCxn id="166" idx="2"/>
          </p:cNvCxnSpPr>
          <p:nvPr/>
        </p:nvCxnSpPr>
        <p:spPr>
          <a:xfrm>
            <a:off x="8760010" y="1772964"/>
            <a:ext cx="436938" cy="1599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0" idx="2"/>
            <a:endCxn id="197" idx="0"/>
          </p:cNvCxnSpPr>
          <p:nvPr/>
        </p:nvCxnSpPr>
        <p:spPr>
          <a:xfrm rot="5400000">
            <a:off x="7295053" y="3014912"/>
            <a:ext cx="190712" cy="182306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77550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등록정보로찾기</a:t>
            </a:r>
          </a:p>
        </p:txBody>
      </p:sp>
      <p:sp>
        <p:nvSpPr>
          <p:cNvPr id="1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1941" y="477550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찾기결과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513247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PW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등록정보로찾기</a:t>
            </a:r>
          </a:p>
        </p:txBody>
      </p:sp>
      <p:sp>
        <p:nvSpPr>
          <p:cNvPr id="17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1941" y="513247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PW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찾기결과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73" name="직선 화살표 연결선 17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5" idx="3"/>
            <a:endCxn id="169" idx="1"/>
          </p:cNvCxnSpPr>
          <p:nvPr/>
        </p:nvCxnSpPr>
        <p:spPr>
          <a:xfrm>
            <a:off x="5094665" y="4919507"/>
            <a:ext cx="93421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69" idx="3"/>
            <a:endCxn id="170" idx="1"/>
          </p:cNvCxnSpPr>
          <p:nvPr/>
        </p:nvCxnSpPr>
        <p:spPr>
          <a:xfrm>
            <a:off x="6928876" y="4919507"/>
            <a:ext cx="92306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0" idx="3"/>
            <a:endCxn id="166" idx="2"/>
          </p:cNvCxnSpPr>
          <p:nvPr/>
        </p:nvCxnSpPr>
        <p:spPr>
          <a:xfrm flipV="1">
            <a:off x="8751941" y="3372255"/>
            <a:ext cx="445007" cy="154725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2" idx="3"/>
            <a:endCxn id="166" idx="2"/>
          </p:cNvCxnSpPr>
          <p:nvPr/>
        </p:nvCxnSpPr>
        <p:spPr>
          <a:xfrm flipV="1">
            <a:off x="8751941" y="3372255"/>
            <a:ext cx="445007" cy="190422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71" idx="3"/>
            <a:endCxn id="172" idx="1"/>
          </p:cNvCxnSpPr>
          <p:nvPr/>
        </p:nvCxnSpPr>
        <p:spPr>
          <a:xfrm>
            <a:off x="6928876" y="5276479"/>
            <a:ext cx="92306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6" idx="3"/>
            <a:endCxn id="171" idx="1"/>
          </p:cNvCxnSpPr>
          <p:nvPr/>
        </p:nvCxnSpPr>
        <p:spPr>
          <a:xfrm flipV="1">
            <a:off x="5094665" y="5276479"/>
            <a:ext cx="934211" cy="4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166" idx="2"/>
          </p:cNvCxnSpPr>
          <p:nvPr/>
        </p:nvCxnSpPr>
        <p:spPr>
          <a:xfrm flipV="1">
            <a:off x="5207373" y="3372255"/>
            <a:ext cx="3989575" cy="1196806"/>
          </a:xfrm>
          <a:prstGeom prst="bentConnector3">
            <a:avLst>
              <a:gd name="adj1" fmla="val 9431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02180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생체인증</a:t>
            </a:r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로그인 실행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9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4" idx="3"/>
            <a:endCxn id="197" idx="1"/>
          </p:cNvCxnSpPr>
          <p:nvPr/>
        </p:nvCxnSpPr>
        <p:spPr>
          <a:xfrm>
            <a:off x="5094665" y="3687088"/>
            <a:ext cx="934211" cy="4787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97" idx="3"/>
            <a:endCxn id="166" idx="2"/>
          </p:cNvCxnSpPr>
          <p:nvPr/>
        </p:nvCxnSpPr>
        <p:spPr>
          <a:xfrm flipV="1">
            <a:off x="6928876" y="3372255"/>
            <a:ext cx="2268072" cy="793545"/>
          </a:xfrm>
          <a:prstGeom prst="bentConnector3">
            <a:avLst>
              <a:gd name="adj1" fmla="val 899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3533675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미 등록</a:t>
            </a:r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4023779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기 등록</a:t>
            </a:r>
          </a:p>
        </p:txBody>
      </p: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0"/>
            <a:endCxn id="101" idx="2"/>
          </p:cNvCxnSpPr>
          <p:nvPr/>
        </p:nvCxnSpPr>
        <p:spPr>
          <a:xfrm flipV="1">
            <a:off x="6478876" y="1916964"/>
            <a:ext cx="0" cy="3936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877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메인홈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햄버거메뉴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클릭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2"/>
            <a:endCxn id="70" idx="0"/>
          </p:cNvCxnSpPr>
          <p:nvPr/>
        </p:nvCxnSpPr>
        <p:spPr>
          <a:xfrm>
            <a:off x="2816608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사용자 </a:t>
            </a:r>
            <a:r>
              <a:rPr lang="ko-KR" altLang="en-US" sz="800" dirty="0" smtClean="0">
                <a:solidFill>
                  <a:schemeClr val="tx1"/>
                </a:solidFill>
              </a:rPr>
              <a:t>로그인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상태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구버전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r>
              <a:rPr lang="en-US" altLang="ko-KR" sz="800" dirty="0" smtClean="0">
                <a:solidFill>
                  <a:schemeClr val="tx1"/>
                </a:solidFill>
              </a:rPr>
              <a:t>ID </a:t>
            </a:r>
            <a:r>
              <a:rPr lang="ko-KR" altLang="en-US" sz="800" dirty="0" smtClean="0">
                <a:solidFill>
                  <a:schemeClr val="tx1"/>
                </a:solidFill>
              </a:rPr>
              <a:t>로그인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2724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3"/>
            <a:endCxn id="75" idx="1"/>
          </p:cNvCxnSpPr>
          <p:nvPr/>
        </p:nvCxnSpPr>
        <p:spPr>
          <a:xfrm flipV="1">
            <a:off x="3266608" y="2451750"/>
            <a:ext cx="931134" cy="67938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333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로그아웃안내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3"/>
            <a:endCxn id="108" idx="1"/>
          </p:cNvCxnSpPr>
          <p:nvPr/>
        </p:nvCxnSpPr>
        <p:spPr>
          <a:xfrm>
            <a:off x="3266608" y="517731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8" idx="3"/>
            <a:endCxn id="115" idx="2"/>
          </p:cNvCxnSpPr>
          <p:nvPr/>
        </p:nvCxnSpPr>
        <p:spPr>
          <a:xfrm flipV="1">
            <a:off x="5097742" y="3812061"/>
            <a:ext cx="4099206" cy="1365253"/>
          </a:xfrm>
          <a:prstGeom prst="bentConnector3">
            <a:avLst>
              <a:gd name="adj1" fmla="val 9482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3919769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3722061"/>
            <a:ext cx="180000" cy="180000"/>
            <a:chOff x="5058274" y="2498299"/>
            <a:chExt cx="180000" cy="180000"/>
          </a:xfrm>
        </p:grpSpPr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1.2.3 </a:t>
            </a:r>
            <a:r>
              <a:rPr lang="ko-KR" altLang="en-US" sz="1200" dirty="0">
                <a:solidFill>
                  <a:schemeClr val="tx1"/>
                </a:solidFill>
              </a:rPr>
              <a:t>로그인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n-US" altLang="ko-KR" sz="1200" dirty="0" smtClean="0">
                <a:solidFill>
                  <a:schemeClr val="tx1"/>
                </a:solidFill>
              </a:rPr>
              <a:t>2/2)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 사용자 등록 안내 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-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앱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grpSp>
        <p:nvGrpSpPr>
          <p:cNvPr id="56" name="그룹 5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57" name="그룹 56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63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987132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 err="1">
                <a:solidFill>
                  <a:schemeClr val="tx1"/>
                </a:solidFill>
              </a:rPr>
              <a:t>방식선택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>
            <a:off x="2816608" y="2595750"/>
            <a:ext cx="0" cy="3913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로그인 필요 서비스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로그인필요서비스안내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76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3"/>
            <a:endCxn id="80" idx="1"/>
          </p:cNvCxnSpPr>
          <p:nvPr/>
        </p:nvCxnSpPr>
        <p:spPr>
          <a:xfrm>
            <a:off x="6928876" y="1772964"/>
            <a:ext cx="928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0" idx="3"/>
            <a:endCxn id="115" idx="2"/>
          </p:cNvCxnSpPr>
          <p:nvPr/>
        </p:nvCxnSpPr>
        <p:spPr>
          <a:xfrm>
            <a:off x="8756934" y="1772964"/>
            <a:ext cx="440014" cy="20390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9" idx="3"/>
            <a:endCxn id="77" idx="1"/>
          </p:cNvCxnSpPr>
          <p:nvPr/>
        </p:nvCxnSpPr>
        <p:spPr>
          <a:xfrm flipV="1">
            <a:off x="3266608" y="3130536"/>
            <a:ext cx="931134" cy="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503331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로그아웃 </a:t>
            </a:r>
            <a:r>
              <a:rPr lang="ko-KR" altLang="en-US" sz="800" dirty="0">
                <a:solidFill>
                  <a:schemeClr val="tx1"/>
                </a:solidFill>
              </a:rPr>
              <a:t>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클릭</a:t>
            </a:r>
          </a:p>
        </p:txBody>
      </p:sp>
      <p:cxnSp>
        <p:nvCxnSpPr>
          <p:cNvPr id="9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98" idx="1"/>
          </p:cNvCxnSpPr>
          <p:nvPr/>
        </p:nvCxnSpPr>
        <p:spPr>
          <a:xfrm>
            <a:off x="1435474" y="1772964"/>
            <a:ext cx="931134" cy="3404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3858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3858" y="36680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통합로그인계정등록완료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2724" y="434737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로그인업체설정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684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신규버전</a:t>
            </a:r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ID </a:t>
            </a:r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로그인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2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5401365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시간 초과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120" idx="1"/>
          </p:cNvCxnSpPr>
          <p:nvPr/>
        </p:nvCxnSpPr>
        <p:spPr>
          <a:xfrm>
            <a:off x="1435474" y="1772964"/>
            <a:ext cx="931134" cy="377240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108" idx="1"/>
          </p:cNvCxnSpPr>
          <p:nvPr/>
        </p:nvCxnSpPr>
        <p:spPr>
          <a:xfrm flipV="1">
            <a:off x="3266608" y="5177314"/>
            <a:ext cx="931134" cy="368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3"/>
            <a:endCxn id="116" idx="1"/>
          </p:cNvCxnSpPr>
          <p:nvPr/>
        </p:nvCxnSpPr>
        <p:spPr>
          <a:xfrm>
            <a:off x="3266608" y="3131132"/>
            <a:ext cx="931134" cy="135971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PC </a:t>
            </a:r>
            <a:r>
              <a:rPr lang="ko-KR" altLang="en-US" sz="800" dirty="0" smtClean="0">
                <a:solidFill>
                  <a:schemeClr val="tx1"/>
                </a:solidFill>
              </a:rPr>
              <a:t>로그인 완료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253595" y="4826590"/>
            <a:ext cx="1125417" cy="968870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로그인 이후</a:t>
            </a:r>
          </a:p>
        </p:txBody>
      </p:sp>
      <p:cxnSp>
        <p:nvCxnSpPr>
          <p:cNvPr id="13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9" idx="3"/>
            <a:endCxn id="115" idx="2"/>
          </p:cNvCxnSpPr>
          <p:nvPr/>
        </p:nvCxnSpPr>
        <p:spPr>
          <a:xfrm flipV="1">
            <a:off x="6922724" y="3812061"/>
            <a:ext cx="2274224" cy="679318"/>
          </a:xfrm>
          <a:prstGeom prst="bentConnector3">
            <a:avLst>
              <a:gd name="adj1" fmla="val 9059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5799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PCQR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5" idx="3"/>
            <a:endCxn id="145" idx="1"/>
          </p:cNvCxnSpPr>
          <p:nvPr/>
        </p:nvCxnSpPr>
        <p:spPr>
          <a:xfrm>
            <a:off x="5097742" y="2451750"/>
            <a:ext cx="92805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45" idx="3"/>
            <a:endCxn id="132" idx="1"/>
          </p:cNvCxnSpPr>
          <p:nvPr/>
        </p:nvCxnSpPr>
        <p:spPr>
          <a:xfrm>
            <a:off x="6925799" y="2451750"/>
            <a:ext cx="9311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2" idx="3"/>
            <a:endCxn id="115" idx="2"/>
          </p:cNvCxnSpPr>
          <p:nvPr/>
        </p:nvCxnSpPr>
        <p:spPr>
          <a:xfrm>
            <a:off x="8756934" y="2451750"/>
            <a:ext cx="440014" cy="136031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>
            <a:off x="5097742" y="3130536"/>
            <a:ext cx="92498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화살표 연결선 16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8" idx="3"/>
            <a:endCxn id="105" idx="1"/>
          </p:cNvCxnSpPr>
          <p:nvPr/>
        </p:nvCxnSpPr>
        <p:spPr>
          <a:xfrm>
            <a:off x="6922724" y="313053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5" idx="2"/>
            <a:endCxn id="107" idx="0"/>
          </p:cNvCxnSpPr>
          <p:nvPr/>
        </p:nvCxnSpPr>
        <p:spPr>
          <a:xfrm>
            <a:off x="8303858" y="3274536"/>
            <a:ext cx="0" cy="39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7" idx="1"/>
            <a:endCxn id="116" idx="0"/>
          </p:cNvCxnSpPr>
          <p:nvPr/>
        </p:nvCxnSpPr>
        <p:spPr>
          <a:xfrm rot="10800000" flipV="1">
            <a:off x="4647742" y="3812060"/>
            <a:ext cx="3206116" cy="5347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6" idx="3"/>
            <a:endCxn id="109" idx="1"/>
          </p:cNvCxnSpPr>
          <p:nvPr/>
        </p:nvCxnSpPr>
        <p:spPr>
          <a:xfrm>
            <a:off x="5097742" y="4490846"/>
            <a:ext cx="924982" cy="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025109" y="4089815"/>
            <a:ext cx="931345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사용자의 업체가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r>
              <a:rPr lang="ko-KR" altLang="en-US" sz="800" dirty="0" smtClean="0">
                <a:solidFill>
                  <a:schemeClr val="tx1"/>
                </a:solidFill>
              </a:rPr>
              <a:t>여러 개인 경우 노출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435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앱실행스플래시</a:t>
            </a:r>
            <a:r>
              <a:rPr lang="en-US" altLang="ko-KR" sz="1000" dirty="0">
                <a:solidFill>
                  <a:schemeClr val="tx1"/>
                </a:solidFill>
              </a:rPr>
              <a:t>–</a:t>
            </a:r>
            <a:r>
              <a:rPr lang="ko-KR" altLang="en-US" sz="1000" dirty="0">
                <a:solidFill>
                  <a:schemeClr val="tx1"/>
                </a:solidFill>
              </a:rPr>
              <a:t>로고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SplashPage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앱업데이트안내팝업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AppUpdateInfo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앱접근권한동의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AppAuthrtAgrePage</a:t>
            </a:r>
            <a:r>
              <a:rPr lang="en-US" altLang="ko-KR" sz="700" dirty="0" err="1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앱접근권한동의팝업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AppAuthrtAgrePage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앱오류안내팝업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AppErrInfo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앱이용안내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AppSrvcExpln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메인홈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MscrnPage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중요공지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,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시스템안내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SysExpln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통합검색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IntgSrchPage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통합검색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결과목록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IntgSrch_Rslt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햄버거메뉴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MenuPage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사용자 등록 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UserRegInfoPage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로그인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방식선택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MainLoginPage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알림현황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notiPrstPage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챗봇문의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ChatbotPage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805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ID/PW </a:t>
            </a:r>
            <a:r>
              <a:rPr lang="ko-KR" altLang="en-US" sz="1000" dirty="0">
                <a:solidFill>
                  <a:schemeClr val="tx1"/>
                </a:solidFill>
              </a:rPr>
              <a:t>로그인</a:t>
            </a: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</a:rPr>
              <a:t>IdPswdLoginPage.tsx</a:t>
            </a: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IdFndngPage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등록정보로찾기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IdRegInfoFndngPage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찾기결과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IdRsltPage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등록정보로찾기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PswdRegInfoFndngPage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찾기결과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간편인증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SimpleCert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금융인증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FnstCert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공동인증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JntCert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모바일신분증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MobileIdntyCert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생체인증등록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BioInfoCertRegPage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인증성공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실패안내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</a:rPr>
              <a:t>CertRsltPage.tsx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생체인증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생체인증등록완료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5035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PCQR</a:t>
            </a:r>
            <a:r>
              <a:rPr lang="ko-KR" altLang="en-US" sz="1000" dirty="0">
                <a:solidFill>
                  <a:schemeClr val="tx1"/>
                </a:solidFill>
              </a:rPr>
              <a:t>로그인</a:t>
            </a: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</a:rPr>
              <a:t>PcQRLgnPage.tsx</a:t>
            </a: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로그아웃안내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LgoInfo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>
                <a:solidFill>
                  <a:schemeClr val="tx1"/>
                </a:solidFill>
                <a:latin typeface="+mn-ea"/>
              </a:rPr>
              <a:t>로그인필요서비스안내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LgnSrvcInfo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9100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사용자등록안내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UserRegInfoPage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436769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통합로그인계정등록안내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NewIdChgInfo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3882538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NewIdPwReg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33024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통합로그인계정등록완료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NewIdCmptn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782803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로그인업체설정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BzentyChc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3109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기동 시 노출되는 로고 </a:t>
            </a:r>
            <a:r>
              <a:rPr lang="ko-KR" altLang="en-US" dirty="0" err="1"/>
              <a:t>스플래시</a:t>
            </a:r>
            <a:r>
              <a:rPr lang="ko-KR" altLang="en-US" dirty="0"/>
              <a:t> 화면</a:t>
            </a:r>
            <a:endParaRPr lang="en-US" altLang="ko-KR" dirty="0"/>
          </a:p>
          <a:p>
            <a:pPr marL="369887" lvl="1"/>
            <a:r>
              <a:rPr lang="en-US" altLang="ko-KR" dirty="0"/>
              <a:t>1-1. </a:t>
            </a:r>
            <a:r>
              <a:rPr lang="ko-KR" altLang="en-US" dirty="0"/>
              <a:t>앱 실행 로딩 바 표시</a:t>
            </a:r>
            <a:endParaRPr lang="en-US" altLang="ko-KR" dirty="0"/>
          </a:p>
          <a:p>
            <a:pPr marL="369887" lvl="1"/>
            <a:r>
              <a:rPr lang="ko-KR" altLang="en-US" dirty="0"/>
              <a:t>보안 프로그램 로딩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앱실행스플래시</a:t>
            </a:r>
            <a:r>
              <a:rPr lang="en-US" altLang="ko-KR" dirty="0"/>
              <a:t>–</a:t>
            </a:r>
            <a:r>
              <a:rPr lang="ko-KR" altLang="en-US" dirty="0"/>
              <a:t>로고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앱을 실행 시 앱 노출되는 로고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실행 로고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MUI-MS-01-M01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103287" y="5662958"/>
            <a:ext cx="230028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b="1" dirty="0">
                <a:latin typeface="+mn-ea"/>
              </a:rPr>
              <a:t>보안 프로그램 목록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- 모바일 백신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mVacchine</a:t>
            </a:r>
            <a:r>
              <a:rPr lang="ko-KR" altLang="en-US" sz="700" dirty="0">
                <a:latin typeface="+mn-ea"/>
              </a:rPr>
              <a:t> V3.0 2.24</a:t>
            </a:r>
          </a:p>
          <a:p>
            <a:r>
              <a:rPr lang="ko-KR" altLang="en-US" sz="700" dirty="0">
                <a:latin typeface="+mn-ea"/>
              </a:rPr>
              <a:t>- 모바일키보드보안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mTransKey</a:t>
            </a:r>
            <a:r>
              <a:rPr lang="ko-KR" altLang="en-US" sz="700" dirty="0">
                <a:latin typeface="+mn-ea"/>
              </a:rPr>
              <a:t> 2.24</a:t>
            </a:r>
          </a:p>
          <a:p>
            <a:r>
              <a:rPr lang="ko-KR" altLang="en-US" sz="700" dirty="0">
                <a:latin typeface="+mn-ea"/>
              </a:rPr>
              <a:t>- </a:t>
            </a:r>
            <a:r>
              <a:rPr lang="ko-KR" altLang="en-US" sz="700" dirty="0" err="1">
                <a:latin typeface="+mn-ea"/>
              </a:rPr>
              <a:t>모바일앱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위변조방지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AppIron</a:t>
            </a:r>
            <a:r>
              <a:rPr lang="ko-KR" altLang="en-US" sz="700" dirty="0">
                <a:latin typeface="+mn-ea"/>
              </a:rPr>
              <a:t> V1.0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</a:t>
            </a:r>
            <a:r>
              <a:rPr lang="ko-KR" altLang="en-US" sz="700" dirty="0" err="1">
                <a:latin typeface="+mn-ea"/>
              </a:rPr>
              <a:t>Android</a:t>
            </a:r>
            <a:r>
              <a:rPr lang="ko-KR" altLang="en-US" sz="700" dirty="0">
                <a:latin typeface="+mn-ea"/>
              </a:rPr>
              <a:t>)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v2.0(IOS) 2.24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8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  <p:sp>
          <p:nvSpPr>
            <p:cNvPr id="40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</p:grp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744573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필수 접근권한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</a:t>
            </a:r>
            <a:r>
              <a:rPr lang="en-US" altLang="ko-KR" dirty="0"/>
              <a:t>ID, IP, </a:t>
            </a:r>
            <a:r>
              <a:rPr lang="ko-KR" altLang="en-US" dirty="0" err="1"/>
              <a:t>메뉴명</a:t>
            </a:r>
            <a:r>
              <a:rPr lang="en-US" altLang="ko-KR" dirty="0"/>
              <a:t>, OS, </a:t>
            </a:r>
            <a:r>
              <a:rPr lang="ko-KR" altLang="en-US" dirty="0"/>
              <a:t>접속방법</a:t>
            </a:r>
            <a:r>
              <a:rPr lang="en-US" altLang="ko-KR" dirty="0"/>
              <a:t>, </a:t>
            </a:r>
            <a:r>
              <a:rPr lang="ko-KR" altLang="en-US" dirty="0"/>
              <a:t>위치정보 수집</a:t>
            </a:r>
            <a:r>
              <a:rPr lang="en-US" altLang="ko-KR" dirty="0"/>
              <a:t>, </a:t>
            </a:r>
            <a:r>
              <a:rPr lang="ko-KR" altLang="en-US" dirty="0"/>
              <a:t>최근 접속 시간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접근권한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기능 사용시 사용되는 권한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버튼으로 필수 접근권한 </a:t>
            </a:r>
            <a:r>
              <a:rPr lang="ko-KR" altLang="en-US" dirty="0" err="1"/>
              <a:t>동의처리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 err="1">
                <a:solidFill>
                  <a:srgbClr val="FF0000"/>
                </a:solidFill>
              </a:rPr>
              <a:t>접근권한은</a:t>
            </a:r>
            <a:r>
              <a:rPr lang="ko-KR" altLang="en-US" dirty="0">
                <a:solidFill>
                  <a:srgbClr val="FF0000"/>
                </a:solidFill>
              </a:rPr>
              <a:t> 정책에 따라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ko-KR" altLang="en-US" dirty="0">
                <a:solidFill>
                  <a:srgbClr val="FF0000"/>
                </a:solidFill>
              </a:rPr>
              <a:t>추후 추가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변경될 수 있음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앱접근권한동의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앱에서 사용되는 접근권한 정보 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접근 권한 동의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003051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앱 접근권한 안내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1403619" y="1637051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231220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국방전자조달시스템에서는 다음 권한들을 사용합니다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r>
              <a:rPr lang="ko-KR" altLang="en-US" sz="700" dirty="0">
                <a:latin typeface="+mn-ea"/>
              </a:rPr>
              <a:t>서비스 시용을 위해 권한을 허용해 주시기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67363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필수 접근권한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2955665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기기 및 앱 기록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앱 상태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버전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확인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앱 접근 메뉴 확인</a:t>
            </a:r>
          </a:p>
        </p:txBody>
      </p:sp>
      <p:sp>
        <p:nvSpPr>
          <p:cNvPr id="3" name="타원 2"/>
          <p:cNvSpPr/>
          <p:nvPr/>
        </p:nvSpPr>
        <p:spPr>
          <a:xfrm>
            <a:off x="881401" y="2949087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29718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기기 </a:t>
            </a:r>
            <a:r>
              <a:rPr lang="en-US" altLang="ko-KR" sz="700" b="1" dirty="0">
                <a:latin typeface="+mn-ea"/>
              </a:rPr>
              <a:t>ID </a:t>
            </a:r>
            <a:r>
              <a:rPr lang="ko-KR" altLang="en-US" sz="700" b="1" dirty="0">
                <a:latin typeface="+mn-ea"/>
              </a:rPr>
              <a:t>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기기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식별</a:t>
            </a:r>
            <a:r>
              <a:rPr lang="en-US" altLang="ko-KR" sz="700" dirty="0">
                <a:latin typeface="+mn-ea"/>
              </a:rPr>
              <a:t>, OS </a:t>
            </a:r>
            <a:r>
              <a:rPr lang="ko-KR" altLang="en-US" sz="700" dirty="0">
                <a:latin typeface="+mn-ea"/>
              </a:rPr>
              <a:t>식별</a:t>
            </a:r>
          </a:p>
        </p:txBody>
      </p:sp>
      <p:sp>
        <p:nvSpPr>
          <p:cNvPr id="21" name="타원 20"/>
          <p:cNvSpPr/>
          <p:nvPr/>
        </p:nvSpPr>
        <p:spPr>
          <a:xfrm>
            <a:off x="881401" y="329060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629610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인터넷 연결 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</a:t>
            </a:r>
            <a:r>
              <a:rPr lang="en-US" altLang="ko-KR" sz="700" dirty="0">
                <a:latin typeface="+mn-ea"/>
              </a:rPr>
              <a:t>IP, </a:t>
            </a:r>
            <a:r>
              <a:rPr lang="ko-KR" altLang="en-US" sz="700" dirty="0">
                <a:latin typeface="+mn-ea"/>
              </a:rPr>
              <a:t>접속 정보 확인</a:t>
            </a:r>
          </a:p>
        </p:txBody>
      </p:sp>
      <p:sp>
        <p:nvSpPr>
          <p:cNvPr id="23" name="타원 22"/>
          <p:cNvSpPr/>
          <p:nvPr/>
        </p:nvSpPr>
        <p:spPr>
          <a:xfrm>
            <a:off x="881401" y="3623032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95545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위치 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위치 정보 확인</a:t>
            </a:r>
          </a:p>
        </p:txBody>
      </p:sp>
      <p:sp>
        <p:nvSpPr>
          <p:cNvPr id="25" name="타원 24"/>
          <p:cNvSpPr/>
          <p:nvPr/>
        </p:nvSpPr>
        <p:spPr>
          <a:xfrm>
            <a:off x="881401" y="394887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38207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선택 접근권한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4664103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전화 걸기 및 관리</a:t>
            </a:r>
          </a:p>
        </p:txBody>
      </p:sp>
      <p:sp>
        <p:nvSpPr>
          <p:cNvPr id="28" name="타원 27"/>
          <p:cNvSpPr/>
          <p:nvPr/>
        </p:nvSpPr>
        <p:spPr>
          <a:xfrm>
            <a:off x="881401" y="4657525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023077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사진</a:t>
            </a:r>
            <a:r>
              <a:rPr lang="en-US" altLang="ko-KR" sz="700" b="1" dirty="0">
                <a:latin typeface="+mn-ea"/>
              </a:rPr>
              <a:t>/</a:t>
            </a:r>
            <a:r>
              <a:rPr lang="ko-KR" altLang="en-US" sz="700" b="1" dirty="0">
                <a:latin typeface="+mn-ea"/>
              </a:rPr>
              <a:t>미디어</a:t>
            </a:r>
            <a:r>
              <a:rPr lang="en-US" altLang="ko-KR" sz="700" b="1" dirty="0">
                <a:latin typeface="+mn-ea"/>
              </a:rPr>
              <a:t>/</a:t>
            </a:r>
            <a:r>
              <a:rPr lang="ko-KR" altLang="en-US" sz="700" b="1" dirty="0">
                <a:latin typeface="+mn-ea"/>
              </a:rPr>
              <a:t>파일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이미지 파일첨부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문서 파일첨부</a:t>
            </a:r>
          </a:p>
        </p:txBody>
      </p:sp>
      <p:sp>
        <p:nvSpPr>
          <p:cNvPr id="30" name="타원 29"/>
          <p:cNvSpPr/>
          <p:nvPr/>
        </p:nvSpPr>
        <p:spPr>
          <a:xfrm>
            <a:off x="881401" y="5016499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381865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카메라</a:t>
            </a:r>
            <a:endParaRPr lang="en-US" altLang="ko-KR" sz="700" b="1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로그인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촬영 파일 등록</a:t>
            </a:r>
          </a:p>
        </p:txBody>
      </p:sp>
      <p:sp>
        <p:nvSpPr>
          <p:cNvPr id="33" name="타원 32"/>
          <p:cNvSpPr/>
          <p:nvPr/>
        </p:nvSpPr>
        <p:spPr>
          <a:xfrm>
            <a:off x="881401" y="5375287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88902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2343" y="1721212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선택 </a:t>
            </a:r>
            <a:r>
              <a:rPr lang="ko-KR" altLang="en-US" sz="700" dirty="0" err="1">
                <a:latin typeface="+mn-ea"/>
              </a:rPr>
              <a:t>접근권한은</a:t>
            </a:r>
            <a:r>
              <a:rPr lang="ko-KR" altLang="en-US" sz="700" dirty="0">
                <a:latin typeface="+mn-ea"/>
              </a:rPr>
              <a:t> 관련 기능 </a:t>
            </a:r>
            <a:r>
              <a:rPr lang="ko-KR" altLang="en-US" sz="700" dirty="0" err="1">
                <a:latin typeface="+mn-ea"/>
              </a:rPr>
              <a:t>이용시</a:t>
            </a:r>
            <a:r>
              <a:rPr lang="ko-KR" altLang="en-US" sz="700" dirty="0">
                <a:latin typeface="+mn-ea"/>
              </a:rPr>
              <a:t> 동의하실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r>
              <a:rPr lang="ko-KR" altLang="en-US" sz="700" dirty="0">
                <a:latin typeface="+mn-ea"/>
              </a:rPr>
              <a:t>미동의 시에도 해당 </a:t>
            </a:r>
            <a:r>
              <a:rPr lang="ko-KR" altLang="en-US" sz="700" dirty="0" err="1">
                <a:latin typeface="+mn-ea"/>
              </a:rPr>
              <a:t>기능외</a:t>
            </a:r>
            <a:r>
              <a:rPr lang="ko-KR" altLang="en-US" sz="700" dirty="0">
                <a:latin typeface="+mn-ea"/>
              </a:rPr>
              <a:t> 앱 서비스 이용이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endParaRPr lang="en-US" altLang="ko-KR" sz="700" dirty="0">
              <a:latin typeface="+mn-ea"/>
            </a:endParaRPr>
          </a:p>
          <a:p>
            <a:pPr algn="ctr"/>
            <a:r>
              <a:rPr lang="ko-KR" altLang="en-US" sz="700" dirty="0">
                <a:latin typeface="+mn-ea"/>
              </a:rPr>
              <a:t>휴대폰의 보안설정에서 접근 권한을 변경하실 수 있습니다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61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3939824" y="2446664"/>
            <a:ext cx="2410182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71603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알림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신청한 공고 알림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중요 알림 메시지</a:t>
            </a:r>
          </a:p>
        </p:txBody>
      </p:sp>
      <p:sp>
        <p:nvSpPr>
          <p:cNvPr id="63" name="타원 62"/>
          <p:cNvSpPr/>
          <p:nvPr/>
        </p:nvSpPr>
        <p:spPr>
          <a:xfrm>
            <a:off x="881401" y="570945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650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484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2836" y="25191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39" name="그룹 3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0" name="직사각형 3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우측 설계에서 </a:t>
              </a:r>
              <a:r>
                <a:rPr lang="ko-KR" altLang="en-US" sz="700" dirty="0" err="1" smtClean="0"/>
                <a:t>반복화면</a:t>
              </a:r>
              <a:r>
                <a:rPr lang="ko-KR" altLang="en-US" sz="700" dirty="0" smtClean="0"/>
                <a:t> 제거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06127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팝업이 뜰 때 배경 </a:t>
            </a:r>
            <a:r>
              <a:rPr lang="en-US" altLang="ko-KR" dirty="0"/>
              <a:t>Dim </a:t>
            </a:r>
            <a:r>
              <a:rPr lang="ko-KR" altLang="en-US" dirty="0"/>
              <a:t>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미동의 한 기능 사용 요청 시 팝업 반복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배경은 접근권한 안내는 </a:t>
            </a:r>
            <a:r>
              <a:rPr lang="ko-KR" altLang="en-US" dirty="0" err="1"/>
              <a:t>참고용이며</a:t>
            </a:r>
            <a:r>
              <a:rPr lang="en-US" altLang="ko-KR" dirty="0"/>
              <a:t>, </a:t>
            </a:r>
            <a:r>
              <a:rPr lang="ko-KR" altLang="en-US" dirty="0"/>
              <a:t>각 기능 페이지에서 팝업을 표시함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접근권한 안내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사용하려는 접근권한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취소 시 현재 팝업 닫고 끝내기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허용 시 접근권한 시스템 허용으로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사용하려는 기능 실행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허용 시 </a:t>
            </a:r>
            <a:r>
              <a:rPr lang="en-US" altLang="ko-KR" dirty="0"/>
              <a:t>: </a:t>
            </a:r>
            <a:r>
              <a:rPr lang="ko-KR" altLang="en-US" dirty="0"/>
              <a:t>허용 되었습니다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시 </a:t>
            </a:r>
            <a:r>
              <a:rPr lang="en-US" altLang="ko-KR" dirty="0"/>
              <a:t>: </a:t>
            </a:r>
            <a:r>
              <a:rPr lang="ko-KR" altLang="en-US" dirty="0"/>
              <a:t>취소 되었습니다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앱접근권한동의팝업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내에서 선택 접근권한 사용이 필요한 경우 팝업 표시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선택 접근권한 사용 시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접근 권한 동의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MUI-MS-01-P03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003051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900" b="1" dirty="0">
                  <a:latin typeface="+mn-ea"/>
                </a:rPr>
                <a:t>앱 접근권한 안내</a:t>
              </a:r>
            </a:p>
          </p:txBody>
        </p: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403619" y="1637051"/>
              <a:ext cx="1252261" cy="2144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231220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국방전자조달시스템에서는 다음 권한들을 사용합니다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pPr algn="ctr"/>
              <a:r>
                <a:rPr lang="ko-KR" altLang="en-US" sz="700" dirty="0">
                  <a:latin typeface="+mn-ea"/>
                </a:rPr>
                <a:t>서비스 시용을 위해 권한을 허용해 주시기 바랍니다</a:t>
              </a:r>
              <a:r>
                <a:rPr lang="en-US" altLang="ko-KR" sz="700" dirty="0">
                  <a:latin typeface="+mn-ea"/>
                </a:rPr>
                <a:t>.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673636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필수 접근권한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2955665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기기 및 앱 기록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앱 상태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버전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확인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앱 접근 메뉴 확인</a:t>
              </a:r>
            </a:p>
          </p:txBody>
        </p:sp>
        <p:sp>
          <p:nvSpPr>
            <p:cNvPr id="3" name="타원 2"/>
            <p:cNvSpPr/>
            <p:nvPr/>
          </p:nvSpPr>
          <p:spPr>
            <a:xfrm>
              <a:off x="881401" y="2949087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29718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기기 </a:t>
              </a:r>
              <a:r>
                <a:rPr lang="en-US" altLang="ko-KR" sz="700" b="1" dirty="0">
                  <a:latin typeface="+mn-ea"/>
                </a:rPr>
                <a:t>ID </a:t>
              </a:r>
              <a:r>
                <a:rPr lang="ko-KR" altLang="en-US" sz="700" b="1" dirty="0">
                  <a:latin typeface="+mn-ea"/>
                </a:rPr>
                <a:t>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기기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식별</a:t>
              </a:r>
              <a:r>
                <a:rPr lang="en-US" altLang="ko-KR" sz="700" dirty="0">
                  <a:latin typeface="+mn-ea"/>
                </a:rPr>
                <a:t>, OS </a:t>
              </a:r>
              <a:r>
                <a:rPr lang="ko-KR" altLang="en-US" sz="700" dirty="0">
                  <a:latin typeface="+mn-ea"/>
                </a:rPr>
                <a:t>식별</a:t>
              </a:r>
            </a:p>
          </p:txBody>
        </p:sp>
        <p:sp>
          <p:nvSpPr>
            <p:cNvPr id="21" name="타원 20"/>
            <p:cNvSpPr/>
            <p:nvPr/>
          </p:nvSpPr>
          <p:spPr>
            <a:xfrm>
              <a:off x="881401" y="329060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629610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인터넷 연결 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</a:t>
              </a:r>
              <a:r>
                <a:rPr lang="en-US" altLang="ko-KR" sz="700" dirty="0">
                  <a:latin typeface="+mn-ea"/>
                </a:rPr>
                <a:t>IP, </a:t>
              </a:r>
              <a:r>
                <a:rPr lang="ko-KR" altLang="en-US" sz="700" dirty="0">
                  <a:latin typeface="+mn-ea"/>
                </a:rPr>
                <a:t>접속 정보 확인</a:t>
              </a:r>
            </a:p>
          </p:txBody>
        </p:sp>
        <p:sp>
          <p:nvSpPr>
            <p:cNvPr id="23" name="타원 22"/>
            <p:cNvSpPr/>
            <p:nvPr/>
          </p:nvSpPr>
          <p:spPr>
            <a:xfrm>
              <a:off x="881401" y="3623032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95545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위치 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위치 정보 확인</a:t>
              </a:r>
            </a:p>
          </p:txBody>
        </p:sp>
        <p:sp>
          <p:nvSpPr>
            <p:cNvPr id="25" name="타원 24"/>
            <p:cNvSpPr/>
            <p:nvPr/>
          </p:nvSpPr>
          <p:spPr>
            <a:xfrm>
              <a:off x="881401" y="394887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4382074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선택 접근권한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4664103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전화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전화 걸기 및 관리</a:t>
              </a:r>
            </a:p>
          </p:txBody>
        </p:sp>
        <p:sp>
          <p:nvSpPr>
            <p:cNvPr id="28" name="타원 27"/>
            <p:cNvSpPr/>
            <p:nvPr/>
          </p:nvSpPr>
          <p:spPr>
            <a:xfrm>
              <a:off x="881401" y="4657525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023077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사진</a:t>
              </a:r>
              <a:r>
                <a:rPr lang="en-US" altLang="ko-KR" sz="700" b="1" dirty="0">
                  <a:latin typeface="+mn-ea"/>
                </a:rPr>
                <a:t>/</a:t>
              </a:r>
              <a:r>
                <a:rPr lang="ko-KR" altLang="en-US" sz="700" b="1" dirty="0">
                  <a:latin typeface="+mn-ea"/>
                </a:rPr>
                <a:t>미디어</a:t>
              </a:r>
              <a:r>
                <a:rPr lang="en-US" altLang="ko-KR" sz="700" b="1" dirty="0">
                  <a:latin typeface="+mn-ea"/>
                </a:rPr>
                <a:t>/</a:t>
              </a:r>
              <a:r>
                <a:rPr lang="ko-KR" altLang="en-US" sz="700" b="1" dirty="0">
                  <a:latin typeface="+mn-ea"/>
                </a:rPr>
                <a:t>파일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이미지 파일첨부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문서 파일첨부</a:t>
              </a:r>
            </a:p>
          </p:txBody>
        </p:sp>
        <p:sp>
          <p:nvSpPr>
            <p:cNvPr id="30" name="타원 29"/>
            <p:cNvSpPr/>
            <p:nvPr/>
          </p:nvSpPr>
          <p:spPr>
            <a:xfrm>
              <a:off x="881401" y="5016499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381865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카메라</a:t>
              </a:r>
              <a:endParaRPr lang="en-US" altLang="ko-KR" sz="700" b="1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PC </a:t>
              </a:r>
              <a:r>
                <a:rPr lang="ko-KR" altLang="en-US" sz="700" dirty="0">
                  <a:latin typeface="+mn-ea"/>
                </a:rPr>
                <a:t>로그인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촬영 파일 등록</a:t>
              </a:r>
            </a:p>
          </p:txBody>
        </p:sp>
        <p:sp>
          <p:nvSpPr>
            <p:cNvPr id="33" name="타원 32"/>
            <p:cNvSpPr/>
            <p:nvPr/>
          </p:nvSpPr>
          <p:spPr>
            <a:xfrm>
              <a:off x="881401" y="5375287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71603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알림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신청한 공고 알림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중요 알림 메시지</a:t>
              </a:r>
            </a:p>
          </p:txBody>
        </p:sp>
        <p:sp>
          <p:nvSpPr>
            <p:cNvPr id="63" name="타원 62"/>
            <p:cNvSpPr/>
            <p:nvPr/>
          </p:nvSpPr>
          <p:spPr>
            <a:xfrm>
              <a:off x="881401" y="570945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9424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14394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" name="모서리가 둥근 직사각형 4"/>
          <p:cNvSpPr/>
          <p:nvPr/>
        </p:nvSpPr>
        <p:spPr>
          <a:xfrm>
            <a:off x="763707" y="3002600"/>
            <a:ext cx="2579992" cy="1712020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2106545" y="4282210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허용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282210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149329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선택 접근권한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76930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전화 걸기 및 관리</a:t>
            </a:r>
          </a:p>
        </p:txBody>
      </p:sp>
      <p:sp>
        <p:nvSpPr>
          <p:cNvPr id="76" name="타원 75"/>
          <p:cNvSpPr/>
          <p:nvPr/>
        </p:nvSpPr>
        <p:spPr>
          <a:xfrm>
            <a:off x="881401" y="376272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81838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해당 기능을 사용하기 위해서는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다음 </a:t>
            </a:r>
            <a:r>
              <a:rPr lang="ko-KR" altLang="en-US" sz="700" dirty="0" err="1">
                <a:latin typeface="+mn-ea"/>
              </a:rPr>
              <a:t>접근권한이</a:t>
            </a:r>
            <a:r>
              <a:rPr lang="ko-KR" altLang="en-US" sz="700" dirty="0">
                <a:latin typeface="+mn-ea"/>
              </a:rPr>
              <a:t> 필요합니다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857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084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70913" y="42084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81" name="모서리가 둥근 직사각형 80"/>
          <p:cNvSpPr/>
          <p:nvPr/>
        </p:nvSpPr>
        <p:spPr>
          <a:xfrm>
            <a:off x="1512487" y="5845175"/>
            <a:ext cx="1082432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취소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27050" y="57661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9470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8" name="그룹 47"/>
          <p:cNvGrpSpPr/>
          <p:nvPr/>
        </p:nvGrpSpPr>
        <p:grpSpPr>
          <a:xfrm>
            <a:off x="3092535" y="3149329"/>
            <a:ext cx="94010" cy="94010"/>
            <a:chOff x="6812560" y="3297172"/>
            <a:chExt cx="94010" cy="94010"/>
          </a:xfrm>
        </p:grpSpPr>
        <p:cxnSp>
          <p:nvCxnSpPr>
            <p:cNvPr id="49" name="직선 연결선 4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직선 연결선 4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5" name="모서리가 둥근 직사각형 54"/>
          <p:cNvSpPr/>
          <p:nvPr/>
        </p:nvSpPr>
        <p:spPr>
          <a:xfrm>
            <a:off x="1512487" y="5571729"/>
            <a:ext cx="1082432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62247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허용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41103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/>
          <p:cNvGrpSpPr/>
          <p:nvPr/>
        </p:nvGrpSpPr>
        <p:grpSpPr>
          <a:xfrm>
            <a:off x="677960" y="1484921"/>
            <a:ext cx="2712027" cy="4738372"/>
            <a:chOff x="677960" y="1493927"/>
            <a:chExt cx="2712027" cy="4738372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6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직사각형 3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  <p:pic>
          <p:nvPicPr>
            <p:cNvPr id="44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필수 업데이트 필요 시 업데이트 안내 팝업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자동 업데이트가 되지 않는 사용자를 고려하여 앱 기동 시 버전 체크 후 필수 최신 업데이트를 위한 메시지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주요 업데이트 사항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종료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업데이트 없이 그대로 종료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설치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설치를 위해 앱스토어</a:t>
            </a:r>
            <a:r>
              <a:rPr lang="en-US" altLang="ko-KR" dirty="0"/>
              <a:t>, </a:t>
            </a:r>
            <a:r>
              <a:rPr lang="ko-KR" altLang="en-US" dirty="0"/>
              <a:t>구글 플레이 </a:t>
            </a:r>
            <a:r>
              <a:rPr lang="en-US" altLang="ko-KR" dirty="0"/>
              <a:t>(</a:t>
            </a:r>
            <a:r>
              <a:rPr lang="ko-KR" altLang="en-US" dirty="0"/>
              <a:t>앱 마켓</a:t>
            </a:r>
            <a:r>
              <a:rPr lang="en-US" altLang="ko-KR" dirty="0"/>
              <a:t>)</a:t>
            </a:r>
            <a:r>
              <a:rPr lang="ko-KR" altLang="en-US" dirty="0"/>
              <a:t>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앱업데이트안내팝업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앱을 실행하는 경우 앱 노출되는 로고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업데이트 안내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MUI-MS-01-P04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103287" y="5662958"/>
            <a:ext cx="230028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b="1" dirty="0">
                <a:latin typeface="+mn-ea"/>
              </a:rPr>
              <a:t>보안 프로그램 목록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- 모바일 백신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mVacchine</a:t>
            </a:r>
            <a:r>
              <a:rPr lang="ko-KR" altLang="en-US" sz="700" dirty="0">
                <a:latin typeface="+mn-ea"/>
              </a:rPr>
              <a:t> V3.0 2.24</a:t>
            </a:r>
          </a:p>
          <a:p>
            <a:r>
              <a:rPr lang="ko-KR" altLang="en-US" sz="700" dirty="0">
                <a:latin typeface="+mn-ea"/>
              </a:rPr>
              <a:t>- 모바일키보드보안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mTransKey</a:t>
            </a:r>
            <a:r>
              <a:rPr lang="ko-KR" altLang="en-US" sz="700" dirty="0">
                <a:latin typeface="+mn-ea"/>
              </a:rPr>
              <a:t> 2.24</a:t>
            </a:r>
          </a:p>
          <a:p>
            <a:r>
              <a:rPr lang="ko-KR" altLang="en-US" sz="700" dirty="0">
                <a:latin typeface="+mn-ea"/>
              </a:rPr>
              <a:t>- </a:t>
            </a:r>
            <a:r>
              <a:rPr lang="ko-KR" altLang="en-US" sz="700" dirty="0" err="1">
                <a:latin typeface="+mn-ea"/>
              </a:rPr>
              <a:t>모바일앱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위변조방지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AppIron</a:t>
            </a:r>
            <a:r>
              <a:rPr lang="ko-KR" altLang="en-US" sz="700" dirty="0">
                <a:latin typeface="+mn-ea"/>
              </a:rPr>
              <a:t> V1.0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</a:t>
            </a:r>
            <a:r>
              <a:rPr lang="ko-KR" altLang="en-US" sz="700" dirty="0" err="1">
                <a:latin typeface="+mn-ea"/>
              </a:rPr>
              <a:t>Android</a:t>
            </a:r>
            <a:r>
              <a:rPr lang="ko-KR" altLang="en-US" sz="700" dirty="0">
                <a:latin typeface="+mn-ea"/>
              </a:rPr>
              <a:t>)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v2.0(IOS) 2.24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763707" y="2935744"/>
            <a:ext cx="2579992" cy="184573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2106545" y="4365159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설치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365159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앱 종료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824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필수 업데이트 안내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149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원활한 앱 사용을 위해 최신버전 업데이트가 필요합니다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18867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70913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66997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주요 업데이트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85759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보안 프로그램 최신화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국방전자조달시스템 업그레이드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1243887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/>
          <p:cNvGrpSpPr/>
          <p:nvPr/>
        </p:nvGrpSpPr>
        <p:grpSpPr>
          <a:xfrm>
            <a:off x="677960" y="1484921"/>
            <a:ext cx="2712027" cy="4738372"/>
            <a:chOff x="677960" y="1493927"/>
            <a:chExt cx="2712027" cy="4738372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6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직사각형 3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  <p:pic>
          <p:nvPicPr>
            <p:cNvPr id="44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실행을 할 수 없는 경우 사용자에게 안내하기 위한 팝업 실행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오류</a:t>
            </a:r>
            <a:r>
              <a:rPr lang="en-US" altLang="ko-KR" dirty="0"/>
              <a:t>, </a:t>
            </a:r>
            <a:r>
              <a:rPr lang="ko-KR" altLang="en-US" dirty="0"/>
              <a:t>시스템 문제</a:t>
            </a:r>
            <a:r>
              <a:rPr lang="en-US" altLang="ko-KR" dirty="0"/>
              <a:t>, </a:t>
            </a:r>
            <a:r>
              <a:rPr lang="ko-KR" altLang="en-US" dirty="0"/>
              <a:t>네트워크 연결 지연 등으로 앱 구동에 문제가 있는 경우 사용자에게 안내하기 위한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실행 오류 사유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종료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업데이트 없이 그대로 종료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앱오류안내팝업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실행 시 오류가 발생하여 앱을 실행할 수 없는 경우 노출되는 안내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오류 안내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MUI-MS-01-P05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763707" y="2935744"/>
            <a:ext cx="2579992" cy="184573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365159"/>
            <a:ext cx="2305144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앱 종료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824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앱 실행 오류 안내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14982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다음과 같은 이유로 인하여 앱을 실행할 수 없습니다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서비스 사용에 불편을 드려 죄송합니다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18867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66997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시스템 보안 업데이트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85759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국방전자조달시스템 보안 업데이트를 진행하고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예정시간</a:t>
            </a:r>
            <a:r>
              <a:rPr lang="en-US" altLang="ko-KR" sz="700" dirty="0">
                <a:latin typeface="+mn-ea"/>
              </a:rPr>
              <a:t>: 2025</a:t>
            </a:r>
            <a:r>
              <a:rPr lang="ko-KR" altLang="en-US" sz="700" dirty="0">
                <a:latin typeface="+mn-ea"/>
              </a:rPr>
              <a:t>년 </a:t>
            </a:r>
            <a:r>
              <a:rPr lang="en-US" altLang="ko-KR" sz="700" dirty="0">
                <a:latin typeface="+mn-ea"/>
              </a:rPr>
              <a:t>03</a:t>
            </a:r>
            <a:r>
              <a:rPr lang="ko-KR" altLang="en-US" sz="700" dirty="0">
                <a:latin typeface="+mn-ea"/>
              </a:rPr>
              <a:t>월 </a:t>
            </a:r>
            <a:r>
              <a:rPr lang="en-US" altLang="ko-KR" sz="700" dirty="0">
                <a:latin typeface="+mn-ea"/>
              </a:rPr>
              <a:t>13</a:t>
            </a:r>
            <a:r>
              <a:rPr lang="ko-KR" altLang="en-US" sz="700" dirty="0">
                <a:latin typeface="+mn-ea"/>
              </a:rPr>
              <a:t>일 </a:t>
            </a:r>
            <a:r>
              <a:rPr lang="en-US" altLang="ko-KR" sz="700" dirty="0">
                <a:latin typeface="+mn-ea"/>
              </a:rPr>
              <a:t>00</a:t>
            </a:r>
            <a:r>
              <a:rPr lang="ko-KR" altLang="en-US" sz="700" dirty="0">
                <a:latin typeface="+mn-ea"/>
              </a:rPr>
              <a:t>시부터 </a:t>
            </a:r>
            <a:r>
              <a:rPr lang="en-US" altLang="ko-KR" sz="700" dirty="0">
                <a:latin typeface="+mn-ea"/>
              </a:rPr>
              <a:t>04</a:t>
            </a:r>
            <a:r>
              <a:rPr lang="ko-KR" altLang="en-US" sz="700" dirty="0">
                <a:latin typeface="+mn-ea"/>
              </a:rPr>
              <a:t>시까지 </a:t>
            </a:r>
            <a:r>
              <a:rPr lang="en-US" altLang="ko-KR" sz="700" dirty="0">
                <a:latin typeface="+mn-ea"/>
              </a:rPr>
              <a:t>(4</a:t>
            </a:r>
            <a:r>
              <a:rPr lang="ko-KR" altLang="en-US" sz="700" dirty="0">
                <a:latin typeface="+mn-ea"/>
              </a:rPr>
              <a:t>시간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90085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스플래시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앱 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MUI-MS-01-M06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5236515" y="5007573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다음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011371" y="5007573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다시 보지 않기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rcRect b="6251"/>
          <a:stretch/>
        </p:blipFill>
        <p:spPr>
          <a:xfrm>
            <a:off x="677960" y="1493927"/>
            <a:ext cx="2712027" cy="474141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8" name="직사각형 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2026-07-28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스크린샷</a:t>
              </a:r>
              <a:r>
                <a:rPr lang="ko-KR" altLang="en-US" sz="700" dirty="0" smtClean="0"/>
                <a:t> 이미지 업데이트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버튼 영역 추가 및 설명 작성</a:t>
              </a:r>
              <a:endParaRPr lang="en-US" altLang="ko-KR" sz="700" dirty="0" smtClean="0"/>
            </a:p>
            <a:p>
              <a:endParaRPr lang="en-US" altLang="ko-KR" sz="700" dirty="0"/>
            </a:p>
          </p:txBody>
        </p:sp>
      </p:grp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16036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80162" y="48354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26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5236515" y="5392951"/>
            <a:ext cx="516243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이전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7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5800272" y="5392951"/>
            <a:ext cx="516243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다음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011371" y="539104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다시 보지 않기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236515" y="577124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다시 보지 않기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30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4011371" y="5774519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이전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37" name="그룹 36"/>
          <p:cNvGrpSpPr/>
          <p:nvPr/>
        </p:nvGrpSpPr>
        <p:grpSpPr>
          <a:xfrm>
            <a:off x="3452438" y="1810835"/>
            <a:ext cx="3568154" cy="1505331"/>
            <a:chOff x="3535132" y="1493927"/>
            <a:chExt cx="4319336" cy="1822239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3"/>
            <a:srcRect b="5350"/>
            <a:stretch/>
          </p:blipFill>
          <p:spPr>
            <a:xfrm>
              <a:off x="3535132" y="1499406"/>
              <a:ext cx="1045578" cy="1816759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4"/>
            <a:srcRect b="9317"/>
            <a:stretch/>
          </p:blipFill>
          <p:spPr>
            <a:xfrm>
              <a:off x="4639790" y="1493927"/>
              <a:ext cx="1040338" cy="1822238"/>
            </a:xfrm>
            <a:prstGeom prst="rect">
              <a:avLst/>
            </a:prstGeom>
          </p:spPr>
        </p:pic>
        <p:pic>
          <p:nvPicPr>
            <p:cNvPr id="32" name="그림 31"/>
            <p:cNvPicPr>
              <a:picLocks noChangeAspect="1"/>
            </p:cNvPicPr>
            <p:nvPr/>
          </p:nvPicPr>
          <p:blipFill rotWithShape="1">
            <a:blip r:embed="rId5"/>
            <a:srcRect b="7088"/>
            <a:stretch/>
          </p:blipFill>
          <p:spPr>
            <a:xfrm>
              <a:off x="5740480" y="1498376"/>
              <a:ext cx="1040729" cy="1817789"/>
            </a:xfrm>
            <a:prstGeom prst="rect">
              <a:avLst/>
            </a:prstGeom>
          </p:spPr>
        </p:pic>
        <p:pic>
          <p:nvPicPr>
            <p:cNvPr id="33" name="그림 3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1562" y="1493928"/>
              <a:ext cx="1012906" cy="1822238"/>
            </a:xfrm>
            <a:prstGeom prst="rect">
              <a:avLst/>
            </a:prstGeom>
          </p:spPr>
        </p:pic>
      </p:grpSp>
      <p:sp>
        <p:nvSpPr>
          <p:cNvPr id="34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2106545" y="5788808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다음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5788808"/>
            <a:ext cx="1080000" cy="317083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다시 보지 않기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최초 기동 시 앱 </a:t>
            </a:r>
            <a:r>
              <a:rPr lang="ko-KR" altLang="en-US" dirty="0"/>
              <a:t>이용에 대한 안내 </a:t>
            </a:r>
            <a:r>
              <a:rPr lang="ko-KR" altLang="en-US" dirty="0" smtClean="0"/>
              <a:t>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하단 </a:t>
            </a:r>
            <a:r>
              <a:rPr lang="en-US" altLang="ko-KR" dirty="0" smtClean="0"/>
              <a:t>5</a:t>
            </a:r>
            <a:r>
              <a:rPr lang="ko-KR" altLang="en-US" dirty="0" smtClean="0"/>
              <a:t>개 페이지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메인홈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검색필터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조달계획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입찰공고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마이페이지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smtClean="0"/>
              <a:t>화면 하단 버튼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다시보지</a:t>
            </a:r>
            <a:r>
              <a:rPr lang="ko-KR" altLang="en-US" dirty="0" smtClean="0"/>
              <a:t> 않기 버튼으로 </a:t>
            </a:r>
            <a:r>
              <a:rPr lang="ko-KR" altLang="en-US" dirty="0" err="1" smtClean="0"/>
              <a:t>앱시작</a:t>
            </a:r>
            <a:r>
              <a:rPr lang="ko-KR" altLang="en-US" dirty="0" smtClean="0"/>
              <a:t> 이용안내 다시 노출하지 않음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/>
              <a:t>이후 기동 시 앱 이용안내 화면 </a:t>
            </a:r>
            <a:r>
              <a:rPr lang="ko-KR" altLang="en-US" dirty="0" err="1" smtClean="0"/>
              <a:t>미노출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버튼은 순차적으로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첫 페이지</a:t>
            </a:r>
            <a:r>
              <a:rPr lang="en-US" altLang="ko-KR" dirty="0" smtClean="0"/>
              <a:t> </a:t>
            </a:r>
            <a:r>
              <a:rPr lang="en-US" altLang="ko-KR" dirty="0" smtClean="0">
                <a:sym typeface="Wingdings" panose="05000000000000000000" pitchFamily="2" charset="2"/>
              </a:rPr>
              <a:t></a:t>
            </a:r>
            <a:r>
              <a:rPr lang="en-US" altLang="ko-KR" dirty="0" smtClean="0"/>
              <a:t> </a:t>
            </a:r>
            <a:r>
              <a:rPr lang="ko-KR" altLang="en-US" dirty="0" smtClean="0"/>
              <a:t>중간 페이지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ko-KR" altLang="en-US" dirty="0" smtClean="0">
                <a:sym typeface="Wingdings" panose="05000000000000000000" pitchFamily="2" charset="2"/>
              </a:rPr>
              <a:t>마지막 페이지 순으로 표시가 변경됨</a:t>
            </a:r>
            <a:r>
              <a:rPr lang="en-US" altLang="ko-KR" dirty="0" smtClean="0">
                <a:sym typeface="Wingdings" panose="05000000000000000000" pitchFamily="2" charset="2"/>
              </a:rPr>
              <a:t>.</a:t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smtClean="0">
                <a:sym typeface="Wingdings" panose="05000000000000000000" pitchFamily="2" charset="2"/>
              </a:rPr>
              <a:t>이전</a:t>
            </a:r>
            <a:r>
              <a:rPr lang="en-US" altLang="ko-KR" dirty="0" smtClean="0">
                <a:sym typeface="Wingdings" panose="05000000000000000000" pitchFamily="2" charset="2"/>
              </a:rPr>
              <a:t>, </a:t>
            </a:r>
            <a:r>
              <a:rPr lang="ko-KR" altLang="en-US" dirty="0" smtClean="0">
                <a:sym typeface="Wingdings" panose="05000000000000000000" pitchFamily="2" charset="2"/>
              </a:rPr>
              <a:t>다음 버튼으로 순서대로 이동</a:t>
            </a: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589192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로고 </a:t>
            </a:r>
            <a:r>
              <a:rPr lang="ko-KR" altLang="en-US" dirty="0"/>
              <a:t>영역</a:t>
            </a:r>
            <a:r>
              <a:rPr lang="en-US" altLang="ko-KR" dirty="0"/>
              <a:t>, </a:t>
            </a:r>
            <a:r>
              <a:rPr lang="ko-KR" altLang="en-US" dirty="0"/>
              <a:t>상단 버튼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로고 또는 </a:t>
            </a:r>
            <a:r>
              <a:rPr lang="ko-KR" altLang="en-US" dirty="0" err="1"/>
              <a:t>홈아이콘</a:t>
            </a:r>
            <a:r>
              <a:rPr lang="ko-KR" altLang="en-US" dirty="0"/>
              <a:t> 클릭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아이콘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  &gt; 1. </a:t>
            </a:r>
            <a:r>
              <a:rPr lang="ko-KR" altLang="en-US" dirty="0">
                <a:solidFill>
                  <a:srgbClr val="FF0000"/>
                </a:solidFill>
              </a:rPr>
              <a:t>로그인 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로그인 후 </a:t>
            </a:r>
            <a:r>
              <a:rPr lang="ko-KR" altLang="en-US" dirty="0" smtClean="0">
                <a:solidFill>
                  <a:srgbClr val="FF0000"/>
                </a:solidFill>
              </a:rPr>
              <a:t>로그아웃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아이콘 표시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  &gt; 2. </a:t>
            </a:r>
            <a:r>
              <a:rPr lang="ko-KR" altLang="en-US" dirty="0" err="1" smtClean="0">
                <a:solidFill>
                  <a:srgbClr val="FF0000"/>
                </a:solidFill>
              </a:rPr>
              <a:t>알림현황</a:t>
            </a:r>
            <a:r>
              <a:rPr lang="ko-KR" altLang="en-US" dirty="0" smtClean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(MUI-MS-01-M13)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햄버거 </a:t>
            </a:r>
            <a:r>
              <a:rPr lang="ko-KR" altLang="en-US" dirty="0" smtClean="0"/>
              <a:t>메뉴 </a:t>
            </a:r>
            <a:r>
              <a:rPr lang="en-US" altLang="ko-KR" dirty="0"/>
              <a:t>(MUI-MS-01-M12)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 공고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공고명</a:t>
            </a:r>
            <a:r>
              <a:rPr lang="en-US" altLang="ko-KR" dirty="0"/>
              <a:t>, </a:t>
            </a:r>
            <a:r>
              <a:rPr lang="ko-KR" altLang="en-US" dirty="0" err="1"/>
              <a:t>공고번호와</a:t>
            </a:r>
            <a:r>
              <a:rPr lang="ko-KR" altLang="en-US" dirty="0"/>
              <a:t> 업무 구분으로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입찰공고 화면으로 이동하여 </a:t>
            </a:r>
            <a:r>
              <a:rPr lang="ko-KR" altLang="en-US" dirty="0" err="1"/>
              <a:t>검색필터에</a:t>
            </a:r>
            <a:r>
              <a:rPr lang="ko-KR" altLang="en-US" dirty="0"/>
              <a:t> </a:t>
            </a:r>
            <a:r>
              <a:rPr lang="ko-KR" altLang="en-US" dirty="0" err="1"/>
              <a:t>검색어</a:t>
            </a:r>
            <a:r>
              <a:rPr lang="ko-KR" altLang="en-US" dirty="0"/>
              <a:t> 적용하여 결과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MUI-BD-01-M01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바로가기</a:t>
            </a:r>
            <a:r>
              <a:rPr lang="ko-KR" altLang="en-US" dirty="0"/>
              <a:t> 버튼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조달</a:t>
            </a:r>
            <a:r>
              <a:rPr lang="en-US" altLang="ko-KR" dirty="0" smtClean="0"/>
              <a:t>, </a:t>
            </a:r>
            <a:r>
              <a:rPr lang="en-US" altLang="ko-KR" dirty="0"/>
              <a:t>MUI-OP-01-M01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입찰공고</a:t>
            </a:r>
            <a:r>
              <a:rPr lang="en-US" altLang="ko-KR" dirty="0" smtClean="0"/>
              <a:t>, </a:t>
            </a:r>
            <a:r>
              <a:rPr lang="en-US" altLang="ko-KR" dirty="0"/>
              <a:t>MUI-BD-01-M01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개찰</a:t>
            </a:r>
            <a:r>
              <a:rPr lang="en-US" altLang="ko-KR" dirty="0" smtClean="0"/>
              <a:t>, </a:t>
            </a:r>
            <a:r>
              <a:rPr lang="en-US" altLang="ko-KR" dirty="0"/>
              <a:t>MUI-BD-08-M01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</a:t>
            </a:r>
            <a:r>
              <a:rPr lang="en-US" altLang="ko-KR" dirty="0" smtClean="0"/>
              <a:t>, </a:t>
            </a:r>
            <a:r>
              <a:rPr lang="en-US" altLang="ko-KR" dirty="0"/>
              <a:t>MUI-CT-01-M01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실적증명서</a:t>
            </a:r>
            <a:r>
              <a:rPr lang="en-US" altLang="ko-KR" dirty="0" smtClean="0"/>
              <a:t>, </a:t>
            </a:r>
            <a:r>
              <a:rPr lang="en-US" altLang="ko-KR" dirty="0"/>
              <a:t>MUI-CM-04-M06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조달원 등록증</a:t>
            </a:r>
            <a:r>
              <a:rPr lang="en-US" altLang="ko-KR" dirty="0" smtClean="0"/>
              <a:t>(</a:t>
            </a:r>
            <a:r>
              <a:rPr lang="ko-KR" altLang="en-US" dirty="0" smtClean="0"/>
              <a:t>국내</a:t>
            </a:r>
            <a:r>
              <a:rPr lang="en-US" altLang="ko-KR" dirty="0"/>
              <a:t>) MUI-CM-01-M19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사전준비</a:t>
            </a:r>
            <a:r>
              <a:rPr lang="en-US" altLang="ko-KR" dirty="0"/>
              <a:t>, </a:t>
            </a:r>
            <a:r>
              <a:rPr lang="ko-KR" altLang="en-US" dirty="0"/>
              <a:t>국내조달</a:t>
            </a:r>
            <a:r>
              <a:rPr lang="en-US" altLang="ko-KR" dirty="0"/>
              <a:t>, </a:t>
            </a:r>
            <a:r>
              <a:rPr lang="ko-KR" altLang="en-US" dirty="0" err="1"/>
              <a:t>국외조달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가지 항목으로 </a:t>
            </a:r>
            <a:r>
              <a:rPr lang="ko-KR" altLang="en-US" dirty="0" smtClean="0"/>
              <a:t>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사전준비안내 </a:t>
            </a:r>
            <a:r>
              <a:rPr lang="en-US" altLang="ko-KR" dirty="0" smtClean="0"/>
              <a:t>MUI-CM-05-M07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국내조달안내 </a:t>
            </a:r>
            <a:r>
              <a:rPr lang="en-US" altLang="ko-KR" dirty="0" smtClean="0"/>
              <a:t>MUI-CM-05-M09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국외조달안내 </a:t>
            </a:r>
            <a:r>
              <a:rPr lang="en-US" altLang="ko-KR" dirty="0"/>
              <a:t>MUI-CM-05-M12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모의심사안내는 표시하지 않음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탭바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주요 사용하는 메뉴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공지사항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공지사항 최근 </a:t>
            </a:r>
            <a:r>
              <a:rPr lang="en-US" altLang="ko-KR" dirty="0"/>
              <a:t>3</a:t>
            </a:r>
            <a:r>
              <a:rPr lang="ko-KR" altLang="en-US" dirty="0" smtClean="0"/>
              <a:t>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일반공지사항 </a:t>
            </a:r>
            <a:r>
              <a:rPr lang="en-US" altLang="ko-KR" dirty="0" smtClean="0"/>
              <a:t>MUI-CM-04-M01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방위사업청공지사항 </a:t>
            </a:r>
            <a:r>
              <a:rPr lang="en-US" altLang="ko-KR" dirty="0"/>
              <a:t>MUI-CM-04-M21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수요부대별공지사항 </a:t>
            </a:r>
            <a:r>
              <a:rPr lang="en-US" altLang="ko-KR" dirty="0" smtClean="0"/>
              <a:t>MUI-CM-04-M23</a:t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화면은 디자인에 따름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배너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스크롤 시 </a:t>
            </a:r>
            <a:r>
              <a:rPr lang="ko-KR" altLang="en-US" dirty="0" err="1"/>
              <a:t>플로팅</a:t>
            </a:r>
            <a:r>
              <a:rPr lang="ko-KR" altLang="en-US" dirty="0"/>
              <a:t> </a:t>
            </a:r>
            <a:r>
              <a:rPr lang="en-US" altLang="ko-KR" dirty="0"/>
              <a:t>Top </a:t>
            </a:r>
            <a:r>
              <a:rPr lang="ko-KR" altLang="en-US" dirty="0"/>
              <a:t>이동 버튼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푸터</a:t>
            </a:r>
            <a:r>
              <a:rPr lang="ko-KR" altLang="en-US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푸터</a:t>
            </a:r>
            <a:r>
              <a:rPr lang="ko-KR" altLang="en-US" dirty="0" smtClean="0"/>
              <a:t> 영역은 표준 설계에 따름</a:t>
            </a:r>
            <a:r>
              <a:rPr lang="en-US" altLang="ko-KR" dirty="0" smtClean="0"/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메인홈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메인 홈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MUI-MS-01-M07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16036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788121" y="1582647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22790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677960" y="5859779"/>
            <a:ext cx="2712027" cy="372519"/>
            <a:chOff x="3788901" y="5859779"/>
            <a:chExt cx="2712027" cy="37251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3788901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4466908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5144915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5819851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/>
            <p:cNvSpPr/>
            <p:nvPr/>
          </p:nvSpPr>
          <p:spPr>
            <a:xfrm>
              <a:off x="4028078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72308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홈</a:t>
              </a:r>
            </a:p>
          </p:txBody>
        </p:sp>
        <p:sp>
          <p:nvSpPr>
            <p:cNvPr id="73" name="타원 72"/>
            <p:cNvSpPr/>
            <p:nvPr/>
          </p:nvSpPr>
          <p:spPr>
            <a:xfrm>
              <a:off x="4716846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561076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smtClean="0">
                  <a:latin typeface="+mn-ea"/>
                </a:rPr>
                <a:t>통합검색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타원 75"/>
            <p:cNvSpPr/>
            <p:nvPr/>
          </p:nvSpPr>
          <p:spPr>
            <a:xfrm>
              <a:off x="5386873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231103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 smtClean="0">
                  <a:latin typeface="+mn-ea"/>
                </a:rPr>
                <a:t>챗봇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9" name="타원 78"/>
            <p:cNvSpPr/>
            <p:nvPr/>
          </p:nvSpPr>
          <p:spPr>
            <a:xfrm>
              <a:off x="6069480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913710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마이</a:t>
              </a:r>
            </a:p>
          </p:txBody>
        </p:sp>
      </p:grpSp>
      <p:sp>
        <p:nvSpPr>
          <p:cNvPr id="81" name="타원 80"/>
          <p:cNvSpPr/>
          <p:nvPr/>
        </p:nvSpPr>
        <p:spPr>
          <a:xfrm>
            <a:off x="2446129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2759886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3073643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83172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31535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43038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41019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891228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899271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>
                <a:latin typeface="+mn-ea"/>
              </a:rPr>
              <a:t>바로가기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46" name="모서리가 둥근 직사각형 45"/>
          <p:cNvSpPr/>
          <p:nvPr/>
        </p:nvSpPr>
        <p:spPr>
          <a:xfrm>
            <a:off x="1508351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2125474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2742597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88902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5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3900722" y="1582647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1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타원 96"/>
          <p:cNvSpPr/>
          <p:nvPr/>
        </p:nvSpPr>
        <p:spPr>
          <a:xfrm>
            <a:off x="5558730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872487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6186244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/>
          <p:cNvGrpSpPr/>
          <p:nvPr/>
        </p:nvGrpSpPr>
        <p:grpSpPr>
          <a:xfrm>
            <a:off x="3796969" y="1974039"/>
            <a:ext cx="2712027" cy="2638270"/>
            <a:chOff x="3796969" y="4333445"/>
            <a:chExt cx="2712027" cy="2638270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356946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방위사업청</a:t>
              </a:r>
              <a:r>
                <a:rPr lang="ko-KR" altLang="en-US" sz="900" b="1" dirty="0">
                  <a:latin typeface="+mn-ea"/>
                </a:rPr>
                <a:t> 공지사항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585115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5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433344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585115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749883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749883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914650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914650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253933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 smtClean="0">
                  <a:latin typeface="+mn-ea"/>
                </a:rPr>
                <a:t>수요부대별</a:t>
              </a:r>
              <a:r>
                <a:rPr lang="ko-KR" altLang="en-US" sz="900" b="1" dirty="0" smtClean="0">
                  <a:latin typeface="+mn-ea"/>
                </a:rPr>
                <a:t> </a:t>
              </a:r>
              <a:r>
                <a:rPr lang="ko-KR" altLang="en-US" sz="900" b="1" dirty="0">
                  <a:latin typeface="+mn-ea"/>
                </a:rPr>
                <a:t>공지사항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482102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10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5230432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482102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646870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646870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811637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811637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177572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일반 </a:t>
              </a:r>
              <a:r>
                <a:rPr lang="ko-KR" altLang="en-US" sz="900" b="1" dirty="0" smtClean="0">
                  <a:latin typeface="+mn-ea"/>
                </a:rPr>
                <a:t>공지사항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405741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1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6154071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405741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5142915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60475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6971715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564181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564181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728948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728948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47" name="모서리가 둥근 직사각형 146"/>
          <p:cNvSpPr/>
          <p:nvPr/>
        </p:nvSpPr>
        <p:spPr>
          <a:xfrm>
            <a:off x="4002170" y="4676843"/>
            <a:ext cx="2285490" cy="1277072"/>
          </a:xfrm>
          <a:prstGeom prst="roundRect">
            <a:avLst>
              <a:gd name="adj" fmla="val 685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배너 영역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3788901" y="6018448"/>
            <a:ext cx="2712027" cy="218999"/>
          </a:xfrm>
          <a:prstGeom prst="roundRect">
            <a:avLst>
              <a:gd name="adj" fmla="val 685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Footer</a:t>
            </a:r>
            <a:endParaRPr lang="ko-KR" altLang="en-US" dirty="0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59089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19937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49697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7</a:t>
            </a:r>
            <a:endParaRPr lang="ko-KR" altLang="en-US" sz="900" b="1" dirty="0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604270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9</a:t>
            </a:r>
            <a:endParaRPr lang="ko-KR" altLang="en-US" sz="900" b="1" dirty="0"/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891228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모서리가 둥근 직사각형 125"/>
          <p:cNvSpPr/>
          <p:nvPr/>
        </p:nvSpPr>
        <p:spPr>
          <a:xfrm>
            <a:off x="1508351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모서리가 둥근 직사각형 129"/>
          <p:cNvSpPr/>
          <p:nvPr/>
        </p:nvSpPr>
        <p:spPr>
          <a:xfrm>
            <a:off x="2125474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모서리가 둥근 직사각형 130"/>
          <p:cNvSpPr/>
          <p:nvPr/>
        </p:nvSpPr>
        <p:spPr>
          <a:xfrm>
            <a:off x="2742597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153" name="직선 연결선 152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4" name="타원 1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88653" y="45047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8</a:t>
            </a:r>
            <a:endParaRPr lang="ko-KR" altLang="en-US" sz="90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307902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사용 안내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53733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사전준비안내</a:t>
            </a:r>
            <a:endParaRPr lang="ko-KR" altLang="en-US" sz="800" dirty="0">
              <a:latin typeface="+mn-ea"/>
            </a:endParaRPr>
          </a:p>
        </p:txBody>
      </p:sp>
      <p:sp>
        <p:nvSpPr>
          <p:cNvPr id="183" name="모서리가 둥근 직사각형 182"/>
          <p:cNvSpPr/>
          <p:nvPr/>
        </p:nvSpPr>
        <p:spPr>
          <a:xfrm>
            <a:off x="891228" y="4736426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모서리가 둥근 직사각형 183"/>
          <p:cNvSpPr/>
          <p:nvPr/>
        </p:nvSpPr>
        <p:spPr>
          <a:xfrm>
            <a:off x="891227" y="4903435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152551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국내조달안내</a:t>
            </a:r>
          </a:p>
        </p:txBody>
      </p:sp>
      <p:sp>
        <p:nvSpPr>
          <p:cNvPr id="187" name="모서리가 둥근 직사각형 186"/>
          <p:cNvSpPr/>
          <p:nvPr/>
        </p:nvSpPr>
        <p:spPr>
          <a:xfrm>
            <a:off x="891228" y="5351640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모서리가 둥근 직사각형 187"/>
          <p:cNvSpPr/>
          <p:nvPr/>
        </p:nvSpPr>
        <p:spPr>
          <a:xfrm>
            <a:off x="891227" y="5518649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9" name="그룹 128"/>
          <p:cNvGrpSpPr/>
          <p:nvPr/>
        </p:nvGrpSpPr>
        <p:grpSpPr>
          <a:xfrm rot="16200000">
            <a:off x="3143548" y="4560840"/>
            <a:ext cx="94010" cy="47005"/>
            <a:chOff x="6812560" y="3297172"/>
            <a:chExt cx="94010" cy="47005"/>
          </a:xfrm>
        </p:grpSpPr>
        <p:cxnSp>
          <p:nvCxnSpPr>
            <p:cNvPr id="133" name="직선 연결선 1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4" name="직선 연결선 1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5" name="그룹 134"/>
          <p:cNvGrpSpPr/>
          <p:nvPr/>
        </p:nvGrpSpPr>
        <p:grpSpPr>
          <a:xfrm rot="16200000">
            <a:off x="3143549" y="5181230"/>
            <a:ext cx="94010" cy="47005"/>
            <a:chOff x="6812560" y="3297172"/>
            <a:chExt cx="94010" cy="47005"/>
          </a:xfrm>
        </p:grpSpPr>
        <p:cxnSp>
          <p:nvCxnSpPr>
            <p:cNvPr id="136" name="직선 연결선 13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7" name="그룹 126"/>
          <p:cNvGrpSpPr/>
          <p:nvPr/>
        </p:nvGrpSpPr>
        <p:grpSpPr>
          <a:xfrm>
            <a:off x="767702" y="2113949"/>
            <a:ext cx="2527420" cy="477995"/>
            <a:chOff x="786326" y="2270279"/>
            <a:chExt cx="2527420" cy="477995"/>
          </a:xfrm>
        </p:grpSpPr>
        <p:sp>
          <p:nvSpPr>
            <p:cNvPr id="138" name="모서리가 둥근 직사각형 137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타원 138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5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공고명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59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공고번호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42" name="타원 141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4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4" name="타원 143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5" name="그룹 144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46" name="직선 연결선 14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8" name="직사각형 127"/>
          <p:cNvSpPr/>
          <p:nvPr/>
        </p:nvSpPr>
        <p:spPr>
          <a:xfrm>
            <a:off x="7056784" y="6395830"/>
            <a:ext cx="2378816" cy="6914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" dirty="0"/>
              <a:t>감리 추가 사항 </a:t>
            </a:r>
            <a:r>
              <a:rPr lang="en-US" altLang="ko-KR" sz="500" dirty="0"/>
              <a:t>2026-04-08</a:t>
            </a:r>
            <a:endParaRPr lang="ko-KR" altLang="en-US" sz="500" dirty="0"/>
          </a:p>
        </p:txBody>
      </p:sp>
      <p:grpSp>
        <p:nvGrpSpPr>
          <p:cNvPr id="160" name="그룹 15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61" name="직사각형 16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2026-06-23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62" name="직사각형 16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모의입찰이</a:t>
              </a:r>
              <a:r>
                <a:rPr lang="ko-KR" altLang="en-US" sz="700" dirty="0" smtClean="0"/>
                <a:t> 추가됨에 따라 모바일 </a:t>
              </a:r>
              <a:r>
                <a:rPr lang="ko-KR" altLang="en-US" sz="700" dirty="0" err="1" smtClean="0"/>
                <a:t>모의입찰이</a:t>
              </a:r>
              <a:r>
                <a:rPr lang="ko-KR" altLang="en-US" sz="700" dirty="0" smtClean="0"/>
                <a:t> 없다는 문구를 삭제함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  <p:grpSp>
        <p:nvGrpSpPr>
          <p:cNvPr id="163" name="그룹 162"/>
          <p:cNvGrpSpPr/>
          <p:nvPr/>
        </p:nvGrpSpPr>
        <p:grpSpPr>
          <a:xfrm>
            <a:off x="8223250" y="812858"/>
            <a:ext cx="3365500" cy="634511"/>
            <a:chOff x="8223250" y="569392"/>
            <a:chExt cx="3365500" cy="634511"/>
          </a:xfrm>
        </p:grpSpPr>
        <p:sp>
          <p:nvSpPr>
            <p:cNvPr id="165" name="직사각형 16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en-US" altLang="ko-KR" sz="700" dirty="0" smtClean="0"/>
                <a:t>, </a:t>
              </a:r>
              <a:r>
                <a:rPr lang="ko-KR" altLang="en-US" sz="700" dirty="0" err="1" smtClean="0"/>
                <a:t>탭바</a:t>
              </a:r>
              <a:r>
                <a:rPr lang="ko-KR" altLang="en-US" sz="700" dirty="0" smtClean="0"/>
                <a:t> 노출 버튼 변경</a:t>
              </a:r>
              <a:endParaRPr lang="en-US" altLang="ko-KR" sz="700" dirty="0"/>
            </a:p>
          </p:txBody>
        </p:sp>
      </p:grpSp>
      <p:grpSp>
        <p:nvGrpSpPr>
          <p:cNvPr id="167" name="그룹 166"/>
          <p:cNvGrpSpPr/>
          <p:nvPr/>
        </p:nvGrpSpPr>
        <p:grpSpPr>
          <a:xfrm>
            <a:off x="8223250" y="1055200"/>
            <a:ext cx="3365500" cy="634511"/>
            <a:chOff x="8223250" y="569392"/>
            <a:chExt cx="3365500" cy="634511"/>
          </a:xfrm>
        </p:grpSpPr>
        <p:sp>
          <p:nvSpPr>
            <p:cNvPr id="168" name="직사각형 16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2026-07-28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169" name="직사각형 16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사용 안내 이동 경로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766998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60321" y="72319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43CCF2E-4211-2C23-5344-1DCBE7D0CB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3" y="82501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877125-CEBE-DA88-38E6-DC2C1B0A0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1862561"/>
              </p:ext>
            </p:extLst>
          </p:nvPr>
        </p:nvGraphicFramePr>
        <p:xfrm>
          <a:off x="450088" y="1015825"/>
          <a:ext cx="8995591" cy="291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2941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국방전자조달시스템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360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국방전자조달시스템내의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공고를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altLang="ko-KR" sz="800" dirty="0" smtClean="0">
                          <a:effectLst/>
                        </a:rPr>
                        <a:t>MUI-BD-01-M01 (</a:t>
                      </a:r>
                      <a:r>
                        <a:rPr lang="ko-KR" altLang="en-US" sz="800" dirty="0">
                          <a:effectLst/>
                        </a:rPr>
                        <a:t>입찰공고통합목록</a:t>
                      </a:r>
                      <a:r>
                        <a:rPr lang="en-US" altLang="ko-KR" sz="800" dirty="0">
                          <a:effectLst/>
                        </a:rPr>
                        <a:t>-</a:t>
                      </a:r>
                      <a:r>
                        <a:rPr lang="ko-KR" altLang="en-US" sz="800" dirty="0">
                          <a:effectLst/>
                        </a:rPr>
                        <a:t>입찰공고</a:t>
                      </a:r>
                      <a:r>
                        <a:rPr lang="en-US" altLang="ko-KR" sz="800" dirty="0">
                          <a:effectLst/>
                        </a:rPr>
                        <a:t>) </a:t>
                      </a:r>
                      <a:r>
                        <a:rPr lang="ko-KR" altLang="en-US" sz="800" dirty="0" smtClean="0">
                          <a:effectLst/>
                        </a:rPr>
                        <a:t>이동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사전준비안내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scwin.btn_bfhdReady_onclick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사전준비안내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</a:rPr>
                        <a:t>MUI-CM-05-M07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390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국내조달안내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scwin.btn_dmstPrcmGd_onclick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국내조달시스템의 이용안내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MUI-CM-05-M09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376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국외조달안내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scwin.btn_ovsPrcmGd_onclick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국외조달시스템의 이용안내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</a:rPr>
                        <a:t>MUI-CM-05-M12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047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/>
                        <a:t>방위사업청공지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scwin.btn_bizNotice_onclick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방위사업청공지사항의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/>
                        <a:t>MUI-CM-04-M21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2615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수요부대공지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scwin.btn_sbsdNotice_onclick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수요부대별공지사항의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/>
                        <a:t>MUI-CM-04-M23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187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일반공지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scwin.btn_gnrlNotice_onclick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일반공지사항의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 smtClean="0"/>
                        <a:t>MUI-CM-04-M01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409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국방관련사이트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scwin.btn_ndSite_onclick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국방관련사이트 목록을 보여주고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견본신청안내 사이트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URL :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국방군수통합정보체계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hlinkClick r:id="rId2"/>
                        </a:rPr>
                        <a:t>http://delis.mnd.go.kr:8080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도 포함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143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5699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내용을 타이틀 하단에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닫기 </a:t>
            </a:r>
            <a:r>
              <a:rPr lang="en-US" altLang="ko-KR" dirty="0"/>
              <a:t>(X) </a:t>
            </a:r>
            <a:r>
              <a:rPr lang="ko-KR" altLang="en-US" dirty="0"/>
              <a:t>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메인화면에</a:t>
            </a:r>
            <a:r>
              <a:rPr lang="ko-KR" altLang="en-US" dirty="0"/>
              <a:t> 노출되는 </a:t>
            </a:r>
            <a:r>
              <a:rPr lang="en-US" altLang="ko-KR" dirty="0"/>
              <a:t>[</a:t>
            </a:r>
            <a:r>
              <a:rPr lang="ko-KR" altLang="en-US" dirty="0"/>
              <a:t>중요 공지사항</a:t>
            </a:r>
            <a:r>
              <a:rPr lang="en-US" altLang="ko-KR" dirty="0"/>
              <a:t>], [</a:t>
            </a:r>
            <a:r>
              <a:rPr lang="ko-KR" altLang="en-US" dirty="0"/>
              <a:t>시스템 안내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최신 </a:t>
            </a:r>
            <a:r>
              <a:rPr lang="en-US" altLang="ko-KR" dirty="0"/>
              <a:t>1</a:t>
            </a:r>
            <a:r>
              <a:rPr lang="ko-KR" altLang="en-US" dirty="0"/>
              <a:t>종만 노출됨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더 이상 안보기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노출된 중요 공지사항은 더 이상 표시되지 않음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창 닫힘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더보기</a:t>
            </a:r>
            <a:r>
              <a:rPr lang="ko-KR" altLang="en-US" dirty="0"/>
              <a:t>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표시되고 있는</a:t>
            </a:r>
            <a:r>
              <a:rPr lang="en-US" altLang="ko-KR" dirty="0"/>
              <a:t> </a:t>
            </a:r>
            <a:r>
              <a:rPr lang="ko-KR" altLang="en-US" dirty="0"/>
              <a:t>공지사항의 </a:t>
            </a:r>
            <a:r>
              <a:rPr lang="ko-KR" altLang="en-US" dirty="0" err="1"/>
              <a:t>게시글</a:t>
            </a:r>
            <a:r>
              <a:rPr lang="ko-KR" altLang="en-US" dirty="0"/>
              <a:t> 상세 화면으로 이동 됨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창 닫힘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중요 공지사항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시스템 안내 팝업은 동일한 팝업에서 내용이 변경되어 표시됨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레이어 </a:t>
            </a:r>
            <a:r>
              <a:rPr lang="en-US" altLang="ko-KR" dirty="0">
                <a:solidFill>
                  <a:srgbClr val="FF0000"/>
                </a:solidFill>
              </a:rPr>
              <a:t>z-index</a:t>
            </a:r>
            <a:r>
              <a:rPr lang="ko-KR" altLang="en-US" dirty="0">
                <a:solidFill>
                  <a:srgbClr val="FF0000"/>
                </a:solidFill>
              </a:rPr>
              <a:t>는 시스템 안내 팝업이 상단이 되며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최신 등록된 중요 공지 </a:t>
            </a:r>
            <a:r>
              <a:rPr lang="en-US" altLang="ko-KR" dirty="0">
                <a:solidFill>
                  <a:srgbClr val="FF0000"/>
                </a:solidFill>
              </a:rPr>
              <a:t>1</a:t>
            </a:r>
            <a:r>
              <a:rPr lang="ko-KR" altLang="en-US" dirty="0">
                <a:solidFill>
                  <a:srgbClr val="FF0000"/>
                </a:solidFill>
              </a:rPr>
              <a:t>종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시스템 안내 </a:t>
            </a:r>
            <a:r>
              <a:rPr lang="en-US" altLang="ko-KR" dirty="0">
                <a:solidFill>
                  <a:srgbClr val="FF0000"/>
                </a:solidFill>
              </a:rPr>
              <a:t>1</a:t>
            </a:r>
            <a:r>
              <a:rPr lang="ko-KR" altLang="en-US" dirty="0">
                <a:solidFill>
                  <a:srgbClr val="FF0000"/>
                </a:solidFill>
              </a:rPr>
              <a:t>종만을 표시함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중요공지</a:t>
            </a:r>
            <a:r>
              <a:rPr lang="en-US" altLang="ko-KR" dirty="0"/>
              <a:t>,</a:t>
            </a:r>
            <a:r>
              <a:rPr lang="ko-KR" altLang="en-US" dirty="0" err="1"/>
              <a:t>시스템안내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메인 홈 화면에서 노출되는 중요 공지사항과 시스템 안내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– </a:t>
            </a:r>
            <a:r>
              <a:rPr lang="ko-KR" altLang="en-US" dirty="0"/>
              <a:t>중요 공지사항 팝업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MUI-MS-01-P08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743977" y="2831066"/>
            <a:ext cx="2579992" cy="2064095"/>
            <a:chOff x="758359" y="2831066"/>
            <a:chExt cx="2579992" cy="2064095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758359" y="2831066"/>
              <a:ext cx="2579992" cy="2064095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101197" y="4453050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더보기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76053" y="4453050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더 이상 안보기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6053" y="2977795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중요 공지사항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5783" y="3210304"/>
              <a:ext cx="2305144" cy="109260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800" b="1" dirty="0">
                  <a:latin typeface="+mn-ea"/>
                </a:rPr>
                <a:t>제목을 표시합니다</a:t>
              </a:r>
              <a:r>
                <a:rPr lang="en-US" altLang="ko-KR" sz="800" b="1" dirty="0">
                  <a:latin typeface="+mn-ea"/>
                </a:rPr>
                <a:t>. </a:t>
              </a:r>
              <a:r>
                <a:rPr lang="ko-KR" altLang="en-US" sz="800" b="1" dirty="0">
                  <a:latin typeface="+mn-ea"/>
                </a:rPr>
                <a:t>제목은 볼드로 </a:t>
              </a:r>
              <a:r>
                <a:rPr lang="ko-KR" altLang="en-US" sz="800" b="1" dirty="0" err="1">
                  <a:latin typeface="+mn-ea"/>
                </a:rPr>
                <a:t>한줄</a:t>
              </a:r>
              <a:r>
                <a:rPr lang="ko-KR" altLang="en-US" sz="800" b="1" dirty="0">
                  <a:latin typeface="+mn-ea"/>
                </a:rPr>
                <a:t> </a:t>
              </a:r>
              <a:r>
                <a:rPr lang="ko-KR" altLang="en-US" sz="800" b="1" dirty="0" err="1">
                  <a:latin typeface="+mn-ea"/>
                </a:rPr>
                <a:t>표시합</a:t>
              </a:r>
              <a:r>
                <a:rPr lang="en-US" altLang="ko-KR" sz="800" b="1" dirty="0">
                  <a:latin typeface="+mn-ea"/>
                </a:rPr>
                <a:t>…</a:t>
              </a:r>
            </a:p>
            <a:p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내용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공지사항 중에서 중요 공지로 등록한 최신 한가지를 노출합니다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중요 공지사항 </a:t>
              </a:r>
              <a:r>
                <a:rPr lang="ko-KR" altLang="en-US" sz="700" dirty="0" err="1">
                  <a:latin typeface="+mn-ea"/>
                </a:rPr>
                <a:t>메인홈에서</a:t>
              </a:r>
              <a:r>
                <a:rPr lang="ko-KR" altLang="en-US" sz="700" dirty="0">
                  <a:latin typeface="+mn-ea"/>
                </a:rPr>
                <a:t> 노출되는 것은 </a:t>
              </a: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종입니다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표시되는 텍스트의 길이는 최대 </a:t>
              </a:r>
              <a:r>
                <a:rPr lang="en-US" altLang="ko-KR" sz="700" dirty="0">
                  <a:latin typeface="+mn-ea"/>
                </a:rPr>
                <a:t>5</a:t>
              </a:r>
              <a:r>
                <a:rPr lang="ko-KR" altLang="en-US" sz="700" dirty="0">
                  <a:latin typeface="+mn-ea"/>
                </a:rPr>
                <a:t>줄로 표시하고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이후 내용이 더 있는 경우는 </a:t>
              </a:r>
              <a:r>
                <a:rPr lang="en-US" altLang="ko-KR" sz="700" dirty="0">
                  <a:latin typeface="+mn-ea"/>
                </a:rPr>
                <a:t>… (</a:t>
              </a:r>
              <a:r>
                <a:rPr lang="ko-KR" altLang="en-US" sz="700" dirty="0" err="1">
                  <a:latin typeface="+mn-ea"/>
                </a:rPr>
                <a:t>말줄임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표시를 통해서 내용을 </a:t>
              </a:r>
              <a:r>
                <a:rPr lang="ko-KR" altLang="en-US" sz="700" dirty="0" err="1">
                  <a:latin typeface="+mn-ea"/>
                </a:rPr>
                <a:t>숨김처리</a:t>
              </a:r>
              <a:r>
                <a:rPr lang="ko-KR" altLang="en-US" sz="700" dirty="0">
                  <a:latin typeface="+mn-ea"/>
                </a:rPr>
                <a:t> 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</p:txBody>
        </p:sp>
        <p:grpSp>
          <p:nvGrpSpPr>
            <p:cNvPr id="8" name="그룹 7"/>
            <p:cNvGrpSpPr/>
            <p:nvPr/>
          </p:nvGrpSpPr>
          <p:grpSpPr>
            <a:xfrm>
              <a:off x="3090975" y="2966155"/>
              <a:ext cx="94010" cy="94010"/>
              <a:chOff x="6812560" y="3297172"/>
              <a:chExt cx="94010" cy="94010"/>
            </a:xfrm>
          </p:grpSpPr>
          <p:cxnSp>
            <p:nvCxnSpPr>
              <p:cNvPr id="5" name="직선 연결선 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89583" y="43622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66626" y="44230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2294" y="27920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634603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통합 </a:t>
            </a:r>
            <a:r>
              <a:rPr lang="ko-KR" altLang="en-US" dirty="0"/>
              <a:t>검색</a:t>
            </a:r>
            <a:r>
              <a:rPr lang="en-US" altLang="ko-KR" dirty="0"/>
              <a:t> </a:t>
            </a:r>
            <a:r>
              <a:rPr lang="ko-KR" altLang="en-US" dirty="0"/>
              <a:t>페이지로 이동하여 </a:t>
            </a:r>
            <a:r>
              <a:rPr lang="ko-KR" altLang="en-US" dirty="0" smtClean="0"/>
              <a:t>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통합검색 솔루션 </a:t>
            </a:r>
            <a:r>
              <a:rPr lang="en-US" altLang="ko-KR" dirty="0" err="1" smtClean="0">
                <a:solidFill>
                  <a:srgbClr val="FF0000"/>
                </a:solidFill>
              </a:rPr>
              <a:t>konan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활용</a:t>
            </a:r>
            <a:endParaRPr lang="en-US" altLang="ko-KR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통합 </a:t>
            </a:r>
            <a:r>
              <a:rPr lang="ko-KR" altLang="en-US" dirty="0"/>
              <a:t>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통합 검색 페이지 진입 시 검색 영역으로 포커스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자주 찾는 서비스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자주 사용하는 메뉴를 정의하여 </a:t>
            </a:r>
            <a:r>
              <a:rPr lang="en-US" altLang="ko-KR" dirty="0"/>
              <a:t>10</a:t>
            </a:r>
            <a:r>
              <a:rPr lang="ko-KR" altLang="en-US" dirty="0"/>
              <a:t>개까지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최근 </a:t>
            </a:r>
            <a:r>
              <a:rPr lang="ko-KR" altLang="en-US" dirty="0" err="1"/>
              <a:t>검색어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입력한 최근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en-US" altLang="ko-KR" dirty="0"/>
              <a:t>10</a:t>
            </a:r>
            <a:r>
              <a:rPr lang="ko-KR" altLang="en-US" dirty="0"/>
              <a:t>개까지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검색한 이력이 없는 경우 아래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최근 검색어가 없습니다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최근 </a:t>
            </a:r>
            <a:r>
              <a:rPr lang="ko-KR" altLang="en-US" dirty="0" err="1"/>
              <a:t>검색어</a:t>
            </a:r>
            <a:r>
              <a:rPr lang="ko-KR" altLang="en-US" dirty="0"/>
              <a:t> 삭제로 검색 이력 삭제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영역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통합 검색 페이지 진입 및 통합 검색 페이지 노출 정보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MUI-MS-01-M09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3140938" y="1657580"/>
            <a:ext cx="94010" cy="94010"/>
            <a:chOff x="6812560" y="3297172"/>
            <a:chExt cx="94010" cy="94010"/>
          </a:xfrm>
        </p:grpSpPr>
        <p:cxnSp>
          <p:nvCxnSpPr>
            <p:cNvPr id="73" name="직선 연결선 7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5" name="모서리가 둥근 직사각형 74"/>
          <p:cNvSpPr/>
          <p:nvPr/>
        </p:nvSpPr>
        <p:spPr>
          <a:xfrm>
            <a:off x="77238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304192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394390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</a:t>
            </a:r>
            <a:r>
              <a:rPr lang="ko-KR" altLang="en-US" sz="700" dirty="0" err="1">
                <a:latin typeface="+mn-ea"/>
              </a:rPr>
              <a:t>검색어</a:t>
            </a:r>
            <a:endParaRPr lang="ko-KR" altLang="en-US" sz="700" dirty="0"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0156" y="4178760"/>
            <a:ext cx="2464791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방위사업청</a:t>
            </a:r>
            <a:r>
              <a:rPr lang="ko-KR" altLang="en-US" sz="700" dirty="0">
                <a:latin typeface="+mn-ea"/>
              </a:rPr>
              <a:t> 물품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국방부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조달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민원서류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인증서 가져오기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241301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자주 찾는 서비스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0156" y="2647865"/>
            <a:ext cx="246479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입찰 공고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대금청구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세금계산서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사전의향서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조달계획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19591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23431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38761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43647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08" name="타원 107"/>
          <p:cNvSpPr/>
          <p:nvPr/>
        </p:nvSpPr>
        <p:spPr>
          <a:xfrm>
            <a:off x="283235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3" name="그룹 112"/>
          <p:cNvGrpSpPr/>
          <p:nvPr/>
        </p:nvGrpSpPr>
        <p:grpSpPr>
          <a:xfrm>
            <a:off x="2876256" y="2029333"/>
            <a:ext cx="58075" cy="58074"/>
            <a:chOff x="6812560" y="3297172"/>
            <a:chExt cx="94010" cy="94010"/>
          </a:xfrm>
        </p:grpSpPr>
        <p:cxnSp>
          <p:nvCxnSpPr>
            <p:cNvPr id="114" name="직선 연결선 11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직선 연결선 11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6" name="그룹 115"/>
          <p:cNvGrpSpPr/>
          <p:nvPr/>
        </p:nvGrpSpPr>
        <p:grpSpPr>
          <a:xfrm>
            <a:off x="2518401" y="3968731"/>
            <a:ext cx="58075" cy="58074"/>
            <a:chOff x="6812560" y="3297172"/>
            <a:chExt cx="94010" cy="94010"/>
          </a:xfrm>
        </p:grpSpPr>
        <p:cxnSp>
          <p:nvCxnSpPr>
            <p:cNvPr id="117" name="직선 연결선 11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직선 연결선 11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21134" y="3943907"/>
            <a:ext cx="71420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</a:t>
            </a: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삭제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14349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505730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통합 검색</a:t>
            </a:r>
            <a:r>
              <a:rPr lang="en-US" altLang="ko-KR" dirty="0"/>
              <a:t> </a:t>
            </a:r>
            <a:r>
              <a:rPr lang="ko-KR" altLang="en-US" dirty="0"/>
              <a:t>페이지에서 </a:t>
            </a:r>
            <a:r>
              <a:rPr lang="ko-KR" altLang="en-US" dirty="0" err="1"/>
              <a:t>검색어</a:t>
            </a:r>
            <a:r>
              <a:rPr lang="ko-KR" altLang="en-US" dirty="0"/>
              <a:t> 입력 </a:t>
            </a:r>
            <a:r>
              <a:rPr lang="ko-KR" altLang="en-US" dirty="0" err="1"/>
              <a:t>검색어</a:t>
            </a:r>
            <a:r>
              <a:rPr lang="ko-KR" altLang="en-US" dirty="0"/>
              <a:t> 입력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검색어</a:t>
            </a:r>
            <a:r>
              <a:rPr lang="ko-KR" altLang="en-US" dirty="0"/>
              <a:t> 초기화 버튼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검색어가 포함된 </a:t>
            </a:r>
            <a:r>
              <a:rPr lang="ko-KR" altLang="en-US" dirty="0" err="1"/>
              <a:t>메뉴명</a:t>
            </a:r>
            <a:r>
              <a:rPr lang="ko-KR" altLang="en-US" dirty="0"/>
              <a:t> 자동완성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- 6</a:t>
            </a:r>
            <a:r>
              <a:rPr lang="ko-KR" altLang="en-US" dirty="0"/>
              <a:t>개 항목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검색어</a:t>
            </a:r>
            <a:r>
              <a:rPr lang="ko-KR" altLang="en-US" dirty="0"/>
              <a:t> 자동완성 기능 </a:t>
            </a:r>
            <a:r>
              <a:rPr lang="ko-KR" altLang="en-US" dirty="0" err="1"/>
              <a:t>토글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ON/OFF</a:t>
            </a:r>
            <a:r>
              <a:rPr lang="ko-KR" altLang="en-US" dirty="0"/>
              <a:t>에 따라</a:t>
            </a:r>
            <a:r>
              <a:rPr lang="en-US" altLang="ko-KR" dirty="0"/>
              <a:t> </a:t>
            </a:r>
            <a:r>
              <a:rPr lang="ko-KR" altLang="en-US" dirty="0"/>
              <a:t>자동완성 표시</a:t>
            </a:r>
            <a:r>
              <a:rPr lang="en-US" altLang="ko-KR" dirty="0"/>
              <a:t>, </a:t>
            </a:r>
            <a:r>
              <a:rPr lang="ko-KR" altLang="en-US" dirty="0"/>
              <a:t>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3-1. ON</a:t>
            </a:r>
            <a:r>
              <a:rPr lang="ko-KR" altLang="en-US" dirty="0"/>
              <a:t>상태 </a:t>
            </a:r>
            <a:r>
              <a:rPr lang="en-US" altLang="ko-KR" dirty="0"/>
              <a:t>– </a:t>
            </a:r>
            <a:r>
              <a:rPr lang="ko-KR" altLang="en-US" dirty="0"/>
              <a:t>자동완성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3-2. OFF </a:t>
            </a:r>
            <a:r>
              <a:rPr lang="ko-KR" altLang="en-US" dirty="0"/>
              <a:t>상태 </a:t>
            </a:r>
            <a:r>
              <a:rPr lang="en-US" altLang="ko-KR" dirty="0"/>
              <a:t>– </a:t>
            </a:r>
            <a:r>
              <a:rPr lang="ko-KR" altLang="en-US" dirty="0"/>
              <a:t>안내 메시지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검색어에</a:t>
            </a:r>
            <a:r>
              <a:rPr lang="ko-KR" altLang="en-US" dirty="0"/>
              <a:t> 따라 현재 앱 서비스에서 관련된 서비스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통합 검색 </a:t>
            </a:r>
            <a:r>
              <a:rPr lang="ko-KR" altLang="en-US" dirty="0" err="1"/>
              <a:t>검색어</a:t>
            </a:r>
            <a:r>
              <a:rPr lang="ko-KR" altLang="en-US" dirty="0"/>
              <a:t> 입력 및 자동완성 기능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MUI-MS-01-M09</a:t>
            </a:r>
            <a:endParaRPr lang="ko-KR" altLang="en-US" dirty="0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1" name="그룹 70"/>
          <p:cNvGrpSpPr/>
          <p:nvPr/>
        </p:nvGrpSpPr>
        <p:grpSpPr>
          <a:xfrm>
            <a:off x="3140938" y="1657580"/>
            <a:ext cx="94010" cy="94010"/>
            <a:chOff x="6812560" y="3297172"/>
            <a:chExt cx="94010" cy="94010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직선 연결선 9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모서리가 둥근 직사각형 94"/>
          <p:cNvSpPr/>
          <p:nvPr/>
        </p:nvSpPr>
        <p:spPr>
          <a:xfrm>
            <a:off x="77238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304192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08236" y="2362612"/>
            <a:ext cx="2226711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진행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서제출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관심</a:t>
            </a: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참가등록반려신청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1" name="타원 110"/>
          <p:cNvSpPr/>
          <p:nvPr/>
        </p:nvSpPr>
        <p:spPr>
          <a:xfrm>
            <a:off x="283235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2" name="그룹 111"/>
          <p:cNvGrpSpPr/>
          <p:nvPr/>
        </p:nvGrpSpPr>
        <p:grpSpPr>
          <a:xfrm>
            <a:off x="2876256" y="2029333"/>
            <a:ext cx="58075" cy="58074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9629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120" name="타원 119"/>
          <p:cNvSpPr/>
          <p:nvPr/>
        </p:nvSpPr>
        <p:spPr>
          <a:xfrm>
            <a:off x="770156" y="241857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/>
          <p:cNvSpPr/>
          <p:nvPr/>
        </p:nvSpPr>
        <p:spPr>
          <a:xfrm>
            <a:off x="770156" y="262363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/>
          <p:cNvSpPr/>
          <p:nvPr/>
        </p:nvSpPr>
        <p:spPr>
          <a:xfrm>
            <a:off x="770156" y="2832411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/>
          <p:cNvSpPr/>
          <p:nvPr/>
        </p:nvSpPr>
        <p:spPr>
          <a:xfrm>
            <a:off x="770156" y="3053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/>
          <p:cNvSpPr/>
          <p:nvPr/>
        </p:nvSpPr>
        <p:spPr>
          <a:xfrm>
            <a:off x="770156" y="3264527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/>
          <p:cNvSpPr/>
          <p:nvPr/>
        </p:nvSpPr>
        <p:spPr>
          <a:xfrm>
            <a:off x="770156" y="347378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10622" y="3858484"/>
            <a:ext cx="454826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자동 완성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2557484" y="3898193"/>
            <a:ext cx="299722" cy="167734"/>
            <a:chOff x="1358901" y="4039836"/>
            <a:chExt cx="299722" cy="167734"/>
          </a:xfrm>
        </p:grpSpPr>
        <p:sp>
          <p:nvSpPr>
            <p:cNvPr id="130" name="모서리가 둥근 직사각형 129"/>
            <p:cNvSpPr/>
            <p:nvPr/>
          </p:nvSpPr>
          <p:spPr>
            <a:xfrm>
              <a:off x="1358901" y="4039836"/>
              <a:ext cx="299722" cy="167734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타원 130"/>
            <p:cNvSpPr/>
            <p:nvPr/>
          </p:nvSpPr>
          <p:spPr>
            <a:xfrm>
              <a:off x="1500757" y="4050762"/>
              <a:ext cx="145884" cy="1458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411514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관련 서비스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4306868"/>
            <a:ext cx="24538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 신청 </a:t>
            </a:r>
            <a:r>
              <a:rPr lang="en-US" altLang="ko-KR" sz="700" dirty="0">
                <a:latin typeface="+mn-ea"/>
              </a:rPr>
              <a:t>&gt;</a:t>
            </a: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3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3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2" name="그룹 171"/>
          <p:cNvGrpSpPr/>
          <p:nvPr/>
        </p:nvGrpSpPr>
        <p:grpSpPr>
          <a:xfrm>
            <a:off x="6258711" y="1657580"/>
            <a:ext cx="94010" cy="94010"/>
            <a:chOff x="6812560" y="3297172"/>
            <a:chExt cx="94010" cy="94010"/>
          </a:xfrm>
        </p:grpSpPr>
        <p:cxnSp>
          <p:nvCxnSpPr>
            <p:cNvPr id="196" name="직선 연결선 19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7" name="직선 연결선 19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3" name="모서리가 둥근 직사각형 172"/>
          <p:cNvSpPr/>
          <p:nvPr/>
        </p:nvSpPr>
        <p:spPr>
          <a:xfrm>
            <a:off x="3890157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타원 173"/>
          <p:cNvSpPr/>
          <p:nvPr/>
        </p:nvSpPr>
        <p:spPr>
          <a:xfrm>
            <a:off x="6159700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0157" y="2832411"/>
            <a:ext cx="252742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자동완성 기능이 꺼져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보다 빠른 검색을 위해 자동완성 기능을 켜주세요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77" name="타원 176"/>
          <p:cNvSpPr/>
          <p:nvPr/>
        </p:nvSpPr>
        <p:spPr>
          <a:xfrm>
            <a:off x="5950124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8" name="그룹 177"/>
          <p:cNvGrpSpPr/>
          <p:nvPr/>
        </p:nvGrpSpPr>
        <p:grpSpPr>
          <a:xfrm>
            <a:off x="5994029" y="2029333"/>
            <a:ext cx="58075" cy="58074"/>
            <a:chOff x="6812560" y="3297172"/>
            <a:chExt cx="94010" cy="94010"/>
          </a:xfrm>
        </p:grpSpPr>
        <p:cxnSp>
          <p:nvCxnSpPr>
            <p:cNvPr id="194" name="직선 연결선 19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7402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28395" y="3858484"/>
            <a:ext cx="454826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자동 완성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87" name="그룹 186"/>
          <p:cNvGrpSpPr/>
          <p:nvPr/>
        </p:nvGrpSpPr>
        <p:grpSpPr>
          <a:xfrm>
            <a:off x="5675257" y="3898193"/>
            <a:ext cx="299722" cy="167734"/>
            <a:chOff x="1358901" y="4039836"/>
            <a:chExt cx="299722" cy="167734"/>
          </a:xfrm>
        </p:grpSpPr>
        <p:sp>
          <p:nvSpPr>
            <p:cNvPr id="192" name="모서리가 둥근 직사각형 191"/>
            <p:cNvSpPr/>
            <p:nvPr/>
          </p:nvSpPr>
          <p:spPr>
            <a:xfrm>
              <a:off x="1358901" y="4039836"/>
              <a:ext cx="299722" cy="167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타원 192"/>
            <p:cNvSpPr/>
            <p:nvPr/>
          </p:nvSpPr>
          <p:spPr>
            <a:xfrm>
              <a:off x="1380107" y="4050762"/>
              <a:ext cx="145884" cy="1458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8" name="TextBox 1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411514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관련 서비스</a:t>
            </a:r>
            <a:endParaRPr lang="ko-KR" altLang="en-US" sz="800" dirty="0">
              <a:latin typeface="+mn-ea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4306868"/>
            <a:ext cx="24538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 신청 </a:t>
            </a:r>
            <a:r>
              <a:rPr lang="en-US" altLang="ko-KR" sz="700" dirty="0">
                <a:latin typeface="+mn-ea"/>
              </a:rPr>
              <a:t>&gt;</a:t>
            </a:r>
          </a:p>
        </p:txBody>
      </p: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3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28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55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360623" y="36564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790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98" name="사각형: 둥근 모서리 25">
            <a:extLst>
              <a:ext uri="{FF2B5EF4-FFF2-40B4-BE49-F238E27FC236}">
                <a16:creationId xmlns:a16="http://schemas.microsoft.com/office/drawing/2014/main" id="{D17B50F9-89DD-C80C-4195-7E69A48DBE7F}"/>
              </a:ext>
            </a:extLst>
          </p:cNvPr>
          <p:cNvSpPr/>
          <p:nvPr/>
        </p:nvSpPr>
        <p:spPr>
          <a:xfrm>
            <a:off x="2621807" y="3672408"/>
            <a:ext cx="327084" cy="14628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3-1</a:t>
            </a:r>
            <a:endParaRPr lang="ko-KR" altLang="en-US" sz="900" b="1" dirty="0"/>
          </a:p>
        </p:txBody>
      </p:sp>
      <p:sp>
        <p:nvSpPr>
          <p:cNvPr id="199" name="사각형: 둥근 모서리 25">
            <a:extLst>
              <a:ext uri="{FF2B5EF4-FFF2-40B4-BE49-F238E27FC236}">
                <a16:creationId xmlns:a16="http://schemas.microsoft.com/office/drawing/2014/main" id="{D17B50F9-89DD-C80C-4195-7E69A48DBE7F}"/>
              </a:ext>
            </a:extLst>
          </p:cNvPr>
          <p:cNvSpPr/>
          <p:nvPr/>
        </p:nvSpPr>
        <p:spPr>
          <a:xfrm>
            <a:off x="5702555" y="3672408"/>
            <a:ext cx="327084" cy="14628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3-2</a:t>
            </a:r>
            <a:endParaRPr lang="ko-KR" altLang="en-US" sz="9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2438078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그룹 105"/>
          <p:cNvGrpSpPr/>
          <p:nvPr/>
        </p:nvGrpSpPr>
        <p:grpSpPr>
          <a:xfrm>
            <a:off x="781461" y="3588685"/>
            <a:ext cx="2473257" cy="1073394"/>
            <a:chOff x="781461" y="1974079"/>
            <a:chExt cx="2473257" cy="1073394"/>
          </a:xfrm>
        </p:grpSpPr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158410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긴급공고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LDG0097-1</a:t>
              </a:r>
            </a:p>
            <a:p>
              <a:r>
                <a:rPr lang="ko-KR" altLang="en-US" sz="900" b="1" dirty="0" err="1"/>
                <a:t>특수작전용대물타격무인향</a:t>
              </a:r>
              <a:endParaRPr lang="ko-KR" altLang="en-US" sz="900" b="1" dirty="0"/>
            </a:p>
          </p:txBody>
        </p:sp>
        <p:sp>
          <p:nvSpPr>
            <p:cNvPr id="10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2493475"/>
              <a:ext cx="796693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공고일자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입찰참가신청 </a:t>
              </a:r>
              <a:r>
                <a:rPr lang="ko-KR" altLang="en-US" sz="600" dirty="0" err="1">
                  <a:latin typeface="+mn-ea"/>
                </a:rPr>
                <a:t>마감일시</a:t>
              </a:r>
              <a:endParaRPr lang="ko-KR" altLang="en-US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일참서제출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ko-KR" altLang="en-US" sz="600" dirty="0" err="1">
                  <a:latin typeface="+mn-ea"/>
                </a:rPr>
                <a:t>마감일시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개찰일시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11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2478086"/>
              <a:ext cx="60914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2025-12-22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2025-12-23 17:00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2025-12-24 10:00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2025-12-24 10:30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111" name="모서리가 둥근 직사각형 110"/>
            <p:cNvSpPr/>
            <p:nvPr/>
          </p:nvSpPr>
          <p:spPr>
            <a:xfrm>
              <a:off x="781461" y="1974079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12" name="모서리가 둥근 직사각형 111"/>
            <p:cNvSpPr/>
            <p:nvPr/>
          </p:nvSpPr>
          <p:spPr>
            <a:xfrm>
              <a:off x="1075655" y="1974079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경쟁입찰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검색한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필터</a:t>
            </a:r>
            <a:r>
              <a:rPr lang="en-US" altLang="ko-KR" dirty="0"/>
              <a:t>, </a:t>
            </a:r>
            <a:r>
              <a:rPr lang="ko-KR" altLang="en-US" dirty="0"/>
              <a:t>정렬 기준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필터 설정 우측 </a:t>
            </a:r>
            <a:r>
              <a:rPr lang="en-US" altLang="ko-KR" dirty="0"/>
              <a:t>5</a:t>
            </a:r>
            <a:r>
              <a:rPr lang="ko-KR" altLang="en-US" dirty="0"/>
              <a:t>번 화면 참조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정렬 기준 기본값</a:t>
            </a:r>
            <a:r>
              <a:rPr lang="en-US" altLang="ko-KR" dirty="0"/>
              <a:t>: </a:t>
            </a:r>
            <a:r>
              <a:rPr lang="ko-KR" altLang="en-US" dirty="0" err="1"/>
              <a:t>관련도순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 </a:t>
            </a:r>
            <a:r>
              <a:rPr lang="ko-KR" altLang="en-US" dirty="0" err="1"/>
              <a:t>구분자를</a:t>
            </a:r>
            <a:r>
              <a:rPr lang="ko-KR" altLang="en-US" dirty="0"/>
              <a:t> 통한 컨텐츠 분리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검색된 내역 중 </a:t>
            </a:r>
            <a:r>
              <a:rPr lang="ko-KR" altLang="en-US" dirty="0" err="1"/>
              <a:t>검색어와</a:t>
            </a:r>
            <a:r>
              <a:rPr lang="ko-KR" altLang="en-US" dirty="0"/>
              <a:t> 일치되는 결과 하이라이트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통합 검색에서는 </a:t>
            </a:r>
            <a:r>
              <a:rPr lang="ko-KR" altLang="en-US" dirty="0" err="1"/>
              <a:t>검색대상별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개씩의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 표시 하단 </a:t>
            </a:r>
            <a:r>
              <a:rPr lang="ko-KR" altLang="en-US" dirty="0" err="1"/>
              <a:t>더보기</a:t>
            </a:r>
            <a:r>
              <a:rPr lang="ko-KR" altLang="en-US" dirty="0"/>
              <a:t> 버튼으로 검색 대상만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검색필터</a:t>
            </a:r>
            <a:r>
              <a:rPr lang="ko-KR" altLang="en-US" dirty="0"/>
              <a:t> 설정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대상 체크박스로 필터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체크</a:t>
            </a:r>
            <a:r>
              <a:rPr lang="en-US" altLang="ko-KR" dirty="0"/>
              <a:t>, </a:t>
            </a:r>
            <a:r>
              <a:rPr lang="ko-KR" altLang="en-US" dirty="0"/>
              <a:t>체크해제 시 </a:t>
            </a:r>
            <a:r>
              <a:rPr lang="en-US" altLang="ko-KR" dirty="0"/>
              <a:t>4</a:t>
            </a:r>
            <a:r>
              <a:rPr lang="ko-KR" altLang="en-US" dirty="0"/>
              <a:t>번 영역에 즉시 반영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내 </a:t>
            </a:r>
            <a:r>
              <a:rPr lang="ko-KR" altLang="en-US" dirty="0" err="1"/>
              <a:t>재검색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</a:t>
            </a:r>
            <a:r>
              <a:rPr lang="ko-KR" altLang="en-US" dirty="0" err="1"/>
              <a:t>검색어</a:t>
            </a:r>
            <a:r>
              <a:rPr lang="ko-KR" altLang="en-US" dirty="0"/>
              <a:t> 포함 </a:t>
            </a:r>
            <a:r>
              <a:rPr lang="en-US" altLang="ko-KR" dirty="0"/>
              <a:t>+ </a:t>
            </a:r>
            <a:r>
              <a:rPr lang="ko-KR" altLang="en-US" dirty="0"/>
              <a:t>추가 </a:t>
            </a:r>
            <a:r>
              <a:rPr lang="ko-KR" altLang="en-US" dirty="0" err="1"/>
              <a:t>검색어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ko-KR" altLang="en-US" dirty="0" smtClean="0"/>
              <a:t>포함 </a:t>
            </a:r>
            <a:r>
              <a:rPr lang="en-US" altLang="ko-KR" dirty="0" smtClean="0"/>
              <a:t>- </a:t>
            </a:r>
            <a:r>
              <a:rPr lang="ko-KR" altLang="en-US" dirty="0"/>
              <a:t>입력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ko-KR" altLang="en-US" dirty="0" smtClean="0"/>
              <a:t>검색하여 </a:t>
            </a:r>
            <a:r>
              <a:rPr lang="ko-KR" altLang="en-US" dirty="0" err="1" smtClean="0"/>
              <a:t>제외처리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</a:t>
            </a:r>
            <a:r>
              <a:rPr lang="en-US" altLang="ko-KR" dirty="0"/>
              <a:t>-</a:t>
            </a:r>
            <a:r>
              <a:rPr lang="ko-KR" altLang="en-US" dirty="0" err="1"/>
              <a:t>결과목록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통합 검색 결과 목록 표시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 </a:t>
            </a:r>
            <a:r>
              <a:rPr lang="en-US" altLang="ko-KR" dirty="0"/>
              <a:t>– </a:t>
            </a:r>
            <a:r>
              <a:rPr lang="ko-KR" altLang="en-US" dirty="0"/>
              <a:t>결과 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MUI-MS-01-M10</a:t>
            </a:r>
            <a:endParaRPr lang="ko-KR" altLang="en-US" sz="1000" dirty="0"/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73" name="직선 연결선 7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6" name="타원 75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2054660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검색대상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312278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적용된 </a:t>
            </a: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‘</a:t>
            </a:r>
            <a:r>
              <a:rPr lang="ko-KR" altLang="en-US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’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검색 결과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모서리가 둥근 직사각형 50"/>
          <p:cNvSpPr/>
          <p:nvPr/>
        </p:nvSpPr>
        <p:spPr>
          <a:xfrm>
            <a:off x="77499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304453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통합검색</a:t>
            </a:r>
          </a:p>
        </p:txBody>
      </p:sp>
      <p:sp>
        <p:nvSpPr>
          <p:cNvPr id="55" name="타원 54"/>
          <p:cNvSpPr/>
          <p:nvPr/>
        </p:nvSpPr>
        <p:spPr>
          <a:xfrm>
            <a:off x="283496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/>
          <p:cNvGrpSpPr/>
          <p:nvPr/>
        </p:nvGrpSpPr>
        <p:grpSpPr>
          <a:xfrm>
            <a:off x="2878866" y="2029333"/>
            <a:ext cx="58075" cy="58074"/>
            <a:chOff x="6812560" y="3297172"/>
            <a:chExt cx="94010" cy="94010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2239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물품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3241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967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2889245"/>
            <a:ext cx="36739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63" name="타원 62"/>
          <p:cNvSpPr/>
          <p:nvPr/>
        </p:nvSpPr>
        <p:spPr>
          <a:xfrm>
            <a:off x="783686" y="2920590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8924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정렬 기준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89245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관련도순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3143548" y="2991068"/>
            <a:ext cx="94010" cy="47005"/>
            <a:chOff x="6812560" y="3297172"/>
            <a:chExt cx="94010" cy="47005"/>
          </a:xfrm>
        </p:grpSpPr>
        <p:cxnSp>
          <p:nvCxnSpPr>
            <p:cNvPr id="68" name="직선 연결선 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224755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입찰공고 </a:t>
            </a:r>
            <a:r>
              <a:rPr lang="en-US" altLang="ko-KR" sz="700" b="1" dirty="0">
                <a:latin typeface="+mn-ea"/>
              </a:rPr>
              <a:t>- 533</a:t>
            </a:r>
            <a:r>
              <a:rPr lang="ko-KR" altLang="en-US" sz="700" b="1" dirty="0">
                <a:latin typeface="+mn-ea"/>
              </a:rPr>
              <a:t>건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5840113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개찰결과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- 27</a:t>
            </a:r>
            <a:r>
              <a:rPr lang="ko-KR" altLang="en-US" sz="700" b="1" dirty="0">
                <a:latin typeface="+mn-ea"/>
              </a:rPr>
              <a:t>건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61955" y="2284818"/>
            <a:ext cx="2305144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개찰결과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낙찰자 안내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계약정보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조달계획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사전규격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전자서고</a:t>
            </a:r>
            <a:endParaRPr lang="en-US" altLang="ko-KR" sz="700" dirty="0"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892504" y="2351130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3892504" y="2568356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2" name="그룹 121"/>
          <p:cNvGrpSpPr/>
          <p:nvPr/>
        </p:nvGrpSpPr>
        <p:grpSpPr>
          <a:xfrm>
            <a:off x="6261284" y="2152350"/>
            <a:ext cx="91438" cy="45719"/>
            <a:chOff x="6812560" y="3297172"/>
            <a:chExt cx="94010" cy="47005"/>
          </a:xfrm>
        </p:grpSpPr>
        <p:cxnSp>
          <p:nvCxnSpPr>
            <p:cNvPr id="123" name="직선 연결선 12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8" name="직사각형 137"/>
          <p:cNvSpPr/>
          <p:nvPr/>
        </p:nvSpPr>
        <p:spPr>
          <a:xfrm>
            <a:off x="3892504" y="2765446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/>
          <p:cNvSpPr/>
          <p:nvPr/>
        </p:nvSpPr>
        <p:spPr>
          <a:xfrm>
            <a:off x="3892504" y="298010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/>
          <p:cNvSpPr/>
          <p:nvPr/>
        </p:nvSpPr>
        <p:spPr>
          <a:xfrm>
            <a:off x="3892504" y="3192073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3833106" y="2301265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3833106" y="2523371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3833106" y="2727088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32185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4469580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결과 내 </a:t>
            </a:r>
            <a:r>
              <a:rPr lang="ko-KR" altLang="en-US" sz="700" b="1" dirty="0" err="1">
                <a:latin typeface="+mn-ea"/>
              </a:rPr>
              <a:t>재검색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54" name="그룹 153"/>
          <p:cNvGrpSpPr/>
          <p:nvPr/>
        </p:nvGrpSpPr>
        <p:grpSpPr>
          <a:xfrm>
            <a:off x="6261284" y="4567270"/>
            <a:ext cx="91438" cy="45719"/>
            <a:chOff x="6812560" y="3297172"/>
            <a:chExt cx="94010" cy="47005"/>
          </a:xfrm>
        </p:grpSpPr>
        <p:cxnSp>
          <p:nvCxnSpPr>
            <p:cNvPr id="155" name="직선 연결선 15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61955" y="4720611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포함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제외</a:t>
            </a:r>
          </a:p>
        </p:txBody>
      </p:sp>
      <p:sp>
        <p:nvSpPr>
          <p:cNvPr id="158" name="타원 157"/>
          <p:cNvSpPr/>
          <p:nvPr/>
        </p:nvSpPr>
        <p:spPr>
          <a:xfrm>
            <a:off x="3892504" y="4777247"/>
            <a:ext cx="107950" cy="10795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타원 158"/>
          <p:cNvSpPr/>
          <p:nvPr/>
        </p:nvSpPr>
        <p:spPr>
          <a:xfrm>
            <a:off x="3892504" y="4997807"/>
            <a:ext cx="107950" cy="10795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모서리가 둥근 직사각형 159"/>
          <p:cNvSpPr/>
          <p:nvPr/>
        </p:nvSpPr>
        <p:spPr>
          <a:xfrm>
            <a:off x="3888037" y="5340590"/>
            <a:ext cx="2527420" cy="285425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err="1">
                <a:solidFill>
                  <a:schemeClr val="bg1">
                    <a:lumMod val="65000"/>
                  </a:schemeClr>
                </a:solidFill>
              </a:rPr>
              <a:t>검색어를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6923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70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746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66" name="타원 1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4185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6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440505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endParaRPr kumimoji="1" lang="en-US" sz="1000" b="0" i="0" u="none" strike="noStrike" kern="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18902"/>
            <a:ext cx="76863" cy="292489"/>
            <a:chOff x="3750067" y="4683795"/>
            <a:chExt cx="76863" cy="292489"/>
          </a:xfrm>
        </p:grpSpPr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0" name="타원 17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81" name="직사각형 180"/>
          <p:cNvSpPr/>
          <p:nvPr/>
        </p:nvSpPr>
        <p:spPr>
          <a:xfrm>
            <a:off x="3892504" y="340685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직사각형 181"/>
          <p:cNvSpPr/>
          <p:nvPr/>
        </p:nvSpPr>
        <p:spPr>
          <a:xfrm>
            <a:off x="3892504" y="3618823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44812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8314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8279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61143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004764" y="3104689"/>
            <a:ext cx="776938" cy="1131139"/>
            <a:chOff x="3206014" y="3104689"/>
            <a:chExt cx="776938" cy="1131139"/>
          </a:xfrm>
        </p:grpSpPr>
        <p:sp>
          <p:nvSpPr>
            <p:cNvPr id="97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206014" y="3448043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4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206014" y="3104689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관련도순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9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264401" y="3448043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관련도순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TextBox 227">
              <a:extLst>
                <a:ext uri="{FF2B5EF4-FFF2-40B4-BE49-F238E27FC236}">
                  <a16:creationId xmlns:a16="http://schemas.microsoft.com/office/drawing/2014/main" id="{16FE1925-95A9-0AB2-6154-E506938CFD04}"/>
                </a:ext>
              </a:extLst>
            </p:cNvPr>
            <p:cNvSpPr txBox="1"/>
            <p:nvPr/>
          </p:nvSpPr>
          <p:spPr>
            <a:xfrm>
              <a:off x="3264401" y="3939461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ko-KR" altLang="en-US" sz="700" kern="0" dirty="0">
                  <a:solidFill>
                    <a:prstClr val="black"/>
                  </a:solidFill>
                </a:rPr>
                <a:t>인기순</a:t>
              </a:r>
              <a:endParaRPr lang="en-US" altLang="ko-KR" sz="700" kern="0" dirty="0">
                <a:solidFill>
                  <a:prstClr val="black"/>
                </a:solidFill>
              </a:endParaRPr>
            </a:p>
          </p:txBody>
        </p:sp>
        <p:sp>
          <p:nvSpPr>
            <p:cNvPr id="103" name="TextBox 230">
              <a:extLst>
                <a:ext uri="{FF2B5EF4-FFF2-40B4-BE49-F238E27FC236}">
                  <a16:creationId xmlns:a16="http://schemas.microsoft.com/office/drawing/2014/main" id="{DC4EA8A9-095A-0AC6-FEBF-364DA2336F3D}"/>
                </a:ext>
              </a:extLst>
            </p:cNvPr>
            <p:cNvSpPr txBox="1"/>
            <p:nvPr/>
          </p:nvSpPr>
          <p:spPr>
            <a:xfrm>
              <a:off x="3264401" y="3693752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ko-KR" altLang="en-US" sz="700" kern="0" dirty="0" err="1">
                  <a:solidFill>
                    <a:prstClr val="black"/>
                  </a:solidFill>
                </a:rPr>
                <a:t>최신순</a:t>
              </a:r>
              <a:endParaRPr lang="en-US" altLang="ko-KR" sz="700" kern="0" dirty="0">
                <a:solidFill>
                  <a:prstClr val="black"/>
                </a:solidFill>
              </a:endParaRPr>
            </a:p>
          </p:txBody>
        </p:sp>
        <p:grpSp>
          <p:nvGrpSpPr>
            <p:cNvPr id="108" name="그룹 107"/>
            <p:cNvGrpSpPr/>
            <p:nvPr/>
          </p:nvGrpSpPr>
          <p:grpSpPr>
            <a:xfrm>
              <a:off x="3786101" y="3252864"/>
              <a:ext cx="94010" cy="47005"/>
              <a:chOff x="661571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" name="직선 연결선 116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3" name="그룹 1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6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모서리가 둥근 직사각형 110"/>
          <p:cNvSpPr/>
          <p:nvPr/>
        </p:nvSpPr>
        <p:spPr>
          <a:xfrm>
            <a:off x="1064111" y="2307300"/>
            <a:ext cx="193460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1064111" y="2656028"/>
            <a:ext cx="1934603" cy="468907"/>
          </a:xfrm>
          <a:prstGeom prst="roundRect">
            <a:avLst>
              <a:gd name="adj" fmla="val 1279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/>
              <a:t>경쟁입찰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솔루션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솔루션 화면 참고용 설계 내용이며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솔루션에서 제공되는 화면을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채팅 </a:t>
            </a:r>
            <a:r>
              <a:rPr lang="ko-KR" altLang="en-US" dirty="0"/>
              <a:t>메시지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입력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챗봇문의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</a:t>
            </a:r>
            <a:r>
              <a:rPr lang="ko-KR" altLang="en-US" dirty="0" err="1">
                <a:latin typeface="+mn-ea"/>
              </a:rPr>
              <a:t>챗봇</a:t>
            </a:r>
            <a:r>
              <a:rPr lang="ko-KR" altLang="en-US" dirty="0">
                <a:latin typeface="+mn-ea"/>
              </a:rPr>
              <a:t>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챗봇</a:t>
            </a:r>
            <a:r>
              <a:rPr lang="ko-KR" altLang="en-US" dirty="0">
                <a:latin typeface="+mn-ea"/>
              </a:rPr>
              <a:t> 문의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lIns="72000" tIns="36000" rIns="72000" bIns="36000"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MUI-MS-01-M11</a:t>
            </a:r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774994" y="233278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챗봇</a:t>
            </a:r>
            <a:r>
              <a:rPr lang="ko-KR" altLang="en-US" sz="800" dirty="0">
                <a:latin typeface="+mn-ea"/>
              </a:rPr>
              <a:t> 문의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42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746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13" name="타원 112"/>
          <p:cNvSpPr/>
          <p:nvPr/>
        </p:nvSpPr>
        <p:spPr>
          <a:xfrm>
            <a:off x="3099089" y="265585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1064111" y="3234118"/>
            <a:ext cx="193460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1064111" y="3582846"/>
            <a:ext cx="1934603" cy="468907"/>
          </a:xfrm>
          <a:prstGeom prst="roundRect">
            <a:avLst>
              <a:gd name="adj" fmla="val 1279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/>
              <a:t>경쟁입찰</a:t>
            </a:r>
          </a:p>
        </p:txBody>
      </p:sp>
      <p:sp>
        <p:nvSpPr>
          <p:cNvPr id="119" name="타원 118"/>
          <p:cNvSpPr/>
          <p:nvPr/>
        </p:nvSpPr>
        <p:spPr>
          <a:xfrm>
            <a:off x="774994" y="32596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3099089" y="35826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608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6" name="모서리가 둥근 직사각형 125"/>
          <p:cNvSpPr/>
          <p:nvPr/>
        </p:nvSpPr>
        <p:spPr>
          <a:xfrm>
            <a:off x="774994" y="4219387"/>
            <a:ext cx="217942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28" name="모서리가 둥근 직사각형 127"/>
          <p:cNvSpPr/>
          <p:nvPr/>
        </p:nvSpPr>
        <p:spPr>
          <a:xfrm>
            <a:off x="2842727" y="4219387"/>
            <a:ext cx="398489" cy="231480"/>
          </a:xfrm>
          <a:prstGeom prst="roundRect">
            <a:avLst>
              <a:gd name="adj" fmla="val 2340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보내기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1930479"/>
            <a:ext cx="76863" cy="292489"/>
            <a:chOff x="3750067" y="4683795"/>
            <a:chExt cx="76863" cy="292489"/>
          </a:xfrm>
        </p:grpSpPr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4166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27076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햄버거 메뉴 닫기</a:t>
            </a:r>
            <a:r>
              <a:rPr lang="en-US" altLang="ko-KR" dirty="0"/>
              <a:t>, </a:t>
            </a:r>
            <a:r>
              <a:rPr lang="ko-KR" altLang="en-US" dirty="0"/>
              <a:t>설정 등 버튼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로그인 정보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로그인 메시지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/>
              <a:t>클릭 </a:t>
            </a:r>
            <a:r>
              <a:rPr lang="ko-KR" altLang="en-US" dirty="0" smtClean="0"/>
              <a:t>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o MUI-CM-03-M01 </a:t>
            </a:r>
            <a:r>
              <a:rPr lang="ko-KR" altLang="en-US" dirty="0" smtClean="0"/>
              <a:t>로그인</a:t>
            </a:r>
            <a:r>
              <a:rPr lang="en-US" altLang="ko-KR" dirty="0"/>
              <a:t>-</a:t>
            </a:r>
            <a:r>
              <a:rPr lang="ko-KR" altLang="en-US" dirty="0" err="1" smtClean="0"/>
              <a:t>방식선택</a:t>
            </a:r>
            <a:r>
              <a:rPr lang="ko-KR" altLang="en-US" dirty="0" smtClean="0"/>
              <a:t>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o </a:t>
            </a:r>
            <a:r>
              <a:rPr lang="ko-KR" altLang="en-US" dirty="0" err="1" smtClean="0"/>
              <a:t>생체인증이</a:t>
            </a:r>
            <a:r>
              <a:rPr lang="ko-KR" altLang="en-US" dirty="0" smtClean="0"/>
              <a:t> 등록되어 있는 경우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진행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사용자 정보</a:t>
            </a:r>
            <a:r>
              <a:rPr lang="en-US" altLang="ko-KR" dirty="0"/>
              <a:t>, </a:t>
            </a:r>
            <a:r>
              <a:rPr lang="ko-KR" altLang="en-US" dirty="0"/>
              <a:t>최근 로그인 </a:t>
            </a:r>
            <a:r>
              <a:rPr lang="ko-KR" altLang="en-US" dirty="0" smtClean="0"/>
              <a:t>시간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바로가기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마이페이지</a:t>
            </a:r>
            <a:r>
              <a:rPr lang="en-US" altLang="ko-KR" dirty="0" smtClean="0"/>
              <a:t>, </a:t>
            </a:r>
            <a:r>
              <a:rPr lang="en-US" altLang="ko-KR" dirty="0"/>
              <a:t>MUI-CM-06-M01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챗봇상담</a:t>
            </a:r>
            <a:r>
              <a:rPr lang="en-US" altLang="ko-KR" dirty="0" smtClean="0"/>
              <a:t>, </a:t>
            </a:r>
            <a:r>
              <a:rPr lang="en-US" altLang="ko-KR" dirty="0"/>
              <a:t>MUI-MS-01-M11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인증센터</a:t>
            </a:r>
            <a:r>
              <a:rPr lang="en-US" altLang="ko-KR" dirty="0" smtClean="0"/>
              <a:t>, </a:t>
            </a:r>
            <a:r>
              <a:rPr lang="en-US" altLang="ko-KR" dirty="0"/>
              <a:t>MUI-CM-04-M13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앱설정</a:t>
            </a:r>
            <a:r>
              <a:rPr lang="ko-KR" altLang="en-US" dirty="0" smtClean="0"/>
              <a:t> </a:t>
            </a:r>
            <a:r>
              <a:rPr lang="en-US" altLang="ko-KR" dirty="0"/>
              <a:t>MUI-MS-02-M01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메뉴 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/>
              <a:t>검색 </a:t>
            </a:r>
            <a:r>
              <a:rPr lang="ko-KR" altLang="en-US" dirty="0" err="1"/>
              <a:t>메뉴명</a:t>
            </a:r>
            <a:r>
              <a:rPr lang="ko-KR" altLang="en-US" dirty="0"/>
              <a:t> </a:t>
            </a:r>
            <a:r>
              <a:rPr lang="en-US" altLang="ko-KR" dirty="0" smtClean="0"/>
              <a:t>like </a:t>
            </a:r>
            <a:r>
              <a:rPr lang="ko-KR" altLang="en-US" dirty="0" smtClean="0"/>
              <a:t>값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검색 일치된 단어 </a:t>
            </a:r>
            <a:r>
              <a:rPr lang="ko-KR" altLang="en-US" dirty="0" err="1" smtClean="0"/>
              <a:t>하일라이트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최소 </a:t>
            </a:r>
            <a:r>
              <a:rPr lang="en-US" altLang="ko-KR" dirty="0" smtClean="0"/>
              <a:t>2</a:t>
            </a:r>
            <a:r>
              <a:rPr lang="ko-KR" altLang="en-US" dirty="0" smtClean="0"/>
              <a:t>글자 이상 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전체 메뉴 목록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사이트맵</a:t>
            </a:r>
            <a:r>
              <a:rPr lang="ko-KR" altLang="en-US" dirty="0" smtClean="0"/>
              <a:t> 참조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시스템 관리자의 </a:t>
            </a:r>
            <a:r>
              <a:rPr lang="ko-KR" altLang="en-US" dirty="0" err="1" smtClean="0">
                <a:solidFill>
                  <a:srgbClr val="FF0000"/>
                </a:solidFill>
              </a:rPr>
              <a:t>메뉴관리</a:t>
            </a:r>
            <a:r>
              <a:rPr lang="ko-KR" altLang="en-US" dirty="0" smtClean="0">
                <a:solidFill>
                  <a:srgbClr val="FF0000"/>
                </a:solidFill>
              </a:rPr>
              <a:t> 라우터에서 </a:t>
            </a:r>
            <a:r>
              <a:rPr lang="ko-KR" altLang="en-US" dirty="0" err="1" smtClean="0">
                <a:solidFill>
                  <a:srgbClr val="FF0000"/>
                </a:solidFill>
              </a:rPr>
              <a:t>표시여부</a:t>
            </a:r>
            <a:r>
              <a:rPr lang="ko-KR" altLang="en-US" dirty="0" smtClean="0">
                <a:solidFill>
                  <a:srgbClr val="FF0000"/>
                </a:solidFill>
              </a:rPr>
              <a:t> </a:t>
            </a:r>
            <a:r>
              <a:rPr lang="en-US" altLang="ko-KR" dirty="0" smtClean="0">
                <a:solidFill>
                  <a:srgbClr val="FF0000"/>
                </a:solidFill>
              </a:rPr>
              <a:t>Y</a:t>
            </a:r>
            <a:r>
              <a:rPr lang="ko-KR" altLang="en-US" dirty="0" smtClean="0">
                <a:solidFill>
                  <a:srgbClr val="FF0000"/>
                </a:solidFill>
              </a:rPr>
              <a:t>값으로 등록된 메뉴가 노출됨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햄버거메뉴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메뉴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햄버거 메뉴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lIns="72000" tIns="36000" rIns="72000" bIns="36000"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MUI-MS-01-M12</a:t>
            </a:r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06526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로그인 하기 </a:t>
            </a:r>
            <a:r>
              <a:rPr lang="en-US" altLang="ko-KR" sz="900" b="1" dirty="0">
                <a:latin typeface="+mn-ea"/>
              </a:rPr>
              <a:t>&gt;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1" name="타원 80"/>
          <p:cNvSpPr/>
          <p:nvPr/>
        </p:nvSpPr>
        <p:spPr>
          <a:xfrm>
            <a:off x="873369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2759886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3073643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32127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48433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891228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모서리가 둥근 직사각형 45"/>
          <p:cNvSpPr/>
          <p:nvPr/>
        </p:nvSpPr>
        <p:spPr>
          <a:xfrm>
            <a:off x="1508351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2125474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2742597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313189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메뉴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542624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조달계획</a:t>
            </a:r>
          </a:p>
        </p:txBody>
      </p:sp>
      <p:sp>
        <p:nvSpPr>
          <p:cNvPr id="183" name="모서리가 둥근 직사각형 182"/>
          <p:cNvSpPr/>
          <p:nvPr/>
        </p:nvSpPr>
        <p:spPr>
          <a:xfrm>
            <a:off x="891228" y="3741713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모서리가 둥근 직사각형 183"/>
          <p:cNvSpPr/>
          <p:nvPr/>
        </p:nvSpPr>
        <p:spPr>
          <a:xfrm>
            <a:off x="891227" y="3908722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15783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입찰</a:t>
            </a:r>
          </a:p>
        </p:txBody>
      </p:sp>
      <p:sp>
        <p:nvSpPr>
          <p:cNvPr id="187" name="모서리가 둥근 직사각형 186"/>
          <p:cNvSpPr/>
          <p:nvPr/>
        </p:nvSpPr>
        <p:spPr>
          <a:xfrm>
            <a:off x="891228" y="4356927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모서리가 둥근 직사각형 187"/>
          <p:cNvSpPr/>
          <p:nvPr/>
        </p:nvSpPr>
        <p:spPr>
          <a:xfrm>
            <a:off x="891227" y="4523936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82812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계약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1228" y="502721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모서리가 둥근 직사각형 132"/>
          <p:cNvSpPr/>
          <p:nvPr/>
        </p:nvSpPr>
        <p:spPr>
          <a:xfrm>
            <a:off x="891227" y="5194221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10340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7403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8" name="그룹 137"/>
          <p:cNvGrpSpPr/>
          <p:nvPr/>
        </p:nvGrpSpPr>
        <p:grpSpPr>
          <a:xfrm flipV="1">
            <a:off x="3124233" y="3580677"/>
            <a:ext cx="94010" cy="47005"/>
            <a:chOff x="6812560" y="3297172"/>
            <a:chExt cx="94010" cy="47005"/>
          </a:xfrm>
        </p:grpSpPr>
        <p:cxnSp>
          <p:nvCxnSpPr>
            <p:cNvPr id="139" name="직선 연결선 13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직선 연결선 13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1" name="그룹 140"/>
          <p:cNvGrpSpPr/>
          <p:nvPr/>
        </p:nvGrpSpPr>
        <p:grpSpPr>
          <a:xfrm flipV="1">
            <a:off x="3124233" y="4195891"/>
            <a:ext cx="94010" cy="47005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직선 연결선 15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8" name="그룹 157"/>
          <p:cNvGrpSpPr/>
          <p:nvPr/>
        </p:nvGrpSpPr>
        <p:grpSpPr>
          <a:xfrm flipV="1">
            <a:off x="3124233" y="4866176"/>
            <a:ext cx="94010" cy="47005"/>
            <a:chOff x="6812560" y="3297172"/>
            <a:chExt cx="94010" cy="47005"/>
          </a:xfrm>
        </p:grpSpPr>
        <p:cxnSp>
          <p:nvCxnSpPr>
            <p:cNvPr id="159" name="직선 연결선 15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501652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사후</a:t>
            </a:r>
          </a:p>
        </p:txBody>
      </p:sp>
      <p:sp>
        <p:nvSpPr>
          <p:cNvPr id="162" name="모서리가 둥근 직사각형 161"/>
          <p:cNvSpPr/>
          <p:nvPr/>
        </p:nvSpPr>
        <p:spPr>
          <a:xfrm>
            <a:off x="891228" y="5700741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891227" y="5867750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413859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8" name="그룹 167"/>
          <p:cNvGrpSpPr/>
          <p:nvPr/>
        </p:nvGrpSpPr>
        <p:grpSpPr>
          <a:xfrm flipV="1">
            <a:off x="3124233" y="5539705"/>
            <a:ext cx="94010" cy="47005"/>
            <a:chOff x="6812560" y="3297172"/>
            <a:chExt cx="94010" cy="47005"/>
          </a:xfrm>
        </p:grpSpPr>
        <p:cxnSp>
          <p:nvCxnSpPr>
            <p:cNvPr id="169" name="직선 연결선 16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연결선 16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070647"/>
            <a:ext cx="76863" cy="292489"/>
            <a:chOff x="3750067" y="4683795"/>
            <a:chExt cx="76863" cy="292489"/>
          </a:xfrm>
        </p:grpSpPr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5922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083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7" name="직사각형 56"/>
          <p:cNvSpPr/>
          <p:nvPr/>
        </p:nvSpPr>
        <p:spPr>
          <a:xfrm>
            <a:off x="7061636" y="6372000"/>
            <a:ext cx="2373964" cy="10344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감리 추가 사항 </a:t>
            </a:r>
            <a:r>
              <a:rPr lang="en-US" altLang="ko-KR" sz="800" dirty="0"/>
              <a:t>2026-04-08</a:t>
            </a:r>
            <a:endParaRPr lang="ko-KR" altLang="en-US" sz="800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338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타원 61"/>
          <p:cNvSpPr/>
          <p:nvPr/>
        </p:nvSpPr>
        <p:spPr>
          <a:xfrm>
            <a:off x="3998747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5885264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6199021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338" y="33803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7210" y="3651953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모서리가 둥근 직사각형 66"/>
          <p:cNvSpPr/>
          <p:nvPr/>
        </p:nvSpPr>
        <p:spPr>
          <a:xfrm>
            <a:off x="4016606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모서리가 둥근 직사각형 68"/>
          <p:cNvSpPr/>
          <p:nvPr/>
        </p:nvSpPr>
        <p:spPr>
          <a:xfrm>
            <a:off x="4633729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모서리가 둥근 직사각형 69"/>
          <p:cNvSpPr/>
          <p:nvPr/>
        </p:nvSpPr>
        <p:spPr>
          <a:xfrm>
            <a:off x="5250852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모서리가 둥근 직사각형 70"/>
          <p:cNvSpPr/>
          <p:nvPr/>
        </p:nvSpPr>
        <p:spPr>
          <a:xfrm>
            <a:off x="5867975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4270" y="3480808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메뉴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4270" y="371024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입찰</a:t>
            </a:r>
          </a:p>
        </p:txBody>
      </p:sp>
      <p:sp>
        <p:nvSpPr>
          <p:cNvPr id="74" name="모서리가 둥근 직사각형 73"/>
          <p:cNvSpPr/>
          <p:nvPr/>
        </p:nvSpPr>
        <p:spPr>
          <a:xfrm>
            <a:off x="4016606" y="390933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모서리가 둥근 직사각형 74"/>
          <p:cNvSpPr/>
          <p:nvPr/>
        </p:nvSpPr>
        <p:spPr>
          <a:xfrm>
            <a:off x="4016605" y="4076341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 flipV="1">
            <a:off x="6249611" y="3748296"/>
            <a:ext cx="94010" cy="47005"/>
            <a:chOff x="6812560" y="3297172"/>
            <a:chExt cx="94010" cy="47005"/>
          </a:xfrm>
        </p:grpSpPr>
        <p:cxnSp>
          <p:nvCxnSpPr>
            <p:cNvPr id="90" name="직선 연결선 8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직선 연결선 9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8359" y="4766936"/>
            <a:ext cx="76863" cy="292489"/>
            <a:chOff x="3750067" y="4683795"/>
            <a:chExt cx="76863" cy="29248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6779" y="2346124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로그인</a:t>
            </a:r>
            <a:r>
              <a:rPr lang="en-US" altLang="ko-KR" sz="700" dirty="0">
                <a:latin typeface="+mn-ea"/>
              </a:rPr>
              <a:t> 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6779" y="2010033"/>
            <a:ext cx="230514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 smtClean="0">
                <a:latin typeface="+mn-ea"/>
              </a:rPr>
              <a:t>[$</a:t>
            </a:r>
            <a:r>
              <a:rPr lang="ko-KR" altLang="en-US" sz="900" b="1" dirty="0" err="1" smtClean="0">
                <a:latin typeface="+mn-ea"/>
              </a:rPr>
              <a:t>업체명</a:t>
            </a:r>
            <a:r>
              <a:rPr lang="en-US" altLang="ko-KR" sz="900" b="1" dirty="0" smtClean="0">
                <a:latin typeface="+mn-ea"/>
              </a:rPr>
              <a:t>]</a:t>
            </a:r>
            <a:endParaRPr lang="en-US" altLang="ko-KR" sz="900" b="1" dirty="0">
              <a:latin typeface="+mn-ea"/>
            </a:endParaRPr>
          </a:p>
          <a:p>
            <a:r>
              <a:rPr lang="en-US" altLang="ko-KR" sz="900" b="1" dirty="0" smtClean="0">
                <a:latin typeface="+mn-ea"/>
              </a:rPr>
              <a:t>[$</a:t>
            </a:r>
            <a:r>
              <a:rPr lang="ko-KR" altLang="en-US" sz="900" b="1" dirty="0" smtClean="0">
                <a:latin typeface="+mn-ea"/>
              </a:rPr>
              <a:t>사용자명</a:t>
            </a:r>
            <a:r>
              <a:rPr lang="en-US" altLang="ko-KR" sz="900" b="1" dirty="0">
                <a:latin typeface="+mn-ea"/>
              </a:rPr>
              <a:t>]</a:t>
            </a:r>
            <a:r>
              <a:rPr lang="ko-KR" altLang="en-US" sz="900" b="1" dirty="0">
                <a:latin typeface="+mn-ea"/>
              </a:rPr>
              <a:t>님 환영합니다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4023916" y="3028973"/>
            <a:ext cx="2255663" cy="306146"/>
            <a:chOff x="3982951" y="3679873"/>
            <a:chExt cx="2255663" cy="306146"/>
          </a:xfrm>
        </p:grpSpPr>
        <p:sp>
          <p:nvSpPr>
            <p:cNvPr id="113" name="모서리가 둥근 직사각형 11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입찰</a:t>
              </a:r>
            </a:p>
          </p:txBody>
        </p:sp>
      </p:grpSp>
      <p:grpSp>
        <p:nvGrpSpPr>
          <p:cNvPr id="116" name="그룹 115"/>
          <p:cNvGrpSpPr/>
          <p:nvPr/>
        </p:nvGrpSpPr>
        <p:grpSpPr>
          <a:xfrm>
            <a:off x="906142" y="2861354"/>
            <a:ext cx="2255663" cy="306146"/>
            <a:chOff x="3982951" y="3679873"/>
            <a:chExt cx="2255663" cy="306146"/>
          </a:xfrm>
        </p:grpSpPr>
        <p:sp>
          <p:nvSpPr>
            <p:cNvPr id="117" name="모서리가 둥근 직사각형 11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err="1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메뉴명</a:t>
              </a:r>
              <a:r>
                <a:rPr lang="ko-KR" altLang="en-US" sz="700" b="1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 검색</a:t>
              </a:r>
            </a:p>
          </p:txBody>
        </p:sp>
      </p:grpSp>
      <p:sp>
        <p:nvSpPr>
          <p:cNvPr id="120" name="타원 119"/>
          <p:cNvSpPr/>
          <p:nvPr/>
        </p:nvSpPr>
        <p:spPr>
          <a:xfrm>
            <a:off x="2932305" y="2941887"/>
            <a:ext cx="145081" cy="14508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/>
          <p:cNvSpPr/>
          <p:nvPr/>
        </p:nvSpPr>
        <p:spPr>
          <a:xfrm>
            <a:off x="6053940" y="3109506"/>
            <a:ext cx="145081" cy="14508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5853385" y="3138180"/>
            <a:ext cx="87736" cy="8773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5784406" y="3090771"/>
            <a:ext cx="2311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/>
              <a:t>X</a:t>
            </a:r>
            <a:endParaRPr lang="ko-KR" altLang="en-US" sz="600" dirty="0"/>
          </a:p>
        </p:txBody>
      </p:sp>
      <p:grpSp>
        <p:nvGrpSpPr>
          <p:cNvPr id="92" name="그룹 9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3" name="직사각형 9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업체명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사용자명 </a:t>
              </a:r>
              <a:r>
                <a:rPr lang="en-US" altLang="ko-KR" sz="700" dirty="0" smtClean="0"/>
                <a:t>2</a:t>
              </a:r>
              <a:r>
                <a:rPr lang="ko-KR" altLang="en-US" sz="700" dirty="0" smtClean="0"/>
                <a:t>줄 표시로 변경</a:t>
              </a:r>
              <a:endParaRPr lang="en-US" altLang="ko-KR" sz="700" dirty="0"/>
            </a:p>
          </p:txBody>
        </p:sp>
      </p:grpSp>
      <p:grpSp>
        <p:nvGrpSpPr>
          <p:cNvPr id="95" name="그룹 94"/>
          <p:cNvGrpSpPr/>
          <p:nvPr/>
        </p:nvGrpSpPr>
        <p:grpSpPr>
          <a:xfrm>
            <a:off x="8223250" y="906154"/>
            <a:ext cx="3365500" cy="634511"/>
            <a:chOff x="8223250" y="569392"/>
            <a:chExt cx="3365500" cy="634511"/>
          </a:xfrm>
        </p:grpSpPr>
        <p:sp>
          <p:nvSpPr>
            <p:cNvPr id="96" name="직사각형 9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2026-07-28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로그인 클릭 시 인증 조건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</a:t>
              </a:r>
              <a:r>
                <a:rPr lang="ko-KR" altLang="en-US" sz="700" dirty="0" err="1" smtClean="0"/>
                <a:t>하일라이트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검색 최소값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메뉴 </a:t>
              </a:r>
              <a:r>
                <a:rPr lang="ko-KR" altLang="en-US" sz="700" dirty="0" err="1" smtClean="0"/>
                <a:t>표시여부</a:t>
              </a:r>
              <a:r>
                <a:rPr lang="ko-KR" altLang="en-US" sz="700" dirty="0" smtClean="0"/>
                <a:t> 설명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01942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알림 현황에 진입한 이후 이탈하면 미확인 알림 카운트를 초기화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미확인된 사항은 미확인 레이블 처리 </a:t>
            </a:r>
            <a:r>
              <a:rPr lang="en-US" altLang="ko-KR" dirty="0" smtClean="0"/>
              <a:t>(</a:t>
            </a:r>
            <a:r>
              <a:rPr lang="ko-KR" altLang="en-US" dirty="0" smtClean="0"/>
              <a:t>말머리</a:t>
            </a:r>
            <a:r>
              <a:rPr lang="en-US" altLang="ko-KR" dirty="0" smtClean="0"/>
              <a:t>, </a:t>
            </a:r>
            <a:r>
              <a:rPr lang="ko-KR" altLang="en-US" dirty="0" smtClean="0"/>
              <a:t>라벨</a:t>
            </a:r>
            <a:r>
              <a:rPr lang="en-US" altLang="ko-KR" dirty="0" smtClean="0"/>
              <a:t>, </a:t>
            </a:r>
            <a:r>
              <a:rPr lang="ko-KR" altLang="en-US" dirty="0" err="1"/>
              <a:t>뱃</a:t>
            </a:r>
            <a:r>
              <a:rPr lang="ko-KR" altLang="en-US" dirty="0" err="1" smtClean="0"/>
              <a:t>지</a:t>
            </a:r>
            <a:r>
              <a:rPr lang="ko-KR" altLang="en-US" dirty="0" smtClean="0"/>
              <a:t> 등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확인한 내역은 별도 표시 없음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알림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딥링크를</a:t>
            </a:r>
            <a:r>
              <a:rPr lang="ko-KR" altLang="en-US" dirty="0"/>
              <a:t> 통해 해당 내역으로 이동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알림현황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푸시 알림 현황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알림현황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알림현황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534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38259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 smtClean="0">
                <a:latin typeface="+mn-ea"/>
              </a:rPr>
              <a:t>[</a:t>
            </a:r>
            <a:r>
              <a:rPr lang="ko-KR" altLang="en-US" sz="800" dirty="0" smtClean="0">
                <a:latin typeface="+mn-ea"/>
              </a:rPr>
              <a:t>미확인</a:t>
            </a:r>
            <a:r>
              <a:rPr lang="en-US" altLang="ko-KR" sz="800" dirty="0" smtClean="0">
                <a:latin typeface="+mn-ea"/>
              </a:rPr>
              <a:t>] </a:t>
            </a:r>
            <a:r>
              <a:rPr lang="ko-KR" altLang="en-US" sz="800" dirty="0" err="1" smtClean="0">
                <a:latin typeface="+mn-ea"/>
              </a:rPr>
              <a:t>조달계획이</a:t>
            </a:r>
            <a:r>
              <a:rPr lang="ko-KR" altLang="en-US" sz="800" dirty="0" smtClean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등록되었습니다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891228" y="2137348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5347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미확인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smtClean="0">
                <a:latin typeface="+mn-ea"/>
              </a:rPr>
              <a:t>입찰참가 </a:t>
            </a:r>
            <a:r>
              <a:rPr lang="ko-KR" altLang="en-US" sz="800" dirty="0">
                <a:latin typeface="+mn-ea"/>
              </a:rPr>
              <a:t>신청 결과가 등록되었습니다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891228" y="275256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22375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계약이 완료되었습니다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4" name="모서리가 둥근 직사각형 33"/>
          <p:cNvSpPr/>
          <p:nvPr/>
        </p:nvSpPr>
        <p:spPr>
          <a:xfrm>
            <a:off x="891228" y="3422847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2499039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13596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89728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사후 수정 내역이 처리되었습니다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91228" y="4096376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80949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371973"/>
            <a:ext cx="76863" cy="292489"/>
            <a:chOff x="3750067" y="4683795"/>
            <a:chExt cx="76863" cy="29248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303396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966354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603279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299919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7056784" y="6395830"/>
            <a:ext cx="2378816" cy="6914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" dirty="0"/>
              <a:t>감리 추가 사항 </a:t>
            </a:r>
            <a:r>
              <a:rPr lang="en-US" altLang="ko-KR" sz="500" dirty="0"/>
              <a:t>2026-04-08</a:t>
            </a:r>
            <a:endParaRPr lang="ko-KR" altLang="en-US" sz="500" dirty="0"/>
          </a:p>
        </p:txBody>
      </p:sp>
      <p:grpSp>
        <p:nvGrpSpPr>
          <p:cNvPr id="50" name="그룹 4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1" name="직사각형 5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미확인 말머리 추가</a:t>
              </a:r>
              <a:endParaRPr lang="en-US" altLang="ko-KR" sz="700" dirty="0"/>
            </a:p>
          </p:txBody>
        </p:sp>
      </p:grpSp>
      <p:grpSp>
        <p:nvGrpSpPr>
          <p:cNvPr id="76" name="그룹 75"/>
          <p:cNvGrpSpPr/>
          <p:nvPr/>
        </p:nvGrpSpPr>
        <p:grpSpPr>
          <a:xfrm>
            <a:off x="8223250" y="812858"/>
            <a:ext cx="3365500" cy="634511"/>
            <a:chOff x="8223250" y="569392"/>
            <a:chExt cx="3365500" cy="634511"/>
          </a:xfrm>
        </p:grpSpPr>
        <p:sp>
          <p:nvSpPr>
            <p:cNvPr id="77" name="직사각형 7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ko-KR" altLang="en-US" sz="700" dirty="0" smtClean="0"/>
                <a:t> </a:t>
              </a:r>
              <a:r>
                <a:rPr lang="ko-KR" altLang="en-US" sz="700" dirty="0" err="1" smtClean="0"/>
                <a:t>뒤로가기로</a:t>
              </a:r>
              <a:r>
                <a:rPr lang="ko-KR" altLang="en-US" sz="700" dirty="0" smtClean="0"/>
                <a:t> 변경</a:t>
              </a:r>
              <a:r>
                <a:rPr lang="en-US" altLang="ko-KR" sz="700" dirty="0" smtClean="0"/>
                <a:t>,</a:t>
              </a:r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페이지 타이틀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0665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62490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알림현황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687263"/>
            <a:ext cx="23265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알림현황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dl_notiPrstList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73693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7483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rcvrEntlno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notiSeCd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trsmRsltVl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322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exmnCn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5186544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97101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알림현황</a:t>
                      </a:r>
                      <a:r>
                        <a:rPr lang="ko-KR" altLang="en-US" sz="800" dirty="0">
                          <a:latin typeface="+mn-ea"/>
                        </a:rPr>
                        <a:t> 순번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접수일시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3563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31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notiSeCd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rcvrEntlno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trsmrTelno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발송번호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trsmRsltVl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exmnCn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9817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368093"/>
              </p:ext>
            </p:extLst>
          </p:nvPr>
        </p:nvGraphicFramePr>
        <p:xfrm>
          <a:off x="453000" y="5217275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1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13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C7455B0C-C2EF-1A1B-A18C-7249DC06C1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51006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0FCB8FA-BCFF-84BA-1962-4E7A7E23CC6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38614CC-8BAB-700E-CBE4-C125849D2AB3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12C71723-0E82-1006-498A-95EEC49091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4181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팝업 타이틀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하드코딩</a:t>
            </a:r>
            <a:r>
              <a:rPr lang="ko-KR" altLang="en-US" dirty="0" smtClean="0"/>
              <a:t> 메시지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</a:t>
            </a:r>
            <a:r>
              <a:rPr lang="ko-KR" altLang="en-US" dirty="0" err="1" smtClean="0"/>
              <a:t>팝업창</a:t>
            </a:r>
            <a:r>
              <a:rPr lang="ko-KR" altLang="en-US" dirty="0" smtClean="0"/>
              <a:t> 닫기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버튼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MUI-CM-03-M22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이동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통합로그인계정등록안내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기존 아이디를 통해 로그인한 사용자에게 </a:t>
            </a:r>
            <a:r>
              <a:rPr lang="ko-KR" altLang="en-US" dirty="0" err="1" smtClean="0"/>
              <a:t>통합계정을</a:t>
            </a:r>
            <a:r>
              <a:rPr lang="ko-KR" altLang="en-US" dirty="0" smtClean="0"/>
              <a:t> 안내하는 팝업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err="1" smtClean="0"/>
              <a:t>메인홈</a:t>
            </a:r>
            <a:r>
              <a:rPr lang="ko-KR" altLang="en-US" dirty="0" smtClean="0"/>
              <a:t>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통합로그인계정등록안내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MUI-CM-03-P21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763707" y="2935744"/>
            <a:ext cx="2579992" cy="184573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1583887" y="4365159"/>
            <a:ext cx="1602658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통합 로그인 계정 등록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365159"/>
            <a:ext cx="584792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824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통합 로그인 계정 등록 안내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14982"/>
            <a:ext cx="2305144" cy="8863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smtClean="0">
                <a:latin typeface="+mn-ea"/>
              </a:rPr>
              <a:t>국방전자조달시스템에서 통합 로그인 계정을 도입합니다</a:t>
            </a:r>
            <a:r>
              <a:rPr lang="en-US" altLang="ko-KR" sz="800" dirty="0" smtClean="0">
                <a:latin typeface="+mn-ea"/>
              </a:rPr>
              <a:t>.</a:t>
            </a:r>
            <a:endParaRPr lang="en-US" altLang="ko-KR" sz="800" dirty="0">
              <a:latin typeface="+mn-ea"/>
            </a:endParaRPr>
          </a:p>
          <a:p>
            <a:pPr>
              <a:lnSpc>
                <a:spcPct val="120000"/>
              </a:lnSpc>
            </a:pPr>
            <a:endParaRPr lang="en-US" altLang="ko-KR" sz="800" dirty="0" smtClean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800" dirty="0" smtClean="0">
                <a:latin typeface="+mn-ea"/>
              </a:rPr>
              <a:t>기존 아이디로 로그인하신 </a:t>
            </a:r>
            <a:r>
              <a:rPr lang="ko-KR" altLang="en-US" sz="800" dirty="0" err="1" smtClean="0">
                <a:latin typeface="+mn-ea"/>
              </a:rPr>
              <a:t>조달업체</a:t>
            </a:r>
            <a:r>
              <a:rPr lang="ko-KR" altLang="en-US" sz="800" dirty="0" smtClean="0">
                <a:latin typeface="+mn-ea"/>
              </a:rPr>
              <a:t> 사용자께서는 원활한 서비스 사용을 위해서 통합 로그인 계정을 새로 등록해 주시길 바랍니다</a:t>
            </a:r>
            <a:r>
              <a:rPr lang="en-US" altLang="ko-KR" sz="800" dirty="0" smtClean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524382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70913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2" name="그룹 3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38" name="직사각형 3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추가</a:t>
              </a:r>
              <a:endParaRPr lang="ko-KR" altLang="en-US" dirty="0"/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통합 로그인 계정 생성 화면을 추가함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2397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기존 아이디로 로그인 했을 시 통합 계정으로 등록하는 화면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뒤로 이동 시 메인 화면으로 이동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주민등록번호 입력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- 13</a:t>
            </a:r>
            <a:r>
              <a:rPr lang="ko-KR" altLang="en-US" sz="700" dirty="0" smtClean="0"/>
              <a:t>자리 중간 하이픈 자동 삽입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숫자 입력만 가능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버튼 클릭 시 </a:t>
            </a:r>
            <a:r>
              <a:rPr lang="en-US" altLang="ko-KR" sz="700" dirty="0" smtClean="0"/>
              <a:t>Nice </a:t>
            </a:r>
            <a:r>
              <a:rPr lang="ko-KR" altLang="en-US" sz="700" dirty="0" smtClean="0"/>
              <a:t>본인인증 솔루션 호출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본인 인증 실패 시 토스트 메시지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err="1" smtClean="0"/>
              <a:t>본인인증에</a:t>
            </a:r>
            <a:r>
              <a:rPr lang="ko-KR" altLang="en-US" sz="700" dirty="0" smtClean="0"/>
              <a:t> 실패했습니다</a:t>
            </a:r>
            <a:r>
              <a:rPr lang="en-US" altLang="ko-KR" sz="700" dirty="0" smtClean="0"/>
              <a:t>.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성공 시 </a:t>
            </a:r>
            <a:r>
              <a:rPr lang="en-US" altLang="ko-KR" sz="700" dirty="0" smtClean="0"/>
              <a:t>5</a:t>
            </a:r>
            <a:r>
              <a:rPr lang="ko-KR" altLang="en-US" sz="700" dirty="0" smtClean="0"/>
              <a:t>번 항목 참조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기존에 사용하던 업체 및 사용자 아이디 표시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본인인증 성공 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메시지 변경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주민등록번호 수정 불가 변경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하단 통합 계정 아이디 입력 폼 추가 노출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아이디 중복 체크 유효성 메시지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미입력</a:t>
            </a:r>
            <a:r>
              <a:rPr lang="ko-KR" altLang="en-US" sz="700" dirty="0" smtClean="0"/>
              <a:t> 메시지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smtClean="0"/>
              <a:t>통합 계정 아이디를 입력해주세요</a:t>
            </a:r>
            <a:r>
              <a:rPr lang="en-US" altLang="ko-KR" sz="700" dirty="0" smtClean="0"/>
              <a:t>.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중복 메시지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smtClean="0"/>
              <a:t>이미 사용중인 계정입니다</a:t>
            </a:r>
            <a:r>
              <a:rPr lang="en-US" altLang="ko-KR" sz="700" dirty="0" smtClean="0"/>
              <a:t>.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사용 가능 메시지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smtClean="0"/>
              <a:t>사용이 가능합니다</a:t>
            </a:r>
            <a:r>
              <a:rPr lang="en-US" altLang="ko-KR" sz="700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비밀번호 확인 유효성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상기 입력 비밀번호와 같을 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smtClean="0"/>
              <a:t>메시지 없음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입력 불가 특수문자 입력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</a:t>
            </a:r>
            <a:r>
              <a:rPr lang="ko-KR" altLang="en-US" sz="700" dirty="0" smtClean="0"/>
              <a:t>입력 불가 특수문자를 제외하고 비밀번호를 입력해주세요</a:t>
            </a:r>
            <a:r>
              <a:rPr lang="en-US" altLang="ko-KR" sz="700" dirty="0" smtClean="0"/>
              <a:t>..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비밀번호 패턴 불일치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  &gt; 9~16</a:t>
            </a:r>
            <a:r>
              <a:rPr lang="ko-KR" altLang="en-US" sz="700" dirty="0" smtClean="0"/>
              <a:t>자 숫자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영문</a:t>
            </a:r>
            <a:r>
              <a:rPr lang="en-US" altLang="ko-KR" sz="700" dirty="0" smtClean="0"/>
              <a:t> </a:t>
            </a:r>
            <a:r>
              <a:rPr lang="ko-KR" altLang="en-US" sz="700" dirty="0" smtClean="0"/>
              <a:t>소문자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특수문자 조합으로 입력해주세요</a:t>
            </a:r>
            <a:r>
              <a:rPr lang="en-US" altLang="ko-KR" sz="700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err="1" smtClean="0"/>
              <a:t>메인으로</a:t>
            </a:r>
            <a:r>
              <a:rPr lang="ko-KR" altLang="en-US" sz="700" dirty="0" smtClean="0"/>
              <a:t> 이동하고 팝업 메시지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통합 계정으로 새로 로그인해주세요</a:t>
            </a:r>
            <a:r>
              <a:rPr lang="en-US" altLang="ko-KR" sz="700" dirty="0" smtClean="0"/>
              <a:t>. (</a:t>
            </a:r>
            <a:r>
              <a:rPr lang="ko-KR" altLang="en-US" sz="700" dirty="0" smtClean="0"/>
              <a:t>취소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확인</a:t>
            </a:r>
            <a:r>
              <a:rPr lang="en-US" altLang="ko-KR" sz="700" dirty="0" smtClean="0"/>
              <a:t>)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버튼 하단에 도움말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도움말 하단 기존 사용자 아이디 목록 표시</a:t>
            </a:r>
            <a:endParaRPr lang="ko-KR" altLang="en-US" sz="70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통합로그인계정등록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기존 아이디로 로그인 한 경우 통합 아이디로 변경하도록 아이디 및 비밀번호를 </a:t>
            </a:r>
            <a:r>
              <a:rPr lang="ko-KR" altLang="en-US" dirty="0"/>
              <a:t>설정하는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 smtClean="0"/>
              <a:t>&gt; </a:t>
            </a:r>
            <a:r>
              <a:rPr lang="ko-KR" altLang="en-US" dirty="0" err="1"/>
              <a:t>통합로그인계정등록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MUI-CM-03-M22</a:t>
            </a:r>
            <a:endParaRPr lang="ko-KR" altLang="en-US" dirty="0"/>
          </a:p>
        </p:txBody>
      </p:sp>
      <p:grpSp>
        <p:nvGrpSpPr>
          <p:cNvPr id="41" name="그룹 4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2" name="직사각형 4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추가</a:t>
              </a:r>
              <a:endParaRPr lang="ko-KR" altLang="en-US" dirty="0"/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통합 로그인 계정 생성 화면을 추가함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/>
              <a:t>통합 로그인 계정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8" name="그룹 57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타원 60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04900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통합</a:t>
            </a:r>
            <a:r>
              <a:rPr lang="en-US" altLang="ko-KR" sz="900" b="1" dirty="0" smtClean="0">
                <a:latin typeface="+mn-ea"/>
              </a:rPr>
              <a:t> </a:t>
            </a:r>
            <a:r>
              <a:rPr lang="ko-KR" altLang="en-US" sz="900" b="1" dirty="0" smtClean="0">
                <a:latin typeface="+mn-ea"/>
              </a:rPr>
              <a:t>로그인 계정 등록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64" name="타원 63"/>
          <p:cNvSpPr/>
          <p:nvPr/>
        </p:nvSpPr>
        <p:spPr>
          <a:xfrm>
            <a:off x="854156" y="19490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국방전자조달시스템에서 사용할 통합 </a:t>
            </a:r>
            <a:r>
              <a:rPr lang="ko-KR" altLang="en-US" sz="700" dirty="0" smtClean="0">
                <a:latin typeface="+mn-ea"/>
              </a:rPr>
              <a:t>아이디가 필요합니다</a:t>
            </a:r>
            <a:r>
              <a:rPr lang="en-US" altLang="ko-KR" sz="700" dirty="0" smtClean="0">
                <a:latin typeface="+mn-ea"/>
              </a:rPr>
              <a:t>.</a:t>
            </a:r>
            <a:r>
              <a:rPr lang="ko-KR" altLang="en-US" sz="700" dirty="0" smtClean="0">
                <a:latin typeface="+mn-ea"/>
              </a:rPr>
              <a:t> 통합 아이디를 등록하기 위해 본인인증을 해주세요</a:t>
            </a:r>
            <a:r>
              <a:rPr lang="en-US" altLang="ko-KR" sz="700" dirty="0" smtClean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1" name="그룹 80"/>
          <p:cNvGrpSpPr/>
          <p:nvPr/>
        </p:nvGrpSpPr>
        <p:grpSpPr>
          <a:xfrm>
            <a:off x="903580" y="3984685"/>
            <a:ext cx="2255663" cy="306146"/>
            <a:chOff x="3982951" y="3679873"/>
            <a:chExt cx="2255663" cy="306146"/>
          </a:xfrm>
        </p:grpSpPr>
        <p:sp>
          <p:nvSpPr>
            <p:cNvPr id="82" name="모서리가 둥근 직사각형 8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본인인증하기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0493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성명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87" name="그룹 86"/>
          <p:cNvGrpSpPr/>
          <p:nvPr/>
        </p:nvGrpSpPr>
        <p:grpSpPr>
          <a:xfrm>
            <a:off x="903581" y="2752065"/>
            <a:ext cx="2255663" cy="306146"/>
            <a:chOff x="3982951" y="3679873"/>
            <a:chExt cx="2255663" cy="306146"/>
          </a:xfrm>
        </p:grpSpPr>
        <p:sp>
          <p:nvSpPr>
            <p:cNvPr id="88" name="모서리가 둥근 직사각형 8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smtClean="0">
                  <a:latin typeface="+mn-ea"/>
                </a:rPr>
                <a:t>홍길동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9859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주민등록번호 </a:t>
            </a:r>
            <a:r>
              <a:rPr lang="en-US" altLang="ko-KR" sz="700" b="1" dirty="0" smtClean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1" name="그룹 90"/>
          <p:cNvGrpSpPr/>
          <p:nvPr/>
        </p:nvGrpSpPr>
        <p:grpSpPr>
          <a:xfrm>
            <a:off x="903581" y="3345730"/>
            <a:ext cx="2255663" cy="306146"/>
            <a:chOff x="3982951" y="3679873"/>
            <a:chExt cx="2255663" cy="306146"/>
          </a:xfrm>
        </p:grpSpPr>
        <p:sp>
          <p:nvSpPr>
            <p:cNvPr id="92" name="모서리가 둥근 직사각형 9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주민등록번호를  입력하세요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83538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2396" y="379226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통합 계정 아이디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96" name="그룹 95"/>
          <p:cNvGrpSpPr/>
          <p:nvPr/>
        </p:nvGrpSpPr>
        <p:grpSpPr>
          <a:xfrm>
            <a:off x="4022397" y="3939395"/>
            <a:ext cx="1833056" cy="306146"/>
            <a:chOff x="3982952" y="3679873"/>
            <a:chExt cx="1833056" cy="306146"/>
          </a:xfrm>
        </p:grpSpPr>
        <p:sp>
          <p:nvSpPr>
            <p:cNvPr id="97" name="모서리가 둥근 직사각형 96"/>
            <p:cNvSpPr/>
            <p:nvPr/>
          </p:nvSpPr>
          <p:spPr>
            <a:xfrm>
              <a:off x="3982952" y="3679873"/>
              <a:ext cx="1633530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아이디를 입력해주세요</a:t>
              </a:r>
            </a:p>
          </p:txBody>
        </p:sp>
      </p:grpSp>
      <p:grpSp>
        <p:nvGrpSpPr>
          <p:cNvPr id="100" name="그룹 99"/>
          <p:cNvGrpSpPr/>
          <p:nvPr/>
        </p:nvGrpSpPr>
        <p:grpSpPr>
          <a:xfrm>
            <a:off x="4022396" y="4626464"/>
            <a:ext cx="2255663" cy="306146"/>
            <a:chOff x="3982951" y="3679873"/>
            <a:chExt cx="2255663" cy="306146"/>
          </a:xfrm>
        </p:grpSpPr>
        <p:sp>
          <p:nvSpPr>
            <p:cNvPr id="101" name="모서리가 둥근 직사각형 10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2396" y="448752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4022395" y="5854974"/>
            <a:ext cx="2255663" cy="306146"/>
            <a:chOff x="3982951" y="3679873"/>
            <a:chExt cx="2255663" cy="306146"/>
          </a:xfrm>
        </p:grpSpPr>
        <p:sp>
          <p:nvSpPr>
            <p:cNvPr id="105" name="모서리가 둥근 직사각형 10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통합 아이디 등록하기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2396" y="4277203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6407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/>
              <a:t>통합 로그인 계정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0905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1" name="그룹 110"/>
          <p:cNvGrpSpPr/>
          <p:nvPr/>
        </p:nvGrpSpPr>
        <p:grpSpPr>
          <a:xfrm rot="5400000">
            <a:off x="3875348" y="1640499"/>
            <a:ext cx="94010" cy="47005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타원 113"/>
          <p:cNvSpPr/>
          <p:nvPr/>
        </p:nvSpPr>
        <p:spPr>
          <a:xfrm>
            <a:off x="6164872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25235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통합</a:t>
            </a:r>
            <a:r>
              <a:rPr lang="en-US" altLang="ko-KR" sz="900" b="1" dirty="0" smtClean="0">
                <a:latin typeface="+mn-ea"/>
              </a:rPr>
              <a:t> </a:t>
            </a:r>
            <a:r>
              <a:rPr lang="ko-KR" altLang="en-US" sz="900" b="1" dirty="0" smtClean="0">
                <a:latin typeface="+mn-ea"/>
              </a:rPr>
              <a:t>로그인 계정 등록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116" name="타원 115"/>
          <p:cNvSpPr/>
          <p:nvPr/>
        </p:nvSpPr>
        <p:spPr>
          <a:xfrm>
            <a:off x="3974491" y="19490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227" y="221346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국방전자조달시스템에서 사용할 통합 아이디와 비밀번호를 </a:t>
            </a:r>
            <a:r>
              <a:rPr lang="ko-KR" altLang="en-US" sz="700" dirty="0" smtClean="0">
                <a:latin typeface="+mn-ea"/>
              </a:rPr>
              <a:t>등록해주세요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260493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성명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19" name="그룹 118"/>
          <p:cNvGrpSpPr/>
          <p:nvPr/>
        </p:nvGrpSpPr>
        <p:grpSpPr>
          <a:xfrm>
            <a:off x="4023916" y="2752065"/>
            <a:ext cx="2255663" cy="306146"/>
            <a:chOff x="3982951" y="3679873"/>
            <a:chExt cx="2255663" cy="306146"/>
          </a:xfrm>
        </p:grpSpPr>
        <p:sp>
          <p:nvSpPr>
            <p:cNvPr id="120" name="모서리가 둥근 직사각형 11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smtClean="0">
                  <a:latin typeface="+mn-ea"/>
                </a:rPr>
                <a:t>홍길동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319859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주민등록번호 </a:t>
            </a:r>
            <a:r>
              <a:rPr lang="en-US" altLang="ko-KR" sz="700" b="1" dirty="0" smtClean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4023916" y="3345730"/>
            <a:ext cx="2255663" cy="306146"/>
            <a:chOff x="3982951" y="3679873"/>
            <a:chExt cx="2255663" cy="306146"/>
          </a:xfrm>
        </p:grpSpPr>
        <p:sp>
          <p:nvSpPr>
            <p:cNvPr id="124" name="모서리가 둥근 직사각형 12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 smtClean="0">
                  <a:latin typeface="+mn-ea"/>
                </a:rPr>
                <a:t>123456-7******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127" name="그룹 126"/>
          <p:cNvGrpSpPr/>
          <p:nvPr/>
        </p:nvGrpSpPr>
        <p:grpSpPr>
          <a:xfrm>
            <a:off x="4022396" y="5258804"/>
            <a:ext cx="2255663" cy="306146"/>
            <a:chOff x="3982951" y="3679873"/>
            <a:chExt cx="2255663" cy="306146"/>
          </a:xfrm>
        </p:grpSpPr>
        <p:sp>
          <p:nvSpPr>
            <p:cNvPr id="128" name="모서리가 둥근 직사각형 12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2396" y="51198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비밀번호 확인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2396" y="5604809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grpSp>
        <p:nvGrpSpPr>
          <p:cNvPr id="132" name="그룹 131"/>
          <p:cNvGrpSpPr/>
          <p:nvPr/>
        </p:nvGrpSpPr>
        <p:grpSpPr>
          <a:xfrm>
            <a:off x="5723978" y="3939395"/>
            <a:ext cx="554080" cy="306146"/>
            <a:chOff x="3982951" y="3679873"/>
            <a:chExt cx="2255663" cy="306146"/>
          </a:xfrm>
        </p:grpSpPr>
        <p:sp>
          <p:nvSpPr>
            <p:cNvPr id="133" name="모서리가 둥근 직사각형 13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 smtClean="0">
                  <a:solidFill>
                    <a:schemeClr val="bg1"/>
                  </a:solidFill>
                  <a:latin typeface="+mn-ea"/>
                </a:rPr>
                <a:t>중복체크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1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907085" y="5304798"/>
            <a:ext cx="2252158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B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907085" y="5714770"/>
            <a:ext cx="2252158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C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95488" y="5404182"/>
            <a:ext cx="1071991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 smtClean="0">
                <a:latin typeface="+mn-ea"/>
              </a:rPr>
              <a:t>user123456</a:t>
            </a:r>
            <a:endParaRPr lang="en-US" altLang="ko-KR" sz="800" dirty="0">
              <a:latin typeface="+mn-ea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95488" y="5814154"/>
            <a:ext cx="1071991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 smtClean="0">
                <a:latin typeface="+mn-ea"/>
              </a:rPr>
              <a:t>user234567</a:t>
            </a:r>
            <a:endParaRPr lang="en-US" altLang="ko-KR" sz="800" dirty="0">
              <a:latin typeface="+mn-ea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852996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기존 사용자 아이디</a:t>
            </a:r>
            <a:r>
              <a:rPr lang="en-US" altLang="ko-KR" sz="800" b="1" dirty="0" smtClean="0">
                <a:latin typeface="+mn-ea"/>
              </a:rPr>
              <a:t> </a:t>
            </a:r>
            <a:r>
              <a:rPr lang="ko-KR" altLang="en-US" sz="800" b="1" dirty="0" smtClean="0">
                <a:latin typeface="+mn-ea"/>
              </a:rPr>
              <a:t>목록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59525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0409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업체에서 등록</a:t>
            </a:r>
            <a:r>
              <a:rPr lang="en-US" altLang="ko-KR" sz="700" dirty="0" smtClean="0">
                <a:latin typeface="+mn-ea"/>
              </a:rPr>
              <a:t>, </a:t>
            </a:r>
            <a:r>
              <a:rPr lang="ko-KR" altLang="en-US" sz="700" dirty="0" smtClean="0">
                <a:latin typeface="+mn-ea"/>
              </a:rPr>
              <a:t>생성한 </a:t>
            </a:r>
            <a:r>
              <a:rPr lang="ko-KR" altLang="en-US" sz="700" dirty="0">
                <a:latin typeface="+mn-ea"/>
              </a:rPr>
              <a:t>기존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 smtClean="0">
                <a:latin typeface="+mn-ea"/>
              </a:rPr>
              <a:t>아이디 정보입니다</a:t>
            </a:r>
            <a:r>
              <a:rPr lang="en-US" altLang="ko-KR" sz="700" dirty="0" smtClean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5443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43" name="타원 14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127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44" name="타원 1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211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8536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374" y="223511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grpSp>
        <p:nvGrpSpPr>
          <p:cNvPr id="147" name="그룹 146"/>
          <p:cNvGrpSpPr/>
          <p:nvPr/>
        </p:nvGrpSpPr>
        <p:grpSpPr>
          <a:xfrm>
            <a:off x="6694978" y="5658670"/>
            <a:ext cx="2652743" cy="769170"/>
            <a:chOff x="734683" y="4769160"/>
            <a:chExt cx="2652743" cy="769170"/>
          </a:xfrm>
        </p:grpSpPr>
        <p:sp>
          <p:nvSpPr>
            <p:cNvPr id="148" name="모서리가 둥근 직사각형 147"/>
            <p:cNvSpPr/>
            <p:nvPr/>
          </p:nvSpPr>
          <p:spPr>
            <a:xfrm>
              <a:off x="734683" y="4769160"/>
              <a:ext cx="2652743" cy="769170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53860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비밀번호는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9~16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자 숫자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영문 소문자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특수문자 조합으로 입력하세요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입력 불가한 특수문자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: `~&amp;()_{}[]|\:;"',.&amp;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lt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gt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;?/</a:t>
              </a:r>
            </a:p>
          </p:txBody>
        </p:sp>
        <p:sp>
          <p:nvSpPr>
            <p:cNvPr id="150" name="타원 149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1" name="그룹 150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52" name="직선 연결선 15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" name="직선 연결선 15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" name="꺾인 연결선 4"/>
          <p:cNvCxnSpPr>
            <a:stCxn id="82" idx="3"/>
            <a:endCxn id="95" idx="1"/>
          </p:cNvCxnSpPr>
          <p:nvPr/>
        </p:nvCxnSpPr>
        <p:spPr>
          <a:xfrm flipV="1">
            <a:off x="3159243" y="3846124"/>
            <a:ext cx="863153" cy="29163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꺾인 연결선 153"/>
          <p:cNvCxnSpPr>
            <a:stCxn id="82" idx="3"/>
            <a:endCxn id="105" idx="1"/>
          </p:cNvCxnSpPr>
          <p:nvPr/>
        </p:nvCxnSpPr>
        <p:spPr>
          <a:xfrm>
            <a:off x="3159243" y="4137758"/>
            <a:ext cx="863152" cy="187028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타원 1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429239" y="39774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429239" y="53258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7</a:t>
            </a:r>
            <a:endParaRPr lang="ko-KR" altLang="en-US" sz="900" b="1" dirty="0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429239" y="59164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8</a:t>
            </a:r>
            <a:endParaRPr lang="ko-KR" altLang="en-US" sz="9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19859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604933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4492" y="319859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4492" y="3792263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4492" y="448752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4492" y="511986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412043" y="3560186"/>
            <a:ext cx="35907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성공 시</a:t>
            </a:r>
            <a:endParaRPr lang="en-US" altLang="ko-KR" sz="700" dirty="0" smtClean="0">
              <a:latin typeface="+mn-ea"/>
            </a:endParaRPr>
          </a:p>
          <a:p>
            <a:pPr algn="ctr"/>
            <a:r>
              <a:rPr lang="ko-KR" altLang="en-US" sz="700" dirty="0" err="1" smtClean="0">
                <a:latin typeface="+mn-ea"/>
              </a:rPr>
              <a:t>추가노출</a:t>
            </a:r>
            <a:endParaRPr lang="ko-KR" altLang="en-US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5986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260931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31428"/>
              </p:ext>
            </p:extLst>
          </p:nvPr>
        </p:nvGraphicFramePr>
        <p:xfrm>
          <a:off x="455204" y="2835901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본인인증 체크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scwin.btn_cert_onclick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본인인증을 확인한다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CI</a:t>
                      </a:r>
                      <a:r>
                        <a:rPr lang="ko-KR" altLang="en-US" sz="800">
                          <a:latin typeface="+mn-ea"/>
                          <a:ea typeface="+mn-ea"/>
                        </a:rPr>
                        <a:t>값 획득하기 위해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069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중복체크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등록하려는 사용자 아이디 중복 체크한다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566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통합 아이디 등록하기 클릭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scwin.btn_save_onclick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통합로그인 계정을 생성한다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72817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0636EA-A13F-3B5E-1BFE-F3CF0D27B18E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6F7E5-53EA-4FC7-47B4-662E836107B1}"/>
              </a:ext>
            </a:extLst>
          </p:cNvPr>
          <p:cNvSpPr txBox="1"/>
          <p:nvPr/>
        </p:nvSpPr>
        <p:spPr>
          <a:xfrm>
            <a:off x="454850" y="890760"/>
            <a:ext cx="257819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/>
              <a:t>통합로그인계정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5813496-B86A-7D40-BACB-575A273C0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943844"/>
              </p:ext>
            </p:extLst>
          </p:nvPr>
        </p:nvGraphicFramePr>
        <p:xfrm>
          <a:off x="454850" y="1104443"/>
          <a:ext cx="8623561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3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12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이름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주민등록번호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userRrno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주민등록번호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CI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값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존재시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생략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180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통합계정아이디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통합계정아이디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 smtClean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040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userEnpswd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(9~16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 숫자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특수문자 조합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8542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userEnpswdChk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(9~16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 숫자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특수문자 조합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831280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AB8A5C6-99F0-0CA8-9F1E-DF6F1A554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87241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 smtClean="0"/>
              <a:t>성공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등록한 통합</a:t>
            </a:r>
            <a:r>
              <a:rPr lang="en-US" altLang="ko-KR" dirty="0" smtClean="0"/>
              <a:t> ID</a:t>
            </a:r>
            <a:r>
              <a:rPr lang="ko-KR" altLang="en-US" dirty="0" smtClean="0"/>
              <a:t>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로그인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</a:t>
            </a: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MUI-CM-03-M01</a:t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ko-KR" altLang="en-US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메인홈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바로가기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-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MUI-MS-01-M07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통합로그인계정등록완료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통합 로그인 계정 등록 완료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통합로그인계정등록완료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MUI-CM-03-M23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통합 로그인 계정 </a:t>
            </a:r>
            <a:r>
              <a:rPr lang="ko-KR" altLang="en-US" sz="800" dirty="0" smtClean="0"/>
              <a:t>등록 완료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 smtClean="0">
                <a:latin typeface="+mn-ea"/>
              </a:rPr>
              <a:t>통합 로그인 계정을 </a:t>
            </a:r>
            <a:r>
              <a:rPr lang="ko-KR" altLang="en-US" sz="900" b="1" dirty="0">
                <a:latin typeface="+mn-ea"/>
              </a:rPr>
              <a:t>확인해주세요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latin typeface="+mn-ea"/>
              </a:rPr>
              <a:t>통합 로그인 계정 아이디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18284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31348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로그인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6" name="그룹 65"/>
          <p:cNvGrpSpPr/>
          <p:nvPr/>
        </p:nvGrpSpPr>
        <p:grpSpPr>
          <a:xfrm>
            <a:off x="903580" y="5694905"/>
            <a:ext cx="2255663" cy="306146"/>
            <a:chOff x="3982951" y="3679873"/>
            <a:chExt cx="2255663" cy="306146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 smtClean="0">
                  <a:latin typeface="+mn-ea"/>
                </a:rPr>
                <a:t>메인홈</a:t>
              </a:r>
              <a:r>
                <a:rPr lang="ko-KR" altLang="en-US" sz="700" b="1" dirty="0" smtClean="0">
                  <a:latin typeface="+mn-ea"/>
                </a:rPr>
                <a:t> </a:t>
              </a:r>
              <a:r>
                <a:rPr lang="ko-KR" altLang="en-US" sz="700" b="1" dirty="0" err="1" smtClean="0">
                  <a:latin typeface="+mn-ea"/>
                </a:rPr>
                <a:t>바로가기</a:t>
              </a:r>
              <a:endParaRPr lang="ko-KR" altLang="en-US" sz="700" b="1" dirty="0">
                <a:latin typeface="+mn-ea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83168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800" dirty="0" smtClean="0">
                <a:latin typeface="+mn-ea"/>
              </a:rPr>
              <a:t>userID1234</a:t>
            </a:r>
            <a:endParaRPr lang="ko-KR" altLang="en-US" sz="800" dirty="0">
              <a:latin typeface="+mn-ea"/>
            </a:endParaRPr>
          </a:p>
        </p:txBody>
      </p:sp>
      <p:sp>
        <p:nvSpPr>
          <p:cNvPr id="71" name="타원 70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7" name="직사각형 4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통합 </a:t>
              </a:r>
              <a:r>
                <a:rPr lang="en-US" altLang="ko-KR" sz="700" dirty="0" smtClean="0"/>
                <a:t>ID </a:t>
              </a:r>
              <a:r>
                <a:rPr lang="ko-KR" altLang="en-US" sz="700" dirty="0" err="1" smtClean="0"/>
                <a:t>표시영역</a:t>
              </a:r>
              <a:r>
                <a:rPr lang="ko-KR" altLang="en-US" sz="700" dirty="0" smtClean="0"/>
                <a:t> 추가</a:t>
              </a:r>
              <a:r>
                <a:rPr lang="en-US" altLang="ko-KR" sz="700" dirty="0" smtClean="0"/>
                <a:t> </a:t>
              </a:r>
              <a:endParaRPr lang="en-US" altLang="ko-KR" sz="700" dirty="0"/>
            </a:p>
          </p:txBody>
        </p:sp>
      </p:grpSp>
      <p:sp>
        <p:nvSpPr>
          <p:cNvPr id="30" name="타원 2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64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04932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205846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26862"/>
              </p:ext>
            </p:extLst>
          </p:nvPr>
        </p:nvGraphicFramePr>
        <p:xfrm>
          <a:off x="455204" y="2285057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바로가기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로그인 선택화면으로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메인홈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바로가기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로그인 화면으로 이동한다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 smtClean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788484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17733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0636EA-A13F-3B5E-1BFE-F3CF0D27B18E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6F7E5-53EA-4FC7-47B4-662E836107B1}"/>
              </a:ext>
            </a:extLst>
          </p:cNvPr>
          <p:cNvSpPr txBox="1"/>
          <p:nvPr/>
        </p:nvSpPr>
        <p:spPr>
          <a:xfrm>
            <a:off x="454850" y="890760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5813496-B86A-7D40-BACB-575A273C0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251795"/>
              </p:ext>
            </p:extLst>
          </p:nvPr>
        </p:nvGraphicFramePr>
        <p:xfrm>
          <a:off x="454850" y="1104443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아이디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AB8A5C6-99F0-0CA8-9F1E-DF6F1A554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049392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로그인 업체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통합계정아이디를 통해 </a:t>
            </a:r>
            <a:r>
              <a:rPr lang="ko-KR" altLang="en-US" dirty="0" err="1" smtClean="0">
                <a:solidFill>
                  <a:srgbClr val="FF0000"/>
                </a:solidFill>
              </a:rPr>
              <a:t>로그인을</a:t>
            </a:r>
            <a:r>
              <a:rPr lang="ko-KR" altLang="en-US" dirty="0" smtClean="0">
                <a:solidFill>
                  <a:srgbClr val="FF0000"/>
                </a:solidFill>
              </a:rPr>
              <a:t> 한 경우에 표시됨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소속된 업체가 하나인 경우는 팝업을 띄우지 않고 업체를 </a:t>
            </a:r>
            <a:r>
              <a:rPr lang="ko-KR" altLang="en-US" dirty="0" smtClean="0"/>
              <a:t>설정하여 로그인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업체가 </a:t>
            </a:r>
            <a:r>
              <a:rPr lang="en-US" altLang="ko-KR" dirty="0"/>
              <a:t>2</a:t>
            </a:r>
            <a:r>
              <a:rPr lang="ko-KR" altLang="en-US" dirty="0"/>
              <a:t>개 이상인 </a:t>
            </a:r>
            <a:r>
              <a:rPr lang="ko-KR" altLang="en-US" dirty="0" smtClean="0"/>
              <a:t>경우 사용자가 선택할 수 있는 목록 표시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업체명</a:t>
            </a:r>
            <a:r>
              <a:rPr lang="ko-KR" altLang="en-US" dirty="0"/>
              <a:t> 및 정보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시 하이라이트 처리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 </a:t>
            </a:r>
            <a:r>
              <a:rPr lang="ko-KR" altLang="en-US" dirty="0" err="1" smtClean="0"/>
              <a:t>미선택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선택 로그인 클릭 시 토스트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업체를 선택해주세요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로그아웃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로그아웃 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메인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로그인 성공 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로그인 되었습니다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로그인업체설정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소속된 업체가 많은 경우 로그인 이후 팝업에서 업체를 설정하는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로그인업체설정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MUI-MS-01-P14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smtClean="0">
                <a:latin typeface="+mn-ea"/>
              </a:rPr>
              <a:t>로그인</a:t>
            </a:r>
            <a:r>
              <a:rPr lang="en-US" altLang="ko-KR" sz="900" dirty="0" smtClean="0">
                <a:latin typeface="+mn-ea"/>
              </a:rPr>
              <a:t> </a:t>
            </a:r>
            <a:r>
              <a:rPr lang="ko-KR" altLang="en-US" sz="900" dirty="0">
                <a:latin typeface="+mn-ea"/>
              </a:rPr>
              <a:t>업체 </a:t>
            </a:r>
            <a:r>
              <a:rPr lang="ko-KR" altLang="en-US" sz="900" dirty="0" smtClean="0">
                <a:latin typeface="+mn-ea"/>
              </a:rPr>
              <a:t>설정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2016743" y="5153262"/>
            <a:ext cx="76863" cy="292489"/>
            <a:chOff x="3750067" y="4683795"/>
            <a:chExt cx="76863" cy="292489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3960054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800" b="1" kern="0" dirty="0">
                <a:solidFill>
                  <a:srgbClr val="0070C0"/>
                </a:solidFill>
              </a:rPr>
              <a:t>A </a:t>
            </a:r>
            <a:r>
              <a:rPr kumimoji="1" lang="ko-KR" altLang="en-US" sz="800" b="1" kern="0" dirty="0" err="1">
                <a:solidFill>
                  <a:srgbClr val="0070C0"/>
                </a:solidFill>
              </a:rPr>
              <a:t>업체명</a:t>
            </a:r>
            <a:endParaRPr kumimoji="1" lang="en-US" sz="800" b="1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4371590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B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4781562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C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9597" y="3566337"/>
            <a:ext cx="24925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선택하신 업체 정보로 국방전자조달시스템을 사용합니다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업체를 변경하려면 </a:t>
            </a:r>
            <a:r>
              <a:rPr lang="ko-KR" altLang="en-US" sz="700" dirty="0" err="1">
                <a:latin typeface="+mn-ea"/>
              </a:rPr>
              <a:t>재로그인이</a:t>
            </a:r>
            <a:r>
              <a:rPr lang="ko-KR" altLang="en-US" sz="700" dirty="0">
                <a:latin typeface="+mn-ea"/>
              </a:rPr>
              <a:t> 필요합니다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059438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123-45-67890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470974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147-02-58369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880946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258-01-47369</a:t>
            </a:r>
          </a:p>
        </p:txBody>
      </p:sp>
      <p:grpSp>
        <p:nvGrpSpPr>
          <p:cNvPr id="49" name="그룹 48"/>
          <p:cNvGrpSpPr/>
          <p:nvPr/>
        </p:nvGrpSpPr>
        <p:grpSpPr>
          <a:xfrm>
            <a:off x="679854" y="5614711"/>
            <a:ext cx="2712027" cy="617588"/>
            <a:chOff x="675399" y="5614711"/>
            <a:chExt cx="2712027" cy="617588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588237" y="5745391"/>
              <a:ext cx="1706884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선택 로그인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728232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로그아웃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2" name="직사각형 4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업체선택</a:t>
              </a:r>
              <a:r>
                <a:rPr lang="ko-KR" altLang="en-US" sz="700" dirty="0" smtClean="0"/>
                <a:t> 팝업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로그인 업체 설정으로</a:t>
              </a:r>
              <a:r>
                <a:rPr lang="ko-KR" altLang="en-US" sz="700" dirty="0" smtClean="0"/>
                <a:t> 타이틀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48781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205846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56585"/>
              </p:ext>
            </p:extLst>
          </p:nvPr>
        </p:nvGraphicFramePr>
        <p:xfrm>
          <a:off x="455204" y="2285057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선택 로그인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선택한 업체로 로그인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17733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0636EA-A13F-3B5E-1BFE-F3CF0D27B18E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6F7E5-53EA-4FC7-47B4-662E836107B1}"/>
              </a:ext>
            </a:extLst>
          </p:cNvPr>
          <p:cNvSpPr txBox="1"/>
          <p:nvPr/>
        </p:nvSpPr>
        <p:spPr>
          <a:xfrm>
            <a:off x="454850" y="890760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5813496-B86A-7D40-BACB-575A273C0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7180"/>
              </p:ext>
            </p:extLst>
          </p:nvPr>
        </p:nvGraphicFramePr>
        <p:xfrm>
          <a:off x="454850" y="110444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1808400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AB8A5C6-99F0-0CA8-9F1E-DF6F1A554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09119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영역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</a:t>
            </a:r>
            <a:r>
              <a:rPr lang="en-US" altLang="ko-KR" dirty="0" smtClean="0"/>
              <a:t>, </a:t>
            </a:r>
            <a:r>
              <a:rPr lang="ko-KR" altLang="en-US" dirty="0" smtClean="0"/>
              <a:t>기관 선택 탭 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현재 화면은 </a:t>
            </a:r>
            <a:r>
              <a:rPr lang="ko-KR" altLang="en-US" dirty="0" err="1" smtClean="0"/>
              <a:t>조달업체</a:t>
            </a:r>
            <a:r>
              <a:rPr lang="ko-KR" altLang="en-US" dirty="0" smtClean="0"/>
              <a:t> 선택에 따른 분기 화면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Any-ID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로그인 </a:t>
            </a:r>
            <a:r>
              <a:rPr lang="ko-KR" altLang="en-US" dirty="0"/>
              <a:t>방식 </a:t>
            </a:r>
            <a:r>
              <a:rPr lang="ko-KR" altLang="en-US" dirty="0" smtClean="0"/>
              <a:t>선택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err="1" smtClean="0"/>
              <a:t>anyID</a:t>
            </a:r>
            <a:r>
              <a:rPr lang="en-US" altLang="ko-KR" dirty="0" smtClean="0"/>
              <a:t> </a:t>
            </a:r>
            <a:r>
              <a:rPr lang="ko-KR" altLang="en-US" dirty="0" smtClean="0"/>
              <a:t>솔루션 화면 활용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strike="sngStrike" dirty="0" smtClean="0">
                <a:solidFill>
                  <a:srgbClr val="FF0000"/>
                </a:solidFill>
              </a:rPr>
              <a:t>- </a:t>
            </a:r>
            <a:r>
              <a:rPr lang="en-US" altLang="ko-KR" strike="sngStrike" dirty="0" err="1" smtClean="0">
                <a:solidFill>
                  <a:srgbClr val="FF0000"/>
                </a:solidFill>
              </a:rPr>
              <a:t>anyID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정책에 따라 개인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,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기업 선택 </a:t>
            </a:r>
            <a:r>
              <a:rPr lang="ko-KR" altLang="en-US" strike="sngStrike" dirty="0" err="1" smtClean="0">
                <a:solidFill>
                  <a:srgbClr val="FF0000"/>
                </a:solidFill>
              </a:rPr>
              <a:t>로그인이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 추가될 수 있음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모바일 사용에 따른 등록된 </a:t>
            </a:r>
            <a:r>
              <a:rPr lang="ko-KR" altLang="en-US" dirty="0" err="1" smtClean="0"/>
              <a:t>생체인증</a:t>
            </a:r>
            <a:r>
              <a:rPr lang="en-US" altLang="ko-KR" dirty="0" smtClean="0"/>
              <a:t>, ID</a:t>
            </a:r>
            <a:r>
              <a:rPr lang="ko-KR" altLang="en-US" dirty="0" smtClean="0"/>
              <a:t>를 사용한 </a:t>
            </a:r>
            <a:r>
              <a:rPr lang="en-US" altLang="ko-KR" dirty="0" smtClean="0"/>
              <a:t>ID/PW </a:t>
            </a:r>
            <a:r>
              <a:rPr lang="ko-KR" altLang="en-US" dirty="0" smtClean="0"/>
              <a:t>로그인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생체인증이</a:t>
            </a:r>
            <a:r>
              <a:rPr lang="ko-KR" altLang="en-US" dirty="0" smtClean="0"/>
              <a:t> 등록된 경우 모바일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체크 및 로그인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로그인 성공 시 </a:t>
            </a:r>
            <a:r>
              <a:rPr lang="ko-KR" altLang="en-US" dirty="0" err="1" smtClean="0"/>
              <a:t>메인홈으로</a:t>
            </a:r>
            <a:r>
              <a:rPr lang="ko-KR" altLang="en-US" dirty="0" smtClean="0"/>
              <a:t>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o </a:t>
            </a:r>
            <a:r>
              <a:rPr lang="ko-KR" altLang="en-US" dirty="0" smtClean="0"/>
              <a:t>토스트 </a:t>
            </a:r>
            <a:r>
              <a:rPr lang="en-US" altLang="ko-KR" dirty="0" smtClean="0"/>
              <a:t>- </a:t>
            </a:r>
            <a:r>
              <a:rPr lang="ko-KR" altLang="en-US" dirty="0" smtClean="0"/>
              <a:t>로그인 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미등록 시 </a:t>
            </a:r>
            <a:r>
              <a:rPr lang="en-US" altLang="ko-KR" dirty="0" smtClean="0"/>
              <a:t>MUI-CM-03-M14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ID/PW </a:t>
            </a:r>
            <a:r>
              <a:rPr lang="ko-KR" altLang="en-US" dirty="0" smtClean="0"/>
              <a:t>로그인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</a:t>
            </a:r>
            <a:r>
              <a:rPr lang="ko-KR" altLang="en-US" dirty="0" smtClean="0"/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기존 </a:t>
            </a:r>
            <a:r>
              <a:rPr lang="en-US" altLang="ko-KR" dirty="0" smtClean="0">
                <a:solidFill>
                  <a:srgbClr val="FF0000"/>
                </a:solidFill>
              </a:rPr>
              <a:t>ID</a:t>
            </a:r>
            <a:r>
              <a:rPr lang="ko-KR" altLang="en-US" dirty="0" smtClean="0">
                <a:solidFill>
                  <a:srgbClr val="FF0000"/>
                </a:solidFill>
              </a:rPr>
              <a:t>와 통합 </a:t>
            </a:r>
            <a:r>
              <a:rPr lang="en-US" altLang="ko-KR" dirty="0" smtClean="0">
                <a:solidFill>
                  <a:srgbClr val="FF0000"/>
                </a:solidFill>
              </a:rPr>
              <a:t>ID</a:t>
            </a:r>
            <a:r>
              <a:rPr lang="ko-KR" altLang="en-US" dirty="0" smtClean="0">
                <a:solidFill>
                  <a:srgbClr val="FF0000"/>
                </a:solidFill>
              </a:rPr>
              <a:t>를 구분하지 않고 입력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기존 </a:t>
            </a:r>
            <a:r>
              <a:rPr lang="en-US" altLang="ko-KR" dirty="0" smtClean="0"/>
              <a:t>ID</a:t>
            </a:r>
            <a:r>
              <a:rPr lang="ko-KR" altLang="en-US" dirty="0" smtClean="0"/>
              <a:t>를 입력하여 로그인 하는 경우 통합 </a:t>
            </a:r>
            <a:r>
              <a:rPr lang="en-US" altLang="ko-KR" dirty="0" smtClean="0"/>
              <a:t>ID</a:t>
            </a:r>
            <a:r>
              <a:rPr lang="ko-KR" altLang="en-US" dirty="0" smtClean="0"/>
              <a:t>를 생성하도록 안내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MUI-CM-03-M02 </a:t>
            </a:r>
            <a:r>
              <a:rPr lang="en-US" altLang="ko-KR" dirty="0"/>
              <a:t>ID/PW</a:t>
            </a:r>
            <a:r>
              <a:rPr lang="ko-KR" altLang="en-US" dirty="0" smtClean="0"/>
              <a:t>로그인 이동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모바일에서 사용자 등록은 불가하며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사용자 등록 안내 호출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로그인</a:t>
            </a:r>
            <a:r>
              <a:rPr lang="en-US" altLang="ko-KR" dirty="0"/>
              <a:t>-</a:t>
            </a:r>
            <a:r>
              <a:rPr lang="ko-KR" altLang="en-US" dirty="0" err="1"/>
              <a:t>방식선택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로그인 방식 선택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558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298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국방전자조달시스템</a:t>
            </a:r>
            <a:r>
              <a:rPr lang="ko-KR" altLang="en-US" sz="900" b="1" dirty="0">
                <a:latin typeface="+mn-ea"/>
              </a:rPr>
              <a:t>에 </a:t>
            </a:r>
            <a:r>
              <a:rPr lang="ko-KR" altLang="en-US" sz="900" b="1" dirty="0" err="1">
                <a:latin typeface="+mn-ea"/>
              </a:rPr>
              <a:t>오신것을</a:t>
            </a:r>
            <a:r>
              <a:rPr lang="ko-KR" altLang="en-US" sz="900" b="1" dirty="0">
                <a:latin typeface="+mn-ea"/>
              </a:rPr>
              <a:t> 환영합니다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" name="모서리가 둥근 직사각형 4"/>
          <p:cNvSpPr/>
          <p:nvPr/>
        </p:nvSpPr>
        <p:spPr>
          <a:xfrm>
            <a:off x="936072" y="4384770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0938" y="4948563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간편 인증</a:t>
            </a:r>
          </a:p>
        </p:txBody>
      </p:sp>
      <p:sp>
        <p:nvSpPr>
          <p:cNvPr id="25" name="타원 24"/>
          <p:cNvSpPr/>
          <p:nvPr/>
        </p:nvSpPr>
        <p:spPr>
          <a:xfrm>
            <a:off x="1272622" y="4491995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645433"/>
            <a:ext cx="2305144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정부 통합로그인은 한 번의 </a:t>
            </a:r>
            <a:r>
              <a:rPr lang="ko-KR" altLang="en-US" sz="700" dirty="0" err="1">
                <a:solidFill>
                  <a:srgbClr val="1D1D1D"/>
                </a:solidFill>
                <a:latin typeface="Pretendard GOV"/>
              </a:rPr>
              <a:t>로그인으로</a:t>
            </a:r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 연계된 모든 공공 </a:t>
            </a:r>
            <a:r>
              <a:rPr lang="ko-KR" altLang="en-US" sz="700" dirty="0" err="1">
                <a:solidFill>
                  <a:srgbClr val="1D1D1D"/>
                </a:solidFill>
                <a:latin typeface="Pretendard GOV"/>
              </a:rPr>
              <a:t>웹서비스를</a:t>
            </a:r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 이용할 수 있는 인증 서비스입니다</a:t>
            </a:r>
            <a:r>
              <a:rPr lang="en-US" altLang="ko-KR" sz="700" dirty="0">
                <a:solidFill>
                  <a:srgbClr val="1D1D1D"/>
                </a:solidFill>
                <a:latin typeface="Pretendard GOV"/>
              </a:rPr>
              <a:t>.</a:t>
            </a:r>
          </a:p>
          <a:p>
            <a:endParaRPr lang="en-US" altLang="ko-KR" sz="300" dirty="0">
              <a:solidFill>
                <a:srgbClr val="1D1D1D"/>
              </a:solidFill>
              <a:latin typeface="Pretendard GOV"/>
            </a:endParaRPr>
          </a:p>
          <a:p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아이디</a:t>
            </a:r>
            <a:r>
              <a:rPr lang="en-US" altLang="ko-KR" sz="700" dirty="0">
                <a:solidFill>
                  <a:srgbClr val="1D1D1D"/>
                </a:solidFill>
                <a:latin typeface="Pretendard GOV"/>
              </a:rPr>
              <a:t>/</a:t>
            </a:r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비밀번호 </a:t>
            </a:r>
            <a:r>
              <a:rPr lang="ko-KR" altLang="en-US" sz="700" dirty="0" err="1" smtClean="0">
                <a:solidFill>
                  <a:srgbClr val="1D1D1D"/>
                </a:solidFill>
                <a:latin typeface="Pretendard GOV"/>
              </a:rPr>
              <a:t>로그인은</a:t>
            </a:r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 </a:t>
            </a:r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정부 통합로그인 하단의 국방전자조달시스템 </a:t>
            </a:r>
            <a:r>
              <a:rPr lang="ko-KR" altLang="en-US" sz="700" dirty="0" err="1">
                <a:solidFill>
                  <a:srgbClr val="1D1D1D"/>
                </a:solidFill>
                <a:latin typeface="Pretendard GOV"/>
              </a:rPr>
              <a:t>로그인을</a:t>
            </a:r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 이용해주시기 바랍니다</a:t>
            </a:r>
            <a:r>
              <a:rPr lang="en-US" altLang="ko-KR" sz="700" dirty="0">
                <a:solidFill>
                  <a:srgbClr val="1D1D1D"/>
                </a:solidFill>
                <a:latin typeface="Pretendard GOV"/>
              </a:rPr>
              <a:t>.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09632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처음</a:t>
            </a:r>
            <a:r>
              <a:rPr lang="ko-KR" altLang="en-US" sz="900" b="1" dirty="0">
                <a:latin typeface="+mn-ea"/>
              </a:rPr>
              <a:t> </a:t>
            </a:r>
            <a:r>
              <a:rPr lang="ko-KR" altLang="en-US" sz="900" b="1" dirty="0" err="1">
                <a:latin typeface="+mn-ea"/>
              </a:rPr>
              <a:t>방문하셨나요</a:t>
            </a:r>
            <a:r>
              <a:rPr lang="en-US" altLang="ko-KR" sz="900" b="1" dirty="0">
                <a:latin typeface="+mn-ea"/>
              </a:rPr>
              <a:t>?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39850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사용자 등록 방법을 자세하게 </a:t>
            </a:r>
            <a:r>
              <a:rPr lang="ko-KR" altLang="en-US" sz="700" dirty="0" err="1">
                <a:latin typeface="+mn-ea"/>
              </a:rPr>
              <a:t>안내드립니다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모바일에서는 </a:t>
            </a:r>
            <a:r>
              <a:rPr lang="ko-KR" altLang="en-US" sz="700" dirty="0" err="1">
                <a:latin typeface="+mn-ea"/>
              </a:rPr>
              <a:t>업체등록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사용자등록을 지원하지 않습니다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3929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4023916" y="3702685"/>
            <a:ext cx="2255663" cy="306146"/>
            <a:chOff x="3982951" y="3679873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등록 안내 </a:t>
              </a:r>
              <a:r>
                <a:rPr lang="ko-KR" altLang="en-US" sz="700" b="1" dirty="0" err="1">
                  <a:latin typeface="+mn-ea"/>
                </a:rPr>
                <a:t>바로가기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1879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모서리가 둥근 직사각형 43"/>
          <p:cNvSpPr/>
          <p:nvPr/>
        </p:nvSpPr>
        <p:spPr>
          <a:xfrm>
            <a:off x="3826691" y="4319007"/>
            <a:ext cx="2652743" cy="943331"/>
          </a:xfrm>
          <a:prstGeom prst="roundRect">
            <a:avLst>
              <a:gd name="adj" fmla="val 9062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5461" y="4417291"/>
            <a:ext cx="2475203" cy="7540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    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로그인에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어려움이 있으신가요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?</a:t>
            </a:r>
          </a:p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비밀번호 자동완성기능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(ex. 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알패스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등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은 사용할 수 없습니다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1577-1118 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대표전화로 전화주세요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서비스에 로그인할 수 있도록 도와드리겠습니다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46" name="타원 45"/>
          <p:cNvSpPr/>
          <p:nvPr/>
        </p:nvSpPr>
        <p:spPr>
          <a:xfrm>
            <a:off x="3911503" y="4407640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/>
          <p:cNvGrpSpPr/>
          <p:nvPr/>
        </p:nvGrpSpPr>
        <p:grpSpPr>
          <a:xfrm flipV="1">
            <a:off x="6260324" y="4456138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3" name="모서리가 둥근 직사각형 52"/>
          <p:cNvSpPr/>
          <p:nvPr/>
        </p:nvSpPr>
        <p:spPr>
          <a:xfrm>
            <a:off x="2123386" y="4384770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98252" y="4948563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56" name="타원 55"/>
          <p:cNvSpPr/>
          <p:nvPr/>
        </p:nvSpPr>
        <p:spPr>
          <a:xfrm>
            <a:off x="2459936" y="4491995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모서리가 둥근 직사각형 56"/>
          <p:cNvSpPr/>
          <p:nvPr/>
        </p:nvSpPr>
        <p:spPr>
          <a:xfrm>
            <a:off x="936072" y="5289307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0938" y="5853100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1272622" y="5396532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23386" y="5289307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98252" y="5853100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2459936" y="5396532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모서리가 둥근 직사각형 62"/>
          <p:cNvSpPr/>
          <p:nvPr/>
        </p:nvSpPr>
        <p:spPr>
          <a:xfrm>
            <a:off x="4030026" y="1991489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04892" y="2555282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생체인증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5" name="타원 64"/>
          <p:cNvSpPr/>
          <p:nvPr/>
        </p:nvSpPr>
        <p:spPr>
          <a:xfrm>
            <a:off x="4366576" y="2098714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5217340" y="1991489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92206" y="2555282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b="1" dirty="0">
                <a:latin typeface="+mn-ea"/>
              </a:rPr>
              <a:t>ID/PW </a:t>
            </a:r>
            <a:r>
              <a:rPr lang="ko-KR" altLang="en-US" sz="700" b="1" dirty="0">
                <a:latin typeface="+mn-ea"/>
              </a:rPr>
              <a:t>로그인</a:t>
            </a:r>
          </a:p>
        </p:txBody>
      </p:sp>
      <p:sp>
        <p:nvSpPr>
          <p:cNvPr id="68" name="타원 67"/>
          <p:cNvSpPr/>
          <p:nvPr/>
        </p:nvSpPr>
        <p:spPr>
          <a:xfrm>
            <a:off x="5553890" y="2098714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3" name="모서리가 둥근 직사각형 72"/>
          <p:cNvSpPr/>
          <p:nvPr/>
        </p:nvSpPr>
        <p:spPr>
          <a:xfrm>
            <a:off x="903580" y="2305546"/>
            <a:ext cx="2255663" cy="218422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모서리가 둥근 직사각형 73"/>
          <p:cNvSpPr/>
          <p:nvPr/>
        </p:nvSpPr>
        <p:spPr>
          <a:xfrm>
            <a:off x="903580" y="2305546"/>
            <a:ext cx="1121438" cy="218422"/>
          </a:xfrm>
          <a:prstGeom prst="roundRect">
            <a:avLst>
              <a:gd name="adj" fmla="val 1862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59113" y="2357941"/>
            <a:ext cx="41037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err="1" smtClean="0">
                <a:solidFill>
                  <a:schemeClr val="bg1"/>
                </a:solidFill>
                <a:latin typeface="+mn-ea"/>
              </a:rPr>
              <a:t>조달업체</a:t>
            </a:r>
            <a:endParaRPr lang="ko-KR" altLang="en-US" sz="8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89538" y="2357941"/>
            <a:ext cx="205184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latin typeface="+mn-ea"/>
              </a:rPr>
              <a:t>기관</a:t>
            </a:r>
            <a:endParaRPr lang="ko-KR" altLang="en-US" sz="800" b="1" dirty="0">
              <a:latin typeface="+mn-ea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조달업체</a:t>
              </a:r>
              <a:r>
                <a:rPr lang="en-US" altLang="ko-KR" sz="700" dirty="0" smtClean="0"/>
                <a:t>. </a:t>
              </a:r>
              <a:r>
                <a:rPr lang="ko-KR" altLang="en-US" sz="700" dirty="0" smtClean="0"/>
                <a:t>기관 선택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en-US" altLang="ko-KR" sz="700" dirty="0" smtClean="0"/>
                <a:t>Any-ID </a:t>
              </a:r>
              <a:r>
                <a:rPr lang="ko-KR" altLang="en-US" sz="700" dirty="0" smtClean="0"/>
                <a:t>시스템 영역 추가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(</a:t>
              </a:r>
              <a:r>
                <a:rPr lang="ko-KR" altLang="en-US" sz="700" dirty="0" smtClean="0"/>
                <a:t>솔루션에 따라 변경될 수 있음</a:t>
              </a:r>
              <a:r>
                <a:rPr lang="en-US" altLang="ko-KR" sz="700" dirty="0" smtClean="0"/>
                <a:t>)</a:t>
              </a:r>
              <a:endParaRPr lang="en-US" altLang="ko-KR" sz="700" dirty="0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402000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정부 통합로그인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86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857491" y="3402669"/>
            <a:ext cx="301752" cy="137160"/>
            <a:chOff x="840582" y="1601197"/>
            <a:chExt cx="301752" cy="137160"/>
          </a:xfrm>
        </p:grpSpPr>
        <p:sp>
          <p:nvSpPr>
            <p:cNvPr id="87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644724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아직</a:t>
            </a:r>
            <a:r>
              <a:rPr lang="en-US" altLang="ko-KR" sz="700" dirty="0" smtClean="0">
                <a:solidFill>
                  <a:srgbClr val="1D1D1D"/>
                </a:solidFill>
                <a:latin typeface="Pretendard GOV"/>
              </a:rPr>
              <a:t> </a:t>
            </a:r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정부통합인증</a:t>
            </a:r>
            <a:r>
              <a:rPr lang="en-US" altLang="ko-KR" sz="700" dirty="0" smtClean="0">
                <a:solidFill>
                  <a:srgbClr val="1D1D1D"/>
                </a:solidFill>
                <a:latin typeface="Pretendard GOV"/>
              </a:rPr>
              <a:t>(Any-ID)</a:t>
            </a:r>
          </a:p>
          <a:p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사용자가 아니신가요</a:t>
            </a:r>
            <a:r>
              <a:rPr lang="en-US" altLang="ko-KR" sz="700" dirty="0" smtClean="0">
                <a:solidFill>
                  <a:srgbClr val="1D1D1D"/>
                </a:solidFill>
                <a:latin typeface="Pretendard GOV"/>
              </a:rPr>
              <a:t>?</a:t>
            </a:r>
            <a:endParaRPr lang="en-US" altLang="ko-KR" sz="700" dirty="0">
              <a:solidFill>
                <a:srgbClr val="1D1D1D"/>
              </a:solidFill>
              <a:latin typeface="Pretendard GOV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98675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정부 통합인증</a:t>
            </a:r>
            <a:r>
              <a:rPr lang="en-US" altLang="ko-KR" sz="700" dirty="0" smtClean="0">
                <a:solidFill>
                  <a:srgbClr val="1D1D1D"/>
                </a:solidFill>
                <a:latin typeface="Pretendard GOV"/>
              </a:rPr>
              <a:t>(Any-ID)</a:t>
            </a:r>
            <a:endParaRPr lang="en-US" altLang="ko-KR" sz="700" dirty="0">
              <a:solidFill>
                <a:srgbClr val="1D1D1D"/>
              </a:solidFill>
              <a:latin typeface="Pretendard GOV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2325760" y="3626446"/>
            <a:ext cx="874449" cy="252000"/>
            <a:chOff x="-2180572" y="3259503"/>
            <a:chExt cx="874449" cy="252000"/>
          </a:xfrm>
        </p:grpSpPr>
        <p:sp>
          <p:nvSpPr>
            <p:cNvPr id="92" name="모서리가 둥근 직사각형 91"/>
            <p:cNvSpPr/>
            <p:nvPr/>
          </p:nvSpPr>
          <p:spPr>
            <a:xfrm>
              <a:off x="-2180572" y="3259503"/>
              <a:ext cx="874449" cy="252000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-2066515" y="3331642"/>
              <a:ext cx="57034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smtClean="0">
                  <a:latin typeface="+mn-ea"/>
                </a:rPr>
                <a:t>사용자</a:t>
              </a:r>
              <a:r>
                <a:rPr lang="en-US" altLang="ko-KR" sz="700" b="1" dirty="0" smtClean="0">
                  <a:latin typeface="+mn-ea"/>
                </a:rPr>
                <a:t> </a:t>
              </a:r>
              <a:r>
                <a:rPr lang="ko-KR" altLang="en-US" sz="700" b="1" dirty="0" smtClean="0">
                  <a:latin typeface="+mn-ea"/>
                </a:rPr>
                <a:t>등록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-1553307" y="3285476"/>
              <a:ext cx="24718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 smtClean="0">
                  <a:sym typeface="Wingdings" panose="05000000000000000000" pitchFamily="2" charset="2"/>
                </a:rPr>
                <a:t>&gt;</a:t>
              </a:r>
              <a:endParaRPr lang="ko-KR" altLang="en-US" sz="700" dirty="0"/>
            </a:p>
          </p:txBody>
        </p:sp>
      </p:grpSp>
      <p:grpSp>
        <p:nvGrpSpPr>
          <p:cNvPr id="95" name="그룹 94"/>
          <p:cNvGrpSpPr/>
          <p:nvPr/>
        </p:nvGrpSpPr>
        <p:grpSpPr>
          <a:xfrm>
            <a:off x="2325760" y="3914618"/>
            <a:ext cx="874449" cy="252000"/>
            <a:chOff x="-2180572" y="3259503"/>
            <a:chExt cx="874449" cy="252000"/>
          </a:xfrm>
        </p:grpSpPr>
        <p:sp>
          <p:nvSpPr>
            <p:cNvPr id="96" name="모서리가 둥근 직사각형 95"/>
            <p:cNvSpPr/>
            <p:nvPr/>
          </p:nvSpPr>
          <p:spPr>
            <a:xfrm>
              <a:off x="-2180572" y="3259503"/>
              <a:ext cx="874449" cy="252000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-2066515" y="3331642"/>
              <a:ext cx="57034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smtClean="0">
                  <a:latin typeface="+mn-ea"/>
                </a:rPr>
                <a:t>사용자</a:t>
              </a:r>
              <a:r>
                <a:rPr lang="en-US" altLang="ko-KR" sz="700" b="1" dirty="0" smtClean="0">
                  <a:latin typeface="+mn-ea"/>
                </a:rPr>
                <a:t> </a:t>
              </a:r>
              <a:r>
                <a:rPr lang="ko-KR" altLang="en-US" sz="700" b="1" dirty="0" smtClean="0">
                  <a:latin typeface="+mn-ea"/>
                </a:rPr>
                <a:t>관리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-1553307" y="3285476"/>
              <a:ext cx="24718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 smtClean="0">
                  <a:sym typeface="Wingdings" panose="05000000000000000000" pitchFamily="2" charset="2"/>
                </a:rPr>
                <a:t>&gt;</a:t>
              </a:r>
              <a:endParaRPr lang="ko-KR" altLang="en-US" sz="700" dirty="0"/>
            </a:p>
          </p:txBody>
        </p:sp>
      </p:grpSp>
      <p:sp>
        <p:nvSpPr>
          <p:cNvPr id="99" name="타원 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623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151" y="20508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151" y="30955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315540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</a:t>
            </a:r>
            <a:r>
              <a:rPr lang="en-US" altLang="ko-KR" dirty="0"/>
              <a:t>, </a:t>
            </a:r>
            <a:r>
              <a:rPr lang="ko-KR" altLang="en-US" dirty="0"/>
              <a:t>기관 선택 탭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화면은 </a:t>
            </a:r>
            <a:r>
              <a:rPr lang="ko-KR" altLang="en-US" dirty="0" smtClean="0"/>
              <a:t>기관 </a:t>
            </a:r>
            <a:r>
              <a:rPr lang="ko-KR" altLang="en-US" dirty="0"/>
              <a:t>선택에 따른 분기 </a:t>
            </a:r>
            <a:r>
              <a:rPr lang="ko-KR" altLang="en-US" dirty="0" smtClean="0"/>
              <a:t>화면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기관은 </a:t>
            </a:r>
            <a:r>
              <a:rPr lang="en-US" altLang="ko-KR" dirty="0" smtClean="0"/>
              <a:t>radio </a:t>
            </a:r>
            <a:r>
              <a:rPr lang="ko-KR" altLang="en-US" dirty="0" smtClean="0"/>
              <a:t>형태</a:t>
            </a:r>
            <a:r>
              <a:rPr lang="en-US" altLang="ko-KR" dirty="0" smtClean="0"/>
              <a:t>. </a:t>
            </a:r>
            <a:r>
              <a:rPr lang="ko-KR" altLang="en-US" dirty="0" smtClean="0"/>
              <a:t>단일 선택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아이콘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ID/PW </a:t>
            </a:r>
            <a:r>
              <a:rPr lang="ko-KR" altLang="en-US" dirty="0" smtClean="0"/>
              <a:t>단일 로그인 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MUI-CM-03-M02 </a:t>
            </a:r>
            <a:r>
              <a:rPr lang="en-US" altLang="ko-KR" dirty="0"/>
              <a:t>ID/PW</a:t>
            </a:r>
            <a:r>
              <a:rPr lang="ko-KR" altLang="en-US" dirty="0"/>
              <a:t>로그인 </a:t>
            </a:r>
            <a:endParaRPr lang="ko-KR" altLang="en-US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로그인</a:t>
            </a:r>
            <a:r>
              <a:rPr lang="en-US" altLang="ko-KR" dirty="0"/>
              <a:t>-</a:t>
            </a:r>
            <a:r>
              <a:rPr lang="ko-KR" altLang="en-US" dirty="0" err="1"/>
              <a:t>방식선택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로그인 방식 선택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558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298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국방전자조달시스템</a:t>
            </a:r>
            <a:r>
              <a:rPr lang="ko-KR" altLang="en-US" sz="900" b="1" dirty="0">
                <a:latin typeface="+mn-ea"/>
              </a:rPr>
              <a:t>에 </a:t>
            </a:r>
            <a:r>
              <a:rPr lang="ko-KR" altLang="en-US" sz="900" b="1" dirty="0" err="1">
                <a:latin typeface="+mn-ea"/>
              </a:rPr>
              <a:t>오신것을</a:t>
            </a:r>
            <a:r>
              <a:rPr lang="ko-KR" altLang="en-US" sz="900" b="1" dirty="0">
                <a:latin typeface="+mn-ea"/>
              </a:rPr>
              <a:t> 환영합니다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" name="모서리가 둥근 직사각형 4"/>
          <p:cNvSpPr/>
          <p:nvPr/>
        </p:nvSpPr>
        <p:spPr>
          <a:xfrm>
            <a:off x="903580" y="3959869"/>
            <a:ext cx="2255663" cy="606288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54658" y="4197659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b="1" dirty="0">
                <a:latin typeface="+mn-ea"/>
              </a:rPr>
              <a:t>ID/PW </a:t>
            </a:r>
            <a:r>
              <a:rPr lang="ko-KR" altLang="en-US" sz="700" b="1" dirty="0">
                <a:latin typeface="+mn-ea"/>
              </a:rPr>
              <a:t>로그인</a:t>
            </a:r>
          </a:p>
        </p:txBody>
      </p:sp>
      <p:sp>
        <p:nvSpPr>
          <p:cNvPr id="25" name="타원 24"/>
          <p:cNvSpPr/>
          <p:nvPr/>
        </p:nvSpPr>
        <p:spPr>
          <a:xfrm>
            <a:off x="1110938" y="4067094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680269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기관을 선택한 후 아이디</a:t>
            </a:r>
            <a:r>
              <a:rPr lang="en-US" altLang="ko-KR" sz="700" dirty="0">
                <a:solidFill>
                  <a:srgbClr val="1D1D1D"/>
                </a:solidFill>
                <a:latin typeface="Pretendard GOV"/>
              </a:rPr>
              <a:t>/</a:t>
            </a:r>
            <a:r>
              <a:rPr lang="ko-KR" altLang="en-US" sz="700" dirty="0" smtClean="0">
                <a:solidFill>
                  <a:srgbClr val="1D1D1D"/>
                </a:solidFill>
                <a:latin typeface="Pretendard GOV"/>
              </a:rPr>
              <a:t>비밀번호 </a:t>
            </a:r>
            <a:r>
              <a:rPr lang="ko-KR" altLang="en-US" sz="700" dirty="0" err="1">
                <a:solidFill>
                  <a:srgbClr val="1D1D1D"/>
                </a:solidFill>
                <a:latin typeface="Pretendard GOV"/>
              </a:rPr>
              <a:t>로그인을</a:t>
            </a:r>
            <a:r>
              <a:rPr lang="ko-KR" altLang="en-US" sz="700" dirty="0">
                <a:solidFill>
                  <a:srgbClr val="1D1D1D"/>
                </a:solidFill>
                <a:latin typeface="Pretendard GOV"/>
              </a:rPr>
              <a:t> 이용해주시기 바랍니다</a:t>
            </a:r>
            <a:r>
              <a:rPr lang="en-US" altLang="ko-KR" sz="700" dirty="0">
                <a:solidFill>
                  <a:srgbClr val="1D1D1D"/>
                </a:solidFill>
                <a:latin typeface="Pretendard GOV"/>
              </a:rPr>
              <a:t>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3" name="모서리가 둥근 직사각형 72"/>
          <p:cNvSpPr/>
          <p:nvPr/>
        </p:nvSpPr>
        <p:spPr>
          <a:xfrm>
            <a:off x="903580" y="2305546"/>
            <a:ext cx="2255663" cy="218422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모서리가 둥근 직사각형 73"/>
          <p:cNvSpPr/>
          <p:nvPr/>
        </p:nvSpPr>
        <p:spPr>
          <a:xfrm>
            <a:off x="2037805" y="2305546"/>
            <a:ext cx="1121438" cy="218422"/>
          </a:xfrm>
          <a:prstGeom prst="roundRect">
            <a:avLst>
              <a:gd name="adj" fmla="val 1862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59113" y="2357941"/>
            <a:ext cx="41037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err="1" smtClean="0">
                <a:latin typeface="+mn-ea"/>
              </a:rPr>
              <a:t>조달업체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89538" y="2357941"/>
            <a:ext cx="205184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  <a:latin typeface="+mn-ea"/>
              </a:rPr>
              <a:t>기관</a:t>
            </a:r>
            <a:endParaRPr lang="ko-KR" altLang="en-US" sz="800" b="1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조달업체</a:t>
              </a:r>
              <a:r>
                <a:rPr lang="en-US" altLang="ko-KR" sz="700" dirty="0" smtClean="0"/>
                <a:t>. </a:t>
              </a:r>
              <a:r>
                <a:rPr lang="ko-KR" altLang="en-US" sz="700" dirty="0" smtClean="0"/>
                <a:t>기관 선택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기관 선택에 따른 기관 세부 조건 설정 이후 로그인</a:t>
              </a:r>
              <a:endParaRPr lang="en-US" altLang="ko-KR" sz="700" dirty="0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60955" y="3144992"/>
            <a:ext cx="107112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기관을 선택해주세요</a:t>
            </a:r>
            <a:r>
              <a:rPr lang="en-US" altLang="ko-KR" sz="800" b="1" dirty="0" smtClean="0">
                <a:latin typeface="+mn-ea"/>
              </a:rPr>
              <a:t>.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86" name="모서리가 둥근 직사각형 85"/>
          <p:cNvSpPr/>
          <p:nvPr/>
        </p:nvSpPr>
        <p:spPr>
          <a:xfrm>
            <a:off x="903580" y="3382015"/>
            <a:ext cx="1075272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err="1" smtClean="0">
                <a:solidFill>
                  <a:schemeClr val="bg1"/>
                </a:solidFill>
              </a:rPr>
              <a:t>방위사업청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87" name="모서리가 둥근 직사각형 86"/>
          <p:cNvSpPr/>
          <p:nvPr/>
        </p:nvSpPr>
        <p:spPr>
          <a:xfrm>
            <a:off x="2083971" y="3382015"/>
            <a:ext cx="1075272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수요부대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타원 87"/>
          <p:cNvSpPr/>
          <p:nvPr/>
        </p:nvSpPr>
        <p:spPr>
          <a:xfrm>
            <a:off x="947497" y="3403615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2119124" y="3403615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314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654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31428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41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73040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737434"/>
              </p:ext>
            </p:extLst>
          </p:nvPr>
        </p:nvGraphicFramePr>
        <p:xfrm>
          <a:off x="455204" y="971284"/>
          <a:ext cx="8995591" cy="27206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간편인증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scwin.btn_privtCrtfLogin_onclick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간편인증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공동인증서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scwin.btn_jntCrtfLogin_onclick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공동인증서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금융인증서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scwin.btn_fnncCrtfLogin_onclick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금융인증서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7901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scwin.btn_idPswdLogin_onclick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334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scwin.btn_moblCrtfLogin_onclick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4176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사용자등록안내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scwin.btn_userReg_onclick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사용자등록안내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35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scwin.tacpg_select_onclick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또는 기관 탭을 선택한다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364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scwin.btn_inst_onclick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방위사업청 또는 수요부대를 선택한다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289982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FB89B8A1-DF0A-933E-6384-FF117D512D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3499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3953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영역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아이디는 이전 </a:t>
            </a:r>
            <a:r>
              <a:rPr lang="en-US" altLang="ko-KR" dirty="0" smtClean="0"/>
              <a:t>ID </a:t>
            </a:r>
            <a:r>
              <a:rPr lang="ko-KR" altLang="en-US" dirty="0" smtClean="0"/>
              <a:t>및 통합 </a:t>
            </a:r>
            <a:r>
              <a:rPr lang="en-US" altLang="ko-KR" dirty="0" smtClean="0"/>
              <a:t>ID(</a:t>
            </a:r>
            <a:r>
              <a:rPr lang="ko-KR" altLang="en-US" dirty="0" smtClean="0"/>
              <a:t>신규</a:t>
            </a:r>
            <a:r>
              <a:rPr lang="en-US" altLang="ko-KR" dirty="0" smtClean="0"/>
              <a:t>)</a:t>
            </a:r>
            <a:r>
              <a:rPr lang="ko-KR" altLang="en-US" dirty="0" smtClean="0"/>
              <a:t>를</a:t>
            </a:r>
            <a:r>
              <a:rPr lang="en-US" altLang="ko-KR" dirty="0" smtClean="0"/>
              <a:t> </a:t>
            </a:r>
            <a:r>
              <a:rPr lang="ko-KR" altLang="en-US" dirty="0" smtClean="0"/>
              <a:t>둘다 사용할 수 있음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이전</a:t>
            </a:r>
            <a:r>
              <a:rPr lang="en-US" altLang="ko-KR" dirty="0" smtClean="0"/>
              <a:t>(as-is </a:t>
            </a:r>
            <a:r>
              <a:rPr lang="ko-KR" altLang="en-US" dirty="0" smtClean="0"/>
              <a:t>나라장터 등록 </a:t>
            </a:r>
            <a:r>
              <a:rPr lang="en-US" altLang="ko-KR" dirty="0" smtClean="0"/>
              <a:t>ID) ID</a:t>
            </a:r>
            <a:r>
              <a:rPr lang="ko-KR" altLang="en-US" dirty="0" smtClean="0"/>
              <a:t>로 로그인 시 통합 </a:t>
            </a:r>
            <a:r>
              <a:rPr lang="en-US" altLang="ko-KR" dirty="0" smtClean="0"/>
              <a:t>ID </a:t>
            </a:r>
            <a:r>
              <a:rPr lang="ko-KR" altLang="en-US" dirty="0" smtClean="0"/>
              <a:t>생성 안내 화면 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통합 </a:t>
            </a:r>
            <a:r>
              <a:rPr lang="en-US" altLang="ko-KR" dirty="0" smtClean="0"/>
              <a:t>ID</a:t>
            </a:r>
            <a:r>
              <a:rPr lang="ko-KR" altLang="en-US" dirty="0" smtClean="0"/>
              <a:t>로 로그인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업체가 하나인 경우 업체 선택 팝업 </a:t>
            </a:r>
            <a:r>
              <a:rPr lang="ko-KR" altLang="en-US" dirty="0" err="1" smtClean="0"/>
              <a:t>미노출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업체가 여러 개인 경우 업체 선택 팝업 노출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 </a:t>
            </a:r>
            <a:r>
              <a:rPr lang="ko-KR" altLang="en-US" dirty="0" err="1"/>
              <a:t>마스킹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 입력 시 </a:t>
            </a:r>
            <a:r>
              <a:rPr lang="ko-KR" altLang="en-US" dirty="0" err="1"/>
              <a:t>마스킹</a:t>
            </a:r>
            <a:r>
              <a:rPr lang="ko-KR" altLang="en-US" dirty="0"/>
              <a:t> 보기 아이콘 </a:t>
            </a:r>
            <a:r>
              <a:rPr lang="ko-KR" altLang="en-US" dirty="0" smtClean="0"/>
              <a:t>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조달업체</a:t>
            </a:r>
            <a:r>
              <a:rPr lang="ko-KR" altLang="en-US" dirty="0" smtClean="0"/>
              <a:t> 사용자에게 표시되는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기관사용자는 해당 영역 하단은 표시하지 않음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조달업체</a:t>
            </a:r>
            <a:r>
              <a:rPr lang="ko-KR" altLang="en-US" dirty="0" smtClean="0"/>
              <a:t> 사용자에게 표시되는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아이디 찾기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비밀번호 찾기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처음 </a:t>
            </a:r>
            <a:r>
              <a:rPr lang="ko-KR" altLang="en-US" dirty="0" err="1" smtClean="0"/>
              <a:t>방문하셨나요</a:t>
            </a:r>
            <a:r>
              <a:rPr lang="en-US" altLang="ko-KR" dirty="0"/>
              <a:t> </a:t>
            </a:r>
            <a:r>
              <a:rPr lang="ko-KR" altLang="en-US" dirty="0" smtClean="0"/>
              <a:t>영역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ID/PW</a:t>
            </a:r>
            <a:r>
              <a:rPr lang="ko-KR" altLang="en-US" dirty="0"/>
              <a:t>로그인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ID/PW </a:t>
            </a:r>
            <a:r>
              <a:rPr lang="ko-KR" altLang="en-US" dirty="0">
                <a:latin typeface="+mn-ea"/>
              </a:rPr>
              <a:t>로그인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아이디 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60830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04900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아이디</a:t>
            </a:r>
            <a:r>
              <a:rPr lang="en-US" altLang="ko-KR" sz="900" b="1" dirty="0">
                <a:solidFill>
                  <a:srgbClr val="0070C0"/>
                </a:solidFill>
                <a:latin typeface="+mn-ea"/>
              </a:rPr>
              <a:t>/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비밀번호</a:t>
            </a:r>
            <a:r>
              <a:rPr lang="en-US" altLang="ko-KR" sz="900" b="1" dirty="0">
                <a:latin typeface="+mn-ea"/>
              </a:rPr>
              <a:t> </a:t>
            </a:r>
            <a:r>
              <a:rPr lang="ko-KR" altLang="en-US" sz="900" b="1" dirty="0">
                <a:latin typeface="+mn-ea"/>
              </a:rPr>
              <a:t>로그인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2738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25" name="타원 24"/>
          <p:cNvSpPr/>
          <p:nvPr/>
        </p:nvSpPr>
        <p:spPr>
          <a:xfrm>
            <a:off x="854156" y="19490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등록한 </a:t>
            </a:r>
            <a:r>
              <a:rPr lang="ko-KR" altLang="en-US" sz="700" dirty="0">
                <a:latin typeface="+mn-ea"/>
              </a:rPr>
              <a:t>아이디와 비밀번호를 이용하여 로그인합니다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2226294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아이디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또는 비밀번호를 </a:t>
            </a:r>
            <a:r>
              <a:rPr lang="ko-KR" altLang="en-US" sz="700" dirty="0" err="1">
                <a:latin typeface="+mn-ea"/>
              </a:rPr>
              <a:t>잊어버렸나요</a:t>
            </a:r>
            <a:r>
              <a:rPr lang="en-US" altLang="ko-KR" sz="700" dirty="0">
                <a:latin typeface="+mn-ea"/>
              </a:rPr>
              <a:t>?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985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4023916" y="2461729"/>
            <a:ext cx="2255663" cy="306146"/>
            <a:chOff x="3982951" y="3679873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아이디 찾기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106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05041" y="4702277"/>
            <a:ext cx="2652743" cy="1097816"/>
            <a:chOff x="734683" y="4769160"/>
            <a:chExt cx="2652743" cy="1097816"/>
          </a:xfrm>
        </p:grpSpPr>
        <p:sp>
          <p:nvSpPr>
            <p:cNvPr id="44" name="모서리가 둥근 직사각형 43"/>
            <p:cNvSpPr/>
            <p:nvPr/>
          </p:nvSpPr>
          <p:spPr>
            <a:xfrm>
              <a:off x="734683" y="4769160"/>
              <a:ext cx="2652743" cy="1097816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비밀번호를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5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 이상 잘못 입력할 경우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3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분간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로그인이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제한됩니다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비밀번호찾기를 통해 비밀번호를 변경할 경우 로그인 제한이 해제됩니다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 자동완성기능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(ex.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알패스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등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)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은 사용할 수 없습니다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6" name="타원 45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7" name="그룹 46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50" name="직선 연결선 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2" name="그룹 51"/>
          <p:cNvGrpSpPr/>
          <p:nvPr/>
        </p:nvGrpSpPr>
        <p:grpSpPr>
          <a:xfrm>
            <a:off x="4023916" y="2828026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비밀번호 찾기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43880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처음</a:t>
            </a:r>
            <a:r>
              <a:rPr lang="ko-KR" altLang="en-US" sz="900" b="1" dirty="0">
                <a:latin typeface="+mn-ea"/>
              </a:rPr>
              <a:t> </a:t>
            </a:r>
            <a:r>
              <a:rPr lang="ko-KR" altLang="en-US" sz="900" b="1" dirty="0" err="1">
                <a:latin typeface="+mn-ea"/>
              </a:rPr>
              <a:t>방문하셨나요</a:t>
            </a:r>
            <a:r>
              <a:rPr lang="en-US" altLang="ko-KR" sz="900" b="1" dirty="0">
                <a:latin typeface="+mn-ea"/>
              </a:rPr>
              <a:t>?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82328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사용자 등록 방법을 자세하게 </a:t>
            </a:r>
            <a:r>
              <a:rPr lang="ko-KR" altLang="en-US" sz="700" dirty="0" err="1">
                <a:latin typeface="+mn-ea"/>
              </a:rPr>
              <a:t>안내드립니다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모바일에서는 </a:t>
            </a:r>
            <a:r>
              <a:rPr lang="ko-KR" altLang="en-US" sz="700" dirty="0" err="1">
                <a:latin typeface="+mn-ea"/>
              </a:rPr>
              <a:t>업체등록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사용자등록을 지원하지 않습니다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2817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0" name="그룹 59"/>
          <p:cNvGrpSpPr/>
          <p:nvPr/>
        </p:nvGrpSpPr>
        <p:grpSpPr>
          <a:xfrm>
            <a:off x="4023916" y="4045163"/>
            <a:ext cx="2255663" cy="306146"/>
            <a:chOff x="3982951" y="3679873"/>
            <a:chExt cx="2255663" cy="306146"/>
          </a:xfrm>
        </p:grpSpPr>
        <p:sp>
          <p:nvSpPr>
            <p:cNvPr id="61" name="모서리가 둥근 직사각형 6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등록 안내 </a:t>
              </a:r>
              <a:r>
                <a:rPr lang="ko-KR" altLang="en-US" sz="700" b="1" dirty="0" err="1">
                  <a:latin typeface="+mn-ea"/>
                </a:rPr>
                <a:t>바로가기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grpSp>
        <p:nvGrpSpPr>
          <p:cNvPr id="64" name="그룹 63"/>
          <p:cNvGrpSpPr/>
          <p:nvPr/>
        </p:nvGrpSpPr>
        <p:grpSpPr>
          <a:xfrm>
            <a:off x="903581" y="2774518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아이디를 입력해주세요</a:t>
              </a: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461587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22652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903580" y="4085765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로그인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12326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07592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90" name="그룹 8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1" name="직사각형 9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기관 선택 추가</a:t>
              </a:r>
              <a:endParaRPr lang="en-US" altLang="ko-KR" sz="700" dirty="0"/>
            </a:p>
          </p:txBody>
        </p:sp>
      </p:grp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073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8956" y="21780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85" name="그룹 84"/>
          <p:cNvGrpSpPr/>
          <p:nvPr/>
        </p:nvGrpSpPr>
        <p:grpSpPr>
          <a:xfrm>
            <a:off x="8223250" y="924967"/>
            <a:ext cx="3365500" cy="634511"/>
            <a:chOff x="8223250" y="569392"/>
            <a:chExt cx="3365500" cy="634511"/>
          </a:xfrm>
        </p:grpSpPr>
        <p:sp>
          <p:nvSpPr>
            <p:cNvPr id="88" name="직사각형 8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설명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4</a:t>
              </a:r>
              <a:r>
                <a:rPr lang="ko-KR" altLang="en-US" sz="700" dirty="0" smtClean="0"/>
                <a:t>번 영역 설명을 추가함</a:t>
              </a:r>
              <a:r>
                <a:rPr lang="en-US" altLang="ko-KR" sz="700" dirty="0" smtClean="0"/>
                <a:t>.</a:t>
              </a:r>
              <a:br>
                <a:rPr lang="en-US" altLang="ko-KR" sz="700" dirty="0" smtClean="0"/>
              </a:br>
              <a:r>
                <a:rPr lang="ko-KR" altLang="en-US" sz="700" dirty="0" err="1" smtClean="0"/>
                <a:t>조달업체</a:t>
              </a:r>
              <a:r>
                <a:rPr lang="ko-KR" altLang="en-US" sz="700" dirty="0" smtClean="0"/>
                <a:t> 사용자에게만 노출되는 영역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976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43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70589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02633"/>
              </p:ext>
            </p:extLst>
          </p:nvPr>
        </p:nvGraphicFramePr>
        <p:xfrm>
          <a:off x="455204" y="935766"/>
          <a:ext cx="8995591" cy="1944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비밀번호가 일치하면 로그인한다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같은 아이디로 등록한 업체가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있을때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업체 선택창이 나온다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(UI-CM-02-P12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퇴사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탈퇴한 회원은 로그인이 불가능하다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ID/PW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로그인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비밀번호 변경일이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90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일이 경과되면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Alert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- 60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 이상 장기 미사용자도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Alert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아이디찾기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scwin.btn_idFndng_onclick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찾기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비밀번호찾기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scwin.btn_pswdFndng_onclick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찾기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7901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scwin.btn_userRegGuide_onclick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안내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35562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7DF8D80-32E8-5CA9-48DC-8E274B9F1A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2476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333868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 방식 선택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ID</a:t>
            </a:r>
            <a:r>
              <a:rPr lang="ko-KR" altLang="en-US" dirty="0" smtClean="0">
                <a:latin typeface="+mn-ea"/>
              </a:rPr>
              <a:t>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>
                <a:latin typeface="+mn-ea"/>
              </a:rPr>
              <a:t>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아이디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920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58362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본인인증을 </a:t>
            </a:r>
            <a:r>
              <a:rPr lang="ko-KR" altLang="en-US" sz="900" b="1" dirty="0">
                <a:latin typeface="+mn-ea"/>
              </a:rPr>
              <a:t>통해 아이디를 찾을 수 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30188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 방식을 선택해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36072" y="256883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266804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936072" y="2953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053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80" name="모서리가 둥근 직사각형 79"/>
          <p:cNvSpPr/>
          <p:nvPr/>
        </p:nvSpPr>
        <p:spPr>
          <a:xfrm>
            <a:off x="936072" y="3334888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434100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7" name="모서리가 둥근 직사각형 86"/>
          <p:cNvSpPr/>
          <p:nvPr/>
        </p:nvSpPr>
        <p:spPr>
          <a:xfrm>
            <a:off x="936072" y="371994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81915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1" name="모서리가 둥근 직사각형 90"/>
          <p:cNvSpPr/>
          <p:nvPr/>
        </p:nvSpPr>
        <p:spPr>
          <a:xfrm>
            <a:off x="936072" y="4086107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185319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등록정보로</a:t>
            </a:r>
            <a:r>
              <a:rPr lang="ko-KR" altLang="en-US" sz="700" b="1" dirty="0">
                <a:latin typeface="+mn-ea"/>
              </a:rPr>
              <a:t> 찾기</a:t>
            </a:r>
          </a:p>
        </p:txBody>
      </p:sp>
      <p:sp>
        <p:nvSpPr>
          <p:cNvPr id="25" name="타원 24"/>
          <p:cNvSpPr/>
          <p:nvPr/>
        </p:nvSpPr>
        <p:spPr>
          <a:xfrm>
            <a:off x="1062376" y="4125304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1062376" y="375583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1062376" y="336479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1062376" y="2992962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1062376" y="260627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/>
          <p:cNvGrpSpPr/>
          <p:nvPr/>
        </p:nvGrpSpPr>
        <p:grpSpPr>
          <a:xfrm rot="16200000" flipH="1">
            <a:off x="2958652" y="2698407"/>
            <a:ext cx="94010" cy="47005"/>
            <a:chOff x="6812560" y="3297172"/>
            <a:chExt cx="94010" cy="47005"/>
          </a:xfrm>
        </p:grpSpPr>
        <p:cxnSp>
          <p:nvCxnSpPr>
            <p:cNvPr id="40" name="직선 연결선 3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직선 연결선 4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그룹 41"/>
          <p:cNvGrpSpPr/>
          <p:nvPr/>
        </p:nvGrpSpPr>
        <p:grpSpPr>
          <a:xfrm rot="16200000" flipH="1">
            <a:off x="2958653" y="3083465"/>
            <a:ext cx="94010" cy="47005"/>
            <a:chOff x="6812560" y="3297172"/>
            <a:chExt cx="94010" cy="47005"/>
          </a:xfrm>
        </p:grpSpPr>
        <p:cxnSp>
          <p:nvCxnSpPr>
            <p:cNvPr id="43" name="직선 연결선 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직선 연결선 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" name="그룹 44"/>
          <p:cNvGrpSpPr/>
          <p:nvPr/>
        </p:nvGrpSpPr>
        <p:grpSpPr>
          <a:xfrm rot="16200000" flipH="1">
            <a:off x="2958653" y="346445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 rot="16200000" flipH="1">
            <a:off x="2958654" y="3849517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2" name="그룹 51"/>
          <p:cNvGrpSpPr/>
          <p:nvPr/>
        </p:nvGrpSpPr>
        <p:grpSpPr>
          <a:xfrm rot="16200000" flipH="1">
            <a:off x="2958654" y="4215678"/>
            <a:ext cx="94010" cy="47005"/>
            <a:chOff x="6812560" y="3297172"/>
            <a:chExt cx="94010" cy="47005"/>
          </a:xfrm>
        </p:grpSpPr>
        <p:cxnSp>
          <p:nvCxnSpPr>
            <p:cNvPr id="53" name="직선 연결선 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2858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정보 </a:t>
            </a:r>
            <a:r>
              <a:rPr lang="ko-KR" altLang="en-US" dirty="0" smtClean="0"/>
              <a:t>입력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통합 </a:t>
            </a:r>
            <a:r>
              <a:rPr lang="en-US" altLang="ko-KR" dirty="0" smtClean="0"/>
              <a:t>ID, </a:t>
            </a:r>
            <a:r>
              <a:rPr lang="ko-KR" altLang="en-US" dirty="0" smtClean="0"/>
              <a:t>기존</a:t>
            </a:r>
            <a:r>
              <a:rPr lang="en-US" altLang="ko-KR" dirty="0" smtClean="0"/>
              <a:t> ID</a:t>
            </a:r>
            <a:r>
              <a:rPr lang="ko-KR" altLang="en-US" dirty="0" smtClean="0"/>
              <a:t>를 둘다 조회함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ID</a:t>
            </a:r>
            <a:r>
              <a:rPr lang="ko-KR" altLang="en-US" dirty="0" err="1" smtClean="0"/>
              <a:t>찾기결과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</a:t>
            </a:r>
            <a:r>
              <a:rPr lang="ko-KR" altLang="en-US" dirty="0" smtClean="0"/>
              <a:t>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MUI-CM-03-M05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ID</a:t>
            </a:r>
            <a:r>
              <a:rPr lang="ko-KR" altLang="en-US" dirty="0" smtClean="0">
                <a:latin typeface="+mn-ea"/>
              </a:rPr>
              <a:t>등록정보로찾기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942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구분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회원가입시</a:t>
            </a:r>
            <a:r>
              <a:rPr lang="ko-KR" altLang="en-US" sz="700" dirty="0">
                <a:latin typeface="+mn-ea"/>
              </a:rPr>
              <a:t> 등록한 정보를 정확히 입력해주세요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4" name="그룹 63"/>
          <p:cNvGrpSpPr/>
          <p:nvPr/>
        </p:nvGrpSpPr>
        <p:grpSpPr>
          <a:xfrm>
            <a:off x="903581" y="2841401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조달업체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528470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‘-’ 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없이 입력해주세요</a:t>
              </a: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8953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사업자등록번호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5683445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아이디 찾기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7447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000" b="1" dirty="0">
                <a:latin typeface="+mn-ea"/>
              </a:rPr>
              <a:t>아이디</a:t>
            </a:r>
            <a:r>
              <a:rPr lang="en-US" altLang="ko-KR" sz="1000" b="1" dirty="0">
                <a:latin typeface="+mn-ea"/>
              </a:rPr>
              <a:t> </a:t>
            </a:r>
            <a:r>
              <a:rPr lang="ko-KR" altLang="en-US" sz="1000" b="1" dirty="0" err="1">
                <a:latin typeface="+mn-ea"/>
              </a:rPr>
              <a:t>등록정보로</a:t>
            </a:r>
            <a:r>
              <a:rPr lang="ko-KR" altLang="en-US" sz="1000" b="1" dirty="0">
                <a:latin typeface="+mn-ea"/>
              </a:rPr>
              <a:t> 찾기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05713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903581" y="4204262"/>
            <a:ext cx="2255663" cy="306146"/>
            <a:chOff x="3982951" y="3679873"/>
            <a:chExt cx="2255663" cy="306146"/>
          </a:xfrm>
        </p:grpSpPr>
        <p:sp>
          <p:nvSpPr>
            <p:cNvPr id="85" name="모서리가 둥근 직사각형 8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공백없이 입력해주세요</a:t>
              </a: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54207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8953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05713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5" name="직사각형 4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사용자 주민등록번호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사용자 생년월일</a:t>
              </a:r>
              <a:endParaRPr lang="en-US" altLang="ko-KR" sz="7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8223250" y="924967"/>
            <a:ext cx="3365500" cy="634511"/>
            <a:chOff x="8223250" y="569392"/>
            <a:chExt cx="3365500" cy="634511"/>
          </a:xfrm>
        </p:grpSpPr>
        <p:sp>
          <p:nvSpPr>
            <p:cNvPr id="49" name="직사각형 4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7059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52" name="그룹 51"/>
          <p:cNvGrpSpPr/>
          <p:nvPr/>
        </p:nvGrpSpPr>
        <p:grpSpPr>
          <a:xfrm>
            <a:off x="903581" y="4854131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생년월일 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6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자리를 입력해주세요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71519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사용자 주민등록번호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200136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715196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8223250" y="1148693"/>
            <a:ext cx="3365500" cy="634511"/>
            <a:chOff x="8223250" y="569392"/>
            <a:chExt cx="3365500" cy="634511"/>
          </a:xfrm>
        </p:grpSpPr>
        <p:sp>
          <p:nvSpPr>
            <p:cNvPr id="60" name="직사각형 5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화면 복구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080586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46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142" y="232628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54142" y="255287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항목 입력 후 일치하면 아이디를 확인한다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5FCD92D-2655-D6F2-574A-C004CB79A8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717" y="24451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F284BC-5254-CB73-5F71-6703F57988DF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64600-67B3-5988-06BA-C9372916B372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24C8D3F-8A4B-6219-B502-22D57934F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92"/>
              </p:ext>
            </p:extLst>
          </p:nvPr>
        </p:nvGraphicFramePr>
        <p:xfrm>
          <a:off x="454850" y="1104443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CD2842F3-6D38-6940-E1ED-871F45020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8470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 smtClean="0"/>
              <a:t>성공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통합</a:t>
            </a:r>
            <a:r>
              <a:rPr lang="en-US" altLang="ko-KR" dirty="0" smtClean="0"/>
              <a:t> ID</a:t>
            </a:r>
            <a:r>
              <a:rPr lang="ko-KR" altLang="en-US" dirty="0" smtClean="0"/>
              <a:t>가 있는 경우 통합 </a:t>
            </a:r>
            <a:r>
              <a:rPr lang="en-US" altLang="ko-KR" dirty="0" smtClean="0"/>
              <a:t>ID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통합 </a:t>
            </a:r>
            <a:r>
              <a:rPr lang="en-US" altLang="ko-KR" dirty="0" smtClean="0"/>
              <a:t>ID</a:t>
            </a:r>
            <a:r>
              <a:rPr lang="ko-KR" altLang="en-US" dirty="0" smtClean="0"/>
              <a:t>가 없는 경우 소속업체명과 아이디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실패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ko-KR" altLang="en-US" dirty="0" err="1"/>
              <a:t>찾기결과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>
                <a:latin typeface="+mn-ea"/>
              </a:rPr>
              <a:t>찾기 결과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</a:t>
            </a:r>
            <a:r>
              <a:rPr lang="en-US" altLang="ko-KR" sz="900" b="1" dirty="0">
                <a:latin typeface="+mn-ea"/>
              </a:rPr>
              <a:t>ID</a:t>
            </a:r>
            <a:r>
              <a:rPr lang="ko-KR" altLang="en-US" sz="900" b="1" dirty="0">
                <a:latin typeface="+mn-ea"/>
              </a:rPr>
              <a:t>를 확인해주세요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latin typeface="+mn-ea"/>
              </a:rPr>
              <a:t>통합 아이디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18284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31348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+mn-ea"/>
                </a:rPr>
                <a:t>ID/PW </a:t>
              </a:r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로그인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6" name="그룹 65"/>
          <p:cNvGrpSpPr/>
          <p:nvPr/>
        </p:nvGrpSpPr>
        <p:grpSpPr>
          <a:xfrm>
            <a:off x="903580" y="5694905"/>
            <a:ext cx="2255663" cy="306146"/>
            <a:chOff x="3982951" y="3679873"/>
            <a:chExt cx="2255663" cy="306146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rgbClr val="0070C0"/>
                  </a:solidFill>
                  <a:latin typeface="+mn-ea"/>
                </a:rPr>
                <a:t>비밀번호 찾기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83168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800" dirty="0" smtClean="0">
                <a:latin typeface="+mn-ea"/>
              </a:rPr>
              <a:t>userID1234</a:t>
            </a:r>
            <a:endParaRPr lang="ko-KR" altLang="en-US" sz="800" dirty="0">
              <a:latin typeface="+mn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145009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 err="1">
                <a:latin typeface="+mn-ea"/>
              </a:rPr>
              <a:t>소속업체명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1" name="타원 70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337202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㈜</a:t>
            </a:r>
            <a:r>
              <a:rPr lang="en-US" altLang="ko-KR" sz="800" dirty="0">
                <a:latin typeface="+mn-ea"/>
              </a:rPr>
              <a:t>ABC </a:t>
            </a:r>
            <a:r>
              <a:rPr lang="ko-KR" altLang="en-US" sz="800" dirty="0">
                <a:latin typeface="+mn-ea"/>
              </a:rPr>
              <a:t>업체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</a:t>
            </a:r>
            <a:r>
              <a:rPr lang="en-US" altLang="ko-KR" sz="900" b="1" dirty="0">
                <a:latin typeface="+mn-ea"/>
              </a:rPr>
              <a:t>ID</a:t>
            </a:r>
            <a:r>
              <a:rPr lang="ko-KR" altLang="en-US" sz="900" b="1" dirty="0">
                <a:latin typeface="+mn-ea"/>
              </a:rPr>
              <a:t>를 확인할 수 없습니다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>
                <a:latin typeface="+mn-ea"/>
              </a:rPr>
              <a:t>가입된 </a:t>
            </a:r>
            <a:r>
              <a:rPr lang="ko-KR" altLang="en-US" sz="800" b="1" dirty="0" err="1">
                <a:latin typeface="+mn-ea"/>
              </a:rPr>
              <a:t>인증정보가</a:t>
            </a:r>
            <a:r>
              <a:rPr lang="ko-KR" altLang="en-US" sz="800" b="1" dirty="0">
                <a:latin typeface="+mn-ea"/>
              </a:rPr>
              <a:t> 없습니다</a:t>
            </a:r>
            <a:r>
              <a:rPr lang="en-US" altLang="ko-KR" sz="800" b="1" dirty="0">
                <a:latin typeface="+mn-ea"/>
              </a:rPr>
              <a:t>.</a:t>
            </a: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9606" y="5564266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9" name="그룹 88"/>
          <p:cNvGrpSpPr/>
          <p:nvPr/>
        </p:nvGrpSpPr>
        <p:grpSpPr>
          <a:xfrm>
            <a:off x="4023916" y="5694905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사용자 등록 안내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609230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>
                <a:latin typeface="+mn-ea"/>
              </a:rPr>
              <a:t>아이디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80142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abcdef1234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7" name="직사각형 4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통합 </a:t>
              </a:r>
              <a:r>
                <a:rPr lang="en-US" altLang="ko-KR" sz="700" dirty="0" smtClean="0"/>
                <a:t>ID </a:t>
              </a:r>
              <a:r>
                <a:rPr lang="ko-KR" altLang="en-US" sz="700" dirty="0" err="1" smtClean="0"/>
                <a:t>표시영역</a:t>
              </a:r>
              <a:r>
                <a:rPr lang="ko-KR" altLang="en-US" sz="700" dirty="0" smtClean="0"/>
                <a:t> 추가</a:t>
              </a:r>
              <a:r>
                <a:rPr lang="en-US" altLang="ko-KR" sz="700" dirty="0" smtClean="0"/>
                <a:t> 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3892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아이디 입력 </a:t>
            </a:r>
            <a:r>
              <a:rPr lang="ko-KR" altLang="en-US" dirty="0" smtClean="0"/>
              <a:t>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 방식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아이디 미 입력</a:t>
            </a:r>
            <a:r>
              <a:rPr lang="en-US" altLang="ko-KR" dirty="0"/>
              <a:t>, </a:t>
            </a:r>
            <a:r>
              <a:rPr lang="ko-KR" altLang="en-US" dirty="0"/>
              <a:t>없는 아이디로</a:t>
            </a:r>
            <a:r>
              <a:rPr lang="en-US" altLang="ko-KR" dirty="0"/>
              <a:t> </a:t>
            </a:r>
            <a:r>
              <a:rPr lang="ko-KR" altLang="en-US" dirty="0"/>
              <a:t>인증 방식 클릭 시 유효성 메시지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아이디를 정확히 입력해주세요</a:t>
            </a:r>
            <a:r>
              <a:rPr lang="en-US" altLang="ko-KR" dirty="0" smtClean="0">
                <a:sym typeface="Wingdings" panose="05000000000000000000" pitchFamily="2" charset="2"/>
              </a:rPr>
              <a:t>.</a:t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smtClean="0">
                <a:sym typeface="Wingdings" panose="05000000000000000000" pitchFamily="2" charset="2"/>
              </a:rPr>
              <a:t>통합 </a:t>
            </a:r>
            <a:r>
              <a:rPr lang="en-US" altLang="ko-KR" dirty="0" smtClean="0">
                <a:sym typeface="Wingdings" panose="05000000000000000000" pitchFamily="2" charset="2"/>
              </a:rPr>
              <a:t>ID, </a:t>
            </a:r>
            <a:r>
              <a:rPr lang="ko-KR" altLang="en-US" dirty="0" smtClean="0">
                <a:sym typeface="Wingdings" panose="05000000000000000000" pitchFamily="2" charset="2"/>
              </a:rPr>
              <a:t>기존</a:t>
            </a:r>
            <a:r>
              <a:rPr lang="en-US" altLang="ko-KR" dirty="0" smtClean="0">
                <a:sym typeface="Wingdings" panose="05000000000000000000" pitchFamily="2" charset="2"/>
              </a:rPr>
              <a:t> ID </a:t>
            </a:r>
            <a:r>
              <a:rPr lang="ko-KR" altLang="en-US" dirty="0" smtClean="0">
                <a:sym typeface="Wingdings" panose="05000000000000000000" pitchFamily="2" charset="2"/>
              </a:rPr>
              <a:t>모두 설정 가능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PW</a:t>
            </a:r>
            <a:r>
              <a:rPr lang="ko-KR" altLang="en-US" dirty="0" smtClean="0">
                <a:latin typeface="+mn-ea"/>
              </a:rPr>
              <a:t>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294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8809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본인인증을 </a:t>
            </a:r>
            <a:r>
              <a:rPr lang="ko-KR" altLang="en-US" sz="700" dirty="0">
                <a:latin typeface="+mn-ea"/>
              </a:rPr>
              <a:t>통해 비밀번호를 변경할 수 있습니다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7869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아이디를 입력해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36072" y="3639623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738835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869240" y="3692668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74" name="모서리가 둥근 직사각형 73"/>
          <p:cNvSpPr/>
          <p:nvPr/>
        </p:nvSpPr>
        <p:spPr>
          <a:xfrm>
            <a:off x="936072" y="4024681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123893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69240" y="4077726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936072" y="4405675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504887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869240" y="4458720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87" name="모서리가 둥근 직사각형 86"/>
          <p:cNvSpPr/>
          <p:nvPr/>
        </p:nvSpPr>
        <p:spPr>
          <a:xfrm>
            <a:off x="936072" y="4790733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889945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69240" y="4843778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936072" y="5156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5256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등록정보로</a:t>
            </a:r>
            <a:r>
              <a:rPr lang="ko-KR" altLang="en-US" sz="700" b="1" dirty="0">
                <a:latin typeface="+mn-ea"/>
              </a:rPr>
              <a:t> 찾기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69240" y="5209939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25" name="타원 24"/>
          <p:cNvSpPr/>
          <p:nvPr/>
        </p:nvSpPr>
        <p:spPr>
          <a:xfrm>
            <a:off x="1062376" y="519609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1062376" y="4826618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1062376" y="4435583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1062376" y="4063749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1062376" y="3677063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38516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 방식을 선택해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903581" y="2715160"/>
            <a:ext cx="2255663" cy="306146"/>
            <a:chOff x="3982951" y="3679873"/>
            <a:chExt cx="2255663" cy="306146"/>
          </a:xfrm>
        </p:grpSpPr>
        <p:sp>
          <p:nvSpPr>
            <p:cNvPr id="45" name="모서리가 둥근 직사각형 4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아이디를 입력해주세요</a:t>
              </a:r>
            </a:p>
          </p:txBody>
        </p:sp>
      </p:grp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49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047492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000" b="1" dirty="0" smtClean="0">
                <a:latin typeface="+mn-ea"/>
              </a:rPr>
              <a:t>비밀번호</a:t>
            </a:r>
            <a:r>
              <a:rPr lang="en-US" altLang="ko-KR" sz="1000" b="1" dirty="0" smtClean="0">
                <a:latin typeface="+mn-ea"/>
              </a:rPr>
              <a:t> </a:t>
            </a:r>
            <a:r>
              <a:rPr lang="ko-KR" altLang="en-US" sz="1000" b="1" dirty="0" smtClean="0">
                <a:latin typeface="+mn-ea"/>
              </a:rPr>
              <a:t>찾기</a:t>
            </a:r>
            <a:endParaRPr lang="ko-KR" altLang="en-US" sz="1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94007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정보 </a:t>
            </a:r>
            <a:r>
              <a:rPr lang="ko-KR" altLang="en-US" dirty="0" smtClean="0"/>
              <a:t>입력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ID</a:t>
            </a:r>
            <a:r>
              <a:rPr lang="ko-KR" altLang="en-US" dirty="0" smtClean="0"/>
              <a:t>는 직전에 입력한 아이디 자동입력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사용자 아이디 체계가 개편되어</a:t>
            </a:r>
            <a:r>
              <a:rPr lang="en-US" altLang="ko-KR" dirty="0" smtClean="0">
                <a:solidFill>
                  <a:srgbClr val="FF0000"/>
                </a:solidFill>
              </a:rPr>
              <a:t>, 1</a:t>
            </a:r>
            <a:r>
              <a:rPr lang="ko-KR" altLang="en-US" dirty="0" smtClean="0">
                <a:solidFill>
                  <a:srgbClr val="FF0000"/>
                </a:solidFill>
              </a:rPr>
              <a:t>사용자당 </a:t>
            </a:r>
            <a:r>
              <a:rPr lang="en-US" altLang="ko-KR" dirty="0" smtClean="0">
                <a:solidFill>
                  <a:srgbClr val="FF0000"/>
                </a:solidFill>
              </a:rPr>
              <a:t>1</a:t>
            </a:r>
            <a:r>
              <a:rPr lang="ko-KR" altLang="en-US" dirty="0" smtClean="0">
                <a:solidFill>
                  <a:srgbClr val="FF0000"/>
                </a:solidFill>
              </a:rPr>
              <a:t>개의 통합 아이디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여러 개의 기존 아이디가 존재함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strike="sngStrike" dirty="0" smtClean="0"/>
              <a:t>- as-is</a:t>
            </a:r>
            <a:r>
              <a:rPr lang="ko-KR" altLang="en-US" strike="sngStrike" dirty="0" smtClean="0"/>
              <a:t>에서는 업체별로 사용자가 사용할 아이디를 계속 추가하는 </a:t>
            </a:r>
            <a:r>
              <a:rPr lang="ko-KR" altLang="en-US" strike="sngStrike" dirty="0" err="1" smtClean="0"/>
              <a:t>방식이었음</a:t>
            </a:r>
            <a:r>
              <a:rPr lang="en-US" altLang="ko-KR" strike="sngStrike" dirty="0" smtClean="0"/>
              <a:t>.</a:t>
            </a:r>
            <a:br>
              <a:rPr lang="en-US" altLang="ko-KR" strike="sngStrike" dirty="0" smtClean="0"/>
            </a:br>
            <a:r>
              <a:rPr lang="en-US" altLang="ko-KR" strike="sngStrike" dirty="0" smtClean="0"/>
              <a:t>- </a:t>
            </a:r>
            <a:r>
              <a:rPr lang="ko-KR" altLang="en-US" strike="sngStrike" dirty="0" smtClean="0"/>
              <a:t>현재 화면에 사용자 구분</a:t>
            </a:r>
            <a:r>
              <a:rPr lang="en-US" altLang="ko-KR" strike="sngStrike" dirty="0" smtClean="0"/>
              <a:t>, </a:t>
            </a:r>
            <a:r>
              <a:rPr lang="ko-KR" altLang="en-US" strike="sngStrike" dirty="0" smtClean="0"/>
              <a:t>사업자 아이디가 무의미해지고</a:t>
            </a:r>
            <a:r>
              <a:rPr lang="en-US" altLang="ko-KR" strike="sngStrike" dirty="0" smtClean="0"/>
              <a:t>, </a:t>
            </a:r>
            <a:r>
              <a:rPr lang="ko-KR" altLang="en-US" strike="sngStrike" dirty="0" smtClean="0"/>
              <a:t>화면이 일부 변경될 수 있음</a:t>
            </a:r>
            <a:r>
              <a:rPr lang="en-US" altLang="ko-KR" strike="sngStrike" dirty="0" smtClean="0"/>
              <a:t>.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입력된 통합 </a:t>
            </a:r>
            <a:r>
              <a:rPr lang="en-US" altLang="ko-KR" dirty="0" smtClean="0">
                <a:solidFill>
                  <a:srgbClr val="FF0000"/>
                </a:solidFill>
              </a:rPr>
              <a:t>ID, </a:t>
            </a:r>
            <a:r>
              <a:rPr lang="ko-KR" altLang="en-US" dirty="0" smtClean="0">
                <a:solidFill>
                  <a:srgbClr val="FF0000"/>
                </a:solidFill>
              </a:rPr>
              <a:t>기존 </a:t>
            </a:r>
            <a:r>
              <a:rPr lang="en-US" altLang="ko-KR" dirty="0" smtClean="0">
                <a:solidFill>
                  <a:srgbClr val="FF0000"/>
                </a:solidFill>
              </a:rPr>
              <a:t>ID</a:t>
            </a:r>
            <a:r>
              <a:rPr lang="ko-KR" altLang="en-US" dirty="0" smtClean="0">
                <a:solidFill>
                  <a:srgbClr val="FF0000"/>
                </a:solidFill>
              </a:rPr>
              <a:t>에 해당하는 비밀번호 변경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endParaRPr lang="en-US" altLang="ko-KR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PW</a:t>
            </a:r>
            <a:r>
              <a:rPr lang="ko-KR" altLang="en-US" dirty="0" err="1" smtClean="0"/>
              <a:t>찾기결과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MUI-CM-03-M08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PW</a:t>
            </a:r>
            <a:r>
              <a:rPr lang="ko-KR" altLang="en-US" dirty="0"/>
              <a:t>등록정보로찾기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PW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49367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구분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회원가입시</a:t>
            </a:r>
            <a:r>
              <a:rPr lang="ko-KR" altLang="en-US" sz="700" dirty="0">
                <a:latin typeface="+mn-ea"/>
              </a:rPr>
              <a:t> 등록한 정보를 정확히 입력해주세요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4" name="그룹 63"/>
          <p:cNvGrpSpPr/>
          <p:nvPr/>
        </p:nvGrpSpPr>
        <p:grpSpPr>
          <a:xfrm>
            <a:off x="903581" y="2640810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조달업체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327879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abcdef99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8894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아이디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5898062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비밀번호 찾기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73884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 smtClean="0">
                <a:latin typeface="+mn-ea"/>
              </a:rPr>
              <a:t>등록정보로</a:t>
            </a:r>
            <a:r>
              <a:rPr lang="ko-KR" altLang="en-US" sz="900" b="1" dirty="0" smtClean="0">
                <a:latin typeface="+mn-ea"/>
              </a:rPr>
              <a:t> 비밀번호 </a:t>
            </a:r>
            <a:r>
              <a:rPr lang="ko-KR" altLang="en-US" sz="900" b="1" dirty="0">
                <a:latin typeface="+mn-ea"/>
              </a:rPr>
              <a:t>찾기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5653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사업자등록번호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903581" y="4003671"/>
            <a:ext cx="2255663" cy="306146"/>
            <a:chOff x="3982951" y="3679873"/>
            <a:chExt cx="2255663" cy="306146"/>
          </a:xfrm>
        </p:grpSpPr>
        <p:sp>
          <p:nvSpPr>
            <p:cNvPr id="85" name="모서리가 둥근 직사각형 8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공백없이 입력해주세요</a:t>
              </a:r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903581" y="4690740"/>
            <a:ext cx="2255663" cy="306146"/>
            <a:chOff x="3982951" y="3679873"/>
            <a:chExt cx="2255663" cy="306146"/>
          </a:xfrm>
        </p:grpSpPr>
        <p:sp>
          <p:nvSpPr>
            <p:cNvPr id="88" name="모서리가 둥근 직사각형 8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공백없이 입력해주세요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55180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341479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03674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85653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55180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2" name="직사각형 5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8223250" y="906154"/>
            <a:ext cx="3365500" cy="634511"/>
            <a:chOff x="8223250" y="569392"/>
            <a:chExt cx="3365500" cy="634511"/>
          </a:xfrm>
        </p:grpSpPr>
        <p:sp>
          <p:nvSpPr>
            <p:cNvPr id="49" name="직사각형 4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정책이 정해지면 화면 변경이 필요함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9112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56" name="그룹 55"/>
          <p:cNvGrpSpPr/>
          <p:nvPr/>
        </p:nvGrpSpPr>
        <p:grpSpPr>
          <a:xfrm>
            <a:off x="903581" y="5361205"/>
            <a:ext cx="2255663" cy="306146"/>
            <a:chOff x="3982951" y="3679873"/>
            <a:chExt cx="2255663" cy="306146"/>
          </a:xfrm>
        </p:grpSpPr>
        <p:sp>
          <p:nvSpPr>
            <p:cNvPr id="57" name="모서리가 둥근 직사각형 5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생년월일 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6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자리를 입력해주세요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22227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사용자 주민등록번호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70721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522227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8223250" y="1148693"/>
            <a:ext cx="3365500" cy="634511"/>
            <a:chOff x="8223250" y="569392"/>
            <a:chExt cx="3365500" cy="634511"/>
          </a:xfrm>
        </p:grpSpPr>
        <p:sp>
          <p:nvSpPr>
            <p:cNvPr id="63" name="직사각형 6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화면 복구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설명 변경</a:t>
              </a:r>
              <a:endParaRPr lang="ko-KR" altLang="en-US" sz="700" dirty="0"/>
            </a:p>
          </p:txBody>
        </p:sp>
      </p:grpSp>
      <p:grpSp>
        <p:nvGrpSpPr>
          <p:cNvPr id="84" name="그룹 83"/>
          <p:cNvGrpSpPr/>
          <p:nvPr/>
        </p:nvGrpSpPr>
        <p:grpSpPr>
          <a:xfrm>
            <a:off x="8223250" y="1404674"/>
            <a:ext cx="3365500" cy="634511"/>
            <a:chOff x="8223250" y="569392"/>
            <a:chExt cx="3365500" cy="634511"/>
          </a:xfrm>
        </p:grpSpPr>
        <p:sp>
          <p:nvSpPr>
            <p:cNvPr id="96" name="직사각형 9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아이디 </a:t>
              </a:r>
              <a:r>
                <a:rPr lang="en-US" altLang="ko-KR" sz="700" dirty="0" smtClean="0"/>
                <a:t>disable</a:t>
              </a:r>
              <a:r>
                <a:rPr lang="ko-KR" altLang="en-US" sz="700" dirty="0" smtClean="0"/>
                <a:t>로 변경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필수 표시 제거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이전 화면에서 입력한 아이디 표시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325446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142" y="232628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54142" y="255287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항목 입력 후 일치하면 아이디를 확인한다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5FCD92D-2655-D6F2-574A-C004CB79A8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717" y="24451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F284BC-5254-CB73-5F71-6703F57988DF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64600-67B3-5988-06BA-C9372916B372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24C8D3F-8A4B-6219-B502-22D57934F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238255"/>
              </p:ext>
            </p:extLst>
          </p:nvPr>
        </p:nvGraphicFramePr>
        <p:xfrm>
          <a:off x="454850" y="1104443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CD2842F3-6D38-6940-E1ED-871F45020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3693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 smtClean="0"/>
              <a:t>성공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사용자 비밀번호를 변경할 수 있음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실패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PW</a:t>
            </a:r>
            <a:r>
              <a:rPr lang="ko-KR" altLang="en-US" dirty="0" err="1"/>
              <a:t>찾기결과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 결과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PW </a:t>
            </a:r>
            <a:r>
              <a:rPr lang="ko-KR" altLang="en-US" dirty="0">
                <a:latin typeface="+mn-ea"/>
              </a:rPr>
              <a:t>찾기 결과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39215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비밀번호를 새롭게 변경해주세요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4188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77252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비밀번호 변경하기</a:t>
              </a:r>
            </a:p>
          </p:txBody>
        </p:sp>
      </p:grpSp>
      <p:sp>
        <p:nvSpPr>
          <p:cNvPr id="71" name="타원 70"/>
          <p:cNvSpPr/>
          <p:nvPr/>
        </p:nvSpPr>
        <p:spPr>
          <a:xfrm>
            <a:off x="1848359" y="1941981"/>
            <a:ext cx="366106" cy="36610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사용자를 확인할 수 없습니다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가입된 회원정보가 없습니다</a:t>
            </a:r>
            <a:r>
              <a:rPr lang="en-US" altLang="ko-KR" sz="800" dirty="0">
                <a:latin typeface="+mn-ea"/>
              </a:rPr>
              <a:t>.</a:t>
            </a: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9606" y="5580951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9" name="그룹 88"/>
          <p:cNvGrpSpPr/>
          <p:nvPr/>
        </p:nvGrpSpPr>
        <p:grpSpPr>
          <a:xfrm>
            <a:off x="4023916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사용자 등록 안내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7" name="그룹 46"/>
          <p:cNvGrpSpPr/>
          <p:nvPr/>
        </p:nvGrpSpPr>
        <p:grpSpPr>
          <a:xfrm>
            <a:off x="903581" y="3502504"/>
            <a:ext cx="2255663" cy="306146"/>
            <a:chOff x="3982951" y="3679873"/>
            <a:chExt cx="2255663" cy="306146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입력해주세요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635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6356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903581" y="4134175"/>
            <a:ext cx="2255663" cy="306146"/>
            <a:chOff x="3982951" y="3679873"/>
            <a:chExt cx="2255663" cy="306146"/>
          </a:xfrm>
        </p:grpSpPr>
        <p:sp>
          <p:nvSpPr>
            <p:cNvPr id="58" name="모서리가 둥근 직사각형 5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한번 더 입력해주세요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99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 확인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8018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99524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71765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grpSp>
        <p:nvGrpSpPr>
          <p:cNvPr id="93" name="그룹 92"/>
          <p:cNvGrpSpPr/>
          <p:nvPr/>
        </p:nvGrpSpPr>
        <p:grpSpPr>
          <a:xfrm>
            <a:off x="903581" y="2864788"/>
            <a:ext cx="2255663" cy="306146"/>
            <a:chOff x="3982951" y="3679873"/>
            <a:chExt cx="2255663" cy="306146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abcdef99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705041" y="4757244"/>
            <a:ext cx="2652743" cy="769170"/>
            <a:chOff x="734683" y="4769160"/>
            <a:chExt cx="2652743" cy="769170"/>
          </a:xfrm>
        </p:grpSpPr>
        <p:sp>
          <p:nvSpPr>
            <p:cNvPr id="98" name="모서리가 둥근 직사각형 97"/>
            <p:cNvSpPr/>
            <p:nvPr/>
          </p:nvSpPr>
          <p:spPr>
            <a:xfrm>
              <a:off x="734683" y="4769160"/>
              <a:ext cx="2652743" cy="769170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53860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비밀번호는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9~16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자 숫자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영문 소문자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특수문자 조합으로 입력하세요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입력 불가한 특수문자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: `~&amp;()_{}[]|\:;"',.&amp;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lt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gt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;?/</a:t>
              </a:r>
            </a:p>
          </p:txBody>
        </p:sp>
        <p:sp>
          <p:nvSpPr>
            <p:cNvPr id="100" name="타원 99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연결선 1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05943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52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850" y="243854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64431" y="266513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변경 후 팝업창을 닫는다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2006" y="25464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0AF6C9-C709-F6C4-EBB7-941260BA2671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40078-1B99-5D65-4402-EA876D5A9371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33C64EE-8936-FE7A-54C5-A4C0C59C2C5D}"/>
              </a:ext>
            </a:extLst>
          </p:cNvPr>
          <p:cNvGraphicFramePr>
            <a:graphicFrameLocks noGrp="1"/>
          </p:cNvGraphicFramePr>
          <p:nvPr/>
        </p:nvGraphicFramePr>
        <p:xfrm>
          <a:off x="454850" y="110444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180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newUserEnpswdIdnty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FDDEEA3E-F413-E306-6738-F0835981E5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310500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등록 안내 내용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모바일 사용자 등록 기능 없음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모바일에서 지원하지 않음을 추가 표시함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사용자등록안내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 등록 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 등록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 등록 안내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>
                <a:latin typeface="+mn-ea"/>
              </a:rPr>
              <a:t>조달업체</a:t>
            </a:r>
            <a:r>
              <a:rPr lang="ko-KR" altLang="en-US" sz="900" b="1" dirty="0">
                <a:latin typeface="+mn-ea"/>
              </a:rPr>
              <a:t> 사용자 등록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731251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96324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 입찰 참여 및 기타 업무를 처리하고자 하는 모든 업체는 공인인증기관에서 </a:t>
            </a:r>
            <a:r>
              <a:rPr lang="en-US" altLang="ko-KR" sz="700" dirty="0">
                <a:latin typeface="+mn-ea"/>
              </a:rPr>
              <a:t>[</a:t>
            </a:r>
            <a:r>
              <a:rPr lang="ko-KR" altLang="en-US" sz="700" dirty="0">
                <a:latin typeface="+mn-ea"/>
              </a:rPr>
              <a:t>공인인증서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를 발급받은 후 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나라장터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조달청 </a:t>
            </a:r>
            <a:r>
              <a:rPr lang="en-US" altLang="ko-KR" sz="700" dirty="0">
                <a:latin typeface="+mn-ea"/>
              </a:rPr>
              <a:t>G2B)</a:t>
            </a:r>
            <a:r>
              <a:rPr lang="ko-KR" altLang="en-US" sz="700" dirty="0">
                <a:latin typeface="+mn-ea"/>
              </a:rPr>
              <a:t>에 </a:t>
            </a:r>
            <a:r>
              <a:rPr lang="ko-KR" altLang="en-US" sz="700" dirty="0" err="1">
                <a:latin typeface="+mn-ea"/>
              </a:rPr>
              <a:t>업체등록을</a:t>
            </a:r>
            <a:r>
              <a:rPr lang="ko-KR" altLang="en-US" sz="700" dirty="0">
                <a:latin typeface="+mn-ea"/>
              </a:rPr>
              <a:t> 한 다음 국방전자조달에서 사용자 등록을 하여야 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5C7585BD-E4E5-B25B-BCA1-A3526AA5E5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131" b="12877"/>
          <a:stretch/>
        </p:blipFill>
        <p:spPr>
          <a:xfrm>
            <a:off x="3433859" y="2144043"/>
            <a:ext cx="3618456" cy="234589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32379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조달업체</a:t>
            </a:r>
            <a:r>
              <a:rPr lang="ko-KR" altLang="en-US" sz="800" dirty="0">
                <a:latin typeface="+mn-ea"/>
              </a:rPr>
              <a:t> 사용자 등록하기 전 안내사항을 꼭 확인하신 후 등록하여 주시기 바랍니다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13264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나라장터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조달청</a:t>
            </a:r>
            <a:r>
              <a:rPr lang="en-US" altLang="ko-KR" sz="700" dirty="0">
                <a:latin typeface="+mn-ea"/>
              </a:rPr>
              <a:t>G2B)</a:t>
            </a:r>
            <a:r>
              <a:rPr lang="ko-KR" altLang="en-US" sz="700" dirty="0">
                <a:latin typeface="+mn-ea"/>
              </a:rPr>
              <a:t>에서 </a:t>
            </a:r>
            <a:r>
              <a:rPr lang="ko-KR" altLang="en-US" sz="700" dirty="0" err="1">
                <a:latin typeface="+mn-ea"/>
              </a:rPr>
              <a:t>업체등록을</a:t>
            </a:r>
            <a:r>
              <a:rPr lang="ko-KR" altLang="en-US" sz="700" dirty="0">
                <a:latin typeface="+mn-ea"/>
              </a:rPr>
              <a:t> 하고 승인을 받으신 후 </a:t>
            </a:r>
            <a:r>
              <a:rPr lang="en-US" altLang="ko-KR" sz="700" dirty="0">
                <a:latin typeface="+mn-ea"/>
              </a:rPr>
              <a:t>1</a:t>
            </a:r>
            <a:r>
              <a:rPr lang="ko-KR" altLang="en-US" sz="700" dirty="0">
                <a:latin typeface="+mn-ea"/>
              </a:rPr>
              <a:t>일이 경과하여야 국방전자조달에서 사용자 등록을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-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업체 등록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사용자 등록은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PC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버전에서 가능하며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모바일에서는 지원하지 않습니다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81134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등록대상자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977559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나라장터에서 업체 등록과 공인인증서를 발급 받은 업체로 전자입찰 참여 및 기타 업무를 처리하고자 하는 업체 사용자</a:t>
            </a:r>
            <a:endParaRPr lang="en-US" altLang="ko-KR" sz="700" dirty="0">
              <a:latin typeface="+mn-ea"/>
            </a:endParaRPr>
          </a:p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업체 사용자 유형 </a:t>
            </a:r>
            <a:r>
              <a:rPr lang="en-US" altLang="ko-KR" sz="700" dirty="0">
                <a:latin typeface="+mn-ea"/>
              </a:rPr>
              <a:t>: </a:t>
            </a:r>
            <a:r>
              <a:rPr lang="ko-KR" altLang="en-US" sz="700" dirty="0" err="1">
                <a:latin typeface="+mn-ea"/>
              </a:rPr>
              <a:t>업체대표자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업체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595887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67598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등록방법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842194"/>
            <a:ext cx="2305144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최초 등록 사용자는 업체대표자로 등록되며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일반사용자는 </a:t>
            </a:r>
            <a:r>
              <a:rPr lang="ko-KR" altLang="en-US" sz="700" dirty="0" err="1">
                <a:latin typeface="+mn-ea"/>
              </a:rPr>
              <a:t>업체대표자</a:t>
            </a:r>
            <a:r>
              <a:rPr lang="ko-KR" altLang="en-US" sz="700" dirty="0">
                <a:latin typeface="+mn-ea"/>
              </a:rPr>
              <a:t> 등록 완료 후 사용자 등록이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700" dirty="0" err="1">
                <a:latin typeface="+mn-ea"/>
              </a:rPr>
              <a:t>업체대표자</a:t>
            </a:r>
            <a:r>
              <a:rPr lang="ko-KR" altLang="en-US" sz="700" dirty="0">
                <a:latin typeface="+mn-ea"/>
              </a:rPr>
              <a:t> 외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일반사용자는 업체대표자의 승인 후 </a:t>
            </a:r>
            <a:r>
              <a:rPr lang="ko-KR" altLang="en-US" sz="700" dirty="0" err="1">
                <a:latin typeface="+mn-ea"/>
              </a:rPr>
              <a:t>로그인이</a:t>
            </a:r>
            <a:r>
              <a:rPr lang="ko-KR" altLang="en-US" sz="700" dirty="0">
                <a:latin typeface="+mn-ea"/>
              </a:rPr>
              <a:t>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입찰대리인은 먼저 나라장터에 등록하여야 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익일 국방전자조달에 </a:t>
            </a:r>
            <a:r>
              <a:rPr lang="ko-KR" altLang="en-US" sz="700" dirty="0" err="1">
                <a:latin typeface="+mn-ea"/>
              </a:rPr>
              <a:t>해당정보가</a:t>
            </a:r>
            <a:r>
              <a:rPr lang="ko-KR" altLang="en-US" sz="700" dirty="0">
                <a:latin typeface="+mn-ea"/>
              </a:rPr>
              <a:t> 연계된 후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사용자등록이 가능합니다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772388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850262"/>
            <a:ext cx="2305144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* </a:t>
            </a:r>
            <a:r>
              <a:rPr lang="ko-KR" altLang="en-US" sz="700" dirty="0" err="1">
                <a:latin typeface="+mn-ea"/>
              </a:rPr>
              <a:t>조달업체</a:t>
            </a:r>
            <a:r>
              <a:rPr lang="ko-KR" altLang="en-US" sz="700" dirty="0">
                <a:latin typeface="+mn-ea"/>
              </a:rPr>
              <a:t> 대표사용자는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일반사용자의 승인 및 </a:t>
            </a:r>
            <a:r>
              <a:rPr lang="ko-KR" altLang="en-US" sz="700" dirty="0" err="1">
                <a:latin typeface="+mn-ea"/>
              </a:rPr>
              <a:t>사용중단</a:t>
            </a:r>
            <a:r>
              <a:rPr lang="ko-KR" altLang="en-US" sz="700" dirty="0">
                <a:latin typeface="+mn-ea"/>
              </a:rPr>
              <a:t> 관리 권한이 부여 됨으로 관리자급에서 등록을 하시기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6213639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입찰서 제출은 업체대표자와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예외처리자만 가능합니다</a:t>
            </a:r>
            <a:r>
              <a:rPr lang="en-US" altLang="ko-KR" sz="700" dirty="0">
                <a:latin typeface="+mn-ea"/>
              </a:rPr>
              <a:t>. (</a:t>
            </a:r>
            <a:r>
              <a:rPr lang="ko-KR" altLang="en-US" sz="700" dirty="0">
                <a:latin typeface="+mn-ea"/>
              </a:rPr>
              <a:t>외국인대표자 제외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491698" y="176833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PC</a:t>
            </a:r>
            <a:r>
              <a:rPr lang="ko-KR" altLang="en-US" sz="800" dirty="0">
                <a:latin typeface="+mn-ea"/>
              </a:rPr>
              <a:t>버전 콘텐츠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2527367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타원 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76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3719498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</a:t>
            </a:r>
            <a:r>
              <a:rPr lang="ko-KR" altLang="en-US" dirty="0" smtClean="0"/>
              <a:t>따름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Any-ID</a:t>
            </a:r>
            <a:r>
              <a:rPr lang="ko-KR" altLang="en-US" dirty="0" smtClean="0">
                <a:solidFill>
                  <a:srgbClr val="FF0000"/>
                </a:solidFill>
              </a:rPr>
              <a:t>에서 제공하는 화면을 사용함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간편인증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간편인증</a:t>
            </a:r>
            <a:r>
              <a:rPr lang="ko-KR" altLang="en-US" dirty="0"/>
              <a:t> 선택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간편인증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MUI-CM-03-P10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간편인증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75628" y="3518717"/>
            <a:ext cx="1190153" cy="533671"/>
            <a:chOff x="808931" y="3518717"/>
            <a:chExt cx="1190153" cy="533671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국민인증서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통신사</a:t>
              </a:r>
              <a:r>
                <a:rPr lang="en-US" altLang="ko-KR" sz="600" dirty="0">
                  <a:latin typeface="+mn-ea"/>
                </a:rPr>
                <a:t>PASS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105953" y="3518717"/>
            <a:ext cx="1190153" cy="533671"/>
            <a:chOff x="808931" y="3518717"/>
            <a:chExt cx="1190153" cy="533671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토스</a:t>
              </a:r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카카오뱅크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775628" y="4290048"/>
            <a:ext cx="1190153" cy="533671"/>
            <a:chOff x="808931" y="3518717"/>
            <a:chExt cx="1190153" cy="533671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네이버</a:t>
              </a: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하나인증서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2105953" y="4290048"/>
            <a:ext cx="1190153" cy="533671"/>
            <a:chOff x="808931" y="3518717"/>
            <a:chExt cx="1190153" cy="533671"/>
          </a:xfrm>
        </p:grpSpPr>
        <p:sp>
          <p:nvSpPr>
            <p:cNvPr id="60" name="모서리가 둥근 직사각형 59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뱅크샐러드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2" name="모서리가 둥근 직사각형 61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우리인증서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64" name="그룹 63"/>
          <p:cNvGrpSpPr/>
          <p:nvPr/>
        </p:nvGrpSpPr>
        <p:grpSpPr>
          <a:xfrm>
            <a:off x="775628" y="5061379"/>
            <a:ext cx="1190153" cy="533671"/>
            <a:chOff x="808931" y="3518717"/>
            <a:chExt cx="1190153" cy="533671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신한인증서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NH</a:t>
              </a:r>
              <a:r>
                <a:rPr lang="ko-KR" altLang="en-US" sz="600" dirty="0">
                  <a:latin typeface="+mn-ea"/>
                </a:rPr>
                <a:t>인증서</a:t>
              </a:r>
            </a:p>
          </p:txBody>
        </p:sp>
      </p:grpSp>
      <p:grpSp>
        <p:nvGrpSpPr>
          <p:cNvPr id="69" name="그룹 68"/>
          <p:cNvGrpSpPr/>
          <p:nvPr/>
        </p:nvGrpSpPr>
        <p:grpSpPr>
          <a:xfrm>
            <a:off x="2105953" y="5061379"/>
            <a:ext cx="530538" cy="533671"/>
            <a:chOff x="808931" y="3518717"/>
            <a:chExt cx="530538" cy="533671"/>
          </a:xfrm>
        </p:grpSpPr>
        <p:sp>
          <p:nvSpPr>
            <p:cNvPr id="70" name="모서리가 둥근 직사각형 69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카카오톡</a:t>
              </a:r>
              <a:endParaRPr lang="ko-KR" altLang="en-US" sz="6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71729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</a:t>
            </a:r>
            <a:r>
              <a:rPr lang="ko-KR" altLang="en-US" dirty="0" smtClean="0"/>
              <a:t>따름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en-US" altLang="ko-KR" dirty="0">
                <a:solidFill>
                  <a:srgbClr val="FF0000"/>
                </a:solidFill>
              </a:rPr>
              <a:t>Any-ID</a:t>
            </a:r>
            <a:r>
              <a:rPr lang="ko-KR" altLang="en-US" dirty="0">
                <a:solidFill>
                  <a:srgbClr val="FF0000"/>
                </a:solidFill>
              </a:rPr>
              <a:t>에서 제공하는 화면을 사용함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금융인증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금융인증서</a:t>
            </a:r>
            <a:r>
              <a:rPr lang="ko-KR" altLang="en-US" dirty="0">
                <a:latin typeface="+mn-ea"/>
              </a:rPr>
              <a:t> 솔루션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 smtClean="0">
                <a:latin typeface="+mn-ea"/>
              </a:rPr>
              <a:t>금융인증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MUI-CM-03-P11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금융인증서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금융인증서를 이용하기 위해 </a:t>
            </a:r>
            <a:r>
              <a:rPr lang="ko-KR" altLang="en-US" sz="900" b="1" dirty="0" err="1">
                <a:latin typeface="+mn-ea"/>
              </a:rPr>
              <a:t>클라우드</a:t>
            </a:r>
            <a:endParaRPr lang="en-US" altLang="ko-KR" sz="900" b="1" dirty="0">
              <a:latin typeface="+mn-ea"/>
            </a:endParaRPr>
          </a:p>
          <a:p>
            <a:pPr algn="ctr"/>
            <a:r>
              <a:rPr lang="ko-KR" altLang="en-US" sz="900" b="1" dirty="0">
                <a:latin typeface="+mn-ea"/>
              </a:rPr>
              <a:t>저장소에 연결합니다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841401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2940613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</a:t>
            </a:r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홍길동</a:t>
            </a:r>
          </a:p>
        </p:txBody>
      </p:sp>
      <p:sp>
        <p:nvSpPr>
          <p:cNvPr id="69" name="모서리가 둥근 직사각형 68"/>
          <p:cNvSpPr/>
          <p:nvPr/>
        </p:nvSpPr>
        <p:spPr>
          <a:xfrm>
            <a:off x="903581" y="3228342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3327554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010-1234-5678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4152648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휴대폰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문자인증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940613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327554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휴대폰번호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903581" y="361263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3711846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1900/01/31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711846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생년월일</a:t>
            </a:r>
          </a:p>
        </p:txBody>
      </p:sp>
    </p:spTree>
    <p:extLst>
      <p:ext uri="{BB962C8B-B14F-4D97-AF65-F5344CB8AC3E}">
        <p14:creationId xmlns:p14="http://schemas.microsoft.com/office/powerpoint/2010/main" val="26189626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</a:t>
            </a:r>
            <a:r>
              <a:rPr lang="ko-KR" altLang="en-US" dirty="0" smtClean="0"/>
              <a:t>따름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>
                <a:solidFill>
                  <a:srgbClr val="FF0000"/>
                </a:solidFill>
              </a:rPr>
              <a:t>- Any-ID</a:t>
            </a:r>
            <a:r>
              <a:rPr lang="ko-KR" altLang="en-US" dirty="0">
                <a:solidFill>
                  <a:srgbClr val="FF0000"/>
                </a:solidFill>
              </a:rPr>
              <a:t>에서 제공하는 화면을 사용함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인증서 활용 화면은 가이드라인 추가 확인이 필요함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유무에 따라 표출 화면이 달라짐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공동인증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공동인증</a:t>
            </a:r>
            <a:r>
              <a:rPr lang="ko-KR" altLang="en-US" dirty="0"/>
              <a:t> 솔루션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공동인증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MUI-CM-03-P12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공동인증서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95730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 err="1">
                <a:latin typeface="+mn-ea"/>
              </a:rPr>
              <a:t>공동인증서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903580" y="4358983"/>
            <a:ext cx="2255663" cy="306146"/>
            <a:chOff x="3982951" y="3679873"/>
            <a:chExt cx="2255663" cy="306146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인증서 가져오기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276685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인증서가 없습니다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22628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</a:t>
            </a:r>
            <a:r>
              <a:rPr lang="ko-KR" altLang="en-US" dirty="0" smtClean="0"/>
              <a:t>따름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>
                <a:solidFill>
                  <a:srgbClr val="FF0000"/>
                </a:solidFill>
              </a:rPr>
              <a:t>- Any-ID</a:t>
            </a:r>
            <a:r>
              <a:rPr lang="ko-KR" altLang="en-US" dirty="0">
                <a:solidFill>
                  <a:srgbClr val="FF0000"/>
                </a:solidFill>
              </a:rPr>
              <a:t>에서 제공하는 화면을 사용함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정책에 따라 현재 화면이 노출되지 않고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정부 모바일 신분증 앱</a:t>
            </a:r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err="1" smtClean="0">
                <a:solidFill>
                  <a:srgbClr val="FF0000"/>
                </a:solidFill>
              </a:rPr>
              <a:t>정부앱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r>
              <a:rPr lang="ko-KR" altLang="en-US" dirty="0" smtClean="0">
                <a:solidFill>
                  <a:srgbClr val="FF0000"/>
                </a:solidFill>
              </a:rPr>
              <a:t>을 바로 호출할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모바일신분증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신분증</a:t>
            </a:r>
            <a:r>
              <a:rPr lang="ko-KR" altLang="en-US" dirty="0"/>
              <a:t> 선택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모바일 신분증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모바일 신분증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75628" y="3518717"/>
            <a:ext cx="1190153" cy="533671"/>
            <a:chOff x="808931" y="3518717"/>
            <a:chExt cx="1190153" cy="533671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카카오뱅크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토스</a:t>
              </a: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105953" y="3518717"/>
            <a:ext cx="1190153" cy="533671"/>
            <a:chOff x="808931" y="3518717"/>
            <a:chExt cx="1190153" cy="533671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정부앱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네이버</a:t>
              </a: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775628" y="4290048"/>
            <a:ext cx="1190153" cy="533671"/>
            <a:chOff x="808931" y="3518717"/>
            <a:chExt cx="1190153" cy="533671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NH</a:t>
              </a:r>
              <a:r>
                <a:rPr lang="ko-KR" altLang="en-US" sz="600" dirty="0" err="1">
                  <a:latin typeface="+mn-ea"/>
                </a:rPr>
                <a:t>올원뱅크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KB</a:t>
              </a:r>
              <a:r>
                <a:rPr lang="ko-KR" altLang="en-US" sz="600" dirty="0" err="1">
                  <a:latin typeface="+mn-ea"/>
                </a:rPr>
                <a:t>스타뱅크</a:t>
              </a:r>
              <a:endParaRPr lang="ko-KR" altLang="en-US" sz="600" dirty="0">
                <a:latin typeface="+mn-ea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6430" y="5502717"/>
            <a:ext cx="2378875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latin typeface="+mn-ea"/>
              </a:rPr>
              <a:t>※ </a:t>
            </a:r>
            <a:r>
              <a:rPr lang="ko-KR" altLang="en-US" sz="600" dirty="0">
                <a:latin typeface="+mn-ea"/>
              </a:rPr>
              <a:t>모바일 신분증을 발급받을 앱을 선택해주세요</a:t>
            </a:r>
            <a:r>
              <a:rPr lang="en-US" altLang="ko-KR" sz="600" dirty="0">
                <a:latin typeface="+mn-ea"/>
              </a:rPr>
              <a:t>.</a:t>
            </a:r>
            <a:endParaRPr lang="ko-KR" altLang="en-US" sz="600" dirty="0">
              <a:latin typeface="+mn-ea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58693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6430" y="5978328"/>
            <a:ext cx="2378875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600" dirty="0">
                <a:latin typeface="+mn-ea"/>
              </a:rPr>
              <a:t>사용 가이드</a:t>
            </a:r>
          </a:p>
        </p:txBody>
      </p:sp>
      <p:sp>
        <p:nvSpPr>
          <p:cNvPr id="73" name="타원 72"/>
          <p:cNvSpPr/>
          <p:nvPr/>
        </p:nvSpPr>
        <p:spPr>
          <a:xfrm>
            <a:off x="2542510" y="593051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25258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진입 전 등록된 </a:t>
            </a:r>
            <a:r>
              <a:rPr lang="ko-KR" altLang="en-US" dirty="0" err="1"/>
              <a:t>생체인증이</a:t>
            </a:r>
            <a:r>
              <a:rPr lang="ko-KR" altLang="en-US" dirty="0"/>
              <a:t> 있는 경우 </a:t>
            </a:r>
            <a:r>
              <a:rPr lang="ko-KR" altLang="en-US" dirty="0" err="1"/>
              <a:t>생체인증</a:t>
            </a:r>
            <a:r>
              <a:rPr lang="ko-KR" altLang="en-US" dirty="0"/>
              <a:t> </a:t>
            </a:r>
            <a:r>
              <a:rPr lang="ko-KR" altLang="en-US" dirty="0" err="1"/>
              <a:t>로그인을</a:t>
            </a:r>
            <a:r>
              <a:rPr lang="ko-KR" altLang="en-US" dirty="0"/>
              <a:t> 진행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성공 시 즉시 로그인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생체인증</a:t>
            </a:r>
            <a:r>
              <a:rPr lang="ko-KR" altLang="en-US" dirty="0"/>
              <a:t> </a:t>
            </a:r>
            <a:r>
              <a:rPr lang="ko-KR" altLang="en-US" dirty="0" err="1"/>
              <a:t>대기화면은</a:t>
            </a:r>
            <a:r>
              <a:rPr lang="ko-KR" altLang="en-US" dirty="0"/>
              <a:t> 시스템에 따름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등록 하기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등록 페이지 이동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취소 버튼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이전 로그인 선택 화면 이동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869" y="58533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0901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 smtClean="0">
                <a:latin typeface="+mn-ea"/>
              </a:rPr>
              <a:t>생체인증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6" name="그룹 55"/>
          <p:cNvGrpSpPr/>
          <p:nvPr/>
        </p:nvGrpSpPr>
        <p:grpSpPr>
          <a:xfrm rot="5400000">
            <a:off x="749842" y="1640499"/>
            <a:ext cx="94010" cy="47005"/>
            <a:chOff x="6812560" y="3297172"/>
            <a:chExt cx="94010" cy="47005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타원 58"/>
          <p:cNvSpPr/>
          <p:nvPr/>
        </p:nvSpPr>
        <p:spPr>
          <a:xfrm>
            <a:off x="3039366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900" b="1" dirty="0">
                <a:latin typeface="+mn-ea"/>
              </a:rPr>
              <a:t>편리한 </a:t>
            </a:r>
            <a:r>
              <a:rPr lang="ko-KR" altLang="en-US" sz="900" b="1" dirty="0" err="1">
                <a:latin typeface="+mn-ea"/>
              </a:rPr>
              <a:t>로그인을</a:t>
            </a:r>
            <a:r>
              <a:rPr lang="ko-KR" altLang="en-US" sz="900" b="1" dirty="0">
                <a:latin typeface="+mn-ea"/>
              </a:rPr>
              <a:t> 위해</a:t>
            </a:r>
            <a:endParaRPr lang="en-US" altLang="ko-KR" sz="900" b="1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900" b="1" dirty="0">
                <a:latin typeface="+mn-ea"/>
              </a:rPr>
              <a:t>생체정보를 등록할 수 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678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1549317" y="5786374"/>
            <a:ext cx="1667454" cy="306146"/>
            <a:chOff x="3982951" y="3679873"/>
            <a:chExt cx="2255663" cy="306146"/>
          </a:xfrm>
        </p:grpSpPr>
        <p:sp>
          <p:nvSpPr>
            <p:cNvPr id="88" name="모서리가 둥근 직사각형 8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등록하기</a:t>
              </a: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846055" y="5786374"/>
            <a:ext cx="626335" cy="306146"/>
            <a:chOff x="3982951" y="3679873"/>
            <a:chExt cx="2255663" cy="306146"/>
          </a:xfrm>
        </p:grpSpPr>
        <p:sp>
          <p:nvSpPr>
            <p:cNvPr id="91" name="모서리가 둥근 직사각형 9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취소</a:t>
              </a:r>
            </a:p>
          </p:txBody>
        </p:sp>
      </p:grpSp>
      <p:grpSp>
        <p:nvGrpSpPr>
          <p:cNvPr id="93" name="그룹 92"/>
          <p:cNvGrpSpPr/>
          <p:nvPr/>
        </p:nvGrpSpPr>
        <p:grpSpPr>
          <a:xfrm>
            <a:off x="705041" y="4962893"/>
            <a:ext cx="2652743" cy="612161"/>
            <a:chOff x="734683" y="4769159"/>
            <a:chExt cx="2652743" cy="612161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734683" y="4769159"/>
              <a:ext cx="2652743" cy="612161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생체인증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로그인은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생체인증이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가능한 디바이스에서 등록 후 이용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97" name="타원 96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3154930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</a:t>
            </a:r>
            <a:r>
              <a:rPr lang="en-US" altLang="ko-KR" dirty="0"/>
              <a:t> </a:t>
            </a:r>
            <a:r>
              <a:rPr lang="ko-KR" altLang="en-US" dirty="0"/>
              <a:t>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Any-ID </a:t>
            </a:r>
            <a:r>
              <a:rPr lang="ko-KR" altLang="en-US" dirty="0"/>
              <a:t>본인 </a:t>
            </a:r>
            <a:r>
              <a:rPr lang="ko-KR" altLang="en-US" dirty="0" smtClean="0"/>
              <a:t>인증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MUI-CM-03-M03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우측에 표시된 인증방식 사용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번 항</a:t>
            </a:r>
            <a:r>
              <a:rPr lang="en-US" altLang="ko-KR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MUI-CM-03-M03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0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의 일부 항목 제거하고 사용됨</a:t>
            </a:r>
            <a:r>
              <a:rPr lang="en-US" altLang="ko-KR" sz="10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ko-KR" altLang="en-US" sz="1000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생체인증등록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등록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생체인증</a:t>
            </a:r>
            <a:r>
              <a:rPr lang="ko-KR" altLang="en-US" sz="800" dirty="0">
                <a:latin typeface="+mn-ea"/>
              </a:rPr>
              <a:t>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863" y="58289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678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3" name="그룹 52"/>
          <p:cNvGrpSpPr/>
          <p:nvPr/>
        </p:nvGrpSpPr>
        <p:grpSpPr>
          <a:xfrm>
            <a:off x="903581" y="3198842"/>
            <a:ext cx="2255663" cy="306146"/>
            <a:chOff x="3982951" y="3679873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성명을 입력해주세요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05990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성명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059907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54383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41399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6" name="모서리가 둥근 직사각형 95"/>
          <p:cNvSpPr/>
          <p:nvPr/>
        </p:nvSpPr>
        <p:spPr>
          <a:xfrm>
            <a:off x="903581" y="256112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66033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아이디를 입력해주세요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705041" y="4959509"/>
            <a:ext cx="2652743" cy="638164"/>
            <a:chOff x="734683" y="4769160"/>
            <a:chExt cx="2652743" cy="638164"/>
          </a:xfrm>
        </p:grpSpPr>
        <p:sp>
          <p:nvSpPr>
            <p:cNvPr id="99" name="모서리가 둥근 직사각형 98"/>
            <p:cNvSpPr/>
            <p:nvPr/>
          </p:nvSpPr>
          <p:spPr>
            <a:xfrm>
              <a:off x="734683" y="4769160"/>
              <a:ext cx="2652743" cy="638164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사용자 정보를 입력한 후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간편인증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또는 본인인증을 진행하면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디바이스에 저장된 생체정보를 사용할 수 있습니다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2" name="그룹 101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3" name="직선 연결선 10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419041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902878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838191" y="5786374"/>
            <a:ext cx="2386443" cy="306146"/>
            <a:chOff x="3982951" y="3679873"/>
            <a:chExt cx="2255663" cy="306146"/>
          </a:xfrm>
        </p:grpSpPr>
        <p:sp>
          <p:nvSpPr>
            <p:cNvPr id="115" name="모서리가 둥근 직사각형 11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인증하기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 smtClean="0">
                <a:latin typeface="+mn-ea"/>
              </a:rPr>
              <a:t>생체인증</a:t>
            </a:r>
            <a:r>
              <a:rPr lang="ko-KR" altLang="en-US" sz="900" b="1" dirty="0" smtClean="0">
                <a:latin typeface="+mn-ea"/>
              </a:rPr>
              <a:t> 등록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0" name="직사각형 6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인증하기로 수정함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  <p:sp>
        <p:nvSpPr>
          <p:cNvPr id="73" name="모서리가 둥근 직사각형 72"/>
          <p:cNvSpPr/>
          <p:nvPr/>
        </p:nvSpPr>
        <p:spPr>
          <a:xfrm>
            <a:off x="4117524" y="256883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266804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4117524" y="2953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053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77" name="모서리가 둥근 직사각형 76"/>
          <p:cNvSpPr/>
          <p:nvPr/>
        </p:nvSpPr>
        <p:spPr>
          <a:xfrm>
            <a:off x="4117524" y="3334888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434100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117524" y="371994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81915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4243828" y="375583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243828" y="336479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4243828" y="2992962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4243828" y="260627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0" name="그룹 89"/>
          <p:cNvGrpSpPr/>
          <p:nvPr/>
        </p:nvGrpSpPr>
        <p:grpSpPr>
          <a:xfrm rot="16200000" flipH="1">
            <a:off x="6140104" y="2698407"/>
            <a:ext cx="94010" cy="47005"/>
            <a:chOff x="6812560" y="3297172"/>
            <a:chExt cx="94010" cy="47005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 flipH="1">
            <a:off x="6140105" y="3083465"/>
            <a:ext cx="94010" cy="47005"/>
            <a:chOff x="6812560" y="3297172"/>
            <a:chExt cx="94010" cy="47005"/>
          </a:xfrm>
        </p:grpSpPr>
        <p:cxnSp>
          <p:nvCxnSpPr>
            <p:cNvPr id="105" name="직선 연결선 10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0" name="그룹 109"/>
          <p:cNvGrpSpPr/>
          <p:nvPr/>
        </p:nvGrpSpPr>
        <p:grpSpPr>
          <a:xfrm rot="16200000" flipH="1">
            <a:off x="6140105" y="3464459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직선 연결선 1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8" name="그룹 117"/>
          <p:cNvGrpSpPr/>
          <p:nvPr/>
        </p:nvGrpSpPr>
        <p:grpSpPr>
          <a:xfrm rot="16200000" flipH="1">
            <a:off x="6140106" y="3849517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889341" y="23495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6626601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본인 </a:t>
            </a:r>
            <a:r>
              <a:rPr lang="ko-KR" altLang="en-US" dirty="0"/>
              <a:t>인증 성공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실패 메시지는 좌측 화면으로 복귀하여 토스트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“</a:t>
            </a:r>
            <a:r>
              <a:rPr lang="ko-KR" altLang="en-US" dirty="0">
                <a:sym typeface="Wingdings" panose="05000000000000000000" pitchFamily="2" charset="2"/>
              </a:rPr>
              <a:t>회원정보가 없습니다</a:t>
            </a:r>
            <a:r>
              <a:rPr lang="en-US" altLang="ko-KR" dirty="0">
                <a:sym typeface="Wingdings" panose="05000000000000000000" pitchFamily="2" charset="2"/>
              </a:rPr>
              <a:t>.” </a:t>
            </a:r>
            <a:r>
              <a:rPr lang="ko-KR" altLang="en-US" dirty="0">
                <a:sym typeface="Wingdings" panose="05000000000000000000" pitchFamily="2" charset="2"/>
              </a:rPr>
              <a:t>등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생체인증</a:t>
            </a:r>
            <a:r>
              <a:rPr lang="ko-KR" altLang="en-US" dirty="0">
                <a:sym typeface="Wingdings" panose="05000000000000000000" pitchFamily="2" charset="2"/>
              </a:rPr>
              <a:t> 로그인 버튼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생체인증</a:t>
            </a:r>
            <a:r>
              <a:rPr lang="ko-KR" altLang="en-US" dirty="0">
                <a:sym typeface="Wingdings" panose="05000000000000000000" pitchFamily="2" charset="2"/>
              </a:rPr>
              <a:t> 로그인 진행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로그인 성공 시 메인 화면 </a:t>
            </a:r>
            <a:r>
              <a:rPr lang="ko-KR" altLang="en-US" dirty="0" smtClean="0">
                <a:sym typeface="Wingdings" panose="05000000000000000000" pitchFamily="2" charset="2"/>
              </a:rPr>
              <a:t>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생체인증등록완료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등록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MUI-CM-03-M20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생체인증</a:t>
            </a:r>
            <a:r>
              <a:rPr lang="ko-KR" altLang="en-US" sz="800" dirty="0">
                <a:latin typeface="+mn-ea"/>
              </a:rPr>
              <a:t>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863" y="58289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19271" y="2419419"/>
            <a:ext cx="2624283" cy="3673101"/>
            <a:chOff x="737559" y="2419419"/>
            <a:chExt cx="2624283" cy="3673101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7128" y="3346145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900" b="1" dirty="0">
                  <a:latin typeface="+mn-ea"/>
                </a:rPr>
                <a:t>본인 인증이 완료되었습니다</a:t>
              </a:r>
              <a:r>
                <a:rPr lang="en-US" altLang="ko-KR" sz="900" b="1" dirty="0">
                  <a:latin typeface="+mn-ea"/>
                </a:rPr>
                <a:t>.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7128" y="3651557"/>
              <a:ext cx="230514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디바이스에 등록된</a:t>
              </a:r>
              <a:endParaRPr lang="en-US" altLang="ko-KR" sz="800" dirty="0">
                <a:latin typeface="+mn-ea"/>
              </a:endParaRPr>
            </a:p>
            <a:p>
              <a:pPr algn="ctr"/>
              <a:r>
                <a:rPr lang="ko-KR" altLang="en-US" sz="800" dirty="0">
                  <a:latin typeface="+mn-ea"/>
                </a:rPr>
                <a:t>모든 </a:t>
              </a:r>
              <a:r>
                <a:rPr lang="ko-KR" altLang="en-US" sz="800" dirty="0" err="1">
                  <a:latin typeface="+mn-ea"/>
                </a:rPr>
                <a:t>얼굴정보</a:t>
              </a:r>
              <a:r>
                <a:rPr lang="en-US" altLang="ko-KR" sz="800" dirty="0">
                  <a:latin typeface="+mn-ea"/>
                </a:rPr>
                <a:t>, </a:t>
              </a:r>
              <a:r>
                <a:rPr lang="ko-KR" altLang="en-US" sz="800" dirty="0">
                  <a:latin typeface="+mn-ea"/>
                </a:rPr>
                <a:t>지문정보를</a:t>
              </a:r>
              <a:r>
                <a:rPr lang="en-US" altLang="ko-KR" sz="800" dirty="0">
                  <a:latin typeface="+mn-ea"/>
                </a:rPr>
                <a:t> </a:t>
              </a:r>
              <a:r>
                <a:rPr lang="ko-KR" altLang="en-US" sz="800" dirty="0">
                  <a:latin typeface="+mn-ea"/>
                </a:rPr>
                <a:t>이용하여</a:t>
              </a:r>
              <a:endParaRPr lang="en-US" altLang="ko-KR" sz="800" dirty="0">
                <a:latin typeface="+mn-ea"/>
              </a:endParaRPr>
            </a:p>
            <a:p>
              <a:pPr algn="ctr"/>
              <a:r>
                <a:rPr lang="ko-KR" altLang="en-US" sz="800" dirty="0" err="1">
                  <a:latin typeface="+mn-ea"/>
                </a:rPr>
                <a:t>로그인을</a:t>
              </a:r>
              <a:r>
                <a:rPr lang="ko-KR" altLang="en-US" sz="800" dirty="0">
                  <a:latin typeface="+mn-ea"/>
                </a:rPr>
                <a:t> 진행합니다</a:t>
              </a:r>
              <a:r>
                <a:rPr lang="en-US" altLang="ko-KR" sz="800" dirty="0">
                  <a:latin typeface="+mn-ea"/>
                </a:rPr>
                <a:t>.</a:t>
              </a:r>
            </a:p>
          </p:txBody>
        </p:sp>
        <p:sp>
          <p:nvSpPr>
            <p:cNvPr id="126" name="타원 125"/>
            <p:cNvSpPr/>
            <p:nvPr/>
          </p:nvSpPr>
          <p:spPr>
            <a:xfrm>
              <a:off x="1720489" y="2419419"/>
              <a:ext cx="658422" cy="6584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37559" y="5667830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2" name="그룹 131"/>
            <p:cNvGrpSpPr/>
            <p:nvPr/>
          </p:nvGrpSpPr>
          <p:grpSpPr>
            <a:xfrm>
              <a:off x="861782" y="5786374"/>
              <a:ext cx="2370716" cy="306146"/>
              <a:chOff x="3982951" y="3679873"/>
              <a:chExt cx="2255663" cy="306146"/>
            </a:xfrm>
          </p:grpSpPr>
          <p:sp>
            <p:nvSpPr>
              <p:cNvPr id="133" name="모서리가 둥근 직사각형 132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59991" y="3779085"/>
                <a:ext cx="170158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b="1" dirty="0" err="1">
                    <a:solidFill>
                      <a:schemeClr val="bg1"/>
                    </a:solidFill>
                    <a:latin typeface="+mn-ea"/>
                  </a:rPr>
                  <a:t>생체인증</a:t>
                </a:r>
                <a:r>
                  <a:rPr lang="ko-KR" altLang="en-US" sz="700" b="1" dirty="0">
                    <a:solidFill>
                      <a:schemeClr val="bg1"/>
                    </a:solidFill>
                    <a:latin typeface="+mn-ea"/>
                  </a:rPr>
                  <a:t> 로그인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72668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실패한 경우 로그인 선택 화면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성공한 경우 메인 홈으로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인증성공</a:t>
            </a:r>
            <a:r>
              <a:rPr lang="en-US" altLang="ko-KR" dirty="0"/>
              <a:t>/</a:t>
            </a:r>
            <a:r>
              <a:rPr lang="ko-KR" altLang="en-US" dirty="0" err="1"/>
              <a:t>실패안내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 성공 </a:t>
            </a:r>
            <a:r>
              <a:rPr lang="en-US" altLang="ko-KR" dirty="0">
                <a:latin typeface="+mn-ea"/>
              </a:rPr>
              <a:t>/ </a:t>
            </a:r>
            <a:r>
              <a:rPr lang="ko-KR" altLang="en-US" dirty="0">
                <a:latin typeface="+mn-ea"/>
              </a:rPr>
              <a:t>실패 안내 토스트 메시지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 성공 </a:t>
            </a:r>
            <a:r>
              <a:rPr lang="en-US" altLang="ko-KR" dirty="0">
                <a:latin typeface="+mn-ea"/>
              </a:rPr>
              <a:t>/ </a:t>
            </a:r>
            <a:r>
              <a:rPr lang="ko-KR" altLang="en-US" dirty="0">
                <a:latin typeface="+mn-ea"/>
              </a:rPr>
              <a:t>실패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18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5" name="모서리가 둥근 직사각형 34"/>
          <p:cNvSpPr/>
          <p:nvPr/>
        </p:nvSpPr>
        <p:spPr>
          <a:xfrm>
            <a:off x="1337508" y="5845175"/>
            <a:ext cx="143239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7" name="모서리가 둥근 직사각형 36"/>
          <p:cNvSpPr/>
          <p:nvPr/>
        </p:nvSpPr>
        <p:spPr>
          <a:xfrm>
            <a:off x="1384229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인증에 실패 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6371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864022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/>
          <p:cNvSpPr/>
          <p:nvPr/>
        </p:nvSpPr>
        <p:spPr>
          <a:xfrm>
            <a:off x="675398" y="1854537"/>
            <a:ext cx="2712028" cy="43777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카메라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QR </a:t>
            </a:r>
            <a:r>
              <a:rPr lang="ko-KR" altLang="en-US" dirty="0"/>
              <a:t>스캔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PC </a:t>
            </a:r>
            <a:r>
              <a:rPr lang="ko-KR" altLang="en-US" dirty="0"/>
              <a:t>로그인 성공</a:t>
            </a:r>
            <a:r>
              <a:rPr lang="en-US" altLang="ko-KR" dirty="0"/>
              <a:t>, </a:t>
            </a:r>
            <a:r>
              <a:rPr lang="ko-KR" altLang="en-US" dirty="0"/>
              <a:t>실패 시 토스트 메시지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PCQR</a:t>
            </a:r>
            <a:r>
              <a:rPr lang="ko-KR" altLang="en-US" dirty="0"/>
              <a:t>로그인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PC</a:t>
            </a:r>
            <a:r>
              <a:rPr lang="ko-KR" altLang="en-US" dirty="0">
                <a:latin typeface="+mn-ea"/>
              </a:rPr>
              <a:t>화면의 </a:t>
            </a:r>
            <a:r>
              <a:rPr lang="en-US" altLang="ko-KR" dirty="0">
                <a:latin typeface="+mn-ea"/>
              </a:rPr>
              <a:t>QR</a:t>
            </a:r>
            <a:r>
              <a:rPr lang="ko-KR" altLang="en-US" dirty="0">
                <a:latin typeface="+mn-ea"/>
              </a:rPr>
              <a:t>코드를 앱에서 읽어 </a:t>
            </a:r>
            <a:r>
              <a:rPr lang="en-US" altLang="ko-KR" dirty="0">
                <a:latin typeface="+mn-ea"/>
              </a:rPr>
              <a:t>PC </a:t>
            </a:r>
            <a:r>
              <a:rPr lang="ko-KR" altLang="en-US" dirty="0">
                <a:latin typeface="+mn-ea"/>
              </a:rPr>
              <a:t>로그인 시키는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PC QR </a:t>
            </a:r>
            <a:r>
              <a:rPr lang="ko-KR" altLang="en-US" dirty="0">
                <a:latin typeface="+mn-ea"/>
              </a:rPr>
              <a:t>로그인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MUI-CM-03-M17</a:t>
            </a:r>
            <a:endParaRPr lang="ko-KR" altLang="en-US" sz="1000" dirty="0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0901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 smtClean="0">
                <a:latin typeface="+mn-ea"/>
              </a:rPr>
              <a:t>PC QR </a:t>
            </a:r>
            <a:r>
              <a:rPr lang="ko-KR" altLang="en-US" sz="800" dirty="0" smtClean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6" name="그룹 55"/>
          <p:cNvGrpSpPr/>
          <p:nvPr/>
        </p:nvGrpSpPr>
        <p:grpSpPr>
          <a:xfrm rot="5400000">
            <a:off x="749842" y="1640499"/>
            <a:ext cx="94010" cy="47005"/>
            <a:chOff x="6812560" y="3297172"/>
            <a:chExt cx="94010" cy="47005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타원 58"/>
          <p:cNvSpPr/>
          <p:nvPr/>
        </p:nvSpPr>
        <p:spPr>
          <a:xfrm>
            <a:off x="3039366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534732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카메라에 </a:t>
            </a:r>
            <a:r>
              <a:rPr lang="en-US" altLang="ko-KR" sz="800" dirty="0">
                <a:latin typeface="+mn-ea"/>
              </a:rPr>
              <a:t>PC </a:t>
            </a:r>
            <a:r>
              <a:rPr lang="ko-KR" altLang="en-US" sz="800" dirty="0">
                <a:latin typeface="+mn-ea"/>
              </a:rPr>
              <a:t>화면</a:t>
            </a:r>
            <a:r>
              <a:rPr lang="en-US" altLang="ko-KR" sz="800" dirty="0">
                <a:latin typeface="+mn-ea"/>
              </a:rPr>
              <a:t> QR </a:t>
            </a:r>
            <a:r>
              <a:rPr lang="ko-KR" altLang="en-US" sz="800" dirty="0">
                <a:latin typeface="+mn-ea"/>
              </a:rPr>
              <a:t>코드를 스캔해주세요</a:t>
            </a:r>
            <a:r>
              <a:rPr lang="en-US" altLang="ko-KR" sz="800" dirty="0">
                <a:latin typeface="+mn-ea"/>
              </a:rPr>
              <a:t>.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93342" y="2824417"/>
            <a:ext cx="1676140" cy="16761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6578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background</a:t>
            </a:r>
            <a:r>
              <a:rPr lang="ko-KR" altLang="en-US" dirty="0"/>
              <a:t>에서 복귀 시 </a:t>
            </a:r>
            <a:r>
              <a:rPr lang="ko-KR" altLang="en-US" dirty="0" smtClean="0"/>
              <a:t>안내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백그라운드 앱 상태에서 오래 머물러 연결이 끊어진 경우</a:t>
            </a:r>
            <a:r>
              <a:rPr lang="en-US" altLang="ko-KR" dirty="0"/>
              <a:t>, </a:t>
            </a:r>
            <a:r>
              <a:rPr lang="ko-KR" altLang="en-US" dirty="0" err="1"/>
              <a:t>재로그인</a:t>
            </a:r>
            <a:r>
              <a:rPr lang="ko-KR" altLang="en-US" dirty="0"/>
              <a:t>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햄버거 메뉴에서 로그아웃 버튼을 클릭한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메인 페이지로 이동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로그아웃안내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로그아웃 안내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18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7" name="모서리가 둥근 직사각형 36"/>
          <p:cNvSpPr/>
          <p:nvPr/>
        </p:nvSpPr>
        <p:spPr>
          <a:xfrm>
            <a:off x="1384229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" name="모서리가 둥근 직사각형 13"/>
          <p:cNvSpPr/>
          <p:nvPr/>
        </p:nvSpPr>
        <p:spPr>
          <a:xfrm>
            <a:off x="1384229" y="584517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15" name="그룹 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6" name="직사각형 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타임아웃 설명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499816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로그인이</a:t>
            </a:r>
            <a:r>
              <a:rPr lang="ko-KR" altLang="en-US" dirty="0"/>
              <a:t> 필요한 서비스 메뉴에 접근하는 경우 노출되는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하기 버튼 클릭 시 로그인 선택 화면으로 </a:t>
            </a:r>
            <a:r>
              <a:rPr lang="ko-KR" altLang="en-US" dirty="0" smtClean="0"/>
              <a:t>이동</a:t>
            </a:r>
            <a:r>
              <a:rPr lang="en-US" altLang="ko-KR" dirty="0"/>
              <a:t> </a:t>
            </a:r>
            <a:r>
              <a:rPr lang="en-US" altLang="ko-KR" dirty="0" smtClean="0"/>
              <a:t>MUI-CM-03-M01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smtClean="0"/>
              <a:t>로그인 이후 </a:t>
            </a:r>
            <a:r>
              <a:rPr lang="ko-KR" altLang="en-US" dirty="0" err="1" smtClean="0"/>
              <a:t>메인홈으로</a:t>
            </a:r>
            <a:r>
              <a:rPr lang="ko-KR" altLang="en-US" dirty="0" smtClean="0"/>
              <a:t>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>-</a:t>
            </a:r>
            <a:r>
              <a:rPr lang="en-US" altLang="ko-KR" dirty="0" smtClean="0"/>
              <a:t> </a:t>
            </a:r>
            <a:r>
              <a:rPr lang="ko-KR" altLang="en-US" dirty="0" smtClean="0"/>
              <a:t>만약 </a:t>
            </a:r>
            <a:r>
              <a:rPr lang="ko-KR" altLang="en-US" dirty="0" err="1" smtClean="0"/>
              <a:t>생체인증이</a:t>
            </a:r>
            <a:r>
              <a:rPr lang="ko-KR" altLang="en-US" dirty="0" smtClean="0"/>
              <a:t> 등록된 경우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처리 후 진입하고자 했던 화면으로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로그인필요서비스안내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비로그인</a:t>
            </a:r>
            <a:r>
              <a:rPr lang="ko-KR" altLang="en-US" dirty="0"/>
              <a:t> 상태에서 로그인 서비스 사용 </a:t>
            </a:r>
            <a:r>
              <a:rPr lang="ko-KR" altLang="en-US" dirty="0" err="1"/>
              <a:t>시도시</a:t>
            </a:r>
            <a:r>
              <a:rPr lang="ko-KR" altLang="en-US" dirty="0"/>
              <a:t> 노출되는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-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MUI-CM-03-P19</a:t>
            </a:r>
            <a:endParaRPr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5" name="그룹 4"/>
          <p:cNvGrpSpPr/>
          <p:nvPr/>
        </p:nvGrpSpPr>
        <p:grpSpPr>
          <a:xfrm>
            <a:off x="743977" y="3253736"/>
            <a:ext cx="2579992" cy="1200743"/>
            <a:chOff x="3859820" y="2317399"/>
            <a:chExt cx="2579992" cy="1200743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385982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02658" y="3076561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로그인 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3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97751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7751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로그인 안내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724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해당 서비스를 사용하기 위해서는 </a:t>
              </a:r>
              <a:r>
                <a:rPr lang="ko-KR" altLang="en-US" sz="700" dirty="0" err="1">
                  <a:latin typeface="+mn-ea"/>
                </a:rPr>
                <a:t>로그인이</a:t>
              </a:r>
              <a:r>
                <a:rPr lang="ko-KR" altLang="en-US" sz="700" dirty="0">
                  <a:latin typeface="+mn-ea"/>
                </a:rPr>
                <a:t> 필요합니다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지금 바로 로그인 하시겠습니까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46" name="그룹 45"/>
            <p:cNvGrpSpPr/>
            <p:nvPr/>
          </p:nvGrpSpPr>
          <p:grpSpPr>
            <a:xfrm>
              <a:off x="6188648" y="2464129"/>
              <a:ext cx="94010" cy="94010"/>
              <a:chOff x="6812560" y="3297172"/>
              <a:chExt cx="94010" cy="94010"/>
            </a:xfrm>
          </p:grpSpPr>
          <p:cxnSp>
            <p:nvCxnSpPr>
              <p:cNvPr id="47" name="직선 연결선 46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033784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2. </a:t>
            </a:r>
            <a:r>
              <a:rPr lang="ko-KR" altLang="en-US" dirty="0" err="1"/>
              <a:t>마이페이지</a:t>
            </a:r>
            <a:r>
              <a:rPr lang="ko-KR" altLang="en-US" dirty="0"/>
              <a:t> 메뉴</a:t>
            </a:r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1/5)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38351"/>
              </p:ext>
            </p:extLst>
          </p:nvPr>
        </p:nvGraphicFramePr>
        <p:xfrm>
          <a:off x="635474" y="1413419"/>
          <a:ext cx="8701200" cy="4933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MUI-CM-06-M01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마이페이지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마이페이지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서브 메인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MUI-CM-06-M02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나의진행업무현황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진행중인 이력 정보 목록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MUI-CM-06-P03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세부스텝팝업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진행중인 이력 정보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스탭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표시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782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MUI-CM-06-M04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나의업무이력현황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MyTaskHstryPage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종료된 이력정보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myTaskHstry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MUI-CM-06-M05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관심입찰공고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입찰공고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MUI-CM-06-M06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업무캘린더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공고 표시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입찰서 제출일 등 조달업무 관련 캘린더 표시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개인이 개별 등록한 일정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MUI-CM-06-M07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일정상세정보팝업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 일정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는 해당 공고로 이동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개인이 등록한 일정은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바텀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시트로 추가 표시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00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MUI-CM-06-M08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등록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수정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개인이 개별 등록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수정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27734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MUI-CM-06-M09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삭제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즐겨찾기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개인이 등록한 일정 삭제 확인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6570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MUI-CM-06-M10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보낸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받은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반려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임시저장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8231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MUI-CM-06-M11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문서함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 상세 내용 표시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7137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문서정보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 상세 내용 표시 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DocBoxDtl_Info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31215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첨언상세보기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DocBoxDtl_AtchOpnn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문서 상세 내용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DocBoxDtl_AtchOpnn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596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첨부파일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문서 상세 내용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2690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MUI-CM-06-M12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개인별수신처관리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개인별 수신처 내역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717066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268680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2/5)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580685"/>
              </p:ext>
            </p:extLst>
          </p:nvPr>
        </p:nvGraphicFramePr>
        <p:xfrm>
          <a:off x="635474" y="1413419"/>
          <a:ext cx="8701200" cy="488926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관심법령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ItrstSttPage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법령 중 사용자가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법령 목록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itrstStt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ItrstSttPage.tsx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925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나의게시물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MyPstPage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내가 작성한 게시물을 모아볼 수 있는 메뉴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21725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디지털캐비닛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디지털 캐비닛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사용자가 등록한 자료 폴더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UC-ZZ-17-02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UC-ZZ-17-03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209189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폴더설정권한관리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DigitalCabinetMng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폴더 설정 권한 관리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MdigitalCabinetMng.tsx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4479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폴더내파일목록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폴더 내 파일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4346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MUI-CM-01-M01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정보 진입 버튼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14106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MUI-CM-01-M02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업체정보상세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자신이 속한 업체 정보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6272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업체일반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bzentyGnrlInfoDtl_Gnrl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자신이 속한 업체 정보 탭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bzentyGnrlInfoDtl_Gnrl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01060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bzentyGnrlInfoDtl_Cmdty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bzentyGnrlInfoDtl_Cmdty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19369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시설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bzentyGnrlInfoDtl_Fclt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bzentyGnrlInfoDtl_Fclt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6363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bzentyGnrlInfoDtl_DmsAgt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bzentyGnrlInfoDtl_DmsAgt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81249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" name="직사각형 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ID</a:t>
              </a:r>
              <a:r>
                <a:rPr lang="ko-KR" altLang="en-US" dirty="0" smtClean="0"/>
                <a:t>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등록 </a:t>
              </a:r>
              <a:r>
                <a:rPr lang="en-US" altLang="ko-KR" sz="700" dirty="0" smtClean="0"/>
                <a:t>(MUI-CM-01-M22), </a:t>
              </a:r>
              <a:r>
                <a:rPr lang="ko-KR" altLang="en-US" sz="700" dirty="0"/>
                <a:t>국내소재상사 정보 </a:t>
              </a:r>
              <a:r>
                <a:rPr lang="ko-KR" altLang="en-US" sz="700" dirty="0" smtClean="0"/>
                <a:t>등록 </a:t>
              </a:r>
              <a:r>
                <a:rPr lang="en-US" altLang="ko-KR" sz="700" dirty="0" smtClean="0"/>
                <a:t>(MUI-CM-01-M23) </a:t>
              </a:r>
              <a:r>
                <a:rPr lang="ko-KR" altLang="en-US" sz="700" dirty="0" smtClean="0"/>
                <a:t>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494410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3/5)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488539"/>
              </p:ext>
            </p:extLst>
          </p:nvPr>
        </p:nvGraphicFramePr>
        <p:xfrm>
          <a:off x="635474" y="1413419"/>
          <a:ext cx="8701200" cy="4645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 신청 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AddRegInfoAplyListPage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AddRegInfoAplyList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60533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신청정보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addRegInfoAplyDtl_Cmdty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상세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addRegInfoAplyDtl_Cmdty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94765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국내소재상사신청정보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addRegInfoAplyDtl_DmsAgt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상세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addRegInfoAplyDtl_DmsAgt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22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DmstLctnColInfoAddRegPage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물품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정보 등록 신청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0773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MUI-CM-01-M22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담당자정보저장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dmstLctnColInfoAddReg_Pic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담당자 정보 등록 신청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_Pic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42800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MUI-CM-01-M23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dmstLctnColInfoAddReg_Cmbz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국내소재상사정보 등록 신청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_Cmbz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59588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품류선택팝업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KnditmChc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품류선택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KnditmChc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26729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조합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단체선택팝업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AsctGrpChc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조합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단체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AsctGrpChc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0181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등록대상품목선택팝업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RegTrgtItemChc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등록대상 품목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RegTrgtItemChc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4641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품목조회팝업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품목 조회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보안측정인원등록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ScrtyMsrmtPrsnlReg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진행중인 이력 정보 표시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242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748702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4/5)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981396"/>
              </p:ext>
            </p:extLst>
          </p:nvPr>
        </p:nvGraphicFramePr>
        <p:xfrm>
          <a:off x="635474" y="1413419"/>
          <a:ext cx="8701200" cy="452350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FSC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선택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FSCChc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FSC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선택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FSCChc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168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주거래은행선택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BankChc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주거래은행 선택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BankChc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574163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행정정보공동이용사전동의서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PbamdsInfoJntUtztnBfhdWtcs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행정정보공동이용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사전동의서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PbamdsInfoJntUtztnBfhdWtcs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49049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확인팝업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Confirm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확인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Confirm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25977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군수품무역대리업신청및발급목록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DfEqpmntTradeAgncAplyListPage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군수품무역대리업 신청 및 발급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dfEqpmntTradeAgncAplyList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DfEqpmntTradeAgncAplyListPage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2566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MUI-CM-01-M16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신청내역상세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군수품무역대리업 신청 내역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상세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033223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신규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갱신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군수품무역대리업 신청 및 발급 신규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갱신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작성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DfEqpmntTradeAgncAplyPage.tsx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42424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DfEqpmntTradeAgncChgPage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군수품무역대리업 신청 및 발급 변경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작성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dfEqpmntTradeAgncChg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DfEqpmntTradeAgncChgPage.tsx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656903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조달원 확인서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조달원 확인서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UC-ZZ-07-02</a:t>
                      </a:r>
                      <a:endParaRPr lang="ko-KR" altLang="en-US" sz="800" b="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24702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MUI-CM-01-P20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조달원 확인서 신청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DmstSosCnfdocAply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조달원 확인서 신청서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DmstSosCnfdocAply.tsx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UC-ZZ-07-02</a:t>
                      </a:r>
                      <a:endParaRPr lang="ko-KR" altLang="en-US" sz="800" b="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94188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MUI-CM-01-P21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국외조달원등록증신청안내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OvsdmstSosCnfdoc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국외 조달원 등록증 신청 안내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OvsdmstSosCnfdoc.tsx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  <a:endParaRPr lang="ko-KR" altLang="en-US" sz="800" b="0" dirty="0">
                        <a:latin typeface="+mn-lt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958610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83570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 smtClean="0"/>
              <a:t>(5/5)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28683"/>
              </p:ext>
            </p:extLst>
          </p:nvPr>
        </p:nvGraphicFramePr>
        <p:xfrm>
          <a:off x="635474" y="1413419"/>
          <a:ext cx="8701200" cy="422974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MUI-CM-02-M01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사용자정보관리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 정보관리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70439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MUI-CM-02-M02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생체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생체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 인증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84910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 상세 조회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06234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개인정보수정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개인정보수정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7318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MUI-CM-02-M05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비밀번호변경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 변경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2546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MUI-CM-02-M06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개인신원확인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IndvIdntIdntyPage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개인신원확인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indvIdntIdnty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6889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인증서관리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CrtfMng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 인증서 관리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99962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인증서확인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CrtfIdnty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 인증서 확인 팝업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192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MUI-CM-02-M07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업체소속사용자목록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PrcmBzentyUserMngPage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소속 사용자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MUI-CM-02-P08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상태변경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PrcmBzentyUserSttsChg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소속 사용자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 변경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PrcmBzentyUserSttsChg.tsx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24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MUI-CM-02-M09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알림서비스신청및해지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알림서비스신청및해지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설정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744303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MUI-CM-02-P10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회원탈퇴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MbWithdrawal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회원 탈퇴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MbWithdrawal.tsx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Native App 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6755654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648373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(1/4)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595193" y="150229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마이페이지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556297"/>
            <a:ext cx="237994" cy="316983"/>
            <a:chOff x="4762389" y="1663914"/>
            <a:chExt cx="237994" cy="316983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6"/>
            <a:endCxn id="73" idx="1"/>
          </p:cNvCxnSpPr>
          <p:nvPr/>
        </p:nvCxnSpPr>
        <p:spPr>
          <a:xfrm>
            <a:off x="664059" y="1646297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416631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사용자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50229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나의진행업무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9105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나의업무이력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3" idx="3"/>
            <a:endCxn id="88" idx="1"/>
          </p:cNvCxnSpPr>
          <p:nvPr/>
        </p:nvCxnSpPr>
        <p:spPr>
          <a:xfrm>
            <a:off x="2495193" y="1646297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1277" y="231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관심입찰공고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9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89" idx="1"/>
          </p:cNvCxnSpPr>
          <p:nvPr/>
        </p:nvCxnSpPr>
        <p:spPr>
          <a:xfrm>
            <a:off x="2495193" y="1646297"/>
            <a:ext cx="931134" cy="40824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7270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업무캘린더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13529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문서함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358283" y="4700298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387280" y="4504040"/>
            <a:ext cx="180000" cy="180000"/>
            <a:chOff x="5058274" y="2498299"/>
            <a:chExt cx="180000" cy="180000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95179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관심법령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36004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7682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1765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디지털캐비닛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9930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알림서비스신청및해지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3" idx="1"/>
          </p:cNvCxnSpPr>
          <p:nvPr/>
        </p:nvCxnSpPr>
        <p:spPr>
          <a:xfrm>
            <a:off x="2495193" y="1646297"/>
            <a:ext cx="926084" cy="81649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6" idx="1"/>
          </p:cNvCxnSpPr>
          <p:nvPr/>
        </p:nvCxnSpPr>
        <p:spPr>
          <a:xfrm>
            <a:off x="2495193" y="1646297"/>
            <a:ext cx="931134" cy="12247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7" idx="1"/>
          </p:cNvCxnSpPr>
          <p:nvPr/>
        </p:nvCxnSpPr>
        <p:spPr>
          <a:xfrm>
            <a:off x="2495193" y="1646297"/>
            <a:ext cx="931134" cy="16329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2" idx="1"/>
          </p:cNvCxnSpPr>
          <p:nvPr/>
        </p:nvCxnSpPr>
        <p:spPr>
          <a:xfrm>
            <a:off x="2495193" y="1646297"/>
            <a:ext cx="931134" cy="244949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3" idx="1"/>
          </p:cNvCxnSpPr>
          <p:nvPr/>
        </p:nvCxnSpPr>
        <p:spPr>
          <a:xfrm>
            <a:off x="2495193" y="1646297"/>
            <a:ext cx="931134" cy="285774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5" idx="1"/>
          </p:cNvCxnSpPr>
          <p:nvPr/>
        </p:nvCxnSpPr>
        <p:spPr>
          <a:xfrm>
            <a:off x="2495193" y="1646297"/>
            <a:ext cx="931134" cy="32659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6" idx="1"/>
          </p:cNvCxnSpPr>
          <p:nvPr/>
        </p:nvCxnSpPr>
        <p:spPr>
          <a:xfrm>
            <a:off x="2495193" y="1646297"/>
            <a:ext cx="931134" cy="367424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7" idx="1"/>
          </p:cNvCxnSpPr>
          <p:nvPr/>
        </p:nvCxnSpPr>
        <p:spPr>
          <a:xfrm>
            <a:off x="2495193" y="1646297"/>
            <a:ext cx="931134" cy="44907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2" idx="3"/>
            <a:endCxn id="106" idx="0"/>
          </p:cNvCxnSpPr>
          <p:nvPr/>
        </p:nvCxnSpPr>
        <p:spPr>
          <a:xfrm>
            <a:off x="7988595" y="1646297"/>
            <a:ext cx="488685" cy="285774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8" idx="3"/>
            <a:endCxn id="106" idx="0"/>
          </p:cNvCxnSpPr>
          <p:nvPr/>
        </p:nvCxnSpPr>
        <p:spPr>
          <a:xfrm>
            <a:off x="6157461" y="2462795"/>
            <a:ext cx="2319819" cy="204124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4" idx="3"/>
            <a:endCxn id="106" idx="0"/>
          </p:cNvCxnSpPr>
          <p:nvPr/>
        </p:nvCxnSpPr>
        <p:spPr>
          <a:xfrm>
            <a:off x="6157461" y="2054546"/>
            <a:ext cx="2319819" cy="244949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7" idx="3"/>
            <a:endCxn id="106" idx="2"/>
          </p:cNvCxnSpPr>
          <p:nvPr/>
        </p:nvCxnSpPr>
        <p:spPr>
          <a:xfrm flipV="1">
            <a:off x="4326327" y="4594040"/>
            <a:ext cx="4060953" cy="15429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9" idx="3"/>
            <a:endCxn id="106" idx="2"/>
          </p:cNvCxnSpPr>
          <p:nvPr/>
        </p:nvCxnSpPr>
        <p:spPr>
          <a:xfrm>
            <a:off x="6157461" y="3687542"/>
            <a:ext cx="2229819" cy="906498"/>
          </a:xfrm>
          <a:prstGeom prst="bentConnector3">
            <a:avLst>
              <a:gd name="adj1" fmla="val 859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1" idx="3"/>
            <a:endCxn id="106" idx="2"/>
          </p:cNvCxnSpPr>
          <p:nvPr/>
        </p:nvCxnSpPr>
        <p:spPr>
          <a:xfrm>
            <a:off x="6157461" y="4095791"/>
            <a:ext cx="2229819" cy="498249"/>
          </a:xfrm>
          <a:prstGeom prst="bentConnector3">
            <a:avLst>
              <a:gd name="adj1" fmla="val 859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5435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나의게시물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52" idx="1"/>
          </p:cNvCxnSpPr>
          <p:nvPr/>
        </p:nvCxnSpPr>
        <p:spPr>
          <a:xfrm>
            <a:off x="2495193" y="1646297"/>
            <a:ext cx="931134" cy="20412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7" idx="3"/>
            <a:endCxn id="106" idx="0"/>
          </p:cNvCxnSpPr>
          <p:nvPr/>
        </p:nvCxnSpPr>
        <p:spPr>
          <a:xfrm>
            <a:off x="7993645" y="2871044"/>
            <a:ext cx="483635" cy="163299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78" name="그룹 77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150229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세부스텝팝업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1910546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318795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sp>
        <p:nvSpPr>
          <p:cNvPr id="1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7270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일정상세정보팝업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1502297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sp>
        <p:nvSpPr>
          <p:cNvPr id="10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313529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삭제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3"/>
            <a:endCxn id="102" idx="1"/>
          </p:cNvCxnSpPr>
          <p:nvPr/>
        </p:nvCxnSpPr>
        <p:spPr>
          <a:xfrm>
            <a:off x="6157461" y="1646297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1" idx="3"/>
            <a:endCxn id="103" idx="1"/>
          </p:cNvCxnSpPr>
          <p:nvPr/>
        </p:nvCxnSpPr>
        <p:spPr>
          <a:xfrm>
            <a:off x="6157461" y="2871044"/>
            <a:ext cx="931134" cy="40824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93645" y="27270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등록</a:t>
            </a:r>
            <a:r>
              <a:rPr lang="en-US" altLang="ko-KR" sz="800" dirty="0">
                <a:solidFill>
                  <a:schemeClr val="tx1"/>
                </a:solidFill>
              </a:rPr>
              <a:t>,</a:t>
            </a:r>
            <a:r>
              <a:rPr lang="ko-KR" altLang="en-US" sz="800" dirty="0">
                <a:solidFill>
                  <a:schemeClr val="tx1"/>
                </a:solidFill>
              </a:rPr>
              <a:t>수정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1" idx="3"/>
            <a:endCxn id="107" idx="1"/>
          </p:cNvCxnSpPr>
          <p:nvPr/>
        </p:nvCxnSpPr>
        <p:spPr>
          <a:xfrm>
            <a:off x="6157461" y="2871044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>
          <a:xfrm>
            <a:off x="4326327" y="1646297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9" idx="3"/>
            <a:endCxn id="94" idx="1"/>
          </p:cNvCxnSpPr>
          <p:nvPr/>
        </p:nvCxnSpPr>
        <p:spPr>
          <a:xfrm>
            <a:off x="4326327" y="205454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3" idx="3"/>
            <a:endCxn id="98" idx="1"/>
          </p:cNvCxnSpPr>
          <p:nvPr/>
        </p:nvCxnSpPr>
        <p:spPr>
          <a:xfrm>
            <a:off x="4321277" y="2462795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6" idx="3"/>
            <a:endCxn id="101" idx="1"/>
          </p:cNvCxnSpPr>
          <p:nvPr/>
        </p:nvCxnSpPr>
        <p:spPr>
          <a:xfrm>
            <a:off x="4326327" y="287104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58478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prstClr val="black"/>
                </a:solidFill>
                <a:latin typeface="맑은 고딕" panose="020B0503020000020004" pitchFamily="50" charset="-127"/>
              </a:rPr>
              <a:t>국외보관함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51" idx="1"/>
          </p:cNvCxnSpPr>
          <p:nvPr/>
        </p:nvCxnSpPr>
        <p:spPr>
          <a:xfrm>
            <a:off x="2495193" y="1646297"/>
            <a:ext cx="931134" cy="408249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3543542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cxnSp>
        <p:nvCxnSpPr>
          <p:cNvPr id="16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3" idx="3"/>
            <a:endCxn id="106" idx="0"/>
          </p:cNvCxnSpPr>
          <p:nvPr/>
        </p:nvCxnSpPr>
        <p:spPr>
          <a:xfrm>
            <a:off x="7988595" y="3279293"/>
            <a:ext cx="488685" cy="122474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3951791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외부 페이지 이동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6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1" idx="3"/>
            <a:endCxn id="106" idx="2"/>
          </p:cNvCxnSpPr>
          <p:nvPr/>
        </p:nvCxnSpPr>
        <p:spPr>
          <a:xfrm flipV="1">
            <a:off x="4326327" y="4594040"/>
            <a:ext cx="4060953" cy="11347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6" idx="3"/>
            <a:endCxn id="106" idx="2"/>
          </p:cNvCxnSpPr>
          <p:nvPr/>
        </p:nvCxnSpPr>
        <p:spPr>
          <a:xfrm flipV="1">
            <a:off x="4326327" y="4594040"/>
            <a:ext cx="4060953" cy="72649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5" idx="3"/>
            <a:endCxn id="106" idx="2"/>
          </p:cNvCxnSpPr>
          <p:nvPr/>
        </p:nvCxnSpPr>
        <p:spPr>
          <a:xfrm flipV="1">
            <a:off x="4326327" y="4594040"/>
            <a:ext cx="4060953" cy="31824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106" idx="2"/>
          </p:cNvCxnSpPr>
          <p:nvPr/>
        </p:nvCxnSpPr>
        <p:spPr>
          <a:xfrm>
            <a:off x="4326327" y="3279293"/>
            <a:ext cx="4060953" cy="13147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3" idx="3"/>
            <a:endCxn id="106" idx="2"/>
          </p:cNvCxnSpPr>
          <p:nvPr/>
        </p:nvCxnSpPr>
        <p:spPr>
          <a:xfrm>
            <a:off x="4326327" y="4504040"/>
            <a:ext cx="4060953" cy="9000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52" idx="3"/>
            <a:endCxn id="159" idx="1"/>
          </p:cNvCxnSpPr>
          <p:nvPr/>
        </p:nvCxnSpPr>
        <p:spPr>
          <a:xfrm>
            <a:off x="4326327" y="3687542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2" idx="3"/>
            <a:endCxn id="161" idx="1"/>
          </p:cNvCxnSpPr>
          <p:nvPr/>
        </p:nvCxnSpPr>
        <p:spPr>
          <a:xfrm>
            <a:off x="4326327" y="409579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254141"/>
            <a:ext cx="8640000" cy="242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문서함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업체정보관리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err="1" smtClean="0">
                <a:solidFill>
                  <a:srgbClr val="0000FF"/>
                </a:solidFill>
                <a:latin typeface="+mn-ea"/>
              </a:rPr>
              <a:t>사용자관리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디지털 캐비닛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국외보관함은 별도의 화면 흐름도에서 추가 표시함</a:t>
            </a:r>
            <a:r>
              <a:rPr lang="en-US" altLang="ko-KR" sz="800" kern="0" dirty="0" smtClean="0">
                <a:solidFill>
                  <a:srgbClr val="0000FF"/>
                </a:solidFill>
                <a:latin typeface="+mn-ea"/>
              </a:rPr>
              <a:t>.</a:t>
            </a:r>
            <a:endParaRPr lang="en-US" altLang="ko-KR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357461" y="5581643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 입찰 참조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8959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(2/4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85943" y="22366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문서함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747949" y="2290622"/>
            <a:ext cx="237994" cy="316983"/>
            <a:chOff x="4762389" y="1663914"/>
            <a:chExt cx="237994" cy="316983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6"/>
            <a:endCxn id="73" idx="1"/>
          </p:cNvCxnSpPr>
          <p:nvPr/>
        </p:nvCxnSpPr>
        <p:spPr>
          <a:xfrm>
            <a:off x="954809" y="2380622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04879" y="2150956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사용자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717077" y="22366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문서함상세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717077" y="264487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개인별수신처관리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3" idx="3"/>
            <a:endCxn id="88" idx="1"/>
          </p:cNvCxnSpPr>
          <p:nvPr/>
        </p:nvCxnSpPr>
        <p:spPr>
          <a:xfrm>
            <a:off x="2785943" y="2380622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89" idx="1"/>
          </p:cNvCxnSpPr>
          <p:nvPr/>
        </p:nvCxnSpPr>
        <p:spPr>
          <a:xfrm>
            <a:off x="2785943" y="2380622"/>
            <a:ext cx="931134" cy="40824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717077" y="34613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폴더내파일목록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717077" y="38696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폴더설정권한관리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649033" y="442678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678030" y="4230525"/>
            <a:ext cx="180000" cy="180000"/>
            <a:chOff x="5058274" y="2498299"/>
            <a:chExt cx="180000" cy="180000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2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2" idx="3"/>
            <a:endCxn id="97" idx="1"/>
          </p:cNvCxnSpPr>
          <p:nvPr/>
        </p:nvCxnSpPr>
        <p:spPr>
          <a:xfrm>
            <a:off x="2785943" y="3605369"/>
            <a:ext cx="931134" cy="40824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6" idx="6"/>
            <a:endCxn id="92" idx="1"/>
          </p:cNvCxnSpPr>
          <p:nvPr/>
        </p:nvCxnSpPr>
        <p:spPr>
          <a:xfrm>
            <a:off x="954809" y="2380622"/>
            <a:ext cx="931134" cy="12247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0" idx="3"/>
            <a:endCxn id="106" idx="0"/>
          </p:cNvCxnSpPr>
          <p:nvPr/>
        </p:nvCxnSpPr>
        <p:spPr>
          <a:xfrm>
            <a:off x="8383862" y="2322070"/>
            <a:ext cx="384168" cy="19084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9" idx="3"/>
            <a:endCxn id="106" idx="0"/>
          </p:cNvCxnSpPr>
          <p:nvPr/>
        </p:nvCxnSpPr>
        <p:spPr>
          <a:xfrm>
            <a:off x="4617077" y="2788871"/>
            <a:ext cx="4150953" cy="144165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6" idx="3"/>
            <a:endCxn id="106" idx="0"/>
          </p:cNvCxnSpPr>
          <p:nvPr/>
        </p:nvCxnSpPr>
        <p:spPr>
          <a:xfrm>
            <a:off x="4617077" y="3605369"/>
            <a:ext cx="4150953" cy="6251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78" name="그룹 77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8" idx="3"/>
          </p:cNvCxnSpPr>
          <p:nvPr/>
        </p:nvCxnSpPr>
        <p:spPr>
          <a:xfrm>
            <a:off x="4617077" y="2380622"/>
            <a:ext cx="42749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106" idx="0"/>
          </p:cNvCxnSpPr>
          <p:nvPr/>
        </p:nvCxnSpPr>
        <p:spPr>
          <a:xfrm>
            <a:off x="4617077" y="4013618"/>
            <a:ext cx="4150953" cy="21690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85943" y="34613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디지털캐비닛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044573" y="1985616"/>
            <a:ext cx="3339289" cy="672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168232" y="22463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문서정보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357426" y="225320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첨부파일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262829" y="22463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첨언상세보기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96" idx="1"/>
          </p:cNvCxnSpPr>
          <p:nvPr/>
        </p:nvCxnSpPr>
        <p:spPr>
          <a:xfrm>
            <a:off x="2785943" y="3605369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781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08180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552795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642795"/>
            <a:ext cx="34412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(3/4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413129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grpSp>
        <p:nvGrpSpPr>
          <p:cNvPr id="90" name="그룹 8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2" name="직사각형 9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추가정보 신청 목록에서 업체정보 추가등록으로 이동하는 편의 기능 제거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상위 서브 </a:t>
              </a:r>
              <a:r>
                <a:rPr lang="ko-KR" altLang="en-US" sz="700" dirty="0" err="1" smtClean="0"/>
                <a:t>메인에</a:t>
              </a:r>
              <a:r>
                <a:rPr lang="ko-KR" altLang="en-US" sz="700" dirty="0" smtClean="0"/>
                <a:t> 존재하는 버튼을 통해서 진입</a:t>
              </a:r>
              <a:endParaRPr lang="en-US" altLang="ko-KR" sz="700" dirty="0"/>
            </a:p>
          </p:txBody>
        </p:sp>
      </p:grp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3460" y="3676006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52457" y="3479748"/>
            <a:ext cx="180000" cy="180000"/>
            <a:chOff x="5058274" y="2498299"/>
            <a:chExt cx="180000" cy="180000"/>
          </a:xfrm>
        </p:grpSpPr>
        <p:sp>
          <p:nvSpPr>
            <p:cNvPr id="211" name="타원 210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타원 211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17" idx="1"/>
          </p:cNvCxnSpPr>
          <p:nvPr/>
        </p:nvCxnSpPr>
        <p:spPr>
          <a:xfrm>
            <a:off x="1908180" y="1642795"/>
            <a:ext cx="402198" cy="74660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7" idx="3"/>
            <a:endCxn id="133" idx="1"/>
          </p:cNvCxnSpPr>
          <p:nvPr/>
        </p:nvCxnSpPr>
        <p:spPr>
          <a:xfrm>
            <a:off x="3210378" y="2389404"/>
            <a:ext cx="284841" cy="73361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업체정보상세</a:t>
            </a:r>
          </a:p>
        </p:txBody>
      </p:sp>
      <p:sp>
        <p:nvSpPr>
          <p:cNvPr id="10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4760" y="1256287"/>
            <a:ext cx="4413751" cy="672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0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151701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업체일반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152387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시설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151701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물품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내자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</a:p>
        </p:txBody>
      </p:sp>
      <p:sp>
        <p:nvSpPr>
          <p:cNvPr id="1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6034" y="152387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104" idx="1"/>
          </p:cNvCxnSpPr>
          <p:nvPr/>
        </p:nvCxnSpPr>
        <p:spPr>
          <a:xfrm>
            <a:off x="1908180" y="1642795"/>
            <a:ext cx="40219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224540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추가정보신청목록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4761" y="1984678"/>
            <a:ext cx="2236194" cy="672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신청내역상세 </a:t>
            </a:r>
            <a:r>
              <a:rPr lang="ko-KR" altLang="en-US" sz="800" b="1" dirty="0" err="1" smtClean="0">
                <a:solidFill>
                  <a:schemeClr val="tx1"/>
                </a:solidFill>
              </a:rPr>
              <a:t>신청정보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2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224540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물품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내자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신청정보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224540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국내소재상사신청정보</a:t>
            </a:r>
            <a:endParaRPr lang="en-US" altLang="ko-KR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7" idx="3"/>
          </p:cNvCxnSpPr>
          <p:nvPr/>
        </p:nvCxnSpPr>
        <p:spPr>
          <a:xfrm>
            <a:off x="3210378" y="2389404"/>
            <a:ext cx="28438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4" idx="3"/>
          </p:cNvCxnSpPr>
          <p:nvPr/>
        </p:nvCxnSpPr>
        <p:spPr>
          <a:xfrm>
            <a:off x="3210378" y="1642795"/>
            <a:ext cx="28438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297902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141" name="그룹 140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149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5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94946" y="2718297"/>
            <a:ext cx="3313565" cy="672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추가 등록 그룹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5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29790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담당자정보저장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29790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물품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내자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endParaRPr lang="en-US" altLang="ko-KR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5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7941" y="29790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en-US" altLang="ko-KR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</p:cNvCxnSpPr>
          <p:nvPr/>
        </p:nvCxnSpPr>
        <p:spPr>
          <a:xfrm>
            <a:off x="4395219" y="3123023"/>
            <a:ext cx="1997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4760" y="3574262"/>
            <a:ext cx="4413751" cy="1022046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신청 등록 </a:t>
            </a:r>
            <a:r>
              <a:rPr lang="ko-KR" altLang="en-US" sz="800" b="1" dirty="0">
                <a:solidFill>
                  <a:schemeClr val="tx1"/>
                </a:solidFill>
              </a:rPr>
              <a:t>개별 팝업</a:t>
            </a:r>
          </a:p>
        </p:txBody>
      </p:sp>
      <p:sp>
        <p:nvSpPr>
          <p:cNvPr id="15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383498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품류선택팝업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384185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등록대상품목선택팝업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383498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조합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단체선택팝업</a:t>
            </a:r>
          </a:p>
        </p:txBody>
      </p:sp>
      <p:sp>
        <p:nvSpPr>
          <p:cNvPr id="1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6034" y="384185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품목조회팝업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6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4" idx="2"/>
            <a:endCxn id="157" idx="0"/>
          </p:cNvCxnSpPr>
          <p:nvPr/>
        </p:nvCxnSpPr>
        <p:spPr>
          <a:xfrm rot="5400000">
            <a:off x="5826006" y="3142653"/>
            <a:ext cx="307239" cy="55597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5" idx="2"/>
            <a:endCxn id="157" idx="0"/>
          </p:cNvCxnSpPr>
          <p:nvPr/>
        </p:nvCxnSpPr>
        <p:spPr>
          <a:xfrm rot="5400000">
            <a:off x="6371170" y="2597490"/>
            <a:ext cx="307239" cy="164630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42185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보안측정인원등록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422542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주거래은행선택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42185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FSC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선택</a:t>
            </a:r>
          </a:p>
        </p:txBody>
      </p:sp>
      <p:sp>
        <p:nvSpPr>
          <p:cNvPr id="1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6034" y="422542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prstClr val="black"/>
                </a:solidFill>
                <a:latin typeface="맑은 고딕" panose="020B0503020000020004" pitchFamily="50" charset="-127"/>
              </a:rPr>
              <a:t>행정정보공동이용사전동의서</a:t>
            </a:r>
            <a:endParaRPr lang="ko-KR" altLang="en-US" sz="800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7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115201" y="29790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</a:rPr>
              <a:t>확인팝업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7915474" y="3123023"/>
            <a:ext cx="1997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</p:cNvCxnSpPr>
          <p:nvPr/>
        </p:nvCxnSpPr>
        <p:spPr>
          <a:xfrm flipV="1">
            <a:off x="7715706" y="3383956"/>
            <a:ext cx="0" cy="190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469188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군수품무역대리업신청및발급목록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469188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신청내역상세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9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89" idx="1"/>
          </p:cNvCxnSpPr>
          <p:nvPr/>
        </p:nvCxnSpPr>
        <p:spPr>
          <a:xfrm>
            <a:off x="1908180" y="1642795"/>
            <a:ext cx="402198" cy="319308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505509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신규</a:t>
            </a:r>
            <a:r>
              <a:rPr lang="en-US" altLang="ko-KR" sz="800" dirty="0">
                <a:solidFill>
                  <a:srgbClr val="000000"/>
                </a:solidFill>
              </a:rPr>
              <a:t>(</a:t>
            </a:r>
            <a:r>
              <a:rPr lang="ko-KR" altLang="en-US" sz="800" dirty="0">
                <a:solidFill>
                  <a:srgbClr val="000000"/>
                </a:solidFill>
              </a:rPr>
              <a:t>갱신</a:t>
            </a:r>
            <a:r>
              <a:rPr lang="en-US" altLang="ko-KR" sz="800" dirty="0">
                <a:solidFill>
                  <a:srgbClr val="000000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541831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변경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0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89" idx="3"/>
            <a:endCxn id="201" idx="1"/>
          </p:cNvCxnSpPr>
          <p:nvPr/>
        </p:nvCxnSpPr>
        <p:spPr>
          <a:xfrm>
            <a:off x="3210378" y="4835884"/>
            <a:ext cx="284841" cy="36321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89" idx="3"/>
            <a:endCxn id="191" idx="1"/>
          </p:cNvCxnSpPr>
          <p:nvPr/>
        </p:nvCxnSpPr>
        <p:spPr>
          <a:xfrm>
            <a:off x="3210378" y="4835884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89" idx="3"/>
            <a:endCxn id="202" idx="1"/>
          </p:cNvCxnSpPr>
          <p:nvPr/>
        </p:nvCxnSpPr>
        <p:spPr>
          <a:xfrm>
            <a:off x="3210378" y="4835884"/>
            <a:ext cx="284841" cy="72642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578436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prstClr val="black"/>
                </a:solidFill>
              </a:rPr>
              <a:t>조달원확인서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64" idx="1"/>
          </p:cNvCxnSpPr>
          <p:nvPr/>
        </p:nvCxnSpPr>
        <p:spPr>
          <a:xfrm>
            <a:off x="1908180" y="1642795"/>
            <a:ext cx="402198" cy="42855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57824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prstClr val="black"/>
                </a:solidFill>
              </a:rPr>
              <a:t>조달원확인서신청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6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614911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</a:rPr>
              <a:t>국외조달원등록증신청안내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64" idx="3"/>
            <a:endCxn id="267" idx="1"/>
          </p:cNvCxnSpPr>
          <p:nvPr/>
        </p:nvCxnSpPr>
        <p:spPr>
          <a:xfrm>
            <a:off x="3210378" y="5928362"/>
            <a:ext cx="284841" cy="3647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64" idx="3"/>
            <a:endCxn id="266" idx="1"/>
          </p:cNvCxnSpPr>
          <p:nvPr/>
        </p:nvCxnSpPr>
        <p:spPr>
          <a:xfrm flipV="1">
            <a:off x="3210378" y="5926474"/>
            <a:ext cx="284841" cy="18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5" idx="3"/>
            <a:endCxn id="211" idx="0"/>
          </p:cNvCxnSpPr>
          <p:nvPr/>
        </p:nvCxnSpPr>
        <p:spPr>
          <a:xfrm>
            <a:off x="7908511" y="1592741"/>
            <a:ext cx="1433946" cy="188700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2" idx="3"/>
            <a:endCxn id="211" idx="0"/>
          </p:cNvCxnSpPr>
          <p:nvPr/>
        </p:nvCxnSpPr>
        <p:spPr>
          <a:xfrm>
            <a:off x="5730955" y="2321132"/>
            <a:ext cx="3611502" cy="115861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2" idx="3"/>
            <a:endCxn id="211" idx="0"/>
          </p:cNvCxnSpPr>
          <p:nvPr/>
        </p:nvCxnSpPr>
        <p:spPr>
          <a:xfrm>
            <a:off x="9015201" y="3123023"/>
            <a:ext cx="327256" cy="3567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91" idx="3"/>
            <a:endCxn id="209" idx="2"/>
          </p:cNvCxnSpPr>
          <p:nvPr/>
        </p:nvCxnSpPr>
        <p:spPr>
          <a:xfrm flipV="1">
            <a:off x="4395219" y="3799117"/>
            <a:ext cx="4947238" cy="103676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1" idx="3"/>
            <a:endCxn id="209" idx="2"/>
          </p:cNvCxnSpPr>
          <p:nvPr/>
        </p:nvCxnSpPr>
        <p:spPr>
          <a:xfrm flipV="1">
            <a:off x="4395219" y="3799117"/>
            <a:ext cx="4947238" cy="139998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2" idx="3"/>
            <a:endCxn id="209" idx="2"/>
          </p:cNvCxnSpPr>
          <p:nvPr/>
        </p:nvCxnSpPr>
        <p:spPr>
          <a:xfrm flipV="1">
            <a:off x="4395219" y="3799117"/>
            <a:ext cx="4947238" cy="176319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66" idx="3"/>
            <a:endCxn id="209" idx="2"/>
          </p:cNvCxnSpPr>
          <p:nvPr/>
        </p:nvCxnSpPr>
        <p:spPr>
          <a:xfrm flipV="1">
            <a:off x="4395219" y="3799117"/>
            <a:ext cx="4947238" cy="21273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67" idx="3"/>
            <a:endCxn id="209" idx="2"/>
          </p:cNvCxnSpPr>
          <p:nvPr/>
        </p:nvCxnSpPr>
        <p:spPr>
          <a:xfrm flipV="1">
            <a:off x="4395219" y="3799117"/>
            <a:ext cx="4947238" cy="249399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65750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08180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552795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642795"/>
            <a:ext cx="34412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(4/4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413129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3460" y="2825211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52457" y="2628953"/>
            <a:ext cx="180000" cy="180000"/>
            <a:chOff x="5058274" y="2498299"/>
            <a:chExt cx="180000" cy="180000"/>
          </a:xfrm>
        </p:grpSpPr>
        <p:sp>
          <p:nvSpPr>
            <p:cNvPr id="211" name="타원 210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타원 211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17" idx="1"/>
          </p:cNvCxnSpPr>
          <p:nvPr/>
        </p:nvCxnSpPr>
        <p:spPr>
          <a:xfrm>
            <a:off x="1908180" y="1642795"/>
            <a:ext cx="402198" cy="74660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생체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비밀번호인증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개인정보상세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104" idx="1"/>
          </p:cNvCxnSpPr>
          <p:nvPr/>
        </p:nvCxnSpPr>
        <p:spPr>
          <a:xfrm>
            <a:off x="1908180" y="1642795"/>
            <a:ext cx="40219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224540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생체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/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비밀번호인증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>
            <a:off x="3210378" y="1642795"/>
            <a:ext cx="40804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그룹 13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141" name="그룹 140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149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299638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개인신원확인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299638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prstClr val="black"/>
                </a:solidFill>
                <a:latin typeface="맑은 고딕" panose="020B0503020000020004" pitchFamily="50" charset="-127"/>
              </a:rPr>
              <a:t>인증서관리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9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89" idx="1"/>
          </p:cNvCxnSpPr>
          <p:nvPr/>
        </p:nvCxnSpPr>
        <p:spPr>
          <a:xfrm>
            <a:off x="1908180" y="1642795"/>
            <a:ext cx="402198" cy="14975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926462" y="299638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인증서확인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89" idx="3"/>
            <a:endCxn id="191" idx="1"/>
          </p:cNvCxnSpPr>
          <p:nvPr/>
        </p:nvCxnSpPr>
        <p:spPr>
          <a:xfrm>
            <a:off x="3210378" y="3140386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374488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업체소속사용자목록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64" idx="1"/>
          </p:cNvCxnSpPr>
          <p:nvPr/>
        </p:nvCxnSpPr>
        <p:spPr>
          <a:xfrm>
            <a:off x="1908180" y="1642795"/>
            <a:ext cx="402198" cy="224608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37429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상태변경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64" idx="3"/>
            <a:endCxn id="266" idx="1"/>
          </p:cNvCxnSpPr>
          <p:nvPr/>
        </p:nvCxnSpPr>
        <p:spPr>
          <a:xfrm flipV="1">
            <a:off x="3210378" y="3886995"/>
            <a:ext cx="408042" cy="18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9" idx="3"/>
            <a:endCxn id="211" idx="0"/>
          </p:cNvCxnSpPr>
          <p:nvPr/>
        </p:nvCxnSpPr>
        <p:spPr>
          <a:xfrm>
            <a:off x="5826462" y="1642795"/>
            <a:ext cx="3515995" cy="98615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3" idx="3"/>
            <a:endCxn id="211" idx="0"/>
          </p:cNvCxnSpPr>
          <p:nvPr/>
        </p:nvCxnSpPr>
        <p:spPr>
          <a:xfrm>
            <a:off x="4518420" y="2389404"/>
            <a:ext cx="4824037" cy="239549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1" idx="3"/>
            <a:endCxn id="209" idx="2"/>
          </p:cNvCxnSpPr>
          <p:nvPr/>
        </p:nvCxnSpPr>
        <p:spPr>
          <a:xfrm flipV="1">
            <a:off x="5826462" y="2948322"/>
            <a:ext cx="3515995" cy="19206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926462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개인정보수정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6" idx="3"/>
            <a:endCxn id="89" idx="1"/>
          </p:cNvCxnSpPr>
          <p:nvPr/>
        </p:nvCxnSpPr>
        <p:spPr>
          <a:xfrm>
            <a:off x="4518420" y="1642795"/>
            <a:ext cx="40804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224540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비밀번호변경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7" idx="3"/>
            <a:endCxn id="93" idx="1"/>
          </p:cNvCxnSpPr>
          <p:nvPr/>
        </p:nvCxnSpPr>
        <p:spPr>
          <a:xfrm>
            <a:off x="3210378" y="2389404"/>
            <a:ext cx="40804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91" idx="3"/>
            <a:endCxn id="201" idx="1"/>
          </p:cNvCxnSpPr>
          <p:nvPr/>
        </p:nvCxnSpPr>
        <p:spPr>
          <a:xfrm>
            <a:off x="4518420" y="3140386"/>
            <a:ext cx="40804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449149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회원탈퇴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19" idx="1"/>
          </p:cNvCxnSpPr>
          <p:nvPr/>
        </p:nvCxnSpPr>
        <p:spPr>
          <a:xfrm>
            <a:off x="1908180" y="1642795"/>
            <a:ext cx="402198" cy="29926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9" idx="3"/>
            <a:endCxn id="209" idx="2"/>
          </p:cNvCxnSpPr>
          <p:nvPr/>
        </p:nvCxnSpPr>
        <p:spPr>
          <a:xfrm flipV="1">
            <a:off x="3210378" y="2948322"/>
            <a:ext cx="6132079" cy="16871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66" idx="3"/>
            <a:endCxn id="209" idx="2"/>
          </p:cNvCxnSpPr>
          <p:nvPr/>
        </p:nvCxnSpPr>
        <p:spPr>
          <a:xfrm flipV="1">
            <a:off x="4518420" y="2948322"/>
            <a:ext cx="4824037" cy="9386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2490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마이페이지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MyPage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세부스텝팝업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MyPrgrsHstryDtl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</a:rPr>
              <a:t>나의진행업무현황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MyPrgrsHstryPage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dirty="0">
                <a:solidFill>
                  <a:schemeClr val="tx1"/>
                </a:solidFill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2747194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위젯관리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WdgtMngController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나의업무이력현황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MyTaskHstryPage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관심입찰공고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ItrstBidPbancPage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업무캘린더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일정상세정보팝업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TaskCldrDtlPage.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3455423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MyTaskMngController</a:t>
            </a:r>
            <a:endParaRPr lang="en-US" altLang="ko-KR" sz="9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6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715812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n-US" altLang="ko-KR" sz="1200" dirty="0" smtClean="0">
                <a:solidFill>
                  <a:schemeClr val="tx1"/>
                </a:solidFill>
              </a:rPr>
              <a:t>1/5) </a:t>
            </a:r>
            <a:r>
              <a:rPr lang="en-US" altLang="ko-KR" sz="1200" dirty="0">
                <a:solidFill>
                  <a:schemeClr val="tx1"/>
                </a:solidFill>
              </a:rPr>
              <a:t>– </a:t>
            </a:r>
            <a:r>
              <a:rPr lang="ko-KR" altLang="en-US" sz="1200" dirty="0">
                <a:solidFill>
                  <a:schemeClr val="tx1"/>
                </a:solidFill>
              </a:rPr>
              <a:t>공고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캘린더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문서함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캐비닛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등록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,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수정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TaskCldrRegPage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삭제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TaskCldrDelPage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문서함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문서함상세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163022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나의업무이력관리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TaskHstryMngController</a:t>
            </a:r>
            <a:endParaRPr lang="en-US" altLang="ko-KR" sz="9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4" idx="1"/>
          </p:cNvCxnSpPr>
          <p:nvPr/>
        </p:nvCxnSpPr>
        <p:spPr>
          <a:xfrm>
            <a:off x="5687291" y="2990174"/>
            <a:ext cx="1226126" cy="14158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876636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/>
              <a:t>디지털캐비닛관리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DigitalCabinetMngController</a:t>
            </a:r>
            <a:endParaRPr lang="en-US" altLang="ko-KR" sz="900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5" idx="1"/>
          </p:cNvCxnSpPr>
          <p:nvPr/>
        </p:nvCxnSpPr>
        <p:spPr>
          <a:xfrm>
            <a:off x="5687291" y="2990174"/>
            <a:ext cx="1226126" cy="21294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5561658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UserMngController</a:t>
            </a:r>
            <a:endParaRPr lang="en-US" altLang="ko-KR" sz="900" dirty="0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7" idx="1"/>
          </p:cNvCxnSpPr>
          <p:nvPr/>
        </p:nvCxnSpPr>
        <p:spPr>
          <a:xfrm>
            <a:off x="5687291" y="2990174"/>
            <a:ext cx="1226126" cy="28144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9272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문서정보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DocBoxDtl_Info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첨언상세보기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DocBoxDtl_AtchOpnn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첨부파일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DocBoxDtl_Atch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2747194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위젯관리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WdgtMngController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개인별수신처관리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IndvRcofcMngPage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관심법령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ItrstSttPage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나의게시물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myPstPage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디지털캐비닛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3455423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MyTaskMngController</a:t>
            </a:r>
            <a:endParaRPr lang="en-US" altLang="ko-KR" sz="9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6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715812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(2/5) </a:t>
            </a:r>
            <a:r>
              <a:rPr lang="en-US" altLang="ko-KR" sz="1200" dirty="0">
                <a:solidFill>
                  <a:schemeClr val="tx1"/>
                </a:solidFill>
              </a:rPr>
              <a:t>– </a:t>
            </a:r>
            <a:r>
              <a:rPr lang="ko-KR" altLang="en-US" sz="1200" dirty="0">
                <a:solidFill>
                  <a:schemeClr val="tx1"/>
                </a:solidFill>
              </a:rPr>
              <a:t>공고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캘린더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문서함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캐비닛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폴더설정권한관리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digitalCabinetMng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폴더내파일목록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digitalCabinetFileListPage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dirty="0">
                <a:solidFill>
                  <a:schemeClr val="tx1"/>
                </a:solidFill>
              </a:rPr>
              <a:t> 1)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163022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나의업무이력관리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TaskHstryMngController</a:t>
            </a:r>
            <a:endParaRPr lang="en-US" altLang="ko-KR" sz="9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4" idx="1"/>
          </p:cNvCxnSpPr>
          <p:nvPr/>
        </p:nvCxnSpPr>
        <p:spPr>
          <a:xfrm>
            <a:off x="5687291" y="2990174"/>
            <a:ext cx="1226126" cy="14158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876636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/>
              <a:t>디지털캐비닛관리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DigitalCabinetMngController</a:t>
            </a:r>
            <a:endParaRPr lang="en-US" altLang="ko-KR" sz="900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5" idx="1"/>
          </p:cNvCxnSpPr>
          <p:nvPr/>
        </p:nvCxnSpPr>
        <p:spPr>
          <a:xfrm>
            <a:off x="5687291" y="2990174"/>
            <a:ext cx="1226126" cy="21294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5561658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UserMngController</a:t>
            </a:r>
            <a:endParaRPr lang="en-US" altLang="ko-KR" sz="900" dirty="0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7" idx="1"/>
          </p:cNvCxnSpPr>
          <p:nvPr/>
        </p:nvCxnSpPr>
        <p:spPr>
          <a:xfrm>
            <a:off x="5687291" y="2990174"/>
            <a:ext cx="1226126" cy="28144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9438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업체정보관리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업체정보상세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bzentyGnrlInfoDtlPage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 smtClean="0">
                <a:solidFill>
                  <a:schemeClr val="tx1"/>
                </a:solidFill>
              </a:rPr>
              <a:t>업체일반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 smtClean="0">
                <a:solidFill>
                  <a:schemeClr val="tx1"/>
                </a:solidFill>
                <a:latin typeface="+mn-ea"/>
              </a:rPr>
              <a:t>bzentyGnrlInfoDtl_Gnrl</a:t>
            </a:r>
            <a:r>
              <a:rPr lang="en-US" altLang="ko-KR" sz="8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bzentyGnrlInfoDtl_Cmdty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시설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bzentyGnrlInfoDtl_Fclt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국내소재상사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bzentyGnrlInfoDtl_DmsAgt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추가정보신청목록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DmstLctnColInfoAddRegPage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>
                <a:latin typeface="+mn-ea"/>
              </a:rPr>
              <a:t>&lt;&lt;</a:t>
            </a:r>
            <a:r>
              <a:rPr lang="ko-KR" altLang="en-US" sz="900" dirty="0" err="1">
                <a:latin typeface="+mn-ea"/>
              </a:rPr>
              <a:t>조달청요청</a:t>
            </a:r>
            <a:r>
              <a:rPr lang="en-US" altLang="ko-KR" sz="9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900" kern="0" dirty="0">
                <a:solidFill>
                  <a:srgbClr val="000000"/>
                </a:solidFill>
                <a:latin typeface="+mn-ea"/>
              </a:rPr>
              <a:t>G2bReqController</a:t>
            </a:r>
            <a:endParaRPr lang="en-US" altLang="ko-KR" sz="12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(3/5)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업체정보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>
                <a:solidFill>
                  <a:schemeClr val="tx1"/>
                </a:solidFill>
                <a:latin typeface="+mn-ea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+mn-ea"/>
              </a:rPr>
              <a:t>신청정보</a:t>
            </a:r>
            <a:endParaRPr lang="en-US" altLang="ko-KR" sz="100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>
                <a:solidFill>
                  <a:schemeClr val="tx1"/>
                </a:solidFill>
                <a:latin typeface="+mn-ea"/>
              </a:rPr>
              <a:t>addRegInfoAplyDtl_Cmdty</a:t>
            </a:r>
            <a:r>
              <a:rPr lang="en-US" altLang="ko-KR" sz="100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국내소재상사신청정보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addRegInfoAplyDtl_DmsAgt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PbamdsInfoJntUtztnBfhdWtcs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담당자정보저장</a:t>
            </a:r>
            <a:endParaRPr lang="en-US" altLang="ko-KR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dmstLctnColInfoAddReg_Pic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조합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단체선택팝업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AsctGrpChc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FSC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선택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FSCChc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품류선택팝업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KnditmChc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보안측정인원등록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ScrtyMsrmtPrsnlReg.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4891554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품목조회팝업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ItemInq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9" idx="0"/>
            <a:endCxn id="9" idx="2"/>
          </p:cNvCxnSpPr>
          <p:nvPr/>
        </p:nvCxnSpPr>
        <p:spPr>
          <a:xfrm flipH="1" flipV="1">
            <a:off x="4823691" y="3810190"/>
            <a:ext cx="509121" cy="1081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441300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등록대상품목선택팝업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RegTrgtItemChc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4890347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smtClean="0">
                <a:solidFill>
                  <a:schemeClr val="tx1"/>
                </a:solidFill>
                <a:latin typeface="+mn-ea"/>
              </a:rPr>
              <a:t>국내소재상사</a:t>
            </a:r>
            <a:endParaRPr lang="en-US" altLang="ko-KR" sz="7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dmstLctnColInfoAddReg_Cmbz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2" idx="0"/>
            <a:endCxn id="9" idx="2"/>
          </p:cNvCxnSpPr>
          <p:nvPr/>
        </p:nvCxnSpPr>
        <p:spPr>
          <a:xfrm flipH="1" flipV="1">
            <a:off x="4823691" y="3810190"/>
            <a:ext cx="509121" cy="602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3" idx="0"/>
            <a:endCxn id="9" idx="2"/>
          </p:cNvCxnSpPr>
          <p:nvPr/>
        </p:nvCxnSpPr>
        <p:spPr>
          <a:xfrm flipV="1">
            <a:off x="3855704" y="3810190"/>
            <a:ext cx="967987" cy="1080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848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주거래은행선택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BankChc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행정정보공동이용사전동의서</a:t>
            </a:r>
            <a:endParaRPr lang="en-US" altLang="ko-KR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PbamdsInfoJntUtztnBfhdWtcs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확인팝업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Confirm</a:t>
            </a:r>
            <a:r>
              <a:rPr lang="en-US" altLang="ko-KR" sz="8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군수품무역대리업신청및발급목록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DfEqpmntTradeAgncAplyListPage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신청내역상세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DfEqpmntTradeAgncAplyDtlPage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신규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DfEqpmntTradeAgncAplyPage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DfEqpmntTradeAgncChgPage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>
                <a:latin typeface="+mn-ea"/>
              </a:rPr>
              <a:t>&lt;&lt;</a:t>
            </a:r>
            <a:r>
              <a:rPr lang="ko-KR" altLang="en-US" sz="900" dirty="0" err="1">
                <a:latin typeface="+mn-ea"/>
              </a:rPr>
              <a:t>조달청요청</a:t>
            </a:r>
            <a:r>
              <a:rPr lang="en-US" altLang="ko-KR" sz="9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900" kern="0" dirty="0">
                <a:solidFill>
                  <a:srgbClr val="000000"/>
                </a:solidFill>
                <a:latin typeface="+mn-ea"/>
              </a:rPr>
              <a:t>G2bReqController</a:t>
            </a:r>
            <a:endParaRPr lang="en-US" altLang="ko-KR" sz="12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(4/5)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업체정보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조달원확인서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dmstSosCnfdocListPage.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조달원확인서신청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dmstSosCnfdocAplyPage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국외조달원등록증신청안내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ovsdmstSosCnfdoc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6054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사용자정보관리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IndvInfoMngPage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개인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생체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인증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비밀번호인증</a:t>
            </a:r>
            <a:endParaRPr lang="en-US" altLang="ko-KR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IndvCertPage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smtClean="0">
                <a:solidFill>
                  <a:schemeClr val="tx1"/>
                </a:solidFill>
              </a:rPr>
              <a:t>개인정보상세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IndvInfoDtlPage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dirty="0">
                <a:solidFill>
                  <a:schemeClr val="tx1"/>
                </a:solidFill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UserMngController</a:t>
            </a:r>
            <a:endParaRPr lang="en-US" altLang="ko-KR" sz="9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개인정보수정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IndvInfoMdfcnPage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비밀번호변경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PswdChgPage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개인신원확인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IndvIdntIdntyPage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인증서관리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CrtfMng.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(5/5)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개인정보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인증서확인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CrtfIdnty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4329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prstClr val="black"/>
                </a:solidFill>
                <a:latin typeface="맑은 고딕" panose="020B0503020000020004" pitchFamily="50" charset="-127"/>
              </a:rPr>
              <a:t>업체소속사용자목록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PrcmBzentyUserMngPage.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8" idx="3"/>
            <a:endCxn id="9" idx="1"/>
          </p:cNvCxnSpPr>
          <p:nvPr/>
        </p:nvCxnSpPr>
        <p:spPr>
          <a:xfrm flipV="1">
            <a:off x="2992582" y="2990174"/>
            <a:ext cx="967509" cy="2239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알림서비스신청및해지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NotiSrvcAplyPage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3" idx="3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회원탈퇴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MbWithdrawal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상태 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PrcmBzentyUsrSttsChg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endCxn id="67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5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06655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그림 118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r="4806" b="32893"/>
          <a:stretch/>
        </p:blipFill>
        <p:spPr>
          <a:xfrm>
            <a:off x="856015" y="4368527"/>
            <a:ext cx="2362786" cy="1856909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 fontScale="92500" lnSpcReduction="10000"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나의 진행 업무 현황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진행중인 </a:t>
            </a:r>
            <a:r>
              <a:rPr lang="ko-KR" altLang="en-US" dirty="0" smtClean="0"/>
              <a:t>건수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입찰참가신청 등 하단 메뉴 진입 시 검색 필터에 해당 정보를 </a:t>
            </a:r>
            <a:r>
              <a:rPr lang="ko-KR" altLang="en-US" dirty="0" err="1" smtClean="0"/>
              <a:t>필터링</a:t>
            </a:r>
            <a:r>
              <a:rPr lang="ko-KR" altLang="en-US" dirty="0" smtClean="0"/>
              <a:t> 하여 진입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입찰참가신청 건만 </a:t>
            </a:r>
            <a:r>
              <a:rPr lang="ko-KR" altLang="en-US" dirty="0" err="1" smtClean="0"/>
              <a:t>필터하여</a:t>
            </a:r>
            <a:r>
              <a:rPr lang="ko-KR" altLang="en-US" dirty="0" smtClean="0"/>
              <a:t> 목록에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MUI-CM-06-M02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나의 업무 이력 현황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포기 </a:t>
            </a:r>
            <a:r>
              <a:rPr lang="ko-KR" altLang="en-US" dirty="0" smtClean="0"/>
              <a:t>건수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MUI-CM-06-M04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</a:t>
            </a:r>
            <a:r>
              <a:rPr lang="en-US" altLang="ko-KR" dirty="0"/>
              <a:t>(stared) </a:t>
            </a:r>
            <a:r>
              <a:rPr lang="ko-KR" altLang="en-US" dirty="0"/>
              <a:t>체크한 입찰 공고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>- </a:t>
            </a:r>
            <a:r>
              <a:rPr lang="en-US" altLang="ko-KR" dirty="0" smtClean="0"/>
              <a:t>MUI-CM-06-M05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</a:t>
            </a:r>
            <a:r>
              <a:rPr lang="ko-KR" altLang="en-US" dirty="0" smtClean="0"/>
              <a:t>캘린더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더보기</a:t>
            </a:r>
            <a:r>
              <a:rPr lang="ko-KR" altLang="en-US" dirty="0" smtClean="0"/>
              <a:t> 클릭 시 </a:t>
            </a:r>
            <a:r>
              <a:rPr lang="en-US" altLang="ko-KR" dirty="0" smtClean="0"/>
              <a:t>MUI-CM-06-M06 </a:t>
            </a:r>
            <a:r>
              <a:rPr lang="ko-KR" altLang="en-US" dirty="0" smtClean="0"/>
              <a:t>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즐겨찾기</a:t>
            </a:r>
            <a:r>
              <a:rPr lang="ko-KR" altLang="en-US" dirty="0"/>
              <a:t> 입찰공고</a:t>
            </a:r>
            <a:r>
              <a:rPr lang="en-US" altLang="ko-KR" dirty="0"/>
              <a:t>, </a:t>
            </a:r>
            <a:r>
              <a:rPr lang="ko-KR" altLang="en-US" dirty="0"/>
              <a:t>개인이 작성한 캘린더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캘린더에 노출</a:t>
            </a:r>
            <a:r>
              <a:rPr lang="en-US" altLang="ko-KR" dirty="0"/>
              <a:t>, </a:t>
            </a:r>
            <a:r>
              <a:rPr lang="ko-KR" altLang="en-US" dirty="0"/>
              <a:t>업무가 있는 날짜에 표식 </a:t>
            </a:r>
            <a:r>
              <a:rPr lang="ko-KR" altLang="en-US" dirty="0" smtClean="0"/>
              <a:t>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날짜 선택 시 하단 </a:t>
            </a:r>
            <a:r>
              <a:rPr lang="en-US" altLang="ko-KR" dirty="0" smtClean="0"/>
              <a:t>6</a:t>
            </a:r>
            <a:r>
              <a:rPr lang="ko-KR" altLang="en-US" dirty="0" err="1" smtClean="0"/>
              <a:t>번항에</a:t>
            </a:r>
            <a:r>
              <a:rPr lang="ko-KR" altLang="en-US" dirty="0" smtClean="0"/>
              <a:t> </a:t>
            </a:r>
            <a:r>
              <a:rPr lang="en-US" altLang="ko-KR" dirty="0" smtClean="0"/>
              <a:t>3</a:t>
            </a:r>
            <a:r>
              <a:rPr lang="ko-KR" altLang="en-US" dirty="0" smtClean="0"/>
              <a:t>개까지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</a:t>
            </a:r>
            <a:r>
              <a:rPr lang="en-US" altLang="ko-KR" dirty="0"/>
              <a:t>(stared) </a:t>
            </a:r>
            <a:r>
              <a:rPr lang="ko-KR" altLang="en-US" dirty="0"/>
              <a:t>체크한 공고 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해당 입찰 공고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개인이 작성한 스케줄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- 6~7 </a:t>
            </a:r>
            <a:r>
              <a:rPr lang="ko-KR" altLang="en-US" dirty="0"/>
              <a:t>항목은 합쳐서 최대 </a:t>
            </a:r>
            <a:r>
              <a:rPr lang="en-US" altLang="ko-KR" dirty="0"/>
              <a:t>3</a:t>
            </a:r>
            <a:r>
              <a:rPr lang="ko-KR" altLang="en-US" dirty="0"/>
              <a:t>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바텀시트로</a:t>
            </a:r>
            <a:r>
              <a:rPr lang="ko-KR" altLang="en-US" dirty="0"/>
              <a:t> 세부 정보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MUI-CM-06-P07 </a:t>
            </a:r>
            <a:r>
              <a:rPr lang="ko-KR" altLang="en-US" dirty="0" smtClean="0"/>
              <a:t>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정보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하단 받은 문서 등으로 진입할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검색 필터에 해당 정보로 </a:t>
            </a:r>
            <a:r>
              <a:rPr lang="ko-KR" altLang="en-US" dirty="0" err="1" smtClean="0"/>
              <a:t>필터하여</a:t>
            </a:r>
            <a:r>
              <a:rPr lang="ko-KR" altLang="en-US" dirty="0" smtClean="0"/>
              <a:t> 목록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</a:t>
            </a:r>
            <a:r>
              <a:rPr lang="ko-KR" altLang="en-US" dirty="0" err="1" smtClean="0"/>
              <a:t>한달이내</a:t>
            </a:r>
            <a:r>
              <a:rPr lang="ko-KR" altLang="en-US" dirty="0" smtClean="0"/>
              <a:t>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문서함 클릭 </a:t>
            </a:r>
            <a:r>
              <a:rPr lang="en-US" altLang="ko-KR" dirty="0" smtClean="0"/>
              <a:t>- MUI-CM-06-M10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 등 클릭 시 </a:t>
            </a:r>
            <a:r>
              <a:rPr lang="en-US" altLang="ko-KR" dirty="0" smtClean="0"/>
              <a:t>MUI-CM-06-M10</a:t>
            </a:r>
            <a:r>
              <a:rPr lang="ko-KR" altLang="en-US" dirty="0" smtClean="0"/>
              <a:t>이동하면서 검색 필터 적용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즐겨찾기한</a:t>
            </a:r>
            <a:r>
              <a:rPr lang="ko-KR" altLang="en-US" dirty="0"/>
              <a:t> </a:t>
            </a:r>
            <a:r>
              <a:rPr lang="ko-KR" altLang="en-US" dirty="0" err="1"/>
              <a:t>관심법령</a:t>
            </a:r>
            <a:r>
              <a:rPr lang="ko-KR" altLang="en-US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전체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MUI-CM-06-M13 </a:t>
            </a:r>
            <a:r>
              <a:rPr lang="ko-KR" altLang="en-US" dirty="0" smtClean="0"/>
              <a:t>이동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나의 게시물 </a:t>
            </a:r>
            <a:r>
              <a:rPr lang="en-US" altLang="ko-KR" dirty="0" smtClean="0"/>
              <a:t>MUI-CM-06-M17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사용자정보관리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MUI-CM-02-M01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MUI-CM-06-M01</a:t>
            </a:r>
            <a:endParaRPr lang="ko-KR" altLang="en-US" sz="1000" dirty="0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2055971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b="1" dirty="0">
                <a:latin typeface="+mn-ea"/>
              </a:rPr>
              <a:t>[A </a:t>
            </a:r>
            <a:r>
              <a:rPr lang="ko-KR" altLang="en-US" sz="800" b="1" dirty="0">
                <a:latin typeface="+mn-ea"/>
              </a:rPr>
              <a:t>업체</a:t>
            </a:r>
            <a:r>
              <a:rPr lang="en-US" altLang="ko-KR" sz="800" b="1" dirty="0">
                <a:latin typeface="+mn-ea"/>
              </a:rPr>
              <a:t>] </a:t>
            </a:r>
            <a:r>
              <a:rPr lang="ko-KR" altLang="en-US" sz="800" b="1" dirty="0">
                <a:latin typeface="+mn-ea"/>
              </a:rPr>
              <a:t>홍길동 님</a:t>
            </a:r>
          </a:p>
        </p:txBody>
      </p:sp>
      <p:sp>
        <p:nvSpPr>
          <p:cNvPr id="43" name="타원 42"/>
          <p:cNvSpPr/>
          <p:nvPr/>
        </p:nvSpPr>
        <p:spPr>
          <a:xfrm>
            <a:off x="3044537" y="1995960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3002436" y="1977892"/>
            <a:ext cx="282450" cy="2308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900" dirty="0"/>
              <a:t>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45" name="모서리가 둥근 직사각형 44"/>
          <p:cNvSpPr/>
          <p:nvPr/>
        </p:nvSpPr>
        <p:spPr>
          <a:xfrm>
            <a:off x="903581" y="2423118"/>
            <a:ext cx="2255663" cy="1012125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/>
          <p:cNvGrpSpPr/>
          <p:nvPr/>
        </p:nvGrpSpPr>
        <p:grpSpPr>
          <a:xfrm>
            <a:off x="903581" y="2344367"/>
            <a:ext cx="2255663" cy="306146"/>
            <a:chOff x="903581" y="2074658"/>
            <a:chExt cx="2255663" cy="306146"/>
          </a:xfrm>
        </p:grpSpPr>
        <p:sp>
          <p:nvSpPr>
            <p:cNvPr id="22" name="모서리가 둥근 직사각형 2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진행 업무 현황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721050"/>
            <a:ext cx="173195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입찰참가신청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적격심사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기술평가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err="1">
                <a:latin typeface="+mn-ea"/>
              </a:rPr>
              <a:t>사양서평가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0713" y="2721050"/>
            <a:ext cx="64896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71283" y="2721050"/>
            <a:ext cx="17325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511341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업무 이력 현황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3893585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관심 입찰공고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429257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업무 캘린더</a:t>
            </a:r>
          </a:p>
        </p:txBody>
      </p:sp>
      <p:sp>
        <p:nvSpPr>
          <p:cNvPr id="62" name="모서리가 둥근 직사각형 61"/>
          <p:cNvSpPr/>
          <p:nvPr/>
        </p:nvSpPr>
        <p:spPr>
          <a:xfrm>
            <a:off x="2737360" y="4273131"/>
            <a:ext cx="419793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 err="1">
                <a:solidFill>
                  <a:schemeClr val="tx1"/>
                </a:solidFill>
              </a:rPr>
              <a:t>더보기</a:t>
            </a:r>
            <a:r>
              <a:rPr lang="ko-KR" altLang="en-US" sz="600" b="1" dirty="0">
                <a:solidFill>
                  <a:schemeClr val="tx1"/>
                </a:solidFill>
              </a:rPr>
              <a:t> </a:t>
            </a:r>
            <a:r>
              <a:rPr lang="en-US" altLang="ko-KR" sz="600" b="1" dirty="0">
                <a:solidFill>
                  <a:schemeClr val="tx1"/>
                </a:solidFill>
              </a:rPr>
              <a:t>&gt;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8" name="그룹 67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69" name="직선 연결선 6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직선 연결선 6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1" name="타원 70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/>
          <p:cNvSpPr txBox="1"/>
          <p:nvPr/>
        </p:nvSpPr>
        <p:spPr>
          <a:xfrm>
            <a:off x="6108450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4018745" y="5625865"/>
            <a:ext cx="2255663" cy="306146"/>
            <a:chOff x="903581" y="2074658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관심 법령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78" name="모서리가 둥근 직사각형 77"/>
          <p:cNvSpPr/>
          <p:nvPr/>
        </p:nvSpPr>
        <p:spPr>
          <a:xfrm>
            <a:off x="4018745" y="2551301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27957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즐겨찾기</a:t>
            </a:r>
            <a:r>
              <a:rPr lang="en-US" altLang="ko-KR" sz="800" b="1" dirty="0">
                <a:latin typeface="+mn-ea"/>
              </a:rPr>
              <a:t>(</a:t>
            </a:r>
            <a:r>
              <a:rPr lang="ko-KR" altLang="en-US" sz="800" b="1" dirty="0">
                <a:latin typeface="+mn-ea"/>
              </a:rPr>
              <a:t>찜</a:t>
            </a:r>
            <a:r>
              <a:rPr lang="en-US" altLang="ko-KR" sz="800" b="1" dirty="0">
                <a:latin typeface="+mn-ea"/>
              </a:rPr>
              <a:t>)</a:t>
            </a:r>
            <a:r>
              <a:rPr lang="ko-KR" altLang="en-US" sz="800" b="1" dirty="0">
                <a:latin typeface="+mn-ea"/>
              </a:rPr>
              <a:t>한 입찰공고 표시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26475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417277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4150219" y="264210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273131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4018745" y="3060026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330450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입찰공고명이 표시됩니다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315629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4150219" y="315083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324004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95" name="모서리가 둥근 직사각형 94"/>
          <p:cNvSpPr/>
          <p:nvPr/>
        </p:nvSpPr>
        <p:spPr>
          <a:xfrm>
            <a:off x="4018745" y="3568751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381322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작성한 스케줄이 있는 경우 </a:t>
            </a:r>
            <a:r>
              <a:rPr lang="ko-KR" altLang="en-US" sz="800" b="1" dirty="0" err="1">
                <a:latin typeface="+mn-ea"/>
              </a:rPr>
              <a:t>표시됩</a:t>
            </a:r>
            <a:r>
              <a:rPr lang="en-US" altLang="ko-KR" sz="800" b="1" dirty="0">
                <a:latin typeface="+mn-ea"/>
              </a:rPr>
              <a:t>…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366502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98" name="모서리가 둥근 직사각형 97"/>
          <p:cNvSpPr/>
          <p:nvPr/>
        </p:nvSpPr>
        <p:spPr>
          <a:xfrm>
            <a:off x="4150219" y="365955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개인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374876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01" name="모서리가 둥근 직사각형 100"/>
          <p:cNvSpPr/>
          <p:nvPr/>
        </p:nvSpPr>
        <p:spPr>
          <a:xfrm>
            <a:off x="4018745" y="4379511"/>
            <a:ext cx="2255663" cy="1166485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/>
          <p:cNvGrpSpPr/>
          <p:nvPr/>
        </p:nvGrpSpPr>
        <p:grpSpPr>
          <a:xfrm>
            <a:off x="4018745" y="4300760"/>
            <a:ext cx="2255663" cy="306146"/>
            <a:chOff x="903581" y="2074658"/>
            <a:chExt cx="2255663" cy="306146"/>
          </a:xfrm>
        </p:grpSpPr>
        <p:sp>
          <p:nvSpPr>
            <p:cNvPr id="103" name="모서리가 둥근 직사각형 102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문서함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4677443"/>
            <a:ext cx="1731957" cy="8079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받은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보낸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반려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err="1" smtClean="0">
                <a:latin typeface="+mn-ea"/>
              </a:rPr>
              <a:t>임시저장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smtClean="0">
                <a:latin typeface="+mn-ea"/>
              </a:rPr>
              <a:t>개인별수신처관리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5877" y="4677443"/>
            <a:ext cx="64896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986447" y="4677443"/>
            <a:ext cx="173253" cy="8079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 smtClean="0">
                <a:latin typeface="+mn-ea"/>
              </a:rPr>
              <a:t>&gt;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700" dirty="0" smtClean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783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9661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824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865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29582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37357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7</a:t>
            </a:r>
            <a:endParaRPr lang="ko-KR" altLang="en-US" sz="900" b="1" dirty="0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43921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8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57163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9</a:t>
            </a:r>
            <a:endParaRPr lang="ko-KR" altLang="en-US" sz="900" b="1" dirty="0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t="75623" r="4806" b="2422"/>
          <a:stretch/>
        </p:blipFill>
        <p:spPr>
          <a:xfrm>
            <a:off x="3964017" y="1859484"/>
            <a:ext cx="2362786" cy="607512"/>
          </a:xfrm>
          <a:prstGeom prst="rect">
            <a:avLst/>
          </a:prstGeom>
        </p:spPr>
      </p:pic>
      <p:grpSp>
        <p:nvGrpSpPr>
          <p:cNvPr id="118" name="그룹 117"/>
          <p:cNvGrpSpPr/>
          <p:nvPr/>
        </p:nvGrpSpPr>
        <p:grpSpPr>
          <a:xfrm>
            <a:off x="4018745" y="6004904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게시물</a:t>
              </a: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6039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00" b="1" dirty="0" smtClean="0"/>
              <a:t>10</a:t>
            </a:r>
            <a:endParaRPr lang="ko-KR" altLang="en-US" sz="800" b="1" dirty="0"/>
          </a:p>
        </p:txBody>
      </p:sp>
      <p:grpSp>
        <p:nvGrpSpPr>
          <p:cNvPr id="125" name="그룹 12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6" name="직사각형 12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2026-07-27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27" name="직사각형 12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개인별수신처관리 진입 포인트 생성</a:t>
              </a:r>
              <a:endParaRPr lang="ko-KR" altLang="en-US" sz="700" dirty="0"/>
            </a:p>
          </p:txBody>
        </p:sp>
      </p:grpSp>
      <p:sp>
        <p:nvSpPr>
          <p:cNvPr id="128" name="타원 1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5255" y="19979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00" b="1" dirty="0" smtClean="0"/>
              <a:t>11</a:t>
            </a:r>
            <a:endParaRPr lang="ko-KR" altLang="en-US" sz="800" b="1" dirty="0"/>
          </a:p>
        </p:txBody>
      </p:sp>
      <p:grpSp>
        <p:nvGrpSpPr>
          <p:cNvPr id="129" name="그룹 128"/>
          <p:cNvGrpSpPr/>
          <p:nvPr/>
        </p:nvGrpSpPr>
        <p:grpSpPr>
          <a:xfrm>
            <a:off x="8223250" y="837987"/>
            <a:ext cx="3365500" cy="634511"/>
            <a:chOff x="8223250" y="569392"/>
            <a:chExt cx="3365500" cy="634511"/>
          </a:xfrm>
        </p:grpSpPr>
        <p:sp>
          <p:nvSpPr>
            <p:cNvPr id="130" name="직사각형 12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2026-08-03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11</a:t>
              </a:r>
              <a:r>
                <a:rPr lang="ko-KR" altLang="en-US" sz="700" dirty="0" smtClean="0"/>
                <a:t>번 항목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85292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각 </a:t>
            </a:r>
            <a:r>
              <a:rPr lang="ko-KR" altLang="en-US" dirty="0" err="1"/>
              <a:t>바로가기</a:t>
            </a:r>
            <a:r>
              <a:rPr lang="ko-KR" altLang="en-US" dirty="0"/>
              <a:t> 버튼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페이지 또는 팝업 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국외 보관함 </a:t>
            </a:r>
            <a:r>
              <a:rPr lang="en-US" altLang="ko-KR" dirty="0"/>
              <a:t>MUI-CM-01-M71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latin typeface="+mn-ea"/>
              </a:rPr>
              <a:t>업체정보 관리 </a:t>
            </a:r>
            <a:r>
              <a:rPr lang="en-US" altLang="ko-KR" dirty="0" smtClean="0">
                <a:latin typeface="+mn-ea"/>
              </a:rPr>
              <a:t>MUI-CM-01-M01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사용자 정보 관리 </a:t>
            </a:r>
            <a:r>
              <a:rPr lang="en-US" altLang="ko-KR" dirty="0" smtClean="0">
                <a:latin typeface="+mn-ea"/>
              </a:rPr>
              <a:t>MUI-CM-02-M01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디지털 캐비닛 </a:t>
            </a:r>
            <a:r>
              <a:rPr lang="en-US" altLang="ko-KR" dirty="0" smtClean="0">
                <a:latin typeface="+mn-ea"/>
              </a:rPr>
              <a:t>MUI-CM-06-M14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알림 서비스 </a:t>
            </a:r>
            <a:r>
              <a:rPr lang="en-US" altLang="ko-KR" dirty="0">
                <a:latin typeface="+mn-ea"/>
              </a:rPr>
              <a:t>MUI-CM-02-M09</a:t>
            </a:r>
            <a:endParaRPr lang="ko-KR" altLang="en-US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2411372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 </a:t>
              </a:r>
              <a:r>
                <a:rPr lang="ko-KR" altLang="en-US" sz="800" b="1" dirty="0" smtClean="0">
                  <a:latin typeface="+mn-ea"/>
                </a:rPr>
                <a:t>정보 관리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2793616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사용자 </a:t>
              </a:r>
              <a:r>
                <a:rPr lang="ko-KR" altLang="en-US" sz="800" b="1" dirty="0" smtClean="0">
                  <a:latin typeface="+mn-ea"/>
                </a:rPr>
                <a:t>정보 관리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3173892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디지털 캐비닛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3559184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알림 서비스 신청 및 해지</a:t>
              </a: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903581" y="2021491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보관함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7" name="그룹 36"/>
          <p:cNvGrpSpPr/>
          <p:nvPr/>
        </p:nvGrpSpPr>
        <p:grpSpPr>
          <a:xfrm>
            <a:off x="10362424" y="5850477"/>
            <a:ext cx="2255663" cy="306146"/>
            <a:chOff x="903581" y="2074658"/>
            <a:chExt cx="2255663" cy="306146"/>
          </a:xfrm>
        </p:grpSpPr>
        <p:sp>
          <p:nvSpPr>
            <p:cNvPr id="38" name="모서리가 둥근 직사각형 37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회원탈퇴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2" name="직사각형 4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국외보관함</a:t>
              </a:r>
              <a:r>
                <a:rPr lang="ko-KR" altLang="en-US" sz="700" dirty="0" smtClean="0"/>
                <a:t>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회원탈퇴 제거 </a:t>
              </a:r>
              <a:r>
                <a:rPr lang="en-US" altLang="ko-KR" sz="700" dirty="0" smtClean="0"/>
                <a:t>– </a:t>
              </a:r>
              <a:r>
                <a:rPr lang="ko-KR" altLang="en-US" sz="700" dirty="0" smtClean="0"/>
                <a:t>회원탈퇴는 사용자 정보 화면으로 이동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0785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위젯관리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530297"/>
            <a:ext cx="217424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위젯관리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dl_wdgtList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590978"/>
              </p:ext>
            </p:extLst>
          </p:nvPr>
        </p:nvGraphicFramePr>
        <p:xfrm>
          <a:off x="452999" y="1814051"/>
          <a:ext cx="8994883" cy="1867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위젯명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위젯명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wdgtMyTaskPrgrsPrst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2393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wdgtMyPst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8119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wdgtItrstPbanc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87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wdgtTaskCldr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7817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wdgtMyDocBox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187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wdgtNotiPrst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7758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wdgtItrstStt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83297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0548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027433"/>
              </p:ext>
            </p:extLst>
          </p:nvPr>
        </p:nvGraphicFramePr>
        <p:xfrm>
          <a:off x="453000" y="4200291"/>
          <a:ext cx="8995591" cy="1069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96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21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사용자가 정의한 위젯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scwin.showMore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위젯 정보의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UI-CM-06-M02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UI-CM-06-M03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UI-CM-06-M04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UI-CM-06-M05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UI-CM-06-M06 </a:t>
                      </a:r>
                      <a:r>
                        <a:rPr lang="ko-KR" altLang="en-US" sz="800" dirty="0"/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7293962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FFAC1962-C944-E2B4-5DF0-0324665AB3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0777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57D18B0-B117-96B9-3853-C02FAA96F96F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8E0EA43-D1BD-0BAA-E3BC-D7F36797F54E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D35F1B0E-0FD5-E54A-A8DB-6022A7B6F1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3152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진행중인 업무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진행단계</a:t>
            </a:r>
            <a:r>
              <a:rPr lang="ko-KR" altLang="en-US" dirty="0"/>
              <a:t> 보기 버튼</a:t>
            </a:r>
            <a:r>
              <a:rPr lang="en-US" altLang="ko-KR" dirty="0"/>
              <a:t>, </a:t>
            </a:r>
            <a:r>
              <a:rPr lang="ko-KR" altLang="en-US" dirty="0"/>
              <a:t>공고 </a:t>
            </a:r>
            <a:r>
              <a:rPr lang="ko-KR" altLang="en-US" dirty="0" err="1"/>
              <a:t>바로가기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진행단계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팝업 </a:t>
            </a:r>
            <a:r>
              <a:rPr lang="ko-KR" altLang="en-US" dirty="0" smtClean="0">
                <a:sym typeface="Wingdings" panose="05000000000000000000" pitchFamily="2" charset="2"/>
              </a:rPr>
              <a:t>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MUI-CM-06-P03</a:t>
            </a:r>
            <a:endParaRPr lang="en-US" altLang="ko-KR" dirty="0" smtClean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나의진행업무현황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나의진행업무현황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나의진행업무현황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진행 업무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665237"/>
            <a:chOff x="781461" y="2610063"/>
            <a:chExt cx="2473257" cy="665237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25771" y="3139237"/>
              <a:ext cx="609141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2026-03-30 16:30</a:t>
              </a:r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81461" y="2610063"/>
              <a:ext cx="54965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입찰참가신청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37923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67342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5" y="3638607"/>
            <a:ext cx="2476203" cy="665237"/>
            <a:chOff x="778515" y="2610063"/>
            <a:chExt cx="2476203" cy="665237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460048" y="3139237"/>
              <a:ext cx="609141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2026-03-15 11:30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778515" y="2610063"/>
              <a:ext cx="41211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적격심사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1248687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545827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200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3187874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진행 단계 보기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55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069844" y="3187874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공고 </a:t>
            </a: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5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4426429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진행 단계 보기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5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069844" y="4426429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공고 </a:t>
            </a: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613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80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909786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99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grpSp>
        <p:nvGrpSpPr>
          <p:cNvPr id="117" name="그룹 11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2026-07-08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0259543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 단계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 진행 단계 클릭 시 선택이 유지되며</a:t>
            </a:r>
            <a:r>
              <a:rPr lang="en-US" altLang="ko-KR" dirty="0" smtClean="0"/>
              <a:t>,</a:t>
            </a:r>
            <a:r>
              <a:rPr lang="ko-KR" altLang="en-US" dirty="0" smtClean="0"/>
              <a:t> 하단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버튼으로 해당하는 목록으로 이동함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공고에 매칭되는 정보만 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해당 공고의 정보가 사용자가 선택하는 목록에 없는 경우 정보가 없음을 표시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  o </a:t>
            </a:r>
            <a:r>
              <a:rPr lang="ko-KR" altLang="en-US" dirty="0" smtClean="0">
                <a:solidFill>
                  <a:srgbClr val="FF0000"/>
                </a:solidFill>
              </a:rPr>
              <a:t>예를 들어</a:t>
            </a:r>
            <a:r>
              <a:rPr lang="en-US" altLang="ko-KR" dirty="0" smtClean="0">
                <a:solidFill>
                  <a:srgbClr val="FF0000"/>
                </a:solidFill>
              </a:rPr>
              <a:t>,</a:t>
            </a:r>
            <a:r>
              <a:rPr lang="ko-KR" altLang="en-US" dirty="0" smtClean="0">
                <a:solidFill>
                  <a:srgbClr val="FF0000"/>
                </a:solidFill>
              </a:rPr>
              <a:t> 공고의 진행 상태가 개찰까지 이루어졌다면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개찰 목록까지 해당 공고가 표시되고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err="1" smtClean="0">
                <a:solidFill>
                  <a:srgbClr val="FF0000"/>
                </a:solidFill>
              </a:rPr>
              <a:t>전자계약</a:t>
            </a:r>
            <a:r>
              <a:rPr lang="ko-KR" altLang="en-US" dirty="0" smtClean="0">
                <a:solidFill>
                  <a:srgbClr val="FF0000"/>
                </a:solidFill>
              </a:rPr>
              <a:t> 목록부터는 해당 공고가 표시되지 않음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선택된 목록에는 검색 영역이 숨겨지고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선택한 공고에 해당하는 정보만 표시함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  o </a:t>
            </a:r>
            <a:r>
              <a:rPr lang="ko-KR" altLang="en-US" dirty="0" smtClean="0">
                <a:solidFill>
                  <a:srgbClr val="FF0000"/>
                </a:solidFill>
              </a:rPr>
              <a:t>예를 들어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공고의 진행 상태가 개찰까지 이루어졌다면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개찰 목록에서 해당 공고가 표시될 때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검색 영역이 표시되지 않음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상기 표시된 단계 상태에 선택된 목록으로 이동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세부 스텝 팝업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진행중인 공고의 진행 단계를 표시하는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나의진행업무현황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진행 단계 확인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진행 업무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진행 단계 확인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6417" b="16151"/>
          <a:stretch/>
        </p:blipFill>
        <p:spPr>
          <a:xfrm>
            <a:off x="754234" y="2403907"/>
            <a:ext cx="2563266" cy="3320488"/>
          </a:xfrm>
          <a:prstGeom prst="rect">
            <a:avLst/>
          </a:prstGeom>
        </p:spPr>
      </p:pic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>
                <a:latin typeface="맑은 고딕"/>
                <a:ea typeface="맑은 고딕" panose="020B0503020000020004" pitchFamily="50" charset="-127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29" name="그룹 2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30" name="직사각형 2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버튼 명칭 </a:t>
              </a:r>
              <a:r>
                <a:rPr lang="en-US" altLang="ko-KR" sz="700" dirty="0" smtClean="0"/>
                <a:t>[</a:t>
              </a:r>
              <a:r>
                <a:rPr lang="ko-KR" altLang="en-US" sz="700" dirty="0" smtClean="0"/>
                <a:t>공고 </a:t>
              </a:r>
              <a:r>
                <a:rPr lang="ko-KR" altLang="en-US" sz="700" dirty="0" err="1" smtClean="0"/>
                <a:t>바로가기</a:t>
              </a:r>
              <a:r>
                <a:rPr lang="en-US" altLang="ko-KR" sz="700" dirty="0" smtClean="0"/>
                <a:t>]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[</a:t>
              </a:r>
              <a:r>
                <a:rPr lang="ko-KR" altLang="en-US" sz="700" dirty="0" err="1" smtClean="0">
                  <a:sym typeface="Wingdings" panose="05000000000000000000" pitchFamily="2" charset="2"/>
                </a:rPr>
                <a:t>바로가기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]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로 변경</a:t>
              </a:r>
              <a:endParaRPr lang="en-US" altLang="ko-KR" sz="700" dirty="0" smtClean="0">
                <a:sym typeface="Wingdings" panose="05000000000000000000" pitchFamily="2" charset="2"/>
              </a:endParaRPr>
            </a:p>
            <a:p>
              <a:pPr marL="228600" indent="-228600">
                <a:buAutoNum type="arabicPeriod"/>
              </a:pPr>
              <a:r>
                <a:rPr lang="ko-KR" altLang="en-US" sz="700" dirty="0" smtClean="0">
                  <a:sym typeface="Wingdings" panose="05000000000000000000" pitchFamily="2" charset="2"/>
                </a:rPr>
                <a:t>설명 추가 작성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28620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이력 현황에 표시되는 </a:t>
            </a:r>
            <a:r>
              <a:rPr lang="en-US" altLang="ko-KR" dirty="0" smtClean="0"/>
              <a:t>4</a:t>
            </a:r>
            <a:r>
              <a:rPr lang="ko-KR" altLang="en-US" dirty="0" smtClean="0"/>
              <a:t>가지 현황을 선택하여 볼 수 있음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각각 표시되는 항목은 개별 목록에 따라 다름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표시 정보 아래의 목록 참조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입찰참가신청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입찰서 제출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공개수의협상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계약통합목록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진행중인 </a:t>
            </a:r>
            <a:r>
              <a:rPr lang="ko-KR" altLang="en-US" dirty="0"/>
              <a:t>업무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상세 화면으로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 진행 상세 </a:t>
            </a:r>
            <a:r>
              <a:rPr lang="en-US" altLang="ko-KR" dirty="0" smtClean="0"/>
              <a:t>MUI-BD-03-M02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 상세는 조건에 따라 분기되어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MUI-CT-01-M03 </a:t>
            </a:r>
            <a:r>
              <a:rPr lang="ko-KR" altLang="en-US" dirty="0" err="1"/>
              <a:t>물품전자계약진행상세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MUI-CT-01-M04 </a:t>
            </a:r>
            <a:r>
              <a:rPr lang="ko-KR" altLang="en-US" dirty="0" err="1"/>
              <a:t>물품전자계약확정상세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MUI-CT-01-M09 </a:t>
            </a:r>
            <a:r>
              <a:rPr lang="ko-KR" altLang="en-US" dirty="0" err="1"/>
              <a:t>공사전자계약진행상세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MUI-CT-01-M07 </a:t>
            </a:r>
            <a:r>
              <a:rPr lang="ko-KR" altLang="en-US" dirty="0" smtClean="0"/>
              <a:t>물품총액계약서상세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MUI-CT-01-M08 </a:t>
            </a:r>
            <a:r>
              <a:rPr lang="ko-KR" altLang="en-US" dirty="0" smtClean="0"/>
              <a:t>물품단가계약서상세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MUI-CT-01-M05 </a:t>
            </a:r>
            <a:r>
              <a:rPr lang="ko-KR" altLang="en-US" dirty="0" smtClean="0"/>
              <a:t>물품일반계약서상세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MUI-CT-01-M10 </a:t>
            </a:r>
            <a:r>
              <a:rPr lang="ko-KR" altLang="en-US" dirty="0" smtClean="0"/>
              <a:t>공사계약서상세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MUI-CT-01-M06 </a:t>
            </a:r>
            <a:r>
              <a:rPr lang="ko-KR" altLang="en-US" dirty="0"/>
              <a:t>물품수정계약서상세</a:t>
            </a:r>
            <a:endParaRPr lang="en-US" altLang="ko-KR" dirty="0" smtClean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나의업무이력현황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나의업무이력현황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나의업무이력현황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업무 이력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5940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57276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265283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265283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367106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751142"/>
            <a:ext cx="2473257" cy="1080735"/>
            <a:chOff x="781461" y="2610063"/>
            <a:chExt cx="2473257" cy="1080735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81461" y="2610063"/>
              <a:ext cx="54965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입찰참가신청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37923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67342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5" y="3994104"/>
            <a:ext cx="2476203" cy="1080735"/>
            <a:chOff x="778515" y="2610063"/>
            <a:chExt cx="2476203" cy="1080735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778515" y="2610063"/>
              <a:ext cx="47017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latin typeface="+mn-ea"/>
                </a:rPr>
                <a:t>입찰서제출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1299422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596562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7558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1685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265283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99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2547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20491" y="1941161"/>
            <a:ext cx="2621844" cy="199577"/>
            <a:chOff x="720490" y="1941161"/>
            <a:chExt cx="2938973" cy="199577"/>
          </a:xfrm>
        </p:grpSpPr>
        <p:sp>
          <p:nvSpPr>
            <p:cNvPr id="11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20490" y="1941161"/>
              <a:ext cx="698735" cy="199577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>
                  <a:solidFill>
                    <a:schemeClr val="bg1"/>
                  </a:solidFill>
                </a:rPr>
                <a:t>입찰참가신청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66334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 err="1"/>
                <a:t>입찰서제출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213531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/>
                <a:t>공개수의협상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60728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/>
                <a:t>계약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1" name="직사각형 12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2026-07-08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상단 분기 버튼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삭제</a:t>
              </a:r>
              <a:endParaRPr lang="ko-KR" altLang="en-US" sz="700" dirty="0"/>
            </a:p>
          </p:txBody>
        </p:sp>
      </p:grp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66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90027646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입찰공고 내역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공고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표시 아이콘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smtClean="0"/>
              <a:t>토스트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현재 페이지 유지 시 </a:t>
            </a:r>
            <a:r>
              <a:rPr lang="ko-KR" altLang="en-US" dirty="0" err="1" smtClean="0"/>
              <a:t>리로드하지</a:t>
            </a:r>
            <a:r>
              <a:rPr lang="ko-KR" altLang="en-US" dirty="0" smtClean="0"/>
              <a:t> 않고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 하이라이트가 </a:t>
            </a:r>
            <a:r>
              <a:rPr lang="en-US" altLang="ko-KR" dirty="0" smtClean="0"/>
              <a:t>OFF</a:t>
            </a:r>
            <a:r>
              <a:rPr lang="ko-KR" altLang="en-US" dirty="0" smtClean="0"/>
              <a:t>으로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페이지를 이탈했다 다시 접근하는 경우 </a:t>
            </a:r>
            <a:r>
              <a:rPr lang="ko-KR" altLang="en-US" dirty="0" err="1" smtClean="0">
                <a:solidFill>
                  <a:srgbClr val="FF0000"/>
                </a:solidFill>
              </a:rPr>
              <a:t>즐겨찾기</a:t>
            </a:r>
            <a:r>
              <a:rPr lang="ko-KR" altLang="en-US" dirty="0" smtClean="0">
                <a:solidFill>
                  <a:srgbClr val="FF0000"/>
                </a:solidFill>
              </a:rPr>
              <a:t> 된 항목만 표시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즐겨찾기</a:t>
            </a:r>
            <a:r>
              <a:rPr lang="ko-KR" altLang="en-US" dirty="0"/>
              <a:t> 해제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다음부터 묻지 않기를 통해 앱 </a:t>
            </a:r>
            <a:r>
              <a:rPr lang="ko-KR" altLang="en-US" dirty="0" err="1"/>
              <a:t>스토리지에</a:t>
            </a:r>
            <a:r>
              <a:rPr lang="ko-KR" altLang="en-US" dirty="0"/>
              <a:t> 내역 저장하고</a:t>
            </a:r>
            <a:r>
              <a:rPr lang="en-US" altLang="ko-KR" dirty="0"/>
              <a:t>, </a:t>
            </a:r>
            <a:r>
              <a:rPr lang="ko-KR" altLang="en-US" dirty="0"/>
              <a:t>클릭 이후 즉시 </a:t>
            </a:r>
            <a:r>
              <a:rPr lang="ko-KR" altLang="en-US" dirty="0" err="1"/>
              <a:t>즐겨찾기</a:t>
            </a:r>
            <a:r>
              <a:rPr lang="ko-KR" altLang="en-US" dirty="0"/>
              <a:t> </a:t>
            </a:r>
            <a:r>
              <a:rPr lang="ko-KR" altLang="en-US" dirty="0" smtClean="0"/>
              <a:t>해제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즐겨찾기</a:t>
            </a:r>
            <a:r>
              <a:rPr lang="ko-KR" altLang="en-US" dirty="0" smtClean="0"/>
              <a:t> 해제 시 토스트 메시지 노출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관심입찰공고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관심입찰공고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관심입찰공고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관심입찰공고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1080735"/>
            <a:chOff x="781461" y="2610063"/>
            <a:chExt cx="2473257" cy="1080735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정상공고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2026LGM000604191-01</a:t>
              </a:r>
            </a:p>
            <a:p>
              <a:pPr lvl="0"/>
              <a:r>
                <a:rPr lang="en-US" altLang="ko-KR" sz="900" b="1" dirty="0">
                  <a:solidFill>
                    <a:prstClr val="black"/>
                  </a:solidFill>
                </a:rPr>
                <a:t>(26-</a:t>
              </a:r>
              <a:r>
                <a:rPr lang="ko-KR" altLang="en-US" sz="900" b="1" dirty="0">
                  <a:solidFill>
                    <a:srgbClr val="5B9BD5">
                      <a:lumMod val="75000"/>
                    </a:srgbClr>
                  </a:solidFill>
                </a:rPr>
                <a:t>물품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-04)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간편한 </a:t>
              </a:r>
              <a:r>
                <a:rPr lang="ko-KR" altLang="en-US" sz="900" b="1" dirty="0" err="1">
                  <a:solidFill>
                    <a:prstClr val="black"/>
                  </a:solidFill>
                </a:rPr>
                <a:t>아침식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 제조 및 납품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2178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076372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6" y="3638607"/>
            <a:ext cx="2476202" cy="1080735"/>
            <a:chOff x="778516" y="2610063"/>
            <a:chExt cx="2476202" cy="1080735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정상공고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2026LGM000604191-01</a:t>
              </a:r>
            </a:p>
            <a:p>
              <a:pPr lvl="0"/>
              <a:r>
                <a:rPr lang="en-US" altLang="ko-KR" sz="900" b="1" dirty="0">
                  <a:solidFill>
                    <a:prstClr val="black"/>
                  </a:solidFill>
                </a:rPr>
                <a:t>(26-</a:t>
              </a:r>
              <a:r>
                <a:rPr lang="ko-KR" altLang="en-US" sz="900" b="1" dirty="0">
                  <a:solidFill>
                    <a:srgbClr val="5B9BD5">
                      <a:lumMod val="75000"/>
                    </a:srgbClr>
                  </a:solidFill>
                </a:rPr>
                <a:t>물품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-04)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간편한 </a:t>
              </a:r>
              <a:r>
                <a:rPr lang="ko-KR" altLang="en-US" sz="900" b="1" dirty="0" err="1">
                  <a:solidFill>
                    <a:prstClr val="black"/>
                  </a:solidFill>
                </a:rPr>
                <a:t>아침식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 제조 및 납품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78516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075656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200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613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42334" y="25224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9" name="포인트가 5개인 별 98"/>
          <p:cNvSpPr/>
          <p:nvPr/>
        </p:nvSpPr>
        <p:spPr>
          <a:xfrm>
            <a:off x="3095327" y="2522179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포인트가 5개인 별 99"/>
          <p:cNvSpPr/>
          <p:nvPr/>
        </p:nvSpPr>
        <p:spPr>
          <a:xfrm>
            <a:off x="3095327" y="3781959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3861751" y="3094459"/>
            <a:ext cx="2579992" cy="1519296"/>
            <a:chOff x="3905688" y="3002600"/>
            <a:chExt cx="2579992" cy="1519296"/>
          </a:xfrm>
        </p:grpSpPr>
        <p:sp>
          <p:nvSpPr>
            <p:cNvPr id="110" name="모서리가 둥근 직사각형 109"/>
            <p:cNvSpPr/>
            <p:nvPr/>
          </p:nvSpPr>
          <p:spPr>
            <a:xfrm>
              <a:off x="3905688" y="3002600"/>
              <a:ext cx="2579992" cy="1519296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48526" y="4069159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해제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023382" y="4069159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382" y="31493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관심공고</a:t>
              </a:r>
              <a:r>
                <a:rPr lang="ko-KR" altLang="en-US" sz="900" b="1" dirty="0">
                  <a:latin typeface="+mn-ea"/>
                </a:rPr>
                <a:t> 해제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94108" y="3769306"/>
              <a:ext cx="153441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다음부터 묻지 않기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43112" y="3381838"/>
              <a:ext cx="2305144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관심공고를</a:t>
              </a:r>
              <a:r>
                <a:rPr lang="ko-KR" altLang="en-US" sz="700" dirty="0">
                  <a:latin typeface="+mn-ea"/>
                </a:rPr>
                <a:t> 해제하면 관심입찰공고 목록과 업무 캘린더에서 선택하신 입찰공고가 사라집니다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정말 </a:t>
              </a:r>
              <a:r>
                <a:rPr lang="ko-KR" altLang="en-US" sz="700" dirty="0" err="1">
                  <a:latin typeface="+mn-ea"/>
                </a:rPr>
                <a:t>관심공고를</a:t>
              </a:r>
              <a:r>
                <a:rPr lang="ko-KR" altLang="en-US" sz="700" dirty="0">
                  <a:latin typeface="+mn-ea"/>
                </a:rPr>
                <a:t> 해제할까요</a:t>
              </a:r>
              <a:r>
                <a:rPr lang="en-US" altLang="ko-KR" sz="700" dirty="0">
                  <a:latin typeface="+mn-ea"/>
                </a:rPr>
                <a:t>?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8" name="그룹 117"/>
            <p:cNvGrpSpPr/>
            <p:nvPr/>
          </p:nvGrpSpPr>
          <p:grpSpPr>
            <a:xfrm>
              <a:off x="6234516" y="3149329"/>
              <a:ext cx="94010" cy="94010"/>
              <a:chOff x="6812560" y="3297172"/>
              <a:chExt cx="94010" cy="94010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그룹 4"/>
          <p:cNvGrpSpPr/>
          <p:nvPr/>
        </p:nvGrpSpPr>
        <p:grpSpPr>
          <a:xfrm>
            <a:off x="4514140" y="3832746"/>
            <a:ext cx="221536" cy="184666"/>
            <a:chOff x="3830871" y="2481673"/>
            <a:chExt cx="221536" cy="184666"/>
          </a:xfrm>
        </p:grpSpPr>
        <p:sp>
          <p:nvSpPr>
            <p:cNvPr id="123" name="직사각형 122"/>
            <p:cNvSpPr/>
            <p:nvPr/>
          </p:nvSpPr>
          <p:spPr>
            <a:xfrm>
              <a:off x="3890202" y="2520031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3830871" y="2481673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44" name="타원 1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924" y="31929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71" name="모서리가 둥근 직사각형 70"/>
          <p:cNvSpPr/>
          <p:nvPr/>
        </p:nvSpPr>
        <p:spPr>
          <a:xfrm>
            <a:off x="4435552" y="5845175"/>
            <a:ext cx="143239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관심공고에서 제외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924" y="58536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6360965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26865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관심입찰공고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82901"/>
            <a:ext cx="28539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관심입찰공고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dl_itrstBidPbancList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3806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bdopnBgngYmd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bdopnEndYmd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003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통합참조번호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intgRfrncNo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통합참조번호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pbancItemNm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322261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66655"/>
          <a:ext cx="8994883" cy="2836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51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61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:GTSA0001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공고일자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pbancNoCycl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G2B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g2bPbancNoCycl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G2B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 번호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생산능력제출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prdcpvSbmsnDcmntDdlnDt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생산능력제출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457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입찰참가등록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bidRegDdlnDt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입찰참가등록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224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입찰서제출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tndrSbmsnDdlnDt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입찰서제출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4706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bdopnDt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707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332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bidShp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3381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delYn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6781103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E090E7E8-C9B9-2137-4E56-5636F631CC8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CDD53D7-9569-50DE-5C9A-9DA088329DC2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6" name="Text Box 73">
              <a:extLst>
                <a:ext uri="{FF2B5EF4-FFF2-40B4-BE49-F238E27FC236}">
                  <a16:creationId xmlns:a16="http://schemas.microsoft.com/office/drawing/2014/main" id="{6369C9BE-4C9F-797E-A3BA-7BAB624BF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07019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87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617717"/>
            <a:ext cx="1222242" cy="22659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D9706EB-63A9-0124-E495-42F1454AEE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868603"/>
              </p:ext>
            </p:extLst>
          </p:nvPr>
        </p:nvGraphicFramePr>
        <p:xfrm>
          <a:off x="453000" y="872100"/>
          <a:ext cx="8995591" cy="1213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7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133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140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343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 err="1"/>
                        <a:t>입찰건명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itrstBidPbancList</a:t>
                      </a:r>
                      <a:r>
                        <a:rPr lang="en-US" altLang="ko-KR" sz="800" dirty="0" err="1"/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해제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itrstBidPbancList</a:t>
                      </a:r>
                      <a:r>
                        <a:rPr lang="en-US" altLang="ko-KR" sz="800" dirty="0" err="1"/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관심입찰에서 삭제된다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2181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B5224CA-452A-F073-EA56-08ACA48E92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76138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064795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캘린더 표시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해당일 스케줄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관심공고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클릭 시 해당 공고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개인 등록 </a:t>
            </a:r>
            <a:r>
              <a:rPr lang="ko-KR" altLang="en-US" dirty="0" smtClean="0"/>
              <a:t>스케줄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상세내역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바텀</a:t>
            </a:r>
            <a:r>
              <a:rPr lang="ko-KR" altLang="en-US" dirty="0" smtClean="0"/>
              <a:t> 시트 호출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MUI-CM-06-P07</a:t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즐겨찾기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해제시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 err="1" smtClean="0">
                <a:solidFill>
                  <a:srgbClr val="000000"/>
                </a:solidFill>
                <a:latin typeface="맑은 고딕" panose="020B0503020000020004" pitchFamily="50" charset="-127"/>
              </a:rPr>
              <a:t>관심공고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해제 팝업 다음부터 묻지 않기가 설정되지 않은 경우 팝업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해당일에 일정이 없는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 일정 없음  텍스트 및 일정 등록 버튼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업무캘린더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075740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1" name="모서리가 둥근 직사각형 70"/>
          <p:cNvSpPr/>
          <p:nvPr/>
        </p:nvSpPr>
        <p:spPr>
          <a:xfrm>
            <a:off x="778516" y="4504776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474925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즐겨찾기</a:t>
            </a:r>
            <a:r>
              <a:rPr lang="en-US" altLang="ko-KR" sz="800" b="1" dirty="0">
                <a:latin typeface="+mn-ea"/>
              </a:rPr>
              <a:t>(</a:t>
            </a:r>
            <a:r>
              <a:rPr lang="ko-KR" altLang="en-US" sz="800" b="1" dirty="0">
                <a:latin typeface="+mn-ea"/>
              </a:rPr>
              <a:t>찜</a:t>
            </a:r>
            <a:r>
              <a:rPr lang="en-US" altLang="ko-KR" sz="800" b="1" dirty="0">
                <a:latin typeface="+mn-ea"/>
              </a:rPr>
              <a:t>)</a:t>
            </a:r>
            <a:r>
              <a:rPr lang="ko-KR" altLang="en-US" sz="800" b="1" dirty="0">
                <a:latin typeface="+mn-ea"/>
              </a:rPr>
              <a:t>한 입찰공고 표시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460104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909990" y="459558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468479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778516" y="5013501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52579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입찰공고명이 표시됩니다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51097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909990" y="510430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519351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86" name="모서리가 둥근 직사각형 85"/>
          <p:cNvSpPr/>
          <p:nvPr/>
        </p:nvSpPr>
        <p:spPr>
          <a:xfrm>
            <a:off x="778516" y="5522226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576670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작성한 스케줄이 있는 경우 </a:t>
            </a:r>
            <a:r>
              <a:rPr lang="ko-KR" altLang="en-US" sz="800" b="1" dirty="0" err="1">
                <a:latin typeface="+mn-ea"/>
              </a:rPr>
              <a:t>표시됩</a:t>
            </a:r>
            <a:r>
              <a:rPr lang="en-US" altLang="ko-KR" sz="800" b="1" dirty="0">
                <a:latin typeface="+mn-ea"/>
              </a:rPr>
              <a:t>…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561849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89" name="모서리가 둥근 직사각형 88"/>
          <p:cNvSpPr/>
          <p:nvPr/>
        </p:nvSpPr>
        <p:spPr>
          <a:xfrm>
            <a:off x="909990" y="561303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개인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570224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t="3350" r="4806" b="2041"/>
          <a:stretch/>
        </p:blipFill>
        <p:spPr>
          <a:xfrm>
            <a:off x="739935" y="1892593"/>
            <a:ext cx="2545377" cy="2219046"/>
          </a:xfrm>
          <a:prstGeom prst="rect">
            <a:avLst/>
          </a:prstGeom>
        </p:spPr>
      </p:pic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185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4283855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b="1" dirty="0">
                <a:latin typeface="+mn-ea"/>
              </a:rPr>
              <a:t>2026</a:t>
            </a:r>
            <a:r>
              <a:rPr lang="ko-KR" altLang="en-US" sz="800" b="1" dirty="0">
                <a:latin typeface="+mn-ea"/>
              </a:rPr>
              <a:t>년 </a:t>
            </a:r>
            <a:r>
              <a:rPr lang="en-US" altLang="ko-KR" sz="800" b="1" dirty="0">
                <a:latin typeface="+mn-ea"/>
              </a:rPr>
              <a:t>8</a:t>
            </a:r>
            <a:r>
              <a:rPr lang="ko-KR" altLang="en-US" sz="800" b="1" dirty="0">
                <a:latin typeface="+mn-ea"/>
              </a:rPr>
              <a:t>월 </a:t>
            </a:r>
            <a:r>
              <a:rPr lang="en-US" altLang="ko-KR" sz="800" b="1" dirty="0">
                <a:latin typeface="+mn-ea"/>
              </a:rPr>
              <a:t>12</a:t>
            </a:r>
            <a:r>
              <a:rPr lang="ko-KR" altLang="en-US" sz="800" b="1" dirty="0">
                <a:latin typeface="+mn-ea"/>
              </a:rPr>
              <a:t>일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6243" y="42591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5" name="포인트가 5개인 별 94"/>
          <p:cNvSpPr/>
          <p:nvPr/>
        </p:nvSpPr>
        <p:spPr>
          <a:xfrm>
            <a:off x="2777831" y="4658958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포인트가 5개인 별 95"/>
          <p:cNvSpPr/>
          <p:nvPr/>
        </p:nvSpPr>
        <p:spPr>
          <a:xfrm>
            <a:off x="2777831" y="5167683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3646" y="5193517"/>
            <a:ext cx="2476202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일정 등록하기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9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27315" y="4266950"/>
            <a:ext cx="527403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일정 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85769" y="495964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표시할 일정이 없습니다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795734" y="1515996"/>
            <a:ext cx="2712027" cy="2890970"/>
            <a:chOff x="3777376" y="1515996"/>
            <a:chExt cx="2712027" cy="2890970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32878" y="1608356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업무 캘린더</a:t>
              </a:r>
            </a:p>
          </p:txBody>
        </p: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77376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5" name="그룹 104"/>
            <p:cNvGrpSpPr/>
            <p:nvPr/>
          </p:nvGrpSpPr>
          <p:grpSpPr>
            <a:xfrm rot="5400000">
              <a:off x="3851819" y="1640499"/>
              <a:ext cx="94010" cy="47005"/>
              <a:chOff x="6812560" y="3297172"/>
              <a:chExt cx="94010" cy="47005"/>
            </a:xfrm>
          </p:grpSpPr>
          <p:cxnSp>
            <p:nvCxnSpPr>
              <p:cNvPr id="106" name="직선 연결선 10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" name="직선 연결선 10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8" name="타원 107"/>
            <p:cNvSpPr/>
            <p:nvPr/>
          </p:nvSpPr>
          <p:spPr>
            <a:xfrm>
              <a:off x="6141343" y="158037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090092" y="1515996"/>
              <a:ext cx="290464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ko-KR" altLang="en-US" sz="1200" dirty="0"/>
                <a:t>≡</a:t>
              </a:r>
            </a:p>
          </p:txBody>
        </p:sp>
        <p:pic>
          <p:nvPicPr>
            <p:cNvPr id="115" name="그림 114">
              <a:extLst>
                <a:ext uri="{FF2B5EF4-FFF2-40B4-BE49-F238E27FC236}">
                  <a16:creationId xmlns:a16="http://schemas.microsoft.com/office/drawing/2014/main" id="{6EA78311-C2E0-881B-8EBE-A8E77192A9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44" t="3350" r="4806" b="2041"/>
            <a:stretch/>
          </p:blipFill>
          <p:spPr>
            <a:xfrm>
              <a:off x="3836741" y="1892593"/>
              <a:ext cx="2545377" cy="2219046"/>
            </a:xfrm>
            <a:prstGeom prst="rect">
              <a:avLst/>
            </a:prstGeom>
          </p:spPr>
        </p:pic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77376" y="418565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75322" y="4283855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800" b="1" dirty="0">
                  <a:latin typeface="+mn-ea"/>
                </a:rPr>
                <a:t>2026</a:t>
              </a:r>
              <a:r>
                <a:rPr lang="ko-KR" altLang="en-US" sz="800" b="1" dirty="0">
                  <a:latin typeface="+mn-ea"/>
                </a:rPr>
                <a:t>년 </a:t>
              </a:r>
              <a:r>
                <a:rPr lang="en-US" altLang="ko-KR" sz="800" b="1" dirty="0">
                  <a:latin typeface="+mn-ea"/>
                </a:rPr>
                <a:t>8</a:t>
              </a:r>
              <a:r>
                <a:rPr lang="ko-KR" altLang="en-US" sz="800" b="1" dirty="0">
                  <a:latin typeface="+mn-ea"/>
                </a:rPr>
                <a:t>월 </a:t>
              </a:r>
              <a:r>
                <a:rPr lang="en-US" altLang="ko-KR" sz="800" b="1" dirty="0">
                  <a:latin typeface="+mn-ea"/>
                </a:rPr>
                <a:t>12</a:t>
              </a:r>
              <a:r>
                <a:rPr lang="ko-KR" altLang="en-US" sz="800" b="1" dirty="0">
                  <a:latin typeface="+mn-ea"/>
                </a:rPr>
                <a:t>일</a:t>
              </a:r>
            </a:p>
          </p:txBody>
        </p:sp>
      </p:grpSp>
      <p:sp>
        <p:nvSpPr>
          <p:cNvPr id="127" name="타원 1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2807" y="18854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030236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09414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업무캘린더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dl_taskCldrList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93168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schdlTtl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291" y="19725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060654"/>
              </p:ext>
            </p:extLst>
          </p:nvPr>
        </p:nvGraphicFramePr>
        <p:xfrm>
          <a:off x="453000" y="2202145"/>
          <a:ext cx="8995591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캘린더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날짜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scwin.getSchdlDtl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해당날짜에 등록된 상세내용이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등록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업무캘린더에 일정을 등록한다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1348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등록된 일정을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작성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scwin.btn_wrt_onclick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일정 등록화면으로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UI-CM-06-M04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682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0850663-6D69-7CD5-CA30-B78A0AE4F4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0914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7D208F1-F7C0-67E8-82DE-6E1266B13A1B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83B8588-F8C5-021F-37D3-ABFFEEDD334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075AC32-2550-E900-71E4-B0A0220BC4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9415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캘린더 세부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수정</a:t>
            </a:r>
            <a:r>
              <a:rPr lang="en-US" altLang="ko-KR" dirty="0"/>
              <a:t>, </a:t>
            </a:r>
            <a:r>
              <a:rPr lang="ko-KR" altLang="en-US" dirty="0"/>
              <a:t>삭제 </a:t>
            </a:r>
            <a:r>
              <a:rPr lang="ko-KR" altLang="en-US" dirty="0" smtClean="0"/>
              <a:t>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수정 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MUI-CM-06-P08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이동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삭제 시 확인 팝업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MUI-CM-06-P09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팝업에서 삭제 시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삭제되었습니다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토스트 메시지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업무캘린더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 일정 상세 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등록한 일정을 표시하는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상세 정보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수정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827283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90860"/>
            <a:ext cx="25326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  <a:endParaRPr lang="ko-KR" altLang="en-US" sz="700" dirty="0">
              <a:latin typeface="+mn-e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2585131"/>
            <a:ext cx="248428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2026</a:t>
            </a:r>
            <a:r>
              <a:rPr lang="ko-KR" altLang="en-US" sz="800" dirty="0">
                <a:latin typeface="+mn-ea"/>
              </a:rPr>
              <a:t>년 </a:t>
            </a:r>
            <a:r>
              <a:rPr lang="en-US" altLang="ko-KR" sz="800" dirty="0">
                <a:latin typeface="+mn-ea"/>
              </a:rPr>
              <a:t>8</a:t>
            </a:r>
            <a:r>
              <a:rPr lang="ko-KR" altLang="en-US" sz="800" dirty="0">
                <a:latin typeface="+mn-ea"/>
              </a:rPr>
              <a:t>월 </a:t>
            </a:r>
            <a:r>
              <a:rPr lang="en-US" altLang="ko-KR" sz="800" dirty="0">
                <a:latin typeface="+mn-ea"/>
              </a:rPr>
              <a:t>12</a:t>
            </a:r>
            <a:r>
              <a:rPr lang="ko-KR" altLang="en-US" sz="800" dirty="0">
                <a:latin typeface="+mn-ea"/>
              </a:rPr>
              <a:t>일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>
                <a:latin typeface="+mn-ea"/>
              </a:rPr>
              <a:t>선택 날짜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3029079"/>
            <a:ext cx="248428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작성한 스케줄이 있는 경우 표시됩니다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28004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6743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4873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0849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063088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캘린더 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미입력</a:t>
            </a:r>
            <a:r>
              <a:rPr lang="ko-KR" altLang="en-US" dirty="0"/>
              <a:t> 유효성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등록</a:t>
            </a:r>
            <a:r>
              <a:rPr lang="en-US" altLang="ko-KR" dirty="0"/>
              <a:t>, </a:t>
            </a:r>
            <a:r>
              <a:rPr lang="ko-KR" altLang="en-US" dirty="0"/>
              <a:t>수정에 따라 버튼 표시 </a:t>
            </a:r>
            <a:r>
              <a:rPr lang="ko-KR" altLang="en-US" dirty="0" smtClean="0"/>
              <a:t>변경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등록</a:t>
            </a:r>
            <a:r>
              <a:rPr lang="en-US" altLang="ko-KR" dirty="0" smtClean="0"/>
              <a:t>,</a:t>
            </a:r>
            <a:r>
              <a:rPr lang="ko-KR" altLang="en-US" dirty="0" smtClean="0"/>
              <a:t> 수정됨에 따라 토스트 메시지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등록 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수정 되었습니다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등록</a:t>
            </a:r>
            <a:r>
              <a:rPr lang="en-US" altLang="ko-KR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,</a:t>
            </a: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수정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일정을 등록하거나 삭제하는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등록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수정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등록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등록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034351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 날짜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619437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4068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8812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01556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모서리가 둥근 직사각형 39"/>
          <p:cNvSpPr/>
          <p:nvPr/>
        </p:nvSpPr>
        <p:spPr>
          <a:xfrm>
            <a:off x="720467" y="2604974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latin typeface="+mn-ea"/>
              </a:rPr>
              <a:t>2026-08-12</a:t>
            </a:r>
            <a:endParaRPr lang="ko-KR" altLang="en-US" sz="800" dirty="0">
              <a:latin typeface="+mn-ea"/>
            </a:endParaRP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925" y="2655701"/>
            <a:ext cx="134873" cy="137278"/>
          </a:xfrm>
          <a:prstGeom prst="rect">
            <a:avLst/>
          </a:prstGeom>
        </p:spPr>
      </p:pic>
      <p:sp>
        <p:nvSpPr>
          <p:cNvPr id="42" name="모서리가 둥근 직사각형 41"/>
          <p:cNvSpPr/>
          <p:nvPr/>
        </p:nvSpPr>
        <p:spPr>
          <a:xfrm>
            <a:off x="720467" y="3244531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제목을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3" name="모서리가 둥근 직사각형 42"/>
          <p:cNvSpPr/>
          <p:nvPr/>
        </p:nvSpPr>
        <p:spPr>
          <a:xfrm>
            <a:off x="720467" y="3823033"/>
            <a:ext cx="2610778" cy="1528248"/>
          </a:xfrm>
          <a:prstGeom prst="roundRect">
            <a:avLst>
              <a:gd name="adj" fmla="val 5377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내용을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8301" y="1608355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799" y="184693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0" name="그룹 49"/>
          <p:cNvGrpSpPr/>
          <p:nvPr/>
        </p:nvGrpSpPr>
        <p:grpSpPr>
          <a:xfrm rot="5400000">
            <a:off x="3877242" y="1640498"/>
            <a:ext cx="94010" cy="47005"/>
            <a:chOff x="6812560" y="3297172"/>
            <a:chExt cx="94010" cy="47005"/>
          </a:xfrm>
        </p:grpSpPr>
        <p:cxnSp>
          <p:nvCxnSpPr>
            <p:cNvPr id="51" name="직선 연결선 5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3" name="타원 52"/>
          <p:cNvSpPr/>
          <p:nvPr/>
        </p:nvSpPr>
        <p:spPr>
          <a:xfrm>
            <a:off x="6166766" y="158037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/>
          <p:cNvSpPr txBox="1"/>
          <p:nvPr/>
        </p:nvSpPr>
        <p:spPr>
          <a:xfrm>
            <a:off x="6115515" y="1515995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8908" y="1493926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양쪽 모서리가 둥근 사각형 55"/>
          <p:cNvSpPr/>
          <p:nvPr/>
        </p:nvSpPr>
        <p:spPr>
          <a:xfrm>
            <a:off x="3802083" y="1908438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4888096" y="194506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6291022" y="2079481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31160" y="206016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수정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83" y="232156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4616642" y="5828261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수정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31159" y="5828261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3034350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2457311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 날짜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3619436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540682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35881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30155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>
            <a:off x="3842696" y="2604973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latin typeface="+mn-ea"/>
              </a:rPr>
              <a:t>2026-08-12</a:t>
            </a:r>
            <a:endParaRPr lang="ko-KR" altLang="en-US" sz="800" dirty="0">
              <a:latin typeface="+mn-ea"/>
            </a:endParaRP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154" y="2655700"/>
            <a:ext cx="134873" cy="137278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3842696" y="3244530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>
                <a:latin typeface="+mn-ea"/>
              </a:rPr>
              <a:t>작성한 제목이 표시됩니다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3842696" y="3823032"/>
            <a:ext cx="2610778" cy="1528248"/>
          </a:xfrm>
          <a:prstGeom prst="roundRect">
            <a:avLst>
              <a:gd name="adj" fmla="val 5377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작성한 내용이 표시됩니다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 err="1">
                <a:solidFill>
                  <a:schemeClr val="tx1"/>
                </a:solidFill>
              </a:rPr>
              <a:t>여러줄이</a:t>
            </a:r>
            <a:r>
              <a:rPr lang="ko-KR" altLang="en-US" sz="800" dirty="0">
                <a:solidFill>
                  <a:schemeClr val="tx1"/>
                </a:solidFill>
              </a:rPr>
              <a:t> 있는 경우 맞춰서 표시 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>
                <a:solidFill>
                  <a:schemeClr val="tx1"/>
                </a:solidFill>
              </a:rPr>
              <a:t>Input </a:t>
            </a:r>
            <a:r>
              <a:rPr lang="ko-KR" altLang="en-US" sz="800" dirty="0">
                <a:solidFill>
                  <a:schemeClr val="tx1"/>
                </a:solidFill>
              </a:rPr>
              <a:t>박스의 기본 세로 크기는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줄이며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입력한 내용에 따라 늘어나며 표시됩니다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107769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6849" y="3107769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6849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6862046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삭제 확인 팝업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삭제 클릭 시 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삭제 되었습니다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삭제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등록한 일정을 삭제하는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삭제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9" name="그룹 38"/>
          <p:cNvGrpSpPr/>
          <p:nvPr/>
        </p:nvGrpSpPr>
        <p:grpSpPr>
          <a:xfrm>
            <a:off x="741416" y="3094459"/>
            <a:ext cx="2579992" cy="1519296"/>
            <a:chOff x="3905688" y="3002600"/>
            <a:chExt cx="2579992" cy="1519296"/>
          </a:xfrm>
        </p:grpSpPr>
        <p:sp>
          <p:nvSpPr>
            <p:cNvPr id="45" name="모서리가 둥근 직사각형 44"/>
            <p:cNvSpPr/>
            <p:nvPr/>
          </p:nvSpPr>
          <p:spPr>
            <a:xfrm>
              <a:off x="3905688" y="3002600"/>
              <a:ext cx="2579992" cy="1519296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48526" y="4069159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023382" y="4069159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382" y="31493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일정 삭제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43112" y="3381838"/>
              <a:ext cx="2305144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업무 캘린더에 등록된 일정을 삭제합니다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삭제된 일정은 복구할 수 없습니다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정말 삭제할까요</a:t>
              </a:r>
              <a:r>
                <a:rPr lang="en-US" altLang="ko-KR" sz="700" dirty="0">
                  <a:latin typeface="+mn-ea"/>
                </a:rPr>
                <a:t>?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2" name="그룹 51"/>
            <p:cNvGrpSpPr/>
            <p:nvPr/>
          </p:nvGrpSpPr>
          <p:grpSpPr>
            <a:xfrm>
              <a:off x="6234516" y="3149329"/>
              <a:ext cx="94010" cy="94010"/>
              <a:chOff x="6812560" y="3297172"/>
              <a:chExt cx="94010" cy="94010"/>
            </a:xfrm>
          </p:grpSpPr>
          <p:cxnSp>
            <p:nvCxnSpPr>
              <p:cNvPr id="53" name="직선 연결선 52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3296569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09414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업무캘린더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dl_taskCldrList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93168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schdlTtl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291" y="19725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56713"/>
              </p:ext>
            </p:extLst>
          </p:nvPr>
        </p:nvGraphicFramePr>
        <p:xfrm>
          <a:off x="453000" y="2202145"/>
          <a:ext cx="8995591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캘린더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날짜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scwin.getSchdlDtl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해당날짜에 등록된 상세내용이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등록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업무캘린더에 일정을 등록한다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87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등록된 일정을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작성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scwin.btn_wrt_onclick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일정 등록화면으로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UI-CM-06-M04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682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0850663-6D69-7CD5-CA30-B78A0AE4F4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0914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7D208F1-F7C0-67E8-82DE-6E1266B13A1B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83B8588-F8C5-021F-37D3-ABFFEEDD334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075AC32-2550-E900-71E4-B0A0220BC4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043737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 err="1"/>
              <a:t>받은문서</a:t>
            </a:r>
            <a:r>
              <a:rPr lang="en-US" altLang="ko-KR" dirty="0"/>
              <a:t>, </a:t>
            </a:r>
            <a:r>
              <a:rPr lang="ko-KR" altLang="en-US" dirty="0" err="1"/>
              <a:t>임시저장</a:t>
            </a:r>
            <a:r>
              <a:rPr lang="en-US" altLang="ko-KR" dirty="0"/>
              <a:t>, </a:t>
            </a:r>
            <a:r>
              <a:rPr lang="ko-KR" altLang="en-US" dirty="0" err="1"/>
              <a:t>반려받은</a:t>
            </a:r>
            <a:r>
              <a:rPr lang="ko-KR" altLang="en-US" dirty="0"/>
              <a:t> 문서</a:t>
            </a:r>
            <a:r>
              <a:rPr lang="en-US" altLang="ko-KR" dirty="0"/>
              <a:t>, </a:t>
            </a:r>
            <a:r>
              <a:rPr lang="ko-KR" altLang="en-US" dirty="0"/>
              <a:t>반려한 문서 일괄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필터를 통해 사용자가 </a:t>
            </a:r>
            <a:r>
              <a:rPr lang="ko-KR" altLang="en-US" dirty="0" err="1"/>
              <a:t>필터하여</a:t>
            </a:r>
            <a:r>
              <a:rPr lang="ko-KR" altLang="en-US" dirty="0"/>
              <a:t> 볼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 상단 레이블을 통해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/>
              <a:t>받은 </a:t>
            </a:r>
            <a:r>
              <a:rPr lang="ko-KR" altLang="en-US" dirty="0" err="1"/>
              <a:t>문서등</a:t>
            </a:r>
            <a:r>
              <a:rPr lang="ko-KR" altLang="en-US" dirty="0"/>
              <a:t> 분리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첨부가 있는 경우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문서는 </a:t>
            </a:r>
            <a:r>
              <a:rPr lang="ko-KR" altLang="en-US" dirty="0" err="1"/>
              <a:t>최신순으로</a:t>
            </a:r>
            <a:r>
              <a:rPr lang="ko-KR" altLang="en-US" dirty="0"/>
              <a:t> </a:t>
            </a:r>
            <a:r>
              <a:rPr lang="ko-KR" altLang="en-US" dirty="0" smtClean="0"/>
              <a:t>정렬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 데이터 항목이 따로 존재하여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하나로 합쳐서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이때 받은 데이터 영역의 정보를 레이블로 표시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임시저장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반려받은</a:t>
            </a:r>
            <a:r>
              <a:rPr lang="ko-KR" altLang="en-US" dirty="0" smtClean="0"/>
              <a:t>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반려한 문서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상세 화면 이동 </a:t>
            </a:r>
            <a:r>
              <a:rPr lang="en-US" altLang="ko-KR" dirty="0"/>
              <a:t>MUI-CM-06-M11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806173"/>
            <a:chOff x="781461" y="2610063"/>
            <a:chExt cx="2473257" cy="806173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284597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3245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4" name="그룹 73"/>
          <p:cNvGrpSpPr/>
          <p:nvPr/>
        </p:nvGrpSpPr>
        <p:grpSpPr>
          <a:xfrm>
            <a:off x="781461" y="3436694"/>
            <a:ext cx="2473257" cy="821562"/>
            <a:chOff x="781461" y="2610063"/>
            <a:chExt cx="2473257" cy="821562"/>
          </a:xfrm>
        </p:grpSpPr>
        <p:sp>
          <p:nvSpPr>
            <p:cNvPr id="7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수신처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7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송신일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확인일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82" name="모서리가 둥근 직사각형 81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보낸 문서</a:t>
              </a:r>
            </a:p>
          </p:txBody>
        </p:sp>
        <p:sp>
          <p:nvSpPr>
            <p:cNvPr id="83" name="모서리가 둥근 직사각형 82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84" name="모서리가 둥근 직사각형 83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6564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6" name="그룹 85"/>
          <p:cNvGrpSpPr/>
          <p:nvPr/>
        </p:nvGrpSpPr>
        <p:grpSpPr>
          <a:xfrm>
            <a:off x="781461" y="4493250"/>
            <a:ext cx="2473257" cy="532810"/>
            <a:chOff x="781461" y="2610063"/>
            <a:chExt cx="2473257" cy="532810"/>
          </a:xfrm>
        </p:grpSpPr>
        <p:sp>
          <p:nvSpPr>
            <p:cNvPr id="8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8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22199"/>
              <a:ext cx="230832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006810"/>
              <a:ext cx="397545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</p:txBody>
        </p:sp>
        <p:sp>
          <p:nvSpPr>
            <p:cNvPr id="90" name="모서리가 둥근 직사각형 89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임시저장</a:t>
              </a:r>
              <a:endParaRPr lang="ko-KR" altLang="en-US" sz="600" dirty="0"/>
            </a:p>
          </p:txBody>
        </p:sp>
      </p:grp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4081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6" name="그룹 9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1" name="타원 100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/>
          <p:cNvSpPr txBox="1"/>
          <p:nvPr/>
        </p:nvSpPr>
        <p:spPr>
          <a:xfrm>
            <a:off x="6108450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103" name="그룹 102"/>
          <p:cNvGrpSpPr/>
          <p:nvPr/>
        </p:nvGrpSpPr>
        <p:grpSpPr>
          <a:xfrm>
            <a:off x="3896624" y="1979532"/>
            <a:ext cx="2473258" cy="806173"/>
            <a:chOff x="781460" y="2610063"/>
            <a:chExt cx="2473258" cy="806173"/>
          </a:xfrm>
        </p:grpSpPr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반려처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0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0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07" name="모서리가 둥근 직사각형 106"/>
            <p:cNvSpPr/>
            <p:nvPr/>
          </p:nvSpPr>
          <p:spPr>
            <a:xfrm>
              <a:off x="781460" y="2610063"/>
              <a:ext cx="575363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반려받은</a:t>
              </a:r>
              <a:r>
                <a:rPr lang="ko-KR" altLang="en-US" sz="600" dirty="0"/>
                <a:t> 문서</a:t>
              </a:r>
            </a:p>
          </p:txBody>
        </p:sp>
      </p:grp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54" y="290847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7" name="그룹 116"/>
          <p:cNvGrpSpPr/>
          <p:nvPr/>
        </p:nvGrpSpPr>
        <p:grpSpPr>
          <a:xfrm>
            <a:off x="3896625" y="3020581"/>
            <a:ext cx="2473257" cy="821562"/>
            <a:chOff x="781461" y="2610063"/>
            <a:chExt cx="2473257" cy="821562"/>
          </a:xfrm>
        </p:grpSpPr>
        <p:sp>
          <p:nvSpPr>
            <p:cNvPr id="12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반려처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2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반려일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반려자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8" name="모서리가 둥근 직사각형 127"/>
            <p:cNvSpPr/>
            <p:nvPr/>
          </p:nvSpPr>
          <p:spPr>
            <a:xfrm>
              <a:off x="781461" y="2610063"/>
              <a:ext cx="51345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반려한 문서</a:t>
              </a:r>
            </a:p>
          </p:txBody>
        </p:sp>
      </p:grp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54" y="39495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24963749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 err="1"/>
              <a:t>받은문서</a:t>
            </a:r>
            <a:r>
              <a:rPr lang="en-US" altLang="ko-KR" dirty="0"/>
              <a:t>, </a:t>
            </a:r>
            <a:r>
              <a:rPr lang="ko-KR" altLang="en-US" dirty="0" err="1"/>
              <a:t>임시저장</a:t>
            </a:r>
            <a:r>
              <a:rPr lang="en-US" altLang="ko-KR" dirty="0"/>
              <a:t>, </a:t>
            </a:r>
            <a:r>
              <a:rPr lang="ko-KR" altLang="en-US" dirty="0" err="1"/>
              <a:t>반려받은</a:t>
            </a:r>
            <a:r>
              <a:rPr lang="ko-KR" altLang="en-US" dirty="0"/>
              <a:t> 문서</a:t>
            </a:r>
            <a:r>
              <a:rPr lang="en-US" altLang="ko-KR" dirty="0"/>
              <a:t>, </a:t>
            </a:r>
            <a:r>
              <a:rPr lang="ko-KR" altLang="en-US" dirty="0"/>
              <a:t>반려한 문서 일괄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필터를 통해 사용자가 </a:t>
            </a:r>
            <a:r>
              <a:rPr lang="ko-KR" altLang="en-US" dirty="0" err="1"/>
              <a:t>필터하여</a:t>
            </a:r>
            <a:r>
              <a:rPr lang="ko-KR" altLang="en-US" dirty="0"/>
              <a:t> 볼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 상단 레이블을 통해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/>
              <a:t>받은 </a:t>
            </a:r>
            <a:r>
              <a:rPr lang="ko-KR" altLang="en-US" dirty="0" err="1"/>
              <a:t>문서등</a:t>
            </a:r>
            <a:r>
              <a:rPr lang="ko-KR" altLang="en-US" dirty="0"/>
              <a:t> 분리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첨부가 </a:t>
            </a:r>
            <a:r>
              <a:rPr lang="ko-KR" altLang="en-US" dirty="0" err="1"/>
              <a:t>있는경우</a:t>
            </a:r>
            <a:r>
              <a:rPr lang="ko-KR" altLang="en-US" dirty="0"/>
              <a:t>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문서는 </a:t>
            </a:r>
            <a:r>
              <a:rPr lang="ko-KR" altLang="en-US" dirty="0" err="1"/>
              <a:t>최신순으로</a:t>
            </a:r>
            <a:r>
              <a:rPr lang="ko-KR" altLang="en-US" dirty="0"/>
              <a:t> 정렬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초기값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문서구분</a:t>
            </a:r>
            <a:r>
              <a:rPr lang="en-US" altLang="ko-KR" dirty="0"/>
              <a:t>: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 여부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기간</a:t>
            </a:r>
            <a:r>
              <a:rPr lang="en-US" altLang="ko-KR" dirty="0"/>
              <a:t>: 1</a:t>
            </a:r>
            <a:r>
              <a:rPr lang="ko-KR" altLang="en-US" dirty="0"/>
              <a:t>개월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검색필터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목록 </a:t>
            </a:r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2112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1" name="그룹 80"/>
          <p:cNvGrpSpPr/>
          <p:nvPr/>
        </p:nvGrpSpPr>
        <p:grpSpPr>
          <a:xfrm>
            <a:off x="3135090" y="1650089"/>
            <a:ext cx="94010" cy="94010"/>
            <a:chOff x="6812560" y="3297172"/>
            <a:chExt cx="94010" cy="94010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9" name="타원 98"/>
          <p:cNvSpPr/>
          <p:nvPr/>
        </p:nvSpPr>
        <p:spPr>
          <a:xfrm>
            <a:off x="2769812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5228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4170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9" name="그룹 108"/>
          <p:cNvGrpSpPr/>
          <p:nvPr/>
        </p:nvGrpSpPr>
        <p:grpSpPr>
          <a:xfrm>
            <a:off x="672112" y="3614651"/>
            <a:ext cx="2712027" cy="1085258"/>
            <a:chOff x="675399" y="1921801"/>
            <a:chExt cx="2712027" cy="1085258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첨언</a:t>
              </a:r>
              <a:r>
                <a:rPr lang="en-US" altLang="ko-KR" sz="700" b="1" dirty="0">
                  <a:latin typeface="+mn-ea"/>
                </a:rPr>
                <a:t>, </a:t>
              </a:r>
              <a:r>
                <a:rPr lang="ko-KR" altLang="en-US" sz="700" b="1" dirty="0">
                  <a:latin typeface="+mn-ea"/>
                </a:rPr>
                <a:t>첨부 여부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4" name="그룹 11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23" name="직선 연결선 1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직선 연결선 12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6" name="직사각형 115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00705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672112" y="4775939"/>
            <a:ext cx="2712027" cy="797589"/>
            <a:chOff x="675399" y="3490553"/>
            <a:chExt cx="2712027" cy="797589"/>
          </a:xfrm>
        </p:grpSpPr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48" name="직선 연결선 1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4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7" name="그림 14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37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38" name="그룹 137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43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44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45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4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2" name="그림 14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40" name="직선 연결선 1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0" name="그룹 149"/>
          <p:cNvGrpSpPr/>
          <p:nvPr/>
        </p:nvGrpSpPr>
        <p:grpSpPr>
          <a:xfrm>
            <a:off x="797174" y="1977748"/>
            <a:ext cx="2468249" cy="1536487"/>
            <a:chOff x="3898850" y="4660546"/>
            <a:chExt cx="2468249" cy="1536487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60546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문서 구분</a:t>
              </a:r>
            </a:p>
          </p:txBody>
        </p:sp>
        <p:grpSp>
          <p:nvGrpSpPr>
            <p:cNvPr id="152" name="그룹 151"/>
            <p:cNvGrpSpPr/>
            <p:nvPr/>
          </p:nvGrpSpPr>
          <p:grpSpPr>
            <a:xfrm flipV="1">
              <a:off x="6261284" y="4758236"/>
              <a:ext cx="91438" cy="45719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61955" y="4904371"/>
              <a:ext cx="2305144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받은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보낸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 받은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반려한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임시 저장</a:t>
              </a:r>
            </a:p>
          </p:txBody>
        </p:sp>
      </p:grpSp>
      <p:sp>
        <p:nvSpPr>
          <p:cNvPr id="156" name="직사각형 155"/>
          <p:cNvSpPr/>
          <p:nvPr/>
        </p:nvSpPr>
        <p:spPr>
          <a:xfrm>
            <a:off x="769934" y="2302805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직사각형 156"/>
          <p:cNvSpPr/>
          <p:nvPr/>
        </p:nvSpPr>
        <p:spPr>
          <a:xfrm>
            <a:off x="769934" y="2717121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직사각형 157"/>
          <p:cNvSpPr/>
          <p:nvPr/>
        </p:nvSpPr>
        <p:spPr>
          <a:xfrm>
            <a:off x="769934" y="2931782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직사각형 158"/>
          <p:cNvSpPr/>
          <p:nvPr/>
        </p:nvSpPr>
        <p:spPr>
          <a:xfrm>
            <a:off x="769867" y="2520031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TextBox 159"/>
          <p:cNvSpPr txBox="1"/>
          <p:nvPr/>
        </p:nvSpPr>
        <p:spPr>
          <a:xfrm>
            <a:off x="710536" y="2481673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628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1" name="직사각형 160"/>
          <p:cNvSpPr/>
          <p:nvPr/>
        </p:nvSpPr>
        <p:spPr>
          <a:xfrm>
            <a:off x="769934" y="3144406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/>
          <p:cNvSpPr/>
          <p:nvPr/>
        </p:nvSpPr>
        <p:spPr>
          <a:xfrm>
            <a:off x="769934" y="335906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3209" y="1628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64" name="그룹 163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6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004155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상세 화면 상단에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추가 정보가 </a:t>
            </a:r>
            <a:r>
              <a:rPr lang="ko-KR" altLang="en-US" dirty="0"/>
              <a:t>발생하는 </a:t>
            </a:r>
            <a:r>
              <a:rPr lang="ko-KR" altLang="en-US" dirty="0" smtClean="0"/>
              <a:t>경우 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문서정보</a:t>
            </a:r>
            <a:r>
              <a:rPr lang="en-US" altLang="ko-KR" dirty="0"/>
              <a:t>,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 err="1"/>
              <a:t>반려사유</a:t>
            </a:r>
            <a:r>
              <a:rPr lang="en-US" altLang="ko-KR" dirty="0"/>
              <a:t>, </a:t>
            </a:r>
            <a:r>
              <a:rPr lang="ko-KR" altLang="en-US" dirty="0"/>
              <a:t>첨부파일 순으로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MUI-CM-06-T01 </a:t>
            </a:r>
            <a:r>
              <a:rPr lang="ko-KR" altLang="en-US" dirty="0" err="1" smtClean="0"/>
              <a:t>문서정보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MUI-CM-06-T02 </a:t>
            </a:r>
            <a:r>
              <a:rPr lang="ko-KR" altLang="en-US" dirty="0"/>
              <a:t>첨언상세보기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MUI-CM-06-T03 </a:t>
            </a:r>
            <a:r>
              <a:rPr lang="ko-KR" altLang="en-US" dirty="0"/>
              <a:t>첨부파일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8892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20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758" y="1816476"/>
            <a:ext cx="270400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181647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26449"/>
            <a:ext cx="76863" cy="292489"/>
            <a:chOff x="3750067" y="4683795"/>
            <a:chExt cx="76863" cy="292489"/>
          </a:xfrm>
        </p:grpSpPr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206" name="그룹 205"/>
          <p:cNvGrpSpPr/>
          <p:nvPr/>
        </p:nvGrpSpPr>
        <p:grpSpPr>
          <a:xfrm>
            <a:off x="3869962" y="1597475"/>
            <a:ext cx="1636583" cy="107722"/>
            <a:chOff x="764168" y="4142235"/>
            <a:chExt cx="1636583" cy="107722"/>
          </a:xfrm>
        </p:grpSpPr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61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564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96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66" name="그룹 6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7" name="직사각형 6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  <p:sp>
        <p:nvSpPr>
          <p:cNvPr id="6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70" name="평행 사변형 69"/>
          <p:cNvSpPr/>
          <p:nvPr/>
        </p:nvSpPr>
        <p:spPr>
          <a:xfrm rot="16200000" flipH="1">
            <a:off x="2743131" y="2136323"/>
            <a:ext cx="1696903" cy="408308"/>
          </a:xfrm>
          <a:prstGeom prst="parallelogram">
            <a:avLst>
              <a:gd name="adj" fmla="val 33065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3105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콘텐츠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문서정보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</a:t>
            </a:r>
            <a:r>
              <a:rPr lang="ko-KR" altLang="en-US" dirty="0" err="1">
                <a:latin typeface="+mn-ea"/>
              </a:rPr>
              <a:t>문서정보</a:t>
            </a:r>
            <a:r>
              <a:rPr lang="ko-KR" altLang="en-US" dirty="0">
                <a:latin typeface="+mn-ea"/>
              </a:rPr>
              <a:t>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8892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978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grpSp>
        <p:nvGrpSpPr>
          <p:cNvPr id="66" name="그룹 6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7" name="직사각형 6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1455567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첨언 상세 내용 </a:t>
            </a:r>
            <a:r>
              <a:rPr lang="ko-KR" altLang="en-US" dirty="0" smtClean="0"/>
              <a:t>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첨언상세보기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첨언상세보기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MUI-CM-06-T02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58764" y="3188926"/>
            <a:ext cx="65201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문서정보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cxnSp>
        <p:nvCxnSpPr>
          <p:cNvPr id="225" name="직선 연결선 2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86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8" name="그룹 107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9" name="직사각형 10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015269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첨부파일 </a:t>
            </a:r>
            <a:r>
              <a:rPr lang="ko-KR" altLang="en-US" dirty="0"/>
              <a:t>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첨부파일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첨부파일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MUI-CM-06-T03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33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3423" y="3187842"/>
            <a:ext cx="270400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992981" y="3187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74274"/>
            <a:ext cx="76863" cy="292489"/>
            <a:chOff x="3750067" y="4683795"/>
            <a:chExt cx="76863" cy="292489"/>
          </a:xfrm>
        </p:grpSpPr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749627" y="2968841"/>
            <a:ext cx="1636583" cy="107722"/>
            <a:chOff x="764168" y="4142235"/>
            <a:chExt cx="1636583" cy="107722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문서정보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첨부파일</a:t>
              </a:r>
            </a:p>
          </p:txBody>
        </p:sp>
      </p:grp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4163" y="33225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grpSp>
        <p:nvGrpSpPr>
          <p:cNvPr id="8" name="그룹 7"/>
          <p:cNvGrpSpPr/>
          <p:nvPr/>
        </p:nvGrpSpPr>
        <p:grpSpPr>
          <a:xfrm>
            <a:off x="675399" y="3352396"/>
            <a:ext cx="2712027" cy="1351549"/>
            <a:chOff x="675399" y="1880640"/>
            <a:chExt cx="2712027" cy="1351549"/>
          </a:xfrm>
        </p:grpSpPr>
        <p:grpSp>
          <p:nvGrpSpPr>
            <p:cNvPr id="94" name="그룹 93"/>
            <p:cNvGrpSpPr/>
            <p:nvPr/>
          </p:nvGrpSpPr>
          <p:grpSpPr>
            <a:xfrm>
              <a:off x="705041" y="1880640"/>
              <a:ext cx="2652743" cy="906290"/>
              <a:chOff x="675929" y="1954020"/>
              <a:chExt cx="2652743" cy="906290"/>
            </a:xfrm>
          </p:grpSpPr>
          <p:sp>
            <p:nvSpPr>
              <p:cNvPr id="95" name="모서리가 둥근 직사각형 94"/>
              <p:cNvSpPr/>
              <p:nvPr/>
            </p:nvSpPr>
            <p:spPr>
              <a:xfrm>
                <a:off x="675929" y="2089138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2163659"/>
                <a:ext cx="16827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첨부파일명칭 표시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 [</a:t>
                </a:r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파일크기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]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4125" y="2217520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1</a:t>
                </a:r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3063926" y="2199381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모서리가 둥근 직사각형 98"/>
              <p:cNvSpPr/>
              <p:nvPr/>
            </p:nvSpPr>
            <p:spPr>
              <a:xfrm>
                <a:off x="675929" y="2495824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2570345"/>
                <a:ext cx="16827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첨부파일명칭 표시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 [</a:t>
                </a:r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파일크기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]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4125" y="2624206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2</a:t>
                </a:r>
              </a:p>
            </p:txBody>
          </p:sp>
          <p:sp>
            <p:nvSpPr>
              <p:cNvPr id="103" name="타원 102"/>
              <p:cNvSpPr/>
              <p:nvPr/>
            </p:nvSpPr>
            <p:spPr>
              <a:xfrm>
                <a:off x="3063926" y="2606067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1954020"/>
                <a:ext cx="47434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973442" y="1954020"/>
                <a:ext cx="32496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다운로드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1074" y="1954020"/>
                <a:ext cx="153888" cy="923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번호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23218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1" name="그룹 110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타원 113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6" name="그룹 115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1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1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20" name="모서리가 둥근 직사각형 119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21" name="모서리가 둥근 직사각형 120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22" name="모서리가 둥근 직사각형 121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123" name="그룹 12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6110122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받은문서함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33517"/>
            <a:ext cx="27208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받은문서함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dl_rcptnDocBoxList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송신처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trsmOgnzCd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송신처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Idnty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Idnty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895811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17271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송신처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도착일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도착일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rcptIdntyDt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접수확인일시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첨언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500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9530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563240"/>
              </p:ext>
            </p:extLst>
          </p:nvPr>
        </p:nvGraphicFramePr>
        <p:xfrm>
          <a:off x="453000" y="4321897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카드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scwin.grd_rcptnDocBoxList_oncellclick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9B3FC3F-44C8-AA76-E87C-D8F513C0C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20525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856F0DC-4AC5-DFA7-F72E-BA04B94B5918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329A1BF-B567-C483-B2E8-33E3874D72AC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D469DDBC-E680-75E9-4D85-0D21C7C9FA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490802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170111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32564"/>
            <a:ext cx="258140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첨언상세보기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dm_addCnInfo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930709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scwin.btn_close_onclick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발주기관 검색 팝업창이 닫힌다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038216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116318"/>
          <a:ext cx="8994883" cy="42429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첨언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029ECBC4-6D9B-D7FA-B257-E877073396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181698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5BFF1C7-887B-32AA-24EE-EBE46D67EEAF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FA3ED1D-D653-0078-76A8-8AD322EB9D0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6" name="Text Box 73">
              <a:extLst>
                <a:ext uri="{FF2B5EF4-FFF2-40B4-BE49-F238E27FC236}">
                  <a16:creationId xmlns:a16="http://schemas.microsoft.com/office/drawing/2014/main" id="{77BEF055-45FA-F5E1-7995-1C9453CA27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339811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65674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첨부문서다운로드 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7" y="257827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481090"/>
            <a:ext cx="28042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첨부문서다운로드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dl_atchDocList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7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EDMS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받은 문서 또는 보낸 문서에서 받아온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EDMS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325813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2804861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4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scwin.btn_dwnld_onclick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파일을 다운로드 한다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038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scwin.btn_close_onclick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첨부파일다운로드 팝업창이 닫힌다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0031607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764844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첨부문서명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첨부문서명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파일명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파일명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28218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5505DE0D-16CC-3C4F-C939-DC20317EC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7030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02BF9D5-5273-4F6F-CB5E-11F91278AED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D826C1C-0132-3CB3-AC8A-80FE3A0C3571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BAD4D73E-E849-1E51-9D60-482A015D75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391701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보낸문서함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27581"/>
            <a:ext cx="26920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보낸문서함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dl_sendDocBoxList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3746398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11335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수신처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송신일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rcptIdntyDt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첨언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500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404376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937466"/>
              </p:ext>
            </p:extLst>
          </p:nvPr>
        </p:nvGraphicFramePr>
        <p:xfrm>
          <a:off x="453000" y="4321898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96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21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scwin.grd_sendDocBoxList_oncellclick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CAFF8A0-50EC-82AE-BA5A-D1527BD4D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1993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E98179B-2A5F-DCA0-6FB1-5254512490D4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0AFDD93-06A1-7721-9E3F-045B7346CD8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4735F0DC-C396-6A0B-A66C-37731D6CCA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387127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임시저장함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996950"/>
            <a:ext cx="27000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임시저장함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dl_tmprDocBoxList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1761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280704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작성일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302248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300619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7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38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scwin.grd_tmprDocBoxList_oncellclick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2BE24769-50A8-B14F-3957-A7A3A03CF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319584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7F39A60-AAE4-10F9-971A-14BEA40553D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05504B0-219F-7020-36D2-5A22C9604AF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8794ABDE-C3BD-6C8C-B743-65102D9251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737851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0796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반려함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39458"/>
            <a:ext cx="23794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반려함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dl_rjctDocBoxList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docWrtBgngYmd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docWrtEndYmd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866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rjctYn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반려받은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반려한 문서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581463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343690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반려처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trsmOgnzCd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반려처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rturId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반려자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66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반려여부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rjctYn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454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docWrtDt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0611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반려사유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53627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1513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250648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032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9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scwin.grd_rjctDocBoxList_oncellclick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팝업창이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/>
                        <a:t>UI-CM-06-P13 </a:t>
                      </a:r>
                      <a:r>
                        <a:rPr lang="ko-KR" altLang="en-US" sz="800" dirty="0"/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844FB6C-BF5D-D2C1-8CC7-7295814E11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13400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4F34269-FA1F-CAFC-925F-EB508475034C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36E5A4B-8498-C576-9110-316A94C9091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63761980-DED2-5628-B24D-04AFEFCB27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8793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79953"/>
            <a:ext cx="2376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반려사유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dm_rjctRsnInfo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163707"/>
          <a:ext cx="8994883" cy="42429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반려사유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rjctRsn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반려사유 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E1AFFECE-E5E8-396C-84F0-3EB6A65AC3F1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A240484-4FCF-6BAA-7C44-24FA614779E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E6A817EE-0532-A5EC-D59B-9990726EE7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559202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개인별 수신처 정보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모바일에서 조회만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등록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삭제는 </a:t>
            </a:r>
            <a:r>
              <a:rPr lang="en-US" altLang="ko-KR" dirty="0"/>
              <a:t>PC</a:t>
            </a:r>
            <a:r>
              <a:rPr lang="ko-KR" altLang="en-US" dirty="0"/>
              <a:t>에서 </a:t>
            </a:r>
            <a:r>
              <a:rPr lang="ko-KR" altLang="en-US" dirty="0" smtClean="0"/>
              <a:t>가능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상세화면</a:t>
            </a:r>
            <a:r>
              <a:rPr lang="ko-KR" altLang="en-US" dirty="0" smtClean="0"/>
              <a:t> 없음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개인별수신처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개인별수신처관리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개인별수신처관리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개인별 수신처 관리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25444"/>
            <a:ext cx="2473257" cy="498731"/>
            <a:chOff x="781461" y="2794394"/>
            <a:chExt cx="2473257" cy="49873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부서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수신자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홍길동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전자문서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50191" y="3139237"/>
              <a:ext cx="3847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물량배정서</a:t>
              </a:r>
              <a:endParaRPr lang="en-US" altLang="ko-KR" sz="600" dirty="0">
                <a:latin typeface="+mn-ea"/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84597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0480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8" name="그룹 77"/>
          <p:cNvGrpSpPr/>
          <p:nvPr/>
        </p:nvGrpSpPr>
        <p:grpSpPr>
          <a:xfrm>
            <a:off x="781461" y="3018547"/>
            <a:ext cx="2473257" cy="498731"/>
            <a:chOff x="781461" y="2794394"/>
            <a:chExt cx="2473257" cy="498731"/>
          </a:xfrm>
        </p:grpSpPr>
        <p:sp>
          <p:nvSpPr>
            <p:cNvPr id="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부서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수신자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홍길동</a:t>
              </a:r>
            </a:p>
          </p:txBody>
        </p:sp>
        <p:sp>
          <p:nvSpPr>
            <p:cNvPr id="81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전자문서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91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50191" y="3139237"/>
              <a:ext cx="3847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물량배정서</a:t>
              </a:r>
              <a:endParaRPr lang="en-US" altLang="ko-KR" sz="600" dirty="0">
                <a:latin typeface="+mn-ea"/>
              </a:endParaRPr>
            </a:p>
          </p:txBody>
        </p:sp>
      </p:grp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9791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6298299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097698"/>
            <a:ext cx="28955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 smtClean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개인별수신처관리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dl_indvRcofcList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6653"/>
              </p:ext>
            </p:extLst>
          </p:nvPr>
        </p:nvGraphicFramePr>
        <p:xfrm>
          <a:off x="452999" y="1381452"/>
          <a:ext cx="8994883" cy="134581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전자문서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전자문서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:XSTORECATE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deptNm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66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수신부서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rcptnOgnzNm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부신부서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454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061159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328968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143381"/>
              </p:ext>
            </p:extLst>
          </p:nvPr>
        </p:nvGraphicFramePr>
        <p:xfrm>
          <a:off x="453000" y="3567814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4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C37E3C67-E84D-7FF6-3F6C-3608A6AC5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345117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05B97E-644A-CE99-3CF6-BB586B8CAA5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0EE7967-76BA-EAD7-3853-B4F644E279C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23DC1AB0-DD2A-250D-CC23-F4690B66CF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460716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관심법령</a:t>
            </a:r>
            <a:r>
              <a:rPr lang="ko-KR" altLang="en-US" dirty="0"/>
              <a:t>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외부 브라우저로 법령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법령 해제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별표 하이라이트가 꺼지고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현재 페이지에서는 유지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페이지를 이탈했다가 다시 돌아오는 경우 </a:t>
            </a:r>
            <a:r>
              <a:rPr lang="ko-KR" altLang="en-US" dirty="0" err="1" smtClean="0"/>
              <a:t>즐겨찾기</a:t>
            </a:r>
            <a:r>
              <a:rPr lang="ko-KR" altLang="en-US" dirty="0" smtClean="0"/>
              <a:t> 된 관심 법령만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해제 메시지 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해제 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외부 페이지 링크로 법령 정보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외부 </a:t>
            </a:r>
            <a:r>
              <a:rPr lang="en-US" altLang="ko-KR" dirty="0" smtClean="0"/>
              <a:t>URL</a:t>
            </a:r>
            <a:r>
              <a:rPr lang="ko-KR" altLang="en-US" dirty="0" smtClean="0"/>
              <a:t>은 법령 </a:t>
            </a:r>
            <a:r>
              <a:rPr lang="ko-KR" altLang="en-US" dirty="0" err="1" smtClean="0"/>
              <a:t>등록시</a:t>
            </a:r>
            <a:r>
              <a:rPr lang="ko-KR" altLang="en-US" dirty="0" smtClean="0"/>
              <a:t> 관리자가 작성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관심법령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관심법령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354041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주요 법령 모음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법령 모음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328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포인트가 5개인 별 79"/>
          <p:cNvSpPr/>
          <p:nvPr/>
        </p:nvSpPr>
        <p:spPr>
          <a:xfrm>
            <a:off x="3058823" y="2397456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864279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방위사업법</a:t>
            </a:r>
            <a:r>
              <a:rPr lang="en-US" altLang="ko-KR" sz="700" dirty="0">
                <a:solidFill>
                  <a:prstClr val="black"/>
                </a:solidFill>
              </a:rPr>
              <a:t>/</a:t>
            </a:r>
            <a:r>
              <a:rPr lang="ko-KR" altLang="en-US" sz="700" dirty="0" err="1">
                <a:solidFill>
                  <a:prstClr val="black"/>
                </a:solidFill>
              </a:rPr>
              <a:t>국계법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4305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포인트가 5개인 별 99"/>
          <p:cNvSpPr/>
          <p:nvPr/>
        </p:nvSpPr>
        <p:spPr>
          <a:xfrm>
            <a:off x="3058823" y="2907694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374517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 err="1">
                <a:solidFill>
                  <a:prstClr val="black"/>
                </a:solidFill>
              </a:rPr>
              <a:t>방위사업청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중앙조달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군수품조달</a:t>
            </a:r>
            <a:r>
              <a:rPr lang="ko-KR" altLang="en-US" sz="900" b="1" dirty="0">
                <a:solidFill>
                  <a:prstClr val="black"/>
                </a:solidFill>
              </a:rPr>
              <a:t> 관리규정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7532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포인트가 5개인 별 111"/>
          <p:cNvSpPr/>
          <p:nvPr/>
        </p:nvSpPr>
        <p:spPr>
          <a:xfrm>
            <a:off x="3058823" y="3417932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878989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국방부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부대조달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군시설공사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입찰참가자격사전심사</a:t>
            </a:r>
            <a:endParaRPr lang="en-US" altLang="ko-KR" sz="900" b="1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세부운영</a:t>
            </a:r>
            <a:r>
              <a:rPr lang="ko-KR" altLang="en-US" sz="900" b="1" dirty="0">
                <a:solidFill>
                  <a:prstClr val="black"/>
                </a:solidFill>
              </a:rPr>
              <a:t> 기준에 관한 훈령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9019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포인트가 5개인 별 118"/>
          <p:cNvSpPr/>
          <p:nvPr/>
        </p:nvSpPr>
        <p:spPr>
          <a:xfrm>
            <a:off x="3058823" y="3991654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9568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415596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2583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436072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00979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0504844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544736"/>
            <a:ext cx="2268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 smtClean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관심법령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dl_itrstSttList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378913"/>
              </p:ext>
            </p:extLst>
          </p:nvPr>
        </p:nvGraphicFramePr>
        <p:xfrm>
          <a:off x="452999" y="175593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법령구분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법령약어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sttAbbrNm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법령약어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sttEnfcYmd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sttUrl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delYn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418733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300751"/>
              </p:ext>
            </p:extLst>
          </p:nvPr>
        </p:nvGraphicFramePr>
        <p:xfrm>
          <a:off x="453000" y="4465470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632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0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scwin.grd_itrstSttList_oncellclick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법령의 링크화면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scwin.grd_itrstSttList_oncellclick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관심법령에서 삭제된다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001118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D7F5CC1D-2566-7E2B-B0F3-7FAF0EF6A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34289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7615BA-8AA0-390C-2414-6B3A13575B1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34B53F6-B152-0E8A-06E0-7268AD46F08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080E219-6A88-FE2C-9DE5-38900941F7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151131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작성한 게시물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trike="sngStrike" dirty="0"/>
              <a:t>- </a:t>
            </a:r>
            <a:r>
              <a:rPr lang="ko-KR" altLang="en-US" strike="sngStrike" dirty="0"/>
              <a:t>작성 </a:t>
            </a:r>
            <a:r>
              <a:rPr lang="ko-KR" altLang="en-US" strike="sngStrike" dirty="0" smtClean="0"/>
              <a:t>위치정보 </a:t>
            </a:r>
            <a:r>
              <a:rPr lang="en-US" altLang="ko-KR" strike="sngStrike" dirty="0" smtClean="0"/>
              <a:t>(</a:t>
            </a:r>
            <a:r>
              <a:rPr lang="ko-KR" altLang="en-US" strike="sngStrike" dirty="0" smtClean="0"/>
              <a:t>삭제</a:t>
            </a:r>
            <a:r>
              <a:rPr lang="en-US" altLang="ko-KR" strike="sngStrike" dirty="0" smtClean="0"/>
              <a:t>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작성 제목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작성일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클릭 시 해당 게시물 화면으로 이동하여 콘텐츠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나의 게시물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나의 게시물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게시물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336949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9703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268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619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131886"/>
            <a:ext cx="206124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 </a:t>
            </a:r>
            <a:r>
              <a:rPr lang="ko-KR" altLang="en-US" sz="900" b="1" dirty="0" err="1">
                <a:solidFill>
                  <a:prstClr val="black"/>
                </a:solidFill>
              </a:rPr>
              <a:t>두줄이</a:t>
            </a:r>
            <a:r>
              <a:rPr lang="ko-KR" altLang="en-US" sz="900" b="1" dirty="0">
                <a:solidFill>
                  <a:prstClr val="black"/>
                </a:solidFill>
              </a:rPr>
              <a:t> 되는 경우 </a:t>
            </a:r>
            <a:r>
              <a:rPr lang="ko-KR" altLang="en-US" sz="900" b="1" dirty="0" err="1">
                <a:solidFill>
                  <a:prstClr val="black"/>
                </a:solidFill>
              </a:rPr>
              <a:t>두줄까지</a:t>
            </a:r>
            <a:r>
              <a:rPr lang="ko-KR" altLang="en-US" sz="900" b="1" dirty="0">
                <a:solidFill>
                  <a:prstClr val="black"/>
                </a:solidFill>
              </a:rPr>
              <a:t> 표시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883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46049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335729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49" name="그룹 48"/>
          <p:cNvGrpSpPr/>
          <p:nvPr/>
        </p:nvGrpSpPr>
        <p:grpSpPr>
          <a:xfrm rot="16200000" flipH="1">
            <a:off x="3096543" y="2498546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9" name="그룹 58"/>
          <p:cNvGrpSpPr/>
          <p:nvPr/>
        </p:nvGrpSpPr>
        <p:grpSpPr>
          <a:xfrm rot="16200000" flipH="1">
            <a:off x="3096545" y="4373782"/>
            <a:ext cx="94010" cy="47005"/>
            <a:chOff x="6812560" y="3297172"/>
            <a:chExt cx="94010" cy="47005"/>
          </a:xfrm>
        </p:grpSpPr>
        <p:cxnSp>
          <p:nvCxnSpPr>
            <p:cNvPr id="60" name="직선 연결선 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직선 연결선 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619927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6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927022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169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050567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 rot="16200000" flipH="1">
            <a:off x="3096543" y="3088619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10000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7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517094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4" y="3640639"/>
            <a:ext cx="156074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78" name="그룹 77"/>
          <p:cNvGrpSpPr/>
          <p:nvPr/>
        </p:nvGrpSpPr>
        <p:grpSpPr>
          <a:xfrm rot="16200000" flipH="1">
            <a:off x="3096543" y="3678691"/>
            <a:ext cx="94010" cy="47005"/>
            <a:chOff x="6812560" y="3297172"/>
            <a:chExt cx="94010" cy="47005"/>
          </a:xfrm>
        </p:grpSpPr>
        <p:cxnSp>
          <p:nvCxnSpPr>
            <p:cNvPr id="79" name="직선 연결선 7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800072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8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556108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pSp>
        <p:nvGrpSpPr>
          <p:cNvPr id="56" name="그룹 5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7" name="직사각형 5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작성 위치정보 표시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3899640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생성한 폴더 구조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폴더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폴더의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, </a:t>
            </a:r>
            <a:r>
              <a:rPr lang="ko-KR" altLang="en-US" dirty="0"/>
              <a:t>삭제는 </a:t>
            </a:r>
            <a:r>
              <a:rPr lang="en-US" altLang="ko-KR" dirty="0"/>
              <a:t>PC</a:t>
            </a:r>
            <a:r>
              <a:rPr lang="ko-KR" altLang="en-US" dirty="0"/>
              <a:t>에서 제공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권한 </a:t>
            </a:r>
            <a:r>
              <a:rPr lang="ko-KR" altLang="en-US" dirty="0"/>
              <a:t>관리는 업체 대표자에게만 표시됨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파일첨부</a:t>
            </a:r>
            <a:r>
              <a:rPr lang="en-US" altLang="ko-KR" dirty="0" smtClean="0"/>
              <a:t>, </a:t>
            </a:r>
            <a:r>
              <a:rPr lang="ko-KR" altLang="en-US" dirty="0" smtClean="0"/>
              <a:t>파일 업로드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디지털 캐비닛 선택 업로드로 진입하는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권한 버튼 숨김 처리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입찰참가</a:t>
            </a:r>
            <a:r>
              <a:rPr lang="en-US" altLang="ko-KR" dirty="0"/>
              <a:t>, </a:t>
            </a:r>
            <a:r>
              <a:rPr lang="ko-KR" altLang="en-US" dirty="0"/>
              <a:t>입찰서 등을 작성할 때</a:t>
            </a:r>
            <a:r>
              <a:rPr lang="en-US" altLang="ko-KR" dirty="0"/>
              <a:t>, </a:t>
            </a:r>
            <a:r>
              <a:rPr lang="ko-KR" altLang="en-US" dirty="0"/>
              <a:t>사용자가 디지털 캐비닛의 파일첨부</a:t>
            </a:r>
            <a:r>
              <a:rPr lang="en-US" altLang="ko-KR" dirty="0"/>
              <a:t>, </a:t>
            </a:r>
            <a:r>
              <a:rPr lang="ko-KR" altLang="en-US" dirty="0"/>
              <a:t>파일업로드를 하는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폴더의 권한은 표시하지 않음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디지털 캐비닛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사용자가 등록한 자료 폴더 목록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875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260357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745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모서리가 둥근 직사각형 55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5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폴더와</a:t>
            </a:r>
            <a:r>
              <a:rPr lang="en-US" altLang="ko-KR" sz="700" dirty="0">
                <a:solidFill>
                  <a:prstClr val="black"/>
                </a:solidFill>
              </a:rPr>
              <a:t> </a:t>
            </a:r>
            <a:r>
              <a:rPr lang="ko-KR" altLang="en-US" sz="700" dirty="0">
                <a:solidFill>
                  <a:prstClr val="black"/>
                </a:solidFill>
              </a:rPr>
              <a:t>파일의 추가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삭제는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타원 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33470" y="25670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53567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 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5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258666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02577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95787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0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00886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43912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1007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37122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25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42221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2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860375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3132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792480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5MB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3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843470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4280031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509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4212136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5MB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3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4263126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249278"/>
            <a:ext cx="45225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0" name="타원 139"/>
          <p:cNvSpPr/>
          <p:nvPr/>
        </p:nvSpPr>
        <p:spPr>
          <a:xfrm>
            <a:off x="783686" y="221671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1" name="그룹 140"/>
          <p:cNvGrpSpPr/>
          <p:nvPr/>
        </p:nvGrpSpPr>
        <p:grpSpPr>
          <a:xfrm>
            <a:off x="3143548" y="2279636"/>
            <a:ext cx="94010" cy="47005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553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6078185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폴더명</a:t>
            </a:r>
            <a:r>
              <a:rPr lang="en-US" altLang="ko-KR" dirty="0"/>
              <a:t>, </a:t>
            </a:r>
            <a:r>
              <a:rPr lang="ko-KR" altLang="en-US" dirty="0"/>
              <a:t>폴더 사이즈</a:t>
            </a:r>
            <a:r>
              <a:rPr lang="en-US" altLang="ko-KR" dirty="0"/>
              <a:t>, </a:t>
            </a:r>
            <a:r>
              <a:rPr lang="ko-KR" altLang="en-US" dirty="0"/>
              <a:t>사용자 권한을 조정할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권한 설정은 업체 대표자만 가능함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취소시</a:t>
            </a:r>
            <a:r>
              <a:rPr lang="en-US" altLang="ko-KR" dirty="0"/>
              <a:t> </a:t>
            </a:r>
            <a:r>
              <a:rPr lang="ko-KR" altLang="en-US" dirty="0"/>
              <a:t>팝업 그대로 닫힘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저장 시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변경 저장 되었습니다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폴더설정권한관리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디지털캐비닛 폴더의 권한 설정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권한 설정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MUI-CM-06-P15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양쪽 모서리가 둥근 사각형 5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67" name="직선 연결선 6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직선 연결선 6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권한 설정</a:t>
            </a: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타원 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7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저장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959173"/>
            <a:ext cx="103509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폴더 사이즈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폴더명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54425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사용자 권한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1294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403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모서리가 둥근 직사각형 81"/>
          <p:cNvSpPr/>
          <p:nvPr/>
        </p:nvSpPr>
        <p:spPr>
          <a:xfrm>
            <a:off x="720467" y="2604974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720467" y="3169353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10MB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032591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88" name="그룹 87"/>
          <p:cNvGrpSpPr/>
          <p:nvPr/>
        </p:nvGrpSpPr>
        <p:grpSpPr>
          <a:xfrm>
            <a:off x="3143548" y="3264043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모서리가 둥근 직사각형 93"/>
          <p:cNvSpPr/>
          <p:nvPr/>
        </p:nvSpPr>
        <p:spPr>
          <a:xfrm>
            <a:off x="712057" y="376985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384437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김대표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2025-01-15 13:25</a:t>
            </a:r>
          </a:p>
        </p:txBody>
      </p:sp>
      <p:sp>
        <p:nvSpPr>
          <p:cNvPr id="99" name="모서리가 둥근 직사각형 98"/>
          <p:cNvSpPr/>
          <p:nvPr/>
        </p:nvSpPr>
        <p:spPr>
          <a:xfrm>
            <a:off x="712057" y="4176541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4251062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8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박영업</a:t>
            </a:r>
            <a:endParaRPr lang="en-US" altLang="ko-KR" sz="800" b="1" dirty="0">
              <a:solidFill>
                <a:prstClr val="black">
                  <a:lumMod val="85000"/>
                  <a:lumOff val="15000"/>
                </a:prstClr>
              </a:solidFill>
              <a:latin typeface="맑은 고딕" panose="020B0503020000020004" pitchFamily="50" charset="-127"/>
            </a:endParaRPr>
          </a:p>
          <a:p>
            <a:pPr lvl="0"/>
            <a:r>
              <a:rPr lang="ko-KR" altLang="en-US" sz="6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2025-01-15 14:47 </a:t>
            </a: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2415" y="57357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617677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2305867" y="3874106"/>
            <a:ext cx="993848" cy="155984"/>
            <a:chOff x="808107" y="2288229"/>
            <a:chExt cx="1811459" cy="168318"/>
          </a:xfrm>
        </p:grpSpPr>
        <p:sp>
          <p:nvSpPr>
            <p:cNvPr id="11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3" name="그룹 122"/>
          <p:cNvGrpSpPr/>
          <p:nvPr/>
        </p:nvGrpSpPr>
        <p:grpSpPr>
          <a:xfrm>
            <a:off x="2305867" y="4280792"/>
            <a:ext cx="993848" cy="155984"/>
            <a:chOff x="808107" y="2288229"/>
            <a:chExt cx="1811459" cy="168318"/>
          </a:xfrm>
        </p:grpSpPr>
        <p:sp>
          <p:nvSpPr>
            <p:cNvPr id="12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2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35" name="모서리가 둥근 직사각형 134"/>
          <p:cNvSpPr/>
          <p:nvPr/>
        </p:nvSpPr>
        <p:spPr>
          <a:xfrm>
            <a:off x="712057" y="458107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4655595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en-US" altLang="ko-KR" sz="800" b="1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James </a:t>
            </a:r>
            <a:r>
              <a:rPr lang="en-US" altLang="ko-KR" sz="8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Burkley</a:t>
            </a:r>
            <a:endParaRPr lang="en-US" altLang="ko-KR" sz="800" b="1" dirty="0">
              <a:solidFill>
                <a:prstClr val="black">
                  <a:lumMod val="85000"/>
                  <a:lumOff val="15000"/>
                </a:prstClr>
              </a:solidFill>
              <a:latin typeface="맑은 고딕" panose="020B0503020000020004" pitchFamily="50" charset="-127"/>
            </a:endParaRPr>
          </a:p>
          <a:p>
            <a:pPr lvl="0"/>
            <a:r>
              <a:rPr lang="ko-KR" altLang="en-US" sz="6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2025-01-15 16:22</a:t>
            </a:r>
          </a:p>
        </p:txBody>
      </p:sp>
      <p:grpSp>
        <p:nvGrpSpPr>
          <p:cNvPr id="144" name="그룹 143"/>
          <p:cNvGrpSpPr/>
          <p:nvPr/>
        </p:nvGrpSpPr>
        <p:grpSpPr>
          <a:xfrm>
            <a:off x="2305867" y="4685325"/>
            <a:ext cx="993848" cy="155984"/>
            <a:chOff x="808107" y="2288229"/>
            <a:chExt cx="1811459" cy="168318"/>
          </a:xfrm>
        </p:grpSpPr>
        <p:sp>
          <p:nvSpPr>
            <p:cNvPr id="145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4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32020"/>
            <a:ext cx="76863" cy="292489"/>
            <a:chOff x="3750067" y="4683795"/>
            <a:chExt cx="76863" cy="292489"/>
          </a:xfrm>
        </p:grpSpPr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5148498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8965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114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53662"/>
            <a:ext cx="26407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폴더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3741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fldrNm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fldrSz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mdfrNm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등록일시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3156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mdfcnDt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110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D3DF6E4-3604-ED94-DEC3-2A8F6364DA0E}"/>
              </a:ext>
            </a:extLst>
          </p:cNvPr>
          <p:cNvSpPr txBox="1"/>
          <p:nvPr/>
        </p:nvSpPr>
        <p:spPr>
          <a:xfrm>
            <a:off x="463235" y="2347416"/>
            <a:ext cx="305909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폴더 권한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dl_digitalCabinetAuthrtList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28DE66F-5F85-32C0-B139-005B58225AB1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59554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사용자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권한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authrtSe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권한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쓰기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읽기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없음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접근권한코드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:GTSC0009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mdfcnDt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621256E-2BA7-6BAA-111B-197BD14DF222}"/>
              </a:ext>
            </a:extLst>
          </p:cNvPr>
          <p:cNvSpPr txBox="1"/>
          <p:nvPr/>
        </p:nvSpPr>
        <p:spPr>
          <a:xfrm>
            <a:off x="468353" y="3427342"/>
            <a:ext cx="32979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폴더 내 파일목록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CC675FA-CA9A-F7D0-E1A9-801F009BFC83}"/>
              </a:ext>
            </a:extLst>
          </p:cNvPr>
          <p:cNvGraphicFramePr>
            <a:graphicFrameLocks noGrp="1"/>
          </p:cNvGraphicFramePr>
          <p:nvPr/>
        </p:nvGraphicFramePr>
        <p:xfrm>
          <a:off x="463235" y="366953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685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fileSz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파일사이즈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(MB)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vldPrdEndYmd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eldocYn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전자문서 여부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(Y/N)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Y/N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1174319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3235" y="487937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813785"/>
              </p:ext>
            </p:extLst>
          </p:nvPr>
        </p:nvGraphicFramePr>
        <p:xfrm>
          <a:off x="455204" y="5100670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349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467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312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scwin.btn_save_onclick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변경된 정보를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쓰기 권한이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있을때만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8206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60345BDA-72F8-A50F-5DEE-1DC664B80D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498741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CC302D0-0791-F56B-8FCB-36A5979D6C4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7D3E1E8-2A83-F048-7179-4CE69B789918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7" name="Text Box 73">
              <a:extLst>
                <a:ext uri="{FF2B5EF4-FFF2-40B4-BE49-F238E27FC236}">
                  <a16:creationId xmlns:a16="http://schemas.microsoft.com/office/drawing/2014/main" id="{E5988E95-6757-1BE7-B513-585E4D65C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11325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생성한 폴더 구조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상위 폴더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파일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파일 등록</a:t>
            </a:r>
            <a:r>
              <a:rPr lang="en-US" altLang="ko-KR" dirty="0"/>
              <a:t>, </a:t>
            </a:r>
            <a:r>
              <a:rPr lang="ko-KR" altLang="en-US" dirty="0"/>
              <a:t>삭제 </a:t>
            </a:r>
            <a:r>
              <a:rPr lang="en-US" altLang="ko-KR" dirty="0"/>
              <a:t>PC</a:t>
            </a:r>
            <a:r>
              <a:rPr lang="ko-KR" altLang="en-US" dirty="0"/>
              <a:t>에서 </a:t>
            </a:r>
            <a:r>
              <a:rPr lang="ko-KR" altLang="en-US" dirty="0" smtClean="0"/>
              <a:t>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/>
              <a:t>파일첨부</a:t>
            </a:r>
            <a:r>
              <a:rPr lang="en-US" altLang="ko-KR" dirty="0"/>
              <a:t>, </a:t>
            </a:r>
            <a:r>
              <a:rPr lang="ko-KR" altLang="en-US" dirty="0"/>
              <a:t>파일 업로드 </a:t>
            </a:r>
            <a:r>
              <a:rPr lang="en-US" altLang="ko-KR" dirty="0"/>
              <a:t>&gt; </a:t>
            </a:r>
            <a:r>
              <a:rPr lang="ko-KR" altLang="en-US" dirty="0"/>
              <a:t>디지털 캐비닛 선택으로 진입하는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선택 시 하이라이트 처리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입찰참가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입찰서 등을 작성할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사용자가 디지털 캐비닛의 파일첨부</a:t>
            </a:r>
            <a:r>
              <a:rPr lang="en-US" altLang="ko-KR" dirty="0" smtClean="0"/>
              <a:t>, </a:t>
            </a:r>
            <a:r>
              <a:rPr lang="ko-KR" altLang="en-US" dirty="0" smtClean="0"/>
              <a:t>파일업로드를 하는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파일 첨부 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입찰참가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입찰서 등에서 파일을 업로드</a:t>
            </a:r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파일 첨부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r>
              <a:rPr lang="ko-KR" altLang="en-US" dirty="0" smtClean="0">
                <a:solidFill>
                  <a:srgbClr val="FF0000"/>
                </a:solidFill>
              </a:rPr>
              <a:t>할 때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사용자에게 </a:t>
            </a:r>
            <a:r>
              <a:rPr lang="ko-KR" altLang="en-US" dirty="0" err="1" smtClean="0">
                <a:solidFill>
                  <a:srgbClr val="FF0000"/>
                </a:solidFill>
              </a:rPr>
              <a:t>직접업로드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캐비닛 업로드를 할 수 있는 팝업 선택지가 노출됨</a:t>
            </a:r>
            <a:r>
              <a:rPr lang="en-US" altLang="ko-KR" dirty="0" smtClean="0">
                <a:solidFill>
                  <a:srgbClr val="FF0000"/>
                </a:solidFill>
              </a:rPr>
              <a:t>. 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사용자가 디지털 캐비닛 업로드 선택 시 캐비닛의 파일을 선택하여 업로드할 수 있는 체크박스와 </a:t>
            </a:r>
            <a:r>
              <a:rPr lang="ko-KR" altLang="en-US" dirty="0" err="1" smtClean="0">
                <a:solidFill>
                  <a:srgbClr val="FF0000"/>
                </a:solidFill>
              </a:rPr>
              <a:t>선택파일</a:t>
            </a:r>
            <a:r>
              <a:rPr lang="ko-KR" altLang="en-US" dirty="0" smtClean="0">
                <a:solidFill>
                  <a:srgbClr val="FF0000"/>
                </a:solidFill>
              </a:rPr>
              <a:t> 첨부 버튼을 표시함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캐비닛 업로드 선택 시 최초 진입은 목록 화면으로 진입하며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권한 버튼은 숨김 처리됨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사용자가 선택 여부를 확인할 수 있는 체크박스 추가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선택 파일 첨부를 통해 신청서 작성 등의 파일 </a:t>
            </a:r>
            <a:r>
              <a:rPr lang="ko-KR" altLang="en-US" dirty="0" err="1" smtClean="0"/>
              <a:t>첨부항목에</a:t>
            </a:r>
            <a:r>
              <a:rPr lang="ko-KR" altLang="en-US" dirty="0" smtClean="0"/>
              <a:t> 선택된 캐비닛 자료 업로드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이전 </a:t>
            </a:r>
            <a:r>
              <a:rPr lang="ko-KR" altLang="en-US" dirty="0" err="1" smtClean="0"/>
              <a:t>파일첨부하던</a:t>
            </a:r>
            <a:r>
              <a:rPr lang="ko-KR" altLang="en-US" dirty="0" smtClean="0"/>
              <a:t> 화면으로 복귀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폴더내파일목록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디지털캐비닛 파일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MUI-CM-06-M16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924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56" name="모서리가 둥근 직사각형 55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5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폴더와</a:t>
            </a:r>
            <a:r>
              <a:rPr lang="en-US" altLang="ko-KR" sz="700" dirty="0">
                <a:solidFill>
                  <a:prstClr val="black"/>
                </a:solidFill>
              </a:rPr>
              <a:t> </a:t>
            </a:r>
            <a:r>
              <a:rPr lang="ko-KR" altLang="en-US" sz="700" dirty="0">
                <a:solidFill>
                  <a:prstClr val="black"/>
                </a:solidFill>
              </a:rPr>
              <a:t>파일의 추가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삭제는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532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26014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b="1" dirty="0">
                <a:latin typeface="+mn-ea"/>
              </a:rPr>
              <a:t>←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723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0620" y="2588929"/>
            <a:ext cx="2063916" cy="133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ko-KR" altLang="en-US" sz="800" dirty="0">
                <a:solidFill>
                  <a:prstClr val="black"/>
                </a:solidFill>
              </a:rPr>
              <a:t>📁 </a:t>
            </a:r>
            <a:r>
              <a:rPr lang="ko-KR" altLang="en-US" sz="800" b="1" dirty="0">
                <a:solidFill>
                  <a:prstClr val="black"/>
                </a:solidFill>
              </a:rPr>
              <a:t>상위 폴더 목록 이동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0236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945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95572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사업자등록증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[369KB]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6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43697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079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36907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대사회보험사업장가입자명부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858229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291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790334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대사회보험사업장가입내역확인서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9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4277885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488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4209990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파일명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  <a:r>
              <a:rPr lang="ko-KR" altLang="en-US" sz="800" b="1" dirty="0" err="1">
                <a:solidFill>
                  <a:prstClr val="black"/>
                </a:solidFill>
              </a:rPr>
              <a:t>확장자</a:t>
            </a:r>
            <a:r>
              <a:rPr lang="en-US" altLang="ko-KR" sz="800" b="1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b="1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-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249278"/>
            <a:ext cx="45225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4" name="타원 103"/>
          <p:cNvSpPr/>
          <p:nvPr/>
        </p:nvSpPr>
        <p:spPr>
          <a:xfrm>
            <a:off x="783686" y="221671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5" name="그룹 104"/>
          <p:cNvGrpSpPr/>
          <p:nvPr/>
        </p:nvGrpSpPr>
        <p:grpSpPr>
          <a:xfrm>
            <a:off x="3143548" y="2279636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36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선택 파일 첨부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62763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7261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5" name="그룹 54"/>
          <p:cNvGrpSpPr/>
          <p:nvPr/>
        </p:nvGrpSpPr>
        <p:grpSpPr>
          <a:xfrm rot="5400000">
            <a:off x="3881704" y="1640499"/>
            <a:ext cx="94010" cy="47005"/>
            <a:chOff x="6812560" y="3297172"/>
            <a:chExt cx="94010" cy="47005"/>
          </a:xfrm>
        </p:grpSpPr>
        <p:cxnSp>
          <p:nvCxnSpPr>
            <p:cNvPr id="62" name="직선 연결선 6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직선 연결선 6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0" name="타원 69"/>
          <p:cNvSpPr/>
          <p:nvPr/>
        </p:nvSpPr>
        <p:spPr>
          <a:xfrm>
            <a:off x="6171228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/>
          <p:cNvSpPr txBox="1"/>
          <p:nvPr/>
        </p:nvSpPr>
        <p:spPr>
          <a:xfrm>
            <a:off x="6119977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9672" y="4874158"/>
            <a:ext cx="76863" cy="292489"/>
            <a:chOff x="3750067" y="4683795"/>
            <a:chExt cx="76863" cy="292489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8" name="모서리가 둥근 직사각형 77"/>
          <p:cNvSpPr/>
          <p:nvPr/>
        </p:nvSpPr>
        <p:spPr>
          <a:xfrm>
            <a:off x="3908152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7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209534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폴더와</a:t>
            </a:r>
            <a:r>
              <a:rPr lang="en-US" altLang="ko-KR" sz="700" dirty="0">
                <a:solidFill>
                  <a:prstClr val="black"/>
                </a:solidFill>
              </a:rPr>
              <a:t> </a:t>
            </a:r>
            <a:r>
              <a:rPr lang="ko-KR" altLang="en-US" sz="700" dirty="0">
                <a:solidFill>
                  <a:prstClr val="black"/>
                </a:solidFill>
              </a:rPr>
              <a:t>파일의 추가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삭제는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24532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99316" y="26014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b="1" dirty="0">
                <a:latin typeface="+mn-ea"/>
              </a:rPr>
              <a:t>←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28723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107311" y="2588929"/>
            <a:ext cx="2063916" cy="133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ko-KR" altLang="en-US" sz="800" dirty="0">
                <a:solidFill>
                  <a:prstClr val="black"/>
                </a:solidFill>
              </a:rPr>
              <a:t>📁 </a:t>
            </a:r>
            <a:r>
              <a:rPr lang="ko-KR" altLang="en-US" sz="800" b="1" dirty="0">
                <a:solidFill>
                  <a:prstClr val="black"/>
                </a:solidFill>
              </a:rPr>
              <a:t>상위 폴더 목록 이동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089407" y="30236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32945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336596" y="295572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사업자등록증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[369KB]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089407" y="343697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37079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336596" y="336907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대사회보험사업장가입자명부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9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089407" y="3858229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41291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336596" y="3790334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대사회보험사업장가입내역확인서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9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089407" y="4277885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45488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4336596" y="4209990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파일명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  <a:r>
              <a:rPr lang="ko-KR" altLang="en-US" sz="800" b="1" dirty="0" err="1">
                <a:solidFill>
                  <a:prstClr val="black"/>
                </a:solidFill>
              </a:rPr>
              <a:t>확장자</a:t>
            </a:r>
            <a:r>
              <a:rPr lang="en-US" altLang="ko-KR" sz="800" b="1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b="1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-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90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46505" y="2249278"/>
            <a:ext cx="45225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0" name="타원 109"/>
          <p:cNvSpPr/>
          <p:nvPr/>
        </p:nvSpPr>
        <p:spPr>
          <a:xfrm>
            <a:off x="3910377" y="221671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1" name="그룹 110"/>
          <p:cNvGrpSpPr/>
          <p:nvPr/>
        </p:nvGrpSpPr>
        <p:grpSpPr>
          <a:xfrm>
            <a:off x="6270239" y="2279636"/>
            <a:ext cx="94010" cy="47005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2489" y="3028158"/>
            <a:ext cx="108000" cy="108000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2489" y="3444097"/>
            <a:ext cx="108000" cy="108000"/>
          </a:xfrm>
          <a:prstGeom prst="roundRect">
            <a:avLst/>
          </a:prstGeom>
          <a:solidFill>
            <a:srgbClr val="0070C0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sz="7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rPr>
              <a:t>V</a:t>
            </a:r>
            <a:endParaRPr kumimoji="1" lang="en-US" sz="7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1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2489" y="3861946"/>
            <a:ext cx="108000" cy="108000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9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2489" y="4277885"/>
            <a:ext cx="108000" cy="108000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6896" y="14138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120" name="그룹 11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1" name="직사각형 12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2026-07-29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이해를 돕기 위해 디지털 캐비닛에서 파일을 첨부하는 화면을 추가함</a:t>
              </a:r>
              <a:endParaRPr lang="ko-KR" altLang="en-US" sz="700" dirty="0"/>
            </a:p>
          </p:txBody>
        </p:sp>
      </p:grp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6896" y="27835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6896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1433306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02438"/>
            <a:ext cx="26407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폴더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6192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0329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fldrSz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폴더사이즈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mdfcnDt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수정일시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11082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621256E-2BA7-6BAA-111B-197BD14DF222}"/>
              </a:ext>
            </a:extLst>
          </p:cNvPr>
          <p:cNvSpPr txBox="1"/>
          <p:nvPr/>
        </p:nvSpPr>
        <p:spPr>
          <a:xfrm>
            <a:off x="438119" y="2449502"/>
            <a:ext cx="32771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폴더 내 파일목록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CC675FA-CA9A-F7D0-E1A9-801F009BFC83}"/>
              </a:ext>
            </a:extLst>
          </p:cNvPr>
          <p:cNvGraphicFramePr>
            <a:graphicFrameLocks noGrp="1"/>
          </p:cNvGraphicFramePr>
          <p:nvPr/>
        </p:nvGraphicFramePr>
        <p:xfrm>
          <a:off x="433001" y="273325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lt"/>
                          <a:ea typeface="+mn-ea"/>
                        </a:rPr>
                        <a:t>fileId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685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파일명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fileSz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파일사이즈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vldPrdEndYmd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유효기간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lt"/>
                          <a:ea typeface="+mn-ea"/>
                        </a:rPr>
                        <a:t>eldocYn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전자문서 여부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Y/N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117431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EACD273-95D4-61F0-0E38-A6B2B35E67F9}"/>
              </a:ext>
            </a:extLst>
          </p:cNvPr>
          <p:cNvSpPr txBox="1"/>
          <p:nvPr/>
        </p:nvSpPr>
        <p:spPr>
          <a:xfrm>
            <a:off x="463575" y="426735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49227A-FD55-5483-94A2-84441908A1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9147"/>
              </p:ext>
            </p:extLst>
          </p:nvPr>
        </p:nvGraphicFramePr>
        <p:xfrm>
          <a:off x="433001" y="4551087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097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6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목록을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scwin.fldrInfo_onclick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해당하는 파일목록 정보를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B384D4DE-1334-2648-261A-B57C67E0D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4409" y="442250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A4350DC5-4272-6447-12B9-D0BD5DC6A61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205CD74-5F48-3EBE-9AE5-0C8C7BC4E2C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6EE07283-DD02-DC10-0DF5-55ADA55192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503193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선택된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사용중인 업체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MUI-CM-01-M02 </a:t>
            </a:r>
            <a:r>
              <a:rPr lang="ko-KR" altLang="en-US" dirty="0" smtClean="0"/>
              <a:t>업체정보상세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MUI-CM-01-M03 </a:t>
            </a:r>
            <a:r>
              <a:rPr lang="ko-KR" altLang="en-US" dirty="0" smtClean="0"/>
              <a:t>추가정보신청목록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업체정보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이동없음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담당자 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MUI-CM-01-M05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물품 </a:t>
            </a:r>
            <a:r>
              <a:rPr lang="en-US" altLang="ko-KR" dirty="0" smtClean="0"/>
              <a:t>(</a:t>
            </a:r>
            <a:r>
              <a:rPr lang="ko-KR" altLang="en-US" dirty="0" smtClean="0"/>
              <a:t>내자</a:t>
            </a:r>
            <a:r>
              <a:rPr lang="en-US" altLang="ko-KR" dirty="0" smtClean="0"/>
              <a:t>) </a:t>
            </a:r>
            <a:r>
              <a:rPr lang="ko-KR" altLang="en-US" dirty="0" smtClean="0"/>
              <a:t>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MUI-CM-01-M22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국내소재상사 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MUI-CM-01-M23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군수품무역대리업 신청 및 발급 목록 </a:t>
            </a:r>
            <a:r>
              <a:rPr lang="en-US" altLang="ko-KR" dirty="0" smtClean="0"/>
              <a:t>MUI-CM-01-M15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국내 조달원 확인서 신청 목록 </a:t>
            </a:r>
            <a:r>
              <a:rPr lang="en-US" altLang="ko-KR" dirty="0" smtClean="0"/>
              <a:t>MUI-CM-01-M19</a:t>
            </a:r>
            <a:br>
              <a:rPr lang="en-US" altLang="ko-KR" dirty="0" smtClean="0"/>
            </a:br>
            <a:r>
              <a:rPr lang="en-US" altLang="ko-KR" strike="sngStrike" dirty="0" smtClean="0"/>
              <a:t>- </a:t>
            </a:r>
            <a:r>
              <a:rPr lang="ko-KR" altLang="en-US" strike="sngStrike" dirty="0" smtClean="0"/>
              <a:t>국내 조달원 확인서 신청 </a:t>
            </a:r>
            <a:r>
              <a:rPr lang="en-US" altLang="ko-KR" strike="sngStrike" dirty="0"/>
              <a:t>MUI-CM-01-P20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국외 조달원등록증 </a:t>
            </a:r>
            <a:r>
              <a:rPr lang="ko-KR" altLang="en-US" dirty="0" smtClean="0"/>
              <a:t>신청안내 </a:t>
            </a:r>
            <a:r>
              <a:rPr lang="en-US" altLang="ko-KR" dirty="0" smtClean="0"/>
              <a:t>MUI-CM-01-P21</a:t>
            </a: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업체정보관리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업체정보관리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63608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 정보 상세보기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45852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추가정보 신청 목록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23916" y="1684175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군수품무역대리업 신청 및 발급 목록</a:t>
              </a: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4023916" y="2072811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국내 조달원 </a:t>
              </a:r>
              <a:r>
                <a:rPr lang="ko-KR" altLang="en-US" sz="800" b="1" dirty="0">
                  <a:latin typeface="+mn-ea"/>
                </a:rPr>
                <a:t>확인서 </a:t>
              </a:r>
              <a:r>
                <a:rPr lang="ko-KR" altLang="en-US" sz="800" b="1" dirty="0" smtClean="0">
                  <a:latin typeface="+mn-ea"/>
                </a:rPr>
                <a:t>신청 및 목록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379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37" name="그룹 36"/>
          <p:cNvGrpSpPr/>
          <p:nvPr/>
        </p:nvGrpSpPr>
        <p:grpSpPr>
          <a:xfrm>
            <a:off x="4023916" y="2461447"/>
            <a:ext cx="2255663" cy="306146"/>
            <a:chOff x="903581" y="2074658"/>
            <a:chExt cx="2255663" cy="306146"/>
          </a:xfrm>
        </p:grpSpPr>
        <p:sp>
          <p:nvSpPr>
            <p:cNvPr id="38" name="모서리가 둥근 직사각형 37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국외 조달원 등록증 신청 안내</a:t>
              </a: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43" name="그룹 42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64" name="직선 연결선 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직사각형 4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903581" y="4511691"/>
            <a:ext cx="2255663" cy="865240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809622"/>
            <a:ext cx="1731957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 smtClean="0">
                <a:latin typeface="+mn-ea"/>
              </a:rPr>
              <a:t>담당자 정보 </a:t>
            </a:r>
            <a:r>
              <a:rPr lang="ko-KR" altLang="en-US" sz="700" dirty="0" err="1" smtClean="0">
                <a:latin typeface="+mn-ea"/>
              </a:rPr>
              <a:t>추가등록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smtClean="0">
                <a:latin typeface="+mn-ea"/>
              </a:rPr>
              <a:t>물품 </a:t>
            </a:r>
            <a:r>
              <a:rPr lang="en-US" altLang="ko-KR" sz="700" dirty="0" smtClean="0">
                <a:latin typeface="+mn-ea"/>
              </a:rPr>
              <a:t>(</a:t>
            </a:r>
            <a:r>
              <a:rPr lang="ko-KR" altLang="en-US" sz="700" dirty="0" smtClean="0">
                <a:latin typeface="+mn-ea"/>
              </a:rPr>
              <a:t>내자</a:t>
            </a:r>
            <a:r>
              <a:rPr lang="en-US" altLang="ko-KR" sz="700" dirty="0" smtClean="0">
                <a:latin typeface="+mn-ea"/>
              </a:rPr>
              <a:t>) </a:t>
            </a:r>
            <a:r>
              <a:rPr lang="ko-KR" altLang="en-US" sz="700" dirty="0" smtClean="0">
                <a:latin typeface="+mn-ea"/>
              </a:rPr>
              <a:t>정보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추가등록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국내소재상사 정보 </a:t>
            </a:r>
            <a:r>
              <a:rPr lang="ko-KR" altLang="en-US" sz="700" dirty="0" err="1">
                <a:latin typeface="+mn-ea"/>
              </a:rPr>
              <a:t>추가등록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71283" y="4809622"/>
            <a:ext cx="173253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 smtClean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903581" y="4426128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업체정보 </a:t>
              </a:r>
              <a:r>
                <a:rPr lang="ko-KR" altLang="en-US" sz="800" b="1" dirty="0" err="1">
                  <a:latin typeface="+mn-ea"/>
                </a:rPr>
                <a:t>추가등록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71" name="그룹 7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2" name="직사각형 7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업체정보 </a:t>
              </a:r>
              <a:r>
                <a:rPr lang="ko-KR" altLang="en-US" sz="700" dirty="0" err="1" smtClean="0"/>
                <a:t>추가등록</a:t>
              </a:r>
              <a:r>
                <a:rPr lang="ko-KR" altLang="en-US" sz="700" dirty="0" smtClean="0"/>
                <a:t> 하위 버튼 구조 추가</a:t>
              </a:r>
              <a:endParaRPr lang="ko-KR" altLang="en-US" sz="700" dirty="0"/>
            </a:p>
          </p:txBody>
        </p:sp>
      </p:grpSp>
      <p:sp>
        <p:nvSpPr>
          <p:cNvPr id="74" name="타원 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09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75" name="그룹 74"/>
          <p:cNvGrpSpPr/>
          <p:nvPr/>
        </p:nvGrpSpPr>
        <p:grpSpPr>
          <a:xfrm>
            <a:off x="8223250" y="792718"/>
            <a:ext cx="3365500" cy="634511"/>
            <a:chOff x="8223250" y="569392"/>
            <a:chExt cx="3365500" cy="634511"/>
          </a:xfrm>
        </p:grpSpPr>
        <p:sp>
          <p:nvSpPr>
            <p:cNvPr id="76" name="직사각형 7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2026-08-06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smtClean="0"/>
                <a:t>국내 조달원 확인서 신청과 목록을 통합함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4238977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53000" y="840586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5426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849740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199505"/>
              </p:ext>
            </p:extLst>
          </p:nvPr>
        </p:nvGraphicFramePr>
        <p:xfrm>
          <a:off x="455204" y="3055732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세부 페이지로 이동한다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36287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676398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데이터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나라장터 갱신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- 1</a:t>
            </a:r>
            <a:r>
              <a:rPr lang="ko-KR" altLang="en-US" dirty="0"/>
              <a:t>일 </a:t>
            </a:r>
            <a:r>
              <a:rPr lang="en-US" altLang="ko-KR" dirty="0"/>
              <a:t>1</a:t>
            </a:r>
            <a:r>
              <a:rPr lang="ko-KR" altLang="en-US" dirty="0"/>
              <a:t>회 제한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갱신되었습니다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제한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갱신은 </a:t>
            </a:r>
            <a:r>
              <a:rPr lang="en-US" altLang="ko-KR" dirty="0"/>
              <a:t>1</a:t>
            </a:r>
            <a:r>
              <a:rPr lang="ko-KR" altLang="en-US" dirty="0"/>
              <a:t>일 </a:t>
            </a:r>
            <a:r>
              <a:rPr lang="en-US" altLang="ko-KR" dirty="0"/>
              <a:t>1</a:t>
            </a:r>
            <a:r>
              <a:rPr lang="ko-KR" altLang="en-US" dirty="0"/>
              <a:t>회로 제한됩니다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탭 콘텐츠 표시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124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1928876"/>
            <a:ext cx="24732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 dirty="0">
                <a:latin typeface="+mn-ea"/>
              </a:rPr>
              <a:t>업체 정보 조회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1481931" y="2178612"/>
            <a:ext cx="42046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  <a:r>
              <a:rPr lang="en-US" altLang="ko-KR" sz="600" dirty="0">
                <a:solidFill>
                  <a:schemeClr val="dk1"/>
                </a:solidFill>
              </a:rPr>
              <a:t>(</a:t>
            </a:r>
            <a:r>
              <a:rPr lang="ko-KR" altLang="en-US" sz="600" dirty="0">
                <a:solidFill>
                  <a:schemeClr val="dk1"/>
                </a:solidFill>
              </a:rPr>
              <a:t>내자</a:t>
            </a:r>
            <a:r>
              <a:rPr lang="en-US" altLang="ko-KR" sz="600" dirty="0">
                <a:solidFill>
                  <a:schemeClr val="dk1"/>
                </a:solidFill>
              </a:rPr>
              <a:t>)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1959511" y="2178612"/>
            <a:ext cx="2666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6" name="모서리가 둥근 직사각형 155"/>
          <p:cNvSpPr/>
          <p:nvPr/>
        </p:nvSpPr>
        <p:spPr>
          <a:xfrm>
            <a:off x="2279644" y="2178612"/>
            <a:ext cx="25400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용역</a:t>
            </a:r>
            <a:endParaRPr lang="ko-KR" altLang="en-US" sz="600" dirty="0"/>
          </a:p>
        </p:txBody>
      </p:sp>
      <p:grpSp>
        <p:nvGrpSpPr>
          <p:cNvPr id="8" name="그룹 7"/>
          <p:cNvGrpSpPr/>
          <p:nvPr/>
        </p:nvGrpSpPr>
        <p:grpSpPr>
          <a:xfrm>
            <a:off x="720490" y="3219475"/>
            <a:ext cx="2630093" cy="3108252"/>
            <a:chOff x="720490" y="4465173"/>
            <a:chExt cx="2630093" cy="310825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업체일반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27179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영문상호명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개업일자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홈페이지주소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종업원수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조달테스트업체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err="1">
                  <a:latin typeface="+mn-ea"/>
                </a:rPr>
                <a:t>Jodal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대한민국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www.dapa.go.kr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[12345] </a:t>
              </a: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 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76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4897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6846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898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112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3452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62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94784" y="2164911"/>
            <a:ext cx="30777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사업구분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업체코드</a:t>
            </a:r>
            <a:endParaRPr lang="en-US" altLang="ko-KR" sz="600" dirty="0">
              <a:latin typeface="+mn-ea"/>
            </a:endParaRPr>
          </a:p>
        </p:txBody>
      </p:sp>
      <p:sp>
        <p:nvSpPr>
          <p:cNvPr id="163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3108679" y="2149522"/>
            <a:ext cx="163571" cy="2591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100F</a:t>
            </a:r>
          </a:p>
        </p:txBody>
      </p:sp>
      <p:sp>
        <p:nvSpPr>
          <p:cNvPr id="178" name="모서리가 둥근 직사각형 177"/>
          <p:cNvSpPr/>
          <p:nvPr/>
        </p:nvSpPr>
        <p:spPr>
          <a:xfrm>
            <a:off x="2587167" y="2178612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일반용역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3030985" y="2178612"/>
            <a:ext cx="25400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외자</a:t>
            </a:r>
          </a:p>
        </p:txBody>
      </p:sp>
      <p:grpSp>
        <p:nvGrpSpPr>
          <p:cNvPr id="232" name="그룹 231"/>
          <p:cNvGrpSpPr/>
          <p:nvPr/>
        </p:nvGrpSpPr>
        <p:grpSpPr>
          <a:xfrm>
            <a:off x="3836701" y="1850834"/>
            <a:ext cx="2630093" cy="1515507"/>
            <a:chOff x="720490" y="4772658"/>
            <a:chExt cx="2630093" cy="1515507"/>
          </a:xfrm>
        </p:grpSpPr>
        <p:sp>
          <p:nvSpPr>
            <p:cNvPr id="237" name="직사각형 236"/>
            <p:cNvSpPr/>
            <p:nvPr/>
          </p:nvSpPr>
          <p:spPr>
            <a:xfrm>
              <a:off x="722583" y="4772658"/>
              <a:ext cx="792000" cy="15125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기업구분해당년도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지역코드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내자</a:t>
              </a:r>
              <a:r>
                <a:rPr lang="en-US" altLang="ko-KR" sz="700" dirty="0">
                  <a:latin typeface="+mn-ea"/>
                </a:rPr>
                <a:t>) | </a:t>
              </a:r>
              <a:r>
                <a:rPr lang="ko-KR" altLang="en-US" sz="700" dirty="0">
                  <a:latin typeface="+mn-ea"/>
                </a:rPr>
                <a:t>공사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일반용역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외자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중소기업 </a:t>
              </a:r>
              <a:r>
                <a:rPr lang="ko-KR" altLang="en-US" sz="700" dirty="0" err="1">
                  <a:latin typeface="+mn-ea"/>
                </a:rPr>
                <a:t>원호기업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</a:t>
              </a:r>
              <a:r>
                <a:rPr lang="ko-KR" altLang="en-US" sz="700" dirty="0">
                  <a:latin typeface="+mn-ea"/>
                </a:rPr>
                <a:t>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11-</a:t>
              </a:r>
              <a:r>
                <a:rPr lang="ko-KR" altLang="en-US" sz="700" dirty="0">
                  <a:latin typeface="+mn-ea"/>
                </a:rPr>
                <a:t>서울특별시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839523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공장설립특례 해당여부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881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5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490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490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151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490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490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3493374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부정당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발생일자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시작일자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종료일자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양수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2018-02-05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2021-10-17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4" name="직선 연결선 3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385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670228" y="2529918"/>
            <a:ext cx="2717198" cy="303979"/>
            <a:chOff x="675399" y="1846937"/>
            <a:chExt cx="2717198" cy="303979"/>
          </a:xfrm>
        </p:grpSpPr>
        <p:cxnSp>
          <p:nvCxnSpPr>
            <p:cNvPr id="331" name="직선 연결선 3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334" name="직선 연결선 3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5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753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675399" y="2828741"/>
            <a:ext cx="2712027" cy="354413"/>
            <a:chOff x="675399" y="2506644"/>
            <a:chExt cx="2712027" cy="354413"/>
          </a:xfrm>
        </p:grpSpPr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0664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2644450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업체일반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9496" y="2644450"/>
              <a:ext cx="40668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물품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내자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61057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901721" y="2644450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시설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6802" y="2644450"/>
              <a:ext cx="53884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국내소재상사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873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12" name="그룹 11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en-US" altLang="ko-KR" sz="700" dirty="0" smtClean="0"/>
            </a:p>
            <a:p>
              <a:pPr marL="228600" indent="-228600">
                <a:buFontTx/>
                <a:buAutoNum type="arabicPeriod"/>
              </a:pPr>
              <a:r>
                <a:rPr lang="ko-KR" altLang="en-US" sz="700" dirty="0"/>
                <a:t>탭 화면 </a:t>
              </a:r>
              <a:r>
                <a:rPr lang="en-US" altLang="ko-KR" sz="700" dirty="0"/>
                <a:t>ID</a:t>
              </a:r>
              <a:r>
                <a:rPr lang="ko-KR" altLang="en-US" sz="700" dirty="0"/>
                <a:t> 화면 </a:t>
              </a:r>
              <a:r>
                <a:rPr lang="ko-KR" altLang="en-US" sz="700" dirty="0" smtClean="0"/>
                <a:t>분리</a:t>
              </a:r>
              <a:endParaRPr lang="ko-KR" altLang="en-US" sz="700" dirty="0"/>
            </a:p>
          </p:txBody>
        </p:sp>
      </p:grpSp>
      <p:sp>
        <p:nvSpPr>
          <p:cNvPr id="12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25" name="평행 사변형 124"/>
          <p:cNvSpPr/>
          <p:nvPr/>
        </p:nvSpPr>
        <p:spPr>
          <a:xfrm rot="16200000" flipH="1">
            <a:off x="2746018" y="2133438"/>
            <a:ext cx="1691129" cy="408308"/>
          </a:xfrm>
          <a:prstGeom prst="parallelogram">
            <a:avLst>
              <a:gd name="adj" fmla="val 32851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51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120" name="그룹 119"/>
          <p:cNvGrpSpPr/>
          <p:nvPr/>
        </p:nvGrpSpPr>
        <p:grpSpPr>
          <a:xfrm>
            <a:off x="8223250" y="954919"/>
            <a:ext cx="3365500" cy="634511"/>
            <a:chOff x="8223250" y="569392"/>
            <a:chExt cx="3365500" cy="634511"/>
          </a:xfrm>
        </p:grpSpPr>
        <p:sp>
          <p:nvSpPr>
            <p:cNvPr id="121" name="직사각형 12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3" name="직사각형 12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나라장터 갱신 버튼 위치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9691775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업체일반</a:t>
            </a:r>
            <a:r>
              <a:rPr lang="ko-KR" altLang="en-US" dirty="0" smtClean="0"/>
              <a:t>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사업구분은</a:t>
            </a:r>
            <a:r>
              <a:rPr lang="ko-KR" altLang="en-US" dirty="0" smtClean="0"/>
              <a:t> 여러 개 노출될 수 있음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상태</a:t>
            </a:r>
            <a:r>
              <a:rPr lang="en-US" altLang="ko-KR" dirty="0" smtClean="0"/>
              <a:t>/</a:t>
            </a:r>
            <a:r>
              <a:rPr lang="ko-KR" altLang="en-US" dirty="0" smtClean="0"/>
              <a:t>부정당 데이터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/</a:t>
            </a:r>
            <a:r>
              <a:rPr lang="ko-KR" altLang="en-US" dirty="0" smtClean="0"/>
              <a:t>부정당 데이터가 없는 경우 표시 정보 데이터 확인이 필요함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업체일반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1961472"/>
            <a:ext cx="2630093" cy="3108252"/>
            <a:chOff x="720490" y="4465173"/>
            <a:chExt cx="2630093" cy="310825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업체일반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27179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영문상호명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개업일자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홈페이지주소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종업원수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조달테스트업체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err="1">
                  <a:latin typeface="+mn-ea"/>
                </a:rPr>
                <a:t>Jodal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대한민국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www.dapa.go.kr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[12345] </a:t>
              </a: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 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76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4897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6846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898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112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3452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232" name="그룹 231"/>
          <p:cNvGrpSpPr/>
          <p:nvPr/>
        </p:nvGrpSpPr>
        <p:grpSpPr>
          <a:xfrm>
            <a:off x="3836701" y="1850834"/>
            <a:ext cx="2630093" cy="1515507"/>
            <a:chOff x="720490" y="4772658"/>
            <a:chExt cx="2630093" cy="1515507"/>
          </a:xfrm>
        </p:grpSpPr>
        <p:sp>
          <p:nvSpPr>
            <p:cNvPr id="237" name="직사각형 236"/>
            <p:cNvSpPr/>
            <p:nvPr/>
          </p:nvSpPr>
          <p:spPr>
            <a:xfrm>
              <a:off x="722583" y="4772658"/>
              <a:ext cx="792000" cy="15125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기업구분해당년도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지역코드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내자</a:t>
              </a:r>
              <a:r>
                <a:rPr lang="en-US" altLang="ko-KR" sz="700" dirty="0">
                  <a:latin typeface="+mn-ea"/>
                </a:rPr>
                <a:t>) | </a:t>
              </a:r>
              <a:r>
                <a:rPr lang="ko-KR" altLang="en-US" sz="700" dirty="0">
                  <a:latin typeface="+mn-ea"/>
                </a:rPr>
                <a:t>공사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일반용역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외자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중소기업 </a:t>
              </a:r>
              <a:r>
                <a:rPr lang="ko-KR" altLang="en-US" sz="700" dirty="0" err="1">
                  <a:latin typeface="+mn-ea"/>
                </a:rPr>
                <a:t>원호기업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</a:t>
              </a:r>
              <a:r>
                <a:rPr lang="ko-KR" altLang="en-US" sz="700" dirty="0">
                  <a:latin typeface="+mn-ea"/>
                </a:rPr>
                <a:t>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11-</a:t>
              </a:r>
              <a:r>
                <a:rPr lang="ko-KR" altLang="en-US" sz="700" dirty="0">
                  <a:latin typeface="+mn-ea"/>
                </a:rPr>
                <a:t>서울특별시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839523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공장설립특례 해당여부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881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5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490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490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151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490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490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3493374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부정당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발생일자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시작일자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종료일자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양수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2018-02-05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2021-10-17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4" name="직선 연결선 3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385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7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21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55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5543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215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5543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5543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12" name="그룹 11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en-US" altLang="ko-KR" sz="700" dirty="0" smtClean="0"/>
            </a:p>
            <a:p>
              <a:pPr marL="228600" indent="-228600">
                <a:buFontTx/>
                <a:buAutoNum type="arabicPeriod"/>
              </a:pPr>
              <a:r>
                <a:rPr lang="ko-KR" altLang="en-US" sz="700" dirty="0"/>
                <a:t>탭 화면 </a:t>
              </a:r>
              <a:r>
                <a:rPr lang="en-US" altLang="ko-KR" sz="700" dirty="0"/>
                <a:t>ID</a:t>
              </a:r>
              <a:r>
                <a:rPr lang="ko-KR" altLang="en-US" sz="700" dirty="0"/>
                <a:t> 화면 </a:t>
              </a:r>
              <a:r>
                <a:rPr lang="ko-KR" altLang="en-US" sz="700" dirty="0" smtClean="0"/>
                <a:t>분리</a:t>
              </a:r>
              <a:endParaRPr lang="ko-KR" altLang="en-US" sz="700" dirty="0"/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271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469" y="18577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469" y="35284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5390777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 일반 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수의계약 배제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 값 </a:t>
            </a:r>
            <a:r>
              <a:rPr lang="en-US" altLang="ko-KR" dirty="0"/>
              <a:t>: 3</a:t>
            </a:r>
            <a:r>
              <a:rPr lang="ko-KR" altLang="en-US" dirty="0" smtClean="0"/>
              <a:t>개월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배제된 정보가 없는 경우 표시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수의계약에 배제된 사실이 없습니다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업체일반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711781" y="1909918"/>
            <a:ext cx="2630093" cy="2031034"/>
            <a:chOff x="720490" y="2967388"/>
            <a:chExt cx="2630093" cy="2031034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수의계약배제</a:t>
              </a: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3274873"/>
              <a:ext cx="792000" cy="17170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공고번호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공고명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계약포기사유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285608N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5608N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원격관제시스템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2025-10-18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맑은 고딕" panose="020B0503020000020004" pitchFamily="50" charset="-127"/>
                  <a:cs typeface="Segoe UI" panose="020B0502040204020203" pitchFamily="34" charset="0"/>
                </a:rPr>
                <a:t>방위사업청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1</a:t>
              </a: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일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포기합니다</a:t>
              </a: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.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2025-09-01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419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556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782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919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344542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수의계약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배제기간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0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54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88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8806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54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880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8806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15021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18565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5460" y="16399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0787" y="1639941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1781" y="18565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893012" y="1639941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58093" y="1639941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82" name="그룹 181"/>
          <p:cNvGrpSpPr/>
          <p:nvPr/>
        </p:nvGrpSpPr>
        <p:grpSpPr>
          <a:xfrm>
            <a:off x="3828452" y="1903968"/>
            <a:ext cx="2630093" cy="1169259"/>
            <a:chOff x="720490" y="2967388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3274873"/>
              <a:ext cx="792000" cy="8617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대표대표자여부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대표자영문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대대표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Hong </a:t>
              </a:r>
              <a:r>
                <a:rPr lang="en-US" altLang="ko-KR" sz="700" dirty="0" err="1">
                  <a:latin typeface="+mn-ea"/>
                </a:rPr>
                <a:t>kil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en-US" altLang="ko-KR" sz="700" dirty="0" smtClean="0">
                  <a:latin typeface="+mn-ea"/>
                </a:rPr>
                <a:t>dong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abcde@dapa.go.kr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51969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5" name="그룹 204"/>
          <p:cNvGrpSpPr/>
          <p:nvPr/>
        </p:nvGrpSpPr>
        <p:grpSpPr>
          <a:xfrm>
            <a:off x="3836701" y="3566683"/>
            <a:ext cx="2630093" cy="966004"/>
            <a:chOff x="720490" y="2967388"/>
            <a:chExt cx="2630093" cy="966004"/>
          </a:xfrm>
        </p:grpSpPr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입찰대리인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09" name="그룹 208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34" name="직선 연결선 23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직선 연결선 23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0" name="직사각형 209"/>
            <p:cNvSpPr/>
            <p:nvPr/>
          </p:nvSpPr>
          <p:spPr>
            <a:xfrm>
              <a:off x="722583" y="3274873"/>
              <a:ext cx="792000" cy="6463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직위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과장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김길동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02-1234-5678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6" name="직선 연결선 2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2418" y="19668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25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2315386" y="1952353"/>
            <a:ext cx="713326" cy="188135"/>
            <a:chOff x="1823840" y="2598090"/>
            <a:chExt cx="1213581" cy="188135"/>
          </a:xfrm>
        </p:grpSpPr>
        <p:sp>
          <p:nvSpPr>
            <p:cNvPr id="101" name="사각형: 둥근 모서리 169">
              <a:extLst>
                <a:ext uri="{FF2B5EF4-FFF2-40B4-BE49-F238E27FC236}">
                  <a16:creationId xmlns:a16="http://schemas.microsoft.com/office/drawing/2014/main" id="{A28DD831-0E4B-31EE-CB08-9E188754698D}"/>
                </a:ext>
              </a:extLst>
            </p:cNvPr>
            <p:cNvSpPr/>
            <p:nvPr/>
          </p:nvSpPr>
          <p:spPr>
            <a:xfrm>
              <a:off x="1823840" y="2598090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전체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71">
              <a:extLst>
                <a:ext uri="{FF2B5EF4-FFF2-40B4-BE49-F238E27FC236}">
                  <a16:creationId xmlns:a16="http://schemas.microsoft.com/office/drawing/2014/main" id="{75BECEC6-4045-95B1-98C2-242CA0FC5A06}"/>
                </a:ext>
              </a:extLst>
            </p:cNvPr>
            <p:cNvSpPr/>
            <p:nvPr/>
          </p:nvSpPr>
          <p:spPr>
            <a:xfrm>
              <a:off x="2455404" y="2598090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ko-KR" sz="700" kern="0" dirty="0">
                  <a:solidFill>
                    <a:srgbClr val="0070C0"/>
                  </a:solidFill>
                  <a:latin typeface="+mn-ea"/>
                </a:rPr>
                <a:t>3</a:t>
              </a:r>
              <a:r>
                <a:rPr kumimoji="1" lang="ko-KR" altLang="en-US" sz="700" kern="0" dirty="0">
                  <a:solidFill>
                    <a:srgbClr val="0070C0"/>
                  </a:solidFill>
                  <a:latin typeface="+mn-ea"/>
                </a:rPr>
                <a:t>개월</a:t>
              </a:r>
              <a:endParaRPr kumimoji="1" lang="en-US" altLang="ko-KR" sz="700" kern="0" dirty="0">
                <a:solidFill>
                  <a:srgbClr val="0070C0"/>
                </a:solidFill>
                <a:latin typeface="+mn-ea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84272" y="4264461"/>
            <a:ext cx="76863" cy="292489"/>
            <a:chOff x="3750067" y="4683795"/>
            <a:chExt cx="76863" cy="292489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3" name="직사각형 8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85" name="타원 8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2418" y="15567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9685058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60676" y="811968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업체일반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18532"/>
          <a:ext cx="8994883" cy="4460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영문상호명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bzentyEngNm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영문상호명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ntnCd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개업일자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opbizYmd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개업일자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홈페이지주소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hmpgAddr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홈페이지주소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93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bzentyAddr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rprsvTelno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rprsvFxno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949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fndnYmd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86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3266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hdofcBrno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4063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종업원수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empCnt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종업원수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8666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bizCd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687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entTpcd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2745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entShcd1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29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entShcd2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값이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있을때만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74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기업구분해당년도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entSeRlvtYr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기업구분해당년도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9459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지역코드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rgnCd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지역코드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857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공장설립특례해당여부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fctryFndnSpcsYn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공장설립특례해당여부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31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bplcSecd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98614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051650A0-6477-9D01-FA0C-D7C3BF87DA84}"/>
              </a:ext>
            </a:extLst>
          </p:cNvPr>
          <p:cNvSpPr/>
          <p:nvPr/>
        </p:nvSpPr>
        <p:spPr>
          <a:xfrm>
            <a:off x="6367463" y="634871"/>
            <a:ext cx="3157537" cy="2265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3" name="Text Box 73">
            <a:extLst>
              <a:ext uri="{FF2B5EF4-FFF2-40B4-BE49-F238E27FC236}">
                <a16:creationId xmlns:a16="http://schemas.microsoft.com/office/drawing/2014/main" id="{258E0144-829A-EA7C-666D-8E58B6D643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0875697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123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6425D-4BD5-6E29-5732-73E636F8FE4D}"/>
              </a:ext>
            </a:extLst>
          </p:cNvPr>
          <p:cNvSpPr txBox="1"/>
          <p:nvPr/>
        </p:nvSpPr>
        <p:spPr>
          <a:xfrm>
            <a:off x="460676" y="810730"/>
            <a:ext cx="26391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상태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부정당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dl_bzentySttsList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9A8587-5819-67EB-81EE-F25A40AE7C9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3476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상태구분코드로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crtrYmd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rmrkCn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378ACA8-0DBB-242F-7302-6161CBC92EC3}"/>
              </a:ext>
            </a:extLst>
          </p:cNvPr>
          <p:cNvSpPr txBox="1"/>
          <p:nvPr/>
        </p:nvSpPr>
        <p:spPr>
          <a:xfrm>
            <a:off x="460676" y="2627659"/>
            <a:ext cx="328351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수의계약배제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dl_bzentyRlsVltrnsRstricList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0A266717-41A4-FFE0-9028-C30737B2931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62151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pbancNo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pbancNm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bdopnYmd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 배제기간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exclPrd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 배제기간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배제기간 종료일자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–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시작일자로 기간 설정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계약포기사유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exclRsn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계약포기사유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900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60210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03B252C2-8DD7-95F1-F37C-1DD64918DF71}"/>
              </a:ext>
            </a:extLst>
          </p:cNvPr>
          <p:cNvSpPr txBox="1"/>
          <p:nvPr/>
        </p:nvSpPr>
        <p:spPr>
          <a:xfrm>
            <a:off x="430810" y="4807345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대표자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dl_bzentyRprsvList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C2491EF-77B1-8CF0-7D2E-53A4A7C6B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81084"/>
              </p:ext>
            </p:extLst>
          </p:nvPr>
        </p:nvGraphicFramePr>
        <p:xfrm>
          <a:off x="425692" y="503171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대표대표자여부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대표대표자여부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대표자영문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rprsvEngNm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대표자영문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대표자이메일주소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568EBA1-28CC-955A-4797-32A7FB98B4A6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802FEBB7-652C-3886-F1E0-11862D6BD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146239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124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6425D-4BD5-6E29-5732-73E636F8FE4D}"/>
              </a:ext>
            </a:extLst>
          </p:cNvPr>
          <p:cNvSpPr txBox="1"/>
          <p:nvPr/>
        </p:nvSpPr>
        <p:spPr>
          <a:xfrm>
            <a:off x="458118" y="811578"/>
            <a:ext cx="27561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입찰대리인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dl_bzentyBidAgtList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9A8587-5819-67EB-81EE-F25A40AE7C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783636"/>
              </p:ext>
            </p:extLst>
          </p:nvPr>
        </p:nvGraphicFramePr>
        <p:xfrm>
          <a:off x="458117" y="1022781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agtJbpsNm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직위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100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100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84BD3DB-3D3A-4BBF-F92F-9CA0617EEF77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(3/3)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809A899B-AE9E-80CA-B3B3-E3F177454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4470353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125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F682E38-8D2E-2EA1-FA7C-426AFDAB2F3C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799547"/>
          <a:ext cx="8995591" cy="138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일반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수의계약배제조회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scwin.btn_rlsVltrnsRstricList_onclick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수의계약배제정보를 조회한다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조건에 따라 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/3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개월 수의계약배제 정보를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5239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나라장터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(G2B)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조달업체정보수신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등록된 조달업체 정보를 갱신한다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499126BC-7F95-33D5-ED23-60F3C4E82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68334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521E2C-E736-42FD-BA08-C70A616ED481}"/>
              </a:ext>
            </a:extLst>
          </p:cNvPr>
          <p:cNvSpPr txBox="1"/>
          <p:nvPr/>
        </p:nvSpPr>
        <p:spPr>
          <a:xfrm>
            <a:off x="458117" y="5729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2. </a:t>
            </a:r>
            <a:r>
              <a:rPr lang="ko-KR" altLang="en-US" sz="1000" b="1" dirty="0">
                <a:solidFill>
                  <a:prstClr val="black"/>
                </a:solidFill>
              </a:rPr>
              <a:t>이벤트 설명</a:t>
            </a:r>
          </a:p>
        </p:txBody>
      </p:sp>
    </p:spTree>
    <p:extLst>
      <p:ext uri="{BB962C8B-B14F-4D97-AF65-F5344CB8AC3E}">
        <p14:creationId xmlns:p14="http://schemas.microsoft.com/office/powerpoint/2010/main" val="306032788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</a:t>
            </a:r>
            <a:r>
              <a:rPr lang="ko-KR" altLang="en-US" dirty="0" smtClean="0"/>
              <a:t>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물품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내자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50127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5568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9333" y="163908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4660" y="1639082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물품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내자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408018" y="185568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16885" y="1639082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1966" y="1639082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1915483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등록품목명세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품목적부판정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22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2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9027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물품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내자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9027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9027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716366" y="1941610"/>
            <a:ext cx="2630093" cy="1169259"/>
            <a:chOff x="720490" y="2967388"/>
            <a:chExt cx="2630093" cy="1169259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3274873"/>
              <a:ext cx="792000" cy="849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abcde@dapa.go.kr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7" name="그룹 136"/>
          <p:cNvGrpSpPr/>
          <p:nvPr/>
        </p:nvGrpSpPr>
        <p:grpSpPr>
          <a:xfrm>
            <a:off x="716366" y="3237467"/>
            <a:ext cx="2630093" cy="966004"/>
            <a:chOff x="720490" y="2967388"/>
            <a:chExt cx="2630093" cy="966004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40" name="그룹 139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49" name="직선 연결선 14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직선 연결선 14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1" name="직사각형 140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120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/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한국피복공업협동조합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750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790431"/>
            <a:ext cx="76863" cy="292489"/>
            <a:chOff x="3750067" y="4683795"/>
            <a:chExt cx="76863" cy="292489"/>
          </a:xfrm>
        </p:grpSpPr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5" name="타원 15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9237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341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3880034" y="4417833"/>
            <a:ext cx="2543426" cy="608387"/>
          </a:xfrm>
          <a:prstGeom prst="roundRect">
            <a:avLst>
              <a:gd name="adj" fmla="val 824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4479652"/>
            <a:ext cx="2154318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물품</a:t>
            </a:r>
            <a:r>
              <a:rPr lang="en-US" altLang="ko-KR" sz="700" b="1" dirty="0">
                <a:latin typeface="Consolas" panose="020B0609020204030204" pitchFamily="49" charset="0"/>
              </a:rPr>
              <a:t>[</a:t>
            </a:r>
            <a:r>
              <a:rPr lang="ko-KR" altLang="en-US" sz="700" b="1" dirty="0">
                <a:latin typeface="Consolas" panose="020B0609020204030204" pitchFamily="49" charset="0"/>
              </a:rPr>
              <a:t>내자</a:t>
            </a:r>
            <a:r>
              <a:rPr lang="en-US" altLang="ko-KR" sz="700" b="1" dirty="0">
                <a:latin typeface="Consolas" panose="020B0609020204030204" pitchFamily="49" charset="0"/>
              </a:rPr>
              <a:t>]</a:t>
            </a:r>
            <a:r>
              <a:rPr lang="ko-KR" altLang="en-US" sz="700" b="1" dirty="0">
                <a:latin typeface="Consolas" panose="020B0609020204030204" pitchFamily="49" charset="0"/>
              </a:rPr>
              <a:t>업체 제출서류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공장등록증명서 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 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관련업체만 제출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인</a:t>
            </a:r>
            <a:r>
              <a:rPr lang="en-US" altLang="ko-KR" sz="700" dirty="0">
                <a:latin typeface="Consolas" panose="020B0609020204030204" pitchFamily="49" charset="0"/>
              </a:rPr>
              <a:t>,</a:t>
            </a:r>
            <a:r>
              <a:rPr lang="ko-KR" altLang="en-US" sz="700" dirty="0" err="1">
                <a:latin typeface="Consolas" panose="020B0609020204030204" pitchFamily="49" charset="0"/>
              </a:rPr>
              <a:t>허가증사본</a:t>
            </a:r>
            <a:r>
              <a:rPr lang="ko-KR" altLang="en-US" sz="700" dirty="0">
                <a:latin typeface="Consolas" panose="020B0609020204030204" pitchFamily="49" charset="0"/>
              </a:rPr>
              <a:t> 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 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해당품목 제출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  <a:endParaRPr lang="ko-KR" altLang="en-US" sz="700" b="1" dirty="0">
              <a:latin typeface="맑은 고딕" panose="020B0503020000020004" pitchFamily="50" charset="-127"/>
            </a:endParaRPr>
          </a:p>
        </p:txBody>
      </p:sp>
      <p:sp>
        <p:nvSpPr>
          <p:cNvPr id="180" name="타원 179"/>
          <p:cNvSpPr/>
          <p:nvPr/>
        </p:nvSpPr>
        <p:spPr>
          <a:xfrm>
            <a:off x="3953173" y="448438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80966" y="185563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1" name="그룹 11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2" name="직사각형 11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조달원 등록증 신청 </a:t>
              </a:r>
              <a:r>
                <a:rPr lang="ko-KR" altLang="en-US" sz="700" dirty="0" err="1" smtClean="0"/>
                <a:t>버즌</a:t>
              </a:r>
              <a:r>
                <a:rPr lang="ko-KR" altLang="en-US" sz="700" dirty="0" smtClean="0"/>
                <a:t> 제거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업체정보 화면에서 신청 일원화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8390073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60676" y="815597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3997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C5F4BF4-FFA6-A8E0-BAA2-8E1C1F22F9AA}"/>
              </a:ext>
            </a:extLst>
          </p:cNvPr>
          <p:cNvSpPr txBox="1"/>
          <p:nvPr/>
        </p:nvSpPr>
        <p:spPr>
          <a:xfrm>
            <a:off x="455559" y="2074614"/>
            <a:ext cx="36810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dm_knditmListAsctGrpList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A928137-514C-9ABE-6A4F-A4CBC3407BFF}"/>
              </a:ext>
            </a:extLst>
          </p:cNvPr>
          <p:cNvGraphicFramePr>
            <a:graphicFrameLocks noGrp="1"/>
          </p:cNvGraphicFramePr>
          <p:nvPr/>
        </p:nvGraphicFramePr>
        <p:xfrm>
          <a:off x="450441" y="229305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370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업태구분코드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MBTC (CODE_VLUE like ‘1%’)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282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477628B-DB8C-186D-A7E8-513CE70CB873}"/>
              </a:ext>
            </a:extLst>
          </p:cNvPr>
          <p:cNvSpPr txBox="1"/>
          <p:nvPr/>
        </p:nvSpPr>
        <p:spPr>
          <a:xfrm>
            <a:off x="458117" y="3636964"/>
            <a:ext cx="278498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59B016F-59AB-0FCE-204C-B71BDF4D9912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861969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3391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itemRgstrtSecdNm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품목등재구분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ITRGDVCD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5134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4230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품목적부판정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itemRvwRsltCn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품목적부판정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67979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E4990925-92C3-E007-B9FA-BA5B8BF20032}"/>
              </a:ext>
            </a:extLst>
          </p:cNvPr>
          <p:cNvSpPr txBox="1"/>
          <p:nvPr/>
        </p:nvSpPr>
        <p:spPr>
          <a:xfrm>
            <a:off x="460676" y="548625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E2DA2A7-544D-3515-5CBD-3763E6944CED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681315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조달원확인서신청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scwin.btn_sosCnfdocAply_onclick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 확인서 신청서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19" name="Text Box 73">
            <a:extLst>
              <a:ext uri="{FF2B5EF4-FFF2-40B4-BE49-F238E27FC236}">
                <a16:creationId xmlns:a16="http://schemas.microsoft.com/office/drawing/2014/main" id="{204B93B3-59EC-7870-C562-484E348BB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308" y="557039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C1C9B76-0F5C-A916-E7F3-A4F4CC861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118782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시설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시설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090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53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87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8707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5022056" y="1855314"/>
            <a:ext cx="185793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8707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8707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1915108"/>
            <a:ext cx="2630093" cy="2051510"/>
            <a:chOff x="720490" y="4465173"/>
            <a:chExt cx="2630093" cy="2051510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7412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공종명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업종코드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해제일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시공능력 </a:t>
              </a:r>
              <a:r>
                <a:rPr lang="ko-KR" altLang="en-US" sz="700" dirty="0" err="1">
                  <a:latin typeface="+mn-ea"/>
                </a:rPr>
                <a:t>공시액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평가액</a:t>
              </a:r>
              <a:r>
                <a:rPr lang="ko-KR" altLang="en-US" sz="700" dirty="0">
                  <a:latin typeface="+mn-ea"/>
                </a:rPr>
                <a:t> 기준년도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입찰제한대상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96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741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741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741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741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716366" y="1961775"/>
            <a:ext cx="2630093" cy="756958"/>
            <a:chOff x="720490" y="2967388"/>
            <a:chExt cx="2630093" cy="75695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시설정보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3274873"/>
              <a:ext cx="792000" cy="4494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전화번호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7" name="그룹 136"/>
          <p:cNvGrpSpPr/>
          <p:nvPr/>
        </p:nvGrpSpPr>
        <p:grpSpPr>
          <a:xfrm>
            <a:off x="713288" y="2857690"/>
            <a:ext cx="2633171" cy="1775727"/>
            <a:chOff x="717412" y="2967388"/>
            <a:chExt cx="2633171" cy="1775727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시설면허정보</a:t>
              </a:r>
            </a:p>
          </p:txBody>
        </p:sp>
        <p:grpSp>
          <p:nvGrpSpPr>
            <p:cNvPr id="140" name="그룹 139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49" name="직선 연결선 14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직선 연결선 14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1" name="직사각형 140"/>
            <p:cNvSpPr/>
            <p:nvPr/>
          </p:nvSpPr>
          <p:spPr>
            <a:xfrm>
              <a:off x="722583" y="3274874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공통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업종코드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시공능력 </a:t>
              </a:r>
              <a:r>
                <a:rPr lang="ko-KR" altLang="en-US" sz="700" dirty="0" err="1">
                  <a:latin typeface="+mn-ea"/>
                </a:rPr>
                <a:t>공사액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면허유효기간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폐업여부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소방공사업</a:t>
              </a:r>
              <a:r>
                <a:rPr lang="en-US" altLang="ko-KR" sz="700" dirty="0">
                  <a:latin typeface="+mn-ea"/>
                </a:rPr>
                <a:t> [0001]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1999-12-31 ~ 2000-01-01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417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54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431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17412" y="4441695"/>
              <a:ext cx="26331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시공능력평가액은 </a:t>
              </a:r>
              <a:r>
                <a:rPr lang="ko-KR" altLang="en-US" sz="700" dirty="0" err="1">
                  <a:solidFill>
                    <a:srgbClr val="FF0000"/>
                  </a:solidFill>
                  <a:latin typeface="+mn-ea"/>
                </a:rPr>
                <a:t>해당협회에</a:t>
              </a:r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 등록된 금액과 </a:t>
              </a:r>
              <a:endParaRPr lang="en-US" altLang="ko-KR" sz="700" dirty="0">
                <a:solidFill>
                  <a:srgbClr val="FF0000"/>
                </a:solidFill>
                <a:latin typeface="+mn-ea"/>
              </a:endParaRPr>
            </a:p>
            <a:p>
              <a:pPr algn="ctr"/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동일하지 않을 수 있습니다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.</a:t>
              </a:r>
            </a:p>
          </p:txBody>
        </p: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9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1824" y="4365750"/>
            <a:ext cx="76863" cy="292489"/>
            <a:chOff x="3750067" y="4683795"/>
            <a:chExt cx="76863" cy="292489"/>
          </a:xfrm>
        </p:grpSpPr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5" name="타원 15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991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40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876497" y="1854026"/>
            <a:ext cx="224359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663088"/>
            <a:ext cx="76863" cy="292489"/>
            <a:chOff x="3750067" y="4683795"/>
            <a:chExt cx="76863" cy="292489"/>
          </a:xfrm>
        </p:grpSpPr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1673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3434385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73471" y="803322"/>
            <a:ext cx="256377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시설정보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dm_bzentyFcltInfo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1012431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lcofcTelno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B55895-1826-4B4A-ACFB-AC296EFA55E0}"/>
              </a:ext>
            </a:extLst>
          </p:cNvPr>
          <p:cNvSpPr txBox="1"/>
          <p:nvPr/>
        </p:nvSpPr>
        <p:spPr>
          <a:xfrm>
            <a:off x="473471" y="1816320"/>
            <a:ext cx="292765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시설면허정보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dl_bzentyFcltLcnsList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937E17B-C201-E238-9E2D-3808BCD3B493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202882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cnstAbltEvlAmt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lcnsAcqsYmd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lcnsExpryYmd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종료일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폐업여부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폐업여부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</a:tbl>
          </a:graphicData>
        </a:graphic>
      </p:graphicFrame>
      <p:sp>
        <p:nvSpPr>
          <p:cNvPr id="16" name="슬라이드 번호 개체 틀 2">
            <a:extLst>
              <a:ext uri="{FF2B5EF4-FFF2-40B4-BE49-F238E27FC236}">
                <a16:creationId xmlns:a16="http://schemas.microsoft.com/office/drawing/2014/main" id="{7DC5BC1B-3BF8-AE98-6489-9A230033BA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129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35AD7-61D7-42A4-0EE3-846A701AAECE}"/>
              </a:ext>
            </a:extLst>
          </p:cNvPr>
          <p:cNvSpPr txBox="1"/>
          <p:nvPr/>
        </p:nvSpPr>
        <p:spPr>
          <a:xfrm>
            <a:off x="460676" y="3810138"/>
            <a:ext cx="287795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주력분야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dl_bzentyFcltMfrcFldList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12A68A4-F4C6-2E22-999E-2BD5A6683B4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028575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mfrcFldRmvYmd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cnstAbltEvlAmt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평가액기준년도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evlAmtCrtrYr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평가액기준년도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mfrcFldDsgnYmd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76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mdfcnDt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갱신일시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5641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입찰제한대상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excptnMttrCd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입찰제한대상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특이사항코드로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174944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60A7DED2-DDAA-2987-A018-643D3CE5E6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964684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130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2212E-EACF-2FEC-3C17-024016BD85B5}"/>
              </a:ext>
            </a:extLst>
          </p:cNvPr>
          <p:cNvSpPr txBox="1"/>
          <p:nvPr/>
        </p:nvSpPr>
        <p:spPr>
          <a:xfrm>
            <a:off x="460322" y="5978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E982B75-03ED-2F22-5FB5-61DE604C9F42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834444"/>
          <a:ext cx="8995591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시설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나라장터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(G2B)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시설면허정보 수신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등록된 시설면허 정보를 갱신한다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1E445BA-02EE-5737-FF0C-91467146FC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1896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814157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법인 개인 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법인</a:t>
            </a:r>
            <a:r>
              <a:rPr lang="en-US" altLang="ko-KR" dirty="0"/>
              <a:t> </a:t>
            </a:r>
            <a:r>
              <a:rPr lang="ko-KR" altLang="en-US" dirty="0"/>
              <a:t>또는 개인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국내소재상사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MUI-CM-01-T04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863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82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26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602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6022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5346458" y="1852629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6022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6022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2925419"/>
            <a:ext cx="2630093" cy="2274245"/>
            <a:chOff x="720490" y="4465173"/>
            <a:chExt cx="2630093" cy="2274245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966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연간매출액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자산규모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여신한도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주거래은행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군납최초</a:t>
              </a:r>
              <a:r>
                <a:rPr lang="ko-KR" altLang="en-US" sz="700" dirty="0">
                  <a:latin typeface="+mn-ea"/>
                </a:rPr>
                <a:t> 참여일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r>
                <a:rPr lang="en-US" altLang="ko-KR" sz="700" dirty="0">
                  <a:latin typeface="+mn-ea"/>
                </a:rPr>
                <a:t>(F)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r>
                <a:rPr lang="en-US" altLang="ko-KR" sz="700" dirty="0">
                  <a:latin typeface="+mn-ea"/>
                </a:rPr>
                <a:t>(T)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Dun`s Number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300,000,000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한국외환은행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7307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53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3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3106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310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3106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2226123" y="1849713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613843" y="1992290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개인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59" name="그룹 158"/>
          <p:cNvGrpSpPr/>
          <p:nvPr/>
        </p:nvGrpSpPr>
        <p:grpSpPr>
          <a:xfrm>
            <a:off x="3836701" y="1929674"/>
            <a:ext cx="2630093" cy="756958"/>
            <a:chOff x="720490" y="2967388"/>
            <a:chExt cx="2630093" cy="7569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2148703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 Codes (Federal Supply Classification Codes)</a:t>
              </a:r>
            </a:p>
          </p:txBody>
        </p:sp>
        <p:grpSp>
          <p:nvGrpSpPr>
            <p:cNvPr id="167" name="그룹 16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77" name="직선 연결선 17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3274873"/>
              <a:ext cx="792000" cy="4494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항공기 </a:t>
              </a:r>
              <a:r>
                <a:rPr lang="ko-KR" altLang="en-US" sz="700" dirty="0" err="1">
                  <a:latin typeface="+mn-ea"/>
                </a:rPr>
                <a:t>부수품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2" name="그룹 181"/>
          <p:cNvGrpSpPr/>
          <p:nvPr/>
        </p:nvGrpSpPr>
        <p:grpSpPr>
          <a:xfrm>
            <a:off x="716366" y="1952839"/>
            <a:ext cx="2630093" cy="2255186"/>
            <a:chOff x="720490" y="4465173"/>
            <a:chExt cx="2630093" cy="2255186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 </a:t>
              </a: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7"/>
              <a:ext cx="792000" cy="19477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취급품목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개업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무기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90</a:t>
              </a: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7203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8176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3498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96365144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해외관련</a:t>
            </a:r>
            <a:r>
              <a:rPr lang="ko-KR" altLang="en-US" dirty="0" smtClean="0"/>
              <a:t> 업체 정보 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MUI-CM-01-T04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4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87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215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2151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2226123" y="1848758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2151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2151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grpSp>
        <p:nvGrpSpPr>
          <p:cNvPr id="146" name="그룹 145"/>
          <p:cNvGrpSpPr/>
          <p:nvPr/>
        </p:nvGrpSpPr>
        <p:grpSpPr>
          <a:xfrm>
            <a:off x="716366" y="1925803"/>
            <a:ext cx="2630093" cy="1169259"/>
            <a:chOff x="720490" y="4465173"/>
            <a:chExt cx="2630093" cy="1169259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해외관련</a:t>
              </a:r>
              <a:r>
                <a:rPr lang="ko-KR" altLang="en-US" sz="700" dirty="0">
                  <a:latin typeface="+mn-ea"/>
                </a:rPr>
                <a:t> 업체정보</a:t>
              </a:r>
            </a:p>
          </p:txBody>
        </p:sp>
        <p:grpSp>
          <p:nvGrpSpPr>
            <p:cNvPr id="149" name="그룹 148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15" name="직선 연결선 2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0" name="직사각형 149"/>
            <p:cNvSpPr/>
            <p:nvPr/>
          </p:nvSpPr>
          <p:spPr>
            <a:xfrm>
              <a:off x="722583" y="4772658"/>
              <a:ext cx="792000" cy="8485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 Corp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프랑스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+33-1-34-88-30-00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471" y="31785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4" name="모서리가 둥근 직사각형 243"/>
          <p:cNvSpPr/>
          <p:nvPr/>
        </p:nvSpPr>
        <p:spPr>
          <a:xfrm>
            <a:off x="764771" y="3255073"/>
            <a:ext cx="2543426" cy="485210"/>
          </a:xfrm>
          <a:prstGeom prst="roundRect">
            <a:avLst>
              <a:gd name="adj" fmla="val 824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7851" y="3316891"/>
            <a:ext cx="215431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국내소재상사 제출서류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보안측정결과서 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</a:t>
            </a:r>
            <a:endParaRPr lang="ko-KR" altLang="en-US" sz="700" b="1" dirty="0">
              <a:latin typeface="맑은 고딕" panose="020B0503020000020004" pitchFamily="50" charset="-127"/>
            </a:endParaRPr>
          </a:p>
        </p:txBody>
      </p:sp>
      <p:sp>
        <p:nvSpPr>
          <p:cNvPr id="246" name="타원 245"/>
          <p:cNvSpPr/>
          <p:nvPr/>
        </p:nvSpPr>
        <p:spPr>
          <a:xfrm>
            <a:off x="837910" y="332162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8" name="직사각형 4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조달원 등록증 신청 </a:t>
              </a:r>
              <a:r>
                <a:rPr lang="ko-KR" altLang="en-US" sz="700" dirty="0" err="1" smtClean="0"/>
                <a:t>버즌</a:t>
              </a:r>
              <a:r>
                <a:rPr lang="ko-KR" altLang="en-US" sz="700" dirty="0" smtClean="0"/>
                <a:t> 제거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업체정보 화면에서 신청 일원화</a:t>
              </a:r>
              <a:endParaRPr lang="ko-KR" altLang="en-US" sz="700" dirty="0"/>
            </a:p>
          </p:txBody>
        </p:sp>
      </p:grpSp>
      <p:sp>
        <p:nvSpPr>
          <p:cNvPr id="43" name="타원 4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72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52423526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58117" y="810854"/>
            <a:ext cx="34630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 구분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29291"/>
          <a:ext cx="8994883" cy="225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645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0207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73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취급품목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취급품목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8880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2512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416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946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보안측정점수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scrtyMsrmtScr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보안측정점수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3,1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5522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B55895-1826-4B4A-ACFB-AC296EFA55E0}"/>
              </a:ext>
            </a:extLst>
          </p:cNvPr>
          <p:cNvSpPr txBox="1"/>
          <p:nvPr/>
        </p:nvSpPr>
        <p:spPr>
          <a:xfrm>
            <a:off x="454738" y="3303474"/>
            <a:ext cx="215981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FSC Codes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937E17B-C201-E238-9E2D-3808BCD3B49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523957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슬라이드 번호 개체 틀 2">
            <a:extLst>
              <a:ext uri="{FF2B5EF4-FFF2-40B4-BE49-F238E27FC236}">
                <a16:creationId xmlns:a16="http://schemas.microsoft.com/office/drawing/2014/main" id="{7DC5BC1B-3BF8-AE98-6489-9A230033BA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133</a:t>
            </a:fld>
            <a:endParaRPr lang="ko-KR" altLang="en-US" dirty="0"/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67FBFABC-E371-E401-4A89-DA12D13DB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343ACF-5BC3-E425-3D2D-99FD5BAE7747}"/>
              </a:ext>
            </a:extLst>
          </p:cNvPr>
          <p:cNvSpPr txBox="1"/>
          <p:nvPr/>
        </p:nvSpPr>
        <p:spPr>
          <a:xfrm>
            <a:off x="460676" y="4187679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3424BA-7526-CE95-2C32-8EB6AC874394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41205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 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 참여일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76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Dun’s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Number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Dun’s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Number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564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530384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0B1330-1965-F7B3-6343-F3DFC320FABC}"/>
              </a:ext>
            </a:extLst>
          </p:cNvPr>
          <p:cNvSpPr txBox="1"/>
          <p:nvPr/>
        </p:nvSpPr>
        <p:spPr>
          <a:xfrm>
            <a:off x="455559" y="810880"/>
            <a:ext cx="288918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해외관련 업체정보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dl_rltBzentyList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F40061-64B0-F241-8E6C-7410FA619430}"/>
              </a:ext>
            </a:extLst>
          </p:cNvPr>
          <p:cNvGraphicFramePr>
            <a:graphicFrameLocks noGrp="1"/>
          </p:cNvGraphicFramePr>
          <p:nvPr/>
        </p:nvGraphicFramePr>
        <p:xfrm>
          <a:off x="450441" y="103136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relBzentyCd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relBzentyNm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bzentyNtnNm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8670465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8429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44A396A-9808-139A-7902-BB55FB3F41B5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FEBA482D-2159-14A9-177A-11A52856A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6332835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135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6181E-20DF-7FEF-8E97-4499D0663810}"/>
              </a:ext>
            </a:extLst>
          </p:cNvPr>
          <p:cNvSpPr txBox="1"/>
          <p:nvPr/>
        </p:nvSpPr>
        <p:spPr>
          <a:xfrm>
            <a:off x="460322" y="58821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AB1A6D0-A54B-6213-F6C8-3BE1C47DEC0F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824839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국내소재상사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국외조달원등록증 신청 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scwin.btn_ovsSosAplyGd_onclick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 신청서 안내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UI-CM-01-P07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AC03E5E3-1A31-5A2B-C8FA-042670147D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0696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021704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 신청한 내역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OZ </a:t>
            </a:r>
            <a:r>
              <a:rPr lang="ko-KR" altLang="en-US" dirty="0"/>
              <a:t>리포트 조달원 확인서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smtClean="0"/>
              <a:t>서류 </a:t>
            </a:r>
            <a:r>
              <a:rPr lang="ko-KR" altLang="en-US" dirty="0"/>
              <a:t>확인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즉시 발급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사유 타이틀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팝업 </a:t>
            </a:r>
            <a:r>
              <a:rPr lang="ko-KR" altLang="en-US" dirty="0" smtClean="0"/>
              <a:t>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MUI-CM-01-P20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국내조달원확인서신청목록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신청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 err="1">
                <a:latin typeface="+mn-ea"/>
              </a:rPr>
              <a:t>국내조달원확인서신청목록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MUI-CM-01-M19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국내 조달원 </a:t>
            </a:r>
            <a:r>
              <a:rPr lang="ko-KR" altLang="en-US" sz="800" dirty="0">
                <a:latin typeface="+mn-ea"/>
              </a:rPr>
              <a:t>확인서 신청 </a:t>
            </a:r>
            <a:r>
              <a:rPr lang="ko-KR" altLang="en-US" sz="800" dirty="0" smtClean="0">
                <a:latin typeface="+mn-ea"/>
              </a:rPr>
              <a:t>및 목록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2395645"/>
            <a:ext cx="2473257" cy="960061"/>
            <a:chOff x="781461" y="2610063"/>
            <a:chExt cx="2473257" cy="96006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 err="1"/>
                <a:t>입찰참가용</a:t>
              </a:r>
              <a:endParaRPr lang="ko-KR" altLang="en-US" sz="900" b="1" dirty="0"/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신청날짜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12269" y="3139237"/>
              <a:ext cx="522643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81461" y="3592072"/>
            <a:ext cx="2473257" cy="942236"/>
            <a:chOff x="781461" y="2610063"/>
            <a:chExt cx="2473257" cy="942236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접수번호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2020101010</a:t>
              </a: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확인용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신청날짜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46609" y="3139237"/>
              <a:ext cx="522580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7016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4785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9" name="그룹 98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592167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75399" y="5750826"/>
            <a:ext cx="2712027" cy="481472"/>
            <a:chOff x="675399" y="5750826"/>
            <a:chExt cx="2712027" cy="481472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750826"/>
              <a:ext cx="2712027" cy="48147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6" y="5828262"/>
              <a:ext cx="2446613" cy="27949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35642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658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64" name="그룹 163"/>
          <p:cNvGrpSpPr/>
          <p:nvPr/>
        </p:nvGrpSpPr>
        <p:grpSpPr>
          <a:xfrm>
            <a:off x="3903622" y="2883409"/>
            <a:ext cx="2516607" cy="467691"/>
            <a:chOff x="778515" y="4388257"/>
            <a:chExt cx="2516607" cy="467691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66" name="그룹 165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7" name="모서리가 둥근 직사각형 166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신청인을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91" name="모서리가 둥근 직사각형 90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서류 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OZ </a:t>
            </a:r>
            <a:r>
              <a:rPr lang="ko-KR" altLang="en-US" sz="700" dirty="0">
                <a:latin typeface="+mn-ea"/>
              </a:rPr>
              <a:t>리포트가 실행되며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로딩에 약간의 시간이 소요됩니다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서류  을 진행할까요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97" name="그룹 96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98" name="직선 연결선 97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직선 연결선 10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MUI-BD-01-P14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서류 </a:t>
            </a:r>
            <a:r>
              <a:rPr lang="ko-KR" altLang="en-US" sz="9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확인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445730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신청인 정보는 자동완성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사유 필수 작성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팝업 진입 시 포커스 이동 및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신청하기 클릭 시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팝업 닫기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신청 내역 발급 가능 상태로 신청 목록 </a:t>
            </a:r>
            <a:r>
              <a:rPr lang="ko-KR" altLang="en-US" dirty="0" err="1"/>
              <a:t>리프래시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팝업 </a:t>
            </a:r>
            <a:r>
              <a:rPr lang="ko-KR" altLang="en-US" dirty="0" smtClean="0"/>
              <a:t>닫기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strike="sngStrike" dirty="0" smtClean="0"/>
              <a:t>- </a:t>
            </a:r>
            <a:r>
              <a:rPr lang="ko-KR" altLang="en-US" strike="sngStrike" dirty="0" smtClean="0"/>
              <a:t>업체정보관리에서 진입한 경우 신청목록으로 이동</a:t>
            </a:r>
            <a:r>
              <a:rPr lang="en-US" altLang="ko-KR" strike="sngStrike" dirty="0" smtClean="0"/>
              <a:t>. </a:t>
            </a:r>
            <a:r>
              <a:rPr lang="en-US" altLang="ko-KR" strike="sngStrike" dirty="0"/>
              <a:t>MUI-CM-01-M03</a:t>
            </a:r>
            <a:endParaRPr lang="ko-KR" altLang="en-US" strike="sngStrike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 신청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 신청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조달원 확인서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2953467"/>
            <a:ext cx="2712027" cy="3278832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299009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3124510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0518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조달원 확인서 신청서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36658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4893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6" name="그룹 45"/>
          <p:cNvGrpSpPr/>
          <p:nvPr/>
        </p:nvGrpSpPr>
        <p:grpSpPr>
          <a:xfrm>
            <a:off x="903581" y="4433682"/>
            <a:ext cx="2255663" cy="306146"/>
            <a:chOff x="3982951" y="3679873"/>
            <a:chExt cx="2255663" cy="306146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010-1234-5678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2947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신청인 연락처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903581" y="5065353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신청사유를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 작성해주세요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92641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신청사유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92641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4883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신청인 성명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903581" y="3795966"/>
            <a:ext cx="2255663" cy="306146"/>
            <a:chOff x="3982951" y="3679873"/>
            <a:chExt cx="2255663" cy="306146"/>
          </a:xfrm>
        </p:grpSpPr>
        <p:sp>
          <p:nvSpPr>
            <p:cNvPr id="59" name="모서리가 둥근 직사각형 5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홍길동</a:t>
              </a:r>
            </a:p>
          </p:txBody>
        </p:sp>
      </p:grpSp>
      <p:grpSp>
        <p:nvGrpSpPr>
          <p:cNvPr id="61" name="그룹 60"/>
          <p:cNvGrpSpPr/>
          <p:nvPr/>
        </p:nvGrpSpPr>
        <p:grpSpPr>
          <a:xfrm>
            <a:off x="679854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4482273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신청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416299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522093" y="3760674"/>
            <a:ext cx="34710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조달원 확인서 신청서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dm_sosCnfdocAplyInfo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398498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성명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8B2212E-EACF-2FEC-3C17-024016BD85B5}"/>
              </a:ext>
            </a:extLst>
          </p:cNvPr>
          <p:cNvSpPr txBox="1"/>
          <p:nvPr/>
        </p:nvSpPr>
        <p:spPr>
          <a:xfrm>
            <a:off x="463235" y="50252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E982B75-03ED-2F22-5FB5-61DE604C9F42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5255952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 신청 정보를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839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검색 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scwin.btn_sosCndfdocSrch_onclick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검색조건으로 국내조달원확인서 신청 정보를 검색한다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9401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신청사유를 입력하고 신청 버튼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국내조달원 확인서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승인 없이 바로 국내조달원 확인서 정보   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7182860-4B9B-70CE-622F-13259DE865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5118" y="514233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5507F8-28E0-D2CA-01CD-17DF2435587F}"/>
              </a:ext>
            </a:extLst>
          </p:cNvPr>
          <p:cNvSpPr txBox="1"/>
          <p:nvPr/>
        </p:nvSpPr>
        <p:spPr>
          <a:xfrm>
            <a:off x="458117" y="803113"/>
            <a:ext cx="273689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조달원확인서 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E81E11-11C2-8458-E644-A59A8353417A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6543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6666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AA0CC25-8071-DF85-A256-E63F30ED3979}"/>
              </a:ext>
            </a:extLst>
          </p:cNvPr>
          <p:cNvSpPr txBox="1"/>
          <p:nvPr/>
        </p:nvSpPr>
        <p:spPr>
          <a:xfrm>
            <a:off x="462690" y="1915388"/>
            <a:ext cx="27048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조달원확인서 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2E04866-3FC5-182D-95B7-506561A0BF7E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2135892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0342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aplyRcptStts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상태는 발급으로 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시 바로 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93218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2FD39B29-B133-C3EF-9680-05C8D964B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10865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139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42720F-AF70-E4AE-D8B4-96C457197793}"/>
              </a:ext>
            </a:extLst>
          </p:cNvPr>
          <p:cNvSpPr txBox="1"/>
          <p:nvPr/>
        </p:nvSpPr>
        <p:spPr>
          <a:xfrm>
            <a:off x="460322" y="6203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8D655E8-CDC4-162F-5F06-66C766C37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774719"/>
              </p:ext>
            </p:extLst>
          </p:nvPr>
        </p:nvGraphicFramePr>
        <p:xfrm>
          <a:off x="455204" y="851006"/>
          <a:ext cx="8995591" cy="157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 신청 정보를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839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검색 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scwin.btn_sosCndfdocSrch_onclick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검색조건으로 국내조달원확인서 신청 정보를 검색한다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02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신청사유를 입력하고 신청 버튼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국내조달원 확인서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승인 없이 바로 국내조달원 확인서 정보   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9079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카드 </a:t>
                      </a:r>
                      <a:r>
                        <a:rPr lang="ko-KR" altLang="en-US" sz="800" dirty="0"/>
                        <a:t>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scwin.btn_otpt_onclick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국내조달원확인서를  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OZ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리포트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80C0FEC0-EB0B-0C17-7551-2AEA97E9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2205" y="73739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2578771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파일명 정보 표시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다운로드 실행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경로 </a:t>
            </a:r>
            <a:r>
              <a:rPr lang="en-US" altLang="ko-KR" dirty="0"/>
              <a:t>/download/manual/AppCertOfRegi.pdf </a:t>
            </a:r>
            <a:r>
              <a:rPr lang="ko-KR" altLang="en-US" dirty="0"/>
              <a:t>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닫기 버튼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조달원등록증 신청안내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조달원등록증 신청안내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조달원등록증 신청안내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국외 조달원등록증 신청안내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24538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noProof="0">
                <a:latin typeface="맑은 고딕"/>
                <a:ea typeface="맑은 고딕" panose="020B0503020000020004" pitchFamily="50" charset="-127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140165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처리절자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922514"/>
            <a:ext cx="25326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b="1" dirty="0" err="1">
                <a:latin typeface="+mn-ea"/>
              </a:rPr>
              <a:t>마이페이지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업체정보관리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 조회</a:t>
            </a:r>
            <a:r>
              <a:rPr lang="ko-KR" altLang="en-US" sz="700" dirty="0">
                <a:latin typeface="+mn-ea"/>
              </a:rPr>
              <a:t> 에서 영문상호명이 있어야 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빈 값인 경우 조달청에서 등록하세요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lnSpc>
                <a:spcPct val="200000"/>
              </a:lnSpc>
              <a:buFontTx/>
              <a:buChar char="-"/>
            </a:pPr>
            <a:r>
              <a:rPr lang="ko-KR" altLang="en-US" sz="700" dirty="0">
                <a:latin typeface="+mn-ea"/>
              </a:rPr>
              <a:t>업체정보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대표자 주소 등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변경사항이 있는 경우 나라장터</a:t>
            </a:r>
            <a:r>
              <a:rPr lang="en-US" altLang="ko-KR" sz="700" dirty="0">
                <a:latin typeface="+mn-ea"/>
              </a:rPr>
              <a:t>(www.g2b.go.kr)</a:t>
            </a:r>
            <a:r>
              <a:rPr lang="ko-KR" altLang="en-US" sz="700" dirty="0">
                <a:latin typeface="+mn-ea"/>
              </a:rPr>
              <a:t>에 변경 요청하여 승인 처리되면  다음 날 국방전자조달</a:t>
            </a:r>
            <a:r>
              <a:rPr lang="en-US" altLang="ko-KR" sz="700" dirty="0">
                <a:latin typeface="+mn-ea"/>
              </a:rPr>
              <a:t>(www.d2b.go.kr)</a:t>
            </a:r>
            <a:r>
              <a:rPr lang="ko-KR" altLang="en-US" sz="700" dirty="0">
                <a:latin typeface="+mn-ea"/>
              </a:rPr>
              <a:t>에 자동 반영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b="1" dirty="0" err="1">
                <a:latin typeface="+mn-ea"/>
              </a:rPr>
              <a:t>마이페이지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업체정보관리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 추가정보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신청 버튼</a:t>
            </a:r>
            <a:r>
              <a:rPr lang="ko-KR" altLang="en-US" sz="700" dirty="0">
                <a:latin typeface="+mn-ea"/>
              </a:rPr>
              <a:t> 클릭 후 </a:t>
            </a:r>
            <a:r>
              <a:rPr lang="ko-KR" altLang="en-US" sz="700" dirty="0" err="1">
                <a:latin typeface="+mn-ea"/>
              </a:rPr>
              <a:t>일반정보에</a:t>
            </a:r>
            <a:r>
              <a:rPr lang="ko-KR" altLang="en-US" sz="700" dirty="0">
                <a:latin typeface="+mn-ea"/>
              </a:rPr>
              <a:t>  대표자명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영문</a:t>
            </a:r>
            <a:r>
              <a:rPr lang="en-US" altLang="ko-KR" sz="700" dirty="0">
                <a:latin typeface="+mn-ea"/>
              </a:rPr>
              <a:t>), </a:t>
            </a:r>
            <a:r>
              <a:rPr lang="ko-KR" altLang="en-US" sz="700" dirty="0">
                <a:latin typeface="+mn-ea"/>
              </a:rPr>
              <a:t>주소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영문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은 필수입니다</a:t>
            </a:r>
            <a:r>
              <a:rPr lang="en-US" altLang="ko-KR" sz="700" dirty="0">
                <a:latin typeface="+mn-ea"/>
              </a:rPr>
              <a:t>. </a:t>
            </a:r>
            <a:r>
              <a:rPr lang="ko-KR" altLang="en-US" sz="700" dirty="0" err="1">
                <a:latin typeface="+mn-ea"/>
              </a:rPr>
              <a:t>빈값인경우</a:t>
            </a:r>
            <a:r>
              <a:rPr lang="ko-KR" altLang="en-US" sz="700" dirty="0">
                <a:latin typeface="+mn-ea"/>
              </a:rPr>
              <a:t> 추가정보등록 후 신청하세요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양식 다운로드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3341961"/>
            <a:ext cx="24842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국외조달원</a:t>
            </a:r>
            <a:r>
              <a:rPr lang="ko-KR" altLang="en-US" sz="800" dirty="0">
                <a:latin typeface="+mn-ea"/>
              </a:rPr>
              <a:t> 등록증 발급 신청서 양식을  하여 수기로 작성 후 팩스 또는 직접 방문 접수합니다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711703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신청서 </a:t>
            </a:r>
            <a:r>
              <a:rPr lang="ko-KR" altLang="en-US" sz="700" b="1" dirty="0" err="1">
                <a:latin typeface="+mn-ea"/>
              </a:rPr>
              <a:t>확인사항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8038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2137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2415" y="57357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" name="모서리가 둥근 직사각형 30"/>
          <p:cNvSpPr/>
          <p:nvPr/>
        </p:nvSpPr>
        <p:spPr>
          <a:xfrm>
            <a:off x="718021" y="266646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8698" y="2740984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국외조달원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등록증 신청서 양식</a:t>
            </a:r>
          </a:p>
          <a:p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AppCertOfRegi.pdf : [51KB]</a:t>
            </a:r>
          </a:p>
        </p:txBody>
      </p:sp>
      <p:sp>
        <p:nvSpPr>
          <p:cNvPr id="42" name="타원 41"/>
          <p:cNvSpPr/>
          <p:nvPr/>
        </p:nvSpPr>
        <p:spPr>
          <a:xfrm>
            <a:off x="3078140" y="2776706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9765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현재 업체 정보 표시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추가등록</a:t>
            </a:r>
            <a:r>
              <a:rPr lang="ko-KR" altLang="en-US" dirty="0"/>
              <a:t> 내역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내역 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/>
              <a:t>상태값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전체</a:t>
            </a:r>
            <a:r>
              <a:rPr lang="en-US" altLang="ko-KR" dirty="0">
                <a:latin typeface="+mn-ea"/>
              </a:rPr>
              <a:t>(‘A’)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접수</a:t>
            </a:r>
            <a:r>
              <a:rPr lang="en-US" altLang="ko-KR" dirty="0">
                <a:latin typeface="+mn-ea"/>
              </a:rPr>
              <a:t>(‘U’)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반송</a:t>
            </a:r>
            <a:r>
              <a:rPr lang="en-US" altLang="ko-KR" dirty="0">
                <a:latin typeface="+mn-ea"/>
              </a:rPr>
              <a:t>(‘R’)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(‘F</a:t>
            </a:r>
            <a:r>
              <a:rPr lang="en-US" altLang="ko-KR" dirty="0" smtClean="0">
                <a:latin typeface="+mn-ea"/>
              </a:rPr>
              <a:t>’)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상태값에</a:t>
            </a:r>
            <a:r>
              <a:rPr lang="ko-KR" altLang="en-US" dirty="0" smtClean="0"/>
              <a:t> 상관 없이 상세 페이지 진입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MUI-CM-01-T05 </a:t>
            </a:r>
            <a:r>
              <a:rPr lang="ko-KR" altLang="en-US" dirty="0" smtClean="0"/>
              <a:t>물품</a:t>
            </a:r>
            <a:r>
              <a:rPr lang="en-US" altLang="ko-KR" dirty="0" smtClean="0"/>
              <a:t>(</a:t>
            </a:r>
            <a:r>
              <a:rPr lang="ko-KR" altLang="en-US" dirty="0" smtClean="0"/>
              <a:t>내자</a:t>
            </a:r>
            <a:r>
              <a:rPr lang="en-US" altLang="ko-KR" dirty="0" smtClean="0"/>
              <a:t>) </a:t>
            </a:r>
            <a:r>
              <a:rPr lang="ko-KR" altLang="en-US" dirty="0" smtClean="0"/>
              <a:t>신청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MUI-CM-01-T06 </a:t>
            </a:r>
            <a:r>
              <a:rPr lang="ko-KR" altLang="en-US" dirty="0" smtClean="0"/>
              <a:t>국내소재상사신청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담당자 변경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저장 건의 경우 목록에 표시하지 않음</a:t>
            </a:r>
            <a:r>
              <a:rPr lang="en-US" altLang="ko-KR" dirty="0" smtClean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목록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추가정보 신청 목록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649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783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3070829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3102174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3070829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070829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3172652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3556688"/>
            <a:ext cx="2473257" cy="960061"/>
            <a:chOff x="781461" y="2610063"/>
            <a:chExt cx="2473257" cy="96006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추가정보구분 </a:t>
              </a:r>
              <a:r>
                <a:rPr lang="en-US" altLang="ko-KR" sz="900" b="1" dirty="0"/>
                <a:t>- </a:t>
              </a:r>
              <a:r>
                <a:rPr lang="ko-KR" altLang="en-US" sz="900" b="1" dirty="0"/>
                <a:t>물품</a:t>
              </a:r>
              <a:r>
                <a:rPr lang="en-US" altLang="ko-KR" sz="900" b="1" dirty="0"/>
                <a:t>(</a:t>
              </a:r>
              <a:r>
                <a:rPr lang="ko-KR" altLang="en-US" sz="900" b="1" dirty="0"/>
                <a:t>내자</a:t>
              </a:r>
              <a:r>
                <a:rPr lang="en-US" altLang="ko-KR" sz="900" b="1" dirty="0"/>
                <a:t>)</a:t>
              </a:r>
              <a:endParaRPr lang="ko-KR" altLang="en-US" sz="900" b="1" dirty="0"/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업무구분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1818649" y="3139237"/>
              <a:ext cx="1413849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물품</a:t>
              </a:r>
              <a:r>
                <a:rPr lang="en-US" altLang="ko-KR" sz="600" dirty="0">
                  <a:latin typeface="+mn-ea"/>
                </a:rPr>
                <a:t>(</a:t>
              </a:r>
              <a:r>
                <a:rPr lang="ko-KR" altLang="en-US" sz="600" dirty="0">
                  <a:latin typeface="+mn-ea"/>
                </a:rPr>
                <a:t>내자</a:t>
              </a:r>
              <a:r>
                <a:rPr lang="en-US" altLang="ko-KR" sz="600" dirty="0">
                  <a:latin typeface="+mn-ea"/>
                </a:rPr>
                <a:t>) | </a:t>
              </a:r>
              <a:r>
                <a:rPr lang="ko-KR" altLang="en-US" sz="600" dirty="0">
                  <a:latin typeface="+mn-ea"/>
                </a:rPr>
                <a:t>공사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용역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일반용역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외자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접수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121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745389"/>
            <a:ext cx="2446613" cy="317086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2203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1991086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업체코드</a:t>
            </a:r>
            <a:r>
              <a:rPr lang="ko-KR" altLang="en-US" sz="700" dirty="0"/>
              <a:t> </a:t>
            </a:r>
            <a:r>
              <a:rPr lang="en-US" altLang="ko-KR" sz="700" dirty="0"/>
              <a:t>7004F</a:t>
            </a:r>
          </a:p>
          <a:p>
            <a:r>
              <a:rPr lang="ko-KR" altLang="en-US" sz="900" b="1" dirty="0"/>
              <a:t>주식회사 국방전자조달</a:t>
            </a:r>
          </a:p>
        </p:txBody>
      </p:sp>
      <p:sp>
        <p:nvSpPr>
          <p:cNvPr id="150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326151"/>
            <a:ext cx="538609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대표자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사업자등록번호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주소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등록구분</a:t>
            </a:r>
            <a:endParaRPr lang="en-US" altLang="ko-KR" sz="600" dirty="0">
              <a:latin typeface="+mn-ea"/>
            </a:endParaRPr>
          </a:p>
        </p:txBody>
      </p:sp>
      <p:sp>
        <p:nvSpPr>
          <p:cNvPr id="151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1727214" y="2310762"/>
            <a:ext cx="1505284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홍길동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123-45-67890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서울특별시 중구 세종대로 </a:t>
            </a:r>
            <a:r>
              <a:rPr lang="en-US" altLang="ko-KR" sz="600" dirty="0">
                <a:latin typeface="+mn-ea"/>
              </a:rPr>
              <a:t>110 (</a:t>
            </a:r>
            <a:r>
              <a:rPr lang="ko-KR" altLang="en-US" sz="600" dirty="0">
                <a:latin typeface="+mn-ea"/>
              </a:rPr>
              <a:t>태평로 </a:t>
            </a:r>
            <a:r>
              <a:rPr lang="en-US" altLang="ko-KR" sz="600" dirty="0">
                <a:latin typeface="+mn-ea"/>
              </a:rPr>
              <a:t>1</a:t>
            </a:r>
            <a:r>
              <a:rPr lang="ko-KR" altLang="en-US" sz="600" dirty="0">
                <a:latin typeface="+mn-ea"/>
              </a:rPr>
              <a:t>가</a:t>
            </a:r>
            <a:r>
              <a:rPr lang="en-US" altLang="ko-KR" sz="600" dirty="0">
                <a:latin typeface="+mn-ea"/>
              </a:rPr>
              <a:t>)</a:t>
            </a: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-</a:t>
            </a:r>
            <a:endParaRPr lang="ko-KR" altLang="en-US" sz="600" dirty="0">
              <a:latin typeface="+mn-ea"/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7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15" name="그룹 1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6" name="직사각형 1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업체정보 </a:t>
              </a:r>
              <a:r>
                <a:rPr lang="ko-KR" altLang="en-US" sz="700" dirty="0" err="1" smtClean="0"/>
                <a:t>추가등록</a:t>
              </a:r>
              <a:r>
                <a:rPr lang="ko-KR" altLang="en-US" sz="700" dirty="0" smtClean="0"/>
                <a:t> 버튼</a:t>
              </a:r>
              <a:r>
                <a:rPr lang="en-US" altLang="ko-KR" sz="700" dirty="0" smtClean="0"/>
                <a:t>,</a:t>
              </a:r>
              <a:r>
                <a:rPr lang="ko-KR" altLang="en-US" sz="700" dirty="0" smtClean="0"/>
                <a:t> 진입 포인트 삭제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smtClean="0"/>
                <a:t>상위 메뉴에서 업체정보 추가 등록 통일되게 진입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564141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기본값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개월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처리 </a:t>
            </a:r>
            <a:r>
              <a:rPr lang="ko-KR" altLang="en-US" dirty="0" err="1" smtClean="0"/>
              <a:t>상태값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>
                <a:latin typeface="+mn-ea"/>
              </a:rPr>
              <a:t>전체</a:t>
            </a:r>
            <a:r>
              <a:rPr lang="en-US" altLang="ko-KR" dirty="0">
                <a:latin typeface="+mn-ea"/>
              </a:rPr>
              <a:t>(‘A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접수</a:t>
            </a:r>
            <a:r>
              <a:rPr lang="en-US" altLang="ko-KR" dirty="0">
                <a:latin typeface="+mn-ea"/>
              </a:rPr>
              <a:t>(‘U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반송</a:t>
            </a:r>
            <a:r>
              <a:rPr lang="en-US" altLang="ko-KR" dirty="0">
                <a:latin typeface="+mn-ea"/>
              </a:rPr>
              <a:t>(‘R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(‘F’)</a:t>
            </a:r>
            <a:endParaRPr lang="ko-KR" altLang="en-US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검색필터</a:t>
            </a:r>
            <a:r>
              <a:rPr lang="en-US" altLang="ko-KR" dirty="0" smtClean="0">
                <a:latin typeface="+mn-ea"/>
              </a:rPr>
              <a:t>-</a:t>
            </a:r>
            <a:r>
              <a:rPr lang="ko-KR" altLang="en-US" dirty="0" smtClean="0">
                <a:latin typeface="+mn-ea"/>
              </a:rPr>
              <a:t>추가정보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</a:t>
            </a:r>
            <a:r>
              <a:rPr lang="ko-KR" altLang="en-US" dirty="0" smtClean="0">
                <a:latin typeface="+mn-ea"/>
              </a:rPr>
              <a:t>목록의 </a:t>
            </a:r>
            <a:r>
              <a:rPr lang="ko-KR" altLang="en-US" dirty="0" err="1" smtClean="0">
                <a:latin typeface="+mn-ea"/>
              </a:rPr>
              <a:t>검색필터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</a:t>
            </a:r>
            <a:r>
              <a:rPr lang="ko-KR" altLang="en-US" dirty="0" smtClean="0">
                <a:latin typeface="+mn-ea"/>
              </a:rPr>
              <a:t>목록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err="1" smtClean="0">
                <a:latin typeface="+mn-ea"/>
              </a:rPr>
              <a:t>검색필터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675399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9" name="그룹 98"/>
          <p:cNvGrpSpPr/>
          <p:nvPr/>
        </p:nvGrpSpPr>
        <p:grpSpPr>
          <a:xfrm>
            <a:off x="678686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678686" y="3581561"/>
            <a:ext cx="2712027" cy="505089"/>
            <a:chOff x="3795734" y="4353857"/>
            <a:chExt cx="2712027" cy="505089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91" name="그룹 90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4" name="모서리가 둥근 직사각형 93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 smtClean="0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96" name="그룹 95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97" name="직선 연결선 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직선 연결선 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2" name="그룹 101"/>
          <p:cNvGrpSpPr/>
          <p:nvPr/>
        </p:nvGrpSpPr>
        <p:grpSpPr>
          <a:xfrm>
            <a:off x="786574" y="2893083"/>
            <a:ext cx="2516607" cy="467691"/>
            <a:chOff x="778515" y="4388257"/>
            <a:chExt cx="2516607" cy="467691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04" name="그룹 103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46" name="직선 연결선 14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" name="직선 연결선 14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5" name="모서리가 둥근 직사각형 104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품명을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6" name="직사각형 1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신청 목록과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화면</a:t>
              </a:r>
              <a:r>
                <a:rPr lang="en-US" altLang="ko-KR" sz="700" dirty="0" smtClean="0"/>
                <a:t> </a:t>
              </a:r>
              <a:r>
                <a:rPr lang="ko-KR" altLang="en-US" sz="700" dirty="0" smtClean="0"/>
                <a:t>분리</a:t>
              </a:r>
              <a:r>
                <a:rPr lang="en-US" altLang="ko-KR" sz="700" dirty="0" smtClean="0"/>
                <a:t> </a:t>
              </a:r>
              <a:endParaRPr lang="ko-KR" altLang="en-US" sz="700" dirty="0"/>
            </a:p>
          </p:txBody>
        </p: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76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34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35739633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9677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추가등록정보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534866"/>
              </p:ext>
            </p:extLst>
          </p:nvPr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69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(‘A’)/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544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3831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2999" y="2198112"/>
            <a:ext cx="297574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추가등록정보 신청 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2063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bizCdNm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추가정보구분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addInfoCdNm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추가정보구분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국내소재상사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F125368-2857-C82E-1284-3681067E57A2}"/>
              </a:ext>
            </a:extLst>
          </p:cNvPr>
          <p:cNvSpPr txBox="1"/>
          <p:nvPr/>
        </p:nvSpPr>
        <p:spPr>
          <a:xfrm>
            <a:off x="452999" y="399991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5A706DBE-0422-0FB5-452E-C5076DB397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207010"/>
              </p:ext>
            </p:extLst>
          </p:nvPr>
        </p:nvGraphicFramePr>
        <p:xfrm>
          <a:off x="455204" y="4191095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scwin.btn_bzentyInfoAddRegAplySrch_onclick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추가등록 신청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scwin.grd_bzentyInfoAddRegAplyList_oncellclick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클릭된 추가등록정보 신청 상세조회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818794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9E9827DD-9569-58C6-A5A8-D5F9A0717F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405935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D3C2A901-2C93-18D5-49AD-6B86C606B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751436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1926939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202602027888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3836701" y="4002480"/>
            <a:ext cx="2630093" cy="1600147"/>
            <a:chOff x="720490" y="4465173"/>
            <a:chExt cx="2630093" cy="1600147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등록품목명세</a:t>
              </a: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품목적부판정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40" name="그룹 139"/>
          <p:cNvGrpSpPr/>
          <p:nvPr/>
        </p:nvGrpSpPr>
        <p:grpSpPr>
          <a:xfrm>
            <a:off x="3847283" y="1573405"/>
            <a:ext cx="2630093" cy="1169259"/>
            <a:chOff x="720490" y="2967388"/>
            <a:chExt cx="2630093" cy="1169259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2" name="그룹 141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51" name="직선 연결선 15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직사각형 142"/>
            <p:cNvSpPr/>
            <p:nvPr/>
          </p:nvSpPr>
          <p:spPr>
            <a:xfrm>
              <a:off x="722583" y="3274873"/>
              <a:ext cx="792000" cy="849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abcde@dapa.go.kr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3" name="그룹 152"/>
          <p:cNvGrpSpPr/>
          <p:nvPr/>
        </p:nvGrpSpPr>
        <p:grpSpPr>
          <a:xfrm>
            <a:off x="3847283" y="2869262"/>
            <a:ext cx="2630093" cy="966004"/>
            <a:chOff x="720490" y="2967388"/>
            <a:chExt cx="2630093" cy="966004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120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/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한국피복공업협동조합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657181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3760274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여 </a:t>
              </a:r>
              <a:r>
                <a:rPr lang="en-US" altLang="ko-KR" sz="700" dirty="0" smtClean="0">
                  <a:latin typeface="+mn-ea"/>
                </a:rPr>
                <a:t>/ </a:t>
              </a:r>
              <a:r>
                <a:rPr lang="ko-KR" altLang="en-US" sz="700" dirty="0" smtClean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Hong </a:t>
              </a:r>
              <a:r>
                <a:rPr kumimoji="1" lang="en-US" altLang="ko-KR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Gildong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102, 11st, </a:t>
              </a:r>
              <a:r>
                <a:rPr lang="en-US" altLang="ko-KR" sz="700" dirty="0" err="1">
                  <a:latin typeface="+mn-ea"/>
                </a:rPr>
                <a:t>jonglo-gu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seoul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korea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6145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52927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1015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78800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76415535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6321CF-EFC5-26E2-090C-8CF7B965CFBA}"/>
              </a:ext>
            </a:extLst>
          </p:cNvPr>
          <p:cNvSpPr txBox="1"/>
          <p:nvPr/>
        </p:nvSpPr>
        <p:spPr>
          <a:xfrm>
            <a:off x="474315" y="799547"/>
            <a:ext cx="29068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추가정보신청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dm_addInfoAplyInfo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E1DDAE6-399C-5859-4E69-5305126997B8}"/>
              </a:ext>
            </a:extLst>
          </p:cNvPr>
          <p:cNvGraphicFramePr>
            <a:graphicFrameLocks noGrp="1"/>
          </p:cNvGraphicFramePr>
          <p:nvPr/>
        </p:nvGraphicFramePr>
        <p:xfrm>
          <a:off x="474315" y="1024937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EC06C9-0FC7-2BF3-5CEB-CB78D451E6FB}"/>
              </a:ext>
            </a:extLst>
          </p:cNvPr>
          <p:cNvSpPr txBox="1"/>
          <p:nvPr/>
        </p:nvSpPr>
        <p:spPr>
          <a:xfrm>
            <a:off x="482823" y="4356619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CC68990-859E-3037-E963-31F8A2C42A4A}"/>
              </a:ext>
            </a:extLst>
          </p:cNvPr>
          <p:cNvGraphicFramePr>
            <a:graphicFrameLocks noGrp="1"/>
          </p:cNvGraphicFramePr>
          <p:nvPr/>
        </p:nvGraphicFramePr>
        <p:xfrm>
          <a:off x="482823" y="4567822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88BFD90-EEC4-AF19-B43C-80320D9D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6E3AA-F395-D558-C9E9-19120457B5D8}"/>
              </a:ext>
            </a:extLst>
          </p:cNvPr>
          <p:cNvSpPr txBox="1"/>
          <p:nvPr/>
        </p:nvSpPr>
        <p:spPr>
          <a:xfrm>
            <a:off x="474315" y="2625601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ED29EF-B202-6F60-88C5-CFDB8D291C7E}"/>
              </a:ext>
            </a:extLst>
          </p:cNvPr>
          <p:cNvGraphicFramePr>
            <a:graphicFrameLocks noGrp="1"/>
          </p:cNvGraphicFramePr>
          <p:nvPr/>
        </p:nvGraphicFramePr>
        <p:xfrm>
          <a:off x="482823" y="2847240"/>
          <a:ext cx="8994883" cy="1407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69739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146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4B50EA-5906-EB6B-7138-D3E9BBE51945}"/>
              </a:ext>
            </a:extLst>
          </p:cNvPr>
          <p:cNvSpPr txBox="1"/>
          <p:nvPr/>
        </p:nvSpPr>
        <p:spPr>
          <a:xfrm>
            <a:off x="453000" y="2536597"/>
            <a:ext cx="278498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B578D07-5309-68EA-0BE0-60EAC189B148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275028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자리수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1495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95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8341192-35F9-FD22-371F-1BFB9813957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1AA5351-B4D7-2A42-A2FD-535C648BA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3D6EF6-B35E-C07B-C39C-1AAFB1030A81}"/>
              </a:ext>
            </a:extLst>
          </p:cNvPr>
          <p:cNvSpPr txBox="1"/>
          <p:nvPr/>
        </p:nvSpPr>
        <p:spPr>
          <a:xfrm>
            <a:off x="455558" y="875109"/>
            <a:ext cx="367465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dm_knditmInfoAsctGrpInfo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41A4CC9-2271-61B9-E859-7A8617C8C15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6312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단체명이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002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147</a:t>
            </a:fld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C8C92-A1A0-9A18-1192-672370EB4B24}"/>
              </a:ext>
            </a:extLst>
          </p:cNvPr>
          <p:cNvSpPr txBox="1"/>
          <p:nvPr/>
        </p:nvSpPr>
        <p:spPr>
          <a:xfrm>
            <a:off x="449379" y="64420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C3447D6-2C6E-9D8B-15D4-E55C6F39B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506251"/>
              </p:ext>
            </p:extLst>
          </p:nvPr>
        </p:nvGraphicFramePr>
        <p:xfrm>
          <a:off x="455204" y="879986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추가등록정보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A85913A9-6A57-6952-B52D-4279CDAA9A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630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090414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국내소재상사신청정보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MUI-CM-01-T06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1926939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202602027888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3836701" y="4002480"/>
            <a:ext cx="2630093" cy="1169259"/>
            <a:chOff x="720490" y="4465173"/>
            <a:chExt cx="2630093" cy="1169259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보안측정인원</a:t>
              </a: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4772659"/>
              <a:ext cx="792000" cy="8617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40" name="그룹 139"/>
          <p:cNvGrpSpPr/>
          <p:nvPr/>
        </p:nvGrpSpPr>
        <p:grpSpPr>
          <a:xfrm>
            <a:off x="3847283" y="1573405"/>
            <a:ext cx="2630093" cy="2261591"/>
            <a:chOff x="720490" y="2967388"/>
            <a:chExt cx="2630093" cy="2261591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</a:t>
              </a:r>
            </a:p>
          </p:txBody>
        </p:sp>
        <p:grpSp>
          <p:nvGrpSpPr>
            <p:cNvPr id="142" name="그룹 141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51" name="직선 연결선 15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직사각형 142"/>
            <p:cNvSpPr/>
            <p:nvPr/>
          </p:nvSpPr>
          <p:spPr>
            <a:xfrm>
              <a:off x="722583" y="3274873"/>
              <a:ext cx="792000" cy="19541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72436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사업등록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취급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종목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보안측정결과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기관명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등기일자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등기목적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공급업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군수품 </a:t>
              </a:r>
              <a:r>
                <a:rPr lang="ko-KR" altLang="en-US" sz="700" dirty="0" err="1">
                  <a:latin typeface="+mn-ea"/>
                </a:rPr>
                <a:t>무역대리업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</a:t>
              </a:r>
              <a:r>
                <a:rPr lang="ko-KR" altLang="en-US" sz="700" dirty="0">
                  <a:latin typeface="+mn-ea"/>
                </a:rPr>
                <a:t> 비대상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358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736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8733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8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289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657181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3760274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여 </a:t>
              </a:r>
              <a:r>
                <a:rPr lang="en-US" altLang="ko-KR" sz="700" dirty="0" smtClean="0">
                  <a:latin typeface="+mn-ea"/>
                </a:rPr>
                <a:t>/ </a:t>
              </a:r>
              <a:r>
                <a:rPr lang="ko-KR" altLang="en-US" sz="700" dirty="0" smtClean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Hong </a:t>
              </a:r>
              <a:r>
                <a:rPr kumimoji="1" lang="en-US" altLang="ko-KR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Gildong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102, 11st, </a:t>
              </a:r>
              <a:r>
                <a:rPr lang="en-US" altLang="ko-KR" sz="700" dirty="0" err="1">
                  <a:latin typeface="+mn-ea"/>
                </a:rPr>
                <a:t>jonglo-gu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seoul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korea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6145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52927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1015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5729060" y="1613364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법인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5939993" y="4988057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다운로드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7" name="직사각형 12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3025796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국내소재상사신청정보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</a:t>
            </a:r>
            <a:r>
              <a:rPr lang="ko-KR" altLang="en-US" dirty="0" smtClean="0">
                <a:latin typeface="+mn-ea"/>
              </a:rPr>
              <a:t>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MUI-CM-01-T06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/>
          <p:cNvGrpSpPr/>
          <p:nvPr/>
        </p:nvGrpSpPr>
        <p:grpSpPr>
          <a:xfrm>
            <a:off x="720490" y="1926939"/>
            <a:ext cx="2630093" cy="756006"/>
            <a:chOff x="720490" y="4465173"/>
            <a:chExt cx="2630093" cy="756006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9"/>
              <a:ext cx="792000" cy="448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테스트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2866974"/>
            <a:ext cx="2630093" cy="1847384"/>
            <a:chOff x="720490" y="4465173"/>
            <a:chExt cx="2630093" cy="1847384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8"/>
              <a:ext cx="792000" cy="1539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연간매출액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자산규모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여신한도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주거래은행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군납최초참여일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Dun’s Number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3,000,000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농협은행 과천 지점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2020-03-01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2020-03-01 ~ 2025-12-31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728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966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7639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8097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6840757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FD585-1033-4C5A-3046-40C4A14E6C3D}"/>
              </a:ext>
            </a:extLst>
          </p:cNvPr>
          <p:cNvSpPr txBox="1"/>
          <p:nvPr/>
        </p:nvSpPr>
        <p:spPr>
          <a:xfrm>
            <a:off x="447174" y="3909817"/>
            <a:ext cx="31200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F2E64DD-C9B3-2069-464E-8BD9C096BA87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121660"/>
          <a:ext cx="8994883" cy="2376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1687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(’20’)/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운송업체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보험업체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신용장개설은행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(‘27’)/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국내제작업체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(‘28’)/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(‘29’)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taskHdlrRsltCd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(‘N’)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5558" y="799547"/>
            <a:ext cx="29068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추가정보신청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dm_addInfoAplyInfo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976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EA6E52F-BCA3-96C8-67C6-5E72F655E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04E473-0C76-97CA-2568-CFE2A9FA3350}"/>
              </a:ext>
            </a:extLst>
          </p:cNvPr>
          <p:cNvSpPr txBox="1"/>
          <p:nvPr/>
        </p:nvSpPr>
        <p:spPr>
          <a:xfrm>
            <a:off x="455558" y="2386850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CFB3BB-1666-4E22-E474-40FF6DDFA289}"/>
              </a:ext>
            </a:extLst>
          </p:cNvPr>
          <p:cNvGraphicFramePr>
            <a:graphicFrameLocks noGrp="1"/>
          </p:cNvGraphicFramePr>
          <p:nvPr/>
        </p:nvGraphicFramePr>
        <p:xfrm>
          <a:off x="464066" y="2608489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52342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151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6C9223-6B36-72B2-E590-EA6F1BDF23A1}"/>
              </a:ext>
            </a:extLst>
          </p:cNvPr>
          <p:cNvSpPr txBox="1"/>
          <p:nvPr/>
        </p:nvSpPr>
        <p:spPr>
          <a:xfrm>
            <a:off x="452999" y="2453560"/>
            <a:ext cx="17847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FSC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1FD1C73-2B10-B728-AEA1-41D040F8CC8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6724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E2433EC-83E1-AA99-16EC-8E7F3A34098B}"/>
              </a:ext>
            </a:extLst>
          </p:cNvPr>
          <p:cNvSpPr txBox="1"/>
          <p:nvPr/>
        </p:nvSpPr>
        <p:spPr>
          <a:xfrm>
            <a:off x="450440" y="3452123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BB98065F-80E8-B992-6DDD-013FDDB112C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366580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351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7442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54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0390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4379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8858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91097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02567EC-AC2D-D7F0-9930-7CFF5017627D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5C4B852D-8926-43DC-F609-972BFE9A8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6105B-EE72-9A35-138D-E979B30E8004}"/>
              </a:ext>
            </a:extLst>
          </p:cNvPr>
          <p:cNvSpPr txBox="1"/>
          <p:nvPr/>
        </p:nvSpPr>
        <p:spPr>
          <a:xfrm>
            <a:off x="452999" y="867634"/>
            <a:ext cx="3015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A946394-CDEF-ED25-B2A5-A7B138890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126752"/>
              </p:ext>
            </p:extLst>
          </p:nvPr>
        </p:nvGraphicFramePr>
        <p:xfrm>
          <a:off x="453000" y="1078837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 첨부파일명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21105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A09851-DB8A-5E75-D951-D3802196DB2B}"/>
              </a:ext>
            </a:extLst>
          </p:cNvPr>
          <p:cNvSpPr txBox="1"/>
          <p:nvPr/>
        </p:nvSpPr>
        <p:spPr>
          <a:xfrm>
            <a:off x="455204" y="5912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AF02EB9-4E0B-A76D-D6AA-BDE3E1762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768327"/>
              </p:ext>
            </p:extLst>
          </p:nvPr>
        </p:nvGraphicFramePr>
        <p:xfrm>
          <a:off x="455204" y="827041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추가등록정보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7E3266B3-2502-5567-2F29-36F4DC570A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1012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761505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담당자 </a:t>
            </a:r>
            <a:r>
              <a:rPr lang="ko-KR" altLang="en-US" dirty="0"/>
              <a:t>정보만 저장 시 즉시 완료 처리 </a:t>
            </a:r>
            <a:r>
              <a:rPr lang="en-US" altLang="ko-KR" dirty="0"/>
              <a:t>&gt; </a:t>
            </a:r>
            <a:r>
              <a:rPr lang="ko-KR" altLang="en-US" dirty="0"/>
              <a:t>목록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 토스트 메시지 </a:t>
            </a:r>
            <a:r>
              <a:rPr lang="en-US" altLang="ko-KR" dirty="0"/>
              <a:t>: </a:t>
            </a:r>
            <a:r>
              <a:rPr lang="ko-KR" altLang="en-US" dirty="0"/>
              <a:t>저장되었습니다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MUI-CM-01-M22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담당자 정보 </a:t>
            </a:r>
            <a:r>
              <a:rPr lang="ko-KR" altLang="en-US" sz="800" dirty="0" err="1">
                <a:latin typeface="+mn-ea"/>
              </a:rPr>
              <a:t>추가등록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3673" y="4917815"/>
            <a:ext cx="261547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담당자정보는 </a:t>
            </a:r>
            <a:r>
              <a:rPr lang="en-US" altLang="ko-KR" sz="700" dirty="0">
                <a:latin typeface="+mn-ea"/>
              </a:rPr>
              <a:t>[</a:t>
            </a:r>
            <a:r>
              <a:rPr lang="ko-KR" altLang="en-US" sz="700" dirty="0">
                <a:latin typeface="+mn-ea"/>
              </a:rPr>
              <a:t>저장</a:t>
            </a:r>
            <a:r>
              <a:rPr lang="en-US" altLang="ko-KR" sz="700" dirty="0">
                <a:latin typeface="+mn-ea"/>
              </a:rPr>
              <a:t>] </a:t>
            </a:r>
            <a:r>
              <a:rPr lang="ko-KR" altLang="en-US" sz="700" dirty="0">
                <a:latin typeface="+mn-ea"/>
              </a:rPr>
              <a:t>버튼 클릭 시 승인 없이 변경됩니다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05" name="그룹 104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담당자 정보 저장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1" name="직사각형 11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별도 등록 하도록 분리</a:t>
              </a:r>
              <a:endParaRPr lang="ko-KR" altLang="en-US" sz="700" dirty="0"/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12134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담당자명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903581" y="2268480"/>
            <a:ext cx="2255663" cy="306146"/>
            <a:chOff x="3982951" y="3679873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grpSp>
        <p:nvGrpSpPr>
          <p:cNvPr id="121" name="그룹 120"/>
          <p:cNvGrpSpPr/>
          <p:nvPr/>
        </p:nvGrpSpPr>
        <p:grpSpPr>
          <a:xfrm>
            <a:off x="903581" y="2955549"/>
            <a:ext cx="2255663" cy="306146"/>
            <a:chOff x="3982951" y="3679873"/>
            <a:chExt cx="2255663" cy="306146"/>
          </a:xfrm>
        </p:grpSpPr>
        <p:sp>
          <p:nvSpPr>
            <p:cNvPr id="122" name="모서리가 둥근 직사각형 12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81661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smtClean="0"/>
              <a:t>전화번호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*</a:t>
            </a:r>
            <a:endParaRPr lang="ko-KR" altLang="en-US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48420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smtClean="0"/>
              <a:t>팩스번호</a:t>
            </a:r>
            <a:endParaRPr lang="ko-KR" altLang="en-US" dirty="0"/>
          </a:p>
        </p:txBody>
      </p:sp>
      <p:grpSp>
        <p:nvGrpSpPr>
          <p:cNvPr id="128" name="그룹 127"/>
          <p:cNvGrpSpPr/>
          <p:nvPr/>
        </p:nvGrpSpPr>
        <p:grpSpPr>
          <a:xfrm>
            <a:off x="903581" y="3631341"/>
            <a:ext cx="2255663" cy="306146"/>
            <a:chOff x="3982951" y="3679873"/>
            <a:chExt cx="2255663" cy="306146"/>
          </a:xfrm>
        </p:grpSpPr>
        <p:sp>
          <p:nvSpPr>
            <p:cNvPr id="129" name="모서리가 둥근 직사각형 12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903581" y="4318410"/>
            <a:ext cx="2255663" cy="306146"/>
            <a:chOff x="3982951" y="3679873"/>
            <a:chExt cx="2255663" cy="306146"/>
          </a:xfrm>
        </p:grpSpPr>
        <p:sp>
          <p:nvSpPr>
            <p:cNvPr id="132" name="모서리가 둥근 직사각형 13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smtClean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17947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err="1" smtClean="0"/>
              <a:t>이메일주소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*</a:t>
            </a:r>
            <a:endParaRPr lang="ko-KR" altLang="en-US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816614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12134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17947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5452232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 등록할 내용 탭 선택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개별 정보 </a:t>
            </a:r>
            <a:r>
              <a:rPr lang="ko-KR" altLang="en-US" dirty="0" smtClean="0"/>
              <a:t>입력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/>
              <a:t>정보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대표품류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품류</a:t>
            </a:r>
            <a:r>
              <a:rPr lang="ko-KR" altLang="en-US" dirty="0"/>
              <a:t> 선택 </a:t>
            </a:r>
            <a:r>
              <a:rPr lang="ko-KR" altLang="en-US" dirty="0" smtClean="0"/>
              <a:t>팝업 </a:t>
            </a:r>
            <a:r>
              <a:rPr lang="en-US" altLang="ko-KR" dirty="0" smtClean="0"/>
              <a:t>MUI-CM-01-P06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조합</a:t>
            </a:r>
            <a:r>
              <a:rPr lang="en-US" altLang="ko-KR" dirty="0"/>
              <a:t>/</a:t>
            </a:r>
            <a:r>
              <a:rPr lang="ko-KR" altLang="en-US" dirty="0"/>
              <a:t>단체 </a:t>
            </a:r>
            <a:r>
              <a:rPr lang="en-US" altLang="ko-KR" dirty="0"/>
              <a:t>: </a:t>
            </a:r>
            <a:r>
              <a:rPr lang="ko-KR" altLang="en-US" dirty="0"/>
              <a:t>조합</a:t>
            </a:r>
            <a:r>
              <a:rPr lang="en-US" altLang="ko-KR" dirty="0"/>
              <a:t>/</a:t>
            </a:r>
            <a:r>
              <a:rPr lang="ko-KR" altLang="en-US" dirty="0"/>
              <a:t>단체 선택 </a:t>
            </a:r>
            <a:r>
              <a:rPr lang="ko-KR" altLang="en-US" dirty="0" smtClean="0"/>
              <a:t>팝업 </a:t>
            </a:r>
            <a:r>
              <a:rPr lang="en-US" altLang="ko-KR" dirty="0" smtClean="0"/>
              <a:t>MUI-CM-01-P07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업태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제조</a:t>
            </a:r>
            <a:r>
              <a:rPr lang="en-US" altLang="ko-KR" dirty="0"/>
              <a:t>(’11’)/</a:t>
            </a:r>
            <a:r>
              <a:rPr lang="ko-KR" altLang="en-US" dirty="0"/>
              <a:t>판매</a:t>
            </a:r>
            <a:r>
              <a:rPr lang="en-US" altLang="ko-KR" dirty="0"/>
              <a:t>(‘12’)/</a:t>
            </a:r>
            <a:r>
              <a:rPr lang="ko-KR" altLang="en-US" dirty="0" err="1"/>
              <a:t>조합및단체</a:t>
            </a:r>
            <a:r>
              <a:rPr lang="en-US" altLang="ko-KR" dirty="0"/>
              <a:t>(‘13’)/</a:t>
            </a:r>
            <a:r>
              <a:rPr lang="ko-KR" altLang="en-US" dirty="0"/>
              <a:t>용역</a:t>
            </a:r>
            <a:r>
              <a:rPr lang="en-US" altLang="ko-KR" dirty="0"/>
              <a:t>(‘14’)/</a:t>
            </a:r>
            <a:r>
              <a:rPr lang="ko-KR" altLang="en-US" dirty="0" err="1"/>
              <a:t>벤처제조</a:t>
            </a:r>
            <a:r>
              <a:rPr lang="en-US" altLang="ko-KR" dirty="0"/>
              <a:t>(‘15’)/</a:t>
            </a:r>
            <a:r>
              <a:rPr lang="ko-KR" altLang="en-US" dirty="0" err="1"/>
              <a:t>벤처판매</a:t>
            </a:r>
            <a:r>
              <a:rPr lang="en-US" altLang="ko-KR" dirty="0"/>
              <a:t>(‘16’)/</a:t>
            </a:r>
            <a:r>
              <a:rPr lang="ko-KR" altLang="en-US" dirty="0" err="1"/>
              <a:t>벤처용역</a:t>
            </a:r>
            <a:r>
              <a:rPr lang="en-US" altLang="ko-KR" dirty="0"/>
              <a:t>(‘17’)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물품 </a:t>
            </a:r>
            <a:r>
              <a:rPr lang="en-US" altLang="ko-KR" sz="800" dirty="0">
                <a:latin typeface="+mn-ea"/>
              </a:rPr>
              <a:t>(</a:t>
            </a:r>
            <a:r>
              <a:rPr lang="ko-KR" altLang="en-US" sz="800" dirty="0">
                <a:latin typeface="+mn-ea"/>
              </a:rPr>
              <a:t>내자</a:t>
            </a:r>
            <a:r>
              <a:rPr lang="en-US" altLang="ko-KR" sz="800" dirty="0">
                <a:latin typeface="+mn-ea"/>
              </a:rPr>
              <a:t>) </a:t>
            </a:r>
            <a:r>
              <a:rPr lang="ko-KR" altLang="en-US" sz="800" dirty="0">
                <a:latin typeface="+mn-ea"/>
              </a:rPr>
              <a:t>정보 </a:t>
            </a:r>
            <a:r>
              <a:rPr lang="ko-KR" altLang="en-US" sz="800" dirty="0" err="1">
                <a:latin typeface="+mn-ea"/>
              </a:rPr>
              <a:t>추가등록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53" name="그룹 152"/>
          <p:cNvGrpSpPr/>
          <p:nvPr/>
        </p:nvGrpSpPr>
        <p:grpSpPr>
          <a:xfrm>
            <a:off x="3832576" y="1573405"/>
            <a:ext cx="2630093" cy="966004"/>
            <a:chOff x="720490" y="2967388"/>
            <a:chExt cx="2630093" cy="966004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6173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1942203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40473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4009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타원 214"/>
          <p:cNvSpPr/>
          <p:nvPr/>
        </p:nvSpPr>
        <p:spPr>
          <a:xfrm>
            <a:off x="1597442" y="2758270"/>
            <a:ext cx="90000" cy="9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/>
          <p:cNvSpPr/>
          <p:nvPr/>
        </p:nvSpPr>
        <p:spPr>
          <a:xfrm>
            <a:off x="2348738" y="2758270"/>
            <a:ext cx="90000" cy="9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46956" y="2749409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여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6466" y="2749409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부</a:t>
            </a:r>
          </a:p>
        </p:txBody>
      </p:sp>
      <p:sp>
        <p:nvSpPr>
          <p:cNvPr id="1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284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56" name="그룹 155"/>
          <p:cNvGrpSpPr/>
          <p:nvPr/>
        </p:nvGrpSpPr>
        <p:grpSpPr>
          <a:xfrm>
            <a:off x="3138674" y="2341685"/>
            <a:ext cx="94010" cy="47005"/>
            <a:chOff x="6812560" y="3297172"/>
            <a:chExt cx="94010" cy="47005"/>
          </a:xfrm>
        </p:grpSpPr>
        <p:cxnSp>
          <p:nvCxnSpPr>
            <p:cNvPr id="157" name="직선 연결선 1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직선 연결선 1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6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3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196224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2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1383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5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9331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14760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5510" y="2536902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50668" y="2536902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213751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41" name="그룹 240"/>
          <p:cNvGrpSpPr/>
          <p:nvPr/>
        </p:nvGrpSpPr>
        <p:grpSpPr>
          <a:xfrm>
            <a:off x="6257515" y="2195010"/>
            <a:ext cx="94010" cy="47005"/>
            <a:chOff x="6812560" y="3297172"/>
            <a:chExt cx="94010" cy="47005"/>
          </a:xfrm>
        </p:grpSpPr>
        <p:cxnSp>
          <p:nvCxnSpPr>
            <p:cNvPr id="242" name="직선 연결선 2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3" name="직선 연결선 2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19171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235761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6" name="타원 245"/>
          <p:cNvSpPr/>
          <p:nvPr/>
        </p:nvSpPr>
        <p:spPr>
          <a:xfrm>
            <a:off x="6249717" y="1930795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타원 246"/>
          <p:cNvSpPr/>
          <p:nvPr/>
        </p:nvSpPr>
        <p:spPr>
          <a:xfrm>
            <a:off x="6249717" y="2372863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232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16264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106" name="그룹 10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7" name="직사각형 10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별도 등록 하도록 분리 제거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7550075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등록품목</a:t>
            </a:r>
            <a:r>
              <a:rPr lang="ko-KR" altLang="en-US" dirty="0"/>
              <a:t> 명세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</a:t>
            </a:r>
            <a:r>
              <a:rPr lang="en-US" altLang="ko-KR" dirty="0"/>
              <a:t>, </a:t>
            </a:r>
            <a:r>
              <a:rPr lang="ko-KR" altLang="en-US" dirty="0"/>
              <a:t>변경</a:t>
            </a:r>
            <a:r>
              <a:rPr lang="en-US" altLang="ko-KR" dirty="0"/>
              <a:t>, </a:t>
            </a:r>
            <a:r>
              <a:rPr lang="ko-KR" altLang="en-US" dirty="0"/>
              <a:t>삭제한 내역을 초기상태로 </a:t>
            </a:r>
            <a:r>
              <a:rPr lang="ko-KR" altLang="en-US" dirty="0" smtClean="0"/>
              <a:t>되돌림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토스트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초기화 되었습니다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명세 내역 중에서 </a:t>
            </a:r>
            <a:r>
              <a:rPr lang="ko-KR" altLang="en-US" dirty="0" smtClean="0"/>
              <a:t>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아래 목록에서 검색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 </a:t>
            </a:r>
            <a:r>
              <a:rPr lang="en-US" altLang="ko-KR" dirty="0"/>
              <a:t>: </a:t>
            </a:r>
            <a:r>
              <a:rPr lang="ko-KR" altLang="en-US" dirty="0"/>
              <a:t>등록대상 품목 선택 </a:t>
            </a:r>
            <a:r>
              <a:rPr lang="ko-KR" altLang="en-US" dirty="0" smtClean="0"/>
              <a:t>팝업 </a:t>
            </a:r>
            <a:r>
              <a:rPr lang="en-US" altLang="ko-KR" dirty="0"/>
              <a:t>MUI-CM-01-P08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삭제 </a:t>
            </a:r>
            <a:r>
              <a:rPr lang="en-US" altLang="ko-KR" dirty="0"/>
              <a:t>: </a:t>
            </a:r>
            <a:r>
              <a:rPr lang="ko-KR" altLang="en-US" dirty="0"/>
              <a:t>선택된 품목 삭제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갱신 </a:t>
            </a:r>
            <a:r>
              <a:rPr lang="en-US" altLang="ko-KR" dirty="0"/>
              <a:t>: </a:t>
            </a:r>
            <a:r>
              <a:rPr lang="ko-KR" altLang="en-US" dirty="0"/>
              <a:t>선택된 품목 만료 갱신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선택하여 갱신 시 </a:t>
            </a:r>
            <a:r>
              <a:rPr lang="en-US" altLang="ko-KR" dirty="0"/>
              <a:t>[</a:t>
            </a:r>
            <a:r>
              <a:rPr lang="ko-KR" altLang="en-US" dirty="0" err="1"/>
              <a:t>접수상태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ko-KR" altLang="en-US" dirty="0" err="1"/>
              <a:t>상태값</a:t>
            </a:r>
            <a:r>
              <a:rPr lang="ko-KR" altLang="en-US" dirty="0"/>
              <a:t> 임시 변경 </a:t>
            </a:r>
            <a:r>
              <a:rPr lang="en-US" altLang="ko-KR" dirty="0"/>
              <a:t>- </a:t>
            </a:r>
            <a:r>
              <a:rPr lang="ko-KR" altLang="en-US" dirty="0"/>
              <a:t>갱신 접수 신청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다음 페이지의 </a:t>
            </a:r>
            <a:r>
              <a:rPr lang="ko-KR" altLang="en-US" dirty="0" err="1"/>
              <a:t>설명글에</a:t>
            </a:r>
            <a:r>
              <a:rPr lang="ko-KR" altLang="en-US" dirty="0"/>
              <a:t> 해당 내용 존재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  o </a:t>
            </a:r>
            <a:r>
              <a:rPr lang="ko-KR" altLang="en-US" dirty="0"/>
              <a:t>만료되기 전 </a:t>
            </a:r>
            <a:r>
              <a:rPr lang="en-US" altLang="ko-KR" dirty="0"/>
              <a:t>90</a:t>
            </a:r>
            <a:r>
              <a:rPr lang="ko-KR" altLang="en-US" dirty="0"/>
              <a:t>일 이내 갱신 신청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  o </a:t>
            </a:r>
            <a:r>
              <a:rPr lang="ko-KR" altLang="en-US" dirty="0"/>
              <a:t>만료된 이후는 만료 품목 삭제 후 조달청 승인 이후에 별도 신규 추가 필요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삭제</a:t>
            </a:r>
            <a:r>
              <a:rPr lang="en-US" altLang="ko-KR" dirty="0"/>
              <a:t>, </a:t>
            </a:r>
            <a:r>
              <a:rPr lang="ko-KR" altLang="en-US" dirty="0"/>
              <a:t>선택 갱신을 위한 선택 </a:t>
            </a:r>
            <a:r>
              <a:rPr lang="ko-KR" altLang="en-US" dirty="0" smtClean="0"/>
              <a:t>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on/off </a:t>
            </a:r>
            <a:r>
              <a:rPr lang="ko-KR" altLang="en-US" dirty="0" err="1" smtClean="0"/>
              <a:t>토글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코드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품목 조회 </a:t>
            </a:r>
            <a:r>
              <a:rPr lang="ko-KR" altLang="en-US" dirty="0" smtClean="0">
                <a:latin typeface="+mn-ea"/>
              </a:rPr>
              <a:t>팝업 </a:t>
            </a:r>
            <a:r>
              <a:rPr lang="en-US" altLang="ko-KR" dirty="0">
                <a:latin typeface="+mn-ea"/>
              </a:rPr>
              <a:t>MUI-CM-01-P09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국내소재상사 정보 </a:t>
            </a:r>
            <a:r>
              <a:rPr lang="ko-KR" altLang="en-US" sz="800" dirty="0" err="1">
                <a:latin typeface="+mn-ea"/>
              </a:rPr>
              <a:t>추가등록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166" y="1903473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등록품목명세</a:t>
            </a:r>
          </a:p>
        </p:txBody>
      </p:sp>
      <p:grpSp>
        <p:nvGrpSpPr>
          <p:cNvPr id="125" name="그룹 124"/>
          <p:cNvGrpSpPr/>
          <p:nvPr/>
        </p:nvGrpSpPr>
        <p:grpSpPr>
          <a:xfrm flipV="1">
            <a:off x="3134253" y="2016804"/>
            <a:ext cx="94010" cy="47005"/>
            <a:chOff x="6812560" y="3297172"/>
            <a:chExt cx="94010" cy="47005"/>
          </a:xfrm>
        </p:grpSpPr>
        <p:cxnSp>
          <p:nvCxnSpPr>
            <p:cNvPr id="137" name="직선 연결선 13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직선 연결선 13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723300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4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925428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2109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8502" y="2614195"/>
            <a:ext cx="261547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회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등록품목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신청은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30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개 이내로 신청해주시기 바랍니다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253" name="모서리가 둥근 직사각형 252"/>
          <p:cNvSpPr/>
          <p:nvPr/>
        </p:nvSpPr>
        <p:spPr>
          <a:xfrm>
            <a:off x="1423023" y="2253441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검색 코드를 입력해주세요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21" y="232175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품목 코드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255" name="타원 254"/>
          <p:cNvSpPr/>
          <p:nvPr/>
        </p:nvSpPr>
        <p:spPr>
          <a:xfrm>
            <a:off x="3091939" y="230267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5310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그룹 14"/>
          <p:cNvGrpSpPr/>
          <p:nvPr/>
        </p:nvGrpSpPr>
        <p:grpSpPr>
          <a:xfrm>
            <a:off x="711195" y="2937990"/>
            <a:ext cx="2630093" cy="2684352"/>
            <a:chOff x="3836701" y="2666788"/>
            <a:chExt cx="2630093" cy="2684352"/>
          </a:xfrm>
        </p:grpSpPr>
        <p:sp>
          <p:nvSpPr>
            <p:cNvPr id="126" name="직사각형 125"/>
            <p:cNvSpPr/>
            <p:nvPr/>
          </p:nvSpPr>
          <p:spPr>
            <a:xfrm>
              <a:off x="3838794" y="2981260"/>
              <a:ext cx="792000" cy="23698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981260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981260"/>
              <a:ext cx="71588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승인일자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만료일자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갱신요청일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981260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소시지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123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260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3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8346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0483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620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851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7" y="3019186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44008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신규 추가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394565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 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2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933880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 갱신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965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91030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" name="직선 연결선 2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1240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3470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7" y="3238219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9046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적격상태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466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전체</a:t>
            </a:r>
          </a:p>
        </p:txBody>
      </p:sp>
      <p:grpSp>
        <p:nvGrpSpPr>
          <p:cNvPr id="207" name="그룹 206"/>
          <p:cNvGrpSpPr/>
          <p:nvPr/>
        </p:nvGrpSpPr>
        <p:grpSpPr>
          <a:xfrm>
            <a:off x="3143548" y="2992289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49865" y="1966849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초기화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8005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2913383" y="2312615"/>
            <a:ext cx="126000" cy="126000"/>
            <a:chOff x="2913383" y="2291727"/>
            <a:chExt cx="145884" cy="145882"/>
          </a:xfrm>
        </p:grpSpPr>
        <p:sp>
          <p:nvSpPr>
            <p:cNvPr id="226" name="타원 225"/>
            <p:cNvSpPr/>
            <p:nvPr/>
          </p:nvSpPr>
          <p:spPr>
            <a:xfrm>
              <a:off x="2913383" y="2291727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7" name="그룹 226"/>
            <p:cNvGrpSpPr/>
            <p:nvPr/>
          </p:nvGrpSpPr>
          <p:grpSpPr>
            <a:xfrm>
              <a:off x="2957288" y="2335631"/>
              <a:ext cx="58075" cy="58074"/>
              <a:chOff x="6812560" y="3297172"/>
              <a:chExt cx="94010" cy="94010"/>
            </a:xfrm>
          </p:grpSpPr>
          <p:cxnSp>
            <p:nvCxnSpPr>
              <p:cNvPr id="228" name="직선 연결선 22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직선 연결선 22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그룹 5"/>
          <p:cNvGrpSpPr/>
          <p:nvPr/>
        </p:nvGrpSpPr>
        <p:grpSpPr>
          <a:xfrm>
            <a:off x="3823529" y="1568325"/>
            <a:ext cx="2630093" cy="2369880"/>
            <a:chOff x="3823529" y="2016849"/>
            <a:chExt cx="2630093" cy="2369880"/>
          </a:xfrm>
        </p:grpSpPr>
        <p:sp>
          <p:nvSpPr>
            <p:cNvPr id="271" name="직사각형 270"/>
            <p:cNvSpPr/>
            <p:nvPr/>
          </p:nvSpPr>
          <p:spPr>
            <a:xfrm>
              <a:off x="3825622" y="2016849"/>
              <a:ext cx="792000" cy="23698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3529" y="201684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2686" y="2016849"/>
              <a:ext cx="71588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승인일자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만료일자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갱신요청일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69534" y="2016849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2222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소시지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2479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461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67536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8702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083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4" name="직선 연결선 2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29766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5207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59275" y="205477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7321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9458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2" name="직선 연결선 2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415960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43826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59275" y="2280152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37" name="타원 3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690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54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48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45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2410716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기본 </a:t>
            </a:r>
            <a:r>
              <a:rPr lang="ko-KR" altLang="en-US" dirty="0" smtClean="0"/>
              <a:t>닫힘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조회 동의 </a:t>
            </a:r>
            <a:r>
              <a:rPr lang="ko-KR" altLang="en-US" dirty="0" smtClean="0"/>
              <a:t>체크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행정정보공동이용 </a:t>
            </a:r>
            <a:r>
              <a:rPr lang="ko-KR" altLang="en-US" dirty="0" err="1"/>
              <a:t>사전동의서</a:t>
            </a:r>
            <a:r>
              <a:rPr lang="ko-KR" altLang="en-US" dirty="0"/>
              <a:t> 호출 </a:t>
            </a:r>
            <a:r>
              <a:rPr lang="en-US" altLang="ko-KR" dirty="0" smtClean="0"/>
              <a:t>MUI-CM-01-P13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미체크한</a:t>
            </a:r>
            <a:r>
              <a:rPr lang="ko-KR" altLang="en-US" dirty="0"/>
              <a:t> 상태로 등록 신청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모달</a:t>
            </a:r>
            <a:r>
              <a:rPr lang="ko-KR" altLang="en-US" dirty="0"/>
              <a:t> 확인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메시지 </a:t>
            </a:r>
            <a:r>
              <a:rPr lang="en-US" altLang="ko-KR" dirty="0"/>
              <a:t>: </a:t>
            </a:r>
            <a:r>
              <a:rPr lang="ko-KR" altLang="en-US" dirty="0"/>
              <a:t>동의여부에 체크하지 않는 경우 오프라인으로 서류를 제출하셔야 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그대로 신청</a:t>
            </a:r>
            <a:r>
              <a:rPr lang="en-US" altLang="ko-KR" dirty="0"/>
              <a:t>, </a:t>
            </a:r>
            <a:r>
              <a:rPr lang="ko-KR" altLang="en-US" dirty="0"/>
              <a:t>닫기 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그대로 신청 시 다음 </a:t>
            </a:r>
            <a:r>
              <a:rPr lang="ko-KR" altLang="en-US" dirty="0" smtClean="0"/>
              <a:t>프로세스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기본 닫힘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740592" y="1919057"/>
            <a:ext cx="2543426" cy="4002058"/>
          </a:xfrm>
          <a:prstGeom prst="roundRect">
            <a:avLst>
              <a:gd name="adj" fmla="val 382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43672" y="1980876"/>
            <a:ext cx="2154318" cy="38779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유의사항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등록하시려는 품목이 상단에 이미 등록되어진 상태라면 별도로 추가하실 필요가 없습니다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신규 품목은 우측의 추가 버튼을 이용해 리스트에 추가 후 접수해 주시면 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삭제</a:t>
            </a:r>
            <a:r>
              <a:rPr lang="en-US" altLang="ko-KR" sz="700" dirty="0">
                <a:latin typeface="Consolas" panose="020B0609020204030204" pitchFamily="49" charset="0"/>
              </a:rPr>
              <a:t>,</a:t>
            </a:r>
            <a:r>
              <a:rPr lang="ko-KR" altLang="en-US" sz="700" dirty="0">
                <a:latin typeface="Consolas" panose="020B0609020204030204" pitchFamily="49" charset="0"/>
              </a:rPr>
              <a:t>갱신이 필요한 경우에는 선택에 체크 후 우측의 해당업무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삭제 혹은 갱신</a:t>
            </a:r>
            <a:r>
              <a:rPr lang="en-US" altLang="ko-KR" sz="700" dirty="0">
                <a:latin typeface="Consolas" panose="020B0609020204030204" pitchFamily="49" charset="0"/>
              </a:rPr>
              <a:t>) </a:t>
            </a:r>
            <a:r>
              <a:rPr lang="ko-KR" altLang="en-US" sz="700" dirty="0">
                <a:latin typeface="Consolas" panose="020B0609020204030204" pitchFamily="49" charset="0"/>
              </a:rPr>
              <a:t>버튼을 꼭 클릭하신 후 접수해 주시기 바랍니다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부적격 품목을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하실 경우는 먼저 해당 품목을 삭제하신 후 저장하시고 조달담당자의 승인을 받으신 다음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좌측메뉴 중 </a:t>
            </a:r>
            <a:r>
              <a:rPr lang="ko-KR" altLang="en-US" sz="700" dirty="0" err="1">
                <a:latin typeface="Consolas" panose="020B0609020204030204" pitchFamily="49" charset="0"/>
              </a:rPr>
              <a:t>등록품목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ko-KR" altLang="en-US" sz="700" dirty="0" err="1">
                <a:latin typeface="Consolas" panose="020B0609020204030204" pitchFamily="49" charset="0"/>
              </a:rPr>
              <a:t>신청조회</a:t>
            </a:r>
            <a:r>
              <a:rPr lang="ko-KR" altLang="en-US" sz="700" dirty="0">
                <a:latin typeface="Consolas" panose="020B0609020204030204" pitchFamily="49" charset="0"/>
              </a:rPr>
              <a:t> 코너에서 </a:t>
            </a:r>
            <a:r>
              <a:rPr lang="ko-KR" altLang="en-US" sz="700" dirty="0" err="1">
                <a:latin typeface="Consolas" panose="020B0609020204030204" pitchFamily="49" charset="0"/>
              </a:rPr>
              <a:t>품목삭제</a:t>
            </a:r>
            <a:r>
              <a:rPr lang="ko-KR" altLang="en-US" sz="700" dirty="0">
                <a:latin typeface="Consolas" panose="020B0609020204030204" pitchFamily="49" charset="0"/>
              </a:rPr>
              <a:t> 신청서의 </a:t>
            </a:r>
            <a:r>
              <a:rPr lang="ko-KR" altLang="en-US" sz="700" dirty="0" err="1">
                <a:latin typeface="Consolas" panose="020B0609020204030204" pitchFamily="49" charset="0"/>
              </a:rPr>
              <a:t>진행상태가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[</a:t>
            </a:r>
            <a:r>
              <a:rPr lang="ko-KR" altLang="en-US" sz="700" dirty="0">
                <a:latin typeface="Consolas" panose="020B0609020204030204" pitchFamily="49" charset="0"/>
              </a:rPr>
              <a:t>승인</a:t>
            </a:r>
            <a:r>
              <a:rPr lang="en-US" altLang="ko-KR" sz="700" dirty="0">
                <a:latin typeface="Consolas" panose="020B0609020204030204" pitchFamily="49" charset="0"/>
              </a:rPr>
              <a:t>]</a:t>
            </a:r>
            <a:r>
              <a:rPr lang="ko-KR" altLang="en-US" sz="700" dirty="0">
                <a:latin typeface="Consolas" panose="020B0609020204030204" pitchFamily="49" charset="0"/>
              </a:rPr>
              <a:t>으로 확정된 후에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만료된 품목을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하실 경우는 먼저 해당 품목을 삭제하신 후 저장하시고 조달담당자의 승인을 받으신 다음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좌측메뉴 중 추가정보신청조회 코너에서 </a:t>
            </a:r>
            <a:r>
              <a:rPr lang="ko-KR" altLang="en-US" sz="700" dirty="0" err="1">
                <a:latin typeface="Consolas" panose="020B0609020204030204" pitchFamily="49" charset="0"/>
              </a:rPr>
              <a:t>품목삭제</a:t>
            </a:r>
            <a:r>
              <a:rPr lang="ko-KR" altLang="en-US" sz="700" dirty="0">
                <a:latin typeface="Consolas" panose="020B0609020204030204" pitchFamily="49" charset="0"/>
              </a:rPr>
              <a:t> 신청서의 </a:t>
            </a:r>
            <a:r>
              <a:rPr lang="ko-KR" altLang="en-US" sz="700" dirty="0" err="1">
                <a:latin typeface="Consolas" panose="020B0609020204030204" pitchFamily="49" charset="0"/>
              </a:rPr>
              <a:t>진행상태가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[</a:t>
            </a:r>
            <a:r>
              <a:rPr lang="ko-KR" altLang="en-US" sz="700" dirty="0">
                <a:latin typeface="Consolas" panose="020B0609020204030204" pitchFamily="49" charset="0"/>
              </a:rPr>
              <a:t>승인</a:t>
            </a:r>
            <a:r>
              <a:rPr lang="en-US" altLang="ko-KR" sz="700" dirty="0">
                <a:latin typeface="Consolas" panose="020B0609020204030204" pitchFamily="49" charset="0"/>
              </a:rPr>
              <a:t>]</a:t>
            </a:r>
            <a:r>
              <a:rPr lang="ko-KR" altLang="en-US" sz="700" dirty="0">
                <a:latin typeface="Consolas" panose="020B0609020204030204" pitchFamily="49" charset="0"/>
              </a:rPr>
              <a:t>으로 확정된 후에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2016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년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11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월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30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일까지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유예기간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는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만료일자와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상관없이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갱신신청이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가능합니다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갱신은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만료전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90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일부터 가능하며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만료된 건은 삭제 후 추가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신규신청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해 주시기 바랍니다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endParaRPr lang="ko-KR" altLang="en-US" sz="700" b="1" dirty="0">
              <a:solidFill>
                <a:srgbClr val="FF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9" name="타원 298"/>
          <p:cNvSpPr/>
          <p:nvPr/>
        </p:nvSpPr>
        <p:spPr>
          <a:xfrm>
            <a:off x="813731" y="1985612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5" name="직사각형 23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3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3" name="모서리가 둥근 직사각형 102"/>
          <p:cNvSpPr/>
          <p:nvPr/>
        </p:nvSpPr>
        <p:spPr>
          <a:xfrm>
            <a:off x="3880034" y="2372951"/>
            <a:ext cx="2543426" cy="2071729"/>
          </a:xfrm>
          <a:prstGeom prst="roundRect">
            <a:avLst>
              <a:gd name="adj" fmla="val 245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2434770"/>
            <a:ext cx="215431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 err="1">
                <a:latin typeface="Consolas" panose="020B0609020204030204" pitchFamily="49" charset="0"/>
              </a:rPr>
              <a:t>내자업체</a:t>
            </a:r>
            <a:r>
              <a:rPr lang="ko-KR" altLang="en-US" sz="700" b="1" dirty="0">
                <a:latin typeface="Consolas" panose="020B0609020204030204" pitchFamily="49" charset="0"/>
              </a:rPr>
              <a:t> 제출서류 안내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전화</a:t>
            </a:r>
            <a:r>
              <a:rPr lang="en-US" altLang="ko-KR" sz="700" dirty="0">
                <a:latin typeface="Consolas" panose="020B0609020204030204" pitchFamily="49" charset="0"/>
              </a:rPr>
              <a:t>) 02-2079-6915,6925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팩스번호</a:t>
            </a:r>
            <a:r>
              <a:rPr lang="en-US" altLang="ko-KR" sz="700" dirty="0">
                <a:latin typeface="Consolas" panose="020B0609020204030204" pitchFamily="49" charset="0"/>
              </a:rPr>
              <a:t>) 02-773-7587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700" dirty="0">
              <a:latin typeface="Consolas" panose="020B0609020204030204" pitchFamily="49" charset="0"/>
            </a:endParaRPr>
          </a:p>
          <a:p>
            <a:pPr marL="179388" indent="-179388">
              <a:lnSpc>
                <a:spcPct val="150000"/>
              </a:lnSpc>
              <a:buFont typeface="+mj-lt"/>
              <a:buAutoNum type="arabicPeriod"/>
            </a:pPr>
            <a:r>
              <a:rPr lang="ko-KR" altLang="en-US" sz="700" b="1" dirty="0">
                <a:latin typeface="Consolas" panose="020B0609020204030204" pitchFamily="49" charset="0"/>
              </a:rPr>
              <a:t>공장등록증명서 또는 사업자등록증명원 조회 동의여부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동의여부에 체크하지 않는 경우 오프라인으로 서류를 제출하셔야 합니다</a:t>
            </a:r>
            <a:r>
              <a:rPr lang="en-US" altLang="ko-KR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  <a:p>
            <a:pPr marL="179388" indent="-179388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700" b="1" dirty="0">
                <a:latin typeface="맑은 고딕" panose="020B0503020000020004" pitchFamily="50" charset="-127"/>
              </a:rPr>
              <a:t>인</a:t>
            </a:r>
            <a:r>
              <a:rPr lang="en-US" altLang="ko-KR" sz="700" b="1" dirty="0">
                <a:latin typeface="맑은 고딕" panose="020B0503020000020004" pitchFamily="50" charset="-127"/>
              </a:rPr>
              <a:t>,</a:t>
            </a:r>
            <a:r>
              <a:rPr lang="ko-KR" altLang="en-US" sz="700" b="1" dirty="0">
                <a:latin typeface="맑은 고딕" panose="020B0503020000020004" pitchFamily="50" charset="-127"/>
              </a:rPr>
              <a:t>허가증 사본 </a:t>
            </a:r>
            <a:r>
              <a:rPr lang="en-US" altLang="ko-KR" sz="700" b="1" dirty="0">
                <a:latin typeface="맑은 고딕" panose="020B0503020000020004" pitchFamily="50" charset="-127"/>
              </a:rPr>
              <a:t>- 1</a:t>
            </a:r>
            <a:r>
              <a:rPr lang="ko-KR" altLang="en-US" sz="700" b="1" dirty="0">
                <a:latin typeface="맑은 고딕" panose="020B0503020000020004" pitchFamily="50" charset="-127"/>
              </a:rPr>
              <a:t>부 </a:t>
            </a:r>
            <a:r>
              <a:rPr lang="en-US" altLang="ko-KR" sz="700" b="1" dirty="0">
                <a:latin typeface="맑은 고딕" panose="020B0503020000020004" pitchFamily="50" charset="-127"/>
              </a:rPr>
              <a:t>(</a:t>
            </a:r>
            <a:r>
              <a:rPr lang="ko-KR" altLang="en-US" sz="700" b="1" dirty="0">
                <a:latin typeface="맑은 고딕" panose="020B0503020000020004" pitchFamily="50" charset="-127"/>
              </a:rPr>
              <a:t>해당품목 제출</a:t>
            </a:r>
            <a:r>
              <a:rPr lang="en-US" altLang="ko-KR" sz="700" b="1" dirty="0">
                <a:latin typeface="맑은 고딕" panose="020B0503020000020004" pitchFamily="50" charset="-127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해당 공무원이 </a:t>
            </a:r>
            <a:r>
              <a:rPr lang="ko-KR" altLang="en-US" sz="700" b="1" dirty="0" err="1">
                <a:solidFill>
                  <a:srgbClr val="0070C0"/>
                </a:solidFill>
                <a:latin typeface="맑은 고딕" panose="020B0503020000020004" pitchFamily="50" charset="-127"/>
              </a:rPr>
              <a:t>행정정보공동이용센터</a:t>
            </a:r>
            <a:r>
              <a:rPr lang="en-US" altLang="ko-KR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(www.share.go.kr)</a:t>
            </a:r>
            <a:r>
              <a:rPr lang="ko-KR" altLang="en-US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에서 직접 조회가 가능한 업체는 별도 제출 불필요</a:t>
            </a:r>
          </a:p>
        </p:txBody>
      </p:sp>
      <p:sp>
        <p:nvSpPr>
          <p:cNvPr id="105" name="타원 104"/>
          <p:cNvSpPr/>
          <p:nvPr/>
        </p:nvSpPr>
        <p:spPr>
          <a:xfrm>
            <a:off x="3953173" y="243950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6" name="그룹 105"/>
          <p:cNvGrpSpPr/>
          <p:nvPr/>
        </p:nvGrpSpPr>
        <p:grpSpPr>
          <a:xfrm flipV="1">
            <a:off x="6259047" y="2509984"/>
            <a:ext cx="94010" cy="47005"/>
            <a:chOff x="6812560" y="3297172"/>
            <a:chExt cx="94010" cy="47005"/>
          </a:xfrm>
        </p:grpSpPr>
        <p:cxnSp>
          <p:nvCxnSpPr>
            <p:cNvPr id="107" name="직선 연결선 10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직선 연결선 10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" name="그룹 108"/>
          <p:cNvGrpSpPr/>
          <p:nvPr/>
        </p:nvGrpSpPr>
        <p:grpSpPr>
          <a:xfrm flipV="1">
            <a:off x="3091512" y="2056090"/>
            <a:ext cx="94010" cy="47005"/>
            <a:chOff x="6812560" y="3297172"/>
            <a:chExt cx="94010" cy="47005"/>
          </a:xfrm>
        </p:grpSpPr>
        <p:cxnSp>
          <p:nvCxnSpPr>
            <p:cNvPr id="110" name="직선 연결선 10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직선 연결선 11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888037" y="1899559"/>
            <a:ext cx="2522014" cy="342712"/>
            <a:chOff x="3888037" y="3794514"/>
            <a:chExt cx="2522014" cy="342712"/>
          </a:xfrm>
        </p:grpSpPr>
        <p:sp>
          <p:nvSpPr>
            <p:cNvPr id="1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1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1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842760"/>
              <a:ext cx="1304844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공장등록증명서 또는</a:t>
              </a:r>
              <a:endParaRPr lang="en-US" altLang="ko-KR" sz="800" dirty="0">
                <a:latin typeface="맑은 고딕" panose="020B0503020000020004" pitchFamily="50" charset="-127"/>
              </a:endParaRPr>
            </a:p>
            <a:p>
              <a:r>
                <a:rPr lang="ko-KR" altLang="en-US" sz="800" dirty="0">
                  <a:latin typeface="맑은 고딕" panose="020B0503020000020004" pitchFamily="50" charset="-127"/>
                </a:rPr>
                <a:t>사업자등록증명원 조회 동의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116" name="타원 115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3546" y="1573405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120" name="그룹 119"/>
          <p:cNvGrpSpPr/>
          <p:nvPr/>
        </p:nvGrpSpPr>
        <p:grpSpPr>
          <a:xfrm flipV="1">
            <a:off x="6255634" y="1686736"/>
            <a:ext cx="94010" cy="47005"/>
            <a:chOff x="6812560" y="3297172"/>
            <a:chExt cx="94010" cy="47005"/>
          </a:xfrm>
        </p:grpSpPr>
        <p:cxnSp>
          <p:nvCxnSpPr>
            <p:cNvPr id="143" name="직선 연결선 1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7011" y="16083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7011" y="245533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11641344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28252" y="811137"/>
            <a:ext cx="31087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dm_regTrgtItemSearchInfo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1022340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28252" y="3183315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340175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CBA9035-2FE4-43FC-851D-ACB8514226FD}"/>
              </a:ext>
            </a:extLst>
          </p:cNvPr>
          <p:cNvSpPr txBox="1"/>
          <p:nvPr/>
        </p:nvSpPr>
        <p:spPr>
          <a:xfrm>
            <a:off x="428252" y="4481928"/>
            <a:ext cx="364098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dm_knditmListAsctGrpList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6D32D8-6D11-9959-CAB9-BEFE1941BB67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4694428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단체명이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0C5FB957-A45F-4B4F-2640-D8567226C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AA4D52-15F1-C1B7-19DD-B51414D0715F}"/>
              </a:ext>
            </a:extLst>
          </p:cNvPr>
          <p:cNvSpPr txBox="1"/>
          <p:nvPr/>
        </p:nvSpPr>
        <p:spPr>
          <a:xfrm>
            <a:off x="428252" y="1569936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C694037-F3B9-2054-5F07-92A12737A99B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1794312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압력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051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350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380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398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56553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78400772-3B60-9124-A735-5290802322DE}"/>
              </a:ext>
            </a:extLst>
          </p:cNvPr>
          <p:cNvSpPr txBox="1"/>
          <p:nvPr/>
        </p:nvSpPr>
        <p:spPr>
          <a:xfrm>
            <a:off x="500368" y="863475"/>
            <a:ext cx="27545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303F721-3421-5776-2FB7-04CBF1253BEC}"/>
              </a:ext>
            </a:extLst>
          </p:cNvPr>
          <p:cNvGraphicFramePr>
            <a:graphicFrameLocks noGrp="1"/>
          </p:cNvGraphicFramePr>
          <p:nvPr/>
        </p:nvGraphicFramePr>
        <p:xfrm>
          <a:off x="500368" y="1091804"/>
          <a:ext cx="883572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itemRgstrtSecdNm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(`’1’) 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 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(‘3’)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itemRvwRsltYn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6869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2911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rgstrtItemDelYmd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408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갱싱요청일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lastChgYmd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갱싱요청일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461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rcptStts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674162"/>
                  </a:ext>
                </a:extLst>
              </a:tr>
            </a:tbl>
          </a:graphicData>
        </a:graphic>
      </p:graphicFrame>
      <p:sp>
        <p:nvSpPr>
          <p:cNvPr id="20" name="슬라이드 번호 개체 틀 2">
            <a:extLst>
              <a:ext uri="{FF2B5EF4-FFF2-40B4-BE49-F238E27FC236}">
                <a16:creationId xmlns:a16="http://schemas.microsoft.com/office/drawing/2014/main" id="{B8A40E36-9474-F1DA-5DF3-B847F71AE8C8}"/>
              </a:ext>
            </a:extLst>
          </p:cNvPr>
          <p:cNvSpPr txBox="1">
            <a:spLocks/>
          </p:cNvSpPr>
          <p:nvPr/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DF8E3FD-B4FB-473B-BCAD-C4534B9A9D97}" type="slidenum">
              <a:rPr lang="ko-KR" altLang="en-US" smtClean="0"/>
              <a:pPr/>
              <a:t>158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E873DA-3FA4-E42A-8661-789027343A34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3" name="Text Box 73">
            <a:extLst>
              <a:ext uri="{FF2B5EF4-FFF2-40B4-BE49-F238E27FC236}">
                <a16:creationId xmlns:a16="http://schemas.microsoft.com/office/drawing/2014/main" id="{91366235-70F1-95B2-0D00-97A6E64603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2594219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슬라이드 번호 개체 틀 2">
            <a:extLst>
              <a:ext uri="{FF2B5EF4-FFF2-40B4-BE49-F238E27FC236}">
                <a16:creationId xmlns:a16="http://schemas.microsoft.com/office/drawing/2014/main" id="{B8A40E36-9474-F1DA-5DF3-B847F71AE8C8}"/>
              </a:ext>
            </a:extLst>
          </p:cNvPr>
          <p:cNvSpPr txBox="1">
            <a:spLocks/>
          </p:cNvSpPr>
          <p:nvPr/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DF8E3FD-B4FB-473B-BCAD-C4534B9A9D97}" type="slidenum">
              <a:rPr lang="ko-KR" altLang="en-US" smtClean="0"/>
              <a:pPr/>
              <a:t>159</a:t>
            </a:fld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B819BD-609A-92E3-FF98-CA2AAE2373C2}"/>
              </a:ext>
            </a:extLst>
          </p:cNvPr>
          <p:cNvSpPr txBox="1"/>
          <p:nvPr/>
        </p:nvSpPr>
        <p:spPr>
          <a:xfrm>
            <a:off x="528410" y="61805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1E0B8B68-4462-5720-2F41-CE4CD6091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79505"/>
              </p:ext>
            </p:extLst>
          </p:nvPr>
        </p:nvGraphicFramePr>
        <p:xfrm>
          <a:off x="523292" y="854685"/>
          <a:ext cx="8995591" cy="3230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업체일반 정보와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담당자 정보 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담당자정보를 변경한다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승인없이 반영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대표품류</a:t>
                      </a:r>
                      <a:r>
                        <a:rPr lang="ko-KR" altLang="en-US" sz="800" dirty="0"/>
                        <a:t>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scwin.btn_rprsKnditmSrch_onclick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UI-CM-01-P10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조합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단체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scwin.btn_asctGrpSrch_onclick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품목 코드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등록품목명세 목록을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4500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신규 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추가를 위한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60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목록에서 선택한 등록품목명세를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114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갱신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scwin.btn_regTrgtItemUpdt_onclick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목록에서 선택한 등록품목명세를 갱신 요청한다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9141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등록품목명세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품목코드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scwin.grd_regTrgtItemList_oncellclick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조회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306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행정정보공동이용 사전동의서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584524"/>
                  </a:ext>
                </a:extLst>
              </a:tr>
            </a:tbl>
          </a:graphicData>
        </a:graphic>
      </p:graphicFrame>
      <p:sp>
        <p:nvSpPr>
          <p:cNvPr id="3" name="Text Box 73">
            <a:extLst>
              <a:ext uri="{FF2B5EF4-FFF2-40B4-BE49-F238E27FC236}">
                <a16:creationId xmlns:a16="http://schemas.microsoft.com/office/drawing/2014/main" id="{D81CD3F1-A5D8-37E1-591B-2AC7425F1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41117" y="73693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7644609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 </a:t>
            </a:r>
            <a:r>
              <a:rPr lang="ko-KR" altLang="en-US" dirty="0" smtClean="0"/>
              <a:t>등록 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개별 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보안측정인원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</a:t>
            </a:r>
            <a:r>
              <a:rPr lang="en-US" altLang="ko-KR" dirty="0"/>
              <a:t>: </a:t>
            </a:r>
            <a:r>
              <a:rPr lang="ko-KR" altLang="en-US" dirty="0"/>
              <a:t>입력된 내역을 </a:t>
            </a:r>
            <a:r>
              <a:rPr lang="ko-KR" altLang="en-US" dirty="0" err="1"/>
              <a:t>최초상태로</a:t>
            </a:r>
            <a:r>
              <a:rPr lang="ko-KR" altLang="en-US" dirty="0"/>
              <a:t> 되돌림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 </a:t>
            </a:r>
            <a:r>
              <a:rPr lang="en-US" altLang="ko-KR" dirty="0"/>
              <a:t>: </a:t>
            </a:r>
            <a:r>
              <a:rPr lang="ko-KR" altLang="en-US" dirty="0"/>
              <a:t>보안측정인원 등록 </a:t>
            </a:r>
            <a:r>
              <a:rPr lang="ko-KR" altLang="en-US" dirty="0" smtClean="0"/>
              <a:t>팝업 </a:t>
            </a:r>
            <a:r>
              <a:rPr lang="en-US" altLang="ko-KR" dirty="0"/>
              <a:t>MUI-CM-01-P10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삭제 </a:t>
            </a:r>
            <a:r>
              <a:rPr lang="en-US" altLang="ko-KR" dirty="0"/>
              <a:t>: </a:t>
            </a:r>
            <a:r>
              <a:rPr lang="ko-KR" altLang="en-US" dirty="0"/>
              <a:t>선택된 항목 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파일 뷰어 솔루션 호출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MUI-CM-01-M23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1940035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40473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39879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타원 214"/>
          <p:cNvSpPr/>
          <p:nvPr/>
        </p:nvSpPr>
        <p:spPr>
          <a:xfrm>
            <a:off x="1597442" y="2756102"/>
            <a:ext cx="90000" cy="9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/>
          <p:cNvSpPr/>
          <p:nvPr/>
        </p:nvSpPr>
        <p:spPr>
          <a:xfrm>
            <a:off x="2348738" y="2756102"/>
            <a:ext cx="90000" cy="9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46956" y="2747241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여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6466" y="2747241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부</a:t>
            </a:r>
          </a:p>
        </p:txBody>
      </p:sp>
      <p:sp>
        <p:nvSpPr>
          <p:cNvPr id="1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28201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56" name="그룹 155"/>
          <p:cNvGrpSpPr/>
          <p:nvPr/>
        </p:nvGrpSpPr>
        <p:grpSpPr>
          <a:xfrm>
            <a:off x="3138674" y="2339517"/>
            <a:ext cx="94010" cy="47005"/>
            <a:chOff x="6812560" y="3297172"/>
            <a:chExt cx="94010" cy="47005"/>
          </a:xfrm>
        </p:grpSpPr>
        <p:cxnSp>
          <p:nvCxnSpPr>
            <p:cNvPr id="157" name="직선 연결선 1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직선 연결선 1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6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3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196224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2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1383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5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93097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1454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5510" y="2534734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50668" y="2534734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16449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65" name="그룹 264"/>
          <p:cNvGrpSpPr/>
          <p:nvPr/>
        </p:nvGrpSpPr>
        <p:grpSpPr>
          <a:xfrm>
            <a:off x="720490" y="3447830"/>
            <a:ext cx="2630093" cy="2261591"/>
            <a:chOff x="720490" y="2967388"/>
            <a:chExt cx="2630093" cy="2261591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</a:t>
              </a:r>
            </a:p>
          </p:txBody>
        </p:sp>
        <p:grpSp>
          <p:nvGrpSpPr>
            <p:cNvPr id="267" name="그룹 26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86" name="직선 연결선 28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7" name="직선 연결선 28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8" name="직사각형 267"/>
            <p:cNvSpPr/>
            <p:nvPr/>
          </p:nvSpPr>
          <p:spPr>
            <a:xfrm>
              <a:off x="722583" y="3274873"/>
              <a:ext cx="792000" cy="19541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9" name="직선 연결선 2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6" y="3274873"/>
              <a:ext cx="877795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사업등록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취급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종목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보안측정결과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 err="1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 err="1">
                <a:latin typeface="+mn-ea"/>
              </a:endParaRPr>
            </a:p>
          </p:txBody>
        </p: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3" name="직선 연결선 2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4" name="직선 연결선 2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358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736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8733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8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289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9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65271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1" name="그룹 290"/>
          <p:cNvGrpSpPr/>
          <p:nvPr/>
        </p:nvGrpSpPr>
        <p:grpSpPr>
          <a:xfrm>
            <a:off x="3138674" y="4710211"/>
            <a:ext cx="94010" cy="47005"/>
            <a:chOff x="6812560" y="3297172"/>
            <a:chExt cx="94010" cy="47005"/>
          </a:xfrm>
        </p:grpSpPr>
        <p:cxnSp>
          <p:nvCxnSpPr>
            <p:cNvPr id="292" name="직선 연결선 2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직선 연결선 2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50679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5" name="그룹 294"/>
          <p:cNvGrpSpPr/>
          <p:nvPr/>
        </p:nvGrpSpPr>
        <p:grpSpPr>
          <a:xfrm>
            <a:off x="3138674" y="5564290"/>
            <a:ext cx="94010" cy="47005"/>
            <a:chOff x="6812560" y="3297172"/>
            <a:chExt cx="94010" cy="47005"/>
          </a:xfrm>
        </p:grpSpPr>
        <p:cxnSp>
          <p:nvCxnSpPr>
            <p:cNvPr id="296" name="직선 연결선 29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직선 연결선 29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791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9" name="모서리가 둥근 직사각형 298"/>
          <p:cNvSpPr/>
          <p:nvPr/>
        </p:nvSpPr>
        <p:spPr>
          <a:xfrm>
            <a:off x="1558562" y="3503354"/>
            <a:ext cx="920382" cy="149124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2700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00" name="모서리가 둥근 직사각형 299"/>
          <p:cNvSpPr/>
          <p:nvPr/>
        </p:nvSpPr>
        <p:spPr>
          <a:xfrm>
            <a:off x="1558563" y="3503354"/>
            <a:ext cx="462756" cy="149124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800" kern="0">
              <a:solidFill>
                <a:prstClr val="white"/>
              </a:solidFill>
              <a:latin typeface="맑은 고딕"/>
            </a:endParaRP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94333" y="3529894"/>
            <a:ext cx="38880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법인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57089" y="3529894"/>
            <a:ext cx="3631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개인</a:t>
            </a:r>
          </a:p>
        </p:txBody>
      </p:sp>
      <p:sp>
        <p:nvSpPr>
          <p:cNvPr id="30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22618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4359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8622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0795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01526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2892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</a:rPr>
              <a:t>dd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09" name="그림 30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10" y="4027628"/>
            <a:ext cx="134873" cy="137278"/>
          </a:xfrm>
          <a:prstGeom prst="rect">
            <a:avLst/>
          </a:prstGeom>
        </p:spPr>
      </p:pic>
      <p:pic>
        <p:nvPicPr>
          <p:cNvPr id="310" name="그림 30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10" y="5301615"/>
            <a:ext cx="134873" cy="137278"/>
          </a:xfrm>
          <a:prstGeom prst="rect">
            <a:avLst/>
          </a:prstGeom>
        </p:spPr>
      </p:pic>
      <p:sp>
        <p:nvSpPr>
          <p:cNvPr id="313" name="TextBox 3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1" y="1596718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314" name="그룹 313"/>
          <p:cNvGrpSpPr/>
          <p:nvPr/>
        </p:nvGrpSpPr>
        <p:grpSpPr>
          <a:xfrm flipV="1">
            <a:off x="6259758" y="1710049"/>
            <a:ext cx="94010" cy="47005"/>
            <a:chOff x="6812560" y="3297172"/>
            <a:chExt cx="94010" cy="47005"/>
          </a:xfrm>
        </p:grpSpPr>
        <p:cxnSp>
          <p:nvCxnSpPr>
            <p:cNvPr id="315" name="직선 연결선 31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직선 연결선 31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7" name="직선 연결선 3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3" y="19042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2" name="그룹 21"/>
          <p:cNvGrpSpPr/>
          <p:nvPr/>
        </p:nvGrpSpPr>
        <p:grpSpPr>
          <a:xfrm>
            <a:off x="3836700" y="2038216"/>
            <a:ext cx="2630093" cy="1391691"/>
            <a:chOff x="3836700" y="3066437"/>
            <a:chExt cx="2630093" cy="1391691"/>
          </a:xfrm>
        </p:grpSpPr>
        <p:sp>
          <p:nvSpPr>
            <p:cNvPr id="331" name="직사각형 330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32" name="직선 연결선 3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335" name="직선 연결선 3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7" name="직선 연결선 3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9" name="직선 연결선 3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341883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grpSp>
          <p:nvGrpSpPr>
            <p:cNvPr id="21" name="그룹 20"/>
            <p:cNvGrpSpPr/>
            <p:nvPr/>
          </p:nvGrpSpPr>
          <p:grpSpPr>
            <a:xfrm>
              <a:off x="3844006" y="3066437"/>
              <a:ext cx="2610413" cy="162000"/>
              <a:chOff x="3844007" y="3066437"/>
              <a:chExt cx="1044904" cy="162000"/>
            </a:xfrm>
          </p:grpSpPr>
          <p:sp>
            <p:nvSpPr>
              <p:cNvPr id="343" name="사각형: 둥근 모서리 15">
                <a:extLst>
                  <a:ext uri="{FF2B5EF4-FFF2-40B4-BE49-F238E27FC236}">
                    <a16:creationId xmlns:a16="http://schemas.microsoft.com/office/drawing/2014/main" id="{E2B61CFB-AD16-68D0-8752-50D9C5E01971}"/>
                  </a:ext>
                </a:extLst>
              </p:cNvPr>
              <p:cNvSpPr/>
              <p:nvPr/>
            </p:nvSpPr>
            <p:spPr>
              <a:xfrm>
                <a:off x="3844007" y="3066437"/>
                <a:ext cx="494347" cy="162000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rPr>
                  <a:t>신규 추가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344" name="사각형: 둥근 모서리 15">
                <a:extLst>
                  <a:ext uri="{FF2B5EF4-FFF2-40B4-BE49-F238E27FC236}">
                    <a16:creationId xmlns:a16="http://schemas.microsoft.com/office/drawing/2014/main" id="{E2B61CFB-AD16-68D0-8752-50D9C5E01971}"/>
                  </a:ext>
                </a:extLst>
              </p:cNvPr>
              <p:cNvSpPr/>
              <p:nvPr/>
            </p:nvSpPr>
            <p:spPr>
              <a:xfrm>
                <a:off x="4394564" y="3066437"/>
                <a:ext cx="494347" cy="162000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rPr>
                  <a:t>선택 삭제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35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26016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675370" y="1660094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초기화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363" name="그룹 3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723300"/>
            <a:ext cx="76863" cy="292489"/>
            <a:chOff x="3750067" y="4683795"/>
            <a:chExt cx="76863" cy="292489"/>
          </a:xfrm>
        </p:grpSpPr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6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925428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0" name="직사각형 12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3297" y="61640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2232" y="5821046"/>
            <a:ext cx="261975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보안측정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비대상 품목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취급업체는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부대명란에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“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보안측정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비대상”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측정일자란은 “입력당일일자” 로 입력해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주십시요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0070C0"/>
              </a:solidFill>
              <a:latin typeface="+mn-ea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8223250" y="906154"/>
            <a:ext cx="3365500" cy="634511"/>
            <a:chOff x="8223250" y="569392"/>
            <a:chExt cx="3365500" cy="634511"/>
          </a:xfrm>
        </p:grpSpPr>
        <p:sp>
          <p:nvSpPr>
            <p:cNvPr id="132" name="직사각형 13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92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987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32151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7634321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FSC </a:t>
            </a:r>
            <a:r>
              <a:rPr lang="ko-KR" altLang="en-US" dirty="0" smtClean="0"/>
              <a:t>추가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MUI-CM-01-P11</a:t>
            </a:r>
            <a:br>
              <a:rPr lang="en-US" altLang="ko-KR" dirty="0" smtClean="0"/>
            </a:br>
            <a:r>
              <a:rPr lang="ko-KR" altLang="en-US" dirty="0" smtClean="0"/>
              <a:t>선택 삭제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하단 목록 선택 사항 삭제 확인 팝업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없이 선택 삭제 버튼 클릭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선택 항목이 없습니다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주거래은행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MUI-CM-01-P12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세부 팝업 없음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동의 체크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MUI-CM-01-M23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1934886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FSC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2048217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2698005"/>
            <a:ext cx="792000" cy="648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6980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698005"/>
            <a:ext cx="71588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순번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FSC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698005"/>
            <a:ext cx="178408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테스트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9291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1428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34683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97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6618" y="1583764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영업정보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95" name="그룹 194"/>
          <p:cNvGrpSpPr/>
          <p:nvPr/>
        </p:nvGrpSpPr>
        <p:grpSpPr>
          <a:xfrm flipV="1">
            <a:off x="6258705" y="1697095"/>
            <a:ext cx="94010" cy="47005"/>
            <a:chOff x="6812560" y="3297172"/>
            <a:chExt cx="94010" cy="47005"/>
          </a:xfrm>
        </p:grpSpPr>
        <p:cxnSp>
          <p:nvCxnSpPr>
            <p:cNvPr id="208" name="직선 연결선 2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직선 연결선 2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6" name="직사각형 195"/>
          <p:cNvSpPr/>
          <p:nvPr/>
        </p:nvSpPr>
        <p:spPr>
          <a:xfrm>
            <a:off x="3837740" y="1891249"/>
            <a:ext cx="792000" cy="15398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7" name="직선 연결선 19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47" y="189124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04" y="1891249"/>
            <a:ext cx="715881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연간매출액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자산규모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여신한도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주거래은행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군납최초참여일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거래기간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Dun’s Number</a:t>
            </a:r>
          </a:p>
        </p:txBody>
      </p:sp>
      <p:cxnSp>
        <p:nvCxnSpPr>
          <p:cNvPr id="200" name="직선 연결선 19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1223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3360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직선 연결선 2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5497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7597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9835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31914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34152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73896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736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56236" y="2737644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5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27795" y="2385246"/>
            <a:ext cx="126518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신규 추가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5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067062" y="2385246"/>
            <a:ext cx="12711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 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20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3997149"/>
            <a:ext cx="76863" cy="292489"/>
            <a:chOff x="3750067" y="4683795"/>
            <a:chExt cx="76863" cy="292489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192215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19141" y="1891249"/>
            <a:ext cx="123357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</p:txBody>
      </p:sp>
      <p:sp>
        <p:nvSpPr>
          <p:cNvPr id="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1382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3675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574967"/>
            <a:ext cx="66296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228815" y="2600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은행</a:t>
            </a:r>
            <a:endParaRPr lang="en-US" altLang="ko-KR" sz="700" dirty="0"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7133" y="2600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지점</a:t>
            </a:r>
            <a:endParaRPr lang="en-US" altLang="ko-KR" sz="700" dirty="0">
              <a:latin typeface="+mn-ea"/>
            </a:endParaRPr>
          </a:p>
        </p:txBody>
      </p:sp>
      <p:sp>
        <p:nvSpPr>
          <p:cNvPr id="7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575654" y="2574967"/>
            <a:ext cx="66296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68570" y="27882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515" y="2800568"/>
            <a:ext cx="134873" cy="137278"/>
          </a:xfrm>
          <a:prstGeom prst="rect">
            <a:avLst/>
          </a:prstGeom>
        </p:spPr>
      </p:pic>
      <p:sp>
        <p:nvSpPr>
          <p:cNvPr id="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643563" y="3003017"/>
            <a:ext cx="80592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3" name="그림 8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515" y="3015378"/>
            <a:ext cx="134873" cy="13727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00539" y="3021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~</a:t>
            </a:r>
          </a:p>
        </p:txBody>
      </p:sp>
      <p:sp>
        <p:nvSpPr>
          <p:cNvPr id="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32247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1746" y="3003017"/>
            <a:ext cx="80592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9" name="그림 8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698" y="3015378"/>
            <a:ext cx="134873" cy="137278"/>
          </a:xfrm>
          <a:prstGeom prst="rect">
            <a:avLst/>
          </a:prstGeom>
        </p:spPr>
      </p:pic>
      <p:sp>
        <p:nvSpPr>
          <p:cNvPr id="90" name="모서리가 둥근 직사각형 89"/>
          <p:cNvSpPr/>
          <p:nvPr/>
        </p:nvSpPr>
        <p:spPr>
          <a:xfrm>
            <a:off x="3880034" y="4335828"/>
            <a:ext cx="2543426" cy="1465365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4397647"/>
            <a:ext cx="215431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 err="1">
                <a:latin typeface="Consolas" panose="020B0609020204030204" pitchFamily="49" charset="0"/>
              </a:rPr>
              <a:t>내자업체</a:t>
            </a:r>
            <a:r>
              <a:rPr lang="ko-KR" altLang="en-US" sz="700" b="1" dirty="0">
                <a:latin typeface="Consolas" panose="020B0609020204030204" pitchFamily="49" charset="0"/>
              </a:rPr>
              <a:t> 제출서류 안내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전화</a:t>
            </a:r>
            <a:r>
              <a:rPr lang="en-US" altLang="ko-KR" sz="700" dirty="0">
                <a:latin typeface="Consolas" panose="020B0609020204030204" pitchFamily="49" charset="0"/>
              </a:rPr>
              <a:t>) 02-2079-6915,6925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Consolas" panose="020B0609020204030204" pitchFamily="49" charset="0"/>
            </a:endParaRPr>
          </a:p>
          <a:p>
            <a:pPr marL="179388" indent="-179388">
              <a:lnSpc>
                <a:spcPct val="150000"/>
              </a:lnSpc>
              <a:buFont typeface="+mj-lt"/>
              <a:buAutoNum type="arabicPeriod"/>
            </a:pPr>
            <a:r>
              <a:rPr lang="ko-KR" altLang="en-US" sz="700" b="1" dirty="0">
                <a:latin typeface="Consolas" panose="020B0609020204030204" pitchFamily="49" charset="0"/>
              </a:rPr>
              <a:t>공장등록증명서 또는 사업자등록증명원 조회 동의여부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동의여부에 체크하지 않는 경우 오프라인으로 서류를 제출하셔야 합니다</a:t>
            </a:r>
            <a:r>
              <a:rPr lang="en-US" altLang="ko-KR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  <a:p>
            <a:pPr marL="179388" indent="-179388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700" b="1" dirty="0">
                <a:latin typeface="맑은 고딕" panose="020B0503020000020004" pitchFamily="50" charset="-127"/>
              </a:rPr>
              <a:t>보안측정결과서 </a:t>
            </a:r>
            <a:r>
              <a:rPr lang="en-US" altLang="ko-KR" sz="700" b="1" dirty="0">
                <a:latin typeface="맑은 고딕" panose="020B0503020000020004" pitchFamily="50" charset="-127"/>
              </a:rPr>
              <a:t>- 1</a:t>
            </a:r>
            <a:r>
              <a:rPr lang="ko-KR" altLang="en-US" sz="700" b="1" dirty="0">
                <a:latin typeface="맑은 고딕" panose="020B0503020000020004" pitchFamily="50" charset="-127"/>
              </a:rPr>
              <a:t>부</a:t>
            </a:r>
            <a:r>
              <a:rPr lang="en-US" altLang="ko-KR" sz="700" b="1" dirty="0">
                <a:latin typeface="맑은 고딕" panose="020B0503020000020004" pitchFamily="50" charset="-127"/>
              </a:rPr>
              <a:t> (</a:t>
            </a:r>
            <a:r>
              <a:rPr lang="ko-KR" altLang="en-US" sz="700" b="1" dirty="0">
                <a:latin typeface="맑은 고딕" panose="020B0503020000020004" pitchFamily="50" charset="-127"/>
              </a:rPr>
              <a:t>해당품목 제출</a:t>
            </a:r>
            <a:r>
              <a:rPr lang="en-US" altLang="ko-KR" sz="700" b="1" dirty="0">
                <a:latin typeface="맑은 고딕" panose="020B0503020000020004" pitchFamily="50" charset="-127"/>
              </a:rPr>
              <a:t>)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2" name="타원 91"/>
          <p:cNvSpPr/>
          <p:nvPr/>
        </p:nvSpPr>
        <p:spPr>
          <a:xfrm>
            <a:off x="3953173" y="440238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3" name="그룹 92"/>
          <p:cNvGrpSpPr/>
          <p:nvPr/>
        </p:nvGrpSpPr>
        <p:grpSpPr>
          <a:xfrm flipV="1">
            <a:off x="6259047" y="4472861"/>
            <a:ext cx="94010" cy="47005"/>
            <a:chOff x="6812560" y="3297172"/>
            <a:chExt cx="94010" cy="47005"/>
          </a:xfrm>
        </p:grpSpPr>
        <p:cxnSp>
          <p:nvCxnSpPr>
            <p:cNvPr id="94" name="직선 연결선 9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직선 연결선 9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6" name="그룹 95"/>
          <p:cNvGrpSpPr/>
          <p:nvPr/>
        </p:nvGrpSpPr>
        <p:grpSpPr>
          <a:xfrm>
            <a:off x="3888037" y="3862436"/>
            <a:ext cx="2522014" cy="342712"/>
            <a:chOff x="3888037" y="3794514"/>
            <a:chExt cx="2522014" cy="342712"/>
          </a:xfrm>
        </p:grpSpPr>
        <p:sp>
          <p:nvSpPr>
            <p:cNvPr id="9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9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9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842760"/>
              <a:ext cx="1304844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공장등록증명서 또는</a:t>
              </a:r>
              <a:endParaRPr lang="en-US" altLang="ko-KR" sz="800" dirty="0">
                <a:latin typeface="맑은 고딕" panose="020B0503020000020004" pitchFamily="50" charset="-127"/>
              </a:endParaRPr>
            </a:p>
            <a:p>
              <a:r>
                <a:rPr lang="ko-KR" altLang="en-US" sz="800" dirty="0">
                  <a:latin typeface="맑은 고딕" panose="020B0503020000020004" pitchFamily="50" charset="-127"/>
                </a:rPr>
                <a:t>사업자등록증명원 조회 동의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00" name="모서리가 둥근 직사각형 99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3546" y="3536282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103" name="그룹 102"/>
          <p:cNvGrpSpPr/>
          <p:nvPr/>
        </p:nvGrpSpPr>
        <p:grpSpPr>
          <a:xfrm flipV="1">
            <a:off x="6255634" y="3649613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7" name="그룹 116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21" name="타원 120"/>
          <p:cNvSpPr/>
          <p:nvPr/>
        </p:nvSpPr>
        <p:spPr>
          <a:xfrm>
            <a:off x="5169760" y="2592967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6076492" y="2592967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3" name="그룹 12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759" y="25775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759" y="39288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1185933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5794" y="2450608"/>
            <a:ext cx="31200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2689347"/>
          <a:ext cx="8994883" cy="2376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982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(’20’)/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운송업체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보험업체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신용장개설은행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(‘27’)/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국내제작업체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(‘28’)/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(‘29’)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scrtyMsrmtRslt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(‘N’)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8117" y="5068054"/>
            <a:ext cx="3015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724917"/>
              </p:ext>
            </p:extLst>
          </p:nvPr>
        </p:nvGraphicFramePr>
        <p:xfrm>
          <a:off x="458117" y="52810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051595A2-D8F5-2926-33B2-CCF0EB2489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59D74-D4EA-34F7-19AD-4EB41F2EAAB7}"/>
              </a:ext>
            </a:extLst>
          </p:cNvPr>
          <p:cNvSpPr txBox="1"/>
          <p:nvPr/>
        </p:nvSpPr>
        <p:spPr>
          <a:xfrm>
            <a:off x="465794" y="891621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56179DD-A3CE-1CE4-4FC8-371172AF62A7}"/>
              </a:ext>
            </a:extLst>
          </p:cNvPr>
          <p:cNvGraphicFramePr>
            <a:graphicFrameLocks noGrp="1"/>
          </p:cNvGraphicFramePr>
          <p:nvPr/>
        </p:nvGraphicFramePr>
        <p:xfrm>
          <a:off x="460676" y="1115997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압력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051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350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380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398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725971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5559" y="771706"/>
            <a:ext cx="17847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FSC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/>
        </p:nvGraphicFramePr>
        <p:xfrm>
          <a:off x="455559" y="985389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A1E6DD-0E0E-2CF0-D8EA-229A368A69E5}"/>
              </a:ext>
            </a:extLst>
          </p:cNvPr>
          <p:cNvSpPr txBox="1"/>
          <p:nvPr/>
        </p:nvSpPr>
        <p:spPr>
          <a:xfrm>
            <a:off x="455558" y="1750511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FB06246B-78E5-9F4F-A0D1-AB612259FD85}"/>
              </a:ext>
            </a:extLst>
          </p:cNvPr>
          <p:cNvGraphicFramePr>
            <a:graphicFrameLocks noGrp="1"/>
          </p:cNvGraphicFramePr>
          <p:nvPr/>
        </p:nvGraphicFramePr>
        <p:xfrm>
          <a:off x="455559" y="1961714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351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7442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54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0390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4379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8858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91097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AA11892-67D6-D975-F687-EACF685C812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91763952-0038-ACB5-0038-6E291733E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163</a:t>
            </a:fld>
            <a:endParaRPr lang="ko-KR" altLang="en-US" dirty="0"/>
          </a:p>
        </p:txBody>
      </p:sp>
      <p:sp>
        <p:nvSpPr>
          <p:cNvPr id="3" name="Text Box 73">
            <a:extLst>
              <a:ext uri="{FF2B5EF4-FFF2-40B4-BE49-F238E27FC236}">
                <a16:creationId xmlns:a16="http://schemas.microsoft.com/office/drawing/2014/main" id="{1F6010CD-0871-4D71-9A54-5EAEF62D33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3639113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A3ED33-EB3B-311D-F1BA-9C062ED6DA05}"/>
              </a:ext>
            </a:extLst>
          </p:cNvPr>
          <p:cNvSpPr txBox="1"/>
          <p:nvPr/>
        </p:nvSpPr>
        <p:spPr>
          <a:xfrm>
            <a:off x="455204" y="67327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D31076B-307A-A070-51E8-7DCC5611D928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09064"/>
          <a:ext cx="8995591" cy="2210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보안측정인원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scwin.btn_scrtyMsrmtPrsnlAdd_onclick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보안측정인원 등록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UI-CM-01-P16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보안측정인원 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scwin.btn_scrtyMsrmtPrsnlDel_onclick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보안측정인원 목록에서 선택된 열을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2830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FSC </a:t>
                      </a:r>
                      <a:r>
                        <a:rPr lang="ko-KR" altLang="en-US" sz="800" dirty="0"/>
                        <a:t>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scwin.btn_fscAdd_onclick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UI-CM-01-P17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818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FSC </a:t>
                      </a:r>
                      <a:r>
                        <a:rPr lang="ko-KR" altLang="en-US" sz="800" dirty="0"/>
                        <a:t>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scwin.btn_fscDel_onclick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목록에서 선택된 열을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주거래은행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scwin.btn_bankSrch_onclick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검색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UI-CM-01-P18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11186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및 변경된 조달업체 국내소재상사 정보를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3953635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3720F39F-F732-38C9-13B7-2F90D5426C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9214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98056B3-B053-7055-7C75-1972FFCEB2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164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6393073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품류선택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품류선택</a:t>
            </a:r>
            <a:r>
              <a:rPr lang="ko-KR" altLang="en-US" dirty="0" err="1"/>
              <a:t>을</a:t>
            </a:r>
            <a:r>
              <a:rPr lang="ko-KR" altLang="en-US" dirty="0"/>
              <a:t>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품류선택</a:t>
            </a:r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MUI-CM-01-P06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품류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tx1"/>
                </a:solidFill>
              </a:rPr>
              <a:t>품류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품류명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품류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품류명을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품류명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품류명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품류코드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11740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11170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11215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577261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6" y="811812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품류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1023015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8117" y="1639406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품류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63780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21A12-99E3-9DA9-DCAD-2536B3F37656}"/>
              </a:ext>
            </a:extLst>
          </p:cNvPr>
          <p:cNvSpPr txBox="1"/>
          <p:nvPr/>
        </p:nvSpPr>
        <p:spPr>
          <a:xfrm>
            <a:off x="460676" y="266303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82D9C75-A45A-D84C-EEDE-5152CE7189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78688"/>
              </p:ext>
            </p:extLst>
          </p:nvPr>
        </p:nvGraphicFramePr>
        <p:xfrm>
          <a:off x="455558" y="2899666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scwin.btn_knditmSrch_onclick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12" name="Text Box 73">
            <a:extLst>
              <a:ext uri="{FF2B5EF4-FFF2-40B4-BE49-F238E27FC236}">
                <a16:creationId xmlns:a16="http://schemas.microsoft.com/office/drawing/2014/main" id="{D4162E81-8A34-0A70-B464-DE534D08C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000" y="278393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D878C8DF-CE95-0969-EF4C-146F0D1096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4401735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</a:t>
            </a:r>
            <a:r>
              <a:rPr lang="ko-KR" altLang="en-US" dirty="0"/>
              <a:t>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 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MUI-CM-01-P07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조합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단체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단체명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조합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단체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단체명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단체명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조합코드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11740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11170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11215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29792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24637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입력 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8117" y="1621594"/>
            <a:ext cx="22543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4003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21A12-99E3-9DA9-DCAD-2536B3F37656}"/>
              </a:ext>
            </a:extLst>
          </p:cNvPr>
          <p:cNvSpPr txBox="1"/>
          <p:nvPr/>
        </p:nvSpPr>
        <p:spPr>
          <a:xfrm>
            <a:off x="460676" y="259178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82D9C75-A45A-D84C-EEDE-5152CE71892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28414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scwin.btn_asctGrdSrch_onclick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7A9D0A13-E633-48CC-1B27-7E5B35798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308" y="271226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Text Box 73">
            <a:extLst>
              <a:ext uri="{FF2B5EF4-FFF2-40B4-BE49-F238E27FC236}">
                <a16:creationId xmlns:a16="http://schemas.microsoft.com/office/drawing/2014/main" id="{17EF71F0-EA5E-971E-1F0F-9270878CE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876532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품류</a:t>
            </a:r>
            <a:r>
              <a:rPr lang="en-US" altLang="ko-KR" dirty="0"/>
              <a:t>, </a:t>
            </a:r>
            <a:r>
              <a:rPr lang="ko-KR" altLang="en-US" dirty="0"/>
              <a:t>품명</a:t>
            </a:r>
            <a:r>
              <a:rPr lang="en-US" altLang="ko-KR" dirty="0"/>
              <a:t>, </a:t>
            </a:r>
            <a:r>
              <a:rPr lang="ko-KR" altLang="en-US" dirty="0" err="1"/>
              <a:t>업종코드</a:t>
            </a:r>
            <a:r>
              <a:rPr lang="ko-KR" altLang="en-US" dirty="0"/>
              <a:t> 조건 설정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 err="1">
                <a:solidFill>
                  <a:srgbClr val="FF0000"/>
                </a:solidFill>
              </a:rPr>
              <a:t>품류의</a:t>
            </a:r>
            <a:r>
              <a:rPr lang="ko-KR" altLang="en-US" dirty="0">
                <a:solidFill>
                  <a:srgbClr val="FF0000"/>
                </a:solidFill>
              </a:rPr>
              <a:t> 경우 </a:t>
            </a:r>
            <a:r>
              <a:rPr lang="ko-KR" altLang="en-US" dirty="0" err="1">
                <a:solidFill>
                  <a:srgbClr val="FF0000"/>
                </a:solidFill>
              </a:rPr>
              <a:t>드롭다운</a:t>
            </a:r>
            <a:r>
              <a:rPr lang="ko-KR" altLang="en-US" dirty="0">
                <a:solidFill>
                  <a:srgbClr val="FF0000"/>
                </a:solidFill>
              </a:rPr>
              <a:t> 선택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품명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업종코드는</a:t>
            </a:r>
            <a:r>
              <a:rPr lang="ko-KR" altLang="en-US" dirty="0">
                <a:solidFill>
                  <a:srgbClr val="FF0000"/>
                </a:solidFill>
              </a:rPr>
              <a:t> 입력 검색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조회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적용하기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표시개수</a:t>
            </a:r>
            <a:r>
              <a:rPr lang="ko-KR" altLang="en-US" dirty="0"/>
              <a:t> 이후 </a:t>
            </a:r>
            <a:r>
              <a:rPr lang="ko-KR" altLang="en-US" dirty="0" err="1"/>
              <a:t>더보기</a:t>
            </a:r>
            <a:r>
              <a:rPr lang="ko-KR" altLang="en-US" dirty="0"/>
              <a:t> 버튼으로 추가 로드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등록대상 품목 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등록대상 품목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등록대상 품목 선택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MUI-CM-01-P08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등록대상 품목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검색어를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입력해주세요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등록대상 품목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검색조건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7892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모서리가 둥근 직사각형 96"/>
          <p:cNvSpPr/>
          <p:nvPr/>
        </p:nvSpPr>
        <p:spPr>
          <a:xfrm>
            <a:off x="1443878" y="3878771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품류를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선택해주세요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4708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검색어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440240" y="3607819"/>
            <a:ext cx="1849475" cy="162000"/>
            <a:chOff x="1440240" y="3697863"/>
            <a:chExt cx="3983148" cy="162000"/>
          </a:xfrm>
        </p:grpSpPr>
        <p:sp>
          <p:nvSpPr>
            <p:cNvPr id="11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40240" y="3697863"/>
              <a:ext cx="1234994" cy="162000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맑은 고딕"/>
                </a:rPr>
                <a:t>품류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815659" y="3697863"/>
              <a:ext cx="123499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품명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188394" y="3697863"/>
              <a:ext cx="123499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업종코드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3086905" y="3975898"/>
            <a:ext cx="94010" cy="47005"/>
            <a:chOff x="6812560" y="3297172"/>
            <a:chExt cx="94010" cy="47005"/>
          </a:xfrm>
        </p:grpSpPr>
        <p:cxnSp>
          <p:nvCxnSpPr>
            <p:cNvPr id="121" name="직선 연결선 12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직선 연결선 1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그룹 122"/>
          <p:cNvGrpSpPr/>
          <p:nvPr/>
        </p:nvGrpSpPr>
        <p:grpSpPr>
          <a:xfrm>
            <a:off x="3836700" y="4599552"/>
            <a:ext cx="2630093" cy="1543815"/>
            <a:chOff x="3836700" y="3380909"/>
            <a:chExt cx="2630093" cy="1543815"/>
          </a:xfrm>
        </p:grpSpPr>
        <p:sp>
          <p:nvSpPr>
            <p:cNvPr id="124" name="직사각형 123"/>
            <p:cNvSpPr/>
            <p:nvPr/>
          </p:nvSpPr>
          <p:spPr>
            <a:xfrm>
              <a:off x="3838793" y="3380909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삭제여부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N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1234567890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 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6617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3860986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상세보기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36700" y="4706456"/>
              <a:ext cx="2630093" cy="16200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적용하기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&gt;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92472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35444" y="6172490"/>
            <a:ext cx="76863" cy="292489"/>
            <a:chOff x="3750067" y="4683795"/>
            <a:chExt cx="76863" cy="292489"/>
          </a:xfrm>
        </p:grpSpPr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8938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61478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8174636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6502" y="1966289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품목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062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741902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19066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삭제여부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itemRgstrtRqmtCdNm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등재요건코드로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64231" y="444098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D71539F7-D719-E668-93D4-7070D4913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602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096486"/>
              </p:ext>
            </p:extLst>
          </p:nvPr>
        </p:nvGraphicFramePr>
        <p:xfrm>
          <a:off x="450728" y="4677609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품목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품목코드</a:t>
                      </a:r>
                      <a:r>
                        <a:rPr lang="ko-KR" altLang="en-US" sz="800" dirty="0"/>
                        <a:t> 상세보기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scwin.grd_regTrgtItemList_oncellclick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클릭된 품목의 상세정보를 보여준다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249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적용하기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CB1DDFE4-3EFD-C572-25BA-3E31DBC7D9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5918892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조회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상위에서 선택한 품목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품목 정보의 상세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업종코드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업종명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코드 값은 품목 정보를 통해 들어왔을 때 노출함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예를 들어 </a:t>
            </a:r>
            <a:r>
              <a:rPr lang="en-US" altLang="ko-KR" dirty="0"/>
              <a:t>[</a:t>
            </a:r>
            <a:r>
              <a:rPr lang="ko-KR" altLang="en-US" dirty="0"/>
              <a:t>등록대상 품목 선택</a:t>
            </a:r>
            <a:r>
              <a:rPr lang="en-US" altLang="ko-KR" dirty="0"/>
              <a:t>] </a:t>
            </a:r>
            <a:r>
              <a:rPr lang="ko-KR" altLang="en-US" dirty="0"/>
              <a:t>품목 코드를 통해 접근했을 때 등</a:t>
            </a:r>
            <a:r>
              <a:rPr lang="en-US" altLang="ko-KR" dirty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품목 조회 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품목 조회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품목 조회 선택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4239138"/>
            <a:ext cx="2712027" cy="1993161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42757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4410182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3908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/>
              <a:t>품목 조회 선택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522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3711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16084" y="5131966"/>
            <a:ext cx="2630656" cy="452455"/>
            <a:chOff x="3824022" y="5160789"/>
            <a:chExt cx="2630656" cy="452455"/>
          </a:xfrm>
        </p:grpSpPr>
        <p:sp>
          <p:nvSpPr>
            <p:cNvPr id="75" name="직사각형 74"/>
            <p:cNvSpPr/>
            <p:nvPr/>
          </p:nvSpPr>
          <p:spPr>
            <a:xfrm>
              <a:off x="3826115" y="5160789"/>
              <a:ext cx="792000" cy="4524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4022" y="516078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3179" y="5160789"/>
              <a:ext cx="67077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업종코드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업종명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0028" y="5160789"/>
              <a:ext cx="178465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39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6056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090" y="4829459"/>
            <a:ext cx="177583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>
                <a:latin typeface="+mn-ea"/>
              </a:rPr>
              <a:t>1234567890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829459"/>
            <a:ext cx="84376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품목 코드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784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6039694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60322" y="1795605"/>
            <a:ext cx="911074" cy="24925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2043563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품목 상세정보를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2F61A5C-A648-D9E6-5526-6D8BEEA5B061}"/>
              </a:ext>
            </a:extLst>
          </p:cNvPr>
          <p:cNvSpPr txBox="1"/>
          <p:nvPr/>
        </p:nvSpPr>
        <p:spPr>
          <a:xfrm>
            <a:off x="471620" y="839274"/>
            <a:ext cx="268078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상세정보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dm_itemDtlInfo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B03EF8-44BD-58B1-6DF4-D0A6F76F08BC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1063649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업종명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업종명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632257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9872E36D-7EF0-0ED9-122D-F6E4C783DC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39902" y="1926722"/>
            <a:ext cx="1678016" cy="1184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7A0C63-89B0-F26C-155A-035A23D62921}"/>
              </a:ext>
            </a:extLst>
          </p:cNvPr>
          <p:cNvSpPr/>
          <p:nvPr/>
        </p:nvSpPr>
        <p:spPr>
          <a:xfrm>
            <a:off x="6367463" y="634871"/>
            <a:ext cx="3157537" cy="2265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5" name="Text Box 73">
            <a:extLst>
              <a:ext uri="{FF2B5EF4-FFF2-40B4-BE49-F238E27FC236}">
                <a16:creationId xmlns:a16="http://schemas.microsoft.com/office/drawing/2014/main" id="{2804CB70-CFA7-31A1-1A73-6F4C96572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8940320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보안측정인원 등록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적격여부 </a:t>
            </a:r>
            <a:r>
              <a:rPr lang="en-US" altLang="ko-KR" dirty="0"/>
              <a:t>: </a:t>
            </a:r>
            <a:r>
              <a:rPr lang="ko-KR" altLang="en-US" dirty="0"/>
              <a:t>적격</a:t>
            </a:r>
            <a:r>
              <a:rPr lang="en-US" altLang="ko-KR" dirty="0"/>
              <a:t>, </a:t>
            </a:r>
            <a:r>
              <a:rPr lang="ko-KR" altLang="en-US" dirty="0"/>
              <a:t>부적격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인원 정보는 필수 아님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첨부파일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파일 업로드 버튼 </a:t>
            </a:r>
            <a:r>
              <a:rPr lang="ko-KR" altLang="en-US" dirty="0" err="1">
                <a:latin typeface="+mn-ea"/>
              </a:rPr>
              <a:t>클릭시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캐비닛 파일 선택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파일 업로드 선택 팝업 호출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첨부파일 명 입력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업로드 파일 삭제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보안측정인원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보안측정인원 등록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보안측정인원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" name="양쪽 모서리가 둥근 사각형 2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34" name="직선 연결선 3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보안측정인원 등록</a:t>
            </a: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양쪽 모서리가 둥근 사각형 62"/>
          <p:cNvSpPr/>
          <p:nvPr/>
        </p:nvSpPr>
        <p:spPr>
          <a:xfrm>
            <a:off x="3795734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4881747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6284673" y="1773925"/>
            <a:ext cx="94010" cy="94010"/>
            <a:chOff x="6812560" y="3297172"/>
            <a:chExt cx="94010" cy="94010"/>
          </a:xfrm>
        </p:grpSpPr>
        <p:cxnSp>
          <p:nvCxnSpPr>
            <p:cNvPr id="66" name="직선 연결선 6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직선 연결선 6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보안측정인원 등록</a:t>
            </a: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 rot="5400000">
            <a:off x="5782577" y="43897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등록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8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7136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132231"/>
            <a:ext cx="2154318" cy="16087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보안측정인원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3282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1571" y="3412216"/>
            <a:ext cx="138461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+mn-ea"/>
              </a:rPr>
              <a:t>첨부파일</a:t>
            </a:r>
            <a:r>
              <a:rPr lang="ko-KR" altLang="en-US" sz="800" b="1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800" dirty="0">
              <a:latin typeface="+mn-ea"/>
            </a:endParaRPr>
          </a:p>
        </p:txBody>
      </p:sp>
      <p:sp>
        <p:nvSpPr>
          <p:cNvPr id="101" name="모서리가 둥근 직사각형 100"/>
          <p:cNvSpPr/>
          <p:nvPr/>
        </p:nvSpPr>
        <p:spPr>
          <a:xfrm>
            <a:off x="705041" y="4185759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292030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4314141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705041" y="459244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69871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472082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5041" y="3729525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050641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44285" y="405064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1805" y="4050641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4697246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4280454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705041" y="499445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510072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512283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705041" y="5401142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5507413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5529524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sp>
        <p:nvSpPr>
          <p:cNvPr id="1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5505943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5089151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724173" y="2393975"/>
            <a:ext cx="2630093" cy="677031"/>
            <a:chOff x="3836700" y="3380909"/>
            <a:chExt cx="2630093" cy="677031"/>
          </a:xfrm>
        </p:grpSpPr>
        <p:sp>
          <p:nvSpPr>
            <p:cNvPr id="124" name="직사각형 123"/>
            <p:cNvSpPr/>
            <p:nvPr/>
          </p:nvSpPr>
          <p:spPr>
            <a:xfrm>
              <a:off x="3838793" y="3380909"/>
              <a:ext cx="792000" cy="6770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24211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7191" y="286139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136" y="2873752"/>
            <a:ext cx="134873" cy="137278"/>
          </a:xfrm>
          <a:prstGeom prst="rect">
            <a:avLst/>
          </a:prstGeom>
        </p:spPr>
      </p:pic>
      <p:sp>
        <p:nvSpPr>
          <p:cNvPr id="1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26606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46" name="그룹 145"/>
          <p:cNvGrpSpPr/>
          <p:nvPr/>
        </p:nvGrpSpPr>
        <p:grpSpPr>
          <a:xfrm>
            <a:off x="3153204" y="2718956"/>
            <a:ext cx="94010" cy="47005"/>
            <a:chOff x="6812560" y="3297172"/>
            <a:chExt cx="94010" cy="47005"/>
          </a:xfrm>
        </p:grpSpPr>
        <p:cxnSp>
          <p:nvCxnSpPr>
            <p:cNvPr id="147" name="직선 연결선 14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4214795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4627742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5021555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5434502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064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9" name="직사각형 158"/>
          <p:cNvSpPr/>
          <p:nvPr/>
        </p:nvSpPr>
        <p:spPr>
          <a:xfrm>
            <a:off x="7072313" y="6061717"/>
            <a:ext cx="2370049" cy="2231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" dirty="0"/>
              <a:t>보안측정인원</a:t>
            </a:r>
            <a:endParaRPr lang="en-US" altLang="ko-KR" sz="400" dirty="0"/>
          </a:p>
          <a:p>
            <a:pPr algn="ctr"/>
            <a:r>
              <a:rPr lang="en-US" altLang="ko-KR" sz="400" dirty="0"/>
              <a:t>PC </a:t>
            </a:r>
            <a:r>
              <a:rPr lang="ko-KR" altLang="en-US" sz="400" dirty="0"/>
              <a:t>버전 필수가 아닌데 확인 필요함</a:t>
            </a:r>
            <a:r>
              <a:rPr lang="en-US" altLang="ko-KR" sz="400" dirty="0"/>
              <a:t>.</a:t>
            </a:r>
          </a:p>
          <a:p>
            <a:pPr algn="ctr"/>
            <a:r>
              <a:rPr lang="ko-KR" altLang="en-US" sz="400" dirty="0"/>
              <a:t>인원 정보 없이 등록이 가능한가</a:t>
            </a:r>
            <a:r>
              <a:rPr lang="en-US" altLang="ko-KR" sz="400" dirty="0"/>
              <a:t>?</a:t>
            </a:r>
            <a:endParaRPr lang="ko-KR" altLang="en-US" sz="400" dirty="0"/>
          </a:p>
        </p:txBody>
      </p:sp>
      <p:grpSp>
        <p:nvGrpSpPr>
          <p:cNvPr id="79" name="그룹 7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6530808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3000" y="799547"/>
            <a:ext cx="3057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8475"/>
              </p:ext>
            </p:extLst>
          </p:nvPr>
        </p:nvGraphicFramePr>
        <p:xfrm>
          <a:off x="453000" y="1013230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3864" y="2152029"/>
            <a:ext cx="23169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/>
        </p:nvGraphicFramePr>
        <p:xfrm>
          <a:off x="456422" y="237167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53000" y="315443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148475"/>
              </p:ext>
            </p:extLst>
          </p:nvPr>
        </p:nvGraphicFramePr>
        <p:xfrm>
          <a:off x="453864" y="3385622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등록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등록된 보안측정인원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B0DEDB58-C0D1-7E30-B326-DB9170886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439" y="326870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E9B17219-4ACD-B931-51CC-530FEAE19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825566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선택</a:t>
            </a:r>
            <a:r>
              <a:rPr lang="en-US" altLang="ko-KR" dirty="0"/>
              <a:t> </a:t>
            </a:r>
            <a:r>
              <a:rPr lang="ko-KR" altLang="en-US" dirty="0"/>
              <a:t>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복수 선택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등록 클릭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  <a:r>
              <a:rPr lang="ko-KR" altLang="en-US" dirty="0"/>
              <a:t>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MUI-CM-01-P11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FSC </a:t>
            </a:r>
            <a:r>
              <a:rPr lang="ko-KR" altLang="en-US" sz="900" dirty="0">
                <a:latin typeface="+mn-ea"/>
              </a:rPr>
              <a:t>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FSC </a:t>
            </a:r>
            <a:r>
              <a:rPr lang="ko-KR" altLang="en-US" sz="900" dirty="0">
                <a:latin typeface="+mn-ea"/>
              </a:rPr>
              <a:t>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군급명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군급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7" name="그룹 96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선택 등록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4931402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5142179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5362868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88053589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19337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FSC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군급명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0322" y="1613359"/>
            <a:ext cx="194180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FSC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189711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60322" y="284361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773285"/>
              </p:ext>
            </p:extLst>
          </p:nvPr>
        </p:nvGraphicFramePr>
        <p:xfrm>
          <a:off x="455204" y="3187121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scwin.btn_fscSrch_onclick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등록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여러 개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92986A7-CA14-4045-6A5B-63863BF951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77456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9B842BCE-D8EB-6471-148E-0CD16C89A6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0304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2455430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주거래은행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주거래은행 선택</a:t>
            </a:r>
            <a:r>
              <a:rPr lang="ko-KR" altLang="en-US" dirty="0"/>
              <a:t>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주거래은행 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주거래은행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은행명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주거래은행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은행명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은행명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00100000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00200000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00300000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00400000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00500000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00600000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396935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8" y="795708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주거래은행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06911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2999" y="1639299"/>
            <a:ext cx="23185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주거래은행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61817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8593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48316" y="28162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3045154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scwin.btn_bankSrch_onclick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주거래은행 정보를 검색한다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주거래은행 정보가 부모 화면에 입력되며 팝업창은 닫힌다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2070BEE7-E5D7-71A9-5361-75AADFD373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93283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884461B8-F59F-50CE-4437-D13ED6ED9A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62632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물품등록</a:t>
            </a:r>
            <a:r>
              <a:rPr lang="en-US" altLang="ko-KR" dirty="0"/>
              <a:t>(</a:t>
            </a:r>
            <a:r>
              <a:rPr lang="ko-KR" altLang="en-US" dirty="0"/>
              <a:t>내자</a:t>
            </a:r>
            <a:r>
              <a:rPr lang="en-US" altLang="ko-KR" dirty="0"/>
              <a:t>)</a:t>
            </a:r>
            <a:r>
              <a:rPr lang="ko-KR" altLang="en-US" dirty="0"/>
              <a:t>인 경우만 노출</a:t>
            </a:r>
            <a:r>
              <a:rPr lang="en-US" altLang="ko-KR" dirty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추가등록</a:t>
            </a:r>
            <a:r>
              <a:rPr lang="ko-KR" altLang="en-US" dirty="0"/>
              <a:t> 신청 시 행정정보공동이용 </a:t>
            </a:r>
            <a:r>
              <a:rPr lang="ko-KR" altLang="en-US" dirty="0" err="1"/>
              <a:t>사전동의서</a:t>
            </a:r>
            <a:r>
              <a:rPr lang="ko-KR" altLang="en-US" dirty="0"/>
              <a:t> 확인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" name="양쪽 모서리가 둥근 사각형 2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34" name="직선 연결선 3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행정정보공동이용 </a:t>
            </a:r>
            <a:r>
              <a:rPr lang="ko-KR" altLang="en-US" sz="900" dirty="0" err="1">
                <a:latin typeface="+mn-ea"/>
              </a:rPr>
              <a:t>사전동의서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모서리가 둥근 직사각형 3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503768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모서리가 둥근 직사각형 55"/>
          <p:cNvSpPr/>
          <p:nvPr/>
        </p:nvSpPr>
        <p:spPr>
          <a:xfrm>
            <a:off x="759026" y="2140522"/>
            <a:ext cx="2543426" cy="2725586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106" y="2202341"/>
            <a:ext cx="2154318" cy="26084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행정정보공동이용 </a:t>
            </a:r>
            <a:r>
              <a:rPr lang="ko-KR" altLang="en-US" sz="800" b="1" dirty="0" err="1">
                <a:latin typeface="Consolas" panose="020B0609020204030204" pitchFamily="49" charset="0"/>
              </a:rPr>
              <a:t>사전동의서</a:t>
            </a:r>
            <a:r>
              <a:rPr lang="ko-KR" altLang="en-US" sz="800" b="1" dirty="0">
                <a:latin typeface="Consolas" panose="020B0609020204030204" pitchFamily="49" charset="0"/>
              </a:rPr>
              <a:t> 안내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ko-KR" altLang="en-US" sz="700" dirty="0">
                <a:latin typeface="Consolas" panose="020B0609020204030204" pitchFamily="49" charset="0"/>
              </a:rPr>
              <a:t> 제</a:t>
            </a:r>
            <a:r>
              <a:rPr lang="en-US" altLang="ko-KR" sz="700" dirty="0">
                <a:latin typeface="Consolas" panose="020B0609020204030204" pitchFamily="49" charset="0"/>
              </a:rPr>
              <a:t>42</a:t>
            </a:r>
            <a:r>
              <a:rPr lang="ko-KR" altLang="en-US" sz="700" dirty="0">
                <a:latin typeface="Consolas" panose="020B0609020204030204" pitchFamily="49" charset="0"/>
              </a:rPr>
              <a:t>조 제</a:t>
            </a:r>
            <a:r>
              <a:rPr lang="en-US" altLang="ko-KR" sz="700" dirty="0">
                <a:latin typeface="Consolas" panose="020B0609020204030204" pitchFamily="49" charset="0"/>
              </a:rPr>
              <a:t>1</a:t>
            </a:r>
            <a:r>
              <a:rPr lang="ko-KR" altLang="en-US" sz="700" dirty="0">
                <a:latin typeface="Consolas" panose="020B0609020204030204" pitchFamily="49" charset="0"/>
              </a:rPr>
              <a:t>항에 따라 행정정보 공동이용센터를 통하여 개인정보가 포함된 행정정보를 이용할 때에는 정보주체의 사전동의를 받도록 하고 있습니다</a:t>
            </a:r>
            <a:r>
              <a:rPr lang="en-US" altLang="ko-KR" sz="700" dirty="0">
                <a:latin typeface="Consolas" panose="020B0609020204030204" pitchFamily="49" charset="0"/>
              </a:rPr>
              <a:t>. 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현재 사무를 처리하기 위하여 </a:t>
            </a:r>
            <a:r>
              <a:rPr lang="ko-KR" altLang="en-US" sz="7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700" dirty="0">
                <a:latin typeface="Consolas" panose="020B0609020204030204" pitchFamily="49" charset="0"/>
              </a:rPr>
              <a:t> 민원담당자가 본인의 정보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이름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 smtClean="0">
                <a:latin typeface="Consolas" panose="020B0609020204030204" pitchFamily="49" charset="0"/>
              </a:rPr>
              <a:t>사업자등록번호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latin typeface="Consolas" panose="020B0609020204030204" pitchFamily="49" charset="0"/>
              </a:rPr>
              <a:t>를 활용하여 행정정보를 열람합니다</a:t>
            </a:r>
            <a:r>
              <a:rPr lang="en-US" altLang="ko-KR" sz="700" dirty="0">
                <a:latin typeface="Consolas" panose="020B0609020204030204" pitchFamily="49" charset="0"/>
              </a:rPr>
              <a:t>. 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본인은 이 건 사무의 처리와 관련하여 </a:t>
            </a:r>
            <a:r>
              <a:rPr lang="en-US" altLang="ko-KR" sz="700" dirty="0">
                <a:latin typeface="Consolas" panose="020B0609020204030204" pitchFamily="49" charset="0"/>
              </a:rPr>
              <a:t>『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en-US" altLang="ko-KR" sz="700" dirty="0">
                <a:latin typeface="Consolas" panose="020B0609020204030204" pitchFamily="49" charset="0"/>
              </a:rPr>
              <a:t>』 </a:t>
            </a:r>
            <a:r>
              <a:rPr lang="ko-KR" altLang="en-US" sz="700" dirty="0">
                <a:latin typeface="Consolas" panose="020B0609020204030204" pitchFamily="49" charset="0"/>
              </a:rPr>
              <a:t>제</a:t>
            </a:r>
            <a:r>
              <a:rPr lang="en-US" altLang="ko-KR" sz="700" dirty="0">
                <a:latin typeface="Consolas" panose="020B0609020204030204" pitchFamily="49" charset="0"/>
              </a:rPr>
              <a:t>36</a:t>
            </a:r>
            <a:r>
              <a:rPr lang="ko-KR" altLang="en-US" sz="700" dirty="0">
                <a:latin typeface="Consolas" panose="020B0609020204030204" pitchFamily="49" charset="0"/>
              </a:rPr>
              <a:t>조에 따른 행정정보 공동이용을 통하여 </a:t>
            </a:r>
            <a:r>
              <a:rPr lang="ko-KR" altLang="en-US" sz="700" dirty="0" err="1">
                <a:latin typeface="Consolas" panose="020B0609020204030204" pitchFamily="49" charset="0"/>
              </a:rPr>
              <a:t>이용기관의</a:t>
            </a:r>
            <a:r>
              <a:rPr lang="ko-KR" altLang="en-US" sz="700" dirty="0">
                <a:latin typeface="Consolas" panose="020B0609020204030204" pitchFamily="49" charset="0"/>
              </a:rPr>
              <a:t> 업무처리 담당자가 전자적으로 본인의 구비서류를 확인 하는 것에 동의합니다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아래에 기재된 </a:t>
            </a:r>
            <a:r>
              <a:rPr lang="ko-KR" altLang="en-US" sz="700" dirty="0" err="1">
                <a:latin typeface="Consolas" panose="020B0609020204030204" pitchFamily="49" charset="0"/>
              </a:rPr>
              <a:t>행정정보는</a:t>
            </a:r>
            <a:r>
              <a:rPr lang="ko-KR" altLang="en-US" sz="700" dirty="0">
                <a:latin typeface="Consolas" panose="020B0609020204030204" pitchFamily="49" charset="0"/>
              </a:rPr>
              <a:t> 목적 외의 용도로 사용할 수 없으며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동의하지 않는 경우 본인의 선택에 따라 서류로 대신 제출 할 수 있음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8" name="타원 57"/>
          <p:cNvSpPr/>
          <p:nvPr/>
        </p:nvSpPr>
        <p:spPr>
          <a:xfrm>
            <a:off x="832165" y="22070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9" name="그룹 58"/>
          <p:cNvGrpSpPr/>
          <p:nvPr/>
        </p:nvGrpSpPr>
        <p:grpSpPr>
          <a:xfrm flipV="1">
            <a:off x="3138039" y="2277555"/>
            <a:ext cx="94010" cy="47005"/>
            <a:chOff x="6812560" y="3297172"/>
            <a:chExt cx="94010" cy="47005"/>
          </a:xfrm>
        </p:grpSpPr>
        <p:cxnSp>
          <p:nvCxnSpPr>
            <p:cNvPr id="60" name="직선 연결선 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직선 연결선 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양쪽 모서리가 둥근 사각형 62"/>
          <p:cNvSpPr/>
          <p:nvPr/>
        </p:nvSpPr>
        <p:spPr>
          <a:xfrm>
            <a:off x="3795734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4881747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6284673" y="1773925"/>
            <a:ext cx="94010" cy="94010"/>
            <a:chOff x="6812560" y="3297172"/>
            <a:chExt cx="94010" cy="94010"/>
          </a:xfrm>
        </p:grpSpPr>
        <p:cxnSp>
          <p:nvCxnSpPr>
            <p:cNvPr id="66" name="직선 연결선 6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직선 연결선 6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행정정보공동이용 </a:t>
            </a:r>
            <a:r>
              <a:rPr lang="ko-KR" altLang="en-US" sz="900" dirty="0" err="1">
                <a:latin typeface="+mn-ea"/>
              </a:rPr>
              <a:t>사전동의서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 rot="5400000">
            <a:off x="5782577" y="43897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2262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642914"/>
            <a:ext cx="2473940" cy="11705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공동이용의 목적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국내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외 경쟁입찰에 참여하고자 하는 자의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업체등록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품목등록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추가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및 입찰참가자격 확인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계약을 위해 제출하는 민원</a:t>
            </a: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 대상 행정정보 및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이용범위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국내업체품목등록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사업자등록증명원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)1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종</a:t>
            </a: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 대상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이용기관의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명칭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방위사업청</a:t>
            </a:r>
            <a:endParaRPr lang="ko-KR" alt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398657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8" name="그룹 77"/>
          <p:cNvGrpSpPr/>
          <p:nvPr/>
        </p:nvGrpSpPr>
        <p:grpSpPr>
          <a:xfrm>
            <a:off x="4553124" y="4360817"/>
            <a:ext cx="1197246" cy="107722"/>
            <a:chOff x="4526323" y="5902014"/>
            <a:chExt cx="1197246" cy="107722"/>
          </a:xfrm>
        </p:grpSpPr>
        <p:sp>
          <p:nvSpPr>
            <p:cNvPr id="79" name="타원 78"/>
            <p:cNvSpPr/>
            <p:nvPr/>
          </p:nvSpPr>
          <p:spPr>
            <a:xfrm>
              <a:off x="4526323" y="5907195"/>
              <a:ext cx="106031" cy="9736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타원 82"/>
            <p:cNvSpPr/>
            <p:nvPr/>
          </p:nvSpPr>
          <p:spPr>
            <a:xfrm>
              <a:off x="5277619" y="5907195"/>
              <a:ext cx="106031" cy="9736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94755" y="5902014"/>
              <a:ext cx="391133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 안함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454265" y="5902014"/>
              <a:ext cx="269304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동의함</a:t>
              </a:r>
            </a:p>
          </p:txBody>
        </p:sp>
      </p:grpSp>
      <p:grpSp>
        <p:nvGrpSpPr>
          <p:cNvPr id="86" name="그룹 85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</a:rPr>
                <a:t>신청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8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107186"/>
            <a:ext cx="2473940" cy="1363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b="1" spc="-87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행정정보 공동 이용</a:t>
            </a:r>
            <a:endParaRPr lang="ko-KR" altLang="en-US" sz="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350548"/>
            <a:ext cx="2154318" cy="1640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행정정보공동이용 </a:t>
            </a:r>
            <a:r>
              <a:rPr lang="ko-KR" altLang="en-US" sz="800" b="1" dirty="0" err="1">
                <a:latin typeface="Consolas" panose="020B0609020204030204" pitchFamily="49" charset="0"/>
              </a:rPr>
              <a:t>사전동의서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7136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619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0" name="그룹 4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1" name="직사각형 5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2135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180</a:t>
            </a:fld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55204" y="73402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636579"/>
              </p:ext>
            </p:extLst>
          </p:nvPr>
        </p:nvGraphicFramePr>
        <p:xfrm>
          <a:off x="455204" y="969807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및 변경된 조달업체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28309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5FF12AC-7478-0A92-A25F-C8ED37CDE2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5289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3159870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확인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클릭 시 토스트 메시지 </a:t>
            </a:r>
            <a:r>
              <a:rPr lang="en-US" altLang="ko-KR" dirty="0"/>
              <a:t>- </a:t>
            </a:r>
            <a:r>
              <a:rPr lang="ko-KR" altLang="en-US" dirty="0"/>
              <a:t>신청 완료되었습니다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데이터에 </a:t>
            </a:r>
            <a:r>
              <a:rPr lang="ko-KR" altLang="en-US" dirty="0" smtClean="0"/>
              <a:t>지연이 </a:t>
            </a:r>
            <a:r>
              <a:rPr lang="ko-KR" altLang="en-US" dirty="0"/>
              <a:t>발생하는 경우 </a:t>
            </a:r>
            <a:r>
              <a:rPr lang="ko-KR" altLang="en-US" dirty="0" err="1"/>
              <a:t>스피너</a:t>
            </a:r>
            <a:r>
              <a:rPr lang="en-US" altLang="ko-KR" dirty="0"/>
              <a:t>, </a:t>
            </a:r>
            <a:r>
              <a:rPr lang="ko-KR" altLang="en-US" dirty="0" smtClean="0"/>
              <a:t>로딩 </a:t>
            </a:r>
            <a:r>
              <a:rPr lang="ko-KR" altLang="en-US" dirty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버튼 클릭 시 작성 화면 복귀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확인 팝업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추가등록</a:t>
            </a:r>
            <a:r>
              <a:rPr lang="ko-KR" altLang="en-US" dirty="0"/>
              <a:t> 신청 확인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확인 팝업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741416" y="3262742"/>
            <a:ext cx="2579992" cy="1200743"/>
            <a:chOff x="713510" y="2317399"/>
            <a:chExt cx="2579992" cy="1200743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71351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56348" y="3076561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확인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3120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3120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업체정보 </a:t>
              </a:r>
              <a:r>
                <a:rPr lang="ko-KR" altLang="en-US" sz="900" b="1" dirty="0" err="1">
                  <a:latin typeface="+mn-ea"/>
                </a:rPr>
                <a:t>추가등록</a:t>
              </a:r>
              <a:r>
                <a:rPr lang="ko-KR" altLang="en-US" sz="900" b="1" dirty="0">
                  <a:latin typeface="+mn-ea"/>
                </a:rPr>
                <a:t> 신청 확인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093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신청서를 접수합니다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 err="1">
                  <a:latin typeface="+mn-ea"/>
                </a:rPr>
                <a:t>오기재된</a:t>
              </a:r>
              <a:r>
                <a:rPr lang="ko-KR" altLang="en-US" sz="700" dirty="0">
                  <a:latin typeface="+mn-ea"/>
                </a:rPr>
                <a:t> 사항이 없는지 모두 </a:t>
              </a:r>
              <a:r>
                <a:rPr lang="ko-KR" altLang="en-US" sz="700" dirty="0" err="1">
                  <a:latin typeface="+mn-ea"/>
                </a:rPr>
                <a:t>확인하셨나요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75" name="그룹 74"/>
            <p:cNvGrpSpPr/>
            <p:nvPr/>
          </p:nvGrpSpPr>
          <p:grpSpPr>
            <a:xfrm>
              <a:off x="3042338" y="2464129"/>
              <a:ext cx="94010" cy="94010"/>
              <a:chOff x="6812560" y="3297172"/>
              <a:chExt cx="94010" cy="94010"/>
            </a:xfrm>
          </p:grpSpPr>
          <p:cxnSp>
            <p:nvCxnSpPr>
              <p:cNvPr id="76" name="직선 연결선 7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직선 연결선 7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3" y="334716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925401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도움말 아코디언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콘텐츠 우측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업체 </a:t>
            </a:r>
            <a:r>
              <a:rPr lang="ko-KR" altLang="en-US" dirty="0" err="1">
                <a:latin typeface="+mn-ea"/>
              </a:rPr>
              <a:t>등록현황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적격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부적격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업체등록</a:t>
            </a:r>
            <a:r>
              <a:rPr lang="ko-KR" altLang="en-US" dirty="0">
                <a:latin typeface="+mn-ea"/>
              </a:rPr>
              <a:t> 안내 팝업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우측 표시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신청 목록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클릭 시 </a:t>
            </a:r>
            <a:r>
              <a:rPr lang="ko-KR" altLang="en-US" dirty="0" err="1">
                <a:latin typeface="+mn-ea"/>
              </a:rPr>
              <a:t>상세화면</a:t>
            </a:r>
            <a:r>
              <a:rPr lang="ko-KR" altLang="en-US" dirty="0">
                <a:latin typeface="+mn-ea"/>
              </a:rPr>
              <a:t> 이동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- 10</a:t>
            </a:r>
            <a:r>
              <a:rPr lang="ko-KR" altLang="en-US" dirty="0">
                <a:latin typeface="+mn-ea"/>
              </a:rPr>
              <a:t>개 미만 시 </a:t>
            </a:r>
            <a:r>
              <a:rPr lang="ko-KR" altLang="en-US" dirty="0" err="1">
                <a:latin typeface="+mn-ea"/>
              </a:rPr>
              <a:t>더보기</a:t>
            </a:r>
            <a:r>
              <a:rPr lang="ko-KR" altLang="en-US" dirty="0">
                <a:latin typeface="+mn-ea"/>
              </a:rPr>
              <a:t> 버튼 숨김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상단 레이블 </a:t>
            </a:r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구분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진행상황</a:t>
            </a:r>
            <a:r>
              <a:rPr lang="en-US" altLang="ko-KR" dirty="0">
                <a:latin typeface="+mn-ea"/>
              </a:rPr>
              <a:t>]</a:t>
            </a:r>
            <a:r>
              <a:rPr lang="ko-KR" altLang="en-US" dirty="0">
                <a:latin typeface="+mn-ea"/>
              </a:rPr>
              <a:t> 표시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더하기 버튼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바텀</a:t>
            </a:r>
            <a:r>
              <a:rPr lang="ko-KR" altLang="en-US" dirty="0">
                <a:latin typeface="+mn-ea"/>
              </a:rPr>
              <a:t> 버튼 팝업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[</a:t>
            </a:r>
            <a:r>
              <a:rPr lang="ko-KR" altLang="en-US" dirty="0">
                <a:latin typeface="+mn-ea"/>
              </a:rPr>
              <a:t>신규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갱신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변경</a:t>
            </a:r>
            <a:r>
              <a:rPr lang="en-US" altLang="ko-KR" dirty="0">
                <a:latin typeface="+mn-ea"/>
              </a:rPr>
              <a:t>]</a:t>
            </a:r>
            <a:r>
              <a:rPr lang="ko-KR" altLang="en-US" dirty="0">
                <a:latin typeface="+mn-ea"/>
              </a:rPr>
              <a:t> 버튼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클릭 시 구분 값 사용 및 신청 페이지 이동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solidFill>
                  <a:srgbClr val="FF0000"/>
                </a:solidFill>
                <a:latin typeface="+mn-ea"/>
              </a:rPr>
              <a:t>  &gt;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구분이 실효나 말소일 경우 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– [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변경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]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 버튼 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Dim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처리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신청 및 발급 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신청 및 발급 목록 </a:t>
            </a:r>
            <a:r>
              <a:rPr lang="ko-KR" altLang="en-US" dirty="0">
                <a:latin typeface="+mn-ea"/>
              </a:rPr>
              <a:t>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신청 목록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4" name="직선 연결선 2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타원 25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99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9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744635"/>
            <a:ext cx="2446613" cy="314008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1156" y="54973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6181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7" name="그룹 36"/>
          <p:cNvGrpSpPr/>
          <p:nvPr/>
        </p:nvGrpSpPr>
        <p:grpSpPr>
          <a:xfrm>
            <a:off x="781461" y="2752959"/>
            <a:ext cx="2473257" cy="952943"/>
            <a:chOff x="781461" y="2610063"/>
            <a:chExt cx="2473257" cy="952943"/>
          </a:xfrm>
        </p:grpSpPr>
        <p:sp>
          <p:nvSpPr>
            <p:cNvPr id="3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접수번호 </a:t>
              </a:r>
              <a:r>
                <a:rPr lang="en-US" altLang="ko-KR" sz="900" b="1" dirty="0"/>
                <a:t>2026-0020</a:t>
              </a:r>
              <a:endParaRPr lang="ko-KR" altLang="en-US" sz="900" b="1" dirty="0"/>
            </a:p>
          </p:txBody>
        </p:sp>
        <p:sp>
          <p:nvSpPr>
            <p:cNvPr id="3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09008"/>
              <a:ext cx="53380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요청일자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실효</a:t>
              </a:r>
              <a:r>
                <a:rPr lang="en-US" altLang="ko-KR" sz="600" dirty="0">
                  <a:latin typeface="+mn-ea"/>
                </a:rPr>
                <a:t>, </a:t>
              </a:r>
              <a:r>
                <a:rPr lang="ko-KR" altLang="en-US" sz="600" dirty="0">
                  <a:latin typeface="+mn-ea"/>
                </a:rPr>
                <a:t>말소 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만료일자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834593" y="2993619"/>
              <a:ext cx="397545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41" name="모서리가 둥근 직사각형 4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신규</a:t>
              </a:r>
            </a:p>
          </p:txBody>
        </p:sp>
        <p:sp>
          <p:nvSpPr>
            <p:cNvPr id="105" name="모서리가 둥근 직사각형 104"/>
            <p:cNvSpPr/>
            <p:nvPr/>
          </p:nvSpPr>
          <p:spPr>
            <a:xfrm>
              <a:off x="1079210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저장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781461" y="3948771"/>
            <a:ext cx="2473257" cy="949566"/>
            <a:chOff x="781461" y="2610063"/>
            <a:chExt cx="2473257" cy="949566"/>
          </a:xfrm>
        </p:grpSpPr>
        <p:sp>
          <p:nvSpPr>
            <p:cNvPr id="4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접수번호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2026-0019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4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23457"/>
              <a:ext cx="533800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요청일자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실효</a:t>
              </a:r>
              <a:r>
                <a:rPr lang="en-US" altLang="ko-KR" sz="600" dirty="0">
                  <a:latin typeface="+mn-ea"/>
                </a:rPr>
                <a:t>, </a:t>
              </a:r>
              <a:r>
                <a:rPr lang="ko-KR" altLang="en-US" sz="600" dirty="0">
                  <a:latin typeface="+mn-ea"/>
                </a:rPr>
                <a:t>말소 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만료일자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834953" y="3008068"/>
              <a:ext cx="397545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갱신</a:t>
              </a:r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1079210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제출</a:t>
              </a:r>
            </a:p>
          </p:txBody>
        </p:sp>
      </p:grp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2686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132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371408"/>
            <a:ext cx="121152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업체 </a:t>
            </a:r>
            <a:r>
              <a:rPr lang="ko-KR" altLang="en-US" sz="800" b="1" dirty="0" err="1">
                <a:latin typeface="+mn-ea"/>
              </a:rPr>
              <a:t>등록현황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496405" y="2345219"/>
            <a:ext cx="37049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적격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08250" y="2345219"/>
            <a:ext cx="72153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맑은 고딕"/>
              </a:rPr>
              <a:t>업체등록</a:t>
            </a: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 안내 </a:t>
            </a:r>
            <a:r>
              <a:rPr kumimoji="1" lang="en-US" altLang="ko-KR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&gt;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339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2591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15" name="타원 114"/>
          <p:cNvSpPr/>
          <p:nvPr/>
        </p:nvSpPr>
        <p:spPr>
          <a:xfrm>
            <a:off x="783686" y="195726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6" name="그룹 115"/>
          <p:cNvGrpSpPr/>
          <p:nvPr/>
        </p:nvGrpSpPr>
        <p:grpSpPr>
          <a:xfrm>
            <a:off x="3143548" y="2039247"/>
            <a:ext cx="94010" cy="47005"/>
            <a:chOff x="6812560" y="3297172"/>
            <a:chExt cx="94010" cy="47005"/>
          </a:xfrm>
        </p:grpSpPr>
        <p:cxnSp>
          <p:nvCxnSpPr>
            <p:cNvPr id="117" name="직선 연결선 1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직선 연결선 1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3898850" y="1926097"/>
            <a:ext cx="247983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b="1" dirty="0"/>
              <a:t>구분 정보</a:t>
            </a:r>
            <a:endParaRPr lang="en-US" altLang="ko-KR" sz="800" b="1" dirty="0"/>
          </a:p>
          <a:p>
            <a:pPr marL="171450" indent="-171450">
              <a:buFontTx/>
              <a:buChar char="-"/>
            </a:pPr>
            <a:r>
              <a:rPr lang="ko-KR" altLang="en-US" sz="800" dirty="0"/>
              <a:t>말소 </a:t>
            </a:r>
            <a:r>
              <a:rPr lang="en-US" altLang="ko-KR" sz="800" dirty="0"/>
              <a:t>:  </a:t>
            </a:r>
            <a:r>
              <a:rPr lang="ko-KR" altLang="en-US" sz="800" dirty="0"/>
              <a:t>관리자의 직권으로 군수품무역대리업 관련 업무를 할 수 없음</a:t>
            </a:r>
            <a:r>
              <a:rPr lang="en-US" altLang="ko-KR" sz="80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/>
              <a:t>실효 </a:t>
            </a:r>
            <a:r>
              <a:rPr lang="en-US" altLang="ko-KR" sz="800" dirty="0"/>
              <a:t>: </a:t>
            </a:r>
            <a:r>
              <a:rPr lang="ko-KR" altLang="en-US" sz="800" dirty="0" err="1"/>
              <a:t>갱신기간이</a:t>
            </a:r>
            <a:r>
              <a:rPr lang="ko-KR" altLang="en-US" sz="800" dirty="0"/>
              <a:t> 지나 군수품무역대리업 관련 업무를 할 수 없음</a:t>
            </a:r>
            <a:r>
              <a:rPr lang="en-US" altLang="ko-KR" sz="800" dirty="0"/>
              <a:t>.</a:t>
            </a:r>
            <a:r>
              <a:rPr lang="ko-KR" altLang="en-US" sz="800" dirty="0"/>
              <a:t> </a:t>
            </a: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23" name="타원 122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25" name="직선 연결선 12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직선 연결선 12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26418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양쪽 모서리가 둥근 사각형 127"/>
          <p:cNvSpPr/>
          <p:nvPr/>
        </p:nvSpPr>
        <p:spPr>
          <a:xfrm>
            <a:off x="3795734" y="2747653"/>
            <a:ext cx="2712027" cy="348464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4881747" y="2778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30" name="그룹 129"/>
          <p:cNvGrpSpPr/>
          <p:nvPr/>
        </p:nvGrpSpPr>
        <p:grpSpPr>
          <a:xfrm>
            <a:off x="6284673" y="2912467"/>
            <a:ext cx="94010" cy="94010"/>
            <a:chOff x="6812560" y="3297172"/>
            <a:chExt cx="94010" cy="94010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893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업체등록</a:t>
            </a:r>
            <a:r>
              <a:rPr lang="ko-KR" altLang="en-US" sz="900" dirty="0">
                <a:latin typeface="+mn-ea"/>
              </a:rPr>
              <a:t> 안내</a:t>
            </a:r>
          </a:p>
        </p:txBody>
      </p: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154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4" name="직사각형 143"/>
          <p:cNvSpPr/>
          <p:nvPr/>
        </p:nvSpPr>
        <p:spPr>
          <a:xfrm>
            <a:off x="3924812" y="3313018"/>
            <a:ext cx="2453872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최초 등록하시는 경우 아래 등록신청서 및 첨부서류를 구비하여 신청하시기 바랍니다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  <a:r>
              <a:rPr lang="ko-KR" altLang="en-US" sz="800" dirty="0">
                <a:latin typeface="Consolas" panose="020B0609020204030204" pitchFamily="49" charset="0"/>
              </a:rPr>
              <a:t>등록신청서 및 </a:t>
            </a:r>
            <a:r>
              <a:rPr lang="ko-KR" altLang="en-US" sz="800" dirty="0" err="1">
                <a:latin typeface="Consolas" panose="020B0609020204030204" pitchFamily="49" charset="0"/>
              </a:rPr>
              <a:t>청렴서약서</a:t>
            </a:r>
            <a:r>
              <a:rPr lang="ko-KR" altLang="en-US" sz="800" dirty="0">
                <a:latin typeface="Consolas" panose="020B0609020204030204" pitchFamily="49" charset="0"/>
              </a:rPr>
              <a:t> 서식은 국가법령정보센터</a:t>
            </a:r>
            <a:r>
              <a:rPr lang="en-US" altLang="ko-KR" sz="800" dirty="0">
                <a:latin typeface="Consolas" panose="020B0609020204030204" pitchFamily="49" charset="0"/>
              </a:rPr>
              <a:t>(www.law.go.kr)</a:t>
            </a:r>
            <a:r>
              <a:rPr lang="ko-KR" altLang="en-US" sz="800" dirty="0">
                <a:latin typeface="Consolas" panose="020B0609020204030204" pitchFamily="49" charset="0"/>
              </a:rPr>
              <a:t>에서 방위사업법 시행규칙을 검색하시어 별기 </a:t>
            </a:r>
            <a:r>
              <a:rPr lang="en-US" altLang="ko-KR" sz="800" dirty="0">
                <a:latin typeface="Consolas" panose="020B0609020204030204" pitchFamily="49" charset="0"/>
              </a:rPr>
              <a:t>3, </a:t>
            </a:r>
            <a:r>
              <a:rPr lang="ko-KR" altLang="en-US" sz="800" dirty="0">
                <a:latin typeface="Consolas" panose="020B0609020204030204" pitchFamily="49" charset="0"/>
              </a:rPr>
              <a:t>별지 </a:t>
            </a:r>
            <a:r>
              <a:rPr lang="en-US" altLang="ko-KR" sz="800" dirty="0">
                <a:latin typeface="Consolas" panose="020B0609020204030204" pitchFamily="49" charset="0"/>
              </a:rPr>
              <a:t>23 </a:t>
            </a:r>
            <a:r>
              <a:rPr lang="ko-KR" altLang="en-US" sz="800" dirty="0">
                <a:latin typeface="Consolas" panose="020B0609020204030204" pitchFamily="49" charset="0"/>
              </a:rPr>
              <a:t>서식을 사용하시면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변경 등록 시에는 등록 신청서 상에 변경되는 내용을 적으시고 증명되는 서류를 첨부하시면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최초 등록 후 </a:t>
            </a:r>
            <a:r>
              <a:rPr lang="en-US" altLang="ko-KR" sz="800" dirty="0">
                <a:latin typeface="Consolas" panose="020B0609020204030204" pitchFamily="49" charset="0"/>
              </a:rPr>
              <a:t>3</a:t>
            </a:r>
            <a:r>
              <a:rPr lang="ko-KR" altLang="en-US" sz="800" dirty="0">
                <a:latin typeface="Consolas" panose="020B0609020204030204" pitchFamily="49" charset="0"/>
              </a:rPr>
              <a:t>년 유효기간이 만료 후에도 군수품무역대리업을 계속 수행하고 싶으시면 유효기간 만료 </a:t>
            </a:r>
            <a:r>
              <a:rPr lang="en-US" altLang="ko-KR" sz="800" dirty="0">
                <a:latin typeface="Consolas" panose="020B0609020204030204" pitchFamily="49" charset="0"/>
              </a:rPr>
              <a:t>1</a:t>
            </a:r>
            <a:r>
              <a:rPr lang="ko-KR" altLang="en-US" sz="800" dirty="0">
                <a:latin typeface="Consolas" panose="020B0609020204030204" pitchFamily="49" charset="0"/>
              </a:rPr>
              <a:t>개월 전부터 국방전자조달 시스템</a:t>
            </a:r>
            <a:r>
              <a:rPr lang="en-US" altLang="ko-KR" sz="800" dirty="0">
                <a:latin typeface="Consolas" panose="020B0609020204030204" pitchFamily="49" charset="0"/>
              </a:rPr>
              <a:t>(www.d2b.go.kr)</a:t>
            </a:r>
            <a:r>
              <a:rPr lang="ko-KR" altLang="en-US" sz="800" dirty="0">
                <a:latin typeface="Consolas" panose="020B0609020204030204" pitchFamily="49" charset="0"/>
              </a:rPr>
              <a:t>에 로그인후 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 err="1">
                <a:latin typeface="Consolas" panose="020B0609020204030204" pitchFamily="49" charset="0"/>
              </a:rPr>
              <a:t>마이페이지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에서 아래와 같이 관련 서류를 첨부 후 신청하시기 바랍니다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r>
              <a:rPr lang="ko-KR" altLang="en-US" sz="800" dirty="0">
                <a:latin typeface="Consolas" panose="020B0609020204030204" pitchFamily="49" charset="0"/>
              </a:rPr>
              <a:t> 등록 유효기간이 완료된 이후에는 신규로 다시 신청하시면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</a:p>
          <a:p>
            <a:r>
              <a:rPr lang="en-US" altLang="ko-KR" sz="800" b="1" dirty="0">
                <a:latin typeface="Consolas" panose="020B0609020204030204" pitchFamily="49" charset="0"/>
              </a:rPr>
              <a:t> [ </a:t>
            </a:r>
            <a:r>
              <a:rPr lang="ko-KR" altLang="en-US" sz="800" b="1" dirty="0">
                <a:latin typeface="Consolas" panose="020B0609020204030204" pitchFamily="49" charset="0"/>
              </a:rPr>
              <a:t>등록 신청서 및 첨부서류 </a:t>
            </a:r>
            <a:r>
              <a:rPr lang="en-US" altLang="ko-KR" sz="800" b="1" dirty="0">
                <a:latin typeface="Consolas" panose="020B0609020204030204" pitchFamily="49" charset="0"/>
              </a:rPr>
              <a:t>] </a:t>
            </a:r>
          </a:p>
          <a:p>
            <a:r>
              <a:rPr lang="en-US" altLang="ko-KR" sz="800" dirty="0">
                <a:latin typeface="맑은 고딕" panose="020B0503020000020004" pitchFamily="50" charset="-127"/>
              </a:rPr>
              <a:t>☞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필요서류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안내 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통합검색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800" dirty="0">
                <a:solidFill>
                  <a:srgbClr val="996600"/>
                </a:solidFill>
                <a:latin typeface="Consolas" panose="020B0609020204030204" pitchFamily="49" charset="0"/>
              </a:rPr>
              <a:t>군수품무역대리업 신청서 </a:t>
            </a:r>
            <a:endParaRPr lang="en-US" altLang="ko-KR" sz="8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ko-KR" altLang="en-US" sz="800" dirty="0">
                <a:latin typeface="Consolas" panose="020B0609020204030204" pitchFamily="49" charset="0"/>
              </a:rPr>
              <a:t>① 등록신청서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방위사업법 시행규칙 별지 제 </a:t>
            </a:r>
            <a:r>
              <a:rPr lang="en-US" altLang="ko-KR" sz="800" dirty="0">
                <a:latin typeface="Consolas" panose="020B0609020204030204" pitchFamily="49" charset="0"/>
              </a:rPr>
              <a:t>23</a:t>
            </a:r>
            <a:r>
              <a:rPr lang="ko-KR" altLang="en-US" sz="800" dirty="0">
                <a:latin typeface="Consolas" panose="020B0609020204030204" pitchFamily="49" charset="0"/>
              </a:rPr>
              <a:t>호 서식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800" dirty="0">
                <a:latin typeface="Consolas" panose="020B0609020204030204" pitchFamily="49" charset="0"/>
              </a:rPr>
              <a:t>② 대표자 및 임원의 이력서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※ </a:t>
            </a:r>
            <a:r>
              <a:rPr lang="ko-KR" altLang="en-US" sz="800" dirty="0">
                <a:latin typeface="Consolas" panose="020B0609020204030204" pitchFamily="49" charset="0"/>
              </a:rPr>
              <a:t>임원은 상법 등 관련 법률에 따라 이사 및 감사이며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해당 인원은 법인등기부 등본 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임원에 관련된 사항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에 기재된    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 </a:t>
            </a:r>
            <a:r>
              <a:rPr lang="ko-KR" altLang="en-US" sz="800" dirty="0">
                <a:latin typeface="Consolas" panose="020B0609020204030204" pitchFamily="49" charset="0"/>
              </a:rPr>
              <a:t>모든 인원을 포함합니다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  </a:t>
            </a:r>
            <a:r>
              <a:rPr lang="ko-KR" altLang="en-US" sz="800" dirty="0">
                <a:latin typeface="Consolas" panose="020B0609020204030204" pitchFamily="49" charset="0"/>
              </a:rPr>
              <a:t>그러므로 법인등기부 상 임원은 모두 이력서 및 청렴서약서를 제출하셔야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ko-KR" altLang="en-US" sz="800" dirty="0">
                <a:latin typeface="Consolas" panose="020B0609020204030204" pitchFamily="49" charset="0"/>
              </a:rPr>
              <a:t>③ 전체 직원 수 및 방위사업 관련 직원 수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성명 등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</a:t>
            </a:r>
            <a:endParaRPr lang="en-US" altLang="ko-KR" sz="800" b="1" dirty="0">
              <a:latin typeface="Consolas" panose="020B0609020204030204" pitchFamily="49" charset="0"/>
            </a:endParaRPr>
          </a:p>
          <a:p>
            <a:r>
              <a:rPr lang="ko-KR" altLang="en-US" sz="800" dirty="0">
                <a:latin typeface="Consolas" panose="020B0609020204030204" pitchFamily="49" charset="0"/>
              </a:rPr>
              <a:t>④ </a:t>
            </a:r>
            <a:r>
              <a:rPr lang="ko-KR" altLang="en-US" sz="800" dirty="0" err="1">
                <a:latin typeface="Consolas" panose="020B0609020204030204" pitchFamily="49" charset="0"/>
              </a:rPr>
              <a:t>청렴서약서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방위사업법 시행규칙 별지 제 </a:t>
            </a:r>
            <a:r>
              <a:rPr lang="en-US" altLang="ko-KR" sz="800" dirty="0">
                <a:latin typeface="Consolas" panose="020B0609020204030204" pitchFamily="49" charset="0"/>
              </a:rPr>
              <a:t>2</a:t>
            </a:r>
            <a:r>
              <a:rPr lang="ko-KR" altLang="en-US" sz="800" dirty="0">
                <a:latin typeface="Consolas" panose="020B0609020204030204" pitchFamily="49" charset="0"/>
              </a:rPr>
              <a:t>호 서식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  ※ </a:t>
            </a:r>
            <a:r>
              <a:rPr lang="ko-KR" altLang="en-US" sz="800" dirty="0">
                <a:latin typeface="Consolas" panose="020B0609020204030204" pitchFamily="49" charset="0"/>
              </a:rPr>
              <a:t>청렴서약서는 방위사업법 제 </a:t>
            </a:r>
            <a:r>
              <a:rPr lang="en-US" altLang="ko-KR" sz="800" dirty="0">
                <a:latin typeface="Consolas" panose="020B0609020204030204" pitchFamily="49" charset="0"/>
              </a:rPr>
              <a:t>6</a:t>
            </a:r>
            <a:r>
              <a:rPr lang="ko-KR" altLang="en-US" sz="800" dirty="0">
                <a:latin typeface="Consolas" panose="020B0609020204030204" pitchFamily="49" charset="0"/>
              </a:rPr>
              <a:t>조에 따라 대표 및 임원이 함께 제출하여야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※ </a:t>
            </a:r>
            <a:r>
              <a:rPr lang="ko-KR" altLang="en-US" sz="800" dirty="0">
                <a:latin typeface="Consolas" panose="020B0609020204030204" pitchFamily="49" charset="0"/>
              </a:rPr>
              <a:t>이력서와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고용현황은</a:t>
            </a:r>
            <a:r>
              <a:rPr lang="ko-KR" altLang="en-US" sz="800" dirty="0">
                <a:latin typeface="Consolas" panose="020B0609020204030204" pitchFamily="49" charset="0"/>
              </a:rPr>
              <a:t> 별도 서식이 없습니다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  <a:r>
              <a:rPr lang="ko-KR" altLang="en-US" sz="800" dirty="0">
                <a:latin typeface="Consolas" panose="020B0609020204030204" pitchFamily="49" charset="0"/>
              </a:rPr>
              <a:t>일반적으로 이력서는 귀사에서 사용하시는 양식을 사용하시고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4</a:t>
            </a:r>
            <a:r>
              <a:rPr lang="ko-KR" altLang="en-US" sz="800" dirty="0" err="1">
                <a:latin typeface="Consolas" panose="020B0609020204030204" pitchFamily="49" charset="0"/>
              </a:rPr>
              <a:t>대보험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가입현황을</a:t>
            </a:r>
            <a:r>
              <a:rPr lang="ko-KR" altLang="en-US" sz="800" dirty="0">
                <a:latin typeface="Consolas" panose="020B0609020204030204" pitchFamily="49" charset="0"/>
              </a:rPr>
              <a:t> 활용하시면서 방위사업 </a:t>
            </a:r>
            <a:r>
              <a:rPr lang="ko-KR" altLang="en-US" sz="800" dirty="0" err="1">
                <a:latin typeface="Consolas" panose="020B0609020204030204" pitchFamily="49" charset="0"/>
              </a:rPr>
              <a:t>참여직원만</a:t>
            </a:r>
            <a:r>
              <a:rPr lang="ko-KR" altLang="en-US" sz="800" dirty="0">
                <a:latin typeface="Consolas" panose="020B0609020204030204" pitchFamily="49" charset="0"/>
              </a:rPr>
              <a:t> 표시하시면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grpSp>
        <p:nvGrpSpPr>
          <p:cNvPr id="145" name="그룹 144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49" name="타원 1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608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13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51" name="타원 150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153" name="직선 연결선 152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7" name="타원 156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8" name="그룹 15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159" name="직선 연결선 158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672959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신청 내역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신청 내역</a:t>
            </a:r>
            <a:r>
              <a:rPr lang="ko-KR" altLang="en-US" dirty="0">
                <a:latin typeface="+mn-ea"/>
              </a:rPr>
              <a:t> 상세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</a:t>
            </a:r>
            <a:r>
              <a:rPr lang="ko-KR" altLang="en-US" dirty="0"/>
              <a:t> 신청 내역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신청</a:t>
            </a:r>
            <a:r>
              <a:rPr lang="ko-KR" altLang="en-US" sz="800" dirty="0">
                <a:latin typeface="+mn-ea"/>
              </a:rPr>
              <a:t>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81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3389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82" name="그룹 181"/>
          <p:cNvGrpSpPr/>
          <p:nvPr/>
        </p:nvGrpSpPr>
        <p:grpSpPr>
          <a:xfrm>
            <a:off x="716366" y="2448322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588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127204"/>
            <a:ext cx="24732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 dirty="0"/>
              <a:t>접수번호 </a:t>
            </a:r>
            <a:r>
              <a:rPr lang="en-US" altLang="ko-KR" sz="900" b="1" dirty="0"/>
              <a:t>2026-0020</a:t>
            </a:r>
            <a:endParaRPr lang="ko-KR" altLang="en-US" sz="900" b="1" dirty="0"/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81461" y="1942873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신규</a:t>
            </a:r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1079210" y="1942873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저장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3768757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업체정보</a:t>
            </a:r>
          </a:p>
        </p:txBody>
      </p:sp>
      <p:grpSp>
        <p:nvGrpSpPr>
          <p:cNvPr id="129" name="그룹 128"/>
          <p:cNvGrpSpPr/>
          <p:nvPr/>
        </p:nvGrpSpPr>
        <p:grpSpPr>
          <a:xfrm flipV="1">
            <a:off x="3139424" y="3882088"/>
            <a:ext cx="94010" cy="47005"/>
            <a:chOff x="6812560" y="3297172"/>
            <a:chExt cx="94010" cy="47005"/>
          </a:xfrm>
        </p:grpSpPr>
        <p:cxnSp>
          <p:nvCxnSpPr>
            <p:cNvPr id="140" name="직선 연결선 13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직선 연결선 14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직사각형 129"/>
          <p:cNvSpPr/>
          <p:nvPr/>
        </p:nvSpPr>
        <p:spPr>
          <a:xfrm>
            <a:off x="718459" y="4076242"/>
            <a:ext cx="792000" cy="215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40762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4076242"/>
            <a:ext cx="715881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대표자성명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전화번호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팩스번호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E-mail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사업자번호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설립일자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주소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반려사유</a:t>
            </a:r>
            <a:endParaRPr lang="en-US" altLang="ko-KR" sz="700" dirty="0">
              <a:latin typeface="+mn-ea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4076242"/>
            <a:ext cx="1784088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조달테스트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02-2345-6789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test@dapa.go.kr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123-45-67890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1999-01-02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서울특별시 종로구 </a:t>
            </a:r>
            <a:r>
              <a:rPr lang="en-US" altLang="ko-KR" sz="700" dirty="0">
                <a:latin typeface="+mn-ea"/>
              </a:rPr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반려 사유가 있는 경우 내역 표시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3073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5210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7347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9383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2" name="직선 연결선 1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515249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3835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5973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8110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60146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89558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3825376" y="2014071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088592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등록신청서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142453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53" name="타원 152"/>
          <p:cNvSpPr/>
          <p:nvPr/>
        </p:nvSpPr>
        <p:spPr>
          <a:xfrm>
            <a:off x="6148139" y="2124314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3825376" y="242075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9527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이력서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4913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66" name="타원 165"/>
          <p:cNvSpPr/>
          <p:nvPr/>
        </p:nvSpPr>
        <p:spPr>
          <a:xfrm>
            <a:off x="6148139" y="2531000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1878953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57655" y="1878953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1878953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2" name="모서리가 둥근 직사각형 211"/>
          <p:cNvSpPr/>
          <p:nvPr/>
        </p:nvSpPr>
        <p:spPr>
          <a:xfrm>
            <a:off x="3825376" y="282212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96641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청렴서약서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5050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215" name="타원 214"/>
          <p:cNvSpPr/>
          <p:nvPr/>
        </p:nvSpPr>
        <p:spPr>
          <a:xfrm>
            <a:off x="6148139" y="293236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모서리가 둥근 직사각형 215"/>
          <p:cNvSpPr/>
          <p:nvPr/>
        </p:nvSpPr>
        <p:spPr>
          <a:xfrm>
            <a:off x="3825376" y="322880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30332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고용현황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35718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sp>
        <p:nvSpPr>
          <p:cNvPr id="233" name="타원 232"/>
          <p:cNvSpPr/>
          <p:nvPr/>
        </p:nvSpPr>
        <p:spPr>
          <a:xfrm>
            <a:off x="6148139" y="3339049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20287" y="1679485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직선 연결선 25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5" name="모서리가 둥근 직사각형 254"/>
          <p:cNvSpPr/>
          <p:nvPr/>
        </p:nvSpPr>
        <p:spPr>
          <a:xfrm>
            <a:off x="3825376" y="3637559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712080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기타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765941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5</a:t>
            </a:r>
          </a:p>
        </p:txBody>
      </p:sp>
      <p:sp>
        <p:nvSpPr>
          <p:cNvPr id="258" name="타원 257"/>
          <p:cNvSpPr/>
          <p:nvPr/>
        </p:nvSpPr>
        <p:spPr>
          <a:xfrm>
            <a:off x="6148139" y="3747802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8618584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FD585-1033-4C5A-3046-40C4A14E6C3D}"/>
              </a:ext>
            </a:extLst>
          </p:cNvPr>
          <p:cNvSpPr txBox="1"/>
          <p:nvPr/>
        </p:nvSpPr>
        <p:spPr>
          <a:xfrm>
            <a:off x="460676" y="2623970"/>
            <a:ext cx="43222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등록 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F2E64DD-C9B3-2069-464E-8BD9C096BA8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48344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atrzStcd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(‘S’)/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13352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73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26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879723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71743" y="799547"/>
            <a:ext cx="448737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등록 신청 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1323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요청일자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요청일자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ersrYmd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expryYmd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B6B666-3096-71A0-5E08-A5417DF73D6C}"/>
              </a:ext>
            </a:extLst>
          </p:cNvPr>
          <p:cNvSpPr txBox="1"/>
          <p:nvPr/>
        </p:nvSpPr>
        <p:spPr>
          <a:xfrm>
            <a:off x="458118" y="5674388"/>
            <a:ext cx="48897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07B84B-0786-4D7E-AF4E-4677156D3253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89282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4399C34-F0AD-2FC9-C9A3-AB70DB5436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3138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8A8E10-80BC-6069-7ED2-A71A25FB940D}"/>
              </a:ext>
            </a:extLst>
          </p:cNvPr>
          <p:cNvSpPr txBox="1"/>
          <p:nvPr/>
        </p:nvSpPr>
        <p:spPr>
          <a:xfrm>
            <a:off x="455204" y="73350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A79CEB3-66DB-AEAC-E099-1C436911FB6A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63715"/>
          <a:ext cx="8995591" cy="189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군수품무역대리업 등록증 발급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scwin.btn_dfEqpmntTradeAgncIssu_onclick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승인되고 만료일자가 지나지 않은 신청 목록이 있을 때 등록증을 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</a:t>
                      </a:r>
                      <a:r>
                        <a:rPr lang="en-US" altLang="ko-KR" sz="800" dirty="0">
                          <a:latin typeface="+mn-ea"/>
                        </a:rPr>
                        <a:t>R26 </a:t>
                      </a:r>
                      <a:r>
                        <a:rPr lang="ko-KR" altLang="en-US" sz="800" dirty="0">
                          <a:latin typeface="+mn-ea"/>
                        </a:rPr>
                        <a:t>참조</a:t>
                      </a:r>
                      <a:r>
                        <a:rPr lang="en-US" altLang="ko-KR" sz="800" dirty="0">
                          <a:latin typeface="+mn-ea"/>
                        </a:rPr>
                        <a:t> (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OZPrint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(‘PVB021’))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변경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scwin.btn_mdfcn_onclick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조건에 따라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1,2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중 하나의 화면으로 이동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or Alert Message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발생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군수품무역대리업 신규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화면으로 이동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군수품무역대리업 신청한 정보 변경 화면으로 이동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구분이 신규이고 진행상태가 저장일때 신규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화면으로 이동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구분이 실효나 말소일 경우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Alert Message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9240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갱신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scwin.btn_updt_onclick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UI-CM-01-M24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22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scwin.btn_new_onclick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598501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5BD577E-BD73-83A5-547A-47F99BFA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4679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516160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신규</a:t>
            </a:r>
            <a:r>
              <a:rPr lang="en-US" altLang="ko-KR" dirty="0"/>
              <a:t>, </a:t>
            </a:r>
            <a:r>
              <a:rPr lang="ko-KR" altLang="en-US" dirty="0"/>
              <a:t>갱신에 따라 타이틀 변경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 파일 추가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첨부 </a:t>
            </a:r>
            <a:r>
              <a:rPr lang="ko-KR" altLang="en-US" dirty="0" err="1"/>
              <a:t>서류명</a:t>
            </a:r>
            <a:r>
              <a:rPr lang="ko-KR" altLang="en-US" dirty="0"/>
              <a:t> 하단 </a:t>
            </a:r>
            <a:r>
              <a:rPr lang="ko-KR" altLang="en-US" dirty="0" err="1"/>
              <a:t>바텀시트</a:t>
            </a:r>
            <a:r>
              <a:rPr lang="ko-KR" altLang="en-US" dirty="0"/>
              <a:t> </a:t>
            </a:r>
            <a:r>
              <a:rPr lang="ko-KR" altLang="en-US" dirty="0" smtClean="0"/>
              <a:t>팝업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해당 항목을 선택하여 파일 첨부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신구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39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6497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670228" y="1851002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82" name="그룹 181"/>
          <p:cNvGrpSpPr/>
          <p:nvPr/>
        </p:nvGrpSpPr>
        <p:grpSpPr>
          <a:xfrm>
            <a:off x="716366" y="2250457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716366" y="3573575"/>
            <a:ext cx="2630093" cy="2468167"/>
            <a:chOff x="716366" y="3768757"/>
            <a:chExt cx="2630093" cy="2468167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3768757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39424" y="3882088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0" name="직사각형 129"/>
            <p:cNvSpPr/>
            <p:nvPr/>
          </p:nvSpPr>
          <p:spPr>
            <a:xfrm>
              <a:off x="718459" y="4076242"/>
              <a:ext cx="792000" cy="21544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07624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076242"/>
              <a:ext cx="715881" cy="2154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대표자성명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E-mail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반려사유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4076242"/>
              <a:ext cx="1784088" cy="2154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test@dapa.go.kr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1999-01-02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 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 사유가 있는 경우 내역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307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521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7347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9383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515249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383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73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8110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01460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23692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70670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3825376" y="238821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6273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등록신청서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1659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97" name="모서리가 둥근 직사각형 96"/>
          <p:cNvSpPr/>
          <p:nvPr/>
        </p:nvSpPr>
        <p:spPr>
          <a:xfrm>
            <a:off x="3825376" y="279490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69424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이력서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23285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253099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2253099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3825376" y="319626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27078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청렴서약서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32464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3825376" y="3602952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677473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고용현황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731334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grpSp>
        <p:nvGrpSpPr>
          <p:cNvPr id="112" name="그룹 111"/>
          <p:cNvGrpSpPr/>
          <p:nvPr/>
        </p:nvGrpSpPr>
        <p:grpSpPr>
          <a:xfrm flipV="1">
            <a:off x="6220287" y="1660597"/>
            <a:ext cx="94010" cy="47005"/>
            <a:chOff x="6812560" y="3297172"/>
            <a:chExt cx="94010" cy="47005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모서리가 둥근 직사각형 114"/>
          <p:cNvSpPr/>
          <p:nvPr/>
        </p:nvSpPr>
        <p:spPr>
          <a:xfrm>
            <a:off x="3825376" y="401170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408622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기타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414008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5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65862" y="2256932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6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903537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486745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712234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295442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25376" y="1883029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4121177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4490" y="18737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29EC709-3774-4B79-A1C9-F5C9BF064DD3}"/>
              </a:ext>
            </a:extLst>
          </p:cNvPr>
          <p:cNvSpPr/>
          <p:nvPr/>
        </p:nvSpPr>
        <p:spPr>
          <a:xfrm>
            <a:off x="7299588" y="4875644"/>
            <a:ext cx="984207" cy="132484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8" name="사각형: 둥근 위쪽 모서리 75">
            <a:extLst>
              <a:ext uri="{FF2B5EF4-FFF2-40B4-BE49-F238E27FC236}">
                <a16:creationId xmlns:a16="http://schemas.microsoft.com/office/drawing/2014/main" id="{60414052-E4D1-4C00-8788-EA50205FEE78}"/>
              </a:ext>
            </a:extLst>
          </p:cNvPr>
          <p:cNvSpPr/>
          <p:nvPr/>
        </p:nvSpPr>
        <p:spPr>
          <a:xfrm>
            <a:off x="7302599" y="5175039"/>
            <a:ext cx="974971" cy="1025448"/>
          </a:xfrm>
          <a:prstGeom prst="round2SameRect">
            <a:avLst>
              <a:gd name="adj1" fmla="val 7735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61AA3FF4-C749-419A-A832-EBDDB6501526}"/>
              </a:ext>
            </a:extLst>
          </p:cNvPr>
          <p:cNvCxnSpPr/>
          <p:nvPr/>
        </p:nvCxnSpPr>
        <p:spPr>
          <a:xfrm>
            <a:off x="7362749" y="5509919"/>
            <a:ext cx="833735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79304F6B-454C-471B-AC82-4B2469CA7E73}"/>
              </a:ext>
            </a:extLst>
          </p:cNvPr>
          <p:cNvSpPr txBox="1"/>
          <p:nvPr/>
        </p:nvSpPr>
        <p:spPr>
          <a:xfrm>
            <a:off x="7369064" y="5391677"/>
            <a:ext cx="485299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kumimoji="1" lang="ko-KR" altLang="en-US" sz="800" dirty="0">
                <a:latin typeface="+mn-ea"/>
              </a:rPr>
              <a:t>첨부파일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203" name="Radio Button Group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bZEtJN5trzIZ/7X6Wfpcl2WjJwFIzhUl3ldF7M8nVRVmZ4ti3brzEfhWVUv0qbzwSg9O16tUurzjgPooYhnQriPGV7/bbwYIINHiL71KpsV1ZN121bLz+tqvXo9z1Z5k9bxj2lg+VUaf2eLuhm/zsGP+Uw+kq49pCOI4ynO0614j+OzpttbB9wASDx376bHs1l6DppOld3iLbs0G9N7z7NJXm59xN2n0n/z6CMQMgbhDAJ0XOcZMwX/8lkUrGm39dFHo3T3/s4QwA28RVMQ4cYtA/n3f+Ne3QQdbcffLWbtnIDu7ezc1BRgqeXARL2pXrc1sdTWjV166KWffDY00LH/R497zVPn7bpepm29ziPd/pL+R3lpZNx/BhhIoZ9n9NLN4L0/f8km0b+siln6tGhWVZNvDUs0hGKICX5X0TA3S9YQcW33kWHdqNX8xsFI8bAiioEPaaJalWkRY9ytavLTpEnSJl/O8nokDH9cXzRpPkyytr6+kSLMrq/QB8H2lRWNr6/BYuTpdoLnFw8x6DevZkOsoyrWPANsjedDVa55NnSBZ6CLr1Yzmv1ndbXAlG9tbVn1eUcm/A5rib7V6j6k4r/I3tJUrmszn6Rs04JImzdtVZOKyc7JZ0ibeXVFM3F3XswwIQ3jsRl2SGhljK2e03ZCvYy/aKo3dfG6pVGNF/h9nQ/pQTwRxTTwceSj82KZlWWcCbsf4fkiq2m45fgVDYCE86RafMmy1eGkGL7DGg7PNGun83Tr9N00ZxuX5u9u1kiQsefVxQU0fF1X9dZHz7KipHlqq3TNbCGMryY3ZbaR+RqTxaQu+hrI+9X9cZd443GzXpANvj4KPzb+G3kGaTt3ikDZYtwBcrcPxegv8SkHpPtReiaKMJuUntHpEGUAT/PVG8Jvkb0rFusF6d/FhNCuzkWu0ol4JWmx5GFcoG8PeQs9MgA8dhAEoyUgLbHKO28sDfsFPRn8WghP51mdEY3rxlIddgZfZcFovkH8oUKe58sLdnB2d/ojMQCMex03cbbV86JpH3vwZZqPfCUnH7mwTFX5wJtbfQWnzsKA7veNl/01Gh7gifkD86IZy0jp36h6RRABzez62nJ9RYTvvZjj87xt0qt5TvOvoieiQqyxhlJLyeeuSD+TMsjSwPcWRfDR+7CHkFIirZ5Nu5FUF3mb/mLjAm6YYjIAFGKnR+nOYXoY0ZhRpKwz2LDTnDrv+Ua8pOGTdVHOYNcmymLBxxHGwgOjfyvrPmBJSHLzDCq/x8p9AkEpbaDa1/NYmslYBZrIvcErwUNtSSzIm3heLPMBgvTa+j6R2n03NUMWPW62+x8qL1Fng8HSEL+wn9zxmpR1oEZv5hpQ73e91dzjEUyjJJNev/f9tCSywkKg//HrVUmpB/Ch/f4Xpx/9vvXvuySbTT/53+VH6S8ZKaPyCxoaj19Uyzw+QQjh2xR+C5mKJdmMOqegoaB+CspaiZ/3i9YF+XnxITOShmc++2yQaTYMmIMCBPKv8qb4QX66hDWf0cCHwsKhAKH7ER4an8zq3YwyFRjTgFMKo7kFE1dQz6RpivQxWbt2Pv6iWAajHHWN+B1q/Mkn7y9vyl6ATV1yF98rvr9RjG6jFqIm1n8wbRjdjSr3G4lKLFYbupNhvxfAboQD8n2NgABPPGPhP7HhUKbJm42N/Ud1FR5izlf5gkwVicdsvZxlYL9hFr2akx8fRJWDpvKWnPv+TCv4Pid14Y/+/RR396P3jbcGFUZ7qyzVRhMQSRvhiWByQkqzvtm+3OCvva5qctgyEv+GfXV118i2Z82U7CU0RFXDEZlcw58r6vTx9OhNtXp8d3qUXmblOginbI83ePQNBdJmyEDhyfVP5jV9kpXPK4o6iZW22KVmBjtSrG6miYZ3gLg1o5jvgvoSn1q+2h1Jekj+2ru9Y2QsOwMh674iTl+ssjp/U4nzvIcPoxH2h84Q3PUiK4nRGnaor0xsS6pHosKCUmepW1LqB7m2lxtmhacjEh5Eo5KbZ8NxaP87dvYc2M+i+U7zbDDe72OLfY6azvPpW2exTAgn3w7qkwBCUU/L/INAlFiB2AghDiMk3vjN9YopOJi5YoBohdSV5Ft+4S/0plLVNoHY7XzxqmpZGtm1Oqcv4wjhYa2IN79qixKrle0LWrfzQ0sAiYV8728F/CQMJ0XOYLWwIONQ/9x+foMv4gGIp9395wbHI8qO/nPD+3gCT3CXPcHPvFHKZG3y+fznFv3h8bRi6nd2s2dkHo7Cp9lSk5CvFdSASYw9N9LOPLccEx4rKe8pJMfrVj7YyPKxR3qz79/YbdASXfMfX5Jl/ZpdQ+pY0k5YQQ1JV+x5D8Li8TUgVj6F0pu84NjT55mhuGvo2eBbdx/42j+/mQJ272eTJ5xd/fnAEoj9nlTvPnRWnsMR+FmcFc/R+P/ArNyy2WDYFnveg2Dghc5Y32Nm8AwvyL0P3W9Bhhua3PD1rQh4C8INDtf5ETeNeQOmg9kLPOx1FM1PUny0IQA3D8+sb7TE7yWvz1db8uHP/Exo32xTX5Y2Nd2QjMRzA13dmG4Ssq+dWboBA00OBGt3Jj1AuQDKUhQcGWxJIFqtsKYzqajZ4gZxGQj4fRrexC9DINw0fk0I3uxuXlHAQyT6IntLfvO6zpUFRsJKabacCafYBTBqYmhGySKs6NbFqsybG2Q0khbuceBtgoFbyLGodW8aqEt/Um4XDCgUOxNpIF3vA8ONMw3E7qYstXk64k5ZyHPkJh028kkovsjjhI3wwc/8zM3d4el190nw0XeLGS1TPO6h8In/iTT6Oj0C07DDb+fFxbwNe9RW7gNt9HV79PMYCtz74D2Bd0AFaZbB8d3CPN+C/fHcXu36z4RWTd/eou3XN9cbjSAvqAjiX9/gxBRN36p9Q5pm0xIC/FOkwnprTYGBIB2gqtb7O9QRo5RSUoNruub5EKL/rjdTHU88U2+e261RkHnCuvzJl1+cvpvmvKya5u9un8BGdu55dXGR1+PTuq7qrY+eZQVWLchoFzbDnP7inV9Cf1J2fjnNJcPc5JgYatgIG9BCb/5ulFJ6DzHQ1h0OYoZN5fDYb1oVuSEtLsv5WLpYmsViGgry4bEU49dIhvfXOjtLbu+9PH/zwtmNC9hmbbXfpo9uGS6S6aebF0JvRnE73Y1Z8PfJwxPxn65XtOQFMotQC3fFmzMiskzgaQBdN4iPcnzi2Qjb16AIdhwFAb05F7xByW3MY97k9kcwsYuqm8IJPLdQvJ0sbYw9bpmx5fbDziJj/r0oq3SfW+V9bzE2PMRaL01gcjNndZ+e93Yb9kLDW4wST9eXGQL/vO9P3dBMvaxPbocHnpsHhq63b+6amt3KG8cTSj4HSu8xPb4isJb/Bj3gvNyb1UD3YWHsdHTzCpH/3JJr8dxKCszzHnDxRAZya6XSfd6zazyqKuIR4Xsoiu7zXiQzz9fAH0+gWN6XcbtPN/y7Bfe+h5bpPp3Q7+dS6XSfG4f9s6CDuk+gk7yUzdeD5qkKF41s1lHeON5fR3UfiHq34/fTWd3nawoMnq8loOb5gH7xRAjxtXVe9/lA1PCIIhzIcH2ATuw+HzQF5vkGxovH16EfLGjdx0scbdSpnrR9gE7tPp201Wc3d/5eOvZrK7fug8B5ZmJ5DpjrPE8vCxNC6xdTG/V9M93244xeoEkTdmPWx8/4+NkeyfR8Q1N5U26q9/3PWsfjr1YzsgXPKA2DdeYtzjR8Y6ywOQp8n/TnpucWi5g3PbdaprzN8w2psXB9uEe8D7Qt/jO4sOpY/5tgvg+cow94/QNe/WCu+EBuuMXcsBn/kAn6muT5Gq99jVe+9gR8TcL/7Ind4FQ6a/N1ZvE9afoezd+j6XvP0nvOzi1o995icMvh3aLZLZrcmkC3JMw3x6bDpHUe0W3I+kGrjkNf3Ui2G8h1m8HdyDgD+P3cr6hl5GP3F6bewNf+SfK1ZRFtYFGs/2G49LOx+Q2LZq/yRXUJx3+O2LNpBT1e5/sGV84uK1pBl66eh/HN1je1UHaU7t5+pvr+7Q91aQyPZCNinf6cLDPdnPx/SnJ5izTUjQm8D4LjZ8ZuB2fTJAlHxqfh6+H3tGhWVbMZqw069NYayDw3zOomjVTz4IcEvy/3wyrKPF9b+b6/0mryVnTW44Y06LTOzz/7yJsNRlim5KO7R2mxbNpsOc2/ruY6IYtU30JTnVd1ulWQ3BebNYfTDofU9IiW+Onn9vbt9dcmrVR8/0YuvFkmjtutYsAadf58r4n7bk0cmddMKMxeIxqvOifbyEilE8bqa0zUlJi4iSj2R+mZkCOblJ3EYoS4BtrZ8WoF6UlFF0coYVpyN51V79u94q9+3eqNIDesb0TeWU9oxSCSNuthOuphYj7xE2mGFLfnznZeNGMhHv07wIPcKCSb99fGl+LLhpteGciq39bdUpIKAM8m3poiF3mb/mLjtfnDHFCON6FgB/01MXBE+3oIODP89RDwpuD2CKgsTKqqTM8apkE+e5/+419sMKE9co1/smgK0iPpZ5+lXxTTumqq83b85fl5McVaUp2Pv2iqN3XxuiVMxwv8vh5izAFr2XwNPGMIppdZuc7T3+P2eJKqvFXbZxsSwe87mU1bF8uLFMnsH8ZMwh9iOn3VFmUz/jxvOY1+c/L0G5wsOP48N7TatLxo5xS5fJG989Q1UJKvbkgNyAzrTI9frydCza2d0TDEqMkwT4c8r3vkGUlf70GlTbqE/Iy6LmaOC6rXMoDbmxp9E+sgRAhgO4Aaa43CaA1qazXIIEUwUfaNDVOhnX/0Lv2I1u/aYRxykhuGijZjkqe6bb5btPOtj959dOc2HVj4vGx32kzZVuc00USDd0PjUN4fQGzTBLHza53JW08Ke+icxEkpkkkrTuM0w0T2vYCvHfzeJn20KXi5lQeHZ0AV8ECcZ/KzMI5bpZ5v41Xi2TAKz1n65kdxs6rFE/N0Y+3eU+EwP3eWUD0NcnsOHxLi9Bf+wvR37X8B8X5vEqrUMzRNVJBi370zJlu8YPAbswxWvwHGe3shUFXvjXGcKpt1G56hkd5ydJsWpqPcgOeN6zOuFAf+1F/pxy/5fwCvoEtV0mEAAA==&lt;/Code&gt;&lt;CodeSignature&gt;YkMES0p7GrhYRI3c2LvXC3B50ehcnyp29xu1K6Vj95RmkzmusXliGjPMB+Ilf7pDOBySkxJ1SxhuUarFxLqI1LFDTkfNKwHE5+QMWEnKMv3GF2gDeK3oF/i+4SdE67QQ7tmJxc5wZUmwcUPUleQbqABCFfZcIJKHQ0BLaC/wF4fMUnfcimSlXKmwtAwJUNjPe8pUObB0CZFAjhRjXczx3l/fOkQODN/vciGd0aOVvUFeqUaMLZh3bnAKetvOrpCcTPPFjU63YrJIwI9FUFZaB37bZkgPJHhyDQZIHN1QeXtB9KdUZEGm8usmpqyS5s+YHfXxDX4vTSGkCYGqTRmYHA==&lt;/CodeSignature&gt;&lt;/SmartOption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60EC335B-2121-4FFB-81FC-B82A12BD10F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7350159" y="5537511"/>
            <a:ext cx="614478" cy="386907"/>
            <a:chOff x="595686" y="1210923"/>
            <a:chExt cx="998966" cy="728663"/>
          </a:xfrm>
        </p:grpSpPr>
        <p:sp>
          <p:nvSpPr>
            <p:cNvPr id="204" name="Circle">
              <a:extLst>
                <a:ext uri="{FF2B5EF4-FFF2-40B4-BE49-F238E27FC236}">
                  <a16:creationId xmlns:a16="http://schemas.microsoft.com/office/drawing/2014/main" id="{217FD967-3F6A-479B-93DB-0426057E4FCB}"/>
                </a:ext>
              </a:extLst>
            </p:cNvPr>
            <p:cNvSpPr/>
            <p:nvPr/>
          </p:nvSpPr>
          <p:spPr>
            <a:xfrm>
              <a:off x="595686" y="130075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6" name="Check" hidden="1">
              <a:extLst>
                <a:ext uri="{FF2B5EF4-FFF2-40B4-BE49-F238E27FC236}">
                  <a16:creationId xmlns:a16="http://schemas.microsoft.com/office/drawing/2014/main" id="{46BD5843-5AF4-4F52-BBF4-EB5EAF1D5C14}"/>
                </a:ext>
              </a:extLst>
            </p:cNvPr>
            <p:cNvSpPr/>
            <p:nvPr/>
          </p:nvSpPr>
          <p:spPr>
            <a:xfrm>
              <a:off x="632992" y="133805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7" name="Label">
              <a:extLst>
                <a:ext uri="{FF2B5EF4-FFF2-40B4-BE49-F238E27FC236}">
                  <a16:creationId xmlns:a16="http://schemas.microsoft.com/office/drawing/2014/main" id="{8A670454-8E82-49EF-A084-35C0DAE30A4F}"/>
                </a:ext>
              </a:extLst>
            </p:cNvPr>
            <p:cNvSpPr txBox="1"/>
            <p:nvPr/>
          </p:nvSpPr>
          <p:spPr>
            <a:xfrm>
              <a:off x="729035" y="1210923"/>
              <a:ext cx="865617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등록신청서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8" name="Circle">
              <a:extLst>
                <a:ext uri="{FF2B5EF4-FFF2-40B4-BE49-F238E27FC236}">
                  <a16:creationId xmlns:a16="http://schemas.microsoft.com/office/drawing/2014/main" id="{75853757-40B0-4AE1-8042-137877503416}"/>
                </a:ext>
              </a:extLst>
            </p:cNvPr>
            <p:cNvSpPr/>
            <p:nvPr/>
          </p:nvSpPr>
          <p:spPr>
            <a:xfrm>
              <a:off x="595686" y="150858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8" name="Check" hidden="1">
              <a:extLst>
                <a:ext uri="{FF2B5EF4-FFF2-40B4-BE49-F238E27FC236}">
                  <a16:creationId xmlns:a16="http://schemas.microsoft.com/office/drawing/2014/main" id="{AA01C14B-D894-4CCC-B0EB-F828562410CE}"/>
                </a:ext>
              </a:extLst>
            </p:cNvPr>
            <p:cNvSpPr/>
            <p:nvPr/>
          </p:nvSpPr>
          <p:spPr>
            <a:xfrm>
              <a:off x="632992" y="154588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9" name="Label">
              <a:extLst>
                <a:ext uri="{FF2B5EF4-FFF2-40B4-BE49-F238E27FC236}">
                  <a16:creationId xmlns:a16="http://schemas.microsoft.com/office/drawing/2014/main" id="{667275C9-B025-497E-B010-69DCA26E7847}"/>
                </a:ext>
              </a:extLst>
            </p:cNvPr>
            <p:cNvSpPr txBox="1"/>
            <p:nvPr/>
          </p:nvSpPr>
          <p:spPr>
            <a:xfrm>
              <a:off x="729035" y="1418753"/>
              <a:ext cx="615439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이력서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0" name="Circle">
              <a:extLst>
                <a:ext uri="{FF2B5EF4-FFF2-40B4-BE49-F238E27FC236}">
                  <a16:creationId xmlns:a16="http://schemas.microsoft.com/office/drawing/2014/main" id="{837A5707-C04D-472D-802E-D5F5EE0043C9}"/>
                </a:ext>
              </a:extLst>
            </p:cNvPr>
            <p:cNvSpPr/>
            <p:nvPr/>
          </p:nvSpPr>
          <p:spPr>
            <a:xfrm>
              <a:off x="595686" y="171641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1" name="Check" hidden="1">
              <a:extLst>
                <a:ext uri="{FF2B5EF4-FFF2-40B4-BE49-F238E27FC236}">
                  <a16:creationId xmlns:a16="http://schemas.microsoft.com/office/drawing/2014/main" id="{BD0EF9A7-EFED-434F-A5D6-F4F66B6E5A6D}"/>
                </a:ext>
              </a:extLst>
            </p:cNvPr>
            <p:cNvSpPr/>
            <p:nvPr/>
          </p:nvSpPr>
          <p:spPr>
            <a:xfrm>
              <a:off x="632992" y="175371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2" name="Label">
              <a:extLst>
                <a:ext uri="{FF2B5EF4-FFF2-40B4-BE49-F238E27FC236}">
                  <a16:creationId xmlns:a16="http://schemas.microsoft.com/office/drawing/2014/main" id="{25D96BEF-71A6-4B8F-ADEA-96AEA1312E21}"/>
                </a:ext>
              </a:extLst>
            </p:cNvPr>
            <p:cNvSpPr txBox="1"/>
            <p:nvPr/>
          </p:nvSpPr>
          <p:spPr>
            <a:xfrm>
              <a:off x="729035" y="1626583"/>
              <a:ext cx="865617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 err="1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청렴서약서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223" name="사각형: 둥근 모서리 105">
            <a:extLst>
              <a:ext uri="{FF2B5EF4-FFF2-40B4-BE49-F238E27FC236}">
                <a16:creationId xmlns:a16="http://schemas.microsoft.com/office/drawing/2014/main" id="{A5F8964B-A774-407F-A58A-485A37E8BDFC}"/>
              </a:ext>
            </a:extLst>
          </p:cNvPr>
          <p:cNvSpPr/>
          <p:nvPr/>
        </p:nvSpPr>
        <p:spPr>
          <a:xfrm>
            <a:off x="7498292" y="5929489"/>
            <a:ext cx="617482" cy="118168"/>
          </a:xfrm>
          <a:prstGeom prst="roundRect">
            <a:avLst/>
          </a:prstGeom>
          <a:solidFill>
            <a:srgbClr val="0070C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lang="ko-KR" altLang="en-US" sz="600" dirty="0" err="1">
                <a:solidFill>
                  <a:schemeClr val="bg1"/>
                </a:solidFill>
              </a:rPr>
              <a:t>파일첨부하기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24" name="사각형: 둥근 모서리 106">
            <a:extLst>
              <a:ext uri="{FF2B5EF4-FFF2-40B4-BE49-F238E27FC236}">
                <a16:creationId xmlns:a16="http://schemas.microsoft.com/office/drawing/2014/main" id="{1E05F830-D9B1-4D7A-B04C-67886CA1A2E4}"/>
              </a:ext>
            </a:extLst>
          </p:cNvPr>
          <p:cNvSpPr/>
          <p:nvPr/>
        </p:nvSpPr>
        <p:spPr>
          <a:xfrm>
            <a:off x="7523052" y="6086878"/>
            <a:ext cx="592721" cy="8097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나중에</a:t>
            </a:r>
          </a:p>
        </p:txBody>
      </p: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4883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18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8548019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데이터 없을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표시할 데이터가 없습니다</a:t>
            </a:r>
            <a:r>
              <a:rPr lang="en-US" altLang="ko-KR" dirty="0"/>
              <a:t>. </a:t>
            </a:r>
            <a:r>
              <a:rPr lang="ko-KR" altLang="en-US" dirty="0" smtClean="0"/>
              <a:t>노출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행정정보 공동이용 동의서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바텀시트로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제목에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/>
              <a:t>행정정보 공동이용 동의서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내용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본인은 </a:t>
            </a:r>
            <a:r>
              <a:rPr lang="ko-KR" altLang="en-US" dirty="0"/>
              <a:t>이 건 업무처리와 관련하여 담당 공무원이 </a:t>
            </a:r>
            <a:r>
              <a:rPr lang="en-US" altLang="ko-KR" dirty="0"/>
              <a:t>"</a:t>
            </a:r>
            <a:r>
              <a:rPr lang="ko-KR" altLang="en-US" dirty="0" err="1"/>
              <a:t>전자정부법</a:t>
            </a:r>
            <a:r>
              <a:rPr lang="en-US" altLang="ko-KR" dirty="0"/>
              <a:t>" </a:t>
            </a:r>
            <a:r>
              <a:rPr lang="ko-KR" altLang="en-US" dirty="0"/>
              <a:t>제</a:t>
            </a:r>
            <a:r>
              <a:rPr lang="en-US" altLang="ko-KR" dirty="0"/>
              <a:t>36</a:t>
            </a:r>
            <a:r>
              <a:rPr lang="ko-KR" altLang="en-US" dirty="0"/>
              <a:t>조제</a:t>
            </a:r>
            <a:r>
              <a:rPr lang="en-US" altLang="ko-KR" dirty="0"/>
              <a:t>1</a:t>
            </a:r>
            <a:r>
              <a:rPr lang="ko-KR" altLang="en-US" dirty="0"/>
              <a:t>항에 따른 행정정보의 공동이용을 통하여 위의 담당공무원 </a:t>
            </a:r>
            <a:r>
              <a:rPr lang="ko-KR" altLang="en-US" dirty="0" err="1"/>
              <a:t>확인사항</a:t>
            </a:r>
            <a:r>
              <a:rPr lang="ko-KR" altLang="en-US" dirty="0"/>
              <a:t> 중 </a:t>
            </a:r>
            <a:r>
              <a:rPr lang="ko-KR" altLang="en-US" dirty="0" err="1"/>
              <a:t>주민등록표</a:t>
            </a:r>
            <a:r>
              <a:rPr lang="ko-KR" altLang="en-US" dirty="0"/>
              <a:t> 등본</a:t>
            </a:r>
            <a:r>
              <a:rPr lang="en-US" altLang="ko-KR" dirty="0"/>
              <a:t>, </a:t>
            </a:r>
            <a:r>
              <a:rPr lang="ko-KR" altLang="en-US" dirty="0"/>
              <a:t>사업자등록증을 </a:t>
            </a:r>
            <a:r>
              <a:rPr lang="ko-KR" altLang="en-US" dirty="0" err="1"/>
              <a:t>확인하는것에</a:t>
            </a:r>
            <a:r>
              <a:rPr lang="ko-KR" altLang="en-US" dirty="0"/>
              <a:t> 동의합니다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동의하지 </a:t>
            </a:r>
            <a:r>
              <a:rPr lang="ko-KR" altLang="en-US" dirty="0"/>
              <a:t>아니하는 경우에는 신청인이 직접 관련 서류를 제출하여야 합니다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동의안함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동의함 버튼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신구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851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447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51660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184" name="그룹 183"/>
          <p:cNvGrpSpPr/>
          <p:nvPr/>
        </p:nvGrpSpPr>
        <p:grpSpPr>
          <a:xfrm flipV="1">
            <a:off x="3139424" y="2064991"/>
            <a:ext cx="94010" cy="47005"/>
            <a:chOff x="6812560" y="3297172"/>
            <a:chExt cx="94010" cy="47005"/>
          </a:xfrm>
        </p:grpSpPr>
        <p:cxnSp>
          <p:nvCxnSpPr>
            <p:cNvPr id="201" name="직선 연결선 20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직선 연결선 20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" name="그룹 110"/>
          <p:cNvGrpSpPr/>
          <p:nvPr/>
        </p:nvGrpSpPr>
        <p:grpSpPr>
          <a:xfrm>
            <a:off x="714884" y="2255292"/>
            <a:ext cx="2630093" cy="1077219"/>
            <a:chOff x="3836700" y="3380909"/>
            <a:chExt cx="2630093" cy="1077219"/>
          </a:xfrm>
        </p:grpSpPr>
        <p:sp>
          <p:nvSpPr>
            <p:cNvPr id="118" name="직사각형 117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052219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59" name="타원 158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2" name="그룹 161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63" name="직선 연결선 1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4" name="직선 연결선 1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6" name="그룹 175"/>
          <p:cNvGrpSpPr/>
          <p:nvPr/>
        </p:nvGrpSpPr>
        <p:grpSpPr>
          <a:xfrm>
            <a:off x="767702" y="4075971"/>
            <a:ext cx="2522014" cy="342712"/>
            <a:chOff x="3888037" y="3794514"/>
            <a:chExt cx="2522014" cy="342712"/>
          </a:xfrm>
        </p:grpSpPr>
        <p:sp>
          <p:nvSpPr>
            <p:cNvPr id="17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8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904315"/>
              <a:ext cx="120225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행정정보 공동이용 동의서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205" name="타원 204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211" y="3749817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210" name="그룹 209"/>
          <p:cNvGrpSpPr/>
          <p:nvPr/>
        </p:nvGrpSpPr>
        <p:grpSpPr>
          <a:xfrm flipV="1">
            <a:off x="3135299" y="3863148"/>
            <a:ext cx="94010" cy="47005"/>
            <a:chOff x="6812560" y="3297172"/>
            <a:chExt cx="94010" cy="47005"/>
          </a:xfrm>
        </p:grpSpPr>
        <p:cxnSp>
          <p:nvCxnSpPr>
            <p:cNvPr id="211" name="직선 연결선 2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74" name="그룹 7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5" name="직사각형 7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612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78" name="모서리가 둥근 직사각형 77"/>
          <p:cNvSpPr/>
          <p:nvPr/>
        </p:nvSpPr>
        <p:spPr>
          <a:xfrm>
            <a:off x="3874040" y="2020963"/>
            <a:ext cx="2543426" cy="1285781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77120" y="2082782"/>
            <a:ext cx="2154318" cy="113107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 smtClean="0">
                <a:latin typeface="Consolas" panose="020B0609020204030204" pitchFamily="49" charset="0"/>
              </a:rPr>
              <a:t>도움말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 err="1">
                <a:latin typeface="Consolas" panose="020B0609020204030204" pitchFamily="49" charset="0"/>
              </a:rPr>
              <a:t>심사대기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: </a:t>
            </a:r>
            <a:r>
              <a:rPr lang="ko-KR" altLang="en-US" sz="700" dirty="0">
                <a:latin typeface="Consolas" panose="020B0609020204030204" pitchFamily="49" charset="0"/>
              </a:rPr>
              <a:t>군수품무역대리업 신청 후 </a:t>
            </a:r>
            <a:r>
              <a:rPr lang="ko-KR" altLang="en-US" sz="700" dirty="0" err="1">
                <a:latin typeface="Consolas" panose="020B0609020204030204" pitchFamily="49" charset="0"/>
              </a:rPr>
              <a:t>심사전</a:t>
            </a:r>
            <a:r>
              <a:rPr lang="ko-KR" altLang="en-US" sz="700" dirty="0">
                <a:latin typeface="Consolas" panose="020B0609020204030204" pitchFamily="49" charset="0"/>
              </a:rPr>
              <a:t> 상태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 err="1">
                <a:latin typeface="Consolas" panose="020B0609020204030204" pitchFamily="49" charset="0"/>
              </a:rPr>
              <a:t>수정대기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: </a:t>
            </a:r>
            <a:r>
              <a:rPr lang="ko-KR" altLang="en-US" sz="700" dirty="0">
                <a:latin typeface="Consolas" panose="020B0609020204030204" pitchFamily="49" charset="0"/>
              </a:rPr>
              <a:t>군수품무역대리업 신청 후 보안측정인원 첨부파일 </a:t>
            </a:r>
            <a:r>
              <a:rPr lang="ko-KR" altLang="en-US" sz="700" dirty="0" err="1">
                <a:latin typeface="Consolas" panose="020B0609020204030204" pitchFamily="49" charset="0"/>
              </a:rPr>
              <a:t>수정제출한</a:t>
            </a:r>
            <a:r>
              <a:rPr lang="ko-KR" altLang="en-US" sz="700" dirty="0">
                <a:latin typeface="Consolas" panose="020B0609020204030204" pitchFamily="49" charset="0"/>
              </a:rPr>
              <a:t> 상태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 err="1">
                <a:latin typeface="Consolas" panose="020B0609020204030204" pitchFamily="49" charset="0"/>
              </a:rPr>
              <a:t>승인완료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: </a:t>
            </a:r>
            <a:r>
              <a:rPr lang="ko-KR" altLang="en-US" sz="700" dirty="0">
                <a:latin typeface="Consolas" panose="020B0609020204030204" pitchFamily="49" charset="0"/>
              </a:rPr>
              <a:t>군수품무역대리업 신청 후 </a:t>
            </a:r>
            <a:r>
              <a:rPr lang="ko-KR" altLang="en-US" sz="700" dirty="0" err="1">
                <a:latin typeface="Consolas" panose="020B0609020204030204" pitchFamily="49" charset="0"/>
              </a:rPr>
              <a:t>발급완료</a:t>
            </a:r>
            <a:r>
              <a:rPr lang="ko-KR" altLang="en-US" sz="700" dirty="0">
                <a:latin typeface="Consolas" panose="020B0609020204030204" pitchFamily="49" charset="0"/>
              </a:rPr>
              <a:t> 상태</a:t>
            </a:r>
          </a:p>
        </p:txBody>
      </p:sp>
      <p:sp>
        <p:nvSpPr>
          <p:cNvPr id="80" name="타원 79"/>
          <p:cNvSpPr/>
          <p:nvPr/>
        </p:nvSpPr>
        <p:spPr>
          <a:xfrm>
            <a:off x="3947179" y="20875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1" name="그룹 80"/>
          <p:cNvGrpSpPr/>
          <p:nvPr/>
        </p:nvGrpSpPr>
        <p:grpSpPr>
          <a:xfrm flipV="1">
            <a:off x="6253053" y="2157996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직선 연결선 8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4" name="그룹 83"/>
          <p:cNvGrpSpPr/>
          <p:nvPr/>
        </p:nvGrpSpPr>
        <p:grpSpPr>
          <a:xfrm>
            <a:off x="8223250" y="896370"/>
            <a:ext cx="3365500" cy="634511"/>
            <a:chOff x="8223250" y="569392"/>
            <a:chExt cx="3365500" cy="634511"/>
          </a:xfrm>
        </p:grpSpPr>
        <p:sp>
          <p:nvSpPr>
            <p:cNvPr id="85" name="직사각형 8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심사대기</a:t>
              </a:r>
              <a:r>
                <a:rPr lang="ko-KR" altLang="en-US" sz="700" dirty="0" smtClean="0"/>
                <a:t> 등 도움말 항목으로 변경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동의서 내용 팝업에서 노출되는 방식으로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5465197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3000" y="814369"/>
            <a:ext cx="43222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25002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096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2802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3065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9078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906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38884F3-0DEA-B653-19C1-0ED418762AC0}"/>
              </a:ext>
            </a:extLst>
          </p:cNvPr>
          <p:cNvSpPr txBox="1"/>
          <p:nvPr/>
        </p:nvSpPr>
        <p:spPr>
          <a:xfrm>
            <a:off x="453000" y="3575017"/>
            <a:ext cx="5160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02CF2F9-B29F-29DA-EC0A-40BB7106BB00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776945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E54D1D8-7E81-786A-8730-6DB0DAFFEE5A}"/>
              </a:ext>
            </a:extLst>
          </p:cNvPr>
          <p:cNvSpPr txBox="1"/>
          <p:nvPr/>
        </p:nvSpPr>
        <p:spPr>
          <a:xfrm>
            <a:off x="453000" y="4560633"/>
            <a:ext cx="45210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78DC00B-0F83-4847-B2AB-C0869EBE4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553688"/>
              </p:ext>
            </p:extLst>
          </p:nvPr>
        </p:nvGraphicFramePr>
        <p:xfrm>
          <a:off x="453000" y="477183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70576C96-65C6-70F2-0515-AE53B835C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2872026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189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45221-F415-1E68-5C61-25B7D0B96F3B}"/>
              </a:ext>
            </a:extLst>
          </p:cNvPr>
          <p:cNvSpPr txBox="1"/>
          <p:nvPr/>
        </p:nvSpPr>
        <p:spPr>
          <a:xfrm>
            <a:off x="455204" y="73130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4CF4F53-DE25-0EA7-5039-EBA1EBDC95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011142"/>
              </p:ext>
            </p:extLst>
          </p:nvPr>
        </p:nvGraphicFramePr>
        <p:xfrm>
          <a:off x="455204" y="962495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나라장터</a:t>
                      </a:r>
                      <a:r>
                        <a:rPr lang="en-US" altLang="ko-KR" sz="800" dirty="0"/>
                        <a:t>(G2B)</a:t>
                      </a:r>
                      <a:r>
                        <a:rPr lang="ko-KR" altLang="en-US" sz="800" dirty="0"/>
                        <a:t>조달업체 최신 정보 수신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조달업체 최신 정보를 수신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신청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정보를 저장한다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10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scwin.btn_sbmsn_onclick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신청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정보를 제출한다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80551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FDA49AD-7FB8-F262-5777-4E8C7C062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4557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4531106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신규</a:t>
            </a:r>
            <a:r>
              <a:rPr lang="en-US" altLang="ko-KR" dirty="0"/>
              <a:t>, </a:t>
            </a:r>
            <a:r>
              <a:rPr lang="ko-KR" altLang="en-US" dirty="0"/>
              <a:t>갱신에 따라 타이틀 변경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 파일 추가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첨부 </a:t>
            </a:r>
            <a:r>
              <a:rPr lang="ko-KR" altLang="en-US" dirty="0" err="1"/>
              <a:t>서류명</a:t>
            </a:r>
            <a:r>
              <a:rPr lang="ko-KR" altLang="en-US" dirty="0"/>
              <a:t> 하단 </a:t>
            </a:r>
            <a:r>
              <a:rPr lang="ko-KR" altLang="en-US" dirty="0" err="1"/>
              <a:t>바텀시트</a:t>
            </a:r>
            <a:r>
              <a:rPr lang="ko-KR" altLang="en-US" dirty="0"/>
              <a:t> 팝업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r>
              <a:rPr lang="en-US" altLang="ko-KR" dirty="0"/>
              <a:t>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변경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39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6497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670228" y="1844328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82" name="그룹 181"/>
          <p:cNvGrpSpPr/>
          <p:nvPr/>
        </p:nvGrpSpPr>
        <p:grpSpPr>
          <a:xfrm>
            <a:off x="716366" y="2250457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716366" y="3573575"/>
            <a:ext cx="2630093" cy="2246477"/>
            <a:chOff x="716366" y="3768757"/>
            <a:chExt cx="2630093" cy="2246477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3768757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39424" y="3882088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0" name="직사각형 129"/>
            <p:cNvSpPr/>
            <p:nvPr/>
          </p:nvSpPr>
          <p:spPr>
            <a:xfrm>
              <a:off x="718459" y="4076242"/>
              <a:ext cx="792000" cy="19330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07624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076242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대표자성명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E-mail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4076242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test@dapa.go.kr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1999-01-02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 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307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521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7347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9383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515249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383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73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8110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01460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70670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3825376" y="238821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6273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spc="-60" dirty="0">
                <a:latin typeface="맑은 고딕" panose="020B0503020000020004" pitchFamily="50" charset="-127"/>
              </a:rPr>
              <a:t>변경사항을 입증할 수 있는 증빙서류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1659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97" name="모서리가 둥근 직사각형 96"/>
          <p:cNvSpPr/>
          <p:nvPr/>
        </p:nvSpPr>
        <p:spPr>
          <a:xfrm>
            <a:off x="3825376" y="2794902"/>
            <a:ext cx="2652743" cy="444819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55729"/>
            <a:ext cx="168273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spc="-60" dirty="0">
                <a:latin typeface="맑은 고딕" panose="020B0503020000020004" pitchFamily="50" charset="-127"/>
              </a:rPr>
              <a:t>등록증</a:t>
            </a:r>
            <a:r>
              <a:rPr lang="en-US" altLang="ko-KR" sz="700" spc="-60" dirty="0">
                <a:latin typeface="맑은 고딕" panose="020B0503020000020004" pitchFamily="50" charset="-127"/>
              </a:rPr>
              <a:t>(</a:t>
            </a:r>
            <a:r>
              <a:rPr lang="ko-KR" altLang="en-US" sz="700" spc="-60" dirty="0">
                <a:latin typeface="맑은 고딕" panose="020B0503020000020004" pitchFamily="50" charset="-127"/>
              </a:rPr>
              <a:t>등록증 기재사항을 변경하는 경우만 해당</a:t>
            </a:r>
            <a:r>
              <a:rPr lang="en-US" altLang="ko-KR" sz="700" spc="-60" dirty="0">
                <a:latin typeface="맑은 고딕" panose="020B0503020000020004" pitchFamily="50" charset="-127"/>
              </a:rPr>
              <a:t>)</a:t>
            </a:r>
            <a:r>
              <a:rPr lang="ko-KR" altLang="en-US" sz="700" spc="-6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6345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253099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2253099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3825376" y="3281920"/>
            <a:ext cx="2652743" cy="490640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365658"/>
            <a:ext cx="168273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맑은 고딕" panose="020B0503020000020004" pitchFamily="50" charset="-127"/>
              </a:rPr>
              <a:t>기타</a:t>
            </a:r>
            <a:r>
              <a:rPr lang="en-US" altLang="ko-KR" sz="700" dirty="0">
                <a:latin typeface="맑은 고딕" panose="020B0503020000020004" pitchFamily="50" charset="-127"/>
              </a:rPr>
              <a:t>(</a:t>
            </a:r>
            <a:r>
              <a:rPr lang="ko-KR" altLang="en-US" sz="700" dirty="0">
                <a:latin typeface="맑은 고딕" panose="020B0503020000020004" pitchFamily="50" charset="-127"/>
              </a:rPr>
              <a:t>파일이 여려 개일 경우 압축해서 첨부 가능</a:t>
            </a:r>
            <a:r>
              <a:rPr lang="en-US" altLang="ko-KR" sz="700" dirty="0">
                <a:latin typeface="맑은 고딕" panose="020B0503020000020004" pitchFamily="50" charset="-127"/>
              </a:rPr>
              <a:t>)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47337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grpSp>
        <p:nvGrpSpPr>
          <p:cNvPr id="112" name="그룹 111"/>
          <p:cNvGrpSpPr/>
          <p:nvPr/>
        </p:nvGrpSpPr>
        <p:grpSpPr>
          <a:xfrm flipV="1">
            <a:off x="6220287" y="1660597"/>
            <a:ext cx="94010" cy="47005"/>
            <a:chOff x="6812560" y="3297172"/>
            <a:chExt cx="94010" cy="47005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65862" y="2256932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6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939869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486745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449798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25376" y="1883029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4490" y="18737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29EC709-3774-4B79-A1C9-F5C9BF064DD3}"/>
              </a:ext>
            </a:extLst>
          </p:cNvPr>
          <p:cNvSpPr/>
          <p:nvPr/>
        </p:nvSpPr>
        <p:spPr>
          <a:xfrm>
            <a:off x="7299588" y="4875644"/>
            <a:ext cx="984207" cy="132484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8" name="사각형: 둥근 위쪽 모서리 75">
            <a:extLst>
              <a:ext uri="{FF2B5EF4-FFF2-40B4-BE49-F238E27FC236}">
                <a16:creationId xmlns:a16="http://schemas.microsoft.com/office/drawing/2014/main" id="{60414052-E4D1-4C00-8788-EA50205FEE78}"/>
              </a:ext>
            </a:extLst>
          </p:cNvPr>
          <p:cNvSpPr/>
          <p:nvPr/>
        </p:nvSpPr>
        <p:spPr>
          <a:xfrm>
            <a:off x="7302599" y="5175039"/>
            <a:ext cx="974971" cy="1025448"/>
          </a:xfrm>
          <a:prstGeom prst="round2Same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61AA3FF4-C749-419A-A832-EBDDB6501526}"/>
              </a:ext>
            </a:extLst>
          </p:cNvPr>
          <p:cNvCxnSpPr/>
          <p:nvPr/>
        </p:nvCxnSpPr>
        <p:spPr>
          <a:xfrm>
            <a:off x="7362749" y="5509919"/>
            <a:ext cx="833735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79304F6B-454C-471B-AC82-4B2469CA7E73}"/>
              </a:ext>
            </a:extLst>
          </p:cNvPr>
          <p:cNvSpPr txBox="1"/>
          <p:nvPr/>
        </p:nvSpPr>
        <p:spPr>
          <a:xfrm>
            <a:off x="7369064" y="5391677"/>
            <a:ext cx="485299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kumimoji="1" lang="ko-KR" altLang="en-US" sz="800" dirty="0">
                <a:latin typeface="+mn-ea"/>
              </a:rPr>
              <a:t>첨부파일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203" name="Radio Button Group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bZEtJN5trzIZ/7X6Wfpcl2WjJwFIzhUl3ldF7M8nVRVmZ4ti3brzEfhWVUv0qbzwSg9O16tUurzjgPooYhnQriPGV7/bbwYIINHiL71KpsV1ZN121bLz+tqvXo9z1Z5k9bxj2lg+VUaf2eLuhm/zsGP+Uw+kq49pCOI4ynO0614j+OzpttbB9wASDx376bHs1l6DppOld3iLbs0G9N7z7NJXm59xN2n0n/z6CMQMgbhDAJ0XOcZMwX/8lkUrGm39dFHo3T3/s4QwA28RVMQ4cYtA/n3f+Ne3QQdbcffLWbtnIDu7ezc1BRgqeXARL2pXrc1sdTWjV166KWffDY00LH/R497zVPn7bpepm29ziPd/pL+R3lpZNx/BhhIoZ9n9NLN4L0/f8km0b+siln6tGhWVZNvDUs0hGKICX5X0TA3S9YQcW33kWHdqNX8xsFI8bAiioEPaaJalWkRY9ytavLTpEnSJl/O8nokDH9cXzRpPkyytr6+kSLMrq/QB8H2lRWNr6/BYuTpdoLnFw8x6DevZkOsoyrWPANsjedDVa55NnSBZ6CLr1Yzmv1ndbXAlG9tbVn1eUcm/A5rib7V6j6k4r/I3tJUrmszn6Rs04JImzdtVZOKyc7JZ0ibeXVFM3F3XswwIQ3jsRl2SGhljK2e03ZCvYy/aKo3dfG6pVGNF/h9nQ/pQTwRxTTwceSj82KZlWWcCbsf4fkiq2m45fgVDYCE86RafMmy1eGkGL7DGg7PNGun83Tr9N00ZxuX5u9u1kiQsefVxQU0fF1X9dZHz7KipHlqq3TNbCGMryY3ZbaR+RqTxaQu+hrI+9X9cZd443GzXpANvj4KPzb+G3kGaTt3ikDZYtwBcrcPxegv8SkHpPtReiaKMJuUntHpEGUAT/PVG8Jvkb0rFusF6d/FhNCuzkWu0ol4JWmx5GFcoG8PeQs9MgA8dhAEoyUgLbHKO28sDfsFPRn8WghP51mdEY3rxlIddgZfZcFovkH8oUKe58sLdnB2d/ojMQCMex03cbbV86JpH3vwZZqPfCUnH7mwTFX5wJtbfQWnzsKA7veNl/01Gh7gifkD86IZy0jp36h6RRABzez62nJ9RYTvvZjj87xt0qt5TvOvoieiQqyxhlJLyeeuSD+TMsjSwPcWRfDR+7CHkFIirZ5Nu5FUF3mb/mLjAm6YYjIAFGKnR+nOYXoY0ZhRpKwz2LDTnDrv+Ua8pOGTdVHOYNcmymLBxxHGwgOjfyvrPmBJSHLzDCq/x8p9AkEpbaDa1/NYmslYBZrIvcErwUNtSSzIm3heLPMBgvTa+j6R2n03NUMWPW62+x8qL1Fng8HSEL+wn9zxmpR1oEZv5hpQ73e91dzjEUyjJJNev/f9tCSywkKg//HrVUmpB/Ch/f4Xpx/9vvXvuySbTT/53+VH6S8ZKaPyCxoaj19Uyzw+QQjh2xR+C5mKJdmMOqegoaB+CspaiZ/3i9YF+XnxITOShmc++2yQaTYMmIMCBPKv8qb4QX66hDWf0cCHwsKhAKH7ER4an8zq3YwyFRjTgFMKo7kFE1dQz6RpivQxWbt2Pv6iWAajHHWN+B1q/Mkn7y9vyl6ATV1yF98rvr9RjG6jFqIm1n8wbRjdjSr3G4lKLFYbupNhvxfAboQD8n2NgABPPGPhP7HhUKbJm42N/Ud1FR5izlf5gkwVicdsvZxlYL9hFr2akx8fRJWDpvKWnPv+TCv4Pid14Y/+/RR396P3jbcGFUZ7qyzVRhMQSRvhiWByQkqzvtm+3OCvva5qctgyEv+GfXV118i2Z82U7CU0RFXDEZlcw58r6vTx9OhNtXp8d3qUXmblOginbI83ePQNBdJmyEDhyfVP5jV9kpXPK4o6iZW22KVmBjtSrG6miYZ3gLg1o5jvgvoSn1q+2h1Jekj+2ru9Y2QsOwMh674iTl+ssjp/U4nzvIcPoxH2h84Q3PUiK4nRGnaor0xsS6pHosKCUmepW1LqB7m2lxtmhacjEh5Eo5KbZ8NxaP87dvYc2M+i+U7zbDDe72OLfY6azvPpW2exTAgn3w7qkwBCUU/L/INAlFiB2AghDiMk3vjN9YopOJi5YoBohdSV5Ft+4S/0plLVNoHY7XzxqmpZGtm1Oqcv4wjhYa2IN79qixKrle0LWrfzQ0sAiYV8728F/CQMJ0XOYLWwIONQ/9x+foMv4gGIp9395wbHI8qO/nPD+3gCT3CXPcHPvFHKZG3y+fznFv3h8bRi6nd2s2dkHo7Cp9lSk5CvFdSASYw9N9LOPLccEx4rKe8pJMfrVj7YyPKxR3qz79/YbdASXfMfX5Jl/ZpdQ+pY0k5YQQ1JV+x5D8Li8TUgVj6F0pu84NjT55mhuGvo2eBbdx/42j+/mQJ272eTJ5xd/fnAEoj9nlTvPnRWnsMR+FmcFc/R+P/ArNyy2WDYFnveg2Dghc5Y32Nm8AwvyL0P3W9Bhhua3PD1rQh4C8INDtf5ETeNeQOmg9kLPOx1FM1PUny0IQA3D8+sb7TE7yWvz1db8uHP/Exo32xTX5Y2Nd2QjMRzA13dmG4Ssq+dWboBA00OBGt3Jj1AuQDKUhQcGWxJIFqtsKYzqajZ4gZxGQj4fRrexC9DINw0fk0I3uxuXlHAQyT6IntLfvO6zpUFRsJKabacCafYBTBqYmhGySKs6NbFqsybG2Q0khbuceBtgoFbyLGodW8aqEt/Um4XDCgUOxNpIF3vA8ONMw3E7qYstXk64k5ZyHPkJh028kkovsjjhI3wwc/8zM3d4el190nw0XeLGS1TPO6h8In/iTT6Oj0C07DDb+fFxbwNe9RW7gNt9HV79PMYCtz74D2Bd0AFaZbB8d3CPN+C/fHcXu36z4RWTd/eou3XN9cbjSAvqAjiX9/gxBRN36p9Q5pm0xIC/FOkwnprTYGBIB2gqtb7O9QRo5RSUoNruub5EKL/rjdTHU88U2+e261RkHnCuvzJl1+cvpvmvKya5u9un8BGdu55dXGR1+PTuq7qrY+eZQVWLchoFzbDnP7inV9Cf1J2fjnNJcPc5JgYatgIG9BCb/5ulFJ6DzHQ1h0OYoZN5fDYb1oVuSEtLsv5WLpYmsViGgry4bEU49dIhvfXOjtLbu+9PH/zwtmNC9hmbbXfpo9uGS6S6aebF0JvRnE73Y1Z8PfJwxPxn65XtOQFMotQC3fFmzMiskzgaQBdN4iPcnzi2Qjb16AIdhwFAb05F7xByW3MY97k9kcwsYuqm8IJPLdQvJ0sbYw9bpmx5fbDziJj/r0oq3SfW+V9bzE2PMRaL01gcjNndZ+e93Yb9kLDW4wST9eXGQL/vO9P3dBMvaxPbocHnpsHhq63b+6amt3KG8cTSj4HSu8xPb4isJb/Bj3gvNyb1UD3YWHsdHTzCpH/3JJr8dxKCszzHnDxRAZya6XSfd6zazyqKuIR4Xsoiu7zXiQzz9fAH0+gWN6XcbtPN/y7Bfe+h5bpPp3Q7+dS6XSfG4f9s6CDuk+gk7yUzdeD5qkKF41s1lHeON5fR3UfiHq34/fTWd3nawoMnq8loOb5gH7xRAjxtXVe9/lA1PCIIhzIcH2ATuw+HzQF5vkGxovH16EfLGjdx0scbdSpnrR9gE7tPp201Wc3d/5eOvZrK7fug8B5ZmJ5DpjrPE8vCxNC6xdTG/V9M93244xeoEkTdmPWx8/4+NkeyfR8Q1N5U26q9/3PWsfjr1YzsgXPKA2DdeYtzjR8Y6ywOQp8n/TnpucWi5g3PbdaprzN8w2psXB9uEe8D7Qt/jO4sOpY/5tgvg+cow94/QNe/WCu+EBuuMXcsBn/kAn6muT5Gq99jVe+9gR8TcL/7Ind4FQ6a/N1ZvE9afoezd+j6XvP0nvOzi1o995icMvh3aLZLZrcmkC3JMw3x6bDpHUe0W3I+kGrjkNf3Ui2G8h1m8HdyDgD+P3cr6hl5GP3F6bewNf+SfK1ZRFtYFGs/2G49LOx+Q2LZq/yRXUJx3+O2LNpBT1e5/sGV84uK1pBl66eh/HN1je1UHaU7t5+pvr+7Q91aQyPZCNinf6cLDPdnPx/SnJ5izTUjQm8D4LjZ8ZuB2fTJAlHxqfh6+H3tGhWVbMZqw069NYayDw3zOomjVTz4IcEvy/3wyrKPF9b+b6/0mryVnTW44Y06LTOzz/7yJsNRlim5KO7R2mxbNpsOc2/ruY6IYtU30JTnVd1ulWQ3BebNYfTDofU9IiW+Onn9vbt9dcmrVR8/0YuvFkmjtutYsAadf58r4n7bk0cmddMKMxeIxqvOifbyEilE8bqa0zUlJi4iSj2R+mZkCOblJ3EYoS4BtrZ8WoF6UlFF0coYVpyN51V79u94q9+3eqNIDesb0TeWU9oxSCSNuthOuphYj7xE2mGFLfnznZeNGMhHv07wIPcKCSb99fGl+LLhpteGciq39bdUpIKAM8m3poiF3mb/mLjtfnDHFCON6FgB/01MXBE+3oIODP89RDwpuD2CKgsTKqqTM8apkE+e5/+419sMKE9co1/smgK0iPpZ5+lXxTTumqq83b85fl5McVaUp2Pv2iqN3XxuiVMxwv8vh5izAFr2XwNPGMIppdZuc7T3+P2eJKqvFXbZxsSwe87mU1bF8uLFMnsH8ZMwh9iOn3VFmUz/jxvOY1+c/L0G5wsOP48N7TatLxo5xS5fJG989Q1UJKvbkgNyAzrTI9frydCza2d0TDEqMkwT4c8r3vkGUlf70GlTbqE/Iy6LmaOC6rXMoDbmxp9E+sgRAhgO4Aaa43CaA1qazXIIEUwUfaNDVOhnX/0Lv2I1u/aYRxykhuGijZjkqe6bb5btPOtj959dOc2HVj4vGx32kzZVuc00USDd0PjUN4fQGzTBLHza53JW08Ke+icxEkpkkkrTuM0w0T2vYCvHfzeJn20KXi5lQeHZ0AV8ECcZ/KzMI5bpZ5v41Xi2TAKz1n65kdxs6rFE/N0Y+3eU+EwP3eWUD0NcnsOHxLi9Bf+wvR37X8B8X5vEqrUMzRNVJBi370zJlu8YPAbswxWvwHGe3shUFXvjXGcKpt1G56hkd5ydJsWpqPcgOeN6zOuFAf+1F/pxy/5fwCvoEtV0mEAAA==&lt;/Code&gt;&lt;CodeSignature&gt;YkMES0p7GrhYRI3c2LvXC3B50ehcnyp29xu1K6Vj95RmkzmusXliGjPMB+Ilf7pDOBySkxJ1SxhuUarFxLqI1LFDTkfNKwHE5+QMWEnKMv3GF2gDeK3oF/i+4SdE67QQ7tmJxc5wZUmwcUPUleQbqABCFfZcIJKHQ0BLaC/wF4fMUnfcimSlXKmwtAwJUNjPe8pUObB0CZFAjhRjXczx3l/fOkQODN/vciGd0aOVvUFeqUaMLZh3bnAKetvOrpCcTPPFjU63YrJIwI9FUFZaB37bZkgPJHhyDQZIHN1QeXtB9KdUZEGm8usmpqyS5s+YHfXxDX4vTSGkCYGqTRmYHA==&lt;/CodeSignature&gt;&lt;/SmartOption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60EC335B-2121-4FFB-81FC-B82A12BD10F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7350159" y="5537511"/>
            <a:ext cx="590434" cy="386907"/>
            <a:chOff x="595686" y="1210923"/>
            <a:chExt cx="959877" cy="728663"/>
          </a:xfrm>
        </p:grpSpPr>
        <p:sp>
          <p:nvSpPr>
            <p:cNvPr id="204" name="Circle">
              <a:extLst>
                <a:ext uri="{FF2B5EF4-FFF2-40B4-BE49-F238E27FC236}">
                  <a16:creationId xmlns:a16="http://schemas.microsoft.com/office/drawing/2014/main" id="{217FD967-3F6A-479B-93DB-0426057E4FCB}"/>
                </a:ext>
              </a:extLst>
            </p:cNvPr>
            <p:cNvSpPr/>
            <p:nvPr/>
          </p:nvSpPr>
          <p:spPr>
            <a:xfrm>
              <a:off x="595686" y="130075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6" name="Check" hidden="1">
              <a:extLst>
                <a:ext uri="{FF2B5EF4-FFF2-40B4-BE49-F238E27FC236}">
                  <a16:creationId xmlns:a16="http://schemas.microsoft.com/office/drawing/2014/main" id="{46BD5843-5AF4-4F52-BBF4-EB5EAF1D5C14}"/>
                </a:ext>
              </a:extLst>
            </p:cNvPr>
            <p:cNvSpPr/>
            <p:nvPr/>
          </p:nvSpPr>
          <p:spPr>
            <a:xfrm>
              <a:off x="632992" y="133805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7" name="Label">
              <a:extLst>
                <a:ext uri="{FF2B5EF4-FFF2-40B4-BE49-F238E27FC236}">
                  <a16:creationId xmlns:a16="http://schemas.microsoft.com/office/drawing/2014/main" id="{8A670454-8E82-49EF-A084-35C0DAE30A4F}"/>
                </a:ext>
              </a:extLst>
            </p:cNvPr>
            <p:cNvSpPr txBox="1"/>
            <p:nvPr/>
          </p:nvSpPr>
          <p:spPr>
            <a:xfrm>
              <a:off x="729035" y="1210923"/>
              <a:ext cx="826528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변경사항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8" name="Circle">
              <a:extLst>
                <a:ext uri="{FF2B5EF4-FFF2-40B4-BE49-F238E27FC236}">
                  <a16:creationId xmlns:a16="http://schemas.microsoft.com/office/drawing/2014/main" id="{75853757-40B0-4AE1-8042-137877503416}"/>
                </a:ext>
              </a:extLst>
            </p:cNvPr>
            <p:cNvSpPr/>
            <p:nvPr/>
          </p:nvSpPr>
          <p:spPr>
            <a:xfrm>
              <a:off x="595686" y="150858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8" name="Check" hidden="1">
              <a:extLst>
                <a:ext uri="{FF2B5EF4-FFF2-40B4-BE49-F238E27FC236}">
                  <a16:creationId xmlns:a16="http://schemas.microsoft.com/office/drawing/2014/main" id="{AA01C14B-D894-4CCC-B0EB-F828562410CE}"/>
                </a:ext>
              </a:extLst>
            </p:cNvPr>
            <p:cNvSpPr/>
            <p:nvPr/>
          </p:nvSpPr>
          <p:spPr>
            <a:xfrm>
              <a:off x="632992" y="154588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9" name="Label">
              <a:extLst>
                <a:ext uri="{FF2B5EF4-FFF2-40B4-BE49-F238E27FC236}">
                  <a16:creationId xmlns:a16="http://schemas.microsoft.com/office/drawing/2014/main" id="{667275C9-B025-497E-B010-69DCA26E7847}"/>
                </a:ext>
              </a:extLst>
            </p:cNvPr>
            <p:cNvSpPr txBox="1"/>
            <p:nvPr/>
          </p:nvSpPr>
          <p:spPr>
            <a:xfrm>
              <a:off x="729035" y="1418753"/>
              <a:ext cx="709255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등록증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0" name="Circle">
              <a:extLst>
                <a:ext uri="{FF2B5EF4-FFF2-40B4-BE49-F238E27FC236}">
                  <a16:creationId xmlns:a16="http://schemas.microsoft.com/office/drawing/2014/main" id="{837A5707-C04D-472D-802E-D5F5EE0043C9}"/>
                </a:ext>
              </a:extLst>
            </p:cNvPr>
            <p:cNvSpPr/>
            <p:nvPr/>
          </p:nvSpPr>
          <p:spPr>
            <a:xfrm>
              <a:off x="595686" y="171641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1" name="Check" hidden="1">
              <a:extLst>
                <a:ext uri="{FF2B5EF4-FFF2-40B4-BE49-F238E27FC236}">
                  <a16:creationId xmlns:a16="http://schemas.microsoft.com/office/drawing/2014/main" id="{BD0EF9A7-EFED-434F-A5D6-F4F66B6E5A6D}"/>
                </a:ext>
              </a:extLst>
            </p:cNvPr>
            <p:cNvSpPr/>
            <p:nvPr/>
          </p:nvSpPr>
          <p:spPr>
            <a:xfrm>
              <a:off x="632992" y="175371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2" name="Label">
              <a:extLst>
                <a:ext uri="{FF2B5EF4-FFF2-40B4-BE49-F238E27FC236}">
                  <a16:creationId xmlns:a16="http://schemas.microsoft.com/office/drawing/2014/main" id="{25D96BEF-71A6-4B8F-ADEA-96AEA1312E21}"/>
                </a:ext>
              </a:extLst>
            </p:cNvPr>
            <p:cNvSpPr txBox="1"/>
            <p:nvPr/>
          </p:nvSpPr>
          <p:spPr>
            <a:xfrm>
              <a:off x="729035" y="1626583"/>
              <a:ext cx="584166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기타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223" name="사각형: 둥근 모서리 105">
            <a:extLst>
              <a:ext uri="{FF2B5EF4-FFF2-40B4-BE49-F238E27FC236}">
                <a16:creationId xmlns:a16="http://schemas.microsoft.com/office/drawing/2014/main" id="{A5F8964B-A774-407F-A58A-485A37E8BDFC}"/>
              </a:ext>
            </a:extLst>
          </p:cNvPr>
          <p:cNvSpPr/>
          <p:nvPr/>
        </p:nvSpPr>
        <p:spPr>
          <a:xfrm>
            <a:off x="7498292" y="5929489"/>
            <a:ext cx="617482" cy="118168"/>
          </a:xfrm>
          <a:prstGeom prst="roundRect">
            <a:avLst/>
          </a:prstGeom>
          <a:solidFill>
            <a:srgbClr val="0070C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lang="ko-KR" altLang="en-US" sz="600" dirty="0" err="1">
                <a:solidFill>
                  <a:schemeClr val="bg1"/>
                </a:solidFill>
              </a:rPr>
              <a:t>파일첨부하기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24" name="사각형: 둥근 모서리 106">
            <a:extLst>
              <a:ext uri="{FF2B5EF4-FFF2-40B4-BE49-F238E27FC236}">
                <a16:creationId xmlns:a16="http://schemas.microsoft.com/office/drawing/2014/main" id="{1E05F830-D9B1-4D7A-B04C-67886CA1A2E4}"/>
              </a:ext>
            </a:extLst>
          </p:cNvPr>
          <p:cNvSpPr/>
          <p:nvPr/>
        </p:nvSpPr>
        <p:spPr>
          <a:xfrm>
            <a:off x="7523052" y="6086878"/>
            <a:ext cx="592721" cy="8097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나중에</a:t>
            </a:r>
          </a:p>
        </p:txBody>
      </p: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85718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3337267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데이터 없을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표시할 데이터가 없습니다</a:t>
            </a:r>
            <a:r>
              <a:rPr lang="en-US" altLang="ko-KR" dirty="0"/>
              <a:t>. </a:t>
            </a:r>
            <a:r>
              <a:rPr lang="ko-KR" altLang="en-US" dirty="0"/>
              <a:t>노출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r>
              <a:rPr lang="en-US" altLang="ko-KR" dirty="0"/>
              <a:t>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851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447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51660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184" name="그룹 183"/>
          <p:cNvGrpSpPr/>
          <p:nvPr/>
        </p:nvGrpSpPr>
        <p:grpSpPr>
          <a:xfrm flipV="1">
            <a:off x="3139424" y="2064991"/>
            <a:ext cx="94010" cy="47005"/>
            <a:chOff x="6812560" y="3297172"/>
            <a:chExt cx="94010" cy="47005"/>
          </a:xfrm>
        </p:grpSpPr>
        <p:cxnSp>
          <p:nvCxnSpPr>
            <p:cNvPr id="201" name="직선 연결선 20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직선 연결선 20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" name="그룹 110"/>
          <p:cNvGrpSpPr/>
          <p:nvPr/>
        </p:nvGrpSpPr>
        <p:grpSpPr>
          <a:xfrm>
            <a:off x="714884" y="2255292"/>
            <a:ext cx="2630093" cy="1077219"/>
            <a:chOff x="3836700" y="3380909"/>
            <a:chExt cx="2630093" cy="1077219"/>
          </a:xfrm>
        </p:grpSpPr>
        <p:sp>
          <p:nvSpPr>
            <p:cNvPr id="118" name="직사각형 117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061590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55" name="직사각형 154"/>
          <p:cNvSpPr/>
          <p:nvPr/>
        </p:nvSpPr>
        <p:spPr>
          <a:xfrm>
            <a:off x="3898850" y="1926097"/>
            <a:ext cx="247983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b="1" dirty="0"/>
              <a:t>구분 정보</a:t>
            </a:r>
            <a:endParaRPr lang="en-US" altLang="ko-KR" sz="800" b="1" dirty="0"/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심사대기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심사전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수정대기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보안측정인원 첨부파일 </a:t>
            </a:r>
            <a:r>
              <a:rPr lang="ko-KR" altLang="en-US" sz="800" dirty="0" err="1"/>
              <a:t>수정제출한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승인완료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발급완료</a:t>
            </a:r>
            <a:r>
              <a:rPr lang="ko-KR" altLang="en-US" sz="800" dirty="0"/>
              <a:t> 상태</a:t>
            </a:r>
          </a:p>
        </p:txBody>
      </p: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59" name="타원 158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2" name="그룹 161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63" name="직선 연결선 1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4" name="직선 연결선 1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291381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모서리가 둥근 직사각형 166"/>
          <p:cNvSpPr/>
          <p:nvPr/>
        </p:nvSpPr>
        <p:spPr>
          <a:xfrm>
            <a:off x="759699" y="4549363"/>
            <a:ext cx="2543426" cy="1465365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779" y="4611182"/>
            <a:ext cx="215431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동의서 내용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본인은 이 건 업무처리와 관련하여 담당 공무원이 </a:t>
            </a:r>
            <a:r>
              <a:rPr lang="en-US" altLang="ko-KR" sz="700" dirty="0">
                <a:latin typeface="Consolas" panose="020B0609020204030204" pitchFamily="49" charset="0"/>
              </a:rPr>
              <a:t>"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en-US" altLang="ko-KR" sz="700" dirty="0">
                <a:latin typeface="Consolas" panose="020B0609020204030204" pitchFamily="49" charset="0"/>
              </a:rPr>
              <a:t>" </a:t>
            </a:r>
            <a:r>
              <a:rPr lang="ko-KR" altLang="en-US" sz="700" dirty="0">
                <a:latin typeface="Consolas" panose="020B0609020204030204" pitchFamily="49" charset="0"/>
              </a:rPr>
              <a:t>제</a:t>
            </a:r>
            <a:r>
              <a:rPr lang="en-US" altLang="ko-KR" sz="700" dirty="0">
                <a:latin typeface="Consolas" panose="020B0609020204030204" pitchFamily="49" charset="0"/>
              </a:rPr>
              <a:t>36</a:t>
            </a:r>
            <a:r>
              <a:rPr lang="ko-KR" altLang="en-US" sz="700" dirty="0">
                <a:latin typeface="Consolas" panose="020B0609020204030204" pitchFamily="49" charset="0"/>
              </a:rPr>
              <a:t>조제</a:t>
            </a:r>
            <a:r>
              <a:rPr lang="en-US" altLang="ko-KR" sz="700" dirty="0">
                <a:latin typeface="Consolas" panose="020B0609020204030204" pitchFamily="49" charset="0"/>
              </a:rPr>
              <a:t>1</a:t>
            </a:r>
            <a:r>
              <a:rPr lang="ko-KR" altLang="en-US" sz="700" dirty="0">
                <a:latin typeface="Consolas" panose="020B0609020204030204" pitchFamily="49" charset="0"/>
              </a:rPr>
              <a:t>항에 따른 행정정보의 공동이용을 통하여 위의 담당공무원 </a:t>
            </a:r>
            <a:r>
              <a:rPr lang="ko-KR" altLang="en-US" sz="700" dirty="0" err="1">
                <a:latin typeface="Consolas" panose="020B0609020204030204" pitchFamily="49" charset="0"/>
              </a:rPr>
              <a:t>확인사항</a:t>
            </a:r>
            <a:r>
              <a:rPr lang="ko-KR" altLang="en-US" sz="700" dirty="0">
                <a:latin typeface="Consolas" panose="020B0609020204030204" pitchFamily="49" charset="0"/>
              </a:rPr>
              <a:t> 중 </a:t>
            </a:r>
            <a:r>
              <a:rPr lang="ko-KR" altLang="en-US" sz="700" dirty="0" err="1">
                <a:latin typeface="Consolas" panose="020B0609020204030204" pitchFamily="49" charset="0"/>
              </a:rPr>
              <a:t>주민등록표</a:t>
            </a:r>
            <a:r>
              <a:rPr lang="ko-KR" altLang="en-US" sz="700" dirty="0">
                <a:latin typeface="Consolas" panose="020B0609020204030204" pitchFamily="49" charset="0"/>
              </a:rPr>
              <a:t> 등본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사업자등록증을 </a:t>
            </a:r>
            <a:r>
              <a:rPr lang="ko-KR" altLang="en-US" sz="700" dirty="0" err="1">
                <a:latin typeface="Consolas" panose="020B0609020204030204" pitchFamily="49" charset="0"/>
              </a:rPr>
              <a:t>확인하는것에</a:t>
            </a:r>
            <a:r>
              <a:rPr lang="ko-KR" altLang="en-US" sz="700" dirty="0">
                <a:latin typeface="Consolas" panose="020B0609020204030204" pitchFamily="49" charset="0"/>
              </a:rPr>
              <a:t> 동의합니다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동의하지 아니하는 경우에는 신청인이 직접 관련 서류를 제출하여야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171" name="타원 170"/>
          <p:cNvSpPr/>
          <p:nvPr/>
        </p:nvSpPr>
        <p:spPr>
          <a:xfrm>
            <a:off x="832838" y="46159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2" name="그룹 171"/>
          <p:cNvGrpSpPr/>
          <p:nvPr/>
        </p:nvGrpSpPr>
        <p:grpSpPr>
          <a:xfrm flipV="1">
            <a:off x="3138712" y="4686396"/>
            <a:ext cx="94010" cy="47005"/>
            <a:chOff x="6812560" y="3297172"/>
            <a:chExt cx="94010" cy="47005"/>
          </a:xfrm>
        </p:grpSpPr>
        <p:cxnSp>
          <p:nvCxnSpPr>
            <p:cNvPr id="173" name="직선 연결선 17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6" name="그룹 175"/>
          <p:cNvGrpSpPr/>
          <p:nvPr/>
        </p:nvGrpSpPr>
        <p:grpSpPr>
          <a:xfrm>
            <a:off x="767702" y="4075971"/>
            <a:ext cx="2522014" cy="342712"/>
            <a:chOff x="3888037" y="3794514"/>
            <a:chExt cx="2522014" cy="342712"/>
          </a:xfrm>
        </p:grpSpPr>
        <p:sp>
          <p:nvSpPr>
            <p:cNvPr id="17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8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904315"/>
              <a:ext cx="120225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행정정보 공동이용 동의서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205" name="타원 204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211" y="3749817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210" name="그룹 209"/>
          <p:cNvGrpSpPr/>
          <p:nvPr/>
        </p:nvGrpSpPr>
        <p:grpSpPr>
          <a:xfrm flipV="1">
            <a:off x="3135299" y="3863148"/>
            <a:ext cx="94010" cy="47005"/>
            <a:chOff x="6812560" y="3297172"/>
            <a:chExt cx="94010" cy="47005"/>
          </a:xfrm>
        </p:grpSpPr>
        <p:cxnSp>
          <p:nvCxnSpPr>
            <p:cNvPr id="211" name="직선 연결선 2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049128"/>
            <a:ext cx="76863" cy="292489"/>
            <a:chOff x="3750067" y="4683795"/>
            <a:chExt cx="76863" cy="292489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4" name="직사각형 7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947788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5558" y="828897"/>
            <a:ext cx="4291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42580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096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2802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3065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9078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906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38884F3-0DEA-B653-19C1-0ED418762AC0}"/>
              </a:ext>
            </a:extLst>
          </p:cNvPr>
          <p:cNvSpPr txBox="1"/>
          <p:nvPr/>
        </p:nvSpPr>
        <p:spPr>
          <a:xfrm>
            <a:off x="455558" y="3574102"/>
            <a:ext cx="5160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02CF2F9-B29F-29DA-EC0A-40BB7106BB0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785305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4A24014-24F4-E74D-8166-6F52F4F7A292}"/>
              </a:ext>
            </a:extLst>
          </p:cNvPr>
          <p:cNvSpPr txBox="1"/>
          <p:nvPr/>
        </p:nvSpPr>
        <p:spPr>
          <a:xfrm>
            <a:off x="455558" y="4601737"/>
            <a:ext cx="45210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12EFECB-4C2F-1A23-26A3-9E629B2D4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203313"/>
              </p:ext>
            </p:extLst>
          </p:nvPr>
        </p:nvGraphicFramePr>
        <p:xfrm>
          <a:off x="455558" y="482318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A21ED5F9-6963-2553-CA4F-E5B72C1FE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507776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193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45221-F415-1E68-5C61-25B7D0B96F3B}"/>
              </a:ext>
            </a:extLst>
          </p:cNvPr>
          <p:cNvSpPr txBox="1"/>
          <p:nvPr/>
        </p:nvSpPr>
        <p:spPr>
          <a:xfrm>
            <a:off x="455204" y="702691"/>
            <a:ext cx="911074" cy="24925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4CF4F53-DE25-0EA7-5039-EBA1EBDC95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222947"/>
              </p:ext>
            </p:extLst>
          </p:nvPr>
        </p:nvGraphicFramePr>
        <p:xfrm>
          <a:off x="455204" y="940612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나라장터</a:t>
                      </a:r>
                      <a:r>
                        <a:rPr lang="en-US" altLang="ko-KR" sz="800" dirty="0"/>
                        <a:t>(G2B)</a:t>
                      </a:r>
                      <a:r>
                        <a:rPr lang="ko-KR" altLang="en-US" sz="800" dirty="0"/>
                        <a:t>조달업체 최신 정보 수신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조달업체 최신 정보를 수신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변경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정보를 저장한다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10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scwin.btn_sbmsn_onclick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변경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정보를 제출한다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80551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A8F8070-621E-67FD-DD1B-2672A1EBD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18310"/>
            <a:ext cx="1678016" cy="1184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2704190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업체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/>
              <a:t>바로가기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개인</a:t>
            </a:r>
            <a:r>
              <a:rPr lang="en-US" altLang="ko-KR" dirty="0"/>
              <a:t>(</a:t>
            </a:r>
            <a:r>
              <a:rPr lang="ko-KR" altLang="en-US" dirty="0"/>
              <a:t>생체</a:t>
            </a:r>
            <a:r>
              <a:rPr lang="en-US" altLang="ko-KR" dirty="0"/>
              <a:t>)</a:t>
            </a:r>
            <a:r>
              <a:rPr lang="ko-KR" altLang="en-US" dirty="0"/>
              <a:t>인증</a:t>
            </a:r>
            <a:r>
              <a:rPr lang="en-US" altLang="ko-KR" dirty="0"/>
              <a:t>/</a:t>
            </a:r>
            <a:r>
              <a:rPr lang="ko-KR" altLang="en-US" dirty="0"/>
              <a:t>비밀번호 인증 이후 상세 화면 </a:t>
            </a:r>
            <a:r>
              <a:rPr lang="ko-KR" altLang="en-US" dirty="0" smtClean="0"/>
              <a:t>진입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생체 인증 </a:t>
            </a:r>
            <a:r>
              <a:rPr lang="en-US" altLang="ko-KR" dirty="0" smtClean="0"/>
              <a:t>MUI-CM-02-M02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개인정보 상세 </a:t>
            </a:r>
            <a:r>
              <a:rPr lang="en-US" altLang="ko-KR" dirty="0" smtClean="0"/>
              <a:t>MUI-CM-02-M03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 변경 </a:t>
            </a:r>
            <a:r>
              <a:rPr lang="en-US" altLang="ko-KR" dirty="0" smtClean="0"/>
              <a:t>MUI-CM-02-M05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개인신원확인 </a:t>
            </a:r>
            <a:r>
              <a:rPr lang="en-US" altLang="ko-KR" dirty="0" smtClean="0"/>
              <a:t>MUI-CM-02-M06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회원탈퇴 </a:t>
            </a:r>
            <a:r>
              <a:rPr lang="en-US" altLang="ko-KR" dirty="0"/>
              <a:t>MUI-CM-02-P10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관리 권한이 있는 사용자에게 표시되는 </a:t>
            </a:r>
            <a:r>
              <a:rPr lang="ko-KR" altLang="en-US" dirty="0" smtClean="0"/>
              <a:t>목록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MUI-CM-02-M07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사용자정보관리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사용자정보관리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사용자정보관리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24487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개인정보 상세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06731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비밀번호 변경</a:t>
              </a: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4387007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개인신원확인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4772299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소속 사용자 목록</a:t>
              </a: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48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903581" y="5157591"/>
            <a:ext cx="2255663" cy="306146"/>
            <a:chOff x="903581" y="2074658"/>
            <a:chExt cx="2255663" cy="306146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회원 탈퇴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705041" y="5550907"/>
            <a:ext cx="2652743" cy="584974"/>
            <a:chOff x="734683" y="4769161"/>
            <a:chExt cx="2652743" cy="584974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734683" y="4769161"/>
              <a:ext cx="2652743" cy="584974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퇴사자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원복은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PC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버전에서 확인하고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신청이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54" name="타원 53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2" name="그룹 61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5" name="직사각형 6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4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03947" y="48218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88175398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53000" y="840586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5426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849740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3055732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세부 페이지로 이동한다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36287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43601437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비밀번호 확인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생체 인증이 등록되어 있다면</a:t>
            </a:r>
            <a:r>
              <a:rPr lang="en-US" altLang="ko-KR" dirty="0"/>
              <a:t>, </a:t>
            </a:r>
            <a:r>
              <a:rPr lang="ko-KR" altLang="en-US" dirty="0"/>
              <a:t>현재 페이지에서 생체 인증 </a:t>
            </a:r>
            <a:r>
              <a:rPr lang="ko-KR" altLang="en-US" dirty="0" smtClean="0"/>
              <a:t>진행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 err="1"/>
              <a:t>생체인증이</a:t>
            </a:r>
            <a:r>
              <a:rPr lang="ko-KR" altLang="en-US" dirty="0"/>
              <a:t> 정상적인 경우 하위 페이지 </a:t>
            </a:r>
            <a:r>
              <a:rPr lang="ko-KR" altLang="en-US" dirty="0" smtClean="0"/>
              <a:t>진입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실패 시 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생체인증에</a:t>
            </a:r>
            <a:r>
              <a:rPr lang="ko-KR" altLang="en-US" dirty="0" smtClean="0"/>
              <a:t> 실패했습니다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 실패 시 유효성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비밀번호를 정확히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smtClean="0">
                <a:latin typeface="+mn-ea"/>
              </a:rPr>
              <a:t>비밀번호인증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비밀번호 인증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비밀번호 인증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인증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6833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Consolas" panose="020B0609020204030204" pitchFamily="49" charset="0"/>
              </a:rPr>
              <a:t>개인정보 접근을 위해 추가 인증이 필요합니다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u="sng" dirty="0">
              <a:latin typeface="맑은 고딕" panose="020B0503020000020004" pitchFamily="50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705041" y="5217620"/>
            <a:ext cx="2652743" cy="896921"/>
            <a:chOff x="734683" y="4769160"/>
            <a:chExt cx="2652743" cy="896921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734683" y="4769160"/>
              <a:ext cx="2652743" cy="896921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비밀번호를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5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 이상 잘못 입력할 경우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3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분간 접근이 제한됩니다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 자동완성기능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(ex.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알패스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등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)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은 사용할 수 없습니다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5" name="타원 44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47" name="직선 연결선 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그룹 60"/>
          <p:cNvGrpSpPr/>
          <p:nvPr/>
        </p:nvGrpSpPr>
        <p:grpSpPr>
          <a:xfrm>
            <a:off x="903581" y="2769869"/>
            <a:ext cx="2255663" cy="306146"/>
            <a:chOff x="3982951" y="3679873"/>
            <a:chExt cx="2255663" cy="306146"/>
          </a:xfrm>
        </p:grpSpPr>
        <p:sp>
          <p:nvSpPr>
            <p:cNvPr id="62" name="모서리가 둥근 직사각형 6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3093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</a:t>
            </a:r>
          </a:p>
        </p:txBody>
      </p:sp>
      <p:grpSp>
        <p:nvGrpSpPr>
          <p:cNvPr id="65" name="그룹 64"/>
          <p:cNvGrpSpPr/>
          <p:nvPr/>
        </p:nvGrpSpPr>
        <p:grpSpPr>
          <a:xfrm>
            <a:off x="903580" y="3394047"/>
            <a:ext cx="2255663" cy="306146"/>
            <a:chOff x="3982951" y="3679873"/>
            <a:chExt cx="2255663" cy="306146"/>
          </a:xfrm>
        </p:grpSpPr>
        <p:sp>
          <p:nvSpPr>
            <p:cNvPr id="66" name="모서리가 둥근 직사각형 6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latin typeface="+mn-ea"/>
                </a:rPr>
                <a:t>확인</a:t>
              </a:r>
              <a:endParaRPr lang="ko-KR" altLang="en-US" sz="8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15874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</p:spTree>
    <p:extLst>
      <p:ext uri="{BB962C8B-B14F-4D97-AF65-F5344CB8AC3E}">
        <p14:creationId xmlns:p14="http://schemas.microsoft.com/office/powerpoint/2010/main" val="175564733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197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0676" y="25103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7804015"/>
              </p:ext>
            </p:extLst>
          </p:nvPr>
        </p:nvGraphicFramePr>
        <p:xfrm>
          <a:off x="455204" y="2738613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046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3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개인정보 진입을 위해 비밀번호 확인을 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A05DC22-1F45-1635-7D82-D1A2569711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262758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B219E7-1AD6-2076-CF8E-791596C77351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5AAA0-E72E-16E1-4AF7-B7C28E2DC9C5}"/>
              </a:ext>
            </a:extLst>
          </p:cNvPr>
          <p:cNvSpPr txBox="1"/>
          <p:nvPr/>
        </p:nvSpPr>
        <p:spPr>
          <a:xfrm>
            <a:off x="460676" y="833240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9AD1118-E107-46DC-3258-94C2124CA57D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1699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userEnpswd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암호화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40EF4BA8-43E1-7E6B-53D1-6EEF9C750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458395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모서리가 둥근 직사각형 73"/>
          <p:cNvSpPr/>
          <p:nvPr/>
        </p:nvSpPr>
        <p:spPr>
          <a:xfrm>
            <a:off x="4023916" y="3000173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모서리가 둥근 직사각형 68"/>
          <p:cNvSpPr/>
          <p:nvPr/>
        </p:nvSpPr>
        <p:spPr>
          <a:xfrm>
            <a:off x="4023916" y="2400440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모서리가 둥근 직사각형 70"/>
          <p:cNvSpPr/>
          <p:nvPr/>
        </p:nvSpPr>
        <p:spPr>
          <a:xfrm>
            <a:off x="4023916" y="1793270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모서리가 둥근 직사각형 67"/>
          <p:cNvSpPr/>
          <p:nvPr/>
        </p:nvSpPr>
        <p:spPr>
          <a:xfrm>
            <a:off x="903581" y="5820171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모서리가 둥근 직사각형 57"/>
          <p:cNvSpPr/>
          <p:nvPr/>
        </p:nvSpPr>
        <p:spPr>
          <a:xfrm>
            <a:off x="903581" y="2784175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모서리가 둥근 직사각형 60"/>
          <p:cNvSpPr/>
          <p:nvPr/>
        </p:nvSpPr>
        <p:spPr>
          <a:xfrm>
            <a:off x="903581" y="3391345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모서리가 둥근 직사각형 61"/>
          <p:cNvSpPr/>
          <p:nvPr/>
        </p:nvSpPr>
        <p:spPr>
          <a:xfrm>
            <a:off x="903581" y="5229249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903581" y="4622079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모서리가 둥근 직사각형 66"/>
          <p:cNvSpPr/>
          <p:nvPr/>
        </p:nvSpPr>
        <p:spPr>
          <a:xfrm>
            <a:off x="903581" y="4006712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모서리가 둥근 직사각형 56"/>
          <p:cNvSpPr/>
          <p:nvPr/>
        </p:nvSpPr>
        <p:spPr>
          <a:xfrm>
            <a:off x="903581" y="2177005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조회화면으로 수정 불가능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수신설정</a:t>
            </a:r>
            <a:r>
              <a:rPr lang="ko-KR" altLang="en-US" dirty="0"/>
              <a:t> 역시 </a:t>
            </a:r>
            <a:r>
              <a:rPr lang="ko-KR" altLang="en-US" dirty="0" smtClean="0"/>
              <a:t>조회만 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수정 불가능</a:t>
            </a:r>
            <a:r>
              <a:rPr lang="en-US" altLang="ko-KR" dirty="0" smtClean="0"/>
              <a:t>.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개인정보 수정하기 버튼으로 개인정보 수정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사용자 관리 목록에서 진입하는 경우</a:t>
            </a:r>
            <a:r>
              <a:rPr lang="ko-KR" altLang="en-US" dirty="0"/>
              <a:t>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타이틀 변경</a:t>
            </a:r>
            <a:r>
              <a:rPr lang="en-US" altLang="ko-KR" dirty="0"/>
              <a:t> - </a:t>
            </a:r>
            <a:r>
              <a:rPr lang="ko-KR" altLang="en-US" dirty="0"/>
              <a:t>사용자 상세정보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표시정보</a:t>
            </a:r>
            <a:r>
              <a:rPr lang="ko-KR" altLang="en-US" dirty="0"/>
              <a:t> 중 수신 설정 </a:t>
            </a:r>
            <a:r>
              <a:rPr lang="ko-KR" altLang="en-US" dirty="0" err="1"/>
              <a:t>미표시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도움말 및 개인정보 수정 버튼 </a:t>
            </a:r>
            <a:r>
              <a:rPr lang="ko-KR" altLang="en-US" dirty="0" err="1"/>
              <a:t>미표시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개인정보상세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개인정보 상세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상세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MUI-CM-02-M03</a:t>
            </a:r>
            <a:endParaRPr lang="ko-KR" altLang="en-US" sz="1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개인정보 상세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3" name="그룹 62"/>
          <p:cNvGrpSpPr/>
          <p:nvPr/>
        </p:nvGrpSpPr>
        <p:grpSpPr>
          <a:xfrm>
            <a:off x="4023916" y="5111707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개인정보 수정하기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88338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Test1</a:t>
            </a:r>
            <a:endParaRPr lang="ko-KR" altLang="en-US" sz="800" dirty="0"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4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49055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홍길동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25241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02987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유형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27621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일반사용자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5328461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실명인증이 필요합니다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09031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실명인증여부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749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부서명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4721291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총무팀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1" y="249176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abcde@dapa.go.kr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225361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이메일 주소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1" y="188459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010-1234-5678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16464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휴대전화번호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69748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전화번호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5934618"/>
            <a:ext cx="157010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02-1234-5678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2861802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팩스번호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3098934"/>
            <a:ext cx="157010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02-2345-6789</a:t>
            </a:r>
            <a:endParaRPr lang="ko-KR" altLang="en-US" sz="800" dirty="0">
              <a:latin typeface="+mn-ea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5958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업체명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410592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조달테스트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153" name="그룹 152"/>
          <p:cNvGrpSpPr/>
          <p:nvPr/>
        </p:nvGrpSpPr>
        <p:grpSpPr>
          <a:xfrm>
            <a:off x="3825375" y="4332817"/>
            <a:ext cx="2652743" cy="633878"/>
            <a:chOff x="734683" y="4769160"/>
            <a:chExt cx="2652743" cy="633878"/>
          </a:xfrm>
        </p:grpSpPr>
        <p:sp>
          <p:nvSpPr>
            <p:cNvPr id="154" name="모서리가 둥근 직사각형 153"/>
            <p:cNvSpPr/>
            <p:nvPr/>
          </p:nvSpPr>
          <p:spPr>
            <a:xfrm>
              <a:off x="734683" y="4769160"/>
              <a:ext cx="2652743" cy="633878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상세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SMS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수신서비스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설정은 홈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&gt;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마이페이지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&gt;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알림서비스신청 화면에서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156" name="타원 155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32818" y="347141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수신 설정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715587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휴대전화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7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708562"/>
            <a:ext cx="301752" cy="137160"/>
            <a:chOff x="840582" y="1601197"/>
            <a:chExt cx="301752" cy="137160"/>
          </a:xfrm>
        </p:grpSpPr>
        <p:sp>
          <p:nvSpPr>
            <p:cNvPr id="17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6769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이메일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960667"/>
            <a:ext cx="301752" cy="137160"/>
            <a:chOff x="840582" y="1601197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26006712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Dim </a:t>
            </a:r>
            <a:r>
              <a:rPr lang="ko-KR" altLang="en-US" dirty="0"/>
              <a:t>항목은 수정불가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개인정보 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저장하기 클릭 시 </a:t>
            </a:r>
            <a:r>
              <a:rPr lang="ko-KR" altLang="en-US" dirty="0" smtClean="0"/>
              <a:t>수정된 개인정보를 저장하고 개인정보 </a:t>
            </a:r>
            <a:r>
              <a:rPr lang="ko-KR" altLang="en-US" dirty="0"/>
              <a:t>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토스트 메시지 </a:t>
            </a:r>
            <a:r>
              <a:rPr lang="en-US" altLang="ko-KR" dirty="0"/>
              <a:t>: </a:t>
            </a:r>
            <a:r>
              <a:rPr lang="ko-KR" altLang="en-US" dirty="0"/>
              <a:t>개인정보를 수정하였습니다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개인정보수정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개인정보 수정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수정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개인정보 수정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4" name="모서리가 둥근 직사각형 63"/>
          <p:cNvSpPr/>
          <p:nvPr/>
        </p:nvSpPr>
        <p:spPr>
          <a:xfrm>
            <a:off x="4777593" y="4353970"/>
            <a:ext cx="1501986" cy="306146"/>
          </a:xfrm>
          <a:prstGeom prst="roundRect">
            <a:avLst>
              <a:gd name="adj" fmla="val 1862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/>
              <a:t>저장하기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/>
          <p:cNvGrpSpPr/>
          <p:nvPr/>
        </p:nvGrpSpPr>
        <p:grpSpPr>
          <a:xfrm>
            <a:off x="903581" y="2645240"/>
            <a:ext cx="2255663" cy="445081"/>
            <a:chOff x="903581" y="2736408"/>
            <a:chExt cx="2255663" cy="445081"/>
          </a:xfrm>
        </p:grpSpPr>
        <p:grpSp>
          <p:nvGrpSpPr>
            <p:cNvPr id="47" name="그룹 46"/>
            <p:cNvGrpSpPr/>
            <p:nvPr/>
          </p:nvGrpSpPr>
          <p:grpSpPr>
            <a:xfrm>
              <a:off x="903581" y="2875343"/>
              <a:ext cx="2255663" cy="306146"/>
              <a:chOff x="3982951" y="3679873"/>
              <a:chExt cx="2255663" cy="306146"/>
            </a:xfrm>
          </p:grpSpPr>
          <p:sp>
            <p:nvSpPr>
              <p:cNvPr id="49" name="모서리가 둥근 직사각형 48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Test1</a:t>
                </a:r>
                <a:endParaRPr lang="ko-KR" altLang="en-US" sz="800" dirty="0">
                  <a:latin typeface="+mn-ea"/>
                </a:endParaRP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27364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아이디</a:t>
              </a:r>
            </a:p>
          </p:txBody>
        </p:sp>
      </p:grpSp>
      <p:grpSp>
        <p:nvGrpSpPr>
          <p:cNvPr id="8" name="그룹 7"/>
          <p:cNvGrpSpPr/>
          <p:nvPr/>
        </p:nvGrpSpPr>
        <p:grpSpPr>
          <a:xfrm>
            <a:off x="903581" y="3252410"/>
            <a:ext cx="2255663" cy="445081"/>
            <a:chOff x="903581" y="3368079"/>
            <a:chExt cx="2255663" cy="445081"/>
          </a:xfrm>
        </p:grpSpPr>
        <p:grpSp>
          <p:nvGrpSpPr>
            <p:cNvPr id="57" name="그룹 56"/>
            <p:cNvGrpSpPr/>
            <p:nvPr/>
          </p:nvGrpSpPr>
          <p:grpSpPr>
            <a:xfrm>
              <a:off x="903581" y="3507014"/>
              <a:ext cx="2255663" cy="306146"/>
              <a:chOff x="3982951" y="3679873"/>
              <a:chExt cx="2255663" cy="306146"/>
            </a:xfrm>
          </p:grpSpPr>
          <p:sp>
            <p:nvSpPr>
              <p:cNvPr id="58" name="모서리가 둥근 직사각형 57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홍길동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3368079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사용자명</a:t>
              </a: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903581" y="2029873"/>
            <a:ext cx="2255663" cy="453278"/>
            <a:chOff x="903581" y="2090495"/>
            <a:chExt cx="2255663" cy="453278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209049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유형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93" name="그룹 92"/>
            <p:cNvGrpSpPr/>
            <p:nvPr/>
          </p:nvGrpSpPr>
          <p:grpSpPr>
            <a:xfrm>
              <a:off x="903581" y="2237627"/>
              <a:ext cx="2255663" cy="306146"/>
              <a:chOff x="3982951" y="3679873"/>
              <a:chExt cx="2255663" cy="306146"/>
            </a:xfrm>
          </p:grpSpPr>
          <p:sp>
            <p:nvSpPr>
              <p:cNvPr id="94" name="모서리가 둥근 직사각형 93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일반사용자</a:t>
                </a:r>
              </a:p>
            </p:txBody>
          </p:sp>
        </p:grpSp>
      </p:grpSp>
      <p:grpSp>
        <p:nvGrpSpPr>
          <p:cNvPr id="16" name="그룹 15"/>
          <p:cNvGrpSpPr/>
          <p:nvPr/>
        </p:nvGrpSpPr>
        <p:grpSpPr>
          <a:xfrm>
            <a:off x="903581" y="5090314"/>
            <a:ext cx="2255663" cy="445081"/>
            <a:chOff x="903581" y="5126437"/>
            <a:chExt cx="2255663" cy="445081"/>
          </a:xfrm>
        </p:grpSpPr>
        <p:grpSp>
          <p:nvGrpSpPr>
            <p:cNvPr id="68" name="그룹 67"/>
            <p:cNvGrpSpPr/>
            <p:nvPr/>
          </p:nvGrpSpPr>
          <p:grpSpPr>
            <a:xfrm>
              <a:off x="903581" y="5265372"/>
              <a:ext cx="2255663" cy="306146"/>
              <a:chOff x="3982951" y="3679873"/>
              <a:chExt cx="2255663" cy="306146"/>
            </a:xfrm>
          </p:grpSpPr>
          <p:sp>
            <p:nvSpPr>
              <p:cNvPr id="69" name="모서리가 둥근 직사각형 68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실명인증이 필요합니다</a:t>
                </a:r>
                <a:r>
                  <a:rPr lang="en-US" altLang="ko-KR" sz="800" dirty="0">
                    <a:latin typeface="+mn-ea"/>
                  </a:rPr>
                  <a:t>.</a:t>
                </a:r>
                <a:endParaRPr lang="ko-KR" altLang="en-US" sz="800" dirty="0">
                  <a:latin typeface="+mn-ea"/>
                </a:endParaRP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126437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실명인증여부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03581" y="4474947"/>
            <a:ext cx="2255663" cy="453278"/>
            <a:chOff x="903581" y="4480524"/>
            <a:chExt cx="2255663" cy="453278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4480524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부서명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>
              <a:off x="903581" y="4627656"/>
              <a:ext cx="2255663" cy="306146"/>
              <a:chOff x="3982951" y="3679873"/>
              <a:chExt cx="2255663" cy="306146"/>
            </a:xfrm>
          </p:grpSpPr>
          <p:sp>
            <p:nvSpPr>
              <p:cNvPr id="110" name="모서리가 둥근 직사각형 109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 err="1">
                    <a:latin typeface="+mn-ea"/>
                  </a:rPr>
                  <a:t>총무팀</a:t>
                </a:r>
                <a:endParaRPr lang="ko-KR" altLang="en-US" sz="800" dirty="0">
                  <a:latin typeface="+mn-ea"/>
                </a:endParaRPr>
              </a:p>
            </p:txBody>
          </p:sp>
        </p:grpSp>
      </p:grpSp>
      <p:grpSp>
        <p:nvGrpSpPr>
          <p:cNvPr id="19" name="그룹 18"/>
          <p:cNvGrpSpPr/>
          <p:nvPr/>
        </p:nvGrpSpPr>
        <p:grpSpPr>
          <a:xfrm>
            <a:off x="4023916" y="2253617"/>
            <a:ext cx="2255663" cy="445081"/>
            <a:chOff x="4023916" y="2330922"/>
            <a:chExt cx="2255663" cy="445081"/>
          </a:xfrm>
        </p:grpSpPr>
        <p:grpSp>
          <p:nvGrpSpPr>
            <p:cNvPr id="117" name="그룹 116"/>
            <p:cNvGrpSpPr/>
            <p:nvPr/>
          </p:nvGrpSpPr>
          <p:grpSpPr>
            <a:xfrm>
              <a:off x="4023916" y="2469857"/>
              <a:ext cx="2255663" cy="306146"/>
              <a:chOff x="3982951" y="3679873"/>
              <a:chExt cx="2255663" cy="306146"/>
            </a:xfrm>
          </p:grpSpPr>
          <p:sp>
            <p:nvSpPr>
              <p:cNvPr id="118" name="모서리가 둥근 직사각형 117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이메일 주소를 입력해주세요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2330922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이메일 주소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894490" y="2330922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4023916" y="1646447"/>
            <a:ext cx="2255663" cy="445081"/>
            <a:chOff x="4023916" y="1699251"/>
            <a:chExt cx="2255663" cy="445081"/>
          </a:xfrm>
        </p:grpSpPr>
        <p:grpSp>
          <p:nvGrpSpPr>
            <p:cNvPr id="113" name="그룹 112"/>
            <p:cNvGrpSpPr/>
            <p:nvPr/>
          </p:nvGrpSpPr>
          <p:grpSpPr>
            <a:xfrm>
              <a:off x="4023916" y="1838186"/>
              <a:ext cx="2255663" cy="306146"/>
              <a:chOff x="3982951" y="3679873"/>
              <a:chExt cx="2255663" cy="306146"/>
            </a:xfrm>
          </p:grpSpPr>
          <p:sp>
            <p:nvSpPr>
              <p:cNvPr id="114" name="모서리가 둥근 직사각형 113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휴대전화번호를 입력해주세요</a:t>
                </a: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1699251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휴대전화번호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894490" y="1699251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7" name="그룹 16"/>
          <p:cNvGrpSpPr/>
          <p:nvPr/>
        </p:nvGrpSpPr>
        <p:grpSpPr>
          <a:xfrm>
            <a:off x="903581" y="5697486"/>
            <a:ext cx="2255661" cy="444066"/>
            <a:chOff x="903581" y="5758108"/>
            <a:chExt cx="2255661" cy="444066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7581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전화번호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74155" y="5758108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6" name="그룹 5"/>
            <p:cNvGrpSpPr/>
            <p:nvPr/>
          </p:nvGrpSpPr>
          <p:grpSpPr>
            <a:xfrm>
              <a:off x="903582" y="5896028"/>
              <a:ext cx="2255660" cy="306146"/>
              <a:chOff x="903582" y="5841774"/>
              <a:chExt cx="2255660" cy="306146"/>
            </a:xfrm>
          </p:grpSpPr>
          <p:sp>
            <p:nvSpPr>
              <p:cNvPr id="124" name="모서리가 둥근 직사각형 123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02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26" name="모서리가 둥근 직사각형 125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1234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28" name="모서리가 둥근 직사각형 127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5678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132" name="그룹 131"/>
            <p:cNvGrpSpPr/>
            <p:nvPr/>
          </p:nvGrpSpPr>
          <p:grpSpPr>
            <a:xfrm>
              <a:off x="1274733" y="6025599"/>
              <a:ext cx="94010" cy="47005"/>
              <a:chOff x="6812560" y="3297172"/>
              <a:chExt cx="94010" cy="47005"/>
            </a:xfrm>
          </p:grpSpPr>
          <p:cxnSp>
            <p:nvCxnSpPr>
              <p:cNvPr id="133" name="직선 연결선 13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4" name="직선 연결선 13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그룹 19"/>
          <p:cNvGrpSpPr/>
          <p:nvPr/>
        </p:nvGrpSpPr>
        <p:grpSpPr>
          <a:xfrm>
            <a:off x="4023916" y="2861802"/>
            <a:ext cx="2255661" cy="444066"/>
            <a:chOff x="4023916" y="2985652"/>
            <a:chExt cx="2255661" cy="444066"/>
          </a:xfrm>
        </p:grpSpPr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2985652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팩스번호</a:t>
              </a:r>
            </a:p>
          </p:txBody>
        </p:sp>
        <p:grpSp>
          <p:nvGrpSpPr>
            <p:cNvPr id="137" name="그룹 136"/>
            <p:cNvGrpSpPr/>
            <p:nvPr/>
          </p:nvGrpSpPr>
          <p:grpSpPr>
            <a:xfrm>
              <a:off x="4023917" y="3123572"/>
              <a:ext cx="2255660" cy="306146"/>
              <a:chOff x="903582" y="5841774"/>
              <a:chExt cx="2255660" cy="306146"/>
            </a:xfrm>
          </p:grpSpPr>
          <p:sp>
            <p:nvSpPr>
              <p:cNvPr id="138" name="모서리가 둥근 직사각형 137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02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0" name="모서리가 둥근 직사각형 139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2345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2" name="모서리가 둥근 직사각형 141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6789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146" name="그룹 145"/>
            <p:cNvGrpSpPr/>
            <p:nvPr/>
          </p:nvGrpSpPr>
          <p:grpSpPr>
            <a:xfrm>
              <a:off x="4395068" y="3253143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그룹 6"/>
          <p:cNvGrpSpPr/>
          <p:nvPr/>
        </p:nvGrpSpPr>
        <p:grpSpPr>
          <a:xfrm>
            <a:off x="903581" y="3859580"/>
            <a:ext cx="2255663" cy="453278"/>
            <a:chOff x="903581" y="3931203"/>
            <a:chExt cx="2255663" cy="453278"/>
          </a:xfrm>
        </p:grpSpPr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3931203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err="1">
                  <a:latin typeface="+mn-ea"/>
                </a:rPr>
                <a:t>업체명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150" name="그룹 149"/>
            <p:cNvGrpSpPr/>
            <p:nvPr/>
          </p:nvGrpSpPr>
          <p:grpSpPr>
            <a:xfrm>
              <a:off x="903581" y="4078335"/>
              <a:ext cx="2255663" cy="306146"/>
              <a:chOff x="3982951" y="3679873"/>
              <a:chExt cx="2255663" cy="306146"/>
            </a:xfrm>
          </p:grpSpPr>
          <p:sp>
            <p:nvSpPr>
              <p:cNvPr id="151" name="모서리가 둥근 직사각형 150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 err="1">
                    <a:latin typeface="+mn-ea"/>
                  </a:rPr>
                  <a:t>조달테스트</a:t>
                </a:r>
                <a:endParaRPr lang="ko-KR" altLang="en-US" sz="800" dirty="0">
                  <a:latin typeface="+mn-ea"/>
                </a:endParaRPr>
              </a:p>
            </p:txBody>
          </p:sp>
        </p:grp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32818" y="347141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수신 설정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715587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휴대전화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7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708562"/>
            <a:ext cx="301752" cy="137160"/>
            <a:chOff x="840582" y="1601197"/>
            <a:chExt cx="301752" cy="137160"/>
          </a:xfrm>
        </p:grpSpPr>
        <p:sp>
          <p:nvSpPr>
            <p:cNvPr id="17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6769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이메일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960667"/>
            <a:ext cx="301752" cy="137160"/>
            <a:chOff x="840582" y="1601197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2" name="모서리가 둥근 직사각형 111"/>
          <p:cNvSpPr/>
          <p:nvPr/>
        </p:nvSpPr>
        <p:spPr>
          <a:xfrm>
            <a:off x="4032818" y="4353970"/>
            <a:ext cx="634976" cy="306146"/>
          </a:xfrm>
          <a:prstGeom prst="roundRect">
            <a:avLst>
              <a:gd name="adj" fmla="val 1862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277008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15429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51681"/>
          <a:ext cx="8994883" cy="2764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9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08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userInfoRlnmCd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 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실명인증미완료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X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탈퇴사용자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운영자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조회는 가능하나 사용은 못함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321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알림수신여부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smsRcptnYn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알림수신여부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792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517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이메일수신여부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emlRcptnYn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이메일수신여부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183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965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88691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2292" y="399360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987807"/>
              </p:ext>
            </p:extLst>
          </p:nvPr>
        </p:nvGraphicFramePr>
        <p:xfrm>
          <a:off x="452292" y="4220196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개인정보를 변경한다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22933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9FE55562-B82C-BEB9-A24B-EE39573F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408390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D3F1CE97-139B-4066-3244-BEC387C65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70663294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비밀번호 변경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입력은 </a:t>
            </a:r>
            <a:r>
              <a:rPr lang="ko-KR" altLang="en-US" dirty="0" err="1"/>
              <a:t>마스킹</a:t>
            </a:r>
            <a:r>
              <a:rPr lang="ko-KR" altLang="en-US" dirty="0"/>
              <a:t>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마스킹</a:t>
            </a:r>
            <a:r>
              <a:rPr lang="ko-KR" altLang="en-US" dirty="0"/>
              <a:t> 내역을 확인해볼 수 있는 눈 아이콘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변경 완료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확인 클릭 시 상위 목록으로 </a:t>
            </a:r>
            <a:r>
              <a:rPr lang="ko-KR" altLang="en-US" dirty="0" smtClean="0"/>
              <a:t>이동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비밀번호 변경 버튼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체크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동일한 비밀번호를 다시 한번 입력해주세요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유효성 메시지 </a:t>
            </a:r>
            <a:r>
              <a:rPr lang="en-US" altLang="ko-KR" dirty="0"/>
              <a:t>– </a:t>
            </a:r>
            <a:r>
              <a:rPr lang="ko-KR" altLang="en-US" dirty="0" smtClean="0"/>
              <a:t>입력 불가능한 특수문자를 제외하고 비밀번호를 입력해주세요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비밀번호는 </a:t>
            </a:r>
            <a:r>
              <a:rPr lang="en-US" altLang="ko-KR" dirty="0" smtClean="0"/>
              <a:t>9~16</a:t>
            </a:r>
            <a:r>
              <a:rPr lang="ko-KR" altLang="en-US" dirty="0" smtClean="0"/>
              <a:t>자로 숫자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영문 소문자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특수문자 조합으로 입력해주세요</a:t>
            </a:r>
            <a:r>
              <a:rPr lang="en-US" altLang="ko-KR" dirty="0" smtClean="0"/>
              <a:t>.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 변경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 변경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비밀번호 변경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</a:t>
            </a:r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변경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39215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비밀번호를 새롭게 변경해주세요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4188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77252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비밀번호 변경하기</a:t>
              </a:r>
            </a:p>
          </p:txBody>
        </p:sp>
      </p:grpSp>
      <p:sp>
        <p:nvSpPr>
          <p:cNvPr id="71" name="타원 70"/>
          <p:cNvSpPr/>
          <p:nvPr/>
        </p:nvSpPr>
        <p:spPr>
          <a:xfrm>
            <a:off x="1848359" y="1941981"/>
            <a:ext cx="366106" cy="36610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</a:t>
            </a:r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변경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비밀번호가 변경되었습니다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>
            <a:off x="4023916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확인</a:t>
              </a: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7" name="그룹 46"/>
          <p:cNvGrpSpPr/>
          <p:nvPr/>
        </p:nvGrpSpPr>
        <p:grpSpPr>
          <a:xfrm>
            <a:off x="903581" y="3502504"/>
            <a:ext cx="2255663" cy="306146"/>
            <a:chOff x="3982951" y="3679873"/>
            <a:chExt cx="2255663" cy="306146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입력해주세요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635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새 비밀번호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6356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903581" y="4134175"/>
            <a:ext cx="2255663" cy="306146"/>
            <a:chOff x="3982951" y="3679873"/>
            <a:chExt cx="2255663" cy="306146"/>
          </a:xfrm>
        </p:grpSpPr>
        <p:sp>
          <p:nvSpPr>
            <p:cNvPr id="58" name="모서리가 둥근 직사각형 5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한번 더 입력해주세요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99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새 비밀번호 확인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8018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99524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71765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현재 비밀번호</a:t>
            </a:r>
            <a:r>
              <a:rPr lang="ko-KR" altLang="en-US" sz="700" b="1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903581" y="2864788"/>
            <a:ext cx="2255663" cy="306146"/>
            <a:chOff x="3982951" y="3679873"/>
            <a:chExt cx="2255663" cy="306146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*********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705041" y="4757244"/>
            <a:ext cx="2652743" cy="769170"/>
            <a:chOff x="734683" y="4769160"/>
            <a:chExt cx="2652743" cy="769170"/>
          </a:xfrm>
        </p:grpSpPr>
        <p:sp>
          <p:nvSpPr>
            <p:cNvPr id="98" name="모서리가 둥근 직사각형 97"/>
            <p:cNvSpPr/>
            <p:nvPr/>
          </p:nvSpPr>
          <p:spPr>
            <a:xfrm>
              <a:off x="734683" y="4769160"/>
              <a:ext cx="2652743" cy="769170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53860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비밀번호는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9~16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자 숫자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영문 소문자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특수문자 조합으로 입력하세요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입력 불가한 특수문자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: `~&amp;()_{}[]|\:;"',.&amp;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lt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gt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;?/</a:t>
              </a:r>
            </a:p>
          </p:txBody>
        </p:sp>
        <p:sp>
          <p:nvSpPr>
            <p:cNvPr id="100" name="타원 99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연결선 1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719686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713112"/>
            <a:ext cx="2305144" cy="5909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새로운 비밀번호로 로그인 하실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algn="ctr">
              <a:lnSpc>
                <a:spcPct val="120000"/>
              </a:lnSpc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latin typeface="Consolas" panose="020B0609020204030204" pitchFamily="49" charset="0"/>
              </a:rPr>
              <a:t>생체인증이</a:t>
            </a:r>
            <a:r>
              <a:rPr lang="ko-KR" altLang="en-US" sz="800" dirty="0">
                <a:latin typeface="Consolas" panose="020B0609020204030204" pitchFamily="49" charset="0"/>
              </a:rPr>
              <a:t> 등록된 경우 새 비밀번호 입력없이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생체인증으로 로그인할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0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595490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79988"/>
            <a:ext cx="25044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비밀번호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dm_pwsdChgInfo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642718"/>
              </p:ext>
            </p:extLst>
          </p:nvPr>
        </p:nvGraphicFramePr>
        <p:xfrm>
          <a:off x="455558" y="116374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newUserEnpswdIdnty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76891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5052" y="30768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476674"/>
              </p:ext>
            </p:extLst>
          </p:nvPr>
        </p:nvGraphicFramePr>
        <p:xfrm>
          <a:off x="452292" y="3318979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78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66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비밀번호 변경하기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비밀번호를 변경한다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03717520-55AF-3645-D618-DFBA6DC15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320798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0E8BD3CE-7E40-FF1D-A628-4B8C69230B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5459777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개인신원</a:t>
            </a:r>
            <a:r>
              <a:rPr lang="ko-KR" altLang="en-US" dirty="0"/>
              <a:t> 확인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관리 </a:t>
            </a:r>
            <a:r>
              <a:rPr lang="en-US" altLang="ko-KR" dirty="0"/>
              <a:t>(MUI-CM-04-M14)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삭제 </a:t>
            </a:r>
            <a:r>
              <a:rPr lang="en-US" altLang="ko-KR" dirty="0"/>
              <a:t>(MUI-CM-04-P15) </a:t>
            </a:r>
            <a:br>
              <a:rPr lang="en-US" altLang="ko-KR" dirty="0"/>
            </a:br>
            <a:r>
              <a:rPr lang="ko-KR" altLang="en-US" dirty="0"/>
              <a:t>화면 재활용 </a:t>
            </a:r>
            <a:r>
              <a:rPr lang="en-US" altLang="ko-KR" dirty="0"/>
              <a:t>(</a:t>
            </a:r>
            <a:r>
              <a:rPr lang="ko-KR" altLang="en-US" dirty="0"/>
              <a:t>다음 페이지 참조</a:t>
            </a:r>
            <a:r>
              <a:rPr lang="en-US" altLang="ko-KR" dirty="0" smtClean="0"/>
              <a:t>)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사용자 이름 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개인신원확인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개인신원</a:t>
            </a:r>
            <a:r>
              <a:rPr lang="ko-KR" altLang="en-US" dirty="0">
                <a:latin typeface="+mn-ea"/>
              </a:rPr>
              <a:t> 확인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 신원 확인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개인 신원 확인을 진행합니다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>
            <a:off x="903581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개인 신원 확인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713112"/>
            <a:ext cx="230514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개인신원확인 버튼을 클릭하여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인증서 창을 띄울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algn="ctr">
              <a:lnSpc>
                <a:spcPct val="120000"/>
              </a:lnSpc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인증서 창이 나타나면 </a:t>
            </a:r>
            <a:r>
              <a:rPr lang="en-US" altLang="ko-KR" sz="800" dirty="0">
                <a:latin typeface="Consolas" panose="020B0609020204030204" pitchFamily="49" charset="0"/>
              </a:rPr>
              <a:t>[$</a:t>
            </a:r>
            <a:r>
              <a:rPr lang="ko-KR" altLang="en-US" sz="800" dirty="0" err="1">
                <a:latin typeface="Consolas" panose="020B0609020204030204" pitchFamily="49" charset="0"/>
              </a:rPr>
              <a:t>조달테스트</a:t>
            </a:r>
            <a:r>
              <a:rPr lang="en-US" altLang="ko-KR" sz="800" dirty="0">
                <a:latin typeface="Consolas" panose="020B0609020204030204" pitchFamily="49" charset="0"/>
              </a:rPr>
              <a:t>4]</a:t>
            </a:r>
            <a:r>
              <a:rPr lang="ko-KR" altLang="en-US" sz="800" dirty="0">
                <a:latin typeface="Consolas" panose="020B0609020204030204" pitchFamily="49" charset="0"/>
              </a:rPr>
              <a:t>님의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개인인증서를 선택하십시오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824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30210117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 인증서만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비밀번호 확인 </a:t>
            </a:r>
            <a:r>
              <a:rPr lang="ko-KR" altLang="en-US" dirty="0" smtClean="0"/>
              <a:t>팝업 </a:t>
            </a:r>
            <a:r>
              <a:rPr lang="en-US" altLang="ko-KR" dirty="0"/>
              <a:t>MUI-CM-04-P18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신원 확인</a:t>
            </a:r>
            <a:r>
              <a:rPr lang="en-US" altLang="ko-KR" dirty="0">
                <a:latin typeface="+mn-ea"/>
              </a:rPr>
              <a:t> - </a:t>
            </a:r>
            <a:r>
              <a:rPr lang="ko-KR" altLang="en-US" dirty="0" err="1" smtClean="0">
                <a:latin typeface="+mn-ea"/>
              </a:rPr>
              <a:t>인증서관리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보유하고 있는 개인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MUI-CM-02-M10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 신원 확인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00472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10394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24394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36892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37" name="모서리가 둥근 직사각형 36"/>
          <p:cNvSpPr/>
          <p:nvPr/>
        </p:nvSpPr>
        <p:spPr>
          <a:xfrm>
            <a:off x="903581" y="272031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81952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95952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08450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2" name="모서리가 둥근 직사각형 41"/>
          <p:cNvSpPr/>
          <p:nvPr/>
        </p:nvSpPr>
        <p:spPr>
          <a:xfrm>
            <a:off x="903581" y="3435891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535104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675103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80008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380920633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선택한 인증서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비밀번호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인증하기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인증 성공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개인신원확인 </a:t>
            </a:r>
            <a:r>
              <a:rPr lang="en-US" altLang="ko-KR" dirty="0"/>
              <a:t>(MUI-CM-02-M06) </a:t>
            </a:r>
            <a:r>
              <a:rPr lang="ko-KR" altLang="en-US" dirty="0"/>
              <a:t>복귀 및 성공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실패 시 현 팝업 유지 및 실패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시 현재 팝업 닫힘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신원 확인</a:t>
            </a:r>
            <a:r>
              <a:rPr lang="en-US" altLang="ko-KR" dirty="0">
                <a:latin typeface="+mn-ea"/>
              </a:rPr>
              <a:t> - </a:t>
            </a:r>
            <a:r>
              <a:rPr lang="ko-KR" altLang="en-US" dirty="0" err="1">
                <a:latin typeface="+mn-ea"/>
              </a:rPr>
              <a:t>인증서확인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보유하고 있는 개인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MUI-CM-02-P11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양쪽 모서리가 둥근 사각형 35"/>
          <p:cNvSpPr/>
          <p:nvPr/>
        </p:nvSpPr>
        <p:spPr>
          <a:xfrm>
            <a:off x="679854" y="3259934"/>
            <a:ext cx="2712027" cy="2963359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/>
          <p:cNvSpPr/>
          <p:nvPr/>
        </p:nvSpPr>
        <p:spPr>
          <a:xfrm>
            <a:off x="1765867" y="329656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3168793" y="3430977"/>
            <a:ext cx="94010" cy="94010"/>
            <a:chOff x="6812560" y="3297172"/>
            <a:chExt cx="94010" cy="94010"/>
          </a:xfrm>
        </p:grpSpPr>
        <p:cxnSp>
          <p:nvCxnSpPr>
            <p:cNvPr id="52" name="직선 연결선 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직선 연결선 5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41165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개인 인증서 확인</a:t>
            </a: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6730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647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3134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59" name="그룹 58"/>
          <p:cNvGrpSpPr/>
          <p:nvPr/>
        </p:nvGrpSpPr>
        <p:grpSpPr>
          <a:xfrm>
            <a:off x="883295" y="5756042"/>
            <a:ext cx="2305144" cy="317083"/>
            <a:chOff x="861671" y="5756042"/>
            <a:chExt cx="2305144" cy="317083"/>
          </a:xfrm>
        </p:grpSpPr>
        <p:sp>
          <p:nvSpPr>
            <p:cNvPr id="60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1583793" y="5756042"/>
              <a:ext cx="1583022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인증하기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6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61671" y="5756042"/>
              <a:ext cx="61785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88125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선택한 인증서로 개인 인증을 하시겠습니까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sp>
        <p:nvSpPr>
          <p:cNvPr id="63" name="모서리가 둥근 직사각형 62"/>
          <p:cNvSpPr/>
          <p:nvPr/>
        </p:nvSpPr>
        <p:spPr>
          <a:xfrm>
            <a:off x="903581" y="441154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51075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6507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77573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22666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03581" y="5371351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8647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인증이 완료되었습니다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 </a:t>
            </a:r>
            <a:r>
              <a:rPr lang="ko-KR" altLang="en-US" sz="700" dirty="0" smtClean="0">
                <a:solidFill>
                  <a:schemeClr val="bg1"/>
                </a:solidFill>
                <a:latin typeface="+mn-ea"/>
              </a:rPr>
              <a:t>암호를 정확히 입력해주세요</a:t>
            </a:r>
            <a:r>
              <a:rPr lang="en-US" altLang="ko-KR" sz="700" dirty="0" smtClean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778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31572819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3235" y="799547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0750"/>
          <a:ext cx="89144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18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91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3122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3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4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64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1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88691" y="459035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875349"/>
              </p:ext>
            </p:extLst>
          </p:nvPr>
        </p:nvGraphicFramePr>
        <p:xfrm>
          <a:off x="458117" y="4874079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개인신원확인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scwin.btn_indvIdntIdnty_onclick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 인증서 팝업창을 호출 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E82BFC7-81B9-17E6-1DB9-00886D9B97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5692" y="474890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E754179F-5C20-0638-5B90-7A74D0C242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4C8EE8-D70D-B923-B10A-FFFAB00247F8}"/>
              </a:ext>
            </a:extLst>
          </p:cNvPr>
          <p:cNvSpPr txBox="1"/>
          <p:nvPr/>
        </p:nvSpPr>
        <p:spPr>
          <a:xfrm>
            <a:off x="452291" y="1668214"/>
            <a:ext cx="223836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인증서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dl_crtfList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5F6F224-1953-9EA9-7A5C-98085B12C5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070611"/>
              </p:ext>
            </p:extLst>
          </p:nvPr>
        </p:nvGraphicFramePr>
        <p:xfrm>
          <a:off x="455558" y="188655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fileRegYmd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4121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893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고유명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crtfDnVl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고유명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0498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crtfSn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일련번호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7505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rmrk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914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72599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메시지 표시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상단 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사용자명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초기화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버튼 클릭 시 즉시 목록 초기화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명수</a:t>
            </a:r>
            <a:r>
              <a:rPr lang="en-US" altLang="ko-KR" dirty="0"/>
              <a:t>, </a:t>
            </a:r>
            <a:r>
              <a:rPr lang="ko-KR" altLang="en-US" dirty="0"/>
              <a:t>개수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/>
              <a:t>(5</a:t>
            </a:r>
            <a:r>
              <a:rPr lang="ko-KR" altLang="en-US" dirty="0" err="1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으로 사용자명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상태변경</a:t>
            </a:r>
            <a:r>
              <a:rPr lang="ko-KR" altLang="en-US" dirty="0"/>
              <a:t> 버튼 클릭 시 상태 변경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카드 클릭 시 사용자 정보 상세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상태는 코드에 따라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업체 소속 사용자 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업체 소속 사용자 목록 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 소속 사용자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MUI-CM-02-M07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소속 사용자 목록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40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81461" y="3301466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아이디 </a:t>
              </a:r>
              <a:r>
                <a:rPr lang="en-US" altLang="ko-KR" sz="700" dirty="0"/>
                <a:t>test 1</a:t>
              </a:r>
            </a:p>
            <a:p>
              <a:r>
                <a:rPr lang="ko-KR" altLang="en-US" sz="900" b="1" dirty="0"/>
                <a:t>홍길동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부서명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휴대전화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비고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12269" y="3139237"/>
              <a:ext cx="522643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사용</a:t>
              </a:r>
            </a:p>
          </p:txBody>
        </p:sp>
        <p:sp>
          <p:nvSpPr>
            <p:cNvPr id="114" name="모서리가 둥근 직사각형 113"/>
            <p:cNvSpPr/>
            <p:nvPr/>
          </p:nvSpPr>
          <p:spPr>
            <a:xfrm>
              <a:off x="1075655" y="2610063"/>
              <a:ext cx="34833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>
                  <a:solidFill>
                    <a:schemeClr val="dk1"/>
                  </a:solidFill>
                </a:rPr>
                <a:t>대표자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648128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4826603"/>
            <a:ext cx="2476203" cy="1080735"/>
            <a:chOff x="778515" y="2610063"/>
            <a:chExt cx="2476203" cy="1080735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아이디 </a:t>
              </a:r>
              <a:r>
                <a:rPr lang="en-US" altLang="ko-KR" sz="700" dirty="0"/>
                <a:t>test 2</a:t>
              </a:r>
            </a:p>
            <a:p>
              <a:r>
                <a:rPr lang="ko-KR" altLang="en-US" sz="900" b="1" dirty="0"/>
                <a:t>홍길동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부서명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휴대전화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비고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46609" y="3139237"/>
              <a:ext cx="522580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사용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50345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입찰대리인</a:t>
              </a:r>
              <a:endParaRPr lang="ko-KR" altLang="en-US" sz="600" dirty="0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080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734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4690649" y="3871431"/>
            <a:ext cx="4786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입찰대리인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16194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5206222" y="3871431"/>
            <a:ext cx="46986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일반사용자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3871431"/>
            <a:ext cx="330486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대표자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87727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사용자유형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304035" y="28956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3340178"/>
            <a:ext cx="24105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614061" y="334017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탈퇴</a:t>
            </a:r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4914986" y="3340178"/>
            <a:ext cx="40643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사용중지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34601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명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2274581"/>
            <a:ext cx="2527420" cy="473693"/>
            <a:chOff x="786326" y="2274581"/>
            <a:chExt cx="2527420" cy="473693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0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사용자명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1695628"/>
            <a:ext cx="2457390" cy="9048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퇴사자</a:t>
            </a:r>
            <a:r>
              <a:rPr lang="ko-KR" altLang="en-US" dirty="0">
                <a:solidFill>
                  <a:srgbClr val="FF0000"/>
                </a:solidFill>
              </a:rPr>
              <a:t> 계정 즉시 삭제 요망</a:t>
            </a:r>
            <a:endParaRPr lang="en-US" altLang="ko-KR" dirty="0">
              <a:solidFill>
                <a:srgbClr val="FF0000"/>
              </a:solidFill>
            </a:endParaRP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 err="1"/>
              <a:t>퇴사자의</a:t>
            </a:r>
            <a:r>
              <a:rPr lang="ko-KR" altLang="en-US" dirty="0"/>
              <a:t> 계정을 방치할 경우</a:t>
            </a:r>
            <a:r>
              <a:rPr lang="en-US" altLang="ko-KR" dirty="0"/>
              <a:t>, </a:t>
            </a:r>
            <a:r>
              <a:rPr lang="ko-KR" altLang="en-US" dirty="0"/>
              <a:t>타사 이직 후 기존 </a:t>
            </a:r>
            <a:r>
              <a:rPr lang="en-US" altLang="ko-KR" dirty="0"/>
              <a:t>ID</a:t>
            </a:r>
            <a:r>
              <a:rPr lang="ko-KR" altLang="en-US" dirty="0"/>
              <a:t>를 통한 </a:t>
            </a:r>
            <a:r>
              <a:rPr lang="ko-KR" altLang="en-US" dirty="0">
                <a:solidFill>
                  <a:srgbClr val="FF0000"/>
                </a:solidFill>
              </a:rPr>
              <a:t>입찰</a:t>
            </a:r>
            <a:r>
              <a:rPr lang="en-US" altLang="ko-KR" dirty="0">
                <a:solidFill>
                  <a:srgbClr val="FF0000"/>
                </a:solidFill>
              </a:rPr>
              <a:t>/</a:t>
            </a:r>
            <a:r>
              <a:rPr lang="ko-KR" altLang="en-US" dirty="0">
                <a:solidFill>
                  <a:srgbClr val="FF0000"/>
                </a:solidFill>
              </a:rPr>
              <a:t>계약 정보 무단 열람 및 영업비밀 유출사고</a:t>
            </a:r>
            <a:r>
              <a:rPr lang="ko-KR" altLang="en-US" dirty="0"/>
              <a:t>가 발생할 수 있습니다</a:t>
            </a:r>
            <a:r>
              <a:rPr lang="en-US" altLang="ko-KR" dirty="0"/>
              <a:t>. 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계정 관리 소홀로 인해 야기되는 모든 </a:t>
            </a:r>
            <a:r>
              <a:rPr lang="ko-KR" altLang="en-US" dirty="0">
                <a:solidFill>
                  <a:srgbClr val="FF0000"/>
                </a:solidFill>
              </a:rPr>
              <a:t>법적 문제와 손해배상 책임은 해당 업체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대표자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에 귀속</a:t>
            </a:r>
            <a:r>
              <a:rPr lang="ko-KR" altLang="en-US" dirty="0"/>
              <a:t>되므로</a:t>
            </a:r>
            <a:r>
              <a:rPr lang="en-US" altLang="ko-KR" dirty="0"/>
              <a:t>, </a:t>
            </a:r>
            <a:r>
              <a:rPr lang="ko-KR" altLang="en-US" dirty="0"/>
              <a:t>퇴사 직원의 계정은 즉시 퇴사</a:t>
            </a:r>
            <a:r>
              <a:rPr lang="en-US" altLang="ko-KR" dirty="0"/>
              <a:t>(</a:t>
            </a:r>
            <a:r>
              <a:rPr lang="ko-KR" altLang="en-US" dirty="0"/>
              <a:t>탈퇴</a:t>
            </a:r>
            <a:r>
              <a:rPr lang="en-US" altLang="ko-KR" dirty="0"/>
              <a:t>)</a:t>
            </a:r>
            <a:r>
              <a:rPr lang="ko-KR" altLang="en-US" dirty="0"/>
              <a:t>해 주시기 바랍니다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748012" y="4428555"/>
            <a:ext cx="2547110" cy="192829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상태 변경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9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748012" y="5952149"/>
            <a:ext cx="2547110" cy="192829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상태 변경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0" name="모서리가 둥근 직사각형 119"/>
          <p:cNvSpPr/>
          <p:nvPr/>
        </p:nvSpPr>
        <p:spPr>
          <a:xfrm>
            <a:off x="5383289" y="3340178"/>
            <a:ext cx="5984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대표자 </a:t>
            </a:r>
            <a:r>
              <a:rPr lang="ko-KR" altLang="en-US" sz="600" dirty="0" err="1"/>
              <a:t>미승인</a:t>
            </a:r>
            <a:endParaRPr lang="ko-KR" altLang="en-US" sz="6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Y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14060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T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99646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N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67483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M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48549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 코드</a:t>
            </a:r>
          </a:p>
        </p:txBody>
      </p:sp>
      <p:cxnSp>
        <p:nvCxnSpPr>
          <p:cNvPr id="5" name="직선 화살표 연결선 4"/>
          <p:cNvCxnSpPr/>
          <p:nvPr/>
        </p:nvCxnSpPr>
        <p:spPr>
          <a:xfrm>
            <a:off x="3387426" y="2016004"/>
            <a:ext cx="3311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85" name="그룹 8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6" name="직사각형 8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2026-07-14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상태 변경 버튼 위치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40395028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대상 사용자의 상태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수정 가능한 상태는 사용</a:t>
            </a:r>
            <a:r>
              <a:rPr lang="en-US" altLang="ko-KR" dirty="0"/>
              <a:t>, </a:t>
            </a:r>
            <a:r>
              <a:rPr lang="ko-KR" altLang="en-US" dirty="0"/>
              <a:t>탈퇴</a:t>
            </a:r>
            <a:r>
              <a:rPr lang="en-US" altLang="ko-KR" dirty="0"/>
              <a:t>, </a:t>
            </a:r>
            <a:r>
              <a:rPr lang="ko-KR" altLang="en-US" dirty="0"/>
              <a:t>사용중지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미승인</a:t>
            </a:r>
            <a:r>
              <a:rPr lang="ko-KR" altLang="en-US" dirty="0"/>
              <a:t> 상태로 변경 불가하여 선택지에서는 표시하지 않음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저장 시 목록에 즉시 반영</a:t>
            </a:r>
            <a:r>
              <a:rPr lang="en-US" altLang="ko-KR" dirty="0"/>
              <a:t>, </a:t>
            </a:r>
            <a:r>
              <a:rPr lang="ko-KR" altLang="en-US" dirty="0"/>
              <a:t>팝업 닫기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업체 소속 사용자 </a:t>
            </a:r>
            <a:r>
              <a:rPr lang="en-US" altLang="ko-KR" dirty="0"/>
              <a:t>– </a:t>
            </a:r>
            <a:r>
              <a:rPr lang="ko-KR" altLang="en-US" dirty="0"/>
              <a:t>상태</a:t>
            </a:r>
            <a:r>
              <a:rPr lang="en-US" altLang="ko-KR" dirty="0"/>
              <a:t>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업체 소속 사용자 </a:t>
            </a:r>
            <a:r>
              <a:rPr lang="en-US" altLang="ko-KR" dirty="0"/>
              <a:t>– </a:t>
            </a:r>
            <a:r>
              <a:rPr lang="ko-KR" altLang="en-US" dirty="0"/>
              <a:t>상태</a:t>
            </a:r>
            <a:r>
              <a:rPr lang="en-US" altLang="ko-KR" dirty="0"/>
              <a:t> </a:t>
            </a:r>
            <a:r>
              <a:rPr lang="ko-KR" altLang="en-US" dirty="0"/>
              <a:t>변경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 소속 사용자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상태변경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4151347"/>
            <a:ext cx="2712027" cy="208019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418797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4322390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30306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사용자 상태 변경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644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496068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028998"/>
            <a:ext cx="6707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상태</a:t>
            </a:r>
            <a:endParaRPr lang="en-US" altLang="ko-KR" sz="800" dirty="0">
              <a:latin typeface="+mn-ea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9821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7" name="그룹 96"/>
          <p:cNvGrpSpPr/>
          <p:nvPr/>
        </p:nvGrpSpPr>
        <p:grpSpPr>
          <a:xfrm>
            <a:off x="675399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저장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3143548" y="5059357"/>
            <a:ext cx="94010" cy="47005"/>
            <a:chOff x="6812560" y="3297172"/>
            <a:chExt cx="94010" cy="47005"/>
          </a:xfrm>
        </p:grpSpPr>
        <p:cxnSp>
          <p:nvCxnSpPr>
            <p:cNvPr id="74" name="직선 연결선 7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직선 연결선 7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16194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77" name="모서리가 둥근 직사각형 76"/>
          <p:cNvSpPr/>
          <p:nvPr/>
        </p:nvSpPr>
        <p:spPr>
          <a:xfrm>
            <a:off x="4321056" y="3340178"/>
            <a:ext cx="24105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</a:t>
            </a:r>
          </a:p>
        </p:txBody>
      </p:sp>
      <p:sp>
        <p:nvSpPr>
          <p:cNvPr id="78" name="모서리가 둥근 직사각형 77"/>
          <p:cNvSpPr/>
          <p:nvPr/>
        </p:nvSpPr>
        <p:spPr>
          <a:xfrm>
            <a:off x="4614061" y="334017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탈퇴</a:t>
            </a:r>
          </a:p>
        </p:txBody>
      </p:sp>
      <p:sp>
        <p:nvSpPr>
          <p:cNvPr id="81" name="모서리가 둥근 직사각형 80"/>
          <p:cNvSpPr/>
          <p:nvPr/>
        </p:nvSpPr>
        <p:spPr>
          <a:xfrm>
            <a:off x="4914986" y="3340178"/>
            <a:ext cx="40643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사용중지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34601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5383289" y="3340178"/>
            <a:ext cx="5984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대표자 </a:t>
            </a:r>
            <a:r>
              <a:rPr lang="ko-KR" altLang="en-US" sz="600" dirty="0" err="1"/>
              <a:t>미승인</a:t>
            </a:r>
            <a:endParaRPr lang="ko-KR" altLang="en-US" sz="6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Y</a:t>
            </a:r>
            <a:endParaRPr lang="ko-KR" altLang="en-US" sz="700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14060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T</a:t>
            </a:r>
            <a:endParaRPr lang="ko-KR" altLang="en-US" sz="700" dirty="0"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99646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N</a:t>
            </a:r>
            <a:endParaRPr lang="ko-KR" altLang="en-US" sz="700" dirty="0">
              <a:latin typeface="+mn-ea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67483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M</a:t>
            </a:r>
            <a:endParaRPr lang="ko-KR" altLang="en-US" sz="700" dirty="0">
              <a:latin typeface="+mn-e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48549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 코드</a:t>
            </a: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366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3895622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3000" y="840586"/>
            <a:ext cx="28426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034855"/>
              </p:ext>
            </p:extLst>
          </p:nvPr>
        </p:nvGraphicFramePr>
        <p:xfrm>
          <a:off x="453000" y="1051789"/>
          <a:ext cx="8994883" cy="2232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usngSecd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사용중지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조회는 가능 및 대표자가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재사용가능하게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변경가능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), M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사용자등록 후 대표자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Y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전자조달 사용가능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T : FAX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개인탈퇴의사표시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운영자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조회불가 및 영구미사용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7707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whdwlRsn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상태가 탈퇴일 때 탈퇴사유 기입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088330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5558" y="3541271"/>
            <a:ext cx="34053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 상세정보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351684"/>
              </p:ext>
            </p:extLst>
          </p:nvPr>
        </p:nvGraphicFramePr>
        <p:xfrm>
          <a:off x="455558" y="3754954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생년월일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userEnrrno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생년월일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125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7507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023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211908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210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690014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696372"/>
              </p:ext>
            </p:extLst>
          </p:nvPr>
        </p:nvGraphicFramePr>
        <p:xfrm>
          <a:off x="455204" y="896006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scwin.btn_userSrch_onclick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업체 사용자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업체 사용자 목록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scwin.grd_userList_oncellclick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업체 사용자 상세정보가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4623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상태저장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scwin.btn_sttsStrg_onclick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상태가 변경된다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870510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6561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65638786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ko-KR" altLang="en-US" dirty="0"/>
              <a:t> 하단 내용 확인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수신정보</a:t>
            </a:r>
            <a:r>
              <a:rPr lang="ko-KR" altLang="en-US" dirty="0"/>
              <a:t> 표시 </a:t>
            </a:r>
            <a:r>
              <a:rPr lang="en-US" altLang="ko-KR" dirty="0"/>
              <a:t>(</a:t>
            </a:r>
            <a:r>
              <a:rPr lang="ko-KR" altLang="en-US" dirty="0"/>
              <a:t>개인정보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회원정보 상세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</a:t>
            </a:r>
            <a:r>
              <a:rPr lang="en-US" altLang="ko-KR" dirty="0"/>
              <a:t>MUI-CM-02-M03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알림 수단 설정</a:t>
            </a:r>
            <a:r>
              <a:rPr lang="en-US" altLang="ko-KR" dirty="0"/>
              <a:t>, </a:t>
            </a:r>
            <a:r>
              <a:rPr lang="ko-KR" altLang="en-US" dirty="0"/>
              <a:t>알림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설정 </a:t>
            </a:r>
            <a:r>
              <a:rPr lang="en-US" altLang="ko-KR" dirty="0"/>
              <a:t>ON/OFF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알림서비스신청및해지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알림서비스신청및해지</a:t>
            </a:r>
            <a:r>
              <a:rPr lang="ko-KR" altLang="en-US" dirty="0"/>
              <a:t> 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알림서비스신청및해지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MUI-CM-02-M09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5744634"/>
            <a:ext cx="2527419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1000" kern="0" dirty="0">
                <a:solidFill>
                  <a:srgbClr val="0070C0"/>
                </a:solidFill>
              </a:rPr>
              <a:t>저장</a:t>
            </a:r>
            <a:endParaRPr kumimoji="1" lang="en-US" altLang="ko-KR" sz="1000" kern="0" dirty="0">
              <a:solidFill>
                <a:srgbClr val="0070C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알림 서비스 신청 및 해지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64" name="직선 연결선 6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직선 연결선 6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6" name="타원 65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69" name="타원 6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0" name="그룹 6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804476" y="2444894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휴대전화번호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이메일</a:t>
            </a:r>
            <a:endParaRPr lang="en-US" altLang="ko-KR" sz="800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2160882" y="2468682"/>
            <a:ext cx="1128834" cy="4378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800" dirty="0"/>
              <a:t>010-****-1234</a:t>
            </a:r>
          </a:p>
          <a:p>
            <a:pPr algn="r">
              <a:lnSpc>
                <a:spcPct val="150000"/>
              </a:lnSpc>
            </a:pPr>
            <a:r>
              <a:rPr lang="en-US" altLang="ko-KR" sz="800" dirty="0"/>
              <a:t>user****@naver.com</a:t>
            </a:r>
          </a:p>
        </p:txBody>
      </p:sp>
      <p:sp>
        <p:nvSpPr>
          <p:cNvPr id="9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07397" y="2322247"/>
            <a:ext cx="582849" cy="15479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개인정보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5699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60706" y="5742894"/>
            <a:ext cx="218544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수신을 원하는 문자메시지 서비스에 체크하여 주시기 바랍니다</a:t>
            </a:r>
            <a:r>
              <a:rPr lang="en-US" altLang="ko-KR" dirty="0"/>
              <a:t>.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본 서비스는 단순 </a:t>
            </a:r>
            <a:r>
              <a:rPr lang="ko-KR" altLang="en-US" dirty="0" err="1"/>
              <a:t>참고용이며</a:t>
            </a:r>
            <a:r>
              <a:rPr lang="en-US" altLang="ko-KR" dirty="0"/>
              <a:t>, </a:t>
            </a:r>
            <a:r>
              <a:rPr lang="ko-KR" altLang="en-US" dirty="0"/>
              <a:t>업무상 주요 부분은 국방전자조달시스템에서 직접 확인하시기 바랍니다</a:t>
            </a:r>
            <a:r>
              <a:rPr lang="en-US" altLang="ko-KR" dirty="0"/>
              <a:t>.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070963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수단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3338991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앱 푸시 알림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3467628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모바일 앱으로 알림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04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3400546"/>
            <a:ext cx="301752" cy="137160"/>
            <a:chOff x="840582" y="1601197"/>
            <a:chExt cx="301752" cy="137160"/>
          </a:xfrm>
        </p:grpSpPr>
        <p:sp>
          <p:nvSpPr>
            <p:cNvPr id="105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6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783686" y="2338852"/>
            <a:ext cx="5950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수신정보</a:t>
            </a:r>
            <a:endParaRPr lang="en-US" altLang="ko-KR" sz="800" b="1" dirty="0">
              <a:latin typeface="+mn-ea"/>
            </a:endParaRP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974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850847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11887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입찰 단계별 안내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26493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등록심사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적격심사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낙찰자 선정 등 전자입찰 단계별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주용사항을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12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4180430"/>
            <a:ext cx="301752" cy="137160"/>
            <a:chOff x="840582" y="1601197"/>
            <a:chExt cx="301752" cy="137160"/>
          </a:xfrm>
        </p:grpSpPr>
        <p:sp>
          <p:nvSpPr>
            <p:cNvPr id="113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58120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등록품목</a:t>
            </a:r>
            <a:r>
              <a:rPr lang="ko-KR" altLang="en-US" sz="800" dirty="0">
                <a:latin typeface="+mn-ea"/>
              </a:rPr>
              <a:t> 입찰공고 안내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72725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조달업체의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등재 된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품목코드의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입찰공고가 등록되면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18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4642757"/>
            <a:ext cx="301752" cy="137160"/>
            <a:chOff x="840582" y="1601197"/>
            <a:chExt cx="301752" cy="137160"/>
          </a:xfrm>
        </p:grpSpPr>
        <p:sp>
          <p:nvSpPr>
            <p:cNvPr id="119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0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03804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관심 </a:t>
            </a:r>
            <a:r>
              <a:rPr lang="ko-KR" altLang="en-US" sz="800" dirty="0" err="1">
                <a:latin typeface="+mn-ea"/>
              </a:rPr>
              <a:t>계약팀</a:t>
            </a:r>
            <a:r>
              <a:rPr lang="ko-KR" altLang="en-US" sz="800" dirty="0">
                <a:latin typeface="+mn-ea"/>
              </a:rPr>
              <a:t> 입찰공고 안내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18410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관심 발주기관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계약팀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입찰공고가 등록되면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.(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팝업에서 선택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23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5099600"/>
            <a:ext cx="301752" cy="137160"/>
            <a:chOff x="840582" y="1601197"/>
            <a:chExt cx="301752" cy="137160"/>
          </a:xfrm>
        </p:grpSpPr>
        <p:sp>
          <p:nvSpPr>
            <p:cNvPr id="124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5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50653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 err="1">
                <a:latin typeface="+mn-ea"/>
              </a:rPr>
              <a:t>전자계약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계약단계</a:t>
            </a:r>
            <a:r>
              <a:rPr lang="ko-KR" altLang="en-US" sz="800" dirty="0">
                <a:latin typeface="+mn-ea"/>
              </a:rPr>
              <a:t> 안내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65259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전자계약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단계별 진행상황 안내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전자세금계산서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승인현황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인지세납부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등을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3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2921585" y="5568090"/>
            <a:ext cx="301752" cy="137160"/>
            <a:chOff x="840582" y="1350472"/>
            <a:chExt cx="301752" cy="137160"/>
          </a:xfrm>
        </p:grpSpPr>
        <p:sp>
          <p:nvSpPr>
            <p:cNvPr id="13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60706" y="5506535"/>
            <a:ext cx="2185443" cy="1664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>
              <a:lnSpc>
                <a:spcPct val="120000"/>
              </a:lnSpc>
            </a:pPr>
            <a:r>
              <a:rPr lang="ko-KR" altLang="en-US" sz="1000" dirty="0" err="1"/>
              <a:t>업무도움</a:t>
            </a:r>
            <a:r>
              <a:rPr lang="ko-KR" altLang="en-US" sz="1000" dirty="0"/>
              <a:t> 내용</a:t>
            </a:r>
            <a:endParaRPr lang="en-US" altLang="ko-KR" sz="10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162171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검사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검수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출납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검사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검수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출납 안내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176776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검수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출납 항목이 확정 또는 반려되었을 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3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1683267"/>
            <a:ext cx="301752" cy="137160"/>
            <a:chOff x="840582" y="1601197"/>
            <a:chExt cx="301752" cy="137160"/>
          </a:xfrm>
        </p:grpSpPr>
        <p:sp>
          <p:nvSpPr>
            <p:cNvPr id="13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09020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 err="1">
                <a:latin typeface="+mn-ea"/>
              </a:rPr>
              <a:t>대금청구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지급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및 지급 안내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23625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대금청구의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접수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반려와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대금지급에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대해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42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2151757"/>
            <a:ext cx="301752" cy="137160"/>
            <a:chOff x="840582" y="1350472"/>
            <a:chExt cx="301752" cy="137160"/>
          </a:xfrm>
        </p:grpSpPr>
        <p:sp>
          <p:nvSpPr>
            <p:cNvPr id="143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564131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납품실적증명서 발급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710186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납품실적증명서 발급 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4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2625686"/>
            <a:ext cx="301752" cy="137160"/>
            <a:chOff x="840582" y="1601197"/>
            <a:chExt cx="301752" cy="137160"/>
          </a:xfrm>
        </p:grpSpPr>
        <p:sp>
          <p:nvSpPr>
            <p:cNvPr id="14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936060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품목등재</a:t>
            </a:r>
            <a:r>
              <a:rPr lang="ko-KR" altLang="en-US" sz="800" dirty="0">
                <a:latin typeface="+mn-ea"/>
              </a:rPr>
              <a:t> 신청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확정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갱신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082115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품목등록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관련 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56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2997615"/>
            <a:ext cx="301752" cy="137160"/>
            <a:chOff x="840582" y="1350472"/>
            <a:chExt cx="301752" cy="137160"/>
          </a:xfrm>
        </p:grpSpPr>
        <p:sp>
          <p:nvSpPr>
            <p:cNvPr id="157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8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375434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나토 </a:t>
            </a:r>
            <a:r>
              <a:rPr lang="ko-KR" altLang="en-US" sz="800" dirty="0" err="1">
                <a:latin typeface="+mn-ea"/>
              </a:rPr>
              <a:t>생산자부호</a:t>
            </a:r>
            <a:r>
              <a:rPr lang="ko-KR" altLang="en-US" sz="800" dirty="0">
                <a:latin typeface="+mn-ea"/>
              </a:rPr>
              <a:t> 접수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완료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521489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나토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생산자부호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접수 시 등록된 전화번호로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6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3436989"/>
            <a:ext cx="301752" cy="137160"/>
            <a:chOff x="840582" y="1350472"/>
            <a:chExt cx="301752" cy="137160"/>
          </a:xfrm>
        </p:grpSpPr>
        <p:sp>
          <p:nvSpPr>
            <p:cNvPr id="165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6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844723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시스템 공지사항 안내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90778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국방전자조달시스템 주요 공지사항을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7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3906278"/>
            <a:ext cx="301752" cy="137160"/>
            <a:chOff x="840582" y="1350472"/>
            <a:chExt cx="301752" cy="137160"/>
          </a:xfrm>
        </p:grpSpPr>
        <p:sp>
          <p:nvSpPr>
            <p:cNvPr id="17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313986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장애발생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복구 안내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460041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국방전자조달시스템 장애발생 및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복구사항을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76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4375541"/>
            <a:ext cx="301752" cy="137160"/>
            <a:chOff x="840582" y="1350472"/>
            <a:chExt cx="301752" cy="137160"/>
          </a:xfrm>
        </p:grpSpPr>
        <p:sp>
          <p:nvSpPr>
            <p:cNvPr id="177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8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790693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시스템 공지사항 안내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936748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국방통합원가시스템 주요 공지사항을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4852248"/>
            <a:ext cx="301752" cy="137160"/>
            <a:chOff x="840582" y="1350472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374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5" name="타원 18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411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58192063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212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37094"/>
            <a:ext cx="268880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알림서비스신청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dl_notiSrvcList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49594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srvcFld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NSMS_IDEN’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NSMS_CODE’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9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srvcExpln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서비스설명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NSMS_CODE’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835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수신여부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2999" y="241699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840451"/>
              </p:ext>
            </p:extLst>
          </p:nvPr>
        </p:nvGraphicFramePr>
        <p:xfrm>
          <a:off x="422425" y="2665093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알림 서비스를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scwin.btn_phoneNumChgMdfcn_onclick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 상세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scwin.btn_strg_onclick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알림 받을 서비스를 선택 후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9464746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7B7AE143-4F02-387D-D43D-9D43795152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000" y="252880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15D0FC77-43D8-6A54-39F8-E8491B20C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3071535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 탈퇴는 </a:t>
            </a:r>
            <a:r>
              <a:rPr lang="ko-KR" altLang="en-US" dirty="0" err="1"/>
              <a:t>여러줄</a:t>
            </a:r>
            <a:r>
              <a:rPr lang="ko-KR" altLang="en-US" dirty="0"/>
              <a:t>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필요 시 확장하여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최대 </a:t>
            </a:r>
            <a:r>
              <a:rPr lang="en-US" altLang="ko-KR" dirty="0"/>
              <a:t>5</a:t>
            </a:r>
            <a:r>
              <a:rPr lang="ko-KR" altLang="en-US" dirty="0"/>
              <a:t>줄</a:t>
            </a:r>
            <a:r>
              <a:rPr lang="en-US" altLang="ko-KR" dirty="0"/>
              <a:t>, </a:t>
            </a:r>
            <a:r>
              <a:rPr lang="ko-KR" altLang="en-US" dirty="0"/>
              <a:t>이후 내부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회원탈퇴 버튼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회원탈퇴 확인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</a:t>
            </a:r>
            <a:r>
              <a:rPr lang="en-US" altLang="ko-KR" dirty="0"/>
              <a:t>: </a:t>
            </a:r>
            <a:r>
              <a:rPr lang="ko-KR" altLang="en-US" dirty="0"/>
              <a:t>회원 탈퇴 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메인으로</a:t>
            </a:r>
            <a:r>
              <a:rPr lang="ko-KR" altLang="en-US" dirty="0"/>
              <a:t> 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로그아웃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회원탈퇴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회원탈퇴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회원탈퇴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MUI-CM-02-P10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678353"/>
            <a:ext cx="2712027" cy="355318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7149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8493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8300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회원탈퇴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914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804476" y="4099049"/>
            <a:ext cx="2485240" cy="244348"/>
          </a:xfrm>
          <a:prstGeom prst="roundRect">
            <a:avLst>
              <a:gd name="adj" fmla="val 1746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800" dirty="0">
                <a:solidFill>
                  <a:schemeClr val="tx1"/>
                </a:solidFill>
              </a:rPr>
              <a:t>Test1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41855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 </a:t>
            </a:r>
            <a:r>
              <a:rPr lang="en-US" altLang="ko-KR" sz="800" dirty="0">
                <a:latin typeface="+mn-ea"/>
              </a:rPr>
              <a:t>ID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7" name="그룹 96"/>
          <p:cNvGrpSpPr/>
          <p:nvPr/>
        </p:nvGrpSpPr>
        <p:grpSpPr>
          <a:xfrm>
            <a:off x="675399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회원탈퇴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366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8" name="그룹 37"/>
          <p:cNvGrpSpPr/>
          <p:nvPr/>
        </p:nvGrpSpPr>
        <p:grpSpPr>
          <a:xfrm>
            <a:off x="705041" y="3147767"/>
            <a:ext cx="2652743" cy="626069"/>
            <a:chOff x="734683" y="4769160"/>
            <a:chExt cx="2652743" cy="626069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734683" y="4769160"/>
              <a:ext cx="2652743" cy="626069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</a:t>
              </a:r>
              <a:r>
                <a:rPr lang="ko-KR" altLang="en-US" sz="7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주의사항</a:t>
              </a:r>
              <a:endPara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회원탈퇴 시 회원정보가 삭제됩니다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회원탈퇴 시 되돌릴 수 없으며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재가입 하셔야 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1" name="타원 40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2" name="그룹 41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43" name="직선 연결선 4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직선 연결선 4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5" name="모서리가 둥근 직사각형 44"/>
          <p:cNvSpPr/>
          <p:nvPr/>
        </p:nvSpPr>
        <p:spPr>
          <a:xfrm>
            <a:off x="804476" y="5224296"/>
            <a:ext cx="2485240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067102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탈퇴 사유 작성</a:t>
            </a:r>
            <a:r>
              <a:rPr lang="ko-KR" altLang="en-US" sz="800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8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0202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04476" y="4683900"/>
            <a:ext cx="2485240" cy="244348"/>
          </a:xfrm>
          <a:prstGeom prst="roundRect">
            <a:avLst>
              <a:gd name="adj" fmla="val 1746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526706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사용자명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3955360" y="3262742"/>
            <a:ext cx="2579992" cy="1200743"/>
            <a:chOff x="713510" y="2317399"/>
            <a:chExt cx="2579992" cy="1200743"/>
          </a:xfrm>
        </p:grpSpPr>
        <p:sp>
          <p:nvSpPr>
            <p:cNvPr id="52" name="모서리가 둥근 직사각형 51"/>
            <p:cNvSpPr/>
            <p:nvPr/>
          </p:nvSpPr>
          <p:spPr>
            <a:xfrm>
              <a:off x="71351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56348" y="3076561"/>
              <a:ext cx="1080000" cy="317083"/>
            </a:xfrm>
            <a:prstGeom prst="roundRect">
              <a:avLst/>
            </a:prstGeom>
            <a:solidFill>
              <a:srgbClr val="C000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확인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3120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3120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회원탈퇴 확인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093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회원 탈퇴는 되돌릴 수 없습니다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정말 회원탈퇴를 할까요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57" name="그룹 56"/>
            <p:cNvGrpSpPr/>
            <p:nvPr/>
          </p:nvGrpSpPr>
          <p:grpSpPr>
            <a:xfrm>
              <a:off x="3042338" y="2464129"/>
              <a:ext cx="94010" cy="94010"/>
              <a:chOff x="6812560" y="3297172"/>
              <a:chExt cx="94010" cy="94010"/>
            </a:xfrm>
          </p:grpSpPr>
          <p:cxnSp>
            <p:nvCxnSpPr>
              <p:cNvPr id="58" name="직선 연결선 5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852333" y="31302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05384094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214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3000" y="840586"/>
            <a:ext cx="28426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165816"/>
              </p:ext>
            </p:extLst>
          </p:nvPr>
        </p:nvGraphicFramePr>
        <p:xfrm>
          <a:off x="453000" y="1051789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whdwlRsn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기입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088330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564637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394642"/>
              </p:ext>
            </p:extLst>
          </p:nvPr>
        </p:nvGraphicFramePr>
        <p:xfrm>
          <a:off x="455204" y="2770629"/>
          <a:ext cx="8995591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회원탈퇴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UserWhdwl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회원탈퇴 확인 팝업을 표시한다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회원탈퇴 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UserWhdwlIdnty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회원탈퇴를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5491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651184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767484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(1/4)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284901"/>
              </p:ext>
            </p:extLst>
          </p:nvPr>
        </p:nvGraphicFramePr>
        <p:xfrm>
          <a:off x="635474" y="1413419"/>
          <a:ext cx="8701200" cy="4933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NoticeListPage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공지사항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일반공지사항상세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NoticeDtlPage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공지사항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방위사업청공지사항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D2b_NoticeListPage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D2b_NoticeListPage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92389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방위사업청공지사항상세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D2b_NoticeDtlPage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상세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D2b_NoticeDtlPage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1218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Dmdfrc_NoticeListPage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수요부대별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Dmdfrc_NoticeListPage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702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수요부대별공지사항상세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Dmdfrc_NoticeDtlPage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수요부대별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Dmdfrc_NoticeDtlPage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17471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일반자료실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일반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RpstrList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068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일반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0849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수요부대별자료실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수요부대별</a:t>
                      </a: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91498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수요부대별</a:t>
                      </a: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490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계약관련서식자료실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계약관련서식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Ctrt_rpstrList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177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계약관련서식자료실상세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계약관련서식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Ctrt_rpstrDtl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05148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시스템개선안내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SysImpv_rpstrList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시스템개선안내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SysImpv_rpstrList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09212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시스템개선안내상세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SysImpv_rpstrDtl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시스템개선안내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SysImpv_rpstrDtl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9403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자주묻는질문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및 답변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UC-ZZ-04-01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UC-ZZ-04-02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5279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20494414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(2/4)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419990"/>
              </p:ext>
            </p:extLst>
          </p:nvPr>
        </p:nvGraphicFramePr>
        <p:xfrm>
          <a:off x="635474" y="1413419"/>
          <a:ext cx="8701200" cy="51551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MUI-CM-04-M04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민원서류발급신청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DcmntIssuAplyPage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민원서류발급신청 서브 메인 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메뉴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DcmntIssuAply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DcmntIssuAplyPage.tsx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307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신청절차및안내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민원서류 신청절차 및 안내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678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실적증명서신청목록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72042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MUI-CM-04-P33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PrfmncPrdocPage_SrchFilter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신청 목록의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PrfmncPrdocPage_SrchFilter.tsx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283798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실적증명서확인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3933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PrfmncPrdocDtl_Cn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상세 화면의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계약정보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PrfmncPrdocDtl_Cn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6055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PrfmncPrdocDtl_D2b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D2b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44376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PrfmncPrdocDtl_UnitB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7881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unitC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PrfmncPrdocDtl_UnitC.tsx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6882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unitD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PrfmncPrdocDtl_UnitD.tsx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605407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unitE)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PrfmncPrdocDtl_UnitE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PrfmncPrdocDtl_UnitE.tsx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1597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unitF)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PrfmncPrdocDtl_UnitF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PrfmncPrdocDtl_UnitF.tsx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298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unitG)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PrfmncPrdocDtl_UnitG.tsx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980613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" name="직사각형 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2026-07-16 </a:t>
              </a:r>
              <a:r>
                <a:rPr lang="ko-KR" altLang="en-US" dirty="0" smtClean="0"/>
                <a:t>화면 추가</a:t>
              </a:r>
              <a:endParaRPr lang="ko-KR" altLang="en-US" dirty="0"/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민원서류발급신청 서브 메인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84203072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(3/4)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301379"/>
              </p:ext>
            </p:extLst>
          </p:nvPr>
        </p:nvGraphicFramePr>
        <p:xfrm>
          <a:off x="635474" y="1413419"/>
          <a:ext cx="8701200" cy="38918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unitH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PrfmncPrdocDtl_UnitH.tsx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389813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unitI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PrfmncPrdocDtl_UnitI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PrfmncPrdocDtl_UnitI.tsx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428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PrfmncPrdocDtl_AplyInfo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AplyInfo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943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실적증명서제출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PrfmncPrdocSbmsn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온라인 제출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PrfmncPrdocSbmsn.tsx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59759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계약정보선택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CtrtInfoChc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발급할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CtrtInfoChc.tsx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18504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CtrtInfoChc_SrchFilter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발급할 계약 목록에서 계약을 검색할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CtrtInfoChc_SrchFilter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34202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신청정보입력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PrfmncPrdocReg_AplyInpt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신청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정보 입력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PrfmncPrdocReg_AplyInpt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9268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PrfmncPrdocReg_D2b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계약건에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맞는 실적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정보 입력 분기 화면</a:t>
                      </a:r>
                      <a:endParaRPr lang="ko-KR" altLang="en-US" sz="800" dirty="0" smtClean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PrfmncPrdocReg_D2b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2098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PrfmncPrdocReg_UnitB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PrfmncPrdocReg_UnitB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3809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8999323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(4/4)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3948814"/>
              </p:ext>
            </p:extLst>
          </p:nvPr>
        </p:nvGraphicFramePr>
        <p:xfrm>
          <a:off x="635474" y="1413419"/>
          <a:ext cx="8701200" cy="50831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unitC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PrfmncPrdocReg_UnitC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77219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unitD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PrfmncPrdocReg_UnitD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95117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unitE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PrfmncPrdocReg_UnitE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50989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unitF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PrfmncPrdocReg_UnitF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PrfmncPrdocReg_UnitF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484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unitG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385675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unitH)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PrfmncPrdocReg_UnitH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8370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unitI)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PrfmncPrdocReg_UnitI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계약건에 맞는 실적 정보 입력 분기 화면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PrfmncPrdocReg_UnitI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447579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PrfmncPrdocReg_AplyInfo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60741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MUI-CM-04-M21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국외조달원등록증신청목록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49455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MUI-CM-04-M22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국외조달원등록증신청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OvsSosCnfdocReg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1773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MUI-CM-04-P23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조달업체선택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조달업체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061864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MUI-CM-04-M24</a:t>
                      </a:r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법령정보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정보 목록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SttInfoListPaget.tsx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01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858979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16871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일반공지사항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2359775" y="174114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2322746" y="1587229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사용자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16871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일반공지사항상세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4397769" y="183114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7692881" y="309704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7721878" y="2906388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6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97" idx="1"/>
          </p:cNvCxnSpPr>
          <p:nvPr/>
        </p:nvCxnSpPr>
        <p:spPr>
          <a:xfrm>
            <a:off x="2566635" y="1831144"/>
            <a:ext cx="833027" cy="140533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96" idx="1"/>
          </p:cNvCxnSpPr>
          <p:nvPr/>
        </p:nvCxnSpPr>
        <p:spPr>
          <a:xfrm>
            <a:off x="2566635" y="1831144"/>
            <a:ext cx="931134" cy="3422572"/>
          </a:xfrm>
          <a:prstGeom prst="bentConnector3">
            <a:avLst>
              <a:gd name="adj1" fmla="val 4427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9" idx="3"/>
            <a:endCxn id="104" idx="2"/>
          </p:cNvCxnSpPr>
          <p:nvPr/>
        </p:nvCxnSpPr>
        <p:spPr>
          <a:xfrm flipV="1">
            <a:off x="6327010" y="2996388"/>
            <a:ext cx="1394868" cy="24009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그룹 5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58" name="그룹 57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73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217609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방위사업청공지사항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217609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방위사업청공지사항상세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266503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수요부대별공지사항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266503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수요부대별공지사항상세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315396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일반자료실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315396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일반자료실상세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364290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수요부대별자료실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364290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수요부대별자료실상세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41318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계약관련서식자료실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41318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계약관련서식자료실상세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462077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시스템개선안내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328903" y="462077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시스템개선안내상세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510971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자주묻는질문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399662" y="1469920"/>
            <a:ext cx="1096214" cy="3533121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게시판 목록</a:t>
            </a:r>
          </a:p>
        </p:txBody>
      </p:sp>
      <p:sp>
        <p:nvSpPr>
          <p:cNvPr id="9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30796" y="1469920"/>
            <a:ext cx="1096214" cy="3533121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게시판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상세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10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6" idx="3"/>
            <a:endCxn id="104" idx="2"/>
          </p:cNvCxnSpPr>
          <p:nvPr/>
        </p:nvCxnSpPr>
        <p:spPr>
          <a:xfrm flipV="1">
            <a:off x="4397769" y="2996388"/>
            <a:ext cx="3324109" cy="2257328"/>
          </a:xfrm>
          <a:prstGeom prst="bentConnector3">
            <a:avLst>
              <a:gd name="adj1" fmla="val 7911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8" idx="3"/>
            <a:endCxn id="79" idx="1"/>
          </p:cNvCxnSpPr>
          <p:nvPr/>
        </p:nvCxnSpPr>
        <p:spPr>
          <a:xfrm>
            <a:off x="4397769" y="232009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2" idx="3"/>
            <a:endCxn id="83" idx="1"/>
          </p:cNvCxnSpPr>
          <p:nvPr/>
        </p:nvCxnSpPr>
        <p:spPr>
          <a:xfrm>
            <a:off x="4397769" y="280903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4" idx="3"/>
            <a:endCxn id="85" idx="1"/>
          </p:cNvCxnSpPr>
          <p:nvPr/>
        </p:nvCxnSpPr>
        <p:spPr>
          <a:xfrm>
            <a:off x="4397769" y="3297968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7" idx="3"/>
            <a:endCxn id="88" idx="1"/>
          </p:cNvCxnSpPr>
          <p:nvPr/>
        </p:nvCxnSpPr>
        <p:spPr>
          <a:xfrm>
            <a:off x="4397769" y="3786905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4397769" y="4275842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95" idx="1"/>
          </p:cNvCxnSpPr>
          <p:nvPr/>
        </p:nvCxnSpPr>
        <p:spPr>
          <a:xfrm>
            <a:off x="4397769" y="4764779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7769" y="554643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</a:rPr>
              <a:t>법령정보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115" idx="1"/>
          </p:cNvCxnSpPr>
          <p:nvPr/>
        </p:nvCxnSpPr>
        <p:spPr>
          <a:xfrm>
            <a:off x="2566635" y="1831144"/>
            <a:ext cx="931134" cy="3859290"/>
          </a:xfrm>
          <a:prstGeom prst="bentConnector3">
            <a:avLst>
              <a:gd name="adj1" fmla="val 4438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5" idx="3"/>
            <a:endCxn id="104" idx="2"/>
          </p:cNvCxnSpPr>
          <p:nvPr/>
        </p:nvCxnSpPr>
        <p:spPr>
          <a:xfrm flipV="1">
            <a:off x="4397769" y="2996388"/>
            <a:ext cx="3324109" cy="2694046"/>
          </a:xfrm>
          <a:prstGeom prst="bentConnector3">
            <a:avLst>
              <a:gd name="adj1" fmla="val 7908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288968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220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3.2</a:t>
            </a:r>
            <a:r>
              <a:rPr lang="en-US" altLang="ko-KR" dirty="0"/>
              <a:t>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08180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민원서류발급신청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552795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642795"/>
            <a:ext cx="34412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413129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3460" y="3676006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52457" y="3479748"/>
            <a:ext cx="180000" cy="180000"/>
            <a:chOff x="5058274" y="2498299"/>
            <a:chExt cx="180000" cy="180000"/>
          </a:xfrm>
        </p:grpSpPr>
        <p:sp>
          <p:nvSpPr>
            <p:cNvPr id="211" name="타원 210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타원 211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17" idx="1"/>
          </p:cNvCxnSpPr>
          <p:nvPr/>
        </p:nvCxnSpPr>
        <p:spPr>
          <a:xfrm>
            <a:off x="1908180" y="1642795"/>
            <a:ext cx="402198" cy="6030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149879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신청절차및안내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104" idx="1"/>
          </p:cNvCxnSpPr>
          <p:nvPr/>
        </p:nvCxnSpPr>
        <p:spPr>
          <a:xfrm>
            <a:off x="1908180" y="1642795"/>
            <a:ext cx="40219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210189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실적증명서신청목록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141" name="그룹 140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149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5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852796" y="2905457"/>
            <a:ext cx="6162405" cy="1022046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계약에 따른 </a:t>
            </a:r>
            <a:r>
              <a:rPr lang="ko-KR" altLang="en-US" sz="800" b="1" dirty="0" err="1" smtClean="0">
                <a:solidFill>
                  <a:schemeClr val="tx1"/>
                </a:solidFill>
              </a:rPr>
              <a:t>신청정보</a:t>
            </a:r>
            <a:r>
              <a:rPr lang="ko-KR" altLang="en-US" sz="800" b="1" dirty="0" smtClean="0">
                <a:solidFill>
                  <a:schemeClr val="tx1"/>
                </a:solidFill>
              </a:rPr>
              <a:t> 분기 화면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5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976456" y="316618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계약정보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976834" y="31730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unitB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76645" y="316618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방위사업청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77023" y="31730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unitC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976456" y="354975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976834" y="35566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76645" y="354975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77023" y="35566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unitI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614596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국외조달원등록증신청목록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614596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국외조달원등록증신청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9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89" idx="1"/>
          </p:cNvCxnSpPr>
          <p:nvPr/>
        </p:nvCxnSpPr>
        <p:spPr>
          <a:xfrm>
            <a:off x="1908180" y="1642795"/>
            <a:ext cx="402198" cy="464716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89" idx="3"/>
            <a:endCxn id="191" idx="1"/>
          </p:cNvCxnSpPr>
          <p:nvPr/>
        </p:nvCxnSpPr>
        <p:spPr>
          <a:xfrm>
            <a:off x="3210378" y="6289960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4" idx="3"/>
            <a:endCxn id="211" idx="0"/>
          </p:cNvCxnSpPr>
          <p:nvPr/>
        </p:nvCxnSpPr>
        <p:spPr>
          <a:xfrm>
            <a:off x="3210378" y="1642795"/>
            <a:ext cx="6132079" cy="18369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7" idx="3"/>
            <a:endCxn id="211" idx="2"/>
          </p:cNvCxnSpPr>
          <p:nvPr/>
        </p:nvCxnSpPr>
        <p:spPr>
          <a:xfrm>
            <a:off x="9015201" y="3416480"/>
            <a:ext cx="237256" cy="1532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209" idx="2"/>
          </p:cNvCxnSpPr>
          <p:nvPr/>
        </p:nvCxnSpPr>
        <p:spPr>
          <a:xfrm flipV="1">
            <a:off x="5580060" y="3799117"/>
            <a:ext cx="3762397" cy="249084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680060" y="614596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</a:rPr>
              <a:t>조달업체선택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91" idx="3"/>
            <a:endCxn id="97" idx="1"/>
          </p:cNvCxnSpPr>
          <p:nvPr/>
        </p:nvCxnSpPr>
        <p:spPr>
          <a:xfrm>
            <a:off x="4395219" y="6289960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210189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검색필터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-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7" idx="3"/>
            <a:endCxn id="110" idx="1"/>
          </p:cNvCxnSpPr>
          <p:nvPr/>
        </p:nvCxnSpPr>
        <p:spPr>
          <a:xfrm>
            <a:off x="3210378" y="2245891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0" idx="0"/>
            <a:endCxn id="117" idx="0"/>
          </p:cNvCxnSpPr>
          <p:nvPr/>
        </p:nvCxnSpPr>
        <p:spPr>
          <a:xfrm rot="16200000" flipV="1">
            <a:off x="3352799" y="1509470"/>
            <a:ext cx="12700" cy="118484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250735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실적증명서확인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상세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</a:p>
        </p:txBody>
      </p: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977212" y="31730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unitD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977212" y="35566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1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7" idx="2"/>
            <a:endCxn id="114" idx="1"/>
          </p:cNvCxnSpPr>
          <p:nvPr/>
        </p:nvCxnSpPr>
        <p:spPr>
          <a:xfrm rot="16200000" flipH="1">
            <a:off x="2997064" y="2153204"/>
            <a:ext cx="261468" cy="73484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10378" y="4228668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smtClean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실적증명서신청</a:t>
            </a:r>
            <a:endParaRPr lang="en-US" altLang="ko-KR" sz="800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422866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계약정보선택</a:t>
            </a:r>
            <a:endParaRPr lang="en-US" altLang="ko-KR" sz="800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680060" y="423193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검색필터</a:t>
            </a:r>
            <a:r>
              <a:rPr lang="en-US" altLang="ko-KR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-</a:t>
            </a: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</a:t>
            </a:r>
          </a:p>
        </p:txBody>
      </p:sp>
      <p:cxnSp>
        <p:nvCxnSpPr>
          <p:cNvPr id="13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8" idx="0"/>
            <a:endCxn id="127" idx="0"/>
          </p:cNvCxnSpPr>
          <p:nvPr/>
        </p:nvCxnSpPr>
        <p:spPr>
          <a:xfrm rot="16200000" flipV="1">
            <a:off x="4536007" y="3637880"/>
            <a:ext cx="3266" cy="1184841"/>
          </a:xfrm>
          <a:prstGeom prst="bentConnector3">
            <a:avLst>
              <a:gd name="adj1" fmla="val 709938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4" idx="3"/>
            <a:endCxn id="157" idx="0"/>
          </p:cNvCxnSpPr>
          <p:nvPr/>
        </p:nvCxnSpPr>
        <p:spPr>
          <a:xfrm>
            <a:off x="4395219" y="2651359"/>
            <a:ext cx="1538780" cy="25409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3210378" y="4372668"/>
            <a:ext cx="28484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5219" y="46566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신청정보입력</a:t>
            </a:r>
            <a:endParaRPr lang="en-US" altLang="ko-KR" sz="800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7" idx="2"/>
            <a:endCxn id="164" idx="0"/>
          </p:cNvCxnSpPr>
          <p:nvPr/>
        </p:nvCxnSpPr>
        <p:spPr>
          <a:xfrm>
            <a:off x="3945219" y="4516668"/>
            <a:ext cx="0" cy="1400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94760" y="4999235"/>
            <a:ext cx="5520441" cy="1022046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선택 계약에 따른 </a:t>
            </a:r>
            <a:r>
              <a:rPr lang="ko-KR" altLang="en-US" sz="800" b="1" dirty="0" err="1" smtClean="0">
                <a:solidFill>
                  <a:schemeClr val="tx1"/>
                </a:solidFill>
              </a:rPr>
              <a:t>실적정보</a:t>
            </a:r>
            <a:r>
              <a:rPr lang="ko-KR" altLang="en-US" sz="800" b="1" dirty="0" smtClean="0">
                <a:solidFill>
                  <a:schemeClr val="tx1"/>
                </a:solidFill>
              </a:rPr>
              <a:t> 입력 분기 화면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526682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unitC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5259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unitB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6034" y="526682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unitD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5643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807614" y="565040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713017" y="5643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896034" y="565040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unitI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982699" y="526682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unitE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982699" y="565040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실적정보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8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4" idx="3"/>
            <a:endCxn id="166" idx="0"/>
          </p:cNvCxnSpPr>
          <p:nvPr/>
        </p:nvCxnSpPr>
        <p:spPr>
          <a:xfrm>
            <a:off x="4395219" y="4800678"/>
            <a:ext cx="1859762" cy="1985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6" idx="3"/>
            <a:endCxn id="209" idx="2"/>
          </p:cNvCxnSpPr>
          <p:nvPr/>
        </p:nvCxnSpPr>
        <p:spPr>
          <a:xfrm flipV="1">
            <a:off x="9015201" y="3799117"/>
            <a:ext cx="327256" cy="171114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618420" y="5259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방위사업청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8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977400" y="31730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unitE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24" idx="1"/>
          </p:cNvCxnSpPr>
          <p:nvPr/>
        </p:nvCxnSpPr>
        <p:spPr>
          <a:xfrm>
            <a:off x="1908180" y="1642795"/>
            <a:ext cx="402198" cy="2729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977212" y="250735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실적증명서제출</a:t>
            </a:r>
            <a:endParaRPr lang="en-US" altLang="ko-KR" sz="800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7427212" y="2795359"/>
            <a:ext cx="0" cy="1100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97" idx="3"/>
            <a:endCxn id="212" idx="0"/>
          </p:cNvCxnSpPr>
          <p:nvPr/>
        </p:nvCxnSpPr>
        <p:spPr>
          <a:xfrm>
            <a:off x="7877212" y="2651359"/>
            <a:ext cx="1465245" cy="864389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336032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221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일반공지사항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NoticeListPage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일반공지사항상세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NoticeDtlPage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방위사업청공지사항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  <a:latin typeface="+mn-ea"/>
              </a:rPr>
              <a:t>D2b_NoticeListPage</a:t>
            </a:r>
            <a:r>
              <a:rPr lang="en-US" altLang="ko-KR" sz="700" dirty="0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 공지사항 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NoticeController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방위사업청공지사항상세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D2b_NoticeDtlPage</a:t>
            </a:r>
            <a:r>
              <a:rPr lang="en-US" altLang="ko-KR" sz="1000" dirty="0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수요부대별공지사항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Dmdfrc_NoticeListPage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수요부대별공지사항상세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Dmdfrc_NoticeDtlPage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일반자료실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rpstrList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 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일반자료실상세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수요부대별자료실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81448" y="5443501"/>
            <a:ext cx="1353773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계약관련서식자료실상세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Ctrt_rpstrDtl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5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시스템개선안내상세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SysImpv_rpstrDtl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3790655" y="3810190"/>
            <a:ext cx="1033036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43881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자료실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RpstrController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40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자주묻는질문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FaqController</a:t>
            </a:r>
            <a:endParaRPr lang="en-US" altLang="ko-KR" sz="900" dirty="0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3" idx="1"/>
          </p:cNvCxnSpPr>
          <p:nvPr/>
        </p:nvCxnSpPr>
        <p:spPr>
          <a:xfrm>
            <a:off x="5687291" y="2990174"/>
            <a:ext cx="1226127" cy="7082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계약관련서식자료실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Ctrt_rpstrList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시스템개선안내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SysImpv_rpstrList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자주묻는질문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FaqListPage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40826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222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latin typeface="+mn-ea"/>
              </a:rPr>
              <a:t>민원서류발급신청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DcmntIssuAplyPage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신청절차및안내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AplyStepInfoPage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실적증명서신청목록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PrfmncPrdocPage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실적증명서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PrfmncPrdocPage_SrchFilter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실적증명서확인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상세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계약정보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PrfmncPrdocDtl_Cn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</a:rPr>
              <a:t>방위사업청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PrfmncPrdocDtl_D2b</a:t>
            </a:r>
            <a:r>
              <a:rPr lang="en-US" altLang="ko-KR" sz="1000" dirty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unitB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PrfmncPrdocDtl_UnitB.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unitC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unitD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PrfmncPrdocDtl_UnitD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3855704" y="3810190"/>
            <a:ext cx="967987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50912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unitE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PrfmncPrdocDtl_UnitG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PrfmncPrdocDtl_AplyInfo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0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1" idx="0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PrfmncPrdocDtl_UnitF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unitI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PrfmncPrdocDtl_UnitI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029886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PrfmncPrdocDtl_UnitH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66063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223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실적증명서제출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PrfmncPrdocSbmsn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계약정보선택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CtrtInfoChc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AplyStepInfoPage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신청정보입력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PrfmncPrdocReg_AplyInpt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</a:rPr>
              <a:t>방위사업청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PrfmncPrdocReg_D2b.</a:t>
            </a:r>
            <a:r>
              <a:rPr lang="en-US" altLang="ko-KR" sz="1000" dirty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unitB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PrfmncPrdocReg_UnitB.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unitC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unitD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PrfmncPrdocReg_UnitD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unitE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PrfmncPrdocReg_UnitF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unitI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PrfmncPrdocReg_UnitI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0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50912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PrfmncPrdocReg_UnitG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PrfmncPrdocReg_UnitH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 smtClean="0">
                <a:solidFill>
                  <a:schemeClr val="tx1"/>
                </a:solidFill>
              </a:rPr>
              <a:t>실적정보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PrfmncPrdocReg_AplyInfo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2992582" y="2990174"/>
            <a:ext cx="967509" cy="3079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66113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224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국외조달원등록증신청목록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ovsSosCnfdocListPage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국외조달원등록증신청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ovsSosCnfdocReg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조달업체선택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ovsSosCnfdocChc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법령정보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SttInfoListPage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 smtClean="0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40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/>
              <a:t>법령정보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SttInfoController</a:t>
            </a:r>
            <a:endParaRPr lang="en-US" altLang="ko-KR" sz="900" dirty="0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3" idx="1"/>
          </p:cNvCxnSpPr>
          <p:nvPr/>
        </p:nvCxnSpPr>
        <p:spPr>
          <a:xfrm>
            <a:off x="5687291" y="2990174"/>
            <a:ext cx="1226127" cy="7082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423455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게시판 제목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게시판별</a:t>
            </a:r>
            <a:r>
              <a:rPr lang="ko-KR" altLang="en-US" dirty="0" smtClean="0"/>
              <a:t> 제목과 화면 </a:t>
            </a:r>
            <a:r>
              <a:rPr lang="en-US" altLang="ko-KR" dirty="0" smtClean="0"/>
              <a:t>ID </a:t>
            </a:r>
            <a:r>
              <a:rPr lang="ko-KR" altLang="en-US" dirty="0" smtClean="0"/>
              <a:t>정보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공지사항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일반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MUI-CM-04-M01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방위사업청</a:t>
            </a:r>
            <a:r>
              <a:rPr lang="ko-KR" altLang="en-US" dirty="0"/>
              <a:t>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MUI-CM-04-M21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수요부대별</a:t>
            </a:r>
            <a:r>
              <a:rPr lang="ko-KR" altLang="en-US" dirty="0"/>
              <a:t>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MUI-CM-04-M23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자료실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latin typeface="+mn-ea"/>
              </a:rPr>
              <a:t>일반 </a:t>
            </a:r>
            <a:r>
              <a:rPr lang="ko-KR" altLang="en-US" dirty="0" smtClean="0">
                <a:latin typeface="+mn-ea"/>
              </a:rPr>
              <a:t>자료실 </a:t>
            </a:r>
            <a:r>
              <a:rPr lang="en-US" altLang="ko-KR" dirty="0">
                <a:latin typeface="+mn-ea"/>
              </a:rPr>
              <a:t>MUI-CM-04-M25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수요부대별자료실 </a:t>
            </a:r>
            <a:r>
              <a:rPr lang="en-US" altLang="ko-KR" dirty="0">
                <a:latin typeface="+mn-ea"/>
              </a:rPr>
              <a:t>MUI-CM-04-M27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계약관련서식자료실 </a:t>
            </a:r>
            <a:r>
              <a:rPr lang="en-US" altLang="ko-KR" dirty="0">
                <a:latin typeface="+mn-ea"/>
              </a:rPr>
              <a:t>MUI-CM-04-M29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시스템개선안내 </a:t>
            </a:r>
            <a:r>
              <a:rPr lang="en-US" altLang="ko-KR" dirty="0" smtClean="0">
                <a:latin typeface="+mn-ea"/>
              </a:rPr>
              <a:t>MUI-CM-04-M31</a:t>
            </a:r>
            <a:br>
              <a:rPr lang="en-US" altLang="ko-KR" dirty="0" smtClean="0">
                <a:latin typeface="+mn-ea"/>
              </a:rPr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내용이 없을 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ko-KR" altLang="en-US" dirty="0" err="1">
                <a:solidFill>
                  <a:srgbClr val="FF0000"/>
                </a:solidFill>
              </a:rPr>
              <a:t>미표시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상단 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 smtClean="0"/>
              <a:t>제목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긴급 상태</a:t>
            </a:r>
            <a:r>
              <a:rPr lang="en-US" altLang="ko-KR" dirty="0"/>
              <a:t>, </a:t>
            </a:r>
            <a:r>
              <a:rPr lang="ko-KR" altLang="en-US" dirty="0"/>
              <a:t>구분</a:t>
            </a:r>
            <a:r>
              <a:rPr lang="en-US" altLang="ko-KR" dirty="0"/>
              <a:t>, </a:t>
            </a:r>
            <a:r>
              <a:rPr lang="ko-KR" altLang="en-US" dirty="0"/>
              <a:t>첨부파일 유무에 따라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고정 게시물 상단 고정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>
                <a:solidFill>
                  <a:srgbClr val="FF0000"/>
                </a:solidFill>
              </a:rPr>
              <a:t>각 </a:t>
            </a:r>
            <a:r>
              <a:rPr lang="ko-KR" altLang="en-US" dirty="0" err="1" smtClean="0">
                <a:solidFill>
                  <a:srgbClr val="FF0000"/>
                </a:solidFill>
              </a:rPr>
              <a:t>게시판별</a:t>
            </a:r>
            <a:r>
              <a:rPr lang="ko-KR" altLang="en-US" dirty="0" smtClean="0">
                <a:solidFill>
                  <a:srgbClr val="FF0000"/>
                </a:solidFill>
              </a:rPr>
              <a:t> </a:t>
            </a:r>
            <a:r>
              <a:rPr lang="ko-KR" altLang="en-US" dirty="0" err="1" smtClean="0">
                <a:solidFill>
                  <a:srgbClr val="FF0000"/>
                </a:solidFill>
              </a:rPr>
              <a:t>구분값</a:t>
            </a:r>
            <a:endParaRPr lang="en-US" altLang="ko-KR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표시 </a:t>
            </a:r>
            <a:r>
              <a:rPr lang="ko-KR" altLang="en-US" dirty="0"/>
              <a:t>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상태는 코드에 따라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225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목록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목록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전체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수요부대별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자료실 등 게시판 목록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게시판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MUI-CM-04-M01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게시판 제목 표시 영역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497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81461" y="3301466"/>
            <a:ext cx="2473257" cy="960061"/>
            <a:chOff x="781461" y="2610063"/>
            <a:chExt cx="2473257" cy="960061"/>
          </a:xfrm>
        </p:grpSpPr>
        <p:sp>
          <p:nvSpPr>
            <p:cNvPr id="2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공지사항</a:t>
              </a:r>
              <a:r>
                <a:rPr lang="en-US" altLang="ko-KR" sz="900" b="1" dirty="0"/>
                <a:t>, </a:t>
              </a:r>
              <a:r>
                <a:rPr lang="ko-KR" altLang="en-US" sz="900" b="1" dirty="0"/>
                <a:t>게시물의 제목은 최대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줄로 표시합니다</a:t>
              </a:r>
              <a:r>
                <a:rPr lang="en-US" altLang="ko-KR" sz="900" b="1" dirty="0"/>
                <a:t>. </a:t>
              </a:r>
              <a:r>
                <a:rPr lang="ko-KR" altLang="en-US" sz="900" b="1" dirty="0"/>
                <a:t>표시 이후 내용이 긴 경우 </a:t>
              </a:r>
              <a:r>
                <a:rPr lang="en-US" altLang="ko-KR" sz="900" b="1" dirty="0"/>
                <a:t>… </a:t>
              </a:r>
              <a:r>
                <a:rPr lang="ko-KR" altLang="en-US" sz="900" b="1" dirty="0"/>
                <a:t>으로 </a:t>
              </a:r>
              <a:r>
                <a:rPr lang="ko-KR" altLang="en-US" sz="900" b="1" dirty="0" err="1"/>
                <a:t>처리합</a:t>
              </a:r>
              <a:endParaRPr lang="ko-KR" altLang="en-US" sz="900" b="1" dirty="0"/>
            </a:p>
          </p:txBody>
        </p:sp>
        <p:sp>
          <p:nvSpPr>
            <p:cNvPr id="2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담당부서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2026-02-01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>
                  <a:solidFill>
                    <a:srgbClr val="FF0000"/>
                  </a:solidFill>
                </a:rPr>
                <a:t>긴급</a:t>
              </a:r>
              <a:endParaRPr lang="ko-KR" altLang="en-US" sz="600" dirty="0">
                <a:solidFill>
                  <a:srgbClr val="FF0000"/>
                </a:solidFill>
              </a:endParaRPr>
            </a:p>
          </p:txBody>
        </p:sp>
        <p:sp>
          <p:nvSpPr>
            <p:cNvPr id="93" name="모서리가 둥근 직사각형 92"/>
            <p:cNvSpPr/>
            <p:nvPr/>
          </p:nvSpPr>
          <p:spPr>
            <a:xfrm>
              <a:off x="1075985" y="2610063"/>
              <a:ext cx="243478" cy="119400"/>
            </a:xfrm>
            <a:prstGeom prst="roundRect">
              <a:avLst>
                <a:gd name="adj" fmla="val 234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tx1"/>
                  </a:solidFill>
                </a:rPr>
                <a:t>첨부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22320"/>
            <a:ext cx="76863" cy="292489"/>
            <a:chOff x="3750067" y="4683795"/>
            <a:chExt cx="76863" cy="292489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6033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3" name="타원 42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466878" y="62475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21034" y="592954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54" name="모서리가 둥근 직사각형 53"/>
          <p:cNvSpPr/>
          <p:nvPr/>
        </p:nvSpPr>
        <p:spPr>
          <a:xfrm>
            <a:off x="8423455" y="6107783"/>
            <a:ext cx="241057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rgbClr val="FF0000"/>
                </a:solidFill>
              </a:rPr>
              <a:t>긴급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2846" y="6113622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명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63" name="그룹 62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64" name="직선 연결선 6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직선 연결선 6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6" name="그룹 65"/>
          <p:cNvGrpSpPr/>
          <p:nvPr/>
        </p:nvGrpSpPr>
        <p:grpSpPr>
          <a:xfrm>
            <a:off x="767702" y="2274581"/>
            <a:ext cx="2527420" cy="473693"/>
            <a:chOff x="786326" y="2274581"/>
            <a:chExt cx="2527420" cy="473693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71" name="타원 7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72" name="타원 7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3" name="그룹 7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74" name="직선 연결선 7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직선 연결선 7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8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60916" y="2274581"/>
            <a:ext cx="615387" cy="155984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내용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89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07397" y="2270279"/>
            <a:ext cx="582849" cy="15479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검색필터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43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8423455" y="6291860"/>
            <a:ext cx="241057" cy="119400"/>
          </a:xfrm>
          <a:prstGeom prst="roundRect">
            <a:avLst>
              <a:gd name="adj" fmla="val 23409"/>
            </a:avLst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첨부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2846" y="6297699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첨부파일</a:t>
            </a: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6" name="그룹 95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9" name="타원 98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2" name="그룹 101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5" name="그룹 104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18" name="직선 연결선 1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" name="직선 연결선 1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1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17" name="그림 11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07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08" name="그룹 107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13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14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15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1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12" name="그림 11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0" name="그룹 11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4" name="그룹 123"/>
          <p:cNvGrpSpPr/>
          <p:nvPr/>
        </p:nvGrpSpPr>
        <p:grpSpPr>
          <a:xfrm>
            <a:off x="3795734" y="3982653"/>
            <a:ext cx="2712027" cy="505089"/>
            <a:chOff x="3795734" y="4353857"/>
            <a:chExt cx="2712027" cy="50508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126" name="그룹 125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133" name="직선 연결선 13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4" name="직선 연결선 13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7" name="모서리가 둥근 직사각형 126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smtClean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29" name="그룹 128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직선 연결선 13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5" name="그룹 134"/>
          <p:cNvGrpSpPr/>
          <p:nvPr/>
        </p:nvGrpSpPr>
        <p:grpSpPr>
          <a:xfrm>
            <a:off x="3903622" y="2893083"/>
            <a:ext cx="2516607" cy="962554"/>
            <a:chOff x="778515" y="4388257"/>
            <a:chExt cx="2516607" cy="962554"/>
          </a:xfrm>
        </p:grpSpPr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37" name="그룹 136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8" name="모서리가 둥근 직사각형 137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2" name="모서리가 둥근 직사각형 141"/>
            <p:cNvSpPr/>
            <p:nvPr/>
          </p:nvSpPr>
          <p:spPr>
            <a:xfrm>
              <a:off x="1449284" y="4911422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내용을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898091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모서리가 둥근 직사각형 143"/>
            <p:cNvSpPr/>
            <p:nvPr/>
          </p:nvSpPr>
          <p:spPr>
            <a:xfrm>
              <a:off x="1449284" y="5163611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작성자를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150280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47" name="그룹 146"/>
          <p:cNvGrpSpPr/>
          <p:nvPr/>
        </p:nvGrpSpPr>
        <p:grpSpPr>
          <a:xfrm>
            <a:off x="781461" y="4496072"/>
            <a:ext cx="2473257" cy="775730"/>
            <a:chOff x="781461" y="2794394"/>
            <a:chExt cx="2473257" cy="775730"/>
          </a:xfrm>
        </p:grpSpPr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공지사항</a:t>
              </a:r>
              <a:r>
                <a:rPr lang="en-US" altLang="ko-KR" sz="900" b="1" dirty="0"/>
                <a:t>, </a:t>
              </a:r>
              <a:r>
                <a:rPr lang="ko-KR" altLang="en-US" sz="900" b="1" dirty="0"/>
                <a:t>게시물의 제목은 최대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줄로 표시합니다</a:t>
              </a:r>
              <a:r>
                <a:rPr lang="en-US" altLang="ko-KR" sz="900" b="1" dirty="0"/>
                <a:t>. </a:t>
              </a:r>
              <a:r>
                <a:rPr lang="ko-KR" altLang="en-US" sz="900" b="1" dirty="0"/>
                <a:t>표시 이후 내용이 긴 경우 </a:t>
              </a:r>
              <a:r>
                <a:rPr lang="en-US" altLang="ko-KR" sz="900" b="1" dirty="0"/>
                <a:t>… </a:t>
              </a:r>
              <a:r>
                <a:rPr lang="ko-KR" altLang="en-US" sz="900" b="1" dirty="0"/>
                <a:t>으로 </a:t>
              </a:r>
              <a:r>
                <a:rPr lang="ko-KR" altLang="en-US" sz="900" b="1" dirty="0" err="1"/>
                <a:t>처리합</a:t>
              </a:r>
              <a:endParaRPr lang="ko-KR" altLang="en-US" sz="900" b="1" dirty="0"/>
            </a:p>
          </p:txBody>
        </p:sp>
        <p:sp>
          <p:nvSpPr>
            <p:cNvPr id="14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담당부서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5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2026-02-01</a:t>
              </a:r>
            </a:p>
          </p:txBody>
        </p:sp>
      </p:grp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6472" y="42852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grpSp>
        <p:nvGrpSpPr>
          <p:cNvPr id="151" name="그룹 15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52" name="직사각형 15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2026-07-28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수정</a:t>
              </a:r>
              <a:endParaRPr lang="ko-KR" altLang="en-US" dirty="0"/>
            </a:p>
          </p:txBody>
        </p:sp>
        <p:sp>
          <p:nvSpPr>
            <p:cNvPr id="153" name="직사각형 1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구분설정</a:t>
              </a:r>
              <a:r>
                <a:rPr lang="ko-KR" altLang="en-US" sz="700" dirty="0" smtClean="0"/>
                <a:t> </a:t>
              </a:r>
              <a:r>
                <a:rPr lang="en-US" altLang="ko-KR" sz="700" dirty="0" smtClean="0"/>
                <a:t>– </a:t>
              </a:r>
              <a:r>
                <a:rPr lang="ko-KR" altLang="en-US" sz="700" dirty="0" smtClean="0"/>
                <a:t>구분으로 설정 값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23247179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78625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226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61080"/>
            <a:ext cx="1739826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791237"/>
            <a:ext cx="2643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일반공지사항목록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87725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59880"/>
            <a:ext cx="26647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일반공지사항목록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0244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7900217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582286"/>
              </p:ext>
            </p:extLst>
          </p:nvPr>
        </p:nvGraphicFramePr>
        <p:xfrm>
          <a:off x="455204" y="5117006"/>
          <a:ext cx="8995591" cy="943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7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공통코드 정보를 </a:t>
                      </a:r>
                      <a:r>
                        <a:rPr lang="ko-KR" altLang="en-US" sz="700" dirty="0" err="1"/>
                        <a:t>로드한다</a:t>
                      </a:r>
                      <a:r>
                        <a:rPr lang="en-US" altLang="ko-KR" sz="700" dirty="0"/>
                        <a:t>. 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7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그리드</a:t>
                      </a:r>
                      <a:r>
                        <a:rPr lang="en-US" altLang="ko-KR" sz="700" dirty="0"/>
                        <a:t>-</a:t>
                      </a:r>
                      <a:r>
                        <a:rPr lang="ko-KR" altLang="en-US" sz="7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700" dirty="0"/>
                        <a:t>UI-CM-04-M02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 참조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563605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10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966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4BAA8C08-5016-C79A-863D-E64DA69FF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9829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4199A64B-B24C-1023-3D68-79D630B45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8242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10816926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3737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방위사업청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77216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93844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82915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408322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317824"/>
              </p:ext>
            </p:extLst>
          </p:nvPr>
        </p:nvGraphicFramePr>
        <p:xfrm>
          <a:off x="452999" y="5126719"/>
          <a:ext cx="8995591" cy="943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공통코드 정보를 </a:t>
                      </a:r>
                      <a:r>
                        <a:rPr lang="ko-KR" altLang="en-US" sz="700" dirty="0" err="1"/>
                        <a:t>로드한다</a:t>
                      </a:r>
                      <a:r>
                        <a:rPr lang="en-US" altLang="ko-KR" sz="700" dirty="0"/>
                        <a:t>.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7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그리드</a:t>
                      </a:r>
                      <a:r>
                        <a:rPr lang="en-US" altLang="ko-KR" sz="700" dirty="0"/>
                        <a:t>-</a:t>
                      </a:r>
                      <a:r>
                        <a:rPr lang="ko-KR" altLang="en-US" sz="7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700" dirty="0"/>
                        <a:t>UI-CM-04-M06 </a:t>
                      </a:r>
                      <a:r>
                        <a:rPr lang="ko-KR" altLang="en-US" sz="700" dirty="0"/>
                        <a:t>참조</a:t>
                      </a:r>
                      <a:endParaRPr lang="en-US" altLang="ko-KR" sz="7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97665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1785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4821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E9C0B345-5E63-11C0-48DC-C656AFA84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5" y="499951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133D4DE3-F911-78F2-10FE-A62911F36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04199084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3737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785299"/>
            <a:ext cx="30029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88206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2361869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996502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9671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688252"/>
              </p:ext>
            </p:extLst>
          </p:nvPr>
        </p:nvGraphicFramePr>
        <p:xfrm>
          <a:off x="453000" y="5122562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scwin.onpageload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UI-CM-04-M10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8947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524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9541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3E69730-F912-80BF-AFBC-7B3EDB49EC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99535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BCAF160D-5373-A7C1-903A-743FE3228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025809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624410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8117" y="452472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24473"/>
            <a:ext cx="23185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일반자료실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13380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969614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859305"/>
              </p:ext>
            </p:extLst>
          </p:nvPr>
        </p:nvGraphicFramePr>
        <p:xfrm>
          <a:off x="453000" y="4802860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UI-CM-04-M14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651410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2207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0846136-7F2D-81A6-A241-F14986892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6816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3B3B5-2CBC-AA8F-2EC1-0AA49771634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BB55024-1BA7-9735-B079-6CF7208C64B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D68D08FD-FECB-107D-6044-66A77FB6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9559936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00913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65674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8116" y="470396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95727"/>
            <a:ext cx="27048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55598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847410"/>
              </p:ext>
            </p:extLst>
          </p:nvPr>
        </p:nvGraphicFramePr>
        <p:xfrm>
          <a:off x="452999" y="4982098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UI-CM-04-M18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706930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651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95E07F60-1198-562C-BA09-023EF44C09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5" y="48549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BA57D6A6-8272-5F70-29BF-68B8E46EC12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858C29-5B48-9FAF-06BC-D55A9F54671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998645F1-9DDE-F296-834B-85F5E47FAF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158677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8225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계약관련 서식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77216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49287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507602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 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512867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60240"/>
              </p:ext>
            </p:extLst>
          </p:nvPr>
        </p:nvGraphicFramePr>
        <p:xfrm>
          <a:off x="453000" y="4707856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UI-CM-04-M22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709912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4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8D20C417-5A56-81AC-2847-631C94EE2E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7473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C36601D-D2A4-3814-8239-B46BF340B17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CC17A70-90BB-3652-DDCB-BE850EBB396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926B8685-FC02-9CA0-9EB5-7B3C5330D6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006564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880890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시스템 개선안내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5413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시스템개선안내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8" y="45744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77914"/>
            <a:ext cx="258941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시스템개선안내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 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825938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026901"/>
              </p:ext>
            </p:extLst>
          </p:nvPr>
        </p:nvGraphicFramePr>
        <p:xfrm>
          <a:off x="453000" y="4814735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UI-CM-04-M26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70857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1304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wrtrNm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inqCnt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091AC8A-3330-AEAC-F7A9-4EB782249C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6875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A590530-954E-F8EA-7610-BF1A2C387471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E60D4A2-25E6-85F7-28C9-C0A74FCE6EEE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3F3AA198-D955-4F5B-8500-EEF578B5B3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4527164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lvl="0" indent="-228600">
              <a:buFont typeface="+mj-lt"/>
              <a:buAutoNum type="arabicPeriod"/>
            </a:pPr>
            <a:r>
              <a:rPr lang="ko-KR" altLang="en-US" dirty="0">
                <a:solidFill>
                  <a:prstClr val="black"/>
                </a:solidFill>
              </a:rPr>
              <a:t>게시판 제목 </a:t>
            </a:r>
            <a:r>
              <a:rPr lang="ko-KR" altLang="en-US" dirty="0" smtClean="0">
                <a:solidFill>
                  <a:prstClr val="black"/>
                </a:solidFill>
              </a:rPr>
              <a:t>표시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ko-KR" altLang="en-US" dirty="0" err="1"/>
              <a:t>게시판별</a:t>
            </a:r>
            <a:r>
              <a:rPr lang="ko-KR" altLang="en-US" dirty="0"/>
              <a:t> 제목과 화면 </a:t>
            </a:r>
            <a:r>
              <a:rPr lang="en-US" altLang="ko-KR" dirty="0"/>
              <a:t>ID </a:t>
            </a:r>
            <a:r>
              <a:rPr lang="ko-KR" altLang="en-US" dirty="0"/>
              <a:t>정보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공지사항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>
                <a:solidFill>
                  <a:prstClr val="black"/>
                </a:solidFill>
              </a:rPr>
              <a:t>일반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MUI-CM-04-M02</a:t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 err="1">
                <a:solidFill>
                  <a:prstClr val="black"/>
                </a:solidFill>
              </a:rPr>
              <a:t>방위사업청</a:t>
            </a:r>
            <a:r>
              <a:rPr lang="ko-KR" altLang="en-US" dirty="0">
                <a:solidFill>
                  <a:prstClr val="black"/>
                </a:solidFill>
              </a:rPr>
              <a:t>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MUI-CM-04-M22</a:t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 err="1">
                <a:solidFill>
                  <a:prstClr val="black"/>
                </a:solidFill>
              </a:rPr>
              <a:t>수요부대별</a:t>
            </a:r>
            <a:r>
              <a:rPr lang="ko-KR" altLang="en-US" dirty="0">
                <a:solidFill>
                  <a:prstClr val="black"/>
                </a:solidFill>
              </a:rPr>
              <a:t>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 smtClean="0">
                <a:solidFill>
                  <a:prstClr val="black"/>
                </a:solidFill>
              </a:rPr>
              <a:t>MUI-CM-04-M24</a:t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자료실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일반 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MUI-CM-04-M26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수요부대별자료실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MUI-CM-04-M28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계약관련서식자료실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MUI-CM-04-M30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시스템개선안내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MUI-CM-04-M32</a:t>
            </a: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>
                <a:solidFill>
                  <a:prstClr val="black"/>
                </a:solidFill>
              </a:rPr>
              <a:t>게시판 </a:t>
            </a:r>
            <a:r>
              <a:rPr lang="ko-KR" altLang="en-US" dirty="0" smtClean="0">
                <a:solidFill>
                  <a:prstClr val="black"/>
                </a:solidFill>
              </a:rPr>
              <a:t>제목 표시 </a:t>
            </a:r>
            <a:r>
              <a:rPr lang="en-US" altLang="ko-KR" dirty="0" smtClean="0">
                <a:solidFill>
                  <a:prstClr val="black"/>
                </a:solidFill>
              </a:rPr>
              <a:t>– </a:t>
            </a:r>
            <a:r>
              <a:rPr lang="ko-KR" altLang="en-US" dirty="0" smtClean="0">
                <a:solidFill>
                  <a:prstClr val="black"/>
                </a:solidFill>
              </a:rPr>
              <a:t>전체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작성 정보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내용 표시 </a:t>
            </a:r>
            <a:r>
              <a:rPr lang="en-US" altLang="ko-KR" dirty="0" smtClean="0">
                <a:solidFill>
                  <a:prstClr val="black"/>
                </a:solidFill>
              </a:rPr>
              <a:t>– </a:t>
            </a:r>
            <a:r>
              <a:rPr lang="ko-KR" altLang="en-US" dirty="0" smtClean="0">
                <a:solidFill>
                  <a:prstClr val="black"/>
                </a:solidFill>
              </a:rPr>
              <a:t>전체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첨부파일이 있는 경우 표시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endParaRPr lang="en-US" altLang="ko-KR" dirty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err="1">
                <a:solidFill>
                  <a:prstClr val="black"/>
                </a:solidFill>
              </a:rPr>
              <a:t>이전글</a:t>
            </a:r>
            <a:r>
              <a:rPr lang="en-US" altLang="ko-KR" dirty="0">
                <a:solidFill>
                  <a:prstClr val="black"/>
                </a:solidFill>
              </a:rPr>
              <a:t>, </a:t>
            </a:r>
            <a:r>
              <a:rPr lang="ko-KR" altLang="en-US" dirty="0" err="1">
                <a:solidFill>
                  <a:prstClr val="black"/>
                </a:solidFill>
              </a:rPr>
              <a:t>다음글</a:t>
            </a:r>
            <a:r>
              <a:rPr lang="ko-KR" altLang="en-US" dirty="0">
                <a:solidFill>
                  <a:prstClr val="black"/>
                </a:solidFill>
              </a:rPr>
              <a:t> 표시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목록 버튼은 </a:t>
            </a:r>
            <a:r>
              <a:rPr lang="ko-KR" altLang="en-US" dirty="0" err="1">
                <a:solidFill>
                  <a:prstClr val="black"/>
                </a:solidFill>
              </a:rPr>
              <a:t>미표시</a:t>
            </a:r>
            <a:endParaRPr lang="en-US" altLang="ko-KR" dirty="0">
              <a:solidFill>
                <a:prstClr val="black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전체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수요부대별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자료실 등 게시판 상세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게시판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게시판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MUI-CM-04-M02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게시판 제목 표시 영역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" name="그룹 15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7" name="직선 연결선 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" name="타원 18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970713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제목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6710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155145"/>
            <a:ext cx="247394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900" dirty="0"/>
              <a:t>연초에 공개되는 조달계획에서  알림</a:t>
            </a:r>
            <a:r>
              <a:rPr lang="en-US" altLang="ko-KR" sz="900" dirty="0"/>
              <a:t> </a:t>
            </a:r>
            <a:r>
              <a:rPr lang="ko-KR" altLang="en-US" sz="900" dirty="0"/>
              <a:t>신청한 품목에 대한 입찰공고가 시스템에 게시되면 알려드리는 서비스입니다</a:t>
            </a:r>
            <a:r>
              <a:rPr lang="en-US" altLang="ko-KR" sz="900" dirty="0"/>
              <a:t>.</a:t>
            </a:r>
            <a:endParaRPr kumimoji="1" lang="en-US" altLang="ko-KR" sz="900" spc="-60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770830"/>
            <a:ext cx="649855" cy="5601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작성자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담당부서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구분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게시기간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4186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93370" y="2770830"/>
            <a:ext cx="1885045" cy="5909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홍길동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총무부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공통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en-US" altLang="ko-KR" sz="800" dirty="0"/>
              <a:t>2025-03-20 ~ 2025-10-05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534966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내용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45577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719398"/>
            <a:ext cx="2473940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lnSpc>
                <a:spcPct val="120000"/>
              </a:lnSpc>
              <a:defRPr/>
            </a:pPr>
            <a:r>
              <a:rPr lang="ko-KR" altLang="en-US" sz="900" dirty="0"/>
              <a:t>게시판에 작성된 내용이 표시됩니다</a:t>
            </a:r>
            <a:r>
              <a:rPr lang="en-US" altLang="ko-KR" sz="900" dirty="0"/>
              <a:t>.</a:t>
            </a:r>
          </a:p>
          <a:p>
            <a:pPr lvl="0" defTabSz="1013612">
              <a:lnSpc>
                <a:spcPct val="120000"/>
              </a:lnSpc>
              <a:defRPr/>
            </a:pPr>
            <a:r>
              <a:rPr lang="ko-KR" altLang="en-US" sz="900" dirty="0" err="1"/>
              <a:t>여러줄이</a:t>
            </a:r>
            <a:r>
              <a:rPr lang="ko-KR" altLang="en-US" sz="900" dirty="0"/>
              <a:t> 작성되는 경우 모든 내용을 펼쳐서 표시합니다</a:t>
            </a:r>
            <a:r>
              <a:rPr lang="en-US" altLang="ko-KR" sz="900" dirty="0"/>
              <a:t>.</a:t>
            </a:r>
          </a:p>
          <a:p>
            <a:pPr lvl="0" defTabSz="1013612">
              <a:lnSpc>
                <a:spcPct val="120000"/>
              </a:lnSpc>
              <a:defRPr/>
            </a:pPr>
            <a:r>
              <a:rPr lang="en-US" altLang="ko-KR" sz="900" dirty="0"/>
              <a:t>⁞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675957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첨부파일 </a:t>
            </a:r>
            <a:r>
              <a:rPr lang="en-US" altLang="ko-KR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– 1</a:t>
            </a: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건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54764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591584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이전글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60249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776016"/>
            <a:ext cx="247394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800" dirty="0" err="1"/>
              <a:t>이전글</a:t>
            </a:r>
            <a:r>
              <a:rPr lang="ko-KR" altLang="en-US" sz="800" dirty="0"/>
              <a:t> 제목이 표시됩니다</a:t>
            </a:r>
            <a:r>
              <a:rPr lang="en-US" altLang="ko-KR" sz="800" dirty="0"/>
              <a:t>. 1</a:t>
            </a:r>
            <a:r>
              <a:rPr lang="ko-KR" altLang="en-US" sz="800" dirty="0"/>
              <a:t>줄 표시 후 </a:t>
            </a:r>
            <a:r>
              <a:rPr lang="en-US" altLang="ko-KR" sz="800" dirty="0"/>
              <a:t>… </a:t>
            </a:r>
            <a:r>
              <a:rPr lang="ko-KR" altLang="en-US" sz="800" dirty="0"/>
              <a:t>처리 </a:t>
            </a:r>
            <a:r>
              <a:rPr lang="ko-KR" altLang="en-US" sz="800" dirty="0" err="1"/>
              <a:t>합니</a:t>
            </a:r>
            <a:endParaRPr lang="en-US" altLang="ko-KR" sz="800" dirty="0"/>
          </a:p>
        </p:txBody>
      </p:sp>
      <p:sp>
        <p:nvSpPr>
          <p:cNvPr id="37" name="모서리가 둥근 직사각형 36"/>
          <p:cNvSpPr/>
          <p:nvPr/>
        </p:nvSpPr>
        <p:spPr>
          <a:xfrm>
            <a:off x="720142" y="499259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120975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120975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40" name="타원 39"/>
          <p:cNvSpPr/>
          <p:nvPr/>
        </p:nvSpPr>
        <p:spPr>
          <a:xfrm>
            <a:off x="3108139" y="5102836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4857475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4857475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4857475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6080102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다음글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43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2473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484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038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7714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46339841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05401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공지사항 상세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1583" y="760338"/>
            <a:ext cx="28010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일반공지사항상세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3984326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97364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4596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273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45E44886-453C-E2A8-43AB-45CD5DD5B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83692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방위사업청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333802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3301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1048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960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8C9C022-1BF5-DB29-C801-02C2DB81A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066662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9382195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784924"/>
            <a:ext cx="3378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6867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476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0578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B571A97F-CF42-5A35-D1E1-AC4904698A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705373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5126529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292092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92577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260544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일반자료실상세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25875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6191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00439192-9EF1-341E-46D3-72EF8CE108E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2D52ECC-C3A4-BA93-9971-1721B6FCA967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6F04475-2B6C-28FB-3AC1-03C72F8B4A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661687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7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13249723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31049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295169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3655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2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C6E5CCB0-8AFF-4C29-1159-B304CF288D0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EB764B7-87CD-91BE-5496-3D8BBFD4624D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8423D76-6C3E-2B19-C6A3-2906EAFED9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39804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6148301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계약관련서식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7409" y="799547"/>
            <a:ext cx="306711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1025875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918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0234F8FA-1E0E-58B2-149D-6DF150C6D03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0A0C8F-453B-36ED-E27D-3427DE0D8D1D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B335F206-DF0E-979F-DC20-E81D57CD10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880188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092891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8225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시스템 개선안내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8" y="799547"/>
            <a:ext cx="283628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시스템개선안내상세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36137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자리수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2948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wrtrNm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tkcgDeptNm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pstgBgngYmd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pstgEndYmd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375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39C9A060-CA73-CEE0-3F7F-523F9C3CF9AD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94039D6-5A81-7A0D-8459-4FB791039E63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85C4AD37-DEDE-FDB5-4DF5-9E17FC006A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853956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04387513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/>
          <p:cNvSpPr/>
          <p:nvPr/>
        </p:nvSpPr>
        <p:spPr>
          <a:xfrm>
            <a:off x="720490" y="3916314"/>
            <a:ext cx="2621844" cy="7890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구분 값을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시 질문 정렬 </a:t>
            </a:r>
            <a:r>
              <a:rPr lang="ko-KR" altLang="en-US" dirty="0" smtClean="0"/>
              <a:t>표시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헤드라인 및 제목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제목은 </a:t>
            </a:r>
            <a:r>
              <a:rPr lang="ko-KR" altLang="en-US" dirty="0" err="1"/>
              <a:t>말줄임</a:t>
            </a:r>
            <a:r>
              <a:rPr lang="ko-KR" altLang="en-US" dirty="0"/>
              <a:t> 없이 전체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답변 내용 확장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답변은 사용자 액션에 의해 닫힘 </a:t>
            </a:r>
            <a:r>
              <a:rPr lang="en-US" altLang="ko-KR" dirty="0"/>
              <a:t>(</a:t>
            </a:r>
            <a:r>
              <a:rPr lang="ko-KR" altLang="en-US" dirty="0"/>
              <a:t>다른 질문 클릭해도 이전 답변 닫히지 않음</a:t>
            </a:r>
            <a:r>
              <a:rPr lang="en-US" altLang="ko-KR" dirty="0" smtClean="0"/>
              <a:t>)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smtClean="0"/>
              <a:t>구분 값 정보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 목록 표시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자주 묻는 질문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" name="그룹 15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7" name="직선 연결선 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" name="타원 18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5256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4507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45075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25" name="그룹 24"/>
          <p:cNvGrpSpPr/>
          <p:nvPr/>
        </p:nvGrpSpPr>
        <p:grpSpPr>
          <a:xfrm>
            <a:off x="3143548" y="2946898"/>
            <a:ext cx="94010" cy="47005"/>
            <a:chOff x="6812560" y="3297172"/>
            <a:chExt cx="94010" cy="47005"/>
          </a:xfrm>
        </p:grpSpPr>
        <p:cxnSp>
          <p:nvCxnSpPr>
            <p:cNvPr id="26" name="직선 연결선 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직선 연결선 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89330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 err="1">
                <a:solidFill>
                  <a:prstClr val="black"/>
                </a:solidFill>
              </a:rPr>
              <a:t>업체등록</a:t>
            </a:r>
            <a:r>
              <a:rPr lang="en-US" altLang="ko-KR" sz="700" dirty="0">
                <a:solidFill>
                  <a:prstClr val="black"/>
                </a:solidFill>
              </a:rPr>
              <a:t>]</a:t>
            </a: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자주묻는</a:t>
            </a:r>
            <a:r>
              <a:rPr lang="ko-KR" altLang="en-US" sz="900" b="1" dirty="0">
                <a:solidFill>
                  <a:prstClr val="black"/>
                </a:solidFill>
              </a:rPr>
              <a:t> 질문 제목 표시는 말 줄임 없이 전부 다 표시합니다</a:t>
            </a:r>
            <a:r>
              <a:rPr lang="en-US" altLang="ko-KR" sz="900" b="1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43641"/>
            <a:ext cx="76863" cy="292489"/>
            <a:chOff x="3750067" y="4683795"/>
            <a:chExt cx="76863" cy="292489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054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836860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공통</a:t>
            </a:r>
            <a:r>
              <a:rPr lang="en-US" altLang="ko-KR" sz="700" dirty="0">
                <a:solidFill>
                  <a:prstClr val="black"/>
                </a:solidFill>
              </a:rPr>
              <a:t>]</a:t>
            </a: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697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393136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976009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1353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9731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4" name="그룹 53"/>
          <p:cNvGrpSpPr/>
          <p:nvPr/>
        </p:nvGrpSpPr>
        <p:grpSpPr>
          <a:xfrm>
            <a:off x="767702" y="1934600"/>
            <a:ext cx="2527420" cy="473693"/>
            <a:chOff x="786326" y="2274581"/>
            <a:chExt cx="2527420" cy="473693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9" name="타원 58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60" name="타원 5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2" name="직선 연결선 6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직선 연결선 6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4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61057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latin typeface="맑은 고딕"/>
                  <a:ea typeface="맑은 고딕" panose="020B0503020000020004" pitchFamily="50" charset="-127"/>
                </a:rPr>
                <a:t>내용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665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2580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전체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2580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업체등록</a:t>
            </a:r>
            <a:endParaRPr lang="ko-KR" altLang="en-US" sz="700" dirty="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전자계약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2924086" y="2541962"/>
            <a:ext cx="422853" cy="187961"/>
            <a:chOff x="3641308" y="2234886"/>
            <a:chExt cx="422853" cy="187961"/>
          </a:xfrm>
        </p:grpSpPr>
        <p:sp>
          <p:nvSpPr>
            <p:cNvPr id="71" name="타원 70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77" name="직선 연결선 7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직선 연결선 7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3" name="타원 72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4" name="그룹 73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31827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기타</a:t>
            </a: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81" name="그룹 80"/>
          <p:cNvGrpSpPr/>
          <p:nvPr/>
        </p:nvGrpSpPr>
        <p:grpSpPr>
          <a:xfrm flipV="1">
            <a:off x="3143548" y="3426991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직선 연결선 8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1631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829117" y="4053395"/>
            <a:ext cx="23695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b="1" dirty="0">
                <a:solidFill>
                  <a:prstClr val="black"/>
                </a:solidFill>
              </a:rPr>
              <a:t>답변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8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829117" y="4250562"/>
            <a:ext cx="2369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dirty="0" err="1">
                <a:solidFill>
                  <a:prstClr val="black"/>
                </a:solidFill>
              </a:rPr>
              <a:t>자주묻는</a:t>
            </a:r>
            <a:r>
              <a:rPr lang="ko-KR" altLang="en-US" sz="900" dirty="0">
                <a:solidFill>
                  <a:prstClr val="black"/>
                </a:solidFill>
              </a:rPr>
              <a:t> 질문 답변은 작성 내용에 맞게 </a:t>
            </a:r>
            <a:r>
              <a:rPr lang="ko-KR" altLang="en-US" sz="900" dirty="0" smtClean="0">
                <a:solidFill>
                  <a:prstClr val="black"/>
                </a:solidFill>
              </a:rPr>
              <a:t>최대 </a:t>
            </a:r>
            <a:r>
              <a:rPr lang="ko-KR" altLang="en-US" sz="900" dirty="0">
                <a:solidFill>
                  <a:prstClr val="black"/>
                </a:solidFill>
              </a:rPr>
              <a:t>높이를 조정하여 표시합니다</a:t>
            </a:r>
            <a:r>
              <a:rPr lang="en-US" altLang="ko-KR" sz="900" dirty="0">
                <a:solidFill>
                  <a:prstClr val="black"/>
                </a:solidFill>
              </a:rPr>
              <a:t>.</a:t>
            </a:r>
            <a:endParaRPr lang="ko-KR" altLang="en-US" sz="900" dirty="0">
              <a:solidFill>
                <a:prstClr val="black"/>
              </a:solidFill>
            </a:endParaRPr>
          </a:p>
        </p:txBody>
      </p:sp>
      <p:grpSp>
        <p:nvGrpSpPr>
          <p:cNvPr id="88" name="그룹 87"/>
          <p:cNvGrpSpPr/>
          <p:nvPr/>
        </p:nvGrpSpPr>
        <p:grpSpPr>
          <a:xfrm>
            <a:off x="3143548" y="5014062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733282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 | </a:t>
            </a:r>
            <a:r>
              <a:rPr lang="ko-KR" altLang="en-US" sz="700" dirty="0">
                <a:solidFill>
                  <a:prstClr val="black"/>
                </a:solidFill>
              </a:rPr>
              <a:t>조회수 </a:t>
            </a:r>
            <a:r>
              <a:rPr lang="en-US" altLang="ko-KR" sz="700" dirty="0">
                <a:solidFill>
                  <a:prstClr val="black"/>
                </a:solidFill>
              </a:rPr>
              <a:t>99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9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5126184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 | </a:t>
            </a:r>
            <a:r>
              <a:rPr lang="ko-KR" altLang="en-US" sz="700" dirty="0">
                <a:solidFill>
                  <a:prstClr val="black"/>
                </a:solidFill>
              </a:rPr>
              <a:t>조회수 </a:t>
            </a:r>
            <a:r>
              <a:rPr lang="en-US" altLang="ko-KR" sz="700" dirty="0">
                <a:solidFill>
                  <a:prstClr val="black"/>
                </a:solidFill>
              </a:rPr>
              <a:t>99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61976" y="2971849"/>
            <a:ext cx="11945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전체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전자입찰일반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업체등록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인증관련문의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입찰참가신청서제출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입찰서제출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홈페이지일반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전자문서유통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지문인식관련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전자계약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기타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윈도우</a:t>
            </a:r>
            <a:r>
              <a:rPr lang="en-US" altLang="ko-KR" sz="800" dirty="0"/>
              <a:t>10 PC</a:t>
            </a:r>
            <a:r>
              <a:rPr lang="ko-KR" altLang="en-US" sz="800" dirty="0"/>
              <a:t>환경설정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납품대가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선금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착</a:t>
            </a:r>
            <a:r>
              <a:rPr lang="en-US" altLang="ko-KR" sz="800" dirty="0"/>
              <a:t>·</a:t>
            </a:r>
            <a:r>
              <a:rPr lang="ko-KR" altLang="en-US" sz="800" dirty="0"/>
              <a:t>중도금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619255" y="26339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9605845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4679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자주묻는질문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44524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931646"/>
            <a:ext cx="2474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자주묻는질문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588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qstnTtl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FAQCD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810025"/>
              </p:ext>
            </p:extLst>
          </p:nvPr>
        </p:nvGraphicFramePr>
        <p:xfrm>
          <a:off x="453000" y="4646513"/>
          <a:ext cx="8995591" cy="989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자주묻는질문목록조회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104451"/>
              </p:ext>
            </p:extLst>
          </p:nvPr>
        </p:nvGraphicFramePr>
        <p:xfrm>
          <a:off x="452999" y="2132856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35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FAQCD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qstnTtl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791297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EF7EE0FB-D8AF-8ECC-1B05-8EC3FFBB1B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2528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5393379-8E81-A2EF-EC6A-2F674260DD5A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0B2CBBE-A1E0-F75D-090F-7145E4B0A812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BFF2EDC-A101-D11D-326F-BDDDEBB0BF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37241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업체 정보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MUI-CM-02-M01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화면 재사용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신청절차및안내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MUI-CM-04-M05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 </a:t>
            </a:r>
            <a:r>
              <a:rPr lang="ko-KR" altLang="en-US" dirty="0"/>
              <a:t>증명서 신청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MUI-CM-04-M06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실적증명서신청 </a:t>
            </a:r>
            <a:r>
              <a:rPr lang="en-US" altLang="ko-KR" dirty="0" smtClean="0"/>
              <a:t>MUI-CM-04-M08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국외조달원등록증신청목록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MUI-CM-04-M09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국외조달원등록증신청 </a:t>
            </a:r>
            <a:r>
              <a:rPr lang="en-US" altLang="ko-KR" dirty="0"/>
              <a:t>MUI-CM-04-P10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민원서류발급신청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민원서류 발급 신청 메뉴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고객센터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민원서류발급신청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민원서류발급신청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24487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신청 절차 및 안내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06731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실적 증명서 신청 목록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4387007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실적 증명서 신청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4772299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조달원 등록증 신청 목록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48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903581" y="5157591"/>
            <a:ext cx="2255663" cy="306146"/>
            <a:chOff x="903581" y="2074658"/>
            <a:chExt cx="2255663" cy="306146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조달원 등록증 신청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62" name="그룹 61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5" name="직사각형 6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4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9" name="그룹 7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진입점을</a:t>
              </a:r>
              <a:r>
                <a:rPr lang="ko-KR" altLang="en-US" sz="700" dirty="0" smtClean="0"/>
                <a:t> 위한 화면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8212887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콘텐츠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콘텐츠 정보는 추후 변경될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민원서류 신청절차 및 안내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신청절차 및 안내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신청절차 및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MUI-CM-04-M05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983" y="2188499"/>
            <a:ext cx="2468859" cy="3508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국방전자조달 로그인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고객센터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민원서류발급신청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실적증명서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실적증명서 신청에서 납품 </a:t>
            </a:r>
            <a:r>
              <a:rPr lang="ko-KR" altLang="en-US" sz="800" dirty="0" err="1">
                <a:latin typeface="Consolas" panose="020B0609020204030204" pitchFamily="49" charset="0"/>
              </a:rPr>
              <a:t>계약정보</a:t>
            </a:r>
            <a:r>
              <a:rPr lang="ko-KR" altLang="en-US" sz="800" dirty="0">
                <a:latin typeface="Consolas" panose="020B0609020204030204" pitchFamily="49" charset="0"/>
              </a:rPr>
              <a:t> 목록에서 원하는 계약 선택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신청정보</a:t>
            </a:r>
            <a:r>
              <a:rPr lang="ko-KR" altLang="en-US" sz="800" dirty="0">
                <a:latin typeface="Consolas" panose="020B0609020204030204" pitchFamily="49" charset="0"/>
              </a:rPr>
              <a:t> 입력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미리보기</a:t>
            </a:r>
            <a:r>
              <a:rPr lang="ko-KR" altLang="en-US" sz="800" dirty="0">
                <a:latin typeface="Consolas" panose="020B0609020204030204" pitchFamily="49" charset="0"/>
              </a:rPr>
              <a:t> 및 신청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실적증명</a:t>
            </a:r>
            <a:r>
              <a:rPr lang="ko-KR" altLang="en-US" sz="800" dirty="0">
                <a:latin typeface="Consolas" panose="020B0609020204030204" pitchFamily="49" charset="0"/>
              </a:rPr>
              <a:t> 확인 및 신청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ko-KR" altLang="en-US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증명원의</a:t>
            </a:r>
            <a:r>
              <a:rPr lang="ko-KR" altLang="en-US" sz="800" dirty="0">
                <a:latin typeface="Consolas" panose="020B0609020204030204" pitchFamily="49" charset="0"/>
              </a:rPr>
              <a:t> 사용목적에 따라서 </a:t>
            </a: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계약건에</a:t>
            </a:r>
            <a:r>
              <a:rPr lang="ko-KR" altLang="en-US" sz="800" dirty="0">
                <a:latin typeface="Consolas" panose="020B0609020204030204" pitchFamily="49" charset="0"/>
              </a:rPr>
              <a:t> 대한 실적증명서의 경우 납품</a:t>
            </a:r>
            <a:r>
              <a:rPr lang="en-US" altLang="ko-KR" sz="800" dirty="0"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latin typeface="Consolas" panose="020B0609020204030204" pitchFamily="49" charset="0"/>
              </a:rPr>
              <a:t>정산</a:t>
            </a:r>
            <a:r>
              <a:rPr lang="en-US" altLang="ko-KR" sz="800" dirty="0"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latin typeface="Consolas" panose="020B0609020204030204" pitchFamily="49" charset="0"/>
              </a:rPr>
              <a:t>선착중도금을 넣을 수 있으며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국방부 및 각군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계약건에</a:t>
            </a:r>
            <a:r>
              <a:rPr lang="ko-KR" altLang="en-US" sz="800" dirty="0">
                <a:latin typeface="Consolas" panose="020B0609020204030204" pitchFamily="49" charset="0"/>
              </a:rPr>
              <a:t> 대한 실적증명서의 경우 </a:t>
            </a:r>
            <a:r>
              <a:rPr lang="ko-KR" altLang="en-US" sz="800" dirty="0" err="1">
                <a:latin typeface="Consolas" panose="020B0609020204030204" pitchFamily="49" charset="0"/>
              </a:rPr>
              <a:t>실적비율</a:t>
            </a:r>
            <a:r>
              <a:rPr lang="ko-KR" altLang="en-US" sz="800" dirty="0">
                <a:latin typeface="Consolas" panose="020B0609020204030204" pitchFamily="49" charset="0"/>
              </a:rPr>
              <a:t> 및 </a:t>
            </a:r>
            <a:r>
              <a:rPr lang="ko-KR" altLang="en-US" sz="800" dirty="0" err="1">
                <a:latin typeface="Consolas" panose="020B0609020204030204" pitchFamily="49" charset="0"/>
              </a:rPr>
              <a:t>실적금액을</a:t>
            </a:r>
            <a:r>
              <a:rPr lang="ko-KR" altLang="en-US" sz="800" dirty="0">
                <a:latin typeface="Consolas" panose="020B0609020204030204" pitchFamily="49" charset="0"/>
              </a:rPr>
              <a:t> 넣을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실적증명</a:t>
            </a:r>
            <a:r>
              <a:rPr lang="ko-KR" altLang="en-US" sz="800" dirty="0">
                <a:latin typeface="Consolas" panose="020B0609020204030204" pitchFamily="49" charset="0"/>
              </a:rPr>
              <a:t> 확인 후 반드시 신청을 하셔야 </a:t>
            </a: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또는 국방부 및 각군에서 처리됩니다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접수번호를 클릭하여 상세정보를 확인합니다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실적증명서는 상세정보 하단의 </a:t>
            </a:r>
            <a:r>
              <a:rPr lang="ko-KR" altLang="en-US" sz="800" dirty="0" err="1">
                <a:latin typeface="Consolas" panose="020B0609020204030204" pitchFamily="49" charset="0"/>
              </a:rPr>
              <a:t>발급버튼을</a:t>
            </a:r>
            <a:r>
              <a:rPr lang="ko-KR" altLang="en-US" sz="800" dirty="0">
                <a:latin typeface="Consolas" panose="020B0609020204030204" pitchFamily="49" charset="0"/>
              </a:rPr>
              <a:t> 클릭하여   가능합니다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34020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934740"/>
            <a:ext cx="2154318" cy="184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latin typeface="Consolas" panose="020B0609020204030204" pitchFamily="49" charset="0"/>
              </a:rPr>
              <a:t>신청절차 및 안내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실적증명서 신청 절차 및 안내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" name="그룹 19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1" name="직선 연결선 2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연결선 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타원 2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2669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4777" y="3500559"/>
            <a:ext cx="2154318" cy="184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latin typeface="Consolas" panose="020B0609020204030204" pitchFamily="49" charset="0"/>
              </a:rPr>
              <a:t>담당부서 및 연락처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7318" y="3783575"/>
            <a:ext cx="2468859" cy="14567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계약 </a:t>
            </a:r>
            <a:r>
              <a:rPr lang="en-US" altLang="ko-KR" sz="800" dirty="0">
                <a:latin typeface="Consolas" panose="020B0609020204030204" pitchFamily="49" charset="0"/>
              </a:rPr>
              <a:t>: 1577-1118(①</a:t>
            </a:r>
            <a:r>
              <a:rPr lang="ko-KR" altLang="en-US" sz="800" dirty="0">
                <a:latin typeface="Consolas" panose="020B0609020204030204" pitchFamily="49" charset="0"/>
              </a:rPr>
              <a:t>번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계약 </a:t>
            </a:r>
            <a:r>
              <a:rPr lang="ko-KR" altLang="en-US" sz="800" dirty="0" err="1">
                <a:latin typeface="Consolas" panose="020B0609020204030204" pitchFamily="49" charset="0"/>
              </a:rPr>
              <a:t>발급담당자</a:t>
            </a:r>
            <a:endParaRPr lang="ko-KR" altLang="en-US" sz="8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   </a:t>
            </a:r>
            <a:r>
              <a:rPr lang="en-US" altLang="ko-KR" sz="800" dirty="0">
                <a:latin typeface="Consolas" panose="020B0609020204030204" pitchFamily="49" charset="0"/>
              </a:rPr>
              <a:t>- </a:t>
            </a:r>
            <a:r>
              <a:rPr lang="ko-KR" altLang="en-US" sz="800" dirty="0" err="1">
                <a:latin typeface="Consolas" panose="020B0609020204030204" pitchFamily="49" charset="0"/>
              </a:rPr>
              <a:t>기반전력사업총괄팀</a:t>
            </a:r>
            <a:r>
              <a:rPr lang="en-US" altLang="ko-KR" sz="800" dirty="0">
                <a:latin typeface="Consolas" panose="020B0609020204030204" pitchFamily="49" charset="0"/>
              </a:rPr>
              <a:t/>
            </a:r>
            <a:br>
              <a:rPr lang="en-US" altLang="ko-KR" sz="800" dirty="0">
                <a:latin typeface="Consolas" panose="020B0609020204030204" pitchFamily="49" charset="0"/>
              </a:rPr>
            </a:br>
            <a:r>
              <a:rPr lang="en-US" altLang="ko-KR" sz="800" dirty="0">
                <a:latin typeface="Consolas" panose="020B0609020204030204" pitchFamily="49" charset="0"/>
              </a:rPr>
              <a:t>     </a:t>
            </a:r>
            <a:r>
              <a:rPr lang="ko-KR" altLang="en-US" sz="800" dirty="0" err="1">
                <a:latin typeface="Consolas" panose="020B0609020204030204" pitchFamily="49" charset="0"/>
              </a:rPr>
              <a:t>윤준혁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주무관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(☎02-2079-4793)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Consolas" panose="020B0609020204030204" pitchFamily="49" charset="0"/>
              </a:rPr>
              <a:t>   - </a:t>
            </a:r>
            <a:r>
              <a:rPr lang="ko-KR" altLang="en-US" sz="800" dirty="0" err="1">
                <a:latin typeface="Consolas" panose="020B0609020204030204" pitchFamily="49" charset="0"/>
              </a:rPr>
              <a:t>미래전력사업총괄팀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Consolas" panose="020B0609020204030204" pitchFamily="49" charset="0"/>
              </a:rPr>
              <a:t>     </a:t>
            </a:r>
            <a:r>
              <a:rPr lang="ko-KR" altLang="en-US" sz="800" dirty="0">
                <a:latin typeface="Consolas" panose="020B0609020204030204" pitchFamily="49" charset="0"/>
              </a:rPr>
              <a:t>서정화 </a:t>
            </a:r>
            <a:r>
              <a:rPr lang="ko-KR" altLang="en-US" sz="800" dirty="0" err="1">
                <a:latin typeface="Consolas" panose="020B0609020204030204" pitchFamily="49" charset="0"/>
              </a:rPr>
              <a:t>주무관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(☎02-2079-4021)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국방부 및 각 군 계약 </a:t>
            </a:r>
            <a:r>
              <a:rPr lang="en-US" altLang="ko-KR" sz="800" dirty="0"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latin typeface="Consolas" panose="020B0609020204030204" pitchFamily="49" charset="0"/>
              </a:rPr>
              <a:t>국방부 및 각 군 계약담당부서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38325" y="1616997"/>
            <a:ext cx="2468859" cy="16619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국방부 및 각군에서 발급된 실적증명서는 </a:t>
            </a:r>
            <a:r>
              <a:rPr lang="ko-KR" altLang="en-US" sz="800" dirty="0" err="1"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latin typeface="Consolas" panose="020B0609020204030204" pitchFamily="49" charset="0"/>
              </a:rPr>
              <a:t> 정보가 포함되어 있으며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 err="1"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latin typeface="Consolas" panose="020B0609020204030204" pitchFamily="49" charset="0"/>
              </a:rPr>
              <a:t> 정보를 확인하려면 해당 프로그램을 설치하셔야 합니다</a:t>
            </a:r>
            <a:r>
              <a:rPr lang="en-US" altLang="ko-KR" sz="800" dirty="0" smtClean="0">
                <a:latin typeface="Consolas" panose="020B0609020204030204" pitchFamily="49" charset="0"/>
              </a:rPr>
              <a:t>.</a:t>
            </a:r>
            <a:r>
              <a:rPr lang="en-US" altLang="ko-KR" sz="800" dirty="0">
                <a:latin typeface="Consolas" panose="020B0609020204030204" pitchFamily="49" charset="0"/>
              </a:rPr>
              <a:t/>
            </a:r>
            <a:br>
              <a:rPr lang="en-US" altLang="ko-KR" sz="800" dirty="0">
                <a:latin typeface="Consolas" panose="020B0609020204030204" pitchFamily="49" charset="0"/>
              </a:rPr>
            </a:br>
            <a:r>
              <a:rPr lang="en-US" altLang="ko-KR" sz="8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PDF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파일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미검증시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조치 방법</a:t>
            </a:r>
            <a:r>
              <a:rPr lang="en-US" altLang="ko-KR" sz="8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endParaRPr lang="en-US" altLang="ko-KR" sz="8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물품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내자</a:t>
            </a:r>
            <a:r>
              <a:rPr lang="en-US" altLang="ko-KR" sz="800" dirty="0">
                <a:latin typeface="Consolas" panose="020B0609020204030204" pitchFamily="49" charset="0"/>
              </a:rPr>
              <a:t>) </a:t>
            </a:r>
            <a:r>
              <a:rPr lang="ko-KR" altLang="en-US" sz="800" dirty="0">
                <a:latin typeface="Consolas" panose="020B0609020204030204" pitchFamily="49" charset="0"/>
              </a:rPr>
              <a:t>납품실적증명서 발급은 방위사업청과 계약한 건에 한해 방위사업청에서 처리 가능하며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타 기관 및 부대와의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계약건은</a:t>
            </a:r>
            <a:r>
              <a:rPr lang="ko-KR" altLang="en-US" sz="800" dirty="0">
                <a:latin typeface="Consolas" panose="020B0609020204030204" pitchFamily="49" charset="0"/>
              </a:rPr>
              <a:t> 국방부 및 각군의 계약담당부서로 요청하셔야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1" name="그룹 30"/>
          <p:cNvGrpSpPr/>
          <p:nvPr/>
        </p:nvGrpSpPr>
        <p:grpSpPr>
          <a:xfrm>
            <a:off x="8223250" y="0"/>
            <a:ext cx="3365500" cy="634511"/>
            <a:chOff x="8223250" y="569392"/>
            <a:chExt cx="3365500" cy="634511"/>
          </a:xfrm>
        </p:grpSpPr>
        <p:sp>
          <p:nvSpPr>
            <p:cNvPr id="32" name="직사각형 3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smtClean="0"/>
                <a:t>2026-07-29 </a:t>
              </a:r>
              <a:r>
                <a:rPr lang="ko-KR" altLang="en-US" dirty="0" smtClean="0"/>
                <a:t>주의사항</a:t>
              </a:r>
              <a:endParaRPr lang="ko-KR" altLang="en-US" dirty="0"/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사용자에게 전달될 안내 메시지 </a:t>
              </a:r>
              <a:r>
                <a:rPr lang="en-US" altLang="ko-KR" sz="700" dirty="0" smtClean="0"/>
                <a:t>PC</a:t>
              </a:r>
              <a:r>
                <a:rPr lang="ko-KR" altLang="en-US" sz="700" dirty="0" smtClean="0"/>
                <a:t>버전과 재정리가 필요함</a:t>
              </a:r>
              <a:r>
                <a:rPr lang="en-US" altLang="ko-KR" sz="700" dirty="0" smtClean="0"/>
                <a:t>.</a:t>
              </a:r>
            </a:p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진본성</a:t>
              </a:r>
              <a:r>
                <a:rPr lang="ko-KR" altLang="en-US" sz="700" dirty="0" smtClean="0"/>
                <a:t> 프로그램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솔루션 등이 별도로 사용될 수 있음</a:t>
              </a:r>
              <a:r>
                <a:rPr lang="en-US" altLang="ko-KR" sz="700" dirty="0" smtClean="0"/>
                <a:t>. (</a:t>
              </a:r>
              <a:r>
                <a:rPr lang="ko-KR" altLang="en-US" sz="700" dirty="0" err="1" smtClean="0"/>
                <a:t>미확정</a:t>
              </a:r>
              <a:r>
                <a:rPr lang="en-US" altLang="ko-KR" sz="700" dirty="0" smtClean="0"/>
                <a:t>)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9166045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err="1"/>
              <a:t>계약번호</a:t>
            </a:r>
            <a:r>
              <a:rPr lang="en-US" altLang="ko-KR" dirty="0"/>
              <a:t>, </a:t>
            </a:r>
            <a:r>
              <a:rPr lang="ko-KR" altLang="en-US" dirty="0" err="1"/>
              <a:t>검색필터</a:t>
            </a:r>
            <a:r>
              <a:rPr lang="ko-KR" altLang="en-US" dirty="0"/>
              <a:t> 영역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접수 목록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발급</a:t>
            </a:r>
            <a:r>
              <a:rPr lang="en-US" altLang="ko-KR" dirty="0"/>
              <a:t>, </a:t>
            </a:r>
            <a:r>
              <a:rPr lang="ko-KR" altLang="en-US" dirty="0"/>
              <a:t>접수 등 진행상태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목록에서 신청 접수할 수 있도록 </a:t>
            </a:r>
            <a:r>
              <a:rPr lang="en-US" altLang="ko-KR" dirty="0"/>
              <a:t>(+) </a:t>
            </a:r>
            <a:r>
              <a:rPr lang="ko-KR" altLang="en-US" dirty="0" err="1"/>
              <a:t>플로팅</a:t>
            </a:r>
            <a:r>
              <a:rPr lang="ko-KR" altLang="en-US" dirty="0"/>
              <a:t> 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바텀시트</a:t>
            </a:r>
            <a:r>
              <a:rPr lang="ko-KR" altLang="en-US" dirty="0"/>
              <a:t> 노출 버튼 </a:t>
            </a:r>
            <a:r>
              <a:rPr lang="en-US" altLang="ko-KR" dirty="0"/>
              <a:t>[</a:t>
            </a:r>
            <a:r>
              <a:rPr lang="ko-KR" altLang="en-US" dirty="0"/>
              <a:t>실적증명서 신청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종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실적증명서신청목록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MUI-CM-04-M06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실적증명서 신청 목록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781461" y="3301466"/>
            <a:ext cx="2473257" cy="1098561"/>
            <a:chOff x="781461" y="2610063"/>
            <a:chExt cx="2473257" cy="1098561"/>
          </a:xfrm>
        </p:grpSpPr>
        <p:sp>
          <p:nvSpPr>
            <p:cNvPr id="2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2025NC00179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2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61962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2026-03-05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27" name="모서리가 둥근 직사각형 26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16" name="모서리가 둥근 직사각형 115"/>
            <p:cNvSpPr/>
            <p:nvPr/>
          </p:nvSpPr>
          <p:spPr>
            <a:xfrm>
              <a:off x="1526393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신청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22320"/>
            <a:ext cx="76863" cy="292489"/>
            <a:chOff x="3750067" y="4683795"/>
            <a:chExt cx="76863" cy="29248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778515" y="4600795"/>
            <a:ext cx="2476203" cy="1083172"/>
            <a:chOff x="778515" y="2610063"/>
            <a:chExt cx="2476203" cy="1083172"/>
          </a:xfrm>
        </p:grpSpPr>
        <p:sp>
          <p:nvSpPr>
            <p:cNvPr id="3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3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3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239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2026-03-20</a:t>
              </a:r>
            </a:p>
          </p:txBody>
        </p:sp>
        <p:sp>
          <p:nvSpPr>
            <p:cNvPr id="38" name="모서리가 둥근 직사각형 37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39" name="모서리가 둥근 직사각형 38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18" name="모서리가 둥근 직사각형 117"/>
            <p:cNvSpPr/>
            <p:nvPr/>
          </p:nvSpPr>
          <p:spPr>
            <a:xfrm>
              <a:off x="1521812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8227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3" name="타원 42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51" name="직선 연결선 5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그룹 52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54" name="모서리가 둥근 직사각형 5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64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계약번호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8" name="타원 5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5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60" name="타원 5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2" name="직선 연결선 6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직선 연결선 6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48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7" name="타원 11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1" name="그룹 120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122" name="직선 연결선 121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직선 연결선 123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직선 연결선 124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6" name="타원 125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7" name="그룹 126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28" name="직선 연결선 12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직선 연결선 12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1" name="직사각형 13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2026-07-29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수정</a:t>
              </a:r>
              <a:endParaRPr lang="ko-KR" altLang="en-US" dirty="0"/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필터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에 따라 분리</a:t>
              </a:r>
              <a:endParaRPr lang="ko-KR" altLang="en-US" sz="700" dirty="0"/>
            </a:p>
          </p:txBody>
        </p:sp>
      </p:grp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85828" y="43432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13787799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 smtClean="0"/>
              <a:t>처리상태</a:t>
            </a:r>
            <a:r>
              <a:rPr lang="ko-KR" altLang="en-US" dirty="0" smtClean="0"/>
              <a:t> 값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>
                <a:latin typeface="+mn-ea"/>
              </a:rPr>
              <a:t>전체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신청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접수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처리중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발급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반려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보류</a:t>
            </a:r>
            <a:endParaRPr lang="ko-KR" altLang="en-US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실적증명서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MUI-CM-04-P33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8089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60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3140585" y="1650089"/>
            <a:ext cx="94010" cy="94010"/>
            <a:chOff x="6812560" y="3297172"/>
            <a:chExt cx="94010" cy="94010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3" name="타원 72"/>
          <p:cNvSpPr/>
          <p:nvPr/>
        </p:nvSpPr>
        <p:spPr>
          <a:xfrm>
            <a:off x="277530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072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966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76" name="그룹 75"/>
          <p:cNvGrpSpPr/>
          <p:nvPr/>
        </p:nvGrpSpPr>
        <p:grpSpPr>
          <a:xfrm>
            <a:off x="677607" y="1974264"/>
            <a:ext cx="2712027" cy="797589"/>
            <a:chOff x="675399" y="3490553"/>
            <a:chExt cx="2712027" cy="797589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79" name="그룹 7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9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81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82" name="그룹 81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87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88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89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8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4" name="그룹 93"/>
          <p:cNvGrpSpPr/>
          <p:nvPr/>
        </p:nvGrpSpPr>
        <p:grpSpPr>
          <a:xfrm>
            <a:off x="680894" y="5614711"/>
            <a:ext cx="2712027" cy="617588"/>
            <a:chOff x="675399" y="5614711"/>
            <a:chExt cx="2712027" cy="617588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680894" y="3581561"/>
            <a:ext cx="2712027" cy="505089"/>
            <a:chOff x="3795734" y="4353857"/>
            <a:chExt cx="2712027" cy="50508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100" name="그룹 99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107" name="직선 연결선 10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직선 연결선 10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1" name="모서리가 둥근 직사각형 100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3" name="그룹 102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105" name="직선 연결선 10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직선 연결선 10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9" name="그룹 108"/>
          <p:cNvGrpSpPr/>
          <p:nvPr/>
        </p:nvGrpSpPr>
        <p:grpSpPr>
          <a:xfrm>
            <a:off x="788782" y="2893083"/>
            <a:ext cx="2516607" cy="467691"/>
            <a:chOff x="778515" y="4388257"/>
            <a:chExt cx="2516607" cy="467691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11" name="그룹 11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14" name="직선 연결선 1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직선 연결선 1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2" name="모서리가 둥근 직사각형 111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계약번호를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1" name="직사각형 13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2026-07-29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</a:t>
              </a:r>
              <a:r>
                <a:rPr lang="en-US" altLang="ko-KR" sz="700" dirty="0" smtClean="0"/>
                <a:t>ID </a:t>
              </a:r>
              <a:r>
                <a:rPr lang="ko-KR" altLang="en-US" sz="700" dirty="0" smtClean="0"/>
                <a:t>분리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진행상태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err="1" smtClean="0">
                  <a:sym typeface="Wingdings" panose="05000000000000000000" pitchFamily="2" charset="2"/>
                </a:rPr>
                <a:t>처리상태로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 변경</a:t>
              </a:r>
              <a:endParaRPr lang="ko-KR" altLang="en-US" sz="700" dirty="0"/>
            </a:p>
          </p:txBody>
        </p:sp>
      </p:grp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50171" y="3759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62458495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8523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781194"/>
              </p:ext>
            </p:extLst>
          </p:nvPr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prcsStts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8117" y="2157281"/>
            <a:ext cx="28603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079969"/>
              </p:ext>
            </p:extLst>
          </p:nvPr>
        </p:nvGraphicFramePr>
        <p:xfrm>
          <a:off x="452999" y="2441035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prfmncRcptNo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ctrtNo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실적신청금액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orderInst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291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59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66482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8DFB58E3-7D79-F186-0A97-7AE818C4DC2B}"/>
              </a:ext>
            </a:extLst>
          </p:cNvPr>
          <p:cNvSpPr txBox="1"/>
          <p:nvPr/>
        </p:nvSpPr>
        <p:spPr>
          <a:xfrm>
            <a:off x="460676" y="4869440"/>
            <a:ext cx="3985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업체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C0F32E6-E72F-D829-812E-A5DD7D1444C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15319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rgstrtIdntyYn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정상등록업체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 = 'MBTC'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CE08BAD-60BD-D79C-6308-E11F16EC77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69182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05332946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248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29918" y="79263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4454732-E597-33F1-5B5D-6BAFE23E8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604893"/>
              </p:ext>
            </p:extLst>
          </p:nvPr>
        </p:nvGraphicFramePr>
        <p:xfrm>
          <a:off x="429918" y="1022848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scwin.btn_prfmncPrdocAplyList_onclick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실적증명서 신청 목록을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scwin.grd_prfmncPrdocAplyList_oncellclick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확인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상세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61413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D5411A9-86B9-51C9-3795-C78FEC2B5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493" y="85207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215272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발급 상태에서만 </a:t>
            </a:r>
            <a:r>
              <a:rPr lang="ko-KR" altLang="en-US" dirty="0" smtClean="0"/>
              <a:t>하단 실적증명서 발급 버튼 </a:t>
            </a:r>
            <a:r>
              <a:rPr lang="ko-KR" altLang="en-US" dirty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저장 등 타 상태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발급 문서는 </a:t>
            </a:r>
            <a:r>
              <a:rPr lang="en-US" altLang="ko-KR" dirty="0"/>
              <a:t>PDF </a:t>
            </a:r>
            <a:r>
              <a:rPr lang="ko-KR" altLang="en-US" dirty="0"/>
              <a:t>파일로 </a:t>
            </a:r>
            <a:r>
              <a:rPr lang="ko-KR" altLang="en-US" dirty="0" err="1"/>
              <a:t>진본성</a:t>
            </a:r>
            <a:r>
              <a:rPr lang="ko-KR" altLang="en-US" dirty="0"/>
              <a:t> 검사 대상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문서 세부 </a:t>
            </a:r>
            <a:r>
              <a:rPr lang="ko-KR" altLang="en-US" dirty="0" smtClean="0"/>
              <a:t>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더하기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저장 상태 </a:t>
            </a:r>
            <a:r>
              <a:rPr lang="ko-KR" altLang="en-US" dirty="0"/>
              <a:t>일 </a:t>
            </a:r>
            <a:r>
              <a:rPr lang="ko-KR" altLang="en-US" dirty="0" smtClean="0"/>
              <a:t>때</a:t>
            </a:r>
            <a:r>
              <a:rPr lang="en-US" altLang="ko-KR" dirty="0"/>
              <a:t> </a:t>
            </a:r>
            <a:r>
              <a:rPr lang="ko-KR" altLang="en-US" dirty="0" smtClean="0"/>
              <a:t>신청</a:t>
            </a:r>
            <a:r>
              <a:rPr lang="en-US" altLang="ko-KR" dirty="0" smtClean="0"/>
              <a:t>,</a:t>
            </a:r>
            <a:r>
              <a:rPr lang="ko-KR" altLang="en-US" dirty="0" smtClean="0"/>
              <a:t> 수정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삭제 </a:t>
            </a:r>
            <a:r>
              <a:rPr lang="ko-KR" altLang="en-US" dirty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접수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처리중</a:t>
            </a:r>
            <a:r>
              <a:rPr lang="ko-KR" altLang="en-US" dirty="0" smtClean="0"/>
              <a:t> 일 때</a:t>
            </a:r>
            <a:r>
              <a:rPr lang="en-US" altLang="ko-KR" dirty="0" smtClean="0"/>
              <a:t> </a:t>
            </a:r>
            <a:r>
              <a:rPr lang="ko-KR" altLang="en-US" dirty="0" smtClean="0"/>
              <a:t>버튼 없음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발급 상태 </a:t>
            </a:r>
            <a:r>
              <a:rPr lang="ko-KR" altLang="en-US" dirty="0"/>
              <a:t>일 </a:t>
            </a:r>
            <a:r>
              <a:rPr lang="ko-KR" altLang="en-US" dirty="0" smtClean="0"/>
              <a:t>때</a:t>
            </a:r>
            <a:r>
              <a:rPr lang="en-US" altLang="ko-KR" dirty="0"/>
              <a:t> </a:t>
            </a:r>
            <a:r>
              <a:rPr lang="ko-KR" altLang="en-US" dirty="0"/>
              <a:t>발급</a:t>
            </a:r>
            <a:r>
              <a:rPr lang="en-US" altLang="ko-KR" dirty="0"/>
              <a:t>, </a:t>
            </a:r>
            <a:r>
              <a:rPr lang="ko-KR" altLang="en-US" dirty="0" smtClean="0"/>
              <a:t>제출 버튼 표시</a:t>
            </a:r>
            <a:r>
              <a:rPr lang="en-US" altLang="ko-KR" dirty="0" smtClean="0"/>
              <a:t>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제출 </a:t>
            </a:r>
            <a:r>
              <a:rPr lang="ko-KR" altLang="en-US" dirty="0" smtClean="0"/>
              <a:t>클릭 시 실적증명서 </a:t>
            </a:r>
            <a:r>
              <a:rPr lang="ko-KR" altLang="en-US" dirty="0"/>
              <a:t>제출 </a:t>
            </a:r>
            <a:r>
              <a:rPr lang="en-US" altLang="ko-KR" dirty="0"/>
              <a:t>(MUI-CM-04-P20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제출은 타 기관 온라인 </a:t>
            </a:r>
            <a:r>
              <a:rPr lang="ko-KR" altLang="en-US" dirty="0" err="1" smtClean="0"/>
              <a:t>제출임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발급은 </a:t>
            </a:r>
            <a:r>
              <a:rPr lang="en-US" altLang="ko-KR" dirty="0" smtClean="0"/>
              <a:t>OZ </a:t>
            </a:r>
            <a:r>
              <a:rPr lang="ko-KR" altLang="en-US" dirty="0" smtClean="0"/>
              <a:t>리포트</a:t>
            </a:r>
            <a:r>
              <a:rPr lang="en-US" altLang="ko-KR" dirty="0" smtClean="0"/>
              <a:t>, PDF </a:t>
            </a:r>
            <a:r>
              <a:rPr lang="ko-KR" altLang="en-US" dirty="0" smtClean="0"/>
              <a:t>뷰어 서류 출력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>
                <a:latin typeface="+mn-ea"/>
              </a:rPr>
              <a:t>발급기관이 </a:t>
            </a:r>
            <a:r>
              <a:rPr lang="ko-KR" altLang="en-US" dirty="0" err="1">
                <a:latin typeface="+mn-ea"/>
              </a:rPr>
              <a:t>부대일때는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 smtClean="0">
                <a:latin typeface="+mn-ea"/>
              </a:rPr>
              <a:t>pdfViewer</a:t>
            </a:r>
            <a:r>
              <a:rPr lang="ko-KR" altLang="en-US" dirty="0" smtClean="0">
                <a:latin typeface="+mn-ea"/>
              </a:rPr>
              <a:t>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반려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보류 상태일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삭제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삭제</a:t>
            </a:r>
            <a:r>
              <a:rPr lang="en-US" altLang="ko-KR" dirty="0" smtClean="0"/>
              <a:t> </a:t>
            </a:r>
            <a:r>
              <a:rPr lang="ko-KR" altLang="en-US" dirty="0"/>
              <a:t>클릭 시 확인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smtClean="0"/>
              <a:t>정말 </a:t>
            </a:r>
            <a:r>
              <a:rPr lang="ko-KR" altLang="en-US" dirty="0"/>
              <a:t>삭제하시겠습니까</a:t>
            </a:r>
            <a:r>
              <a:rPr lang="en-US" altLang="ko-KR" dirty="0"/>
              <a:t>? (N/Y)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r>
              <a:rPr lang="en-US" altLang="ko-KR" dirty="0" smtClean="0">
                <a:latin typeface="+mn-ea"/>
              </a:rPr>
              <a:t>(</a:t>
            </a:r>
            <a:r>
              <a:rPr lang="ko-KR" altLang="en-US" dirty="0" smtClean="0">
                <a:latin typeface="+mn-ea"/>
              </a:rPr>
              <a:t>상세</a:t>
            </a:r>
            <a:r>
              <a:rPr lang="en-US" altLang="ko-KR" dirty="0" smtClean="0">
                <a:latin typeface="+mn-ea"/>
              </a:rPr>
              <a:t>)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공통 영역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MUI-CM-04-M07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실적증명서 </a:t>
            </a:r>
            <a:r>
              <a:rPr lang="ko-KR" altLang="en-US" sz="800" dirty="0" smtClean="0">
                <a:latin typeface="+mn-ea"/>
              </a:rPr>
              <a:t>확인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675399" y="3154885"/>
            <a:ext cx="2712027" cy="354413"/>
            <a:chOff x="720490" y="3853802"/>
            <a:chExt cx="2621844" cy="354413"/>
          </a:xfrm>
        </p:grpSpPr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85380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082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329269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329269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0929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9" name="타원 68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0" name="그룹 69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71" name="직선 연결선 70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직선 연결선 72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250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0842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0842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50157" y="182503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66" name="평행 사변형 165"/>
          <p:cNvSpPr/>
          <p:nvPr/>
        </p:nvSpPr>
        <p:spPr>
          <a:xfrm rot="16200000" flipH="1">
            <a:off x="2586144" y="2295212"/>
            <a:ext cx="2010878" cy="408308"/>
          </a:xfrm>
          <a:prstGeom prst="parallelogram">
            <a:avLst>
              <a:gd name="adj" fmla="val 39703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타원 1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698190" y="44051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69" name="타원 168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0" name="그룹 169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71" name="직선 연결선 170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직선 연결선 171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그룹 28"/>
          <p:cNvGrpSpPr/>
          <p:nvPr/>
        </p:nvGrpSpPr>
        <p:grpSpPr>
          <a:xfrm>
            <a:off x="675400" y="3615629"/>
            <a:ext cx="2712026" cy="2504309"/>
            <a:chOff x="675400" y="3615629"/>
            <a:chExt cx="2712026" cy="2504309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175" name="그룹 174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6" name="직선 연결선 17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9" name="직선 연결선 17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모서리가 둥근 직사각형 17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1" name="그룹 18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grpSp>
        <p:nvGrpSpPr>
          <p:cNvPr id="159" name="그룹 158"/>
          <p:cNvGrpSpPr/>
          <p:nvPr/>
        </p:nvGrpSpPr>
        <p:grpSpPr>
          <a:xfrm>
            <a:off x="781461" y="1974079"/>
            <a:ext cx="2473257" cy="1098561"/>
            <a:chOff x="781461" y="2610063"/>
            <a:chExt cx="2473257" cy="1098561"/>
          </a:xfrm>
        </p:grpSpPr>
        <p:sp>
          <p:nvSpPr>
            <p:cNvPr id="1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2025NC00179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161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62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61962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2026-03-05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</p:txBody>
        </p:sp>
        <p:sp>
          <p:nvSpPr>
            <p:cNvPr id="163" name="모서리가 둥근 직사각형 162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88" name="모서리가 둥근 직사각형 18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89" name="모서리가 둥근 직사각형 188"/>
            <p:cNvSpPr/>
            <p:nvPr/>
          </p:nvSpPr>
          <p:spPr>
            <a:xfrm>
              <a:off x="1526393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grpSp>
        <p:nvGrpSpPr>
          <p:cNvPr id="193" name="그룹 192"/>
          <p:cNvGrpSpPr/>
          <p:nvPr/>
        </p:nvGrpSpPr>
        <p:grpSpPr>
          <a:xfrm>
            <a:off x="3795735" y="1915960"/>
            <a:ext cx="2712026" cy="2504309"/>
            <a:chOff x="675400" y="3615629"/>
            <a:chExt cx="2712026" cy="2504309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220" name="직선 연결선 2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직선 연결선 2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05" name="그룹 204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207" name="그룹 206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18" name="직선 연결선 217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직선 연결선 218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8" name="직선 연결선 20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9" name="직선 연결선 2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0" name="모서리가 둥근 직사각형 20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1" name="그룹 21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85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337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804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107" name="그룹 106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252742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 smtClea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실적증명서 발급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4988270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문서 </a:t>
            </a:r>
            <a:r>
              <a:rPr lang="ko-KR" altLang="en-US" dirty="0"/>
              <a:t>세부 </a:t>
            </a:r>
            <a:r>
              <a:rPr lang="ko-KR" altLang="en-US" dirty="0" smtClean="0"/>
              <a:t>탭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기관</a:t>
            </a:r>
            <a:r>
              <a:rPr lang="en-US" altLang="ko-KR" dirty="0"/>
              <a:t>, </a:t>
            </a:r>
            <a:r>
              <a:rPr lang="ko-KR" altLang="en-US" dirty="0"/>
              <a:t>계약에 따라 </a:t>
            </a:r>
            <a:r>
              <a:rPr lang="ko-KR" altLang="en-US" dirty="0" err="1"/>
              <a:t>세부정보</a:t>
            </a:r>
            <a:r>
              <a:rPr lang="en-US" altLang="ko-KR" dirty="0"/>
              <a:t>(</a:t>
            </a:r>
            <a:r>
              <a:rPr lang="ko-KR" altLang="en-US" dirty="0" err="1"/>
              <a:t>신청정보</a:t>
            </a:r>
            <a:r>
              <a:rPr lang="en-US" altLang="ko-KR" dirty="0"/>
              <a:t>)</a:t>
            </a:r>
            <a:r>
              <a:rPr lang="ko-KR" altLang="en-US" dirty="0"/>
              <a:t>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실적증명서 신청과 동일하게 크게 </a:t>
            </a:r>
            <a:r>
              <a:rPr lang="en-US" altLang="ko-KR" dirty="0"/>
              <a:t>3</a:t>
            </a:r>
            <a:r>
              <a:rPr lang="ko-KR" altLang="en-US" dirty="0"/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시설공사일때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 </a:t>
            </a:r>
            <a:r>
              <a:rPr lang="ko-KR" altLang="en-US" dirty="0" err="1" smtClean="0"/>
              <a:t>아닐때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r>
              <a:rPr lang="en-US" altLang="ko-KR" dirty="0" smtClean="0">
                <a:latin typeface="+mn-ea"/>
              </a:rPr>
              <a:t>(</a:t>
            </a:r>
            <a:r>
              <a:rPr lang="ko-KR" altLang="en-US" dirty="0" smtClean="0">
                <a:latin typeface="+mn-ea"/>
              </a:rPr>
              <a:t>상세</a:t>
            </a:r>
            <a:r>
              <a:rPr lang="en-US" altLang="ko-KR" dirty="0" smtClean="0">
                <a:latin typeface="+mn-ea"/>
              </a:rPr>
              <a:t>)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MUI-CM-04-T01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675399" y="1495397"/>
            <a:ext cx="2712027" cy="354413"/>
            <a:chOff x="720490" y="3853802"/>
            <a:chExt cx="2621844" cy="354413"/>
          </a:xfrm>
        </p:grpSpPr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85380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082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320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3320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4981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" name="그룹 28"/>
          <p:cNvGrpSpPr/>
          <p:nvPr/>
        </p:nvGrpSpPr>
        <p:grpSpPr>
          <a:xfrm>
            <a:off x="675400" y="1956141"/>
            <a:ext cx="2712026" cy="2504309"/>
            <a:chOff x="675400" y="3615629"/>
            <a:chExt cx="2712026" cy="2504309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175" name="그룹 174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6" name="직선 연결선 17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9" name="직선 연결선 17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모서리가 둥근 직사각형 17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1" name="그룹 18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42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999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10741294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 정보에 따라 세부정보표시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실적증명서 신청과 동일하게 크게 </a:t>
            </a:r>
            <a:r>
              <a:rPr lang="en-US" altLang="ko-KR" dirty="0"/>
              <a:t>3</a:t>
            </a:r>
            <a:r>
              <a:rPr lang="ko-KR" altLang="en-US" dirty="0"/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시설공사일때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 </a:t>
            </a:r>
            <a:r>
              <a:rPr lang="ko-KR" altLang="en-US" dirty="0" err="1"/>
              <a:t>아닐때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사용 목적에 따라 </a:t>
            </a:r>
            <a:r>
              <a:rPr lang="ko-KR" altLang="en-US" dirty="0" err="1"/>
              <a:t>세부정보</a:t>
            </a:r>
            <a:r>
              <a:rPr lang="ko-KR" altLang="en-US" dirty="0"/>
              <a:t> 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신청정보는</a:t>
            </a:r>
            <a:r>
              <a:rPr lang="ko-KR" altLang="en-US" dirty="0"/>
              <a:t> 공통 사항</a:t>
            </a:r>
            <a:r>
              <a:rPr lang="en-US" altLang="ko-KR" dirty="0"/>
              <a:t>, </a:t>
            </a:r>
            <a:r>
              <a:rPr lang="ko-KR" altLang="en-US" dirty="0"/>
              <a:t>모두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세부정보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아래 사용 목적 정보에 따라 표시 내역 다름에 주의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납품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선금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선금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착수금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/>
              <a:t>착수금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중도금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4. </a:t>
            </a:r>
            <a:r>
              <a:rPr lang="ko-KR" altLang="en-US" dirty="0"/>
              <a:t>중도금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적격심사제출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입찰참가용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기타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1~7. </a:t>
            </a:r>
            <a:r>
              <a:rPr lang="ko-KR" altLang="en-US" dirty="0" err="1"/>
              <a:t>납품일자</a:t>
            </a:r>
            <a:r>
              <a:rPr lang="ko-KR" altLang="en-US" dirty="0"/>
              <a:t> 전부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방위사업청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MUI-CM-04-T02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0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373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373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034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0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373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373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034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675400" y="1974254"/>
            <a:ext cx="2712026" cy="1252381"/>
            <a:chOff x="675400" y="2590223"/>
            <a:chExt cx="2712026" cy="125238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실적확인용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384260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29" name="TextBox 2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425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세부정보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30" name="그룹 229"/>
          <p:cNvGrpSpPr/>
          <p:nvPr/>
        </p:nvGrpSpPr>
        <p:grpSpPr>
          <a:xfrm flipV="1">
            <a:off x="6259759" y="2087585"/>
            <a:ext cx="94010" cy="47005"/>
            <a:chOff x="6812560" y="3297172"/>
            <a:chExt cx="94010" cy="47005"/>
          </a:xfrm>
        </p:grpSpPr>
        <p:cxnSp>
          <p:nvCxnSpPr>
            <p:cNvPr id="244" name="직선 연결선 24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5" name="직선 연결선 24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1" name="직사각형 230"/>
          <p:cNvSpPr/>
          <p:nvPr/>
        </p:nvSpPr>
        <p:spPr>
          <a:xfrm>
            <a:off x="3838794" y="2281740"/>
            <a:ext cx="792000" cy="32190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173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1739"/>
            <a:ext cx="792000" cy="32316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 err="1">
                <a:latin typeface="+mn-ea"/>
              </a:rPr>
              <a:t>지출년도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처리사유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착수금신청금액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착수금발급금액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선금신청금액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선금발급금액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중도금신청금액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중고금발급금액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정산신청금액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정산발급금액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보증보험번호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확인요청사항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납품일자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1739"/>
            <a:ext cx="1784088" cy="32316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 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처리사유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1234567890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없음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2026-02-02</a:t>
            </a:r>
          </a:p>
        </p:txBody>
      </p:sp>
      <p:cxnSp>
        <p:nvCxnSpPr>
          <p:cNvPr id="235" name="직선 연결선 2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28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65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025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396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14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0" name="직선 연결선 2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751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888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2" name="직선 연결선 2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257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94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253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327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465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9" name="직선 연결선 2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0602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2739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50078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모서리가 둥근 직사각형 24"/>
          <p:cNvSpPr/>
          <p:nvPr/>
        </p:nvSpPr>
        <p:spPr>
          <a:xfrm>
            <a:off x="3577373" y="288168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3-1</a:t>
            </a:r>
            <a:endParaRPr lang="ko-KR" altLang="en-US" sz="900" b="1" dirty="0"/>
          </a:p>
        </p:txBody>
      </p:sp>
      <p:sp>
        <p:nvSpPr>
          <p:cNvPr id="254" name="모서리가 둥근 직사각형 253"/>
          <p:cNvSpPr/>
          <p:nvPr/>
        </p:nvSpPr>
        <p:spPr>
          <a:xfrm>
            <a:off x="3577373" y="331593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3-2</a:t>
            </a:r>
            <a:endParaRPr lang="ko-KR" altLang="en-US" sz="900" b="1" dirty="0"/>
          </a:p>
        </p:txBody>
      </p:sp>
      <p:sp>
        <p:nvSpPr>
          <p:cNvPr id="255" name="모서리가 둥근 직사각형 254"/>
          <p:cNvSpPr/>
          <p:nvPr/>
        </p:nvSpPr>
        <p:spPr>
          <a:xfrm>
            <a:off x="3577373" y="3751557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3-3</a:t>
            </a:r>
            <a:endParaRPr lang="ko-KR" altLang="en-US" sz="900" b="1" dirty="0"/>
          </a:p>
        </p:txBody>
      </p:sp>
      <p:sp>
        <p:nvSpPr>
          <p:cNvPr id="256" name="모서리가 둥근 직사각형 255"/>
          <p:cNvSpPr/>
          <p:nvPr/>
        </p:nvSpPr>
        <p:spPr>
          <a:xfrm>
            <a:off x="3577373" y="4150679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3-4</a:t>
            </a:r>
            <a:endParaRPr lang="ko-KR" altLang="en-US" sz="900" b="1" dirty="0"/>
          </a:p>
        </p:txBody>
      </p:sp>
      <p:sp>
        <p:nvSpPr>
          <p:cNvPr id="257" name="모서리가 둥근 직사각형 256"/>
          <p:cNvSpPr/>
          <p:nvPr/>
        </p:nvSpPr>
        <p:spPr>
          <a:xfrm>
            <a:off x="3577373" y="4588325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3-5</a:t>
            </a:r>
            <a:endParaRPr lang="ko-KR" altLang="en-US" sz="900" b="1" dirty="0"/>
          </a:p>
        </p:txBody>
      </p:sp>
      <p:sp>
        <p:nvSpPr>
          <p:cNvPr id="258" name="모서리가 둥근 직사각형 257"/>
          <p:cNvSpPr/>
          <p:nvPr/>
        </p:nvSpPr>
        <p:spPr>
          <a:xfrm>
            <a:off x="3577373" y="4998885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3-6</a:t>
            </a:r>
            <a:endParaRPr lang="ko-KR" altLang="en-US" sz="900" b="1" dirty="0"/>
          </a:p>
        </p:txBody>
      </p:sp>
      <p:sp>
        <p:nvSpPr>
          <p:cNvPr id="259" name="모서리가 둥근 직사각형 258"/>
          <p:cNvSpPr/>
          <p:nvPr/>
        </p:nvSpPr>
        <p:spPr>
          <a:xfrm>
            <a:off x="3577373" y="531181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3-7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1802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9" name="타원 20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683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0304" y="20462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716557683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B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시공실적증명서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적격심사기준에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</a:t>
            </a:r>
            <a:r>
              <a:rPr lang="ko-KR" altLang="en-US" dirty="0" err="1"/>
              <a:t>입찰참가자격사전심사</a:t>
            </a:r>
            <a:r>
              <a:rPr lang="ko-KR" altLang="en-US" dirty="0"/>
              <a:t> 세부운영기준에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 </a:t>
            </a:r>
            <a:r>
              <a:rPr lang="en-US" altLang="ko-KR" dirty="0"/>
              <a:t>[</a:t>
            </a:r>
            <a:r>
              <a:rPr lang="ko-KR" altLang="en-US" dirty="0"/>
              <a:t>최저가낙찰제 </a:t>
            </a:r>
            <a:r>
              <a:rPr lang="ko-KR" altLang="en-US" dirty="0" err="1"/>
              <a:t>대상공사의</a:t>
            </a:r>
            <a:r>
              <a:rPr lang="ko-KR" altLang="en-US" dirty="0"/>
              <a:t> 입찰금액 </a:t>
            </a:r>
            <a:r>
              <a:rPr lang="en-US" altLang="ko-KR" dirty="0"/>
              <a:t>(</a:t>
            </a:r>
            <a:r>
              <a:rPr lang="ko-KR" altLang="en-US" dirty="0"/>
              <a:t>원</a:t>
            </a:r>
            <a:r>
              <a:rPr lang="en-US" altLang="ko-KR" dirty="0"/>
              <a:t>) </a:t>
            </a:r>
            <a:r>
              <a:rPr lang="ko-KR" altLang="en-US" dirty="0"/>
              <a:t>적정성 세부심사기준에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인 경우 표기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준공일자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준공예정일자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중공금액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계약금액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77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28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62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624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28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77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28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62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624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28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6388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6757"/>
            <a:ext cx="2630093" cy="1611734"/>
            <a:chOff x="720490" y="3930133"/>
            <a:chExt cx="2630093" cy="16117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7749"/>
            <a:ext cx="2630093" cy="1389048"/>
            <a:chOff x="720490" y="2590223"/>
            <a:chExt cx="2630093" cy="1389048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15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731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12" name="그룹 111"/>
          <p:cNvGrpSpPr/>
          <p:nvPr/>
        </p:nvGrpSpPr>
        <p:grpSpPr>
          <a:xfrm>
            <a:off x="3836701" y="3756468"/>
            <a:ext cx="2630093" cy="1611734"/>
            <a:chOff x="720490" y="3930133"/>
            <a:chExt cx="2630093" cy="1611734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금차공사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4" name="그룹 113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26" name="직선 연결선 12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직선 연결선 12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5" name="직사각형 114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6757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32544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1. </a:t>
              </a:r>
              <a:r>
                <a:rPr lang="ko-KR" altLang="en-US" sz="700" dirty="0">
                  <a:latin typeface="+mn-ea"/>
                </a:rPr>
                <a:t>시공실적증명서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군시설공사</a:t>
              </a:r>
              <a:r>
                <a:rPr lang="ko-KR" altLang="en-US" sz="700" dirty="0">
                  <a:latin typeface="+mn-ea"/>
                </a:rPr>
                <a:t> 적격심사기준에 관한 훈령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국방부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436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3973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61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5207" y="200993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72379393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04598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16366" y="1965600"/>
            <a:ext cx="2630093" cy="1904757"/>
            <a:chOff x="1108393" y="2993988"/>
            <a:chExt cx="2630093" cy="1904757"/>
          </a:xfrm>
        </p:grpSpPr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69364" y="2993988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공사성질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2" name="그룹 131"/>
            <p:cNvGrpSpPr/>
            <p:nvPr/>
          </p:nvGrpSpPr>
          <p:grpSpPr>
            <a:xfrm flipV="1">
              <a:off x="3531451" y="3107319"/>
              <a:ext cx="94010" cy="47005"/>
              <a:chOff x="6812560" y="3297172"/>
              <a:chExt cx="94010" cy="47005"/>
            </a:xfrm>
          </p:grpSpPr>
          <p:cxnSp>
            <p:nvCxnSpPr>
              <p:cNvPr id="148" name="직선 연결선 1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1110486" y="3301474"/>
              <a:ext cx="792000" cy="15912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08393" y="33014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3556270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39512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4371103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4" name="그룹 153"/>
            <p:cNvGrpSpPr/>
            <p:nvPr/>
          </p:nvGrpSpPr>
          <p:grpSpPr>
            <a:xfrm>
              <a:off x="1955552" y="3384977"/>
              <a:ext cx="1711564" cy="484748"/>
              <a:chOff x="712771" y="2321043"/>
              <a:chExt cx="1711564" cy="484748"/>
            </a:xfrm>
          </p:grpSpPr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4847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확장공사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개보수공사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60" name="직사각형 159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1" name="직사각형 160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직사각형 162"/>
              <p:cNvSpPr/>
              <p:nvPr/>
            </p:nvSpPr>
            <p:spPr>
              <a:xfrm>
                <a:off x="772169" y="268930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4" name="TextBox 163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73" name="그룹 172"/>
            <p:cNvGrpSpPr/>
            <p:nvPr/>
          </p:nvGrpSpPr>
          <p:grpSpPr>
            <a:xfrm>
              <a:off x="1955552" y="4029869"/>
              <a:ext cx="1711564" cy="807913"/>
              <a:chOff x="712771" y="2321043"/>
              <a:chExt cx="1711564" cy="80791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증설공사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이설공사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75" name="직사각형 174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6" name="직사각형 175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7" name="직사각형 176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9" name="직사각형 178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직사각형 179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489874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243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716366" y="4025856"/>
            <a:ext cx="2630093" cy="957295"/>
            <a:chOff x="716366" y="4635456"/>
            <a:chExt cx="2630093" cy="957295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4635456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 여부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 flipV="1">
              <a:off x="3139424" y="4748787"/>
              <a:ext cx="94010" cy="47005"/>
              <a:chOff x="6812560" y="3297172"/>
              <a:chExt cx="94010" cy="47005"/>
            </a:xfrm>
          </p:grpSpPr>
          <p:cxnSp>
            <p:nvCxnSpPr>
              <p:cNvPr id="188" name="직선 연결선 1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5" name="직사각형 144"/>
            <p:cNvSpPr/>
            <p:nvPr/>
          </p:nvSpPr>
          <p:spPr>
            <a:xfrm>
              <a:off x="718459" y="4942942"/>
              <a:ext cx="792000" cy="6437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94294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5197738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건설공사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27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1621527" y="5026445"/>
              <a:ext cx="1653562" cy="476212"/>
              <a:chOff x="1621527" y="4558451"/>
              <a:chExt cx="1653562" cy="476212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792374" y="4558451"/>
                <a:ext cx="1482715" cy="463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공동이행방식</a:t>
                </a:r>
                <a:r>
                  <a:rPr lang="en-US" altLang="ko-KR" sz="700" dirty="0">
                    <a:latin typeface="+mn-ea"/>
                  </a:rPr>
                  <a:t>1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분담이행방식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단독도급</a:t>
                </a:r>
                <a:endParaRPr lang="en-US" altLang="ko-KR" sz="700" dirty="0">
                  <a:latin typeface="+mn-ea"/>
                </a:endParaRPr>
              </a:p>
            </p:txBody>
          </p:sp>
          <p:grpSp>
            <p:nvGrpSpPr>
              <p:cNvPr id="198" name="그룹 197"/>
              <p:cNvGrpSpPr/>
              <p:nvPr/>
            </p:nvGrpSpPr>
            <p:grpSpPr>
              <a:xfrm>
                <a:off x="1621527" y="4575499"/>
                <a:ext cx="107950" cy="459164"/>
                <a:chOff x="794115" y="2294987"/>
                <a:chExt cx="107950" cy="459164"/>
              </a:xfrm>
            </p:grpSpPr>
            <p:sp>
              <p:nvSpPr>
                <p:cNvPr id="199" name="타원 198"/>
                <p:cNvSpPr/>
                <p:nvPr/>
              </p:nvSpPr>
              <p:spPr>
                <a:xfrm>
                  <a:off x="794115" y="2294987"/>
                  <a:ext cx="107950" cy="1079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8" name="타원 207"/>
                <p:cNvSpPr/>
                <p:nvPr/>
              </p:nvSpPr>
              <p:spPr>
                <a:xfrm>
                  <a:off x="794115" y="246512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9" name="타원 208"/>
                <p:cNvSpPr/>
                <p:nvPr/>
              </p:nvSpPr>
              <p:spPr>
                <a:xfrm>
                  <a:off x="794115" y="264620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cxnSp>
        <p:nvCxnSpPr>
          <p:cNvPr id="224" name="직선 연결선 2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3105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3836701" y="1965600"/>
            <a:ext cx="2630093" cy="2026729"/>
            <a:chOff x="3836701" y="2575200"/>
            <a:chExt cx="2630093" cy="2026729"/>
          </a:xfrm>
        </p:grpSpPr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200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실적의 종류</a:t>
              </a:r>
            </a:p>
          </p:txBody>
        </p:sp>
        <p:grpSp>
          <p:nvGrpSpPr>
            <p:cNvPr id="227" name="그룹 226"/>
            <p:cNvGrpSpPr/>
            <p:nvPr/>
          </p:nvGrpSpPr>
          <p:grpSpPr>
            <a:xfrm flipV="1">
              <a:off x="6259759" y="2688531"/>
              <a:ext cx="94010" cy="47005"/>
              <a:chOff x="6812560" y="3297172"/>
              <a:chExt cx="94010" cy="47005"/>
            </a:xfrm>
          </p:grpSpPr>
          <p:cxnSp>
            <p:nvCxnSpPr>
              <p:cNvPr id="248" name="직선 연결선 2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8" name="직사각형 227"/>
            <p:cNvSpPr/>
            <p:nvPr/>
          </p:nvSpPr>
          <p:spPr>
            <a:xfrm>
              <a:off x="3838794" y="2882686"/>
              <a:ext cx="792000" cy="17112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8268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368446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전기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그 밖의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34" name="그룹 233"/>
            <p:cNvGrpSpPr/>
            <p:nvPr/>
          </p:nvGrpSpPr>
          <p:grpSpPr>
            <a:xfrm>
              <a:off x="4683860" y="2935851"/>
              <a:ext cx="1711564" cy="1615827"/>
              <a:chOff x="712771" y="2321043"/>
              <a:chExt cx="1711564" cy="1615827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16158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개념설계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기본설계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실시설계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시공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감리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품질</a:t>
                </a:r>
                <a:r>
                  <a:rPr lang="en-US" altLang="ko-KR" sz="700" dirty="0">
                    <a:latin typeface="+mn-ea"/>
                  </a:rPr>
                  <a:t>, </a:t>
                </a:r>
                <a:r>
                  <a:rPr lang="ko-KR" altLang="en-US" sz="700" dirty="0">
                    <a:latin typeface="+mn-ea"/>
                  </a:rPr>
                  <a:t>공사관리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시운전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기자재제작설치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기자재설치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기타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37" name="직사각형 236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8" name="직사각형 237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9" name="직사각형 238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0" name="TextBox 239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41" name="직사각형 240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2" name="직사각형 241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0" name="직사각형 249"/>
              <p:cNvSpPr/>
              <p:nvPr/>
            </p:nvSpPr>
            <p:spPr>
              <a:xfrm>
                <a:off x="772169" y="314818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1" name="직사각형 250"/>
              <p:cNvSpPr/>
              <p:nvPr/>
            </p:nvSpPr>
            <p:spPr>
              <a:xfrm>
                <a:off x="772169" y="329837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3" name="직사각형 252"/>
              <p:cNvSpPr/>
              <p:nvPr/>
            </p:nvSpPr>
            <p:spPr>
              <a:xfrm>
                <a:off x="772169" y="3458370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직사각형 253"/>
              <p:cNvSpPr/>
              <p:nvPr/>
            </p:nvSpPr>
            <p:spPr>
              <a:xfrm>
                <a:off x="772169" y="361657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5" name="직사각형 254"/>
              <p:cNvSpPr/>
              <p:nvPr/>
            </p:nvSpPr>
            <p:spPr>
              <a:xfrm>
                <a:off x="772169" y="377656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019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29173706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관급금액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도급자설치</a:t>
            </a:r>
            <a:r>
              <a:rPr lang="ko-KR" altLang="en-US" dirty="0"/>
              <a:t> </a:t>
            </a:r>
            <a:r>
              <a:rPr lang="ko-KR" altLang="en-US" dirty="0" err="1"/>
              <a:t>관급금액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계약규모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en-US" altLang="ko-KR" dirty="0"/>
              <a:t>, </a:t>
            </a:r>
            <a:r>
              <a:rPr lang="ko-KR" altLang="en-US" dirty="0"/>
              <a:t>방법</a:t>
            </a:r>
            <a:r>
              <a:rPr lang="en-US" altLang="ko-KR" dirty="0"/>
              <a:t>(</a:t>
            </a:r>
            <a:r>
              <a:rPr lang="ko-KR" altLang="en-US" dirty="0"/>
              <a:t>공법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전체공사의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75400" y="1972911"/>
            <a:ext cx="2712026" cy="1870687"/>
            <a:chOff x="675400" y="2590223"/>
            <a:chExt cx="2712026" cy="1870687"/>
          </a:xfrm>
        </p:grpSpPr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5" name="그룹 104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4" name="직사각형 123"/>
            <p:cNvSpPr/>
            <p:nvPr/>
          </p:nvSpPr>
          <p:spPr>
            <a:xfrm>
              <a:off x="722583" y="2897708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46091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79257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0064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2201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338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675400" y="3872472"/>
            <a:ext cx="2712026" cy="1888105"/>
            <a:chOff x="675400" y="4489784"/>
            <a:chExt cx="2712026" cy="1888105"/>
          </a:xfrm>
        </p:grpSpPr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89784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1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 flipV="1">
              <a:off x="3143548" y="4603115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97269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9726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97269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97269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111-22-33333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박길동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2837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420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557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694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637788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69213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060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2" name="직선 연결선 2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197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3" name="직선 연결선 2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3341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3795734" y="1972911"/>
            <a:ext cx="2712026" cy="1888105"/>
            <a:chOff x="3832578" y="3081088"/>
            <a:chExt cx="2712026" cy="1888105"/>
          </a:xfrm>
        </p:grpSpPr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7" name="그룹 216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3879761" y="3388573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388573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388573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222-33-44444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196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8333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0470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2607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496919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428343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497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711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9247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164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" name="그룹 8"/>
          <p:cNvGrpSpPr/>
          <p:nvPr/>
        </p:nvGrpSpPr>
        <p:grpSpPr>
          <a:xfrm>
            <a:off x="3795734" y="3967975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</a:t>
              </a:r>
              <a:r>
                <a:rPr lang="ko-KR" altLang="en-US" sz="700" dirty="0">
                  <a:latin typeface="+mn-ea"/>
                </a:rPr>
                <a:t>구체적인 </a:t>
              </a:r>
              <a:r>
                <a:rPr lang="ko-KR" altLang="en-US" sz="700" dirty="0" err="1">
                  <a:latin typeface="+mn-ea"/>
                </a:rPr>
                <a:t>시공물량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3" name="그룹 262"/>
          <p:cNvGrpSpPr/>
          <p:nvPr/>
        </p:nvGrpSpPr>
        <p:grpSpPr>
          <a:xfrm>
            <a:off x="3795734" y="4864603"/>
            <a:ext cx="2712027" cy="789495"/>
            <a:chOff x="675399" y="1544009"/>
            <a:chExt cx="2712027" cy="789495"/>
          </a:xfrm>
        </p:grpSpPr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실적공종또는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방법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공법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65" name="그룹 26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9" name="직선 연결선 2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0" name="직선 연결선 26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73" name="타원 2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1830" y="3995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875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05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1830" y="48832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2052318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신청에 따른 표시 정보 변경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정보가 없는 경우 빈칸을 노출하지 않고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하도급자</a:t>
            </a:r>
            <a:r>
              <a:rPr lang="ko-KR" altLang="en-US" dirty="0"/>
              <a:t> 면허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하도급 공사 규모 및 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3795734" y="1980623"/>
            <a:ext cx="2712026" cy="894831"/>
            <a:chOff x="3832578" y="3081088"/>
            <a:chExt cx="2712026" cy="894831"/>
          </a:xfrm>
        </p:grpSpPr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217" name="그룹 216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96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" name="그룹 8"/>
          <p:cNvGrpSpPr/>
          <p:nvPr/>
        </p:nvGrpSpPr>
        <p:grpSpPr>
          <a:xfrm>
            <a:off x="675399" y="1976704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3" name="그룹 262"/>
          <p:cNvGrpSpPr/>
          <p:nvPr/>
        </p:nvGrpSpPr>
        <p:grpSpPr>
          <a:xfrm>
            <a:off x="675399" y="2873332"/>
            <a:ext cx="2712027" cy="789495"/>
            <a:chOff x="675399" y="1544009"/>
            <a:chExt cx="2712027" cy="789495"/>
          </a:xfrm>
        </p:grpSpPr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준공금액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5" name="그룹 26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9" name="직선 연결선 2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0" name="직선 연결선 26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9" name="그룹 108"/>
          <p:cNvGrpSpPr/>
          <p:nvPr/>
        </p:nvGrpSpPr>
        <p:grpSpPr>
          <a:xfrm>
            <a:off x="675399" y="3773782"/>
            <a:ext cx="2712027" cy="789495"/>
            <a:chOff x="675399" y="1544009"/>
            <a:chExt cx="2712027" cy="789495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 또는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관급금액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1" name="그룹 110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/>
          <p:cNvGrpSpPr/>
          <p:nvPr/>
        </p:nvGrpSpPr>
        <p:grpSpPr>
          <a:xfrm>
            <a:off x="3795734" y="2983573"/>
            <a:ext cx="2712026" cy="894831"/>
            <a:chOff x="3832578" y="3081088"/>
            <a:chExt cx="2712026" cy="894831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123" name="그룹 122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144" name="직선 연결선 14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9" name="직사각형 128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46" name="그룹 145"/>
          <p:cNvGrpSpPr/>
          <p:nvPr/>
        </p:nvGrpSpPr>
        <p:grpSpPr>
          <a:xfrm>
            <a:off x="3795734" y="3977663"/>
            <a:ext cx="2712026" cy="894831"/>
            <a:chOff x="3832578" y="3081088"/>
            <a:chExt cx="2712026" cy="894831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148" name="그룹 147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168" name="직선 연결선 16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2" name="직사각형 151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73" name="그룹 172"/>
          <p:cNvGrpSpPr/>
          <p:nvPr/>
        </p:nvGrpSpPr>
        <p:grpSpPr>
          <a:xfrm>
            <a:off x="3795734" y="4981063"/>
            <a:ext cx="2712027" cy="606800"/>
            <a:chOff x="675399" y="1544009"/>
            <a:chExt cx="2712027" cy="606800"/>
          </a:xfrm>
        </p:grpSpPr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실적증명</a:t>
              </a:r>
              <a:r>
                <a:rPr lang="ko-KR" altLang="en-US" sz="700" dirty="0">
                  <a:latin typeface="+mn-ea"/>
                </a:rPr>
                <a:t> 발급일 기준 </a:t>
              </a:r>
              <a:r>
                <a:rPr lang="ko-KR" altLang="en-US" sz="700" dirty="0" err="1">
                  <a:latin typeface="+mn-ea"/>
                </a:rPr>
                <a:t>시공내용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5" name="그룹 17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80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82" name="타원 18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63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909" y="20071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909" y="5020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301098026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정보가 없는 경우 빈칸을 노출하지 않고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96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19" name="그룹 118"/>
          <p:cNvGrpSpPr/>
          <p:nvPr/>
        </p:nvGrpSpPr>
        <p:grpSpPr>
          <a:xfrm>
            <a:off x="720490" y="1980621"/>
            <a:ext cx="2630093" cy="2031034"/>
            <a:chOff x="720490" y="2590223"/>
            <a:chExt cx="2630093" cy="2031034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2271776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최저가 적정성심사관련 시공실적자료</a:t>
              </a:r>
            </a:p>
          </p:txBody>
        </p:sp>
        <p:grpSp>
          <p:nvGrpSpPr>
            <p:cNvPr id="124" name="그룹 12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71" name="직선 연결선 17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" name="직선 연결선 17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5" name="직사각형 124"/>
            <p:cNvSpPr/>
            <p:nvPr/>
          </p:nvSpPr>
          <p:spPr>
            <a:xfrm>
              <a:off x="722583" y="2897708"/>
              <a:ext cx="792000" cy="17111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시공내용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사용장비명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장비규격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투입대수</a:t>
              </a:r>
              <a:r>
                <a:rPr lang="ko-KR" altLang="en-US" sz="700" dirty="0">
                  <a:latin typeface="+mn-ea"/>
                </a:rPr>
                <a:t> 누계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작업량 누계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작업시간 누계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시간당 작업량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참고사항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트럭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시간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시간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없음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18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832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969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088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765793"/>
            <a:ext cx="76863" cy="292489"/>
            <a:chOff x="3750067" y="4683795"/>
            <a:chExt cx="76863" cy="292489"/>
          </a:xfrm>
        </p:grpSpPr>
        <p:sp>
          <p:nvSpPr>
            <p:cNvPr id="185" name="타원 18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9279289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C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종합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7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7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518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518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79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7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7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518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518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79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533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5703"/>
            <a:ext cx="2630093" cy="2246477"/>
            <a:chOff x="720490" y="3930133"/>
            <a:chExt cx="2630093" cy="2246477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8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신설공사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도로터널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690178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6695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5703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3.</a:t>
              </a:r>
              <a:r>
                <a:rPr lang="ko-KR" altLang="en-US" sz="700" dirty="0">
                  <a:latin typeface="+mn-ea"/>
                </a:rPr>
                <a:t>건설공사기성실적증명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</a:t>
              </a:r>
              <a:r>
                <a:rPr lang="en-US" altLang="ko-KR" sz="700" dirty="0">
                  <a:latin typeface="+mn-ea"/>
                </a:rPr>
                <a:t>_</a:t>
              </a: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 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3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6043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51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93856778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716367" y="1980623"/>
            <a:ext cx="2630093" cy="2682044"/>
            <a:chOff x="720490" y="3930133"/>
            <a:chExt cx="2630093" cy="268204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8"/>
              <a:ext cx="792000" cy="237455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54782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발주자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공급자재액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768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18569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9243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9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3967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143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43991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26188"/>
            <a:ext cx="76863" cy="292489"/>
            <a:chOff x="3750067" y="4683795"/>
            <a:chExt cx="76863" cy="292489"/>
          </a:xfrm>
        </p:grpSpPr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2" name="그룹 51"/>
          <p:cNvGrpSpPr/>
          <p:nvPr/>
        </p:nvGrpSpPr>
        <p:grpSpPr>
          <a:xfrm>
            <a:off x="3795734" y="1980623"/>
            <a:ext cx="2712027" cy="789495"/>
            <a:chOff x="675399" y="1544009"/>
            <a:chExt cx="2712027" cy="789495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8" name="직선 연결선 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620228628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D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4.</a:t>
            </a:r>
            <a:r>
              <a:rPr lang="ko-KR" altLang="en-US" dirty="0" err="1"/>
              <a:t>건설폐기물처리용역이행</a:t>
            </a:r>
            <a:r>
              <a:rPr lang="ko-KR" altLang="en-US" dirty="0"/>
              <a:t> 실적증명서 </a:t>
            </a:r>
            <a:r>
              <a:rPr lang="en-US" altLang="ko-KR" dirty="0"/>
              <a:t>[</a:t>
            </a:r>
            <a:r>
              <a:rPr lang="ko-KR" altLang="en-US" dirty="0"/>
              <a:t>건설폐기물처리용역 </a:t>
            </a:r>
            <a:r>
              <a:rPr lang="ko-KR" altLang="en-US" dirty="0" err="1"/>
              <a:t>적격업체</a:t>
            </a:r>
            <a:r>
              <a:rPr lang="ko-KR" altLang="en-US" dirty="0"/>
              <a:t> 평가기준</a:t>
            </a:r>
            <a:r>
              <a:rPr lang="en-US" altLang="ko-KR" dirty="0"/>
              <a:t>/</a:t>
            </a:r>
            <a:r>
              <a:rPr lang="ko-KR" altLang="en-US" dirty="0"/>
              <a:t>환경부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MUI-CM-04-T05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86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3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713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713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373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86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3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713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713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373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72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7646"/>
            <a:ext cx="2630093" cy="2031034"/>
            <a:chOff x="720490" y="3930133"/>
            <a:chExt cx="2630093" cy="20310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  <a:r>
                <a:rPr lang="ko-KR" altLang="en-US" sz="700" dirty="0">
                  <a:latin typeface="+mn-ea"/>
                </a:rPr>
                <a:t>년도 건설폐기물 수집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운반용역</a:t>
              </a:r>
              <a:r>
                <a:rPr lang="ko-KR" altLang="en-US" sz="700" dirty="0">
                  <a:latin typeface="+mn-ea"/>
                </a:rPr>
                <a:t> 이행실적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 건설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2012-01-10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건전지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톤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8638"/>
            <a:ext cx="2630093" cy="1393412"/>
            <a:chOff x="720490" y="2590223"/>
            <a:chExt cx="2630093" cy="139341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허가번호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증명서 용도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11111 11111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은행 제출용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7646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4.</a:t>
              </a:r>
              <a:r>
                <a:rPr lang="ko-KR" altLang="en-US" sz="700" dirty="0" err="1">
                  <a:latin typeface="+mn-ea"/>
                </a:rPr>
                <a:t>건설폐기물처리용역이행</a:t>
              </a:r>
              <a:r>
                <a:rPr lang="ko-KR" altLang="en-US" sz="700" dirty="0">
                  <a:latin typeface="+mn-ea"/>
                </a:rPr>
                <a:t>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건설폐기물처리용역 </a:t>
              </a:r>
              <a:r>
                <a:rPr lang="ko-KR" altLang="en-US" sz="700" dirty="0" err="1">
                  <a:latin typeface="+mn-ea"/>
                </a:rPr>
                <a:t>적격업체</a:t>
              </a:r>
              <a:r>
                <a:rPr lang="ko-KR" altLang="en-US" sz="700" dirty="0">
                  <a:latin typeface="+mn-ea"/>
                </a:rPr>
                <a:t> 평가기준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환경부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52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06751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70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8846051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MUI-CM-04-T05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716366" y="1980623"/>
            <a:ext cx="2630093" cy="2031034"/>
            <a:chOff x="720490" y="3930133"/>
            <a:chExt cx="2630093" cy="20310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  <a:r>
                <a:rPr lang="ko-KR" altLang="en-US" sz="700" dirty="0">
                  <a:latin typeface="+mn-ea"/>
                </a:rPr>
                <a:t>년도 건설폐기물 중간처리용역 이행실적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 건설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2012-01-10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건전지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톤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07048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5821317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E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6.</a:t>
            </a:r>
            <a:r>
              <a:rPr lang="ko-KR" altLang="en-US" dirty="0"/>
              <a:t>정보통신공사 실적증명서 </a:t>
            </a:r>
            <a:r>
              <a:rPr lang="en-US" altLang="ko-KR" dirty="0"/>
              <a:t>[</a:t>
            </a:r>
            <a:r>
              <a:rPr lang="ko-KR" altLang="en-US" dirty="0"/>
              <a:t>정보통신공사업법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전기공제조합</a:t>
            </a:r>
            <a:r>
              <a:rPr lang="en-US" altLang="ko-KR" dirty="0"/>
              <a:t>]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MUI-CM-04-T06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8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8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29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29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89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8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8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29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29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89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43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806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4137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292"/>
            <a:ext cx="792000" cy="1932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2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291"/>
            <a:ext cx="79200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전년도 </a:t>
            </a:r>
            <a:r>
              <a:rPr lang="ko-KR" altLang="en-US" sz="700" dirty="0" err="1">
                <a:latin typeface="+mn-ea"/>
              </a:rPr>
              <a:t>이월공사액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계약액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미기성액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하도급 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291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3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3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5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80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5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2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73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798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806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6.</a:t>
              </a:r>
              <a:r>
                <a:rPr lang="ko-KR" altLang="en-US" sz="700" dirty="0">
                  <a:latin typeface="+mn-ea"/>
                </a:rPr>
                <a:t>정보통신공사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정보통신공사업법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전기공제조합</a:t>
              </a:r>
              <a:r>
                <a:rPr lang="en-US" altLang="ko-KR" sz="700" dirty="0">
                  <a:latin typeface="+mn-ea"/>
                </a:rPr>
                <a:t>] 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4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0965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2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5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295294745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F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7.</a:t>
            </a:r>
            <a:r>
              <a:rPr lang="ko-KR" altLang="en-US" dirty="0"/>
              <a:t>소방시설공사 실적증명서 </a:t>
            </a:r>
            <a:r>
              <a:rPr lang="en-US" altLang="ko-KR" dirty="0"/>
              <a:t>[</a:t>
            </a:r>
            <a:r>
              <a:rPr lang="ko-KR" altLang="en-US" dirty="0"/>
              <a:t>소방시설공사업법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소방시설협회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MUI-CM-04-T07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25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623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소방시설 </a:t>
            </a: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395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109"/>
            <a:ext cx="792000" cy="2585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1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108"/>
            <a:ext cx="792000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공사현장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공사지역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계약체결일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착공일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준공일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도급종류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공사종류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108"/>
            <a:ext cx="1784088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업종 </a:t>
            </a:r>
            <a:r>
              <a:rPr lang="ko-KR" altLang="en-US" sz="700" dirty="0" err="1"/>
              <a:t>표시영역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정부청사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군부대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제한경쟁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경보설비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2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29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3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78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3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0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5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615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623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7.</a:t>
              </a:r>
              <a:r>
                <a:rPr lang="ko-KR" altLang="en-US" sz="700" dirty="0">
                  <a:latin typeface="+mn-ea"/>
                </a:rPr>
                <a:t>소방시설공사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소방시설공사업법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소방시설협회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92392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03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35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444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519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6479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612541886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MUI-CM-04-T07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1980623"/>
            <a:ext cx="2712026" cy="2316283"/>
            <a:chOff x="675399" y="2590223"/>
            <a:chExt cx="2712026" cy="2316283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공사실적 금액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등록번호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3478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ko-KR" altLang="en-US" sz="700" dirty="0" err="1"/>
                <a:t>미기성액</a:t>
              </a:r>
              <a:endParaRPr lang="ko-KR" altLang="en-US" sz="700" dirty="0"/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2" name="그룹 91"/>
          <p:cNvGrpSpPr/>
          <p:nvPr/>
        </p:nvGrpSpPr>
        <p:grpSpPr>
          <a:xfrm>
            <a:off x="3795735" y="1980623"/>
            <a:ext cx="2712026" cy="2142112"/>
            <a:chOff x="675399" y="2590223"/>
            <a:chExt cx="2712026" cy="2142112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복합공종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타 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포함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 err="1">
                  <a:latin typeface="+mn-ea"/>
                </a:rPr>
                <a:t>실적내용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94" name="그룹 93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직사각형 94"/>
            <p:cNvSpPr/>
            <p:nvPr/>
          </p:nvSpPr>
          <p:spPr>
            <a:xfrm>
              <a:off x="718459" y="2897709"/>
              <a:ext cx="792000" cy="10772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도급금액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전년까지의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금년도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48035"/>
            <a:ext cx="76863" cy="292489"/>
            <a:chOff x="3750067" y="4683795"/>
            <a:chExt cx="76863" cy="292489"/>
          </a:xfrm>
        </p:grpSpPr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5654740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G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8.</a:t>
            </a:r>
            <a:r>
              <a:rPr lang="ko-KR" altLang="en-US" dirty="0"/>
              <a:t>전기공사 실적증명서 </a:t>
            </a:r>
            <a:r>
              <a:rPr lang="en-US" altLang="ko-KR" dirty="0"/>
              <a:t>[</a:t>
            </a:r>
            <a:r>
              <a:rPr lang="ko-KR" altLang="en-US" dirty="0"/>
              <a:t>전기공사업법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전기공사협회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25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621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전기 공사 내역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3952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107"/>
            <a:ext cx="792000" cy="2585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10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106"/>
            <a:ext cx="792000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공사현장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등록번호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 err="1">
                <a:latin typeface="+mn-ea"/>
              </a:rPr>
              <a:t>원도급자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계약체결일자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도급종류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106"/>
            <a:ext cx="1784088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발전설비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김길동</a:t>
            </a:r>
            <a:r>
              <a:rPr lang="ko-KR" altLang="en-US" sz="700" dirty="0"/>
              <a:t> </a:t>
            </a:r>
            <a:r>
              <a:rPr lang="ko-KR" altLang="en-US" sz="700" dirty="0" err="1"/>
              <a:t>주무관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111111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일반경쟁입찰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2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29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3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78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3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0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5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613"/>
            <a:ext cx="2630093" cy="1393412"/>
            <a:chOff x="720490" y="2590223"/>
            <a:chExt cx="2630093" cy="139341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621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8.</a:t>
              </a:r>
              <a:r>
                <a:rPr lang="ko-KR" altLang="en-US" sz="700" dirty="0">
                  <a:latin typeface="+mn-ea"/>
                </a:rPr>
                <a:t>전기공사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전기공사업법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전기공사협회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92392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3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444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519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6478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23841761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도움말 아이콘 </a:t>
            </a:r>
            <a:r>
              <a:rPr lang="en-US" altLang="ko-KR" dirty="0"/>
              <a:t>(</a:t>
            </a:r>
            <a:r>
              <a:rPr lang="ko-KR" altLang="en-US" dirty="0"/>
              <a:t>팝업 표시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※ 3</a:t>
            </a:r>
            <a:r>
              <a:rPr lang="ko-KR" altLang="en-US" dirty="0"/>
              <a:t>개 업체 이상인 경우 </a:t>
            </a:r>
            <a:r>
              <a:rPr lang="ko-KR" altLang="en-US" dirty="0" err="1"/>
              <a:t>업체명에</a:t>
            </a:r>
            <a:r>
              <a:rPr lang="ko-KR" altLang="en-US" dirty="0"/>
              <a:t> ○○ 외 ○개 업체로 표기 후 합산하여 금액 기재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1980622"/>
            <a:ext cx="2712026" cy="2316283"/>
            <a:chOff x="675399" y="2590223"/>
            <a:chExt cx="2712026" cy="2316283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전기공사실적 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41021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 lvl="0"/>
              <a:r>
                <a:rPr lang="en-US" altLang="ko-KR" sz="700" dirty="0"/>
                <a:t>(</a:t>
              </a:r>
              <a:r>
                <a:rPr lang="ko-KR" altLang="en-US" sz="700" dirty="0" err="1"/>
                <a:t>다른공사포함</a:t>
              </a:r>
              <a:r>
                <a:rPr lang="en-US" altLang="ko-KR" sz="700" dirty="0"/>
                <a:t>)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62897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 err="1"/>
                <a:t>계약액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en-US" altLang="ko-KR" sz="700" dirty="0"/>
                <a:t>(</a:t>
              </a:r>
              <a:r>
                <a:rPr lang="ko-KR" altLang="en-US" sz="700" dirty="0"/>
                <a:t>추가 또는 </a:t>
              </a:r>
              <a:r>
                <a:rPr lang="ko-KR" altLang="en-US" sz="700" dirty="0" err="1"/>
                <a:t>변경분</a:t>
              </a:r>
              <a:r>
                <a:rPr lang="en-US" altLang="ko-KR" sz="700" dirty="0"/>
                <a:t>)</a:t>
              </a:r>
              <a:endParaRPr lang="ko-KR" altLang="en-US" sz="700" dirty="0"/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2" name="그룹 91"/>
          <p:cNvGrpSpPr/>
          <p:nvPr/>
        </p:nvGrpSpPr>
        <p:grpSpPr>
          <a:xfrm>
            <a:off x="3795735" y="1980622"/>
            <a:ext cx="2712026" cy="2142112"/>
            <a:chOff x="675399" y="2590223"/>
            <a:chExt cx="2712026" cy="2142112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하도급내역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원도급자가</a:t>
              </a:r>
              <a:r>
                <a:rPr lang="ko-KR" altLang="en-US" sz="700" dirty="0">
                  <a:latin typeface="+mn-ea"/>
                </a:rPr>
                <a:t> 작성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94" name="그룹 93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직사각형 94"/>
            <p:cNvSpPr/>
            <p:nvPr/>
          </p:nvSpPr>
          <p:spPr>
            <a:xfrm>
              <a:off x="718459" y="2897710"/>
              <a:ext cx="792000" cy="882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하도급업체명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등록번호</a:t>
              </a:r>
              <a:endParaRPr lang="en-US" altLang="ko-KR" sz="700" dirty="0"/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11111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/>
                <a:t>홍길동</a:t>
              </a:r>
              <a:endParaRPr lang="en-US" altLang="ko-KR" sz="7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48034"/>
            <a:ext cx="76863" cy="292489"/>
            <a:chOff x="3750067" y="4683795"/>
            <a:chExt cx="76863" cy="292489"/>
          </a:xfrm>
        </p:grpSpPr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8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5087822" y="2029245"/>
            <a:ext cx="243478" cy="144000"/>
            <a:chOff x="5087822" y="2638846"/>
            <a:chExt cx="243478" cy="144000"/>
          </a:xfrm>
        </p:grpSpPr>
        <p:sp>
          <p:nvSpPr>
            <p:cNvPr id="79" name="타원 78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3795734" y="4230015"/>
            <a:ext cx="2712027" cy="789495"/>
            <a:chOff x="675399" y="1544009"/>
            <a:chExt cx="2712027" cy="789495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시공규모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84" name="그룹 83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91" name="직선 연결선 9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" name="직선 연결선 1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3325215457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공사</a:t>
            </a:r>
            <a:r>
              <a:rPr lang="en-US" altLang="ko-KR" dirty="0"/>
              <a:t>(</a:t>
            </a:r>
            <a:r>
              <a:rPr lang="ko-KR" altLang="en-US" dirty="0"/>
              <a:t>종</a:t>
            </a:r>
            <a:r>
              <a:rPr lang="en-US" altLang="ko-KR" dirty="0"/>
              <a:t>)</a:t>
            </a:r>
            <a:r>
              <a:rPr lang="ko-KR" altLang="en-US" dirty="0"/>
              <a:t>명이 있는 경우에 따라 반복 테이블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전기공사</a:t>
            </a:r>
            <a:r>
              <a:rPr lang="en-US" altLang="ko-KR" dirty="0"/>
              <a:t>, </a:t>
            </a:r>
            <a:r>
              <a:rPr lang="ko-KR" altLang="en-US" dirty="0"/>
              <a:t>소방공사</a:t>
            </a:r>
            <a:r>
              <a:rPr lang="en-US" altLang="ko-KR" dirty="0"/>
              <a:t>, </a:t>
            </a:r>
            <a:r>
              <a:rPr lang="ko-KR" altLang="en-US" dirty="0"/>
              <a:t>기계설비공사</a:t>
            </a:r>
            <a:r>
              <a:rPr lang="en-US" altLang="ko-KR" dirty="0"/>
              <a:t>, </a:t>
            </a:r>
            <a:r>
              <a:rPr lang="ko-KR" altLang="en-US" dirty="0"/>
              <a:t>그 밖의 공사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675399" y="1998040"/>
            <a:ext cx="2712026" cy="3108762"/>
            <a:chOff x="675399" y="2607641"/>
            <a:chExt cx="2712026" cy="3108762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607641"/>
              <a:ext cx="2208095" cy="24577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dirty="0">
                  <a:latin typeface="+mn-ea"/>
                </a:rPr>
                <a:t>복합공사종류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다른 공사 종류 포함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실적 명세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7153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지난연도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전기공사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71640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405594"/>
            <a:ext cx="76863" cy="292489"/>
            <a:chOff x="3750067" y="4683795"/>
            <a:chExt cx="76863" cy="292489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4366153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H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9.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전문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MUI-CM-04-T09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7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518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518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79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7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518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518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79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5335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5704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9035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3190"/>
            <a:ext cx="792000" cy="1932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318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3189"/>
            <a:ext cx="79200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총공사금액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</a:t>
            </a:r>
            <a:r>
              <a:rPr lang="ko-KR" altLang="en-US" sz="700" dirty="0" err="1">
                <a:latin typeface="+mn-ea"/>
              </a:rPr>
              <a:t>년월일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주력분야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세부공증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전문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3189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신설공사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무기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429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80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17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54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290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74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51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26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6696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5704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9.</a:t>
              </a:r>
              <a:r>
                <a:rPr lang="ko-KR" altLang="en-US" sz="700" dirty="0">
                  <a:latin typeface="+mn-ea"/>
                </a:rPr>
                <a:t>건설공사기성실적증명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</a:t>
              </a:r>
              <a:r>
                <a:rPr lang="en-US" altLang="ko-KR" sz="700" dirty="0">
                  <a:latin typeface="+mn-ea"/>
                </a:rPr>
                <a:t>_</a:t>
              </a: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전문</a:t>
              </a:r>
              <a:r>
                <a:rPr lang="en-US" altLang="ko-KR" sz="700" dirty="0">
                  <a:latin typeface="+mn-ea"/>
                </a:rPr>
                <a:t>) 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3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91988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51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154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732984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현장 소재지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번지까지 기재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10835656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추가정보가</a:t>
            </a:r>
            <a:r>
              <a:rPr lang="ko-KR" altLang="en-US" dirty="0"/>
              <a:t> 있는 경우 추가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MUI-CM-04-T09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05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899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899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560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96931"/>
            <a:ext cx="2208095" cy="245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복합공사종류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다른 공사 종류 포함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실적 명세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단위</a:t>
            </a:r>
            <a:r>
              <a:rPr lang="en-US" altLang="ko-KR" sz="700" dirty="0">
                <a:latin typeface="+mn-ea"/>
              </a:rPr>
              <a:t>:</a:t>
            </a:r>
            <a:r>
              <a:rPr lang="ko-KR" altLang="en-US" sz="700" dirty="0">
                <a:latin typeface="+mn-ea"/>
              </a:rPr>
              <a:t>천원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부가세포함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3139424" y="209284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718459" y="2286999"/>
            <a:ext cx="792000" cy="1951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228699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286998"/>
            <a:ext cx="79200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기성지급액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총계약금액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286998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518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731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9455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15922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3667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5912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7989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0064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4179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7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946821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당년도 </a:t>
            </a:r>
            <a:r>
              <a:rPr lang="ko-KR" altLang="en-US" sz="700" dirty="0" err="1"/>
              <a:t>계약액</a:t>
            </a:r>
            <a:r>
              <a:rPr lang="ko-KR" altLang="en-US" sz="700" dirty="0"/>
              <a:t> 또는 </a:t>
            </a:r>
            <a:r>
              <a:rPr lang="ko-KR" altLang="en-US" sz="700" dirty="0" err="1"/>
              <a:t>이월금액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3800012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전년도까지</a:t>
            </a:r>
            <a:endParaRPr lang="en-US" altLang="ko-KR" sz="700" dirty="0"/>
          </a:p>
          <a:p>
            <a:r>
              <a:rPr lang="ko-KR" altLang="en-US" sz="700" dirty="0" err="1">
                <a:latin typeface="+mn-ea"/>
              </a:rPr>
              <a:t>누계기성액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4019478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전년도까지</a:t>
            </a:r>
            <a:endParaRPr lang="en-US" altLang="ko-KR" sz="700" dirty="0"/>
          </a:p>
          <a:p>
            <a:r>
              <a:rPr lang="ko-KR" altLang="en-US" sz="700" dirty="0" err="1">
                <a:latin typeface="+mn-ea"/>
              </a:rPr>
              <a:t>누계지급액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2452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8" name="그룹 47"/>
          <p:cNvGrpSpPr/>
          <p:nvPr/>
        </p:nvGrpSpPr>
        <p:grpSpPr>
          <a:xfrm>
            <a:off x="675399" y="4748002"/>
            <a:ext cx="2712027" cy="789495"/>
            <a:chOff x="675399" y="1544009"/>
            <a:chExt cx="2712027" cy="78949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0" name="그룹 4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4" name="직선 연결선 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308529"/>
            <a:ext cx="76863" cy="292489"/>
            <a:chOff x="3750067" y="4683795"/>
            <a:chExt cx="76863" cy="292489"/>
          </a:xfrm>
        </p:grpSpPr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6961592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I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10.</a:t>
            </a:r>
            <a:r>
              <a:rPr lang="ko-KR" altLang="en-US" dirty="0"/>
              <a:t>건설공사 </a:t>
            </a:r>
            <a:r>
              <a:rPr lang="ko-KR" altLang="en-US" dirty="0" err="1"/>
              <a:t>직접시공분</a:t>
            </a:r>
            <a:r>
              <a:rPr lang="ko-KR" altLang="en-US" dirty="0"/>
              <a:t> 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 </a:t>
            </a:r>
            <a:r>
              <a:rPr lang="en-US" altLang="ko-KR" dirty="0"/>
              <a:t>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MUI-CM-04-T10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254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2911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6242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0397"/>
            <a:ext cx="792000" cy="1515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039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0396"/>
            <a:ext cx="79200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총공사금액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</a:t>
            </a:r>
            <a:r>
              <a:rPr lang="ko-KR" altLang="en-US" sz="700" dirty="0" err="1">
                <a:latin typeface="+mn-ea"/>
              </a:rPr>
              <a:t>년월일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0396"/>
            <a:ext cx="17840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 err="1"/>
              <a:t>백원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공종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15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52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389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26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01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464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23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3903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2911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10.</a:t>
              </a:r>
              <a:r>
                <a:rPr lang="ko-KR" altLang="en-US" sz="700" dirty="0">
                  <a:latin typeface="+mn-ea"/>
                </a:rPr>
                <a:t>건설공사 </a:t>
              </a:r>
              <a:r>
                <a:rPr lang="ko-KR" altLang="en-US" sz="700" dirty="0" err="1">
                  <a:latin typeface="+mn-ea"/>
                </a:rPr>
                <a:t>직접시공분</a:t>
              </a:r>
              <a:r>
                <a:rPr lang="ko-KR" altLang="en-US" sz="700" dirty="0">
                  <a:latin typeface="+mn-ea"/>
                </a:rPr>
                <a:t> 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05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844149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23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730191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현장 소재지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번지까지 기재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948802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공종</a:t>
            </a:r>
            <a:r>
              <a:rPr lang="en-US" altLang="ko-KR" sz="700" dirty="0">
                <a:latin typeface="+mn-ea"/>
              </a:rPr>
              <a:t>([</a:t>
            </a:r>
            <a:r>
              <a:rPr lang="ko-KR" altLang="en-US" sz="700" dirty="0">
                <a:latin typeface="+mn-ea"/>
              </a:rPr>
              <a:t>건설산업기본법시행규칙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제 </a:t>
            </a:r>
            <a:r>
              <a:rPr lang="en-US" altLang="ko-KR" sz="700" dirty="0">
                <a:latin typeface="+mn-ea"/>
              </a:rPr>
              <a:t>25</a:t>
            </a:r>
            <a:r>
              <a:rPr lang="ko-KR" altLang="en-US" sz="700" dirty="0">
                <a:latin typeface="+mn-ea"/>
              </a:rPr>
              <a:t>조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1558335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추가정보가</a:t>
            </a:r>
            <a:r>
              <a:rPr lang="ko-KR" altLang="en-US" dirty="0"/>
              <a:t> 있는 경우 추가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MUI-CM-04-T10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05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899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899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560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96931"/>
            <a:ext cx="2208095" cy="245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복합공사종류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다른 공사 종류 포함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실적 명세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단위</a:t>
            </a:r>
            <a:r>
              <a:rPr lang="en-US" altLang="ko-KR" sz="700" dirty="0">
                <a:latin typeface="+mn-ea"/>
              </a:rPr>
              <a:t>:</a:t>
            </a:r>
            <a:r>
              <a:rPr lang="ko-KR" altLang="en-US" sz="700" dirty="0">
                <a:latin typeface="+mn-ea"/>
              </a:rPr>
              <a:t>천원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부가세포함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3139424" y="209284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718459" y="2286999"/>
            <a:ext cx="792000" cy="17194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228699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286998"/>
            <a:ext cx="792000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해당연도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준공연월일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286998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2023</a:t>
            </a:r>
            <a:r>
              <a:rPr lang="ko-KR" altLang="en-US" sz="700" dirty="0"/>
              <a:t>년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2020-01-12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2020-01-13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518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731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1284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3667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5912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7989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0064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4179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7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763764"/>
            <a:ext cx="79200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해당연도 </a:t>
            </a:r>
            <a:r>
              <a:rPr lang="ko-KR" altLang="en-US" sz="700" dirty="0" err="1"/>
              <a:t>직접시공분</a:t>
            </a:r>
            <a:r>
              <a:rPr lang="en-US" altLang="ko-KR" sz="700" dirty="0"/>
              <a:t> 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 err="1"/>
              <a:t>전문공사</a:t>
            </a:r>
            <a:r>
              <a:rPr lang="en-US" altLang="ko-KR" sz="700" dirty="0"/>
              <a:t>)</a:t>
            </a:r>
            <a:endParaRPr lang="en-US" altLang="ko-KR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3131934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해당연도 </a:t>
            </a:r>
            <a:r>
              <a:rPr lang="ko-KR" altLang="en-US" sz="700" dirty="0" err="1"/>
              <a:t>직접시공분</a:t>
            </a:r>
            <a:r>
              <a:rPr lang="ko-KR" altLang="en-US" sz="700" dirty="0"/>
              <a:t> </a:t>
            </a:r>
            <a:r>
              <a:rPr lang="ko-KR" altLang="en-US" sz="700" dirty="0" err="1"/>
              <a:t>기성액</a:t>
            </a:r>
            <a:endParaRPr lang="en-US" altLang="ko-KR" sz="700" dirty="0"/>
          </a:p>
        </p:txBody>
      </p:sp>
      <p:grpSp>
        <p:nvGrpSpPr>
          <p:cNvPr id="48" name="그룹 47"/>
          <p:cNvGrpSpPr/>
          <p:nvPr/>
        </p:nvGrpSpPr>
        <p:grpSpPr>
          <a:xfrm>
            <a:off x="675399" y="4748002"/>
            <a:ext cx="2712027" cy="789495"/>
            <a:chOff x="675399" y="1544009"/>
            <a:chExt cx="2712027" cy="78949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0" name="그룹 4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4" name="직선 연결선 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152690"/>
            <a:ext cx="76863" cy="292489"/>
            <a:chOff x="3750067" y="4683795"/>
            <a:chExt cx="76863" cy="292489"/>
          </a:xfrm>
        </p:grpSpPr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825746"/>
            <a:ext cx="178408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3138529"/>
            <a:ext cx="178408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2121000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시설공사 아님</a:t>
            </a: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시설공사가 아닐 때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MUI-CM-04-T11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39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486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486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47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39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486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486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47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5382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추가사항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8713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2868"/>
            <a:ext cx="792000" cy="23609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286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2867"/>
            <a:ext cx="79200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실적비율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(%)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규격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품질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 err="1">
                <a:latin typeface="+mn-ea"/>
              </a:rPr>
              <a:t>성능통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납품일자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단위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규모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비고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2867"/>
            <a:ext cx="1784088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2021 ~ 2023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계약목적과</a:t>
            </a:r>
            <a:r>
              <a:rPr lang="ko-KR" altLang="en-US" sz="700" dirty="0"/>
              <a:t> 동등이상물품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10 %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10,000,000,000 </a:t>
            </a:r>
            <a:r>
              <a:rPr lang="ko-KR" altLang="en-US" sz="700" dirty="0"/>
              <a:t>원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ko-KR" altLang="en-US" sz="700" dirty="0"/>
              <a:t>규격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2023-01-01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</a:t>
            </a:r>
            <a:r>
              <a:rPr lang="ko-KR" altLang="en-US" sz="700" dirty="0"/>
              <a:t>톤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EA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용역범위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규모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비고사항</a:t>
            </a:r>
            <a:r>
              <a:rPr lang="ko-KR" altLang="en-US" sz="700" dirty="0"/>
              <a:t> 내용</a:t>
            </a:r>
            <a:endParaRPr lang="en-US" altLang="ko-KR" sz="700" dirty="0"/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397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767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13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50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25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71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48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7200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951" y="20425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4004096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용역범위</a:t>
            </a:r>
            <a:r>
              <a:rPr lang="ko-KR" altLang="en-US" sz="700" dirty="0">
                <a:latin typeface="+mn-ea"/>
              </a:rPr>
              <a:t> 및 기준</a:t>
            </a: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면적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금액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원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등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85" name="그룹 84"/>
          <p:cNvGrpSpPr/>
          <p:nvPr/>
        </p:nvGrpSpPr>
        <p:grpSpPr>
          <a:xfrm>
            <a:off x="675400" y="1975382"/>
            <a:ext cx="2712026" cy="1252381"/>
            <a:chOff x="675400" y="2590223"/>
            <a:chExt cx="2712026" cy="1252381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직사각형 88"/>
            <p:cNvSpPr/>
            <p:nvPr/>
          </p:nvSpPr>
          <p:spPr>
            <a:xfrm>
              <a:off x="722583" y="2897709"/>
              <a:ext cx="792000" cy="87222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실적확인용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직선 연결선 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384260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40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115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3611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438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29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53564768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272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B126B0-6121-6E1B-9FD7-3B9617C44EC9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FB8EBB-8EF9-F488-DFB3-B80370C053BA}"/>
              </a:ext>
            </a:extLst>
          </p:cNvPr>
          <p:cNvSpPr txBox="1"/>
          <p:nvPr/>
        </p:nvSpPr>
        <p:spPr>
          <a:xfrm>
            <a:off x="452790" y="853264"/>
            <a:ext cx="36137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접수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2E025457-997D-C977-E1C9-C1948C2ABD2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66947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prfmncRcptNo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prfmncPrgrsSttsCd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P: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S: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R: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I: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방위사업청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    (I: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R: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G: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C: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Y: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V: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:UG02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F9723FA-3390-6911-DF28-52F5717D8CE8}"/>
              </a:ext>
            </a:extLst>
          </p:cNvPr>
          <p:cNvSpPr txBox="1"/>
          <p:nvPr/>
        </p:nvSpPr>
        <p:spPr>
          <a:xfrm>
            <a:off x="452291" y="2166292"/>
            <a:ext cx="21902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91EEA66-EC04-37FF-84E8-4EB475823449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2377495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CtrtOd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ctrtCnNm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2: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3: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73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881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1331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416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picNm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8289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enPicTel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09105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2F8F539-94D0-0462-6FF9-5496DA8D913D}"/>
              </a:ext>
            </a:extLst>
          </p:cNvPr>
          <p:cNvSpPr txBox="1"/>
          <p:nvPr/>
        </p:nvSpPr>
        <p:spPr>
          <a:xfrm>
            <a:off x="452291" y="4339817"/>
            <a:ext cx="4298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신청정보 입력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356711F-8FAB-DB6A-65D5-F428625BC215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55102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entlno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dmndQty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submOrgn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usePrpsCd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etcUsePrps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경우만 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34EDD8DB-1E2E-4BD3-C8AE-EB01FBD5F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30768030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181E2-3BA7-B57D-98EF-0B776A727D98}"/>
              </a:ext>
            </a:extLst>
          </p:cNvPr>
          <p:cNvSpPr txBox="1"/>
          <p:nvPr/>
        </p:nvSpPr>
        <p:spPr>
          <a:xfrm>
            <a:off x="463235" y="851763"/>
            <a:ext cx="35255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C5F04A-9C28-E86D-C357-41CF63514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722543"/>
              </p:ext>
            </p:extLst>
          </p:nvPr>
        </p:nvGraphicFramePr>
        <p:xfrm>
          <a:off x="458117" y="106296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prfmncIdntyAmt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prpamtIdntyAmt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clclnAmt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otstDmndAmt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mdwyDmndAmt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grnteInsrncNo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idntyDmndMttr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clclnYmd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납품일자로 바뀌기도 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1DAF561-8940-F301-28F9-894AFD6AB87A}"/>
              </a:ext>
            </a:extLst>
          </p:cNvPr>
          <p:cNvSpPr txBox="1"/>
          <p:nvPr/>
        </p:nvSpPr>
        <p:spPr>
          <a:xfrm>
            <a:off x="458117" y="3107767"/>
            <a:ext cx="42485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시공자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대표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dm_prfmncPrdocAplyRprsInfo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2EE9CFD-A820-FA44-B1F2-B804E2C36D2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33052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DB7E85-55B9-F2B1-FF88-A621CA41216B}"/>
              </a:ext>
            </a:extLst>
          </p:cNvPr>
          <p:cNvSpPr txBox="1"/>
          <p:nvPr/>
        </p:nvSpPr>
        <p:spPr>
          <a:xfrm>
            <a:off x="463235" y="4638721"/>
            <a:ext cx="531933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 err="1">
                <a:solidFill>
                  <a:prstClr val="black"/>
                </a:solidFill>
              </a:rPr>
              <a:t>총공사</a:t>
            </a:r>
            <a:r>
              <a:rPr lang="ko-KR" altLang="en-US" sz="900" b="1" dirty="0">
                <a:solidFill>
                  <a:prstClr val="black"/>
                </a:solidFill>
              </a:rPr>
              <a:t>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dm_prfmncPrdocAplyWholCstrnInfo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D6DB57DF-3264-70A1-5F25-B696A1D2B69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484992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170D974-0CBE-8362-4AF3-B1753FC196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납품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선금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정산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착수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중도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71391506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4482E-9BC8-2B91-6322-DFD524FE23D9}"/>
              </a:ext>
            </a:extLst>
          </p:cNvPr>
          <p:cNvSpPr txBox="1"/>
          <p:nvPr/>
        </p:nvSpPr>
        <p:spPr>
          <a:xfrm>
            <a:off x="463235" y="799547"/>
            <a:ext cx="5143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금차공사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6384CB9E-D7A4-B068-B2D0-EC38412C4BF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07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ctrtYmd2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bgncstYmd2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cmcnYmd2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cstrnAmt2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cmcnAmt2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gvspAmt2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2C62C28-EE12-EE0B-0C0A-A16F41A38450}"/>
              </a:ext>
            </a:extLst>
          </p:cNvPr>
          <p:cNvSpPr txBox="1"/>
          <p:nvPr/>
        </p:nvSpPr>
        <p:spPr>
          <a:xfrm>
            <a:off x="463235" y="2502345"/>
            <a:ext cx="43575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공사설정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AAFAF7-108B-EEEE-7473-DE803731BDB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13548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cnstrDivs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cnstrExpnCstrnYn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cnstrRmdlCstrnYn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eltyDivs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eltyEpxnCstrnYn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eltyRlocatCstrnYn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eltyEstblCstrnYn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eltyRprwrkYn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09C00F4-9404-C91B-1399-DF8169011927}"/>
              </a:ext>
            </a:extLst>
          </p:cNvPr>
          <p:cNvSpPr txBox="1"/>
          <p:nvPr/>
        </p:nvSpPr>
        <p:spPr>
          <a:xfrm>
            <a:off x="460676" y="3728980"/>
            <a:ext cx="446012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공동도급 여부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dm_prfmncPrdocAplyJntCtrcInfo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DB4DE96-8723-0921-3DA8-36813F40B07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940183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049B929-F7AA-D9E8-2DD8-28188E1C4D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39780094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0BE741-117A-6D32-5EBE-43EDB3129FD8}"/>
              </a:ext>
            </a:extLst>
          </p:cNvPr>
          <p:cNvSpPr txBox="1"/>
          <p:nvPr/>
        </p:nvSpPr>
        <p:spPr>
          <a:xfrm>
            <a:off x="463235" y="874033"/>
            <a:ext cx="468614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실적의 종류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dm_prfmncPrdocAplyprfmncTypeInfo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593A7EF-D452-FBE8-B657-CCAAF1ECE55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5236"/>
          <a:ext cx="8994883" cy="3862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875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실적의종류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rsltDivs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prfmncCncptDesignYn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prfmncBscDesignYn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prfmncEnfrcDesignYn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prfmncCnstYn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prfmncSpvbYn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prfmncQltyCstrnMngYn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prfmncTstrnYn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prfmncMcmtrFbctnInstlYn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prfmncEtcYn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72502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411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889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31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14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893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1270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22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cnstBcoSclMthdCn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266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cnstBcoCnstAmtCn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1911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cnstBcoCmcnAmtCn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674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7492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8DCE7-3703-62EA-C591-0D2AFCE97F56}"/>
              </a:ext>
            </a:extLst>
          </p:cNvPr>
          <p:cNvSpPr txBox="1"/>
          <p:nvPr/>
        </p:nvSpPr>
        <p:spPr>
          <a:xfrm>
            <a:off x="453000" y="5119726"/>
            <a:ext cx="428058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 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A4AE937-CE3D-39A4-C44A-325B4A7851E4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326571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72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89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sbctrCstrnSclCn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22CC85B2-AFAE-35F7-BE83-4D56FE2D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05470042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C8262-3EA1-2756-0C68-C364281C05B7}"/>
              </a:ext>
            </a:extLst>
          </p:cNvPr>
          <p:cNvSpPr txBox="1"/>
          <p:nvPr/>
        </p:nvSpPr>
        <p:spPr>
          <a:xfrm>
            <a:off x="455558" y="904033"/>
            <a:ext cx="56607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최저가 적정성심사관련 시공실적자료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dm_prfmncPrdocAplyLwprcInfo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46C8FCD-2050-5A41-D075-16415974C18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771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eqpmntSpcfctCn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inputCntomCn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wkqtyActotCn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918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jobHrActotCn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3788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ptmWkqtyCn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8343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etcRefMttr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542907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6277042-213F-BD1E-DB8E-DFAFA33C9135}"/>
              </a:ext>
            </a:extLst>
          </p:cNvPr>
          <p:cNvSpPr txBox="1"/>
          <p:nvPr/>
        </p:nvSpPr>
        <p:spPr>
          <a:xfrm>
            <a:off x="455558" y="300809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7E37716-D066-1919-8A1E-A572C82D71A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21930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1D3215C-E2F4-C40C-F7A3-4F6C720F3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6095349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38048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(06/19)</a:t>
            </a:r>
            <a:endParaRPr lang="ko-KR" altLang="en-US" sz="1000" b="1" dirty="0">
              <a:solidFill>
                <a:prstClr val="black"/>
              </a:solidFill>
            </a:endParaRPr>
          </a:p>
          <a:p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F92358-CECD-C653-3FA6-3D4C7200DF2E}"/>
              </a:ext>
            </a:extLst>
          </p:cNvPr>
          <p:cNvSpPr txBox="1"/>
          <p:nvPr/>
        </p:nvSpPr>
        <p:spPr>
          <a:xfrm>
            <a:off x="453000" y="907986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7250B9-9B5E-2209-667D-08910AAAEAC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02546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708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49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335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snthsDtlCnstpNm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491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2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070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5557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174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2322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42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9559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2474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097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thyrOdrSplyMtrlAmt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638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prvyrGvspMtrlActotAmt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46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627840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47511D7-9F2F-423A-B5D3-FCB7AEF03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7158688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D660A-7345-AF1D-5B81-E928CEEDB7EC}"/>
              </a:ext>
            </a:extLst>
          </p:cNvPr>
          <p:cNvSpPr txBox="1"/>
          <p:nvPr/>
        </p:nvSpPr>
        <p:spPr>
          <a:xfrm>
            <a:off x="455558" y="86961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8D75A14-F914-E1A0-5B45-3CD32C5BD8E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3301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3872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prdocUsgCn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061D54-42C2-ABC2-BEC4-E9F8D2B3ADDF}"/>
              </a:ext>
            </a:extLst>
          </p:cNvPr>
          <p:cNvSpPr txBox="1"/>
          <p:nvPr/>
        </p:nvSpPr>
        <p:spPr>
          <a:xfrm>
            <a:off x="460676" y="2319372"/>
            <a:ext cx="58130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수집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운반용역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dm_prfmncPrdocAplyClctCnvncInfo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88055FD-6A65-6C0E-FFEA-FC4E4404E88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530575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clctCnvncCtrtBgngYmd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BF7FE-3684-6278-BA47-60FCDEF7768D}"/>
              </a:ext>
            </a:extLst>
          </p:cNvPr>
          <p:cNvSpPr txBox="1"/>
          <p:nvPr/>
        </p:nvSpPr>
        <p:spPr>
          <a:xfrm>
            <a:off x="460676" y="4454936"/>
            <a:ext cx="59316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중간처리용역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dm_prfmncPrdocAplyMdPrcsLbsvcInfo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099DDEA-9A7A-90A8-4440-F5509D4AA7E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666139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mdPrcsCtprCn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E4E51481-49A1-4CBC-B70D-0ABB0FB95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4480877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E413DB-BAE1-A5CA-06E1-959007BAF8C7}"/>
              </a:ext>
            </a:extLst>
          </p:cNvPr>
          <p:cNvSpPr txBox="1"/>
          <p:nvPr/>
        </p:nvSpPr>
        <p:spPr>
          <a:xfrm>
            <a:off x="458117" y="876843"/>
            <a:ext cx="4113874" cy="34970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</a:p>
          <a:p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B184D5-1CB7-6E4A-E3B7-E4E1F2322E9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9052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952C0DE-EC99-B818-90E4-0044D8E380B5}"/>
              </a:ext>
            </a:extLst>
          </p:cNvPr>
          <p:cNvSpPr txBox="1"/>
          <p:nvPr/>
        </p:nvSpPr>
        <p:spPr>
          <a:xfrm>
            <a:off x="463235" y="2258346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D01B924D-3AF8-D0AD-B04D-FA009F03FEB4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69549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prvyrGiveActotAmt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194A73B-531A-4109-5C94-B11B854850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207178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CEC13-90FF-84FB-1FC6-C272DC4FAD85}"/>
              </a:ext>
            </a:extLst>
          </p:cNvPr>
          <p:cNvSpPr txBox="1"/>
          <p:nvPr/>
        </p:nvSpPr>
        <p:spPr>
          <a:xfrm>
            <a:off x="429215" y="931189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5DD2849-0F24-7B79-34A0-1ED4EC256DC1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113453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132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0A5D196-94BC-4511-0404-D81CC6B7E970}"/>
              </a:ext>
            </a:extLst>
          </p:cNvPr>
          <p:cNvSpPr txBox="1"/>
          <p:nvPr/>
        </p:nvSpPr>
        <p:spPr>
          <a:xfrm>
            <a:off x="434333" y="2171729"/>
            <a:ext cx="52488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실적증명서신처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38C5703-47BA-C42E-134E-1E7471B15DCF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2376994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cstrnRgnNm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9BFF0B1-3A1B-ED08-BE98-7526C6B497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396271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(10/19)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E51CA8-B851-C014-4942-C9726A17F7F4}"/>
              </a:ext>
            </a:extLst>
          </p:cNvPr>
          <p:cNvSpPr txBox="1"/>
          <p:nvPr/>
        </p:nvSpPr>
        <p:spPr>
          <a:xfrm>
            <a:off x="463235" y="852989"/>
            <a:ext cx="55998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2600223-C915-C0B9-3200-4B075AEEEDE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64192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14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61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C1462B7-4D45-3B4A-3F1A-9F9CF4F2E5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5417760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EFA38-0BCF-E62D-6D10-D106B5E68580}"/>
              </a:ext>
            </a:extLst>
          </p:cNvPr>
          <p:cNvSpPr txBox="1"/>
          <p:nvPr/>
        </p:nvSpPr>
        <p:spPr>
          <a:xfrm>
            <a:off x="463235" y="900279"/>
            <a:ext cx="55886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복합공종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타 </a:t>
            </a:r>
            <a:r>
              <a:rPr lang="ko-KR" altLang="en-US" sz="900" b="1" dirty="0" err="1">
                <a:solidFill>
                  <a:prstClr val="black"/>
                </a:solidFill>
              </a:rPr>
              <a:t>공종</a:t>
            </a:r>
            <a:r>
              <a:rPr lang="ko-KR" altLang="en-US" sz="900" b="1" dirty="0">
                <a:solidFill>
                  <a:prstClr val="black"/>
                </a:solidFill>
              </a:rPr>
              <a:t>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76710F9-BC4E-11D5-4F7A-0334F689964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1482"/>
          <a:ext cx="8994883" cy="3102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cstrnNm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ctrcAmt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thsyrPxcndAmt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nestblAmt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431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3955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011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8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544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4248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3203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19742-9F88-3E88-B47F-E969969ECF8E}"/>
              </a:ext>
            </a:extLst>
          </p:cNvPr>
          <p:cNvSpPr txBox="1"/>
          <p:nvPr/>
        </p:nvSpPr>
        <p:spPr>
          <a:xfrm>
            <a:off x="460676" y="844084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864D96-C35C-12BD-4B29-F02071D1C24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2783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0394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bldrRegNo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795774B-3284-E9D2-5E06-FE879861AA8F}"/>
              </a:ext>
            </a:extLst>
          </p:cNvPr>
          <p:cNvSpPr txBox="1"/>
          <p:nvPr/>
        </p:nvSpPr>
        <p:spPr>
          <a:xfrm>
            <a:off x="460676" y="2485291"/>
            <a:ext cx="49426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 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D3F15B7-33B6-8A14-3D13-C1B9AB224A8B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696494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orderIntstNm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D1F168B-0104-B92B-7B82-804D59139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1278435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20391-6BA9-2E91-175E-D773C7F45A52}"/>
              </a:ext>
            </a:extLst>
          </p:cNvPr>
          <p:cNvSpPr txBox="1"/>
          <p:nvPr/>
        </p:nvSpPr>
        <p:spPr>
          <a:xfrm>
            <a:off x="455558" y="830022"/>
            <a:ext cx="525360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4FAEE54-16E8-DF49-77FD-01C150F9FEF2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77473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166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05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prvyrCrfwAmt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etcCstrnKndPxcndAmt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7544D27-6A9E-E000-6A4F-43081CDE1086}"/>
              </a:ext>
            </a:extLst>
          </p:cNvPr>
          <p:cNvSpPr txBox="1"/>
          <p:nvPr/>
        </p:nvSpPr>
        <p:spPr>
          <a:xfrm>
            <a:off x="458118" y="3246314"/>
            <a:ext cx="427096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874F7C9-509D-86D7-E153-18CFB398129E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45751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D3E10F7-735A-384B-D044-B5A65A490D4E}"/>
              </a:ext>
            </a:extLst>
          </p:cNvPr>
          <p:cNvSpPr txBox="1"/>
          <p:nvPr/>
        </p:nvSpPr>
        <p:spPr>
          <a:xfrm>
            <a:off x="460676" y="5500694"/>
            <a:ext cx="42677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시공규모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dm_prfmncPrdocAplyCnstSclInfo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7222A68-8CC6-55BD-98CE-A8DEF902A5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711897"/>
          <a:ext cx="8994883" cy="437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  <a:p>
                      <a:pPr algn="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186E1B02-F69A-4581-7B7F-BF7BD8AEB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867206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A8BAA-FEBC-A2D7-CDF6-5161FCA41941}"/>
              </a:ext>
            </a:extLst>
          </p:cNvPr>
          <p:cNvSpPr txBox="1"/>
          <p:nvPr/>
        </p:nvSpPr>
        <p:spPr>
          <a:xfrm>
            <a:off x="460676" y="879289"/>
            <a:ext cx="647349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(1/3)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053B0C-6356-2030-886E-67B59B2E902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90492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98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97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39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prvyrM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782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7097774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08EA34B3-76D1-C847-6339-015472005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6290190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ABABC4-5791-1F7E-9C6D-7C88CC75CCD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96434"/>
          <a:ext cx="8994883" cy="4316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39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81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73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69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960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prvyrA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(2/3)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B3781241-0BB5-4891-CAEC-3CB9CC5369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70439800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(16/19)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(3/3)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D9E8A80-A4F9-0812-AACD-8E66645E1EFF}"/>
              </a:ext>
            </a:extLst>
          </p:cNvPr>
          <p:cNvGraphicFramePr>
            <a:graphicFrameLocks noGrp="1"/>
          </p:cNvGraphicFramePr>
          <p:nvPr/>
        </p:nvGraphicFramePr>
        <p:xfrm>
          <a:off x="531758" y="1102368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09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402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03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C8447F4-EDFE-DABF-2D95-B81612E7EA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3720971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48936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288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41572-54CB-BB97-14B8-26728B8BF74E}"/>
              </a:ext>
            </a:extLst>
          </p:cNvPr>
          <p:cNvSpPr txBox="1"/>
          <p:nvPr/>
        </p:nvSpPr>
        <p:spPr>
          <a:xfrm>
            <a:off x="460676" y="891040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7CE651-A68C-38D8-F57D-83B2DEC3539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146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48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02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245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47D1D4-18BA-6688-655A-E575CF4DC5BF}"/>
              </a:ext>
            </a:extLst>
          </p:cNvPr>
          <p:cNvSpPr txBox="1"/>
          <p:nvPr/>
        </p:nvSpPr>
        <p:spPr>
          <a:xfrm>
            <a:off x="460676" y="2232103"/>
            <a:ext cx="45114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DD57D6-6C16-028F-36D2-73484B85928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443306"/>
          <a:ext cx="8994883" cy="368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42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5546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23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telgmDtlCnstpNm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143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709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849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79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누계지금액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누계지금액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4018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7492F64-418F-722D-475C-C50FFA984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705838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A88E40-EC22-8EC3-7EA4-A41FCEA2C056}"/>
              </a:ext>
            </a:extLst>
          </p:cNvPr>
          <p:cNvSpPr txBox="1"/>
          <p:nvPr/>
        </p:nvSpPr>
        <p:spPr>
          <a:xfrm>
            <a:off x="463235" y="84771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E221A27-4A35-40D5-4B24-0A904AD4BEF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6863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9866966-F2EA-F6E9-3795-7D7FDCF17347}"/>
              </a:ext>
            </a:extLst>
          </p:cNvPr>
          <p:cNvSpPr txBox="1"/>
          <p:nvPr/>
        </p:nvSpPr>
        <p:spPr>
          <a:xfrm>
            <a:off x="463235" y="2266004"/>
            <a:ext cx="44392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1.33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986C65-5B27-992A-C159-8829D62C403A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77207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year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telgmDtlCnstpNm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7532CAE9-BD20-D658-EB25-3857A12605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26305860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290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BC42-08DC-7529-EB0E-36C2B48020C9}"/>
              </a:ext>
            </a:extLst>
          </p:cNvPr>
          <p:cNvSpPr txBox="1"/>
          <p:nvPr/>
        </p:nvSpPr>
        <p:spPr>
          <a:xfrm>
            <a:off x="463235" y="835005"/>
            <a:ext cx="46140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추가사항 입력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dm_prfmncPrdocAplyAddMttrInfo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0B0D306-5BE2-05D0-9F7D-337578DB8F56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46208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PrfmncDmndRt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5,2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spcfct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dlvgdsYmd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unitNm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18,3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lbsvcScp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27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scl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87848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9DF6D55-F380-A2A7-BB37-A8355BD235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69552662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291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9B532-37AB-1CCF-6506-88E049A395C9}"/>
              </a:ext>
            </a:extLst>
          </p:cNvPr>
          <p:cNvSpPr txBox="1"/>
          <p:nvPr/>
        </p:nvSpPr>
        <p:spPr>
          <a:xfrm>
            <a:off x="464598" y="6597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E93D8B0E-1238-2AA7-F8A6-5003A89A9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863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D6FAFB4-C8C3-22D5-ADE8-1D6980C082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916354"/>
              </p:ext>
            </p:extLst>
          </p:nvPr>
        </p:nvGraphicFramePr>
        <p:xfrm>
          <a:off x="455204" y="886360"/>
          <a:ext cx="8995591" cy="196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신청 상세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scwin.btn_del_onclick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회송일때만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727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scwin.btn_mdfcn_onclick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수정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저장일때만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4547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저장된 실적증명서를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저장일때만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13869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scwin.btn_issu_onclick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발급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발급일때만 버튼 활성화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800" dirty="0">
                          <a:latin typeface="+mn-ea"/>
                          <a:ea typeface="+mn-ea"/>
                        </a:rPr>
                      </a:b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pdfViewer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 보여준다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9215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제출 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협회 제출용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발급일때만 버튼 활성화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6444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395284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 값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개월 이내 계약 목록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카드 선택으로 선택</a:t>
            </a:r>
            <a:r>
              <a:rPr lang="en-US" altLang="ko-KR" dirty="0"/>
              <a:t>, </a:t>
            </a:r>
            <a:r>
              <a:rPr lang="ko-KR" altLang="en-US" dirty="0"/>
              <a:t>선택 해제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상태에서 다음으로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신청정보</a:t>
            </a:r>
            <a:r>
              <a:rPr lang="en-US" altLang="ko-KR" dirty="0"/>
              <a:t>, </a:t>
            </a:r>
            <a:r>
              <a:rPr lang="ko-KR" altLang="en-US" dirty="0"/>
              <a:t>실적 정보 등이 입력된 상태에서 현재 화면으로 돌아와</a:t>
            </a:r>
            <a:r>
              <a:rPr lang="en-US" altLang="ko-KR" dirty="0"/>
              <a:t>, </a:t>
            </a:r>
            <a:r>
              <a:rPr lang="ko-KR" altLang="en-US" dirty="0"/>
              <a:t>선택된 계약을 해제하거나</a:t>
            </a:r>
            <a:r>
              <a:rPr lang="en-US" altLang="ko-KR" dirty="0"/>
              <a:t> </a:t>
            </a:r>
            <a:r>
              <a:rPr lang="ko-KR" altLang="en-US" dirty="0"/>
              <a:t>다른 계약 선택 등의 행동을 할 때</a:t>
            </a:r>
            <a:r>
              <a:rPr lang="en-US" altLang="ko-KR" dirty="0"/>
              <a:t>, </a:t>
            </a:r>
            <a:r>
              <a:rPr lang="ko-KR" altLang="en-US" dirty="0" err="1"/>
              <a:t>모달</a:t>
            </a:r>
            <a:r>
              <a:rPr lang="ko-KR" altLang="en-US" dirty="0"/>
              <a:t> 팝업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작성하신 내용이 사라집니다</a:t>
            </a:r>
            <a:r>
              <a:rPr lang="en-US" altLang="ko-KR" dirty="0"/>
              <a:t>. </a:t>
            </a:r>
            <a:r>
              <a:rPr lang="ko-KR" altLang="en-US" dirty="0"/>
              <a:t>정말 계약을 변경하시겠습니까</a:t>
            </a:r>
            <a:r>
              <a:rPr lang="en-US" altLang="ko-KR" dirty="0"/>
              <a:t>? (N/Y)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선택</a:t>
            </a:r>
            <a:r>
              <a:rPr lang="en-US" altLang="ko-KR" dirty="0"/>
              <a:t> </a:t>
            </a:r>
            <a:r>
              <a:rPr lang="ko-KR" altLang="en-US" dirty="0"/>
              <a:t>표시 </a:t>
            </a:r>
            <a:r>
              <a:rPr lang="en-US" altLang="ko-KR" dirty="0"/>
              <a:t>(ON/OFF)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카드 선택 시 선택</a:t>
            </a:r>
            <a:r>
              <a:rPr lang="en-US" altLang="ko-KR" dirty="0"/>
              <a:t> </a:t>
            </a:r>
            <a:r>
              <a:rPr lang="ko-KR" altLang="en-US" dirty="0"/>
              <a:t>표시 변경 </a:t>
            </a:r>
            <a:r>
              <a:rPr lang="en-US" altLang="ko-KR" dirty="0"/>
              <a:t>(</a:t>
            </a:r>
            <a:r>
              <a:rPr lang="ko-KR" altLang="en-US" dirty="0"/>
              <a:t>버튼 영역 카드 전체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계약서 선택에 따라 이후 페이지 변경 표시</a:t>
            </a:r>
            <a:r>
              <a:rPr lang="en-US" altLang="ko-KR" dirty="0"/>
              <a:t> :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  </a:t>
            </a:r>
            <a:r>
              <a:rPr lang="en-US" altLang="ko-KR" dirty="0"/>
              <a:t>&gt; </a:t>
            </a:r>
            <a:r>
              <a:rPr lang="ko-KR" altLang="en-US" dirty="0"/>
              <a:t>사용목적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부대이면서 시설공사일때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제출유형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부대이면서 시설공사가 </a:t>
            </a:r>
            <a:r>
              <a:rPr lang="ko-KR" altLang="en-US" dirty="0" err="1"/>
              <a:t>아닐때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제출유형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작성 내용이 있을 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버튼 클릭 </a:t>
            </a:r>
            <a:r>
              <a:rPr lang="ko-KR" altLang="en-US" dirty="0" err="1"/>
              <a:t>모달</a:t>
            </a:r>
            <a:r>
              <a:rPr lang="ko-KR" altLang="en-US" dirty="0"/>
              <a:t> 팝업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작성하신 내용이 사라집니다</a:t>
            </a:r>
            <a:r>
              <a:rPr lang="en-US" altLang="ko-KR" dirty="0"/>
              <a:t>. </a:t>
            </a:r>
            <a:r>
              <a:rPr lang="ko-KR" altLang="en-US" dirty="0"/>
              <a:t>정말 작성을 취소하시겠습니까</a:t>
            </a:r>
            <a:r>
              <a:rPr lang="en-US" altLang="ko-KR" dirty="0"/>
              <a:t>? (N/Y)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다음 버튼 클릭 </a:t>
            </a:r>
            <a:r>
              <a:rPr lang="en-US" altLang="ko-KR" dirty="0"/>
              <a:t>: </a:t>
            </a:r>
            <a:r>
              <a:rPr lang="ko-KR" altLang="en-US" dirty="0" err="1"/>
              <a:t>신청정보</a:t>
            </a:r>
            <a:r>
              <a:rPr lang="ko-KR" altLang="en-US" dirty="0"/>
              <a:t> 입력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미 선택 시 다음 버튼 비활성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계약정보선택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계약정보선택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MUI-CM-04-M10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9" name="그룹 68"/>
          <p:cNvGrpSpPr/>
          <p:nvPr/>
        </p:nvGrpSpPr>
        <p:grpSpPr>
          <a:xfrm>
            <a:off x="680570" y="1580377"/>
            <a:ext cx="2712027" cy="266560"/>
            <a:chOff x="680570" y="1580377"/>
            <a:chExt cx="2712027" cy="26656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36072" y="1608356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실적증명서 신청</a:t>
              </a: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" name="그룹 15"/>
            <p:cNvGrpSpPr/>
            <p:nvPr/>
          </p:nvGrpSpPr>
          <p:grpSpPr>
            <a:xfrm rot="5400000">
              <a:off x="755013" y="1640499"/>
              <a:ext cx="94010" cy="47005"/>
              <a:chOff x="6812560" y="3297172"/>
              <a:chExt cx="94010" cy="47005"/>
            </a:xfrm>
          </p:grpSpPr>
          <p:cxnSp>
            <p:nvCxnSpPr>
              <p:cNvPr id="17" name="직선 연결선 1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직선 연결선 1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" name="타원 18"/>
            <p:cNvSpPr/>
            <p:nvPr/>
          </p:nvSpPr>
          <p:spPr>
            <a:xfrm>
              <a:off x="3044537" y="158037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777002" y="2324641"/>
            <a:ext cx="2513244" cy="318596"/>
            <a:chOff x="781461" y="2056702"/>
            <a:chExt cx="2459755" cy="318596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056702"/>
              <a:ext cx="2459755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dirty="0">
                  <a:latin typeface="+mn-ea"/>
                </a:rPr>
                <a:t>계약 정보 선택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267576"/>
              <a:ext cx="245975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 정보로 실적 증명서를 신청할 수 있습니다</a:t>
              </a:r>
              <a:r>
                <a:rPr lang="en-US" altLang="ko-KR" sz="700" dirty="0">
                  <a:latin typeface="+mn-ea"/>
                </a:rPr>
                <a:t>.</a:t>
              </a:r>
              <a:endParaRPr lang="ko-KR" altLang="en-US" sz="700" dirty="0">
                <a:latin typeface="+mn-ea"/>
              </a:endParaRPr>
            </a:p>
          </p:txBody>
        </p:sp>
      </p:grp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046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7" name="그룹 86"/>
          <p:cNvGrpSpPr/>
          <p:nvPr/>
        </p:nvGrpSpPr>
        <p:grpSpPr>
          <a:xfrm rot="16200000">
            <a:off x="2500331" y="1999831"/>
            <a:ext cx="94010" cy="47005"/>
            <a:chOff x="6812560" y="3297172"/>
            <a:chExt cx="94010" cy="47005"/>
          </a:xfrm>
        </p:grpSpPr>
        <p:cxnSp>
          <p:nvCxnSpPr>
            <p:cNvPr id="88" name="직선 연결선 8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0" name="그룹 89"/>
          <p:cNvGrpSpPr/>
          <p:nvPr/>
        </p:nvGrpSpPr>
        <p:grpSpPr>
          <a:xfrm rot="16200000">
            <a:off x="2887583" y="1999831"/>
            <a:ext cx="94010" cy="47005"/>
            <a:chOff x="6812560" y="3297172"/>
            <a:chExt cx="94010" cy="47005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3" name="그룹 92"/>
          <p:cNvGrpSpPr/>
          <p:nvPr/>
        </p:nvGrpSpPr>
        <p:grpSpPr>
          <a:xfrm>
            <a:off x="747925" y="1929352"/>
            <a:ext cx="1300316" cy="187961"/>
            <a:chOff x="747925" y="3237230"/>
            <a:chExt cx="1300316" cy="187961"/>
          </a:xfrm>
        </p:grpSpPr>
        <p:grpSp>
          <p:nvGrpSpPr>
            <p:cNvPr id="94" name="그룹 93"/>
            <p:cNvGrpSpPr/>
            <p:nvPr/>
          </p:nvGrpSpPr>
          <p:grpSpPr>
            <a:xfrm>
              <a:off x="747925" y="3237230"/>
              <a:ext cx="187961" cy="187961"/>
              <a:chOff x="747925" y="3237230"/>
              <a:chExt cx="187961" cy="187961"/>
            </a:xfrm>
          </p:grpSpPr>
          <p:sp>
            <p:nvSpPr>
              <p:cNvPr id="96" name="타원 9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06821" y="3277349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 정보 선택</a:t>
              </a: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2645773" y="1929352"/>
            <a:ext cx="187961" cy="187961"/>
            <a:chOff x="2058749" y="3237230"/>
            <a:chExt cx="187961" cy="187961"/>
          </a:xfrm>
        </p:grpSpPr>
        <p:sp>
          <p:nvSpPr>
            <p:cNvPr id="101" name="타원 100"/>
            <p:cNvSpPr/>
            <p:nvPr/>
          </p:nvSpPr>
          <p:spPr>
            <a:xfrm>
              <a:off x="2058749" y="323723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27734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104" name="그룹 103"/>
          <p:cNvGrpSpPr/>
          <p:nvPr/>
        </p:nvGrpSpPr>
        <p:grpSpPr>
          <a:xfrm>
            <a:off x="3039523" y="1929352"/>
            <a:ext cx="187961" cy="187961"/>
            <a:chOff x="2714860" y="3237230"/>
            <a:chExt cx="187961" cy="187961"/>
          </a:xfrm>
        </p:grpSpPr>
        <p:sp>
          <p:nvSpPr>
            <p:cNvPr id="106" name="타원 105"/>
            <p:cNvSpPr/>
            <p:nvPr/>
          </p:nvSpPr>
          <p:spPr>
            <a:xfrm>
              <a:off x="2714860" y="323723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27734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2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467174"/>
            <a:ext cx="2446613" cy="201941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67" name="그룹 266"/>
          <p:cNvGrpSpPr/>
          <p:nvPr/>
        </p:nvGrpSpPr>
        <p:grpSpPr>
          <a:xfrm>
            <a:off x="781461" y="3767371"/>
            <a:ext cx="2473257" cy="784763"/>
            <a:chOff x="781461" y="2610063"/>
            <a:chExt cx="2473257" cy="784763"/>
          </a:xfrm>
        </p:grpSpPr>
        <p:sp>
          <p:nvSpPr>
            <p:cNvPr id="2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 (00)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2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17827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62378" y="3102438"/>
              <a:ext cx="47288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1" name="모서리가 둥근 직사각형 27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272" name="모서리가 둥근 직사각형 271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</p:grp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0999"/>
            <a:ext cx="76863" cy="292489"/>
            <a:chOff x="3750067" y="4683795"/>
            <a:chExt cx="76863" cy="292489"/>
          </a:xfrm>
        </p:grpSpPr>
        <p:sp>
          <p:nvSpPr>
            <p:cNvPr id="275" name="타원 27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292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6474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0" name="TextBox 2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361891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357837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357837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283" name="그룹 282"/>
          <p:cNvGrpSpPr/>
          <p:nvPr/>
        </p:nvGrpSpPr>
        <p:grpSpPr>
          <a:xfrm>
            <a:off x="3143548" y="3470204"/>
            <a:ext cx="94010" cy="47005"/>
            <a:chOff x="6812560" y="3297172"/>
            <a:chExt cx="94010" cy="47005"/>
          </a:xfrm>
        </p:grpSpPr>
        <p:cxnSp>
          <p:nvCxnSpPr>
            <p:cNvPr id="284" name="직선 연결선 28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5" name="직선 연결선 28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6" name="그룹 285"/>
          <p:cNvGrpSpPr/>
          <p:nvPr/>
        </p:nvGrpSpPr>
        <p:grpSpPr>
          <a:xfrm>
            <a:off x="767702" y="2757448"/>
            <a:ext cx="2527420" cy="477995"/>
            <a:chOff x="786326" y="2270279"/>
            <a:chExt cx="2527420" cy="477995"/>
          </a:xfrm>
        </p:grpSpPr>
        <p:sp>
          <p:nvSpPr>
            <p:cNvPr id="287" name="모서리가 둥근 직사각형 28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8" name="타원 28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9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계약번호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91" name="타원 29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9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93" name="타원 292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94" name="그룹 293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95" name="직선 연결선 29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6" name="직선 연결선 295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97" name="직선 연결선 29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226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8" name="타원 2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82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9" name="타원 2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020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0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739753" y="376456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30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739753" y="3970176"/>
            <a:ext cx="494347" cy="162000"/>
          </a:xfrm>
          <a:prstGeom prst="roundRect">
            <a:avLst/>
          </a:prstGeom>
          <a:solidFill>
            <a:srgbClr val="0070C0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57834" y="38631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3" name="타원 3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374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126" name="그룹 125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27" name="직사각형 12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8" name="직사각형 12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분리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 </a:t>
              </a:r>
              <a:r>
                <a:rPr lang="en-US" altLang="ko-KR" sz="700" dirty="0" smtClean="0"/>
                <a:t>ID </a:t>
              </a:r>
              <a:r>
                <a:rPr lang="ko-KR" altLang="en-US" sz="700" dirty="0" smtClean="0"/>
                <a:t>조정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7527401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계약을 검색하기 위한 검색 필터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smtClean="0">
                <a:latin typeface="+mn-ea"/>
              </a:rPr>
              <a:t>검색 필터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MUI-CM-04-P11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20" name="그룹 219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21" name="직선 연결선 22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직선 연결선 22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3" name="타원 222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226" name="그룹 225"/>
          <p:cNvGrpSpPr/>
          <p:nvPr/>
        </p:nvGrpSpPr>
        <p:grpSpPr>
          <a:xfrm>
            <a:off x="675399" y="1974264"/>
            <a:ext cx="2712027" cy="797589"/>
            <a:chOff x="675399" y="3490553"/>
            <a:chExt cx="2712027" cy="797589"/>
          </a:xfrm>
        </p:grpSpPr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29" name="그룹 22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24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241" name="그림 24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231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232" name="그룹 231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237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38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239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233" name="그룹 232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2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236" name="그림 2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234" name="직선 연결선 2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44" name="그룹 243"/>
          <p:cNvGrpSpPr/>
          <p:nvPr/>
        </p:nvGrpSpPr>
        <p:grpSpPr>
          <a:xfrm>
            <a:off x="678686" y="5614711"/>
            <a:ext cx="2712027" cy="617588"/>
            <a:chOff x="675399" y="5614711"/>
            <a:chExt cx="2712027" cy="617588"/>
          </a:xfrm>
        </p:grpSpPr>
        <p:sp>
          <p:nvSpPr>
            <p:cNvPr id="245" name="직사각형 24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4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48" name="그룹 247"/>
          <p:cNvGrpSpPr/>
          <p:nvPr/>
        </p:nvGrpSpPr>
        <p:grpSpPr>
          <a:xfrm>
            <a:off x="678686" y="3581561"/>
            <a:ext cx="2712027" cy="505089"/>
            <a:chOff x="3795734" y="4353857"/>
            <a:chExt cx="2712027" cy="505089"/>
          </a:xfrm>
        </p:grpSpPr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250" name="그룹 249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1" name="모서리가 둥근 직사각형 250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53" name="그룹 252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255" name="직선 연결선 2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59" name="그룹 258"/>
          <p:cNvGrpSpPr/>
          <p:nvPr/>
        </p:nvGrpSpPr>
        <p:grpSpPr>
          <a:xfrm>
            <a:off x="786574" y="2893083"/>
            <a:ext cx="2516607" cy="467691"/>
            <a:chOff x="778515" y="4388257"/>
            <a:chExt cx="2516607" cy="467691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61" name="그룹 26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64" name="직선 연결선 2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2" name="모서리가 둥근 직사각형 261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계약번호를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6166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27" name="그룹 126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28" name="직사각형 12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분리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 </a:t>
              </a:r>
              <a:r>
                <a:rPr lang="en-US" altLang="ko-KR" sz="700" dirty="0" smtClean="0"/>
                <a:t>ID </a:t>
              </a:r>
              <a:r>
                <a:rPr lang="ko-KR" altLang="en-US" sz="700" dirty="0" smtClean="0"/>
                <a:t>조정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735197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신청 정보 작성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발급 수량 </a:t>
            </a:r>
            <a:r>
              <a:rPr lang="en-US" altLang="ko-KR" dirty="0"/>
              <a:t>: 1 </a:t>
            </a:r>
            <a:r>
              <a:rPr lang="ko-KR" altLang="en-US" dirty="0"/>
              <a:t>통 </a:t>
            </a:r>
            <a:r>
              <a:rPr lang="en-US" altLang="ko-KR" dirty="0"/>
              <a:t>~10 </a:t>
            </a:r>
            <a:r>
              <a:rPr lang="ko-KR" altLang="en-US" dirty="0"/>
              <a:t>통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사용목적 </a:t>
            </a:r>
            <a:r>
              <a:rPr lang="en-US" altLang="ko-KR" dirty="0"/>
              <a:t>/ </a:t>
            </a:r>
            <a:r>
              <a:rPr lang="ko-KR" altLang="en-US" dirty="0" err="1"/>
              <a:t>제출유형</a:t>
            </a:r>
            <a:r>
              <a:rPr lang="ko-KR" altLang="en-US" dirty="0"/>
              <a:t>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사용목적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제출유형에</a:t>
            </a:r>
            <a:r>
              <a:rPr lang="ko-KR" altLang="en-US" dirty="0">
                <a:solidFill>
                  <a:srgbClr val="FF0000"/>
                </a:solidFill>
              </a:rPr>
              <a:t> 따라 실적정보입력 항목이 변경됨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A. </a:t>
            </a:r>
            <a:r>
              <a:rPr lang="ko-KR" altLang="en-US" dirty="0"/>
              <a:t>사용목적 일 때 노출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선금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착수금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중도금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예정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보증회사제출용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보증회사제출용</a:t>
            </a:r>
            <a:r>
              <a:rPr lang="en-US" altLang="ko-KR" sz="700" dirty="0"/>
              <a:t>-</a:t>
            </a:r>
            <a:r>
              <a:rPr lang="ko-KR" altLang="en-US" sz="700" dirty="0"/>
              <a:t>예정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적격심사제출용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 err="1"/>
              <a:t>입찰참가용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기타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기타 입력 시 추가 입력 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b. </a:t>
            </a:r>
            <a:r>
              <a:rPr lang="ko-KR" altLang="en-US" dirty="0" err="1"/>
              <a:t>제출유형</a:t>
            </a:r>
            <a:r>
              <a:rPr lang="ko-KR" altLang="en-US" dirty="0"/>
              <a:t> 일 때 노출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700" dirty="0"/>
              <a:t>- 1.</a:t>
            </a:r>
            <a:r>
              <a:rPr lang="ko-KR" altLang="en-US" sz="700" dirty="0"/>
              <a:t>시공실적증명서 </a:t>
            </a:r>
            <a:r>
              <a:rPr lang="en-US" altLang="ko-KR" sz="700" dirty="0"/>
              <a:t>[</a:t>
            </a:r>
            <a:r>
              <a:rPr lang="ko-KR" altLang="en-US" sz="700" dirty="0" err="1"/>
              <a:t>군시설공사</a:t>
            </a:r>
            <a:r>
              <a:rPr lang="ko-KR" altLang="en-US" sz="700" dirty="0"/>
              <a:t> 적격심사기준에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 </a:t>
            </a:r>
            <a:br>
              <a:rPr lang="en-US" altLang="ko-KR" sz="700" dirty="0"/>
            </a:br>
            <a:r>
              <a:rPr lang="en-US" altLang="ko-KR" sz="700" dirty="0"/>
              <a:t>- 2.</a:t>
            </a:r>
            <a:r>
              <a:rPr lang="ko-KR" altLang="en-US" sz="700" dirty="0" err="1"/>
              <a:t>시공실적</a:t>
            </a:r>
            <a:r>
              <a:rPr lang="en-US" altLang="ko-KR" sz="700" dirty="0"/>
              <a:t>(</a:t>
            </a:r>
            <a:r>
              <a:rPr lang="ko-KR" altLang="en-US" sz="700" dirty="0" err="1"/>
              <a:t>기성율</a:t>
            </a:r>
            <a:r>
              <a:rPr lang="en-US" altLang="ko-KR" sz="700" dirty="0"/>
              <a:t>)</a:t>
            </a:r>
            <a:r>
              <a:rPr lang="ko-KR" altLang="en-US" sz="700" dirty="0"/>
              <a:t>증명서 </a:t>
            </a:r>
            <a:r>
              <a:rPr lang="en-US" altLang="ko-KR" sz="700" dirty="0"/>
              <a:t>[</a:t>
            </a:r>
            <a:r>
              <a:rPr lang="ko-KR" altLang="en-US" sz="700" dirty="0" err="1"/>
              <a:t>군시설공사</a:t>
            </a:r>
            <a:r>
              <a:rPr lang="ko-KR" altLang="en-US" sz="700" dirty="0"/>
              <a:t> </a:t>
            </a:r>
            <a:r>
              <a:rPr lang="ko-KR" altLang="en-US" sz="700" dirty="0" err="1"/>
              <a:t>입찰참가자격사전심사</a:t>
            </a:r>
            <a:r>
              <a:rPr lang="ko-KR" altLang="en-US" sz="700" dirty="0"/>
              <a:t> 세부운영기준에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- 3.</a:t>
            </a:r>
            <a:r>
              <a:rPr lang="ko-KR" altLang="en-US" sz="700" dirty="0"/>
              <a:t>건설공사기성실적증명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</a:t>
            </a:r>
            <a:r>
              <a:rPr lang="en-US" altLang="ko-KR" sz="700" dirty="0"/>
              <a:t>_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/>
              <a:t>종합</a:t>
            </a:r>
            <a:r>
              <a:rPr lang="en-US" altLang="ko-KR" sz="700" dirty="0"/>
              <a:t>) 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- 4.</a:t>
            </a:r>
            <a:r>
              <a:rPr lang="ko-KR" altLang="en-US" sz="700" dirty="0" err="1"/>
              <a:t>건설폐기물처리용역이행</a:t>
            </a:r>
            <a:r>
              <a:rPr lang="ko-KR" altLang="en-US" sz="700" dirty="0"/>
              <a:t>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건설폐기물처리용역 </a:t>
            </a:r>
            <a:r>
              <a:rPr lang="ko-KR" altLang="en-US" sz="700" dirty="0" err="1"/>
              <a:t>적격업체</a:t>
            </a:r>
            <a:r>
              <a:rPr lang="ko-KR" altLang="en-US" sz="700" dirty="0"/>
              <a:t> 평가기준</a:t>
            </a:r>
            <a:r>
              <a:rPr lang="en-US" altLang="ko-KR" sz="700" dirty="0"/>
              <a:t>/</a:t>
            </a:r>
            <a:r>
              <a:rPr lang="ko-KR" altLang="en-US" sz="700" dirty="0"/>
              <a:t>환경부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- 5.</a:t>
            </a:r>
            <a:r>
              <a:rPr lang="ko-KR" altLang="en-US" sz="700" dirty="0" err="1"/>
              <a:t>실적자료</a:t>
            </a:r>
            <a:r>
              <a:rPr lang="ko-KR" altLang="en-US" sz="700" dirty="0"/>
              <a:t> 발주기관 확인서 </a:t>
            </a:r>
            <a:r>
              <a:rPr lang="en-US" altLang="ko-KR" sz="700" dirty="0"/>
              <a:t>[</a:t>
            </a:r>
            <a:r>
              <a:rPr lang="ko-KR" altLang="en-US" sz="700" dirty="0"/>
              <a:t>최저가낙찰제 </a:t>
            </a:r>
            <a:r>
              <a:rPr lang="ko-KR" altLang="en-US" sz="700" dirty="0" err="1"/>
              <a:t>대상공사의</a:t>
            </a:r>
            <a:r>
              <a:rPr lang="ko-KR" altLang="en-US" sz="700" dirty="0"/>
              <a:t> 입찰금액 </a:t>
            </a:r>
            <a:r>
              <a:rPr lang="en-US" altLang="ko-KR" sz="700" dirty="0"/>
              <a:t>(</a:t>
            </a:r>
            <a:r>
              <a:rPr lang="ko-KR" altLang="en-US" sz="700" dirty="0"/>
              <a:t>원</a:t>
            </a:r>
            <a:r>
              <a:rPr lang="en-US" altLang="ko-KR" sz="700" dirty="0"/>
              <a:t>) </a:t>
            </a:r>
            <a:r>
              <a:rPr lang="ko-KR" altLang="en-US" sz="700" dirty="0"/>
              <a:t>적정성 세부심사기준에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- 6.</a:t>
            </a:r>
            <a:r>
              <a:rPr lang="ko-KR" altLang="en-US" sz="700" dirty="0"/>
              <a:t>정보통신공사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정보통신공사업법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전기공제조합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- 7.</a:t>
            </a:r>
            <a:r>
              <a:rPr lang="ko-KR" altLang="en-US" sz="700" dirty="0"/>
              <a:t>소방시설공사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소방시설공사업법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소방시설협회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- 8.</a:t>
            </a:r>
            <a:r>
              <a:rPr lang="ko-KR" altLang="en-US" sz="700" dirty="0"/>
              <a:t>전기공사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전기공사업법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전기공사협회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- 9.</a:t>
            </a:r>
            <a:r>
              <a:rPr lang="ko-KR" altLang="en-US" sz="700" dirty="0"/>
              <a:t>건설공사기성실적증명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</a:t>
            </a:r>
            <a:r>
              <a:rPr lang="en-US" altLang="ko-KR" sz="700" dirty="0"/>
              <a:t>_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/>
              <a:t>전문</a:t>
            </a:r>
            <a:r>
              <a:rPr lang="en-US" altLang="ko-KR" sz="700" dirty="0"/>
              <a:t>) 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- 10.</a:t>
            </a:r>
            <a:r>
              <a:rPr lang="ko-KR" altLang="en-US" sz="700" dirty="0"/>
              <a:t>건설공사 </a:t>
            </a:r>
            <a:r>
              <a:rPr lang="ko-KR" altLang="en-US" sz="700" dirty="0" err="1"/>
              <a:t>직접시공분</a:t>
            </a:r>
            <a:r>
              <a:rPr lang="ko-KR" altLang="en-US" sz="700" dirty="0"/>
              <a:t> 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 </a:t>
            </a:r>
            <a:r>
              <a:rPr lang="en-US" altLang="ko-KR" sz="700" dirty="0"/>
              <a:t>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신청 공통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MUI-CM-04-M12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신청정보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69" name="그룹 6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6" name="그룹 15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타원 18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9" name="그룹 7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80" name="직선 연결선 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직선 연결선 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그룹 83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85" name="타원 84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90" name="그룹 89"/>
            <p:cNvGrpSpPr/>
            <p:nvPr/>
          </p:nvGrpSpPr>
          <p:grpSpPr>
            <a:xfrm rot="16200000">
              <a:off x="2887583" y="1999831"/>
              <a:ext cx="94010" cy="47005"/>
              <a:chOff x="6812560" y="3297172"/>
              <a:chExt cx="94010" cy="47005"/>
            </a:xfrm>
          </p:grpSpPr>
          <p:cxnSp>
            <p:nvCxnSpPr>
              <p:cNvPr id="91" name="직선 연결선 9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직선 연결선 9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그룹 93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96" name="타원 9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0362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신청정보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04" name="그룹 103"/>
            <p:cNvGrpSpPr/>
            <p:nvPr/>
          </p:nvGrpSpPr>
          <p:grpSpPr>
            <a:xfrm>
              <a:off x="3039523" y="1929352"/>
              <a:ext cx="187961" cy="187961"/>
              <a:chOff x="2714860" y="3237230"/>
              <a:chExt cx="187961" cy="187961"/>
            </a:xfrm>
          </p:grpSpPr>
          <p:sp>
            <p:nvSpPr>
              <p:cNvPr id="106" name="타원 105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이전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" name="그룹 7"/>
          <p:cNvGrpSpPr/>
          <p:nvPr/>
        </p:nvGrpSpPr>
        <p:grpSpPr>
          <a:xfrm>
            <a:off x="3880034" y="1959757"/>
            <a:ext cx="2543426" cy="2532373"/>
            <a:chOff x="740592" y="2562912"/>
            <a:chExt cx="2543426" cy="2532373"/>
          </a:xfrm>
        </p:grpSpPr>
        <p:sp>
          <p:nvSpPr>
            <p:cNvPr id="164" name="모서리가 둥근 직사각형 163"/>
            <p:cNvSpPr/>
            <p:nvPr/>
          </p:nvSpPr>
          <p:spPr>
            <a:xfrm>
              <a:off x="740592" y="2562912"/>
              <a:ext cx="2543426" cy="2532373"/>
            </a:xfrm>
            <a:prstGeom prst="roundRect">
              <a:avLst>
                <a:gd name="adj" fmla="val 382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43672" y="2624732"/>
              <a:ext cx="2154318" cy="24237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latin typeface="Consolas" panose="020B0609020204030204" pitchFamily="49" charset="0"/>
                </a:rPr>
                <a:t>유의사항</a:t>
              </a:r>
              <a:endParaRPr lang="en-US" altLang="ko-KR" sz="700" b="1" dirty="0">
                <a:latin typeface="Consolas" panose="020B0609020204030204" pitchFamily="49" charset="0"/>
              </a:endParaRP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납품실적증명서의 사용목적이 적격심사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입찰참가용일 경우에는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대외기관</a:t>
              </a:r>
              <a:r>
                <a:rPr lang="ko-KR" altLang="en-US" sz="700" dirty="0">
                  <a:latin typeface="Consolas" panose="020B0609020204030204" pitchFamily="49" charset="0"/>
                </a:rPr>
                <a:t>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제출용만</a:t>
              </a:r>
              <a:r>
                <a:rPr lang="ko-KR" altLang="en-US" sz="700" dirty="0">
                  <a:latin typeface="Consolas" panose="020B0609020204030204" pitchFamily="49" charset="0"/>
                </a:rPr>
                <a:t> 발급합니다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청 내부 부서는 해당부서 담당자가 관련 시스템을 통하여 직접 확인 가능하니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담당자와 유선으로 협조하시기 바랍니다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실적증명서 발급 관련문의는 해당 군부대로 해주시기 바랍니다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해당 군부대의 연락처 확인이 어려울 경우에는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군전화</a:t>
              </a:r>
              <a:r>
                <a:rPr lang="ko-KR" altLang="en-US" sz="700" dirty="0">
                  <a:latin typeface="Consolas" panose="020B0609020204030204" pitchFamily="49" charset="0"/>
                </a:rPr>
                <a:t>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안내센터로</a:t>
              </a:r>
              <a:r>
                <a:rPr lang="ko-KR" altLang="en-US" sz="700" dirty="0">
                  <a:latin typeface="Consolas" panose="020B0609020204030204" pitchFamily="49" charset="0"/>
                </a:rPr>
                <a:t> 문의하시면 안내 받으실 수 있습니다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  <a:br>
                <a:rPr lang="en-US" altLang="ko-KR" sz="700" dirty="0">
                  <a:latin typeface="Consolas" panose="020B0609020204030204" pitchFamily="49" charset="0"/>
                </a:rPr>
              </a:br>
              <a:r>
                <a:rPr lang="en-US" altLang="ko-KR" sz="700" dirty="0">
                  <a:latin typeface="Consolas" panose="020B0609020204030204" pitchFamily="49" charset="0"/>
                </a:rPr>
                <a:t>(</a:t>
              </a:r>
              <a:r>
                <a:rPr lang="ko-KR" altLang="en-US" sz="700" dirty="0">
                  <a:latin typeface="Consolas" panose="020B0609020204030204" pitchFamily="49" charset="0"/>
                </a:rPr>
                <a:t>안내센터에서는 부대 연락처 확인만 가능하며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실적증명서 발급 안내는 불가</a:t>
              </a:r>
              <a:r>
                <a:rPr lang="en-US" altLang="ko-KR" sz="700" dirty="0">
                  <a:latin typeface="Consolas" panose="020B0609020204030204" pitchFamily="49" charset="0"/>
                </a:rPr>
                <a:t>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 err="1">
                  <a:latin typeface="Consolas" panose="020B0609020204030204" pitchFamily="49" charset="0"/>
                </a:rPr>
                <a:t>군전화</a:t>
              </a:r>
              <a:r>
                <a:rPr lang="ko-KR" altLang="en-US" sz="700" dirty="0">
                  <a:latin typeface="Consolas" panose="020B0609020204030204" pitchFamily="49" charset="0"/>
                </a:rPr>
                <a:t> 안내센터 </a:t>
              </a:r>
              <a:r>
                <a:rPr lang="en-US" altLang="ko-KR" sz="700" dirty="0">
                  <a:latin typeface="Consolas" panose="020B0609020204030204" pitchFamily="49" charset="0"/>
                </a:rPr>
                <a:t>: 02-748-0114, 042-550-0114</a:t>
              </a:r>
            </a:p>
          </p:txBody>
        </p:sp>
        <p:sp>
          <p:nvSpPr>
            <p:cNvPr id="166" name="타원 165"/>
            <p:cNvSpPr/>
            <p:nvPr/>
          </p:nvSpPr>
          <p:spPr>
            <a:xfrm>
              <a:off x="813731" y="2629468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7" name="그룹 166"/>
            <p:cNvGrpSpPr/>
            <p:nvPr/>
          </p:nvGrpSpPr>
          <p:grpSpPr>
            <a:xfrm flipV="1">
              <a:off x="3091512" y="2664908"/>
              <a:ext cx="94010" cy="47005"/>
              <a:chOff x="6812560" y="3297172"/>
              <a:chExt cx="94010" cy="47005"/>
            </a:xfrm>
          </p:grpSpPr>
          <p:cxnSp>
            <p:nvCxnSpPr>
              <p:cNvPr id="168" name="직선 연결선 16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06" name="그룹 305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30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이전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신청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1" name="그룹 310"/>
          <p:cNvGrpSpPr/>
          <p:nvPr/>
        </p:nvGrpSpPr>
        <p:grpSpPr>
          <a:xfrm>
            <a:off x="675400" y="2863500"/>
            <a:ext cx="2712026" cy="1467127"/>
            <a:chOff x="675400" y="2590223"/>
            <a:chExt cx="2712026" cy="1467127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14" name="직사각형 313"/>
            <p:cNvSpPr/>
            <p:nvPr/>
          </p:nvSpPr>
          <p:spPr>
            <a:xfrm>
              <a:off x="722583" y="2897708"/>
              <a:ext cx="792000" cy="1086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15" name="직선 연결선 3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18" name="직선 연결선 3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9" name="직선 연결선 3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0" name="직선 연결선 3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1" name="직선 연결선 3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46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2" name="직선 연결선 3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05735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20981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4308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30" name="그룹 329"/>
          <p:cNvGrpSpPr/>
          <p:nvPr/>
        </p:nvGrpSpPr>
        <p:grpSpPr>
          <a:xfrm>
            <a:off x="3153204" y="3489127"/>
            <a:ext cx="94010" cy="47005"/>
            <a:chOff x="6812560" y="3297172"/>
            <a:chExt cx="94010" cy="47005"/>
          </a:xfrm>
        </p:grpSpPr>
        <p:cxnSp>
          <p:nvCxnSpPr>
            <p:cNvPr id="331" name="직선 연결선 3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64666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8583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35" name="그룹 334"/>
          <p:cNvGrpSpPr/>
          <p:nvPr/>
        </p:nvGrpSpPr>
        <p:grpSpPr>
          <a:xfrm>
            <a:off x="3153204" y="3916614"/>
            <a:ext cx="94010" cy="47005"/>
            <a:chOff x="6812560" y="3297172"/>
            <a:chExt cx="94010" cy="47005"/>
          </a:xfrm>
        </p:grpSpPr>
        <p:cxnSp>
          <p:nvCxnSpPr>
            <p:cNvPr id="336" name="직선 연결선 33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3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06242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기타 내용을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41" name="모서리가 둥근 직사각형 340"/>
          <p:cNvSpPr/>
          <p:nvPr/>
        </p:nvSpPr>
        <p:spPr>
          <a:xfrm>
            <a:off x="759699" y="4436191"/>
            <a:ext cx="2543426" cy="326142"/>
          </a:xfrm>
          <a:prstGeom prst="roundRect">
            <a:avLst>
              <a:gd name="adj" fmla="val 190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779" y="4545401"/>
            <a:ext cx="215431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Consolas" panose="020B0609020204030204" pitchFamily="49" charset="0"/>
              </a:rPr>
              <a:t>유의사항</a:t>
            </a:r>
            <a:endParaRPr lang="en-US" altLang="ko-KR" sz="700" b="1" dirty="0">
              <a:latin typeface="Consolas" panose="020B0609020204030204" pitchFamily="49" charset="0"/>
            </a:endParaRPr>
          </a:p>
        </p:txBody>
      </p:sp>
      <p:sp>
        <p:nvSpPr>
          <p:cNvPr id="343" name="타원 342"/>
          <p:cNvSpPr/>
          <p:nvPr/>
        </p:nvSpPr>
        <p:spPr>
          <a:xfrm>
            <a:off x="832838" y="450274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4" name="그룹 343"/>
          <p:cNvGrpSpPr/>
          <p:nvPr/>
        </p:nvGrpSpPr>
        <p:grpSpPr>
          <a:xfrm>
            <a:off x="3110619" y="4575760"/>
            <a:ext cx="94010" cy="47005"/>
            <a:chOff x="6812560" y="3297172"/>
            <a:chExt cx="94010" cy="47005"/>
          </a:xfrm>
        </p:grpSpPr>
        <p:cxnSp>
          <p:nvCxnSpPr>
            <p:cNvPr id="345" name="직선 연결선 3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7" name="타원 3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643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48" name="그룹 347"/>
          <p:cNvGrpSpPr/>
          <p:nvPr/>
        </p:nvGrpSpPr>
        <p:grpSpPr>
          <a:xfrm>
            <a:off x="3790563" y="1498734"/>
            <a:ext cx="2717198" cy="357754"/>
            <a:chOff x="675399" y="1846937"/>
            <a:chExt cx="2717198" cy="357754"/>
          </a:xfrm>
        </p:grpSpPr>
        <p:cxnSp>
          <p:nvCxnSpPr>
            <p:cNvPr id="374" name="직선 연결선 3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0" name="직선 연결선 3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51" name="그룹 35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371" name="직선 연결선 37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2" name="직선 연결선 37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52" name="그룹 35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369" name="타원 368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54" name="그룹 353"/>
            <p:cNvGrpSpPr/>
            <p:nvPr/>
          </p:nvGrpSpPr>
          <p:grpSpPr>
            <a:xfrm rot="16200000">
              <a:off x="2887583" y="1999831"/>
              <a:ext cx="94010" cy="47005"/>
              <a:chOff x="6812560" y="3297172"/>
              <a:chExt cx="94010" cy="47005"/>
            </a:xfrm>
          </p:grpSpPr>
          <p:cxnSp>
            <p:nvCxnSpPr>
              <p:cNvPr id="365" name="직선 연결선 3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6" name="직선 연결선 3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55" name="그룹 35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363" name="타원 362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0362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신청정보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358" name="그룹 357"/>
            <p:cNvGrpSpPr/>
            <p:nvPr/>
          </p:nvGrpSpPr>
          <p:grpSpPr>
            <a:xfrm>
              <a:off x="3039523" y="1929352"/>
              <a:ext cx="187961" cy="187961"/>
              <a:chOff x="2714860" y="3237230"/>
              <a:chExt cx="187961" cy="187961"/>
            </a:xfrm>
          </p:grpSpPr>
          <p:sp>
            <p:nvSpPr>
              <p:cNvPr id="359" name="타원 358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0" name="TextBox 35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379" name="TextBox 37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3557995158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 구분이 방위사업청인 경우 </a:t>
            </a:r>
            <a:r>
              <a:rPr lang="ko-KR" altLang="en-US" dirty="0" err="1"/>
              <a:t>작성항목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항목은 불러온 정보 기반으로 정보가 채워져 있으며</a:t>
            </a:r>
            <a:r>
              <a:rPr lang="en-US" altLang="ko-KR" dirty="0"/>
              <a:t>, </a:t>
            </a:r>
            <a:r>
              <a:rPr lang="ko-KR" altLang="en-US" dirty="0"/>
              <a:t>수정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아래 사용 목적 정보에 따라 표시 내역 변경에 주의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납품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선금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선금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착수금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/>
              <a:t>착수금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중도금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4. </a:t>
            </a:r>
            <a:r>
              <a:rPr lang="ko-KR" altLang="en-US" dirty="0"/>
              <a:t>중도금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적격심사제출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입찰참가용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기타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1~7. </a:t>
            </a:r>
            <a:r>
              <a:rPr lang="ko-KR" altLang="en-US" dirty="0" err="1"/>
              <a:t>납품일자</a:t>
            </a:r>
            <a:r>
              <a:rPr lang="ko-KR" altLang="en-US" dirty="0"/>
              <a:t> 전부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저장</a:t>
            </a:r>
            <a:r>
              <a:rPr lang="en-US" altLang="ko-KR" dirty="0"/>
              <a:t>, </a:t>
            </a:r>
            <a:r>
              <a:rPr lang="ko-KR" altLang="en-US" dirty="0"/>
              <a:t>신청에 따라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저장 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신청이 완료되었습니다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신청한 이후 관리자 </a:t>
            </a:r>
            <a:r>
              <a:rPr lang="en-US" altLang="ko-KR" dirty="0" smtClean="0">
                <a:solidFill>
                  <a:srgbClr val="FF0000"/>
                </a:solidFill>
              </a:rPr>
              <a:t>[</a:t>
            </a:r>
            <a:r>
              <a:rPr lang="ko-KR" altLang="en-US" dirty="0" smtClean="0">
                <a:solidFill>
                  <a:srgbClr val="FF0000"/>
                </a:solidFill>
              </a:rPr>
              <a:t>발급</a:t>
            </a:r>
            <a:r>
              <a:rPr lang="en-US" altLang="ko-KR" dirty="0" smtClean="0">
                <a:solidFill>
                  <a:srgbClr val="FF0000"/>
                </a:solidFill>
              </a:rPr>
              <a:t>]</a:t>
            </a:r>
            <a:r>
              <a:rPr lang="ko-KR" altLang="en-US" dirty="0" smtClean="0">
                <a:solidFill>
                  <a:srgbClr val="FF0000"/>
                </a:solidFill>
              </a:rPr>
              <a:t> 상태에서 실적증명서를 제출할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방위사업청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MUI-CM-04-T12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328" name="그림 32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136" y="4935854"/>
            <a:ext cx="134873" cy="137278"/>
          </a:xfrm>
          <a:prstGeom prst="rect">
            <a:avLst/>
          </a:prstGeom>
        </p:spPr>
      </p:pic>
      <p:grpSp>
        <p:nvGrpSpPr>
          <p:cNvPr id="5" name="그룹 4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69" name="그룹 6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6" name="그룹 15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타원 18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9" name="그룹 7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80" name="직선 연결선 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직선 연결선 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그룹 83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85" name="타원 84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87" name="그룹 86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88" name="직선 연결선 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99" name="그룹 98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01" name="타원 100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5" name="그룹 11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6" name="타원 11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3" name="그룹 2"/>
          <p:cNvGrpSpPr/>
          <p:nvPr/>
        </p:nvGrpSpPr>
        <p:grpSpPr>
          <a:xfrm>
            <a:off x="716366" y="2869580"/>
            <a:ext cx="2630093" cy="2255186"/>
            <a:chOff x="3836701" y="2590223"/>
            <a:chExt cx="2630093" cy="2255186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9" name="그룹 118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20" name="직선 연결선 1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직선 연결선 1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2" name="직사각형 121"/>
            <p:cNvSpPr/>
            <p:nvPr/>
          </p:nvSpPr>
          <p:spPr>
            <a:xfrm>
              <a:off x="3838794" y="2897709"/>
              <a:ext cx="792000" cy="1938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지출년도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선금금액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정산금액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착수금액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중도금액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보증보험번호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확인요청사항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9113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483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85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454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643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21161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2025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년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81" name="그룹 180"/>
          <p:cNvGrpSpPr/>
          <p:nvPr/>
        </p:nvGrpSpPr>
        <p:grpSpPr>
          <a:xfrm>
            <a:off x="3153204" y="3269885"/>
            <a:ext cx="94010" cy="47005"/>
            <a:chOff x="6812560" y="3297172"/>
            <a:chExt cx="94010" cy="47005"/>
          </a:xfrm>
        </p:grpSpPr>
        <p:cxnSp>
          <p:nvCxnSpPr>
            <p:cNvPr id="182" name="직선 연결선 1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직선 연결선 18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43213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64773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8551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0707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2782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4931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123456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70700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92904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2025-12-13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35" name="타원 2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3370903" y="345874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2-1</a:t>
            </a:r>
            <a:endParaRPr lang="ko-KR" altLang="en-US" sz="900" b="1" dirty="0"/>
          </a:p>
        </p:txBody>
      </p:sp>
      <p:sp>
        <p:nvSpPr>
          <p:cNvPr id="237" name="모서리가 둥근 직사각형 236"/>
          <p:cNvSpPr/>
          <p:nvPr/>
        </p:nvSpPr>
        <p:spPr>
          <a:xfrm>
            <a:off x="3370903" y="3665284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2-2</a:t>
            </a:r>
            <a:endParaRPr lang="ko-KR" altLang="en-US" sz="900" b="1" dirty="0"/>
          </a:p>
        </p:txBody>
      </p:sp>
      <p:sp>
        <p:nvSpPr>
          <p:cNvPr id="238" name="모서리가 둥근 직사각형 237"/>
          <p:cNvSpPr/>
          <p:nvPr/>
        </p:nvSpPr>
        <p:spPr>
          <a:xfrm>
            <a:off x="3370903" y="387307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2-3</a:t>
            </a:r>
            <a:endParaRPr lang="ko-KR" altLang="en-US" sz="900" b="1" dirty="0"/>
          </a:p>
        </p:txBody>
      </p:sp>
      <p:sp>
        <p:nvSpPr>
          <p:cNvPr id="239" name="모서리가 둥근 직사각형 238"/>
          <p:cNvSpPr/>
          <p:nvPr/>
        </p:nvSpPr>
        <p:spPr>
          <a:xfrm>
            <a:off x="3370903" y="409226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2-4</a:t>
            </a:r>
            <a:endParaRPr lang="ko-KR" altLang="en-US" sz="900" b="1" dirty="0"/>
          </a:p>
        </p:txBody>
      </p:sp>
      <p:sp>
        <p:nvSpPr>
          <p:cNvPr id="240" name="모서리가 둥근 직사각형 239"/>
          <p:cNvSpPr/>
          <p:nvPr/>
        </p:nvSpPr>
        <p:spPr>
          <a:xfrm>
            <a:off x="3370903" y="430358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2-5</a:t>
            </a:r>
            <a:endParaRPr lang="ko-KR" altLang="en-US" sz="900" b="1" dirty="0"/>
          </a:p>
        </p:txBody>
      </p:sp>
      <p:sp>
        <p:nvSpPr>
          <p:cNvPr id="241" name="모서리가 둥근 직사각형 240"/>
          <p:cNvSpPr/>
          <p:nvPr/>
        </p:nvSpPr>
        <p:spPr>
          <a:xfrm>
            <a:off x="3370903" y="4600332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2-6</a:t>
            </a:r>
            <a:endParaRPr lang="ko-KR" altLang="en-US" sz="900" b="1" dirty="0"/>
          </a:p>
        </p:txBody>
      </p:sp>
      <p:sp>
        <p:nvSpPr>
          <p:cNvPr id="242" name="모서리가 둥근 직사각형 241"/>
          <p:cNvSpPr/>
          <p:nvPr/>
        </p:nvSpPr>
        <p:spPr>
          <a:xfrm>
            <a:off x="3370903" y="4937387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2-7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330819958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B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시공실적증명서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적격심사기준에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</a:t>
            </a:r>
            <a:r>
              <a:rPr lang="ko-KR" altLang="en-US" dirty="0" err="1"/>
              <a:t>입찰참가자격사전심사</a:t>
            </a:r>
            <a:r>
              <a:rPr lang="ko-KR" altLang="en-US" dirty="0"/>
              <a:t> 세부운영기준에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 </a:t>
            </a:r>
            <a:r>
              <a:rPr lang="en-US" altLang="ko-KR" dirty="0"/>
              <a:t>[</a:t>
            </a:r>
            <a:r>
              <a:rPr lang="ko-KR" altLang="en-US" dirty="0"/>
              <a:t>최저가낙찰제 </a:t>
            </a:r>
            <a:r>
              <a:rPr lang="ko-KR" altLang="en-US" dirty="0" err="1"/>
              <a:t>대상공사의</a:t>
            </a:r>
            <a:r>
              <a:rPr lang="ko-KR" altLang="en-US" dirty="0"/>
              <a:t> 입찰금액 </a:t>
            </a:r>
            <a:r>
              <a:rPr lang="en-US" altLang="ko-KR" dirty="0"/>
              <a:t>(</a:t>
            </a:r>
            <a:r>
              <a:rPr lang="ko-KR" altLang="en-US" dirty="0"/>
              <a:t>원</a:t>
            </a:r>
            <a:r>
              <a:rPr lang="en-US" altLang="ko-KR" dirty="0"/>
              <a:t>) </a:t>
            </a:r>
            <a:r>
              <a:rPr lang="ko-KR" altLang="en-US" dirty="0"/>
              <a:t>적정성 세부심사기준에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일반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팝업 도움말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>
                <a:latin typeface="맑은 고딕 (본문)"/>
              </a:rPr>
              <a:t>장기계속</a:t>
            </a:r>
            <a:r>
              <a:rPr lang="ko-KR" altLang="en-US" dirty="0">
                <a:latin typeface="맑은 고딕 (본문)"/>
              </a:rPr>
              <a:t> 또는 계속비공사는 </a:t>
            </a:r>
            <a:r>
              <a:rPr lang="ko-KR" altLang="en-US" dirty="0" err="1">
                <a:latin typeface="맑은 고딕 (본문)"/>
              </a:rPr>
              <a:t>총공사기준</a:t>
            </a:r>
            <a:r>
              <a:rPr lang="ko-KR" altLang="en-US" dirty="0">
                <a:latin typeface="맑은 고딕 (본문)"/>
              </a:rPr>
              <a:t> 작성</a:t>
            </a:r>
            <a:r>
              <a:rPr lang="en-US" altLang="ko-KR" dirty="0">
                <a:latin typeface="맑은 고딕 (본문)"/>
              </a:rPr>
              <a:t/>
            </a:r>
            <a:br>
              <a:rPr lang="en-US" altLang="ko-KR" dirty="0">
                <a:latin typeface="맑은 고딕 (본문)"/>
              </a:rPr>
            </a:br>
            <a:r>
              <a:rPr lang="en-US" altLang="ko-KR" dirty="0">
                <a:latin typeface="맑은 고딕 (본문)"/>
              </a:rPr>
              <a:t/>
            </a:r>
            <a:br>
              <a:rPr lang="en-US" altLang="ko-KR" dirty="0">
                <a:latin typeface="맑은 고딕 (본문)"/>
              </a:rPr>
            </a:br>
            <a:r>
              <a:rPr lang="en-US" altLang="ko-KR" dirty="0">
                <a:latin typeface="맑은 고딕 (본문)"/>
              </a:rPr>
              <a:t>- </a:t>
            </a:r>
            <a:r>
              <a:rPr lang="en-US" altLang="ko-KR" dirty="0"/>
              <a:t>[5.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인 경우 표기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준공일자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준공예정일자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 err="1">
                <a:sym typeface="Wingdings" panose="05000000000000000000" pitchFamily="2" charset="2"/>
              </a:rPr>
              <a:t>중공금액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계약금액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날짜</a:t>
            </a:r>
            <a:r>
              <a:rPr lang="en-US" altLang="ko-KR" dirty="0"/>
              <a:t>, </a:t>
            </a:r>
            <a:r>
              <a:rPr lang="ko-KR" altLang="en-US" dirty="0"/>
              <a:t>일자 등은 날짜 검색 팝업 호출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입력 시 단위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62" name="그룹 161"/>
          <p:cNvGrpSpPr/>
          <p:nvPr/>
        </p:nvGrpSpPr>
        <p:grpSpPr>
          <a:xfrm>
            <a:off x="3836701" y="1947099"/>
            <a:ext cx="2630093" cy="1611734"/>
            <a:chOff x="720490" y="3930133"/>
            <a:chExt cx="2630093" cy="1611734"/>
          </a:xfrm>
        </p:grpSpPr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0" name="그룹 169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82" name="직선 연결선 18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" name="직선 연결선 18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직사각형 170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4" name="그룹 183"/>
          <p:cNvGrpSpPr/>
          <p:nvPr/>
        </p:nvGrpSpPr>
        <p:grpSpPr>
          <a:xfrm>
            <a:off x="720490" y="2862923"/>
            <a:ext cx="2630093" cy="1389048"/>
            <a:chOff x="720490" y="2590223"/>
            <a:chExt cx="2630093" cy="138904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6" name="그룹 185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96" name="직선 연결선 19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7" name="직선 연결선 19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7" name="직사각형 186"/>
            <p:cNvSpPr/>
            <p:nvPr/>
          </p:nvSpPr>
          <p:spPr>
            <a:xfrm>
              <a:off x="722583" y="2897709"/>
              <a:ext cx="792000" cy="10815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2" name="직선 연결선 1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731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98" name="그룹 197"/>
          <p:cNvGrpSpPr/>
          <p:nvPr/>
        </p:nvGrpSpPr>
        <p:grpSpPr>
          <a:xfrm>
            <a:off x="3836701" y="3726810"/>
            <a:ext cx="2630093" cy="1611734"/>
            <a:chOff x="720490" y="3930133"/>
            <a:chExt cx="2630093" cy="1611734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금차공사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00" name="그룹 199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1" name="직사각형 200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6" name="직선 연결선 2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7" name="직선 연결선 20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14" name="그룹 213"/>
          <p:cNvGrpSpPr/>
          <p:nvPr/>
        </p:nvGrpSpPr>
        <p:grpSpPr>
          <a:xfrm>
            <a:off x="4965217" y="1994801"/>
            <a:ext cx="243478" cy="144000"/>
            <a:chOff x="5087822" y="2638846"/>
            <a:chExt cx="243478" cy="144000"/>
          </a:xfrm>
        </p:grpSpPr>
        <p:sp>
          <p:nvSpPr>
            <p:cNvPr id="215" name="타원 214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모서리가 둥근 직사각형 215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199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pic>
        <p:nvPicPr>
          <p:cNvPr id="219" name="그림 21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296967"/>
            <a:ext cx="134873" cy="137278"/>
          </a:xfrm>
          <a:prstGeom prst="rect">
            <a:avLst/>
          </a:prstGeom>
        </p:spPr>
      </p:pic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29016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1" name="그림 22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8207"/>
            <a:ext cx="134873" cy="137278"/>
          </a:xfrm>
          <a:prstGeom prst="rect">
            <a:avLst/>
          </a:prstGeom>
        </p:spPr>
      </p:pic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51140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3" name="그림 22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28422"/>
            <a:ext cx="134873" cy="137278"/>
          </a:xfrm>
          <a:prstGeom prst="rect">
            <a:avLst/>
          </a:prstGeom>
        </p:spPr>
      </p:pic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72161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93720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15225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367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072919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0661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294159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2873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3" name="그림 23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504374"/>
            <a:ext cx="134873" cy="137278"/>
          </a:xfrm>
          <a:prstGeom prst="rect">
            <a:avLst/>
          </a:prstGeom>
        </p:spPr>
      </p:pic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49756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7131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92820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51432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0" name="타원 2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24822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41" name="타원 24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31538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264513093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계약에 정보가 있다면</a:t>
            </a:r>
            <a:r>
              <a:rPr lang="en-US" altLang="ko-KR" dirty="0"/>
              <a:t>, </a:t>
            </a:r>
            <a:r>
              <a:rPr lang="ko-KR" altLang="en-US" dirty="0"/>
              <a:t>정보 기반으로 완성</a:t>
            </a:r>
            <a:r>
              <a:rPr lang="en-US" altLang="ko-KR" dirty="0"/>
              <a:t>, </a:t>
            </a:r>
            <a:r>
              <a:rPr lang="ko-KR" altLang="en-US" dirty="0"/>
              <a:t>정보가 없는 경우 선택되어 있지 않음</a:t>
            </a:r>
            <a:r>
              <a:rPr lang="en-US" altLang="ko-KR" dirty="0"/>
              <a:t>.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244" name="그룹 243"/>
          <p:cNvGrpSpPr/>
          <p:nvPr/>
        </p:nvGrpSpPr>
        <p:grpSpPr>
          <a:xfrm>
            <a:off x="716366" y="1930462"/>
            <a:ext cx="2630093" cy="1904757"/>
            <a:chOff x="1108393" y="2993988"/>
            <a:chExt cx="2630093" cy="1904757"/>
          </a:xfrm>
        </p:grpSpPr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69364" y="2993988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공사성질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46" name="그룹 245"/>
            <p:cNvGrpSpPr/>
            <p:nvPr/>
          </p:nvGrpSpPr>
          <p:grpSpPr>
            <a:xfrm flipV="1">
              <a:off x="3531451" y="3107319"/>
              <a:ext cx="94010" cy="47005"/>
              <a:chOff x="6812560" y="3297172"/>
              <a:chExt cx="94010" cy="47005"/>
            </a:xfrm>
          </p:grpSpPr>
          <p:cxnSp>
            <p:nvCxnSpPr>
              <p:cNvPr id="267" name="직선 연결선 2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8" name="직선 연결선 2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7" name="직사각형 246"/>
            <p:cNvSpPr/>
            <p:nvPr/>
          </p:nvSpPr>
          <p:spPr>
            <a:xfrm>
              <a:off x="1110486" y="3301474"/>
              <a:ext cx="792000" cy="15912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08393" y="33014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3556270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39512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4371103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52" name="그룹 251"/>
            <p:cNvGrpSpPr/>
            <p:nvPr/>
          </p:nvGrpSpPr>
          <p:grpSpPr>
            <a:xfrm>
              <a:off x="1955552" y="3384977"/>
              <a:ext cx="1711564" cy="484748"/>
              <a:chOff x="712771" y="2321043"/>
              <a:chExt cx="1711564" cy="484748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4847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확장공사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개보수공사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63" name="직사각형 262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4" name="직사각형 263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5" name="직사각형 264"/>
              <p:cNvSpPr/>
              <p:nvPr/>
            </p:nvSpPr>
            <p:spPr>
              <a:xfrm>
                <a:off x="772169" y="268930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6" name="TextBox 265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53" name="그룹 252"/>
            <p:cNvGrpSpPr/>
            <p:nvPr/>
          </p:nvGrpSpPr>
          <p:grpSpPr>
            <a:xfrm>
              <a:off x="1955552" y="4029869"/>
              <a:ext cx="1711564" cy="807913"/>
              <a:chOff x="712771" y="2321043"/>
              <a:chExt cx="1711564" cy="807913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증설공사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이설공사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56" name="직사각형 255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7" name="직사각형 256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직사각형 257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TextBox 258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0" name="직사각형 259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1" name="직사각형 260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489874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9" name="그룹 268"/>
          <p:cNvGrpSpPr/>
          <p:nvPr/>
        </p:nvGrpSpPr>
        <p:grpSpPr>
          <a:xfrm>
            <a:off x="716366" y="3990718"/>
            <a:ext cx="2630093" cy="957295"/>
            <a:chOff x="716366" y="4635456"/>
            <a:chExt cx="2630093" cy="957295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4635456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 여부</a:t>
              </a:r>
            </a:p>
          </p:txBody>
        </p:sp>
        <p:grpSp>
          <p:nvGrpSpPr>
            <p:cNvPr id="271" name="그룹 270"/>
            <p:cNvGrpSpPr/>
            <p:nvPr/>
          </p:nvGrpSpPr>
          <p:grpSpPr>
            <a:xfrm flipV="1">
              <a:off x="3139424" y="4748787"/>
              <a:ext cx="94010" cy="47005"/>
              <a:chOff x="6812560" y="3297172"/>
              <a:chExt cx="94010" cy="47005"/>
            </a:xfrm>
          </p:grpSpPr>
          <p:cxnSp>
            <p:nvCxnSpPr>
              <p:cNvPr id="282" name="직선 연결선 28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3" name="직선 연결선 28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2" name="직사각형 271"/>
            <p:cNvSpPr/>
            <p:nvPr/>
          </p:nvSpPr>
          <p:spPr>
            <a:xfrm>
              <a:off x="718459" y="4942942"/>
              <a:ext cx="792000" cy="6437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73" name="직선 연결선 2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94294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5197738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건설공사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27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76" name="그룹 275"/>
            <p:cNvGrpSpPr/>
            <p:nvPr/>
          </p:nvGrpSpPr>
          <p:grpSpPr>
            <a:xfrm>
              <a:off x="1621527" y="5026445"/>
              <a:ext cx="1653562" cy="476212"/>
              <a:chOff x="1621527" y="4558451"/>
              <a:chExt cx="1653562" cy="476212"/>
            </a:xfrm>
          </p:grpSpPr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792374" y="4558451"/>
                <a:ext cx="1482715" cy="463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공동이행방식</a:t>
                </a:r>
                <a:r>
                  <a:rPr lang="en-US" altLang="ko-KR" sz="700" dirty="0">
                    <a:latin typeface="+mn-ea"/>
                  </a:rPr>
                  <a:t>1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분담이행방식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단독도급</a:t>
                </a:r>
                <a:endParaRPr lang="en-US" altLang="ko-KR" sz="700" dirty="0">
                  <a:latin typeface="+mn-ea"/>
                </a:endParaRPr>
              </a:p>
            </p:txBody>
          </p:sp>
          <p:grpSp>
            <p:nvGrpSpPr>
              <p:cNvPr id="278" name="그룹 277"/>
              <p:cNvGrpSpPr/>
              <p:nvPr/>
            </p:nvGrpSpPr>
            <p:grpSpPr>
              <a:xfrm>
                <a:off x="1621527" y="4575499"/>
                <a:ext cx="107950" cy="459164"/>
                <a:chOff x="794115" y="2294987"/>
                <a:chExt cx="107950" cy="459164"/>
              </a:xfrm>
            </p:grpSpPr>
            <p:sp>
              <p:nvSpPr>
                <p:cNvPr id="279" name="타원 278"/>
                <p:cNvSpPr/>
                <p:nvPr/>
              </p:nvSpPr>
              <p:spPr>
                <a:xfrm>
                  <a:off x="794115" y="2294987"/>
                  <a:ext cx="107950" cy="1079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0" name="타원 279"/>
                <p:cNvSpPr/>
                <p:nvPr/>
              </p:nvSpPr>
              <p:spPr>
                <a:xfrm>
                  <a:off x="794115" y="246512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1" name="타원 280"/>
                <p:cNvSpPr/>
                <p:nvPr/>
              </p:nvSpPr>
              <p:spPr>
                <a:xfrm>
                  <a:off x="794115" y="264620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284" name="그룹 283"/>
          <p:cNvGrpSpPr/>
          <p:nvPr/>
        </p:nvGrpSpPr>
        <p:grpSpPr>
          <a:xfrm>
            <a:off x="3836701" y="1930462"/>
            <a:ext cx="2630093" cy="2026729"/>
            <a:chOff x="3836701" y="2575200"/>
            <a:chExt cx="2630093" cy="2026729"/>
          </a:xfrm>
        </p:grpSpPr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200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실적의 종류</a:t>
              </a:r>
            </a:p>
          </p:txBody>
        </p:sp>
        <p:grpSp>
          <p:nvGrpSpPr>
            <p:cNvPr id="286" name="그룹 285"/>
            <p:cNvGrpSpPr/>
            <p:nvPr/>
          </p:nvGrpSpPr>
          <p:grpSpPr>
            <a:xfrm flipV="1">
              <a:off x="6259759" y="2688531"/>
              <a:ext cx="94010" cy="47005"/>
              <a:chOff x="6812560" y="3297172"/>
              <a:chExt cx="94010" cy="47005"/>
            </a:xfrm>
          </p:grpSpPr>
          <p:cxnSp>
            <p:nvCxnSpPr>
              <p:cNvPr id="304" name="직선 연결선 3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5" name="직선 연결선 30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87" name="직사각형 286"/>
            <p:cNvSpPr/>
            <p:nvPr/>
          </p:nvSpPr>
          <p:spPr>
            <a:xfrm>
              <a:off x="3838794" y="2882686"/>
              <a:ext cx="792000" cy="17112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8" name="직선 연결선 2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8268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368446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전기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그 밖의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90" name="그룹 289"/>
            <p:cNvGrpSpPr/>
            <p:nvPr/>
          </p:nvGrpSpPr>
          <p:grpSpPr>
            <a:xfrm>
              <a:off x="4683860" y="2935851"/>
              <a:ext cx="1711564" cy="1615827"/>
              <a:chOff x="712771" y="2321043"/>
              <a:chExt cx="1711564" cy="1615827"/>
            </a:xfrm>
          </p:grpSpPr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16158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개념설계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기본설계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실시설계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시공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감리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품질</a:t>
                </a:r>
                <a:r>
                  <a:rPr lang="en-US" altLang="ko-KR" sz="700" dirty="0">
                    <a:latin typeface="+mn-ea"/>
                  </a:rPr>
                  <a:t>, </a:t>
                </a:r>
                <a:r>
                  <a:rPr lang="ko-KR" altLang="en-US" sz="700" dirty="0">
                    <a:latin typeface="+mn-ea"/>
                  </a:rPr>
                  <a:t>공사관리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시운전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기자재제작설치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기자재설치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기타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93" name="직사각형 292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4" name="직사각형 293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5" name="직사각형 294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6" name="TextBox 295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7" name="직사각형 296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8" name="직사각형 297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9" name="직사각형 298"/>
              <p:cNvSpPr/>
              <p:nvPr/>
            </p:nvSpPr>
            <p:spPr>
              <a:xfrm>
                <a:off x="772169" y="314818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0" name="직사각형 299"/>
              <p:cNvSpPr/>
              <p:nvPr/>
            </p:nvSpPr>
            <p:spPr>
              <a:xfrm>
                <a:off x="772169" y="329837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1" name="직사각형 300"/>
              <p:cNvSpPr/>
              <p:nvPr/>
            </p:nvSpPr>
            <p:spPr>
              <a:xfrm>
                <a:off x="772169" y="3458370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2" name="직사각형 301"/>
              <p:cNvSpPr/>
              <p:nvPr/>
            </p:nvSpPr>
            <p:spPr>
              <a:xfrm>
                <a:off x="772169" y="361657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3" name="직사각형 302"/>
              <p:cNvSpPr/>
              <p:nvPr/>
            </p:nvSpPr>
            <p:spPr>
              <a:xfrm>
                <a:off x="772169" y="377656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019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84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560975219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>
                <a:latin typeface="+mn-ea"/>
              </a:rPr>
              <a:t>도움말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공동수급체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구성원별로</a:t>
            </a:r>
            <a:r>
              <a:rPr lang="ko-KR" altLang="en-US" dirty="0">
                <a:latin typeface="+mn-ea"/>
              </a:rPr>
              <a:t> 구분 작성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관급금액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도급자설치</a:t>
            </a:r>
            <a:r>
              <a:rPr lang="ko-KR" altLang="en-US" dirty="0"/>
              <a:t> </a:t>
            </a:r>
            <a:r>
              <a:rPr lang="ko-KR" altLang="en-US" dirty="0" err="1"/>
              <a:t>관급금액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계약규모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en-US" altLang="ko-KR" dirty="0"/>
              <a:t>, </a:t>
            </a:r>
            <a:r>
              <a:rPr lang="ko-KR" altLang="en-US" dirty="0"/>
              <a:t>방법</a:t>
            </a:r>
            <a:r>
              <a:rPr lang="en-US" altLang="ko-KR" dirty="0"/>
              <a:t>(</a:t>
            </a:r>
            <a:r>
              <a:rPr lang="ko-KR" altLang="en-US" dirty="0"/>
              <a:t>공법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전체공사의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17" name="그룹 116"/>
          <p:cNvGrpSpPr/>
          <p:nvPr/>
        </p:nvGrpSpPr>
        <p:grpSpPr>
          <a:xfrm>
            <a:off x="675400" y="1931806"/>
            <a:ext cx="2712026" cy="1870687"/>
            <a:chOff x="675400" y="2590223"/>
            <a:chExt cx="2712026" cy="1870687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9" name="그룹 11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2" name="직선 연결선 16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0" name="직사각형 119"/>
            <p:cNvSpPr/>
            <p:nvPr/>
          </p:nvSpPr>
          <p:spPr>
            <a:xfrm>
              <a:off x="722583" y="2897708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46091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79257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0064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2201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338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70" name="그룹 169"/>
          <p:cNvGrpSpPr/>
          <p:nvPr/>
        </p:nvGrpSpPr>
        <p:grpSpPr>
          <a:xfrm>
            <a:off x="675400" y="3831367"/>
            <a:ext cx="2712026" cy="1888105"/>
            <a:chOff x="675400" y="4489784"/>
            <a:chExt cx="2712026" cy="1888105"/>
          </a:xfrm>
        </p:grpSpPr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89784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1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2" name="그룹 171"/>
            <p:cNvGrpSpPr/>
            <p:nvPr/>
          </p:nvGrpSpPr>
          <p:grpSpPr>
            <a:xfrm flipV="1">
              <a:off x="3143548" y="4603115"/>
              <a:ext cx="94010" cy="47005"/>
              <a:chOff x="6812560" y="3297172"/>
              <a:chExt cx="94010" cy="47005"/>
            </a:xfrm>
          </p:grpSpPr>
          <p:cxnSp>
            <p:nvCxnSpPr>
              <p:cNvPr id="187" name="직선 연결선 18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" name="직선 연결선 18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직사각형 172"/>
            <p:cNvSpPr/>
            <p:nvPr/>
          </p:nvSpPr>
          <p:spPr>
            <a:xfrm>
              <a:off x="722583" y="4797269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9726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97269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2837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420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557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694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637788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69213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060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197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3341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9" name="그룹 188"/>
          <p:cNvGrpSpPr/>
          <p:nvPr/>
        </p:nvGrpSpPr>
        <p:grpSpPr>
          <a:xfrm>
            <a:off x="3795734" y="1931806"/>
            <a:ext cx="2712026" cy="1888105"/>
            <a:chOff x="3832578" y="3081088"/>
            <a:chExt cx="2712026" cy="1888105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1" name="그룹 190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06" name="직선 연결선 20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2" name="직사각형 191"/>
            <p:cNvSpPr/>
            <p:nvPr/>
          </p:nvSpPr>
          <p:spPr>
            <a:xfrm>
              <a:off x="3879761" y="3388573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388573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196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8333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0470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2607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496919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428343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497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711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9247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08" name="그룹 207"/>
          <p:cNvGrpSpPr/>
          <p:nvPr/>
        </p:nvGrpSpPr>
        <p:grpSpPr>
          <a:xfrm>
            <a:off x="3795734" y="3926870"/>
            <a:ext cx="2712027" cy="789495"/>
            <a:chOff x="675399" y="1544009"/>
            <a:chExt cx="2712027" cy="789495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</a:t>
              </a:r>
              <a:r>
                <a:rPr lang="ko-KR" altLang="en-US" sz="700" dirty="0">
                  <a:latin typeface="+mn-ea"/>
                </a:rPr>
                <a:t>구체적인 </a:t>
              </a:r>
              <a:r>
                <a:rPr lang="ko-KR" altLang="en-US" sz="700" dirty="0" err="1">
                  <a:latin typeface="+mn-ea"/>
                </a:rPr>
                <a:t>시공물량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  <p:grpSp>
          <p:nvGrpSpPr>
            <p:cNvPr id="210" name="그룹 20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3" name="직선 연결선 2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16" name="그룹 215"/>
          <p:cNvGrpSpPr/>
          <p:nvPr/>
        </p:nvGrpSpPr>
        <p:grpSpPr>
          <a:xfrm>
            <a:off x="3795734" y="4823498"/>
            <a:ext cx="2712027" cy="789495"/>
            <a:chOff x="675399" y="1544009"/>
            <a:chExt cx="2712027" cy="789495"/>
          </a:xfrm>
        </p:grpSpPr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실적공종또는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방법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공법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9" name="그룹 21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23" name="직선 연결선 2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직선 연결선 22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6" name="그룹 225"/>
          <p:cNvGrpSpPr/>
          <p:nvPr/>
        </p:nvGrpSpPr>
        <p:grpSpPr>
          <a:xfrm>
            <a:off x="1323017" y="1994801"/>
            <a:ext cx="243478" cy="144000"/>
            <a:chOff x="5087822" y="2638846"/>
            <a:chExt cx="243478" cy="144000"/>
          </a:xfrm>
        </p:grpSpPr>
        <p:sp>
          <p:nvSpPr>
            <p:cNvPr id="227" name="타원 226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모서리가 둥근 직사각형 227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2923664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2923664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3144375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3144375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742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8959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9399" y="2882166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sp>
        <p:nvSpPr>
          <p:cNvPr id="3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4828634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4828634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5049345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5049345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27922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49456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9399" y="4787136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17097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39927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614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2768" y="2933221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946371" y="2933221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2768" y="3153932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946371" y="3153932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838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991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620401" y="2891723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755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38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891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25197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5138469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4" name="타원 3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052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5" name="타원 3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409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36" name="타원 3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71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912" y="39776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912" y="48792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26333196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신청에 따른 표시 정보 변경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>
                <a:latin typeface="+mn-ea"/>
              </a:rPr>
              <a:t>하도급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도움말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하도급자별로 </a:t>
            </a:r>
            <a:r>
              <a:rPr lang="ko-KR" altLang="en-US" dirty="0" err="1">
                <a:latin typeface="+mn-ea"/>
              </a:rPr>
              <a:t>구분작성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전문건설업자에게 하도급 한 경우는 해당없음으로 표기</a:t>
            </a:r>
            <a:r>
              <a:rPr lang="en-US" altLang="ko-KR" dirty="0">
                <a:latin typeface="+mn-ea"/>
              </a:rPr>
              <a:t>)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>
                <a:latin typeface="+mn-ea"/>
              </a:rPr>
              <a:t>[</a:t>
            </a:r>
            <a:r>
              <a:rPr lang="en-US" altLang="ko-KR" dirty="0"/>
              <a:t>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 </a:t>
            </a:r>
            <a:r>
              <a:rPr lang="ko-KR" altLang="en-US" dirty="0"/>
              <a:t>명칭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하도급자</a:t>
            </a:r>
            <a:r>
              <a:rPr lang="ko-KR" altLang="en-US" dirty="0"/>
              <a:t> 면허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하도급 공사 규모 및 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5" name="TextBox 1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1795" y="1931536"/>
            <a:ext cx="221221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하도급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내용</a:t>
            </a:r>
          </a:p>
        </p:txBody>
      </p:sp>
      <p:grpSp>
        <p:nvGrpSpPr>
          <p:cNvPr id="212" name="그룹 211"/>
          <p:cNvGrpSpPr/>
          <p:nvPr/>
        </p:nvGrpSpPr>
        <p:grpSpPr>
          <a:xfrm flipV="1">
            <a:off x="6263882" y="2044867"/>
            <a:ext cx="94010" cy="47005"/>
            <a:chOff x="6812560" y="3297172"/>
            <a:chExt cx="94010" cy="47005"/>
          </a:xfrm>
        </p:grpSpPr>
        <p:cxnSp>
          <p:nvCxnSpPr>
            <p:cNvPr id="249" name="직선 연결선 24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직선 연결선 24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1" name="그룹 250"/>
          <p:cNvGrpSpPr/>
          <p:nvPr/>
        </p:nvGrpSpPr>
        <p:grpSpPr>
          <a:xfrm>
            <a:off x="675399" y="1927617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253" name="그룹 252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59" name="그룹 258"/>
          <p:cNvGrpSpPr/>
          <p:nvPr/>
        </p:nvGrpSpPr>
        <p:grpSpPr>
          <a:xfrm>
            <a:off x="675399" y="2824245"/>
            <a:ext cx="2712027" cy="789495"/>
            <a:chOff x="675399" y="1544009"/>
            <a:chExt cx="2712027" cy="789495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준공금액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1" name="그룹 260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5" name="직선 연결선 2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6" name="직선 연결선 2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7" name="그룹 266"/>
          <p:cNvGrpSpPr/>
          <p:nvPr/>
        </p:nvGrpSpPr>
        <p:grpSpPr>
          <a:xfrm>
            <a:off x="675399" y="3724695"/>
            <a:ext cx="2712027" cy="789495"/>
            <a:chOff x="675399" y="1544009"/>
            <a:chExt cx="2712027" cy="789495"/>
          </a:xfrm>
        </p:grpSpPr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 또는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관급금액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9" name="그룹 26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73" name="직선 연결선 27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4" name="직선 연결선 27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70" name="직선 연결선 2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303" name="그룹 302"/>
          <p:cNvGrpSpPr/>
          <p:nvPr/>
        </p:nvGrpSpPr>
        <p:grpSpPr>
          <a:xfrm>
            <a:off x="3795734" y="4608602"/>
            <a:ext cx="2712027" cy="792634"/>
            <a:chOff x="675399" y="1544009"/>
            <a:chExt cx="2712027" cy="792634"/>
          </a:xfrm>
        </p:grpSpPr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실적증명</a:t>
              </a:r>
              <a:r>
                <a:rPr lang="ko-KR" altLang="en-US" sz="700" dirty="0">
                  <a:latin typeface="+mn-ea"/>
                </a:rPr>
                <a:t> 발급일 기준 </a:t>
              </a:r>
              <a:r>
                <a:rPr lang="ko-KR" altLang="en-US" sz="700" dirty="0" err="1">
                  <a:latin typeface="+mn-ea"/>
                </a:rPr>
                <a:t>시공내용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305" name="그룹 30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309" name="직선 연결선 30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0" name="직선 연결선 30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6" name="직선 연결선 3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2250157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315779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405168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927558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2239021"/>
            <a:ext cx="2712026" cy="724779"/>
            <a:chOff x="3795734" y="2239021"/>
            <a:chExt cx="2712026" cy="724779"/>
          </a:xfrm>
        </p:grpSpPr>
        <p:sp>
          <p:nvSpPr>
            <p:cNvPr id="221" name="직사각형 220"/>
            <p:cNvSpPr/>
            <p:nvPr/>
          </p:nvSpPr>
          <p:spPr>
            <a:xfrm>
              <a:off x="3842917" y="2239021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22390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452774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6747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9250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296380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69574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273857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39" name="직선 연결선 3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4354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261704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4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483288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4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712378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343" name="그룹 342"/>
          <p:cNvGrpSpPr/>
          <p:nvPr/>
        </p:nvGrpSpPr>
        <p:grpSpPr>
          <a:xfrm>
            <a:off x="4418527" y="1994801"/>
            <a:ext cx="243478" cy="144000"/>
            <a:chOff x="5087822" y="2638846"/>
            <a:chExt cx="243478" cy="144000"/>
          </a:xfrm>
        </p:grpSpPr>
        <p:sp>
          <p:nvSpPr>
            <p:cNvPr id="344" name="타원 343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5" name="모서리가 둥근 직사각형 344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346" name="타원 3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3795734" y="3014373"/>
            <a:ext cx="2712026" cy="724779"/>
            <a:chOff x="3795734" y="3007446"/>
            <a:chExt cx="2712026" cy="724779"/>
          </a:xfrm>
        </p:grpSpPr>
        <p:sp>
          <p:nvSpPr>
            <p:cNvPr id="347" name="직사각형 346"/>
            <p:cNvSpPr/>
            <p:nvPr/>
          </p:nvSpPr>
          <p:spPr>
            <a:xfrm>
              <a:off x="3842917" y="3007446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48" name="직선 연결선 3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300744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2211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350" name="직선 연결선 3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4431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1" name="직선 연결선 3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6934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2" name="직선 연결선 3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73222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46416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54" name="TextBox 3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04228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55" name="직선 연결선 3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2038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030129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5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25171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5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48080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359" name="그룹 358"/>
          <p:cNvGrpSpPr/>
          <p:nvPr/>
        </p:nvGrpSpPr>
        <p:grpSpPr>
          <a:xfrm>
            <a:off x="3795734" y="3790541"/>
            <a:ext cx="2712026" cy="724779"/>
            <a:chOff x="3795734" y="3007446"/>
            <a:chExt cx="2712026" cy="724779"/>
          </a:xfrm>
        </p:grpSpPr>
        <p:sp>
          <p:nvSpPr>
            <p:cNvPr id="360" name="직사각형 359"/>
            <p:cNvSpPr/>
            <p:nvPr/>
          </p:nvSpPr>
          <p:spPr>
            <a:xfrm>
              <a:off x="3842917" y="3007446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61" name="직선 연결선 3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300744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2211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363" name="직선 연결선 3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4431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4" name="직선 연결선 3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6934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5" name="직선 연결선 3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73222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46416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04228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68" name="직선 연결선 3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2038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030129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7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25171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7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48080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72" name="타원 3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606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73" name="타원 3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465132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374" name="타원 3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25895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63393203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62" name="그룹 161"/>
          <p:cNvGrpSpPr/>
          <p:nvPr/>
        </p:nvGrpSpPr>
        <p:grpSpPr>
          <a:xfrm>
            <a:off x="720490" y="1948159"/>
            <a:ext cx="2630093" cy="2031034"/>
            <a:chOff x="720490" y="2590223"/>
            <a:chExt cx="2630093" cy="2031034"/>
          </a:xfrm>
        </p:grpSpPr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2271776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최저가 적정성심사관련 시공실적자료</a:t>
              </a:r>
            </a:p>
          </p:txBody>
        </p:sp>
        <p:grpSp>
          <p:nvGrpSpPr>
            <p:cNvPr id="170" name="그룹 169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84" name="직선 연결선 18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" name="직선 연결선 18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직사각형 170"/>
            <p:cNvSpPr/>
            <p:nvPr/>
          </p:nvSpPr>
          <p:spPr>
            <a:xfrm>
              <a:off x="722583" y="2897708"/>
              <a:ext cx="792000" cy="17111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시공내용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사용장비명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장비규격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투입대수</a:t>
              </a:r>
              <a:r>
                <a:rPr lang="ko-KR" altLang="en-US" sz="700" dirty="0">
                  <a:latin typeface="+mn-ea"/>
                </a:rPr>
                <a:t> 누계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작업량 누계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작업시간 누계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시간당 작업량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참고사항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18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832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969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088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733331"/>
            <a:ext cx="76863" cy="292489"/>
            <a:chOff x="3750067" y="4683795"/>
            <a:chExt cx="76863" cy="292489"/>
          </a:xfrm>
        </p:grpSpPr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9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475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51304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81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45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62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779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26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77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647420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C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종합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MUI-CM-04-T14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2284727"/>
            <a:chOff x="3795734" y="1939881"/>
            <a:chExt cx="2712026" cy="228472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6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668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73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22460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4" name="그룹 283"/>
          <p:cNvGrpSpPr/>
          <p:nvPr/>
        </p:nvGrpSpPr>
        <p:grpSpPr>
          <a:xfrm>
            <a:off x="6258557" y="2983823"/>
            <a:ext cx="94010" cy="47005"/>
            <a:chOff x="6812560" y="3297172"/>
            <a:chExt cx="94010" cy="47005"/>
          </a:xfrm>
        </p:grpSpPr>
        <p:cxnSp>
          <p:nvCxnSpPr>
            <p:cNvPr id="285" name="직선 연결선 28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6" name="직선 연결선 28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846295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6" name="그룹 295"/>
          <p:cNvGrpSpPr/>
          <p:nvPr/>
        </p:nvGrpSpPr>
        <p:grpSpPr>
          <a:xfrm>
            <a:off x="6258557" y="4048684"/>
            <a:ext cx="94010" cy="47005"/>
            <a:chOff x="6812560" y="3297172"/>
            <a:chExt cx="94010" cy="47005"/>
          </a:xfrm>
        </p:grpSpPr>
        <p:cxnSp>
          <p:nvCxnSpPr>
            <p:cNvPr id="297" name="직선 연결선 2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직선 연결선 2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70276257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연월 정보 입력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MUI-CM-04-T14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682044"/>
            <a:chOff x="720490" y="3930133"/>
            <a:chExt cx="2630093" cy="2682044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8"/>
              <a:ext cx="792000" cy="237455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54782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발주자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공급자재액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768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18569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9243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9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3967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4740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14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>
                <a:latin typeface="맑은 고딕"/>
                <a:ea typeface="맑은 고딕" panose="020B0503020000020004" pitchFamily="50" charset="-127"/>
              </a:rPr>
              <a:t>1,000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백만원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3918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98877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2218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4296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942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013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506510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292516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397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1635334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D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4.</a:t>
            </a:r>
            <a:r>
              <a:rPr lang="ko-KR" altLang="en-US" dirty="0" err="1"/>
              <a:t>건설폐기물처리용역이행</a:t>
            </a:r>
            <a:r>
              <a:rPr lang="ko-KR" altLang="en-US" dirty="0"/>
              <a:t> 실적증명서 </a:t>
            </a:r>
            <a:r>
              <a:rPr lang="en-US" altLang="ko-KR" dirty="0"/>
              <a:t>[</a:t>
            </a:r>
            <a:r>
              <a:rPr lang="ko-KR" altLang="en-US" dirty="0"/>
              <a:t>건설폐기물처리용역 </a:t>
            </a:r>
            <a:r>
              <a:rPr lang="ko-KR" altLang="en-US" dirty="0" err="1"/>
              <a:t>적격업체</a:t>
            </a:r>
            <a:r>
              <a:rPr lang="ko-KR" altLang="en-US" dirty="0"/>
              <a:t> 평가기준</a:t>
            </a:r>
            <a:r>
              <a:rPr lang="en-US" altLang="ko-KR" dirty="0"/>
              <a:t>/</a:t>
            </a:r>
            <a:r>
              <a:rPr lang="ko-KR" altLang="en-US" dirty="0"/>
              <a:t>환경부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수집</a:t>
            </a:r>
            <a:r>
              <a:rPr lang="en-US" altLang="ko-KR" dirty="0"/>
              <a:t>/</a:t>
            </a:r>
            <a:r>
              <a:rPr lang="ko-KR" altLang="en-US" dirty="0"/>
              <a:t>운반 실적 표 </a:t>
            </a:r>
            <a:r>
              <a:rPr lang="en-US" altLang="ko-KR" dirty="0"/>
              <a:t>3</a:t>
            </a:r>
            <a:r>
              <a:rPr lang="ko-KR" altLang="en-US" dirty="0"/>
              <a:t>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연도 선택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중간처리용역 실적 표 </a:t>
            </a:r>
            <a:r>
              <a:rPr lang="en-US" altLang="ko-KR" dirty="0"/>
              <a:t>3</a:t>
            </a:r>
            <a:r>
              <a:rPr lang="ko-KR" altLang="en-US" dirty="0"/>
              <a:t>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연도 선택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MUI-CM-04-T15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8" name="그룹 137"/>
          <p:cNvGrpSpPr/>
          <p:nvPr/>
        </p:nvGrpSpPr>
        <p:grpSpPr>
          <a:xfrm>
            <a:off x="3836701" y="1952113"/>
            <a:ext cx="2630093" cy="2031034"/>
            <a:chOff x="720490" y="3930133"/>
            <a:chExt cx="2630093" cy="2031034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                </a:t>
              </a:r>
              <a:r>
                <a:rPr lang="ko-KR" altLang="en-US" sz="700" dirty="0">
                  <a:latin typeface="+mn-ea"/>
                </a:rPr>
                <a:t>년도 건설폐기물 수집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운반용역</a:t>
              </a:r>
              <a:r>
                <a:rPr lang="ko-KR" altLang="en-US" sz="700" dirty="0">
                  <a:latin typeface="+mn-ea"/>
                </a:rPr>
                <a:t> 이행실적</a:t>
              </a: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83" name="직선 연결선 18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5" name="그룹 184"/>
          <p:cNvGrpSpPr/>
          <p:nvPr/>
        </p:nvGrpSpPr>
        <p:grpSpPr>
          <a:xfrm>
            <a:off x="720490" y="2860457"/>
            <a:ext cx="2630093" cy="1393412"/>
            <a:chOff x="720490" y="2590223"/>
            <a:chExt cx="2630093" cy="1393412"/>
          </a:xfrm>
        </p:grpSpPr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87" name="그룹 186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8" name="직사각형 187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9" name="직선 연결선 1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허가번호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증명서 용도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2" name="직선 연결선 1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0419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42993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06547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36701" y="2005971"/>
            <a:ext cx="54324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03" name="그룹 202"/>
          <p:cNvGrpSpPr/>
          <p:nvPr/>
        </p:nvGrpSpPr>
        <p:grpSpPr>
          <a:xfrm>
            <a:off x="4247045" y="2063468"/>
            <a:ext cx="94010" cy="47005"/>
            <a:chOff x="6812560" y="3297172"/>
            <a:chExt cx="94010" cy="47005"/>
          </a:xfrm>
        </p:grpSpPr>
        <p:cxnSp>
          <p:nvCxnSpPr>
            <p:cNvPr id="205" name="직선 연결선 20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7322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963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09" name="그림 20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9260"/>
            <a:ext cx="134873" cy="137278"/>
          </a:xfrm>
          <a:prstGeom prst="rect">
            <a:avLst/>
          </a:prstGeom>
        </p:spPr>
      </p:pic>
      <p:sp>
        <p:nvSpPr>
          <p:cNvPr id="2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51245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11" name="그림 21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33412"/>
            <a:ext cx="134873" cy="137278"/>
          </a:xfrm>
          <a:prstGeom prst="rect">
            <a:avLst/>
          </a:prstGeom>
        </p:spPr>
      </p:pic>
      <p:sp>
        <p:nvSpPr>
          <p:cNvPr id="2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7266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82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883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8031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5258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톤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7" name="그룹 216"/>
          <p:cNvGrpSpPr/>
          <p:nvPr/>
        </p:nvGrpSpPr>
        <p:grpSpPr>
          <a:xfrm>
            <a:off x="3836701" y="4116532"/>
            <a:ext cx="2630093" cy="2031034"/>
            <a:chOff x="720490" y="3930133"/>
            <a:chExt cx="2630093" cy="2031034"/>
          </a:xfrm>
        </p:grpSpPr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                </a:t>
              </a:r>
              <a:r>
                <a:rPr lang="ko-KR" altLang="en-US" sz="700" dirty="0">
                  <a:latin typeface="+mn-ea"/>
                </a:rPr>
                <a:t>년도 건설폐기물 중간처리용역 이행실적</a:t>
              </a:r>
            </a:p>
          </p:txBody>
        </p:sp>
        <p:grpSp>
          <p:nvGrpSpPr>
            <p:cNvPr id="219" name="그룹 21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32" name="직선 연결선 23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3" name="직선 연결선 23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34" name="직선 연결선 2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6206396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36701" y="4170390"/>
            <a:ext cx="54324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6" name="그룹 235"/>
          <p:cNvGrpSpPr/>
          <p:nvPr/>
        </p:nvGrpSpPr>
        <p:grpSpPr>
          <a:xfrm>
            <a:off x="4247045" y="4227887"/>
            <a:ext cx="94010" cy="47005"/>
            <a:chOff x="6812560" y="3297172"/>
            <a:chExt cx="94010" cy="47005"/>
          </a:xfrm>
        </p:grpSpPr>
        <p:cxnSp>
          <p:nvCxnSpPr>
            <p:cNvPr id="237" name="직선 연결선 23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직선 연결선 23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5376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540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66" name="그림 265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683679"/>
            <a:ext cx="134873" cy="137278"/>
          </a:xfrm>
          <a:prstGeom prst="rect">
            <a:avLst/>
          </a:prstGeom>
        </p:spPr>
      </p:pic>
      <p:sp>
        <p:nvSpPr>
          <p:cNvPr id="2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67687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68" name="그림 26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897831"/>
            <a:ext cx="134873" cy="137278"/>
          </a:xfrm>
          <a:prstGeom prst="rect">
            <a:avLst/>
          </a:prstGeom>
        </p:spPr>
      </p:pic>
      <p:sp>
        <p:nvSpPr>
          <p:cNvPr id="2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8910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10267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75277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9675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31700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톤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38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186969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3366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40745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88995832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8" name="그룹 137"/>
          <p:cNvGrpSpPr/>
          <p:nvPr/>
        </p:nvGrpSpPr>
        <p:grpSpPr>
          <a:xfrm>
            <a:off x="3795734" y="1939881"/>
            <a:ext cx="2712026" cy="2290159"/>
            <a:chOff x="3795734" y="2590223"/>
            <a:chExt cx="2712026" cy="2290159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3838794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이월공사액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880382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E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6.</a:t>
            </a:r>
            <a:r>
              <a:rPr lang="ko-KR" altLang="en-US" dirty="0"/>
              <a:t>정보통신공사 실적증명서 </a:t>
            </a:r>
            <a:r>
              <a:rPr lang="en-US" altLang="ko-KR" dirty="0"/>
              <a:t>[</a:t>
            </a:r>
            <a:r>
              <a:rPr lang="ko-KR" altLang="en-US" dirty="0"/>
              <a:t>정보통신공사업법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전기공제조합</a:t>
            </a:r>
            <a:r>
              <a:rPr lang="en-US" altLang="ko-KR" dirty="0"/>
              <a:t>]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unitE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MUI-CM-04-T16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700" kern="0" dirty="0"/>
              <a:t>1,000 </a:t>
            </a:r>
            <a:r>
              <a:rPr kumimoji="1" lang="ko-KR" altLang="en-US" sz="700" kern="0" dirty="0"/>
              <a:t>천원</a:t>
            </a:r>
            <a:endParaRPr kumimoji="1" lang="en-US" altLang="ko-KR" sz="700" kern="0" dirty="0"/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31511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pic>
        <p:nvPicPr>
          <p:cNvPr id="187" name="그림 18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8858"/>
            <a:ext cx="134873" cy="137278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25180"/>
            <a:ext cx="134873" cy="137278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932670"/>
            <a:ext cx="134873" cy="137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79074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F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7.</a:t>
            </a:r>
            <a:r>
              <a:rPr lang="ko-KR" altLang="en-US" dirty="0"/>
              <a:t>소방시설공사 실적증명서 </a:t>
            </a:r>
            <a:r>
              <a:rPr lang="en-US" altLang="ko-KR" dirty="0"/>
              <a:t>[</a:t>
            </a:r>
            <a:r>
              <a:rPr lang="ko-KR" altLang="en-US" dirty="0"/>
              <a:t>소방시설공사업법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소방시설협회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MUI-CM-04-T17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56" name="그룹 155"/>
          <p:cNvGrpSpPr/>
          <p:nvPr/>
        </p:nvGrpSpPr>
        <p:grpSpPr>
          <a:xfrm>
            <a:off x="720490" y="2863519"/>
            <a:ext cx="2630093" cy="1179711"/>
            <a:chOff x="720490" y="2590223"/>
            <a:chExt cx="2630093" cy="1179711"/>
          </a:xfrm>
        </p:grpSpPr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74" name="직선 연결선 17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91" name="그룹 190"/>
          <p:cNvGrpSpPr/>
          <p:nvPr/>
        </p:nvGrpSpPr>
        <p:grpSpPr>
          <a:xfrm>
            <a:off x="3795734" y="1940948"/>
            <a:ext cx="2712026" cy="2943301"/>
            <a:chOff x="3795734" y="2590223"/>
            <a:chExt cx="2712026" cy="2943301"/>
          </a:xfrm>
        </p:grpSpPr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</a:t>
              </a: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3" name="그룹 19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4" name="직사각형 193"/>
            <p:cNvSpPr/>
            <p:nvPr/>
          </p:nvSpPr>
          <p:spPr>
            <a:xfrm>
              <a:off x="3838794" y="2897709"/>
              <a:ext cx="792000" cy="258532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공사현장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공사지역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원도급자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계약체결일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착공일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도급종류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공사종류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6" name="직선 연결선 2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53352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7" name="직선 연결선 20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40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6158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4743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4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6258557" y="2562978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8" name="그림 21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0" name="그림 21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789939"/>
            <a:ext cx="134873" cy="137278"/>
          </a:xfrm>
          <a:prstGeom prst="rect">
            <a:avLst/>
          </a:prstGeom>
        </p:spPr>
      </p:pic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78313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2" name="그림 22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997429"/>
            <a:ext cx="134873" cy="137278"/>
          </a:xfrm>
          <a:prstGeom prst="rect">
            <a:avLst/>
          </a:prstGeom>
        </p:spPr>
      </p:pic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99062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21059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6258557" y="4268094"/>
            <a:ext cx="94010" cy="47005"/>
            <a:chOff x="6812560" y="3297172"/>
            <a:chExt cx="94010" cy="47005"/>
          </a:xfrm>
        </p:grpSpPr>
        <p:cxnSp>
          <p:nvCxnSpPr>
            <p:cNvPr id="226" name="직선 연결선 2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2504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9" name="그룹 228"/>
          <p:cNvGrpSpPr/>
          <p:nvPr/>
        </p:nvGrpSpPr>
        <p:grpSpPr>
          <a:xfrm>
            <a:off x="6258557" y="4482543"/>
            <a:ext cx="94010" cy="47005"/>
            <a:chOff x="6812560" y="3297172"/>
            <a:chExt cx="94010" cy="47005"/>
          </a:xfrm>
        </p:grpSpPr>
        <p:cxnSp>
          <p:nvCxnSpPr>
            <p:cNvPr id="230" name="직선 연결선 2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63252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3" name="그룹 232"/>
          <p:cNvGrpSpPr/>
          <p:nvPr/>
        </p:nvGrpSpPr>
        <p:grpSpPr>
          <a:xfrm>
            <a:off x="6258557" y="4690024"/>
            <a:ext cx="94010" cy="47005"/>
            <a:chOff x="6812560" y="3297172"/>
            <a:chExt cx="94010" cy="47005"/>
          </a:xfrm>
        </p:grpSpPr>
        <p:cxnSp>
          <p:nvCxnSpPr>
            <p:cNvPr id="234" name="직선 연결선 2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5" name="직선 연결선 2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32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3327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60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2937845073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MUI-CM-04-T17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7" name="그룹 106"/>
          <p:cNvGrpSpPr/>
          <p:nvPr/>
        </p:nvGrpSpPr>
        <p:grpSpPr>
          <a:xfrm>
            <a:off x="675399" y="1941793"/>
            <a:ext cx="2712026" cy="2316283"/>
            <a:chOff x="675399" y="2590223"/>
            <a:chExt cx="2712026" cy="2316283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공사실적 금액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26" name="직선 연결선 12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직선 연결선 12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0" name="직사각형 109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등록번호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</a:p>
          </p:txBody>
        </p: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3478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ko-KR" altLang="en-US" sz="700" dirty="0" err="1"/>
                <a:t>미기성액</a:t>
              </a:r>
              <a:endParaRPr lang="ko-KR" altLang="en-US" sz="700" dirty="0"/>
            </a:p>
          </p:txBody>
        </p:sp>
      </p:grpSp>
      <p:grpSp>
        <p:nvGrpSpPr>
          <p:cNvPr id="128" name="그룹 127"/>
          <p:cNvGrpSpPr/>
          <p:nvPr/>
        </p:nvGrpSpPr>
        <p:grpSpPr>
          <a:xfrm>
            <a:off x="3795735" y="1941793"/>
            <a:ext cx="2712026" cy="2142112"/>
            <a:chOff x="675399" y="2590223"/>
            <a:chExt cx="2712026" cy="2142112"/>
          </a:xfrm>
        </p:grpSpPr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복합공종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타 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포함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 err="1">
                  <a:latin typeface="+mn-ea"/>
                </a:rPr>
                <a:t>실적내용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30" name="그룹 129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1" name="직사각형 130"/>
            <p:cNvSpPr/>
            <p:nvPr/>
          </p:nvSpPr>
          <p:spPr>
            <a:xfrm>
              <a:off x="718459" y="2897709"/>
              <a:ext cx="792000" cy="10772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도급금액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전년까지의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금년도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09205"/>
            <a:ext cx="76863" cy="292489"/>
            <a:chOff x="3750067" y="4683795"/>
            <a:chExt cx="76863" cy="292489"/>
          </a:xfrm>
        </p:grpSpPr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40105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864694653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G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8.</a:t>
            </a:r>
            <a:r>
              <a:rPr lang="ko-KR" altLang="en-US" dirty="0"/>
              <a:t>전기공사 실적증명서 </a:t>
            </a:r>
            <a:r>
              <a:rPr lang="en-US" altLang="ko-KR" dirty="0"/>
              <a:t>[</a:t>
            </a:r>
            <a:r>
              <a:rPr lang="ko-KR" altLang="en-US" dirty="0"/>
              <a:t>전기공사업법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전기공사협회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720490" y="2863519"/>
            <a:ext cx="2630093" cy="1393412"/>
            <a:chOff x="720490" y="2590223"/>
            <a:chExt cx="2630093" cy="1393412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7643" y="406965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83" name="그룹 182"/>
          <p:cNvGrpSpPr/>
          <p:nvPr/>
        </p:nvGrpSpPr>
        <p:grpSpPr>
          <a:xfrm>
            <a:off x="3795734" y="1940948"/>
            <a:ext cx="2712026" cy="2943301"/>
            <a:chOff x="3795734" y="2590223"/>
            <a:chExt cx="2712026" cy="2943301"/>
          </a:xfrm>
        </p:grpSpPr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 공사 내역</a:t>
              </a:r>
            </a:p>
          </p:txBody>
        </p:sp>
        <p:grpSp>
          <p:nvGrpSpPr>
            <p:cNvPr id="185" name="그룹 184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255" name="직선 연결선 2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3838794" y="2897709"/>
              <a:ext cx="792000" cy="258532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공사현장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원도급자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계약체결일자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도급종류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/>
                <a:t>김길동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주무관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111111</a:t>
              </a:r>
            </a:p>
          </p:txBody>
        </p:sp>
        <p:cxnSp>
          <p:nvCxnSpPr>
            <p:cNvPr id="241" name="직선 연결선 2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53352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2" name="직선 연결선 2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40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6158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4743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4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6258557" y="2562978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8" name="그림 21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0" name="그림 21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789939"/>
            <a:ext cx="134873" cy="137278"/>
          </a:xfrm>
          <a:prstGeom prst="rect">
            <a:avLst/>
          </a:prstGeom>
        </p:spPr>
      </p:pic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78313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2" name="그림 22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997429"/>
            <a:ext cx="134873" cy="137278"/>
          </a:xfrm>
          <a:prstGeom prst="rect">
            <a:avLst/>
          </a:prstGeom>
        </p:spPr>
      </p:pic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99062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21059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6258557" y="4268094"/>
            <a:ext cx="94010" cy="47005"/>
            <a:chOff x="6812560" y="3297172"/>
            <a:chExt cx="94010" cy="47005"/>
          </a:xfrm>
        </p:grpSpPr>
        <p:cxnSp>
          <p:nvCxnSpPr>
            <p:cNvPr id="226" name="직선 연결선 2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2504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9" name="그룹 228"/>
          <p:cNvGrpSpPr/>
          <p:nvPr/>
        </p:nvGrpSpPr>
        <p:grpSpPr>
          <a:xfrm>
            <a:off x="6258557" y="4482543"/>
            <a:ext cx="94010" cy="47005"/>
            <a:chOff x="6812560" y="3297172"/>
            <a:chExt cx="94010" cy="47005"/>
          </a:xfrm>
        </p:grpSpPr>
        <p:cxnSp>
          <p:nvCxnSpPr>
            <p:cNvPr id="230" name="직선 연결선 2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63252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3" name="그룹 232"/>
          <p:cNvGrpSpPr/>
          <p:nvPr/>
        </p:nvGrpSpPr>
        <p:grpSpPr>
          <a:xfrm>
            <a:off x="6258557" y="4690024"/>
            <a:ext cx="94010" cy="47005"/>
            <a:chOff x="6812560" y="3297172"/>
            <a:chExt cx="94010" cy="47005"/>
          </a:xfrm>
        </p:grpSpPr>
        <p:cxnSp>
          <p:nvCxnSpPr>
            <p:cNvPr id="234" name="직선 연결선 2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5" name="직선 연결선 2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32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92756454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도움말 아이콘 </a:t>
            </a:r>
            <a:r>
              <a:rPr lang="en-US" altLang="ko-KR" dirty="0"/>
              <a:t>(</a:t>
            </a:r>
            <a:r>
              <a:rPr lang="ko-KR" altLang="en-US" dirty="0"/>
              <a:t>팝업 표시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※ 3</a:t>
            </a:r>
            <a:r>
              <a:rPr lang="ko-KR" altLang="en-US" dirty="0"/>
              <a:t>개 업체 이상인 경우 </a:t>
            </a:r>
            <a:r>
              <a:rPr lang="ko-KR" altLang="en-US" dirty="0" err="1"/>
              <a:t>업체명에</a:t>
            </a:r>
            <a:r>
              <a:rPr lang="ko-KR" altLang="en-US" dirty="0"/>
              <a:t> ○○ 외 ○개 업체로 표기 후 합산하여 금액 기재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하도급 업체 </a:t>
            </a:r>
            <a:r>
              <a:rPr lang="en-US" altLang="ko-KR" dirty="0"/>
              <a:t>2</a:t>
            </a:r>
            <a:r>
              <a:rPr lang="ko-KR" altLang="en-US" dirty="0"/>
              <a:t>군데 입력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438591"/>
            <a:ext cx="76863" cy="292489"/>
            <a:chOff x="3750067" y="4683795"/>
            <a:chExt cx="76863" cy="292489"/>
          </a:xfrm>
        </p:grpSpPr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241" name="그룹 240"/>
          <p:cNvGrpSpPr/>
          <p:nvPr/>
        </p:nvGrpSpPr>
        <p:grpSpPr>
          <a:xfrm>
            <a:off x="675399" y="1940354"/>
            <a:ext cx="2712026" cy="2316283"/>
            <a:chOff x="675399" y="2590223"/>
            <a:chExt cx="2712026" cy="2316283"/>
          </a:xfrm>
        </p:grpSpPr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전기공사실적 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74" name="직선 연결선 27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7" name="직사각형 256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" name="직선 연결선 2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9" name="직선 연결선 2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0" name="직선 연결선 2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41021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 lvl="0"/>
              <a:r>
                <a:rPr lang="en-US" altLang="ko-KR" sz="700" dirty="0"/>
                <a:t>(</a:t>
              </a:r>
              <a:r>
                <a:rPr lang="ko-KR" altLang="en-US" sz="700" dirty="0" err="1"/>
                <a:t>다른공사포함</a:t>
              </a:r>
              <a:r>
                <a:rPr lang="en-US" altLang="ko-KR" sz="700" dirty="0"/>
                <a:t>)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62897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 err="1"/>
                <a:t>계약액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en-US" altLang="ko-KR" sz="700" dirty="0"/>
                <a:t>(</a:t>
              </a:r>
              <a:r>
                <a:rPr lang="ko-KR" altLang="en-US" sz="700" dirty="0"/>
                <a:t>추가 또는 </a:t>
              </a:r>
              <a:r>
                <a:rPr lang="ko-KR" altLang="en-US" sz="700" dirty="0" err="1"/>
                <a:t>변경분</a:t>
              </a:r>
              <a:r>
                <a:rPr lang="en-US" altLang="ko-KR" sz="700" dirty="0"/>
                <a:t>)</a:t>
              </a:r>
              <a:endParaRPr lang="ko-KR" altLang="en-US" sz="700" dirty="0"/>
            </a:p>
          </p:txBody>
        </p:sp>
      </p:grpSp>
      <p:grpSp>
        <p:nvGrpSpPr>
          <p:cNvPr id="276" name="그룹 275"/>
          <p:cNvGrpSpPr/>
          <p:nvPr/>
        </p:nvGrpSpPr>
        <p:grpSpPr>
          <a:xfrm>
            <a:off x="3795735" y="1940354"/>
            <a:ext cx="2712026" cy="2142112"/>
            <a:chOff x="675399" y="2590223"/>
            <a:chExt cx="2712026" cy="2142112"/>
          </a:xfrm>
        </p:grpSpPr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하도급내역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원도급자가</a:t>
              </a:r>
              <a:r>
                <a:rPr lang="ko-KR" altLang="en-US" sz="700" dirty="0">
                  <a:latin typeface="+mn-ea"/>
                </a:rPr>
                <a:t> 작성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78" name="그룹 277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88" name="직선 연결선 2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9" name="직사각형 278"/>
            <p:cNvSpPr/>
            <p:nvPr/>
          </p:nvSpPr>
          <p:spPr>
            <a:xfrm>
              <a:off x="718459" y="2897710"/>
              <a:ext cx="792000" cy="882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0" name="직선 연결선 2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하도급업체명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등록번호</a:t>
              </a:r>
              <a:endParaRPr lang="en-US" altLang="ko-KR" sz="700" dirty="0"/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4" name="직선 연결선 2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94" name="그룹 293"/>
          <p:cNvGrpSpPr/>
          <p:nvPr/>
        </p:nvGrpSpPr>
        <p:grpSpPr>
          <a:xfrm>
            <a:off x="5087822" y="1988977"/>
            <a:ext cx="243478" cy="144000"/>
            <a:chOff x="5087822" y="2638846"/>
            <a:chExt cx="243478" cy="144000"/>
          </a:xfrm>
        </p:grpSpPr>
        <p:sp>
          <p:nvSpPr>
            <p:cNvPr id="295" name="타원 294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모서리가 둥근 직사각형 295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297" name="그룹 296"/>
          <p:cNvGrpSpPr/>
          <p:nvPr/>
        </p:nvGrpSpPr>
        <p:grpSpPr>
          <a:xfrm>
            <a:off x="3795734" y="4189747"/>
            <a:ext cx="2712027" cy="789495"/>
            <a:chOff x="675399" y="1544009"/>
            <a:chExt cx="2712027" cy="789495"/>
          </a:xfrm>
        </p:grpSpPr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시공규모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9" name="그룹 29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304" name="직선 연결선 3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5" name="직선 연결선 30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40105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6" name="타원 30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882" y="19820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7" name="타원 30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882" y="22722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51318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500653344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입력 테이블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en-US" altLang="ko-KR" dirty="0"/>
              <a:t>4</a:t>
            </a:r>
            <a:r>
              <a:rPr lang="ko-KR" altLang="en-US" dirty="0"/>
              <a:t>개 반복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공사</a:t>
            </a:r>
            <a:r>
              <a:rPr lang="en-US" altLang="ko-KR" dirty="0"/>
              <a:t>(</a:t>
            </a:r>
            <a:r>
              <a:rPr lang="ko-KR" altLang="en-US" dirty="0"/>
              <a:t>종</a:t>
            </a:r>
            <a:r>
              <a:rPr lang="en-US" altLang="ko-KR" dirty="0"/>
              <a:t>)</a:t>
            </a:r>
            <a:r>
              <a:rPr lang="ko-KR" altLang="en-US" dirty="0"/>
              <a:t>명 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전기공사</a:t>
            </a:r>
            <a:r>
              <a:rPr lang="en-US" altLang="ko-KR" dirty="0"/>
              <a:t>, </a:t>
            </a:r>
            <a:r>
              <a:rPr lang="ko-KR" altLang="en-US" dirty="0"/>
              <a:t>소방공사</a:t>
            </a:r>
            <a:r>
              <a:rPr lang="en-US" altLang="ko-KR" dirty="0"/>
              <a:t>, </a:t>
            </a:r>
            <a:r>
              <a:rPr lang="ko-KR" altLang="en-US" dirty="0"/>
              <a:t>기계설비공사</a:t>
            </a:r>
            <a:r>
              <a:rPr lang="en-US" altLang="ko-KR" dirty="0"/>
              <a:t>, </a:t>
            </a:r>
            <a:r>
              <a:rPr lang="ko-KR" altLang="en-US" dirty="0"/>
              <a:t>그 밖의 공사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20" name="그룹 119"/>
          <p:cNvGrpSpPr/>
          <p:nvPr/>
        </p:nvGrpSpPr>
        <p:grpSpPr>
          <a:xfrm>
            <a:off x="675399" y="1940354"/>
            <a:ext cx="2712026" cy="3108762"/>
            <a:chOff x="675399" y="2607641"/>
            <a:chExt cx="2712026" cy="3108762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607641"/>
              <a:ext cx="2208095" cy="24577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dirty="0">
                  <a:latin typeface="+mn-ea"/>
                </a:rPr>
                <a:t>복합공사종류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다른 공사 종류 포함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실적 명세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22" name="그룹 121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3" name="직사각형 122"/>
            <p:cNvSpPr/>
            <p:nvPr/>
          </p:nvSpPr>
          <p:spPr>
            <a:xfrm>
              <a:off x="718459" y="2897709"/>
              <a:ext cx="792000" cy="17153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지난연도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전기공사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71640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353247"/>
            <a:ext cx="76863" cy="292489"/>
            <a:chOff x="3750067" y="4683795"/>
            <a:chExt cx="76863" cy="292489"/>
          </a:xfrm>
        </p:grpSpPr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68" name="그림 16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947309"/>
            <a:ext cx="134873" cy="137278"/>
          </a:xfrm>
          <a:prstGeom prst="rect">
            <a:avLst/>
          </a:prstGeom>
        </p:spPr>
      </p:pic>
      <p:pic>
        <p:nvPicPr>
          <p:cNvPr id="187" name="그림 18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877"/>
            <a:ext cx="134873" cy="137278"/>
          </a:xfrm>
          <a:prstGeom prst="rect">
            <a:avLst/>
          </a:prstGeom>
        </p:spPr>
      </p:pic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644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1400933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H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9.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전문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MUI-CM-04-T19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2284727"/>
            <a:chOff x="3795734" y="1939881"/>
            <a:chExt cx="2712026" cy="228472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6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668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73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22460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4" name="그룹 283"/>
          <p:cNvGrpSpPr/>
          <p:nvPr/>
        </p:nvGrpSpPr>
        <p:grpSpPr>
          <a:xfrm>
            <a:off x="6258557" y="2983823"/>
            <a:ext cx="94010" cy="47005"/>
            <a:chOff x="6812560" y="3297172"/>
            <a:chExt cx="94010" cy="47005"/>
          </a:xfrm>
        </p:grpSpPr>
        <p:cxnSp>
          <p:nvCxnSpPr>
            <p:cNvPr id="285" name="직선 연결선 28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6" name="직선 연결선 28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846295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6" name="그룹 295"/>
          <p:cNvGrpSpPr/>
          <p:nvPr/>
        </p:nvGrpSpPr>
        <p:grpSpPr>
          <a:xfrm>
            <a:off x="6258557" y="4048684"/>
            <a:ext cx="94010" cy="47005"/>
            <a:chOff x="6812560" y="3297172"/>
            <a:chExt cx="94010" cy="47005"/>
          </a:xfrm>
        </p:grpSpPr>
        <p:cxnSp>
          <p:nvCxnSpPr>
            <p:cNvPr id="297" name="직선 연결선 2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직선 연결선 2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515055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연월 정보 입력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MUI-CM-04-T19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243738"/>
            <a:chOff x="720490" y="3930133"/>
            <a:chExt cx="2630093" cy="2243738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8"/>
              <a:ext cx="792000" cy="19362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749558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584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4740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14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천원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3918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98877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942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013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506510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292516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91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397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7862943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I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10.</a:t>
            </a:r>
            <a:r>
              <a:rPr lang="ko-KR" altLang="en-US" dirty="0"/>
              <a:t>건설공사 </a:t>
            </a:r>
            <a:r>
              <a:rPr lang="ko-KR" altLang="en-US" dirty="0" err="1"/>
              <a:t>직접시공분</a:t>
            </a:r>
            <a:r>
              <a:rPr lang="ko-KR" altLang="en-US" dirty="0"/>
              <a:t> 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 </a:t>
            </a:r>
            <a:r>
              <a:rPr lang="en-US" altLang="ko-KR" dirty="0"/>
              <a:t>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MUI-CM-04-T20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1870756"/>
            <a:chOff x="3795734" y="1939881"/>
            <a:chExt cx="2712026" cy="1870756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7"/>
              <a:ext cx="792000" cy="15170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81063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7670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634198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376585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3697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911205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공종</a:t>
            </a:r>
            <a:r>
              <a:rPr lang="en-US" altLang="ko-KR" sz="700" dirty="0">
                <a:latin typeface="+mn-ea"/>
              </a:rPr>
              <a:t>([</a:t>
            </a:r>
            <a:r>
              <a:rPr lang="ko-KR" altLang="en-US" sz="700" dirty="0">
                <a:latin typeface="+mn-ea"/>
              </a:rPr>
              <a:t>건설산업기본법시행규칙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제 </a:t>
            </a:r>
            <a:r>
              <a:rPr lang="en-US" altLang="ko-KR" sz="700" dirty="0">
                <a:latin typeface="+mn-ea"/>
              </a:rPr>
              <a:t>25</a:t>
            </a:r>
            <a:r>
              <a:rPr lang="ko-KR" altLang="en-US" sz="700" dirty="0">
                <a:latin typeface="+mn-ea"/>
              </a:rPr>
              <a:t>조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75901584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비용정보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개 노출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MUI-CM-04-T20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036160"/>
            <a:chOff x="720490" y="3930133"/>
            <a:chExt cx="2630093" cy="2036160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9"/>
              <a:ext cx="792000" cy="17286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6892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533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04080"/>
              <a:ext cx="792000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해당연도 </a:t>
              </a:r>
              <a:r>
                <a:rPr lang="ko-KR" altLang="en-US" sz="700" dirty="0" err="1"/>
                <a:t>직접시공분</a:t>
              </a:r>
              <a:r>
                <a:rPr lang="en-US" altLang="ko-KR" sz="700" dirty="0"/>
                <a:t> </a:t>
              </a:r>
              <a:r>
                <a:rPr lang="ko-KR" altLang="en-US" sz="700" dirty="0" err="1"/>
                <a:t>세부공종</a:t>
              </a:r>
              <a:r>
                <a:rPr lang="en-US" altLang="ko-KR" sz="700" dirty="0"/>
                <a:t>(</a:t>
              </a:r>
              <a:r>
                <a:rPr lang="ko-KR" altLang="en-US" sz="700" dirty="0" err="1"/>
                <a:t>전문공사</a:t>
              </a:r>
              <a:r>
                <a:rPr lang="en-US" altLang="ko-KR" sz="700" dirty="0"/>
                <a:t>)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0792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해당연도 </a:t>
              </a:r>
              <a:r>
                <a:rPr lang="ko-KR" altLang="en-US" sz="700" dirty="0" err="1"/>
                <a:t>직접시공분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581777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0609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583729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8556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375472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01" name="그룹 100"/>
          <p:cNvGrpSpPr/>
          <p:nvPr/>
        </p:nvGrpSpPr>
        <p:grpSpPr>
          <a:xfrm>
            <a:off x="3139425" y="2347239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직선 연결선 10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5" name="그림 104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793402"/>
            <a:ext cx="134873" cy="137278"/>
          </a:xfrm>
          <a:prstGeom prst="rect">
            <a:avLst/>
          </a:prstGeom>
        </p:spPr>
      </p:pic>
      <p:grpSp>
        <p:nvGrpSpPr>
          <p:cNvPr id="106" name="그룹 105"/>
          <p:cNvGrpSpPr/>
          <p:nvPr/>
        </p:nvGrpSpPr>
        <p:grpSpPr>
          <a:xfrm>
            <a:off x="3139425" y="2840003"/>
            <a:ext cx="94010" cy="47005"/>
            <a:chOff x="6812560" y="3297172"/>
            <a:chExt cx="94010" cy="47005"/>
          </a:xfrm>
        </p:grpSpPr>
        <p:cxnSp>
          <p:nvCxnSpPr>
            <p:cNvPr id="107" name="직선 연결선 10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직선 연결선 10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4141882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시설공사 아님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1,000,000 </a:t>
            </a:r>
            <a:r>
              <a:rPr lang="ko-KR" altLang="en-US" dirty="0"/>
              <a:t>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err="1"/>
              <a:t>노출항목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물품</a:t>
            </a:r>
            <a:r>
              <a:rPr lang="en-US" altLang="ko-KR" dirty="0"/>
              <a:t>, </a:t>
            </a:r>
            <a:r>
              <a:rPr lang="ko-KR" altLang="en-US" dirty="0"/>
              <a:t>군수품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그 외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시설공사가 아닐 때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MUI-CM-04-T21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675399" y="2873472"/>
            <a:ext cx="2712026" cy="2744695"/>
            <a:chOff x="3795734" y="2590223"/>
            <a:chExt cx="2712026" cy="2744695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추가사항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70" name="직선 연결선 16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2" name="직사각형 171"/>
            <p:cNvSpPr/>
            <p:nvPr/>
          </p:nvSpPr>
          <p:spPr>
            <a:xfrm>
              <a:off x="3838794" y="2897709"/>
              <a:ext cx="792000" cy="2360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실적구분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실적비율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(%)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실적금액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품질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 err="1">
                  <a:latin typeface="+mn-ea"/>
                </a:rPr>
                <a:t>성능통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33491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461893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용역범위</a:t>
              </a:r>
              <a:r>
                <a:rPr lang="ko-KR" altLang="en-US" sz="700" dirty="0">
                  <a:latin typeface="+mn-ea"/>
                </a:rPr>
                <a:t> 및 기준</a:t>
              </a:r>
            </a:p>
            <a:p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면적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89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6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09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9" name="직선 연결선 1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586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80545" y="3213069"/>
            <a:ext cx="766867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3139425" y="3267506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" name="TextBox 6"/>
          <p:cNvSpPr txBox="1"/>
          <p:nvPr/>
        </p:nvSpPr>
        <p:spPr>
          <a:xfrm>
            <a:off x="2333362" y="3194042"/>
            <a:ext cx="24718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/>
              <a:t>~</a:t>
            </a:r>
            <a:endParaRPr lang="ko-KR" altLang="en-US" sz="700" dirty="0"/>
          </a:p>
        </p:txBody>
      </p: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2371" y="3213069"/>
            <a:ext cx="766867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2121251" y="3267506"/>
            <a:ext cx="94010" cy="47005"/>
            <a:chOff x="6812560" y="3297172"/>
            <a:chExt cx="94010" cy="47005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43370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grpSp>
        <p:nvGrpSpPr>
          <p:cNvPr id="223" name="그룹 222"/>
          <p:cNvGrpSpPr/>
          <p:nvPr/>
        </p:nvGrpSpPr>
        <p:grpSpPr>
          <a:xfrm>
            <a:off x="3139425" y="3488141"/>
            <a:ext cx="94010" cy="47005"/>
            <a:chOff x="6812560" y="3297172"/>
            <a:chExt cx="94010" cy="47005"/>
          </a:xfrm>
        </p:grpSpPr>
        <p:cxnSp>
          <p:nvCxnSpPr>
            <p:cNvPr id="224" name="직선 연결선 22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직선 연결선 22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65090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29194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4304301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07242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5180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7186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92106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14252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3589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3370903" y="3663886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2-1</a:t>
            </a:r>
            <a:endParaRPr lang="ko-KR" altLang="en-US" sz="900" b="1" dirty="0"/>
          </a:p>
        </p:txBody>
      </p:sp>
      <p:sp>
        <p:nvSpPr>
          <p:cNvPr id="237" name="모서리가 둥근 직사각형 236"/>
          <p:cNvSpPr/>
          <p:nvPr/>
        </p:nvSpPr>
        <p:spPr>
          <a:xfrm>
            <a:off x="3370903" y="4094404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2-2</a:t>
            </a:r>
            <a:endParaRPr lang="ko-KR" altLang="en-US" sz="900" b="1" dirty="0"/>
          </a:p>
        </p:txBody>
      </p:sp>
      <p:sp>
        <p:nvSpPr>
          <p:cNvPr id="240" name="모서리가 둥근 직사각형 239"/>
          <p:cNvSpPr/>
          <p:nvPr/>
        </p:nvSpPr>
        <p:spPr>
          <a:xfrm>
            <a:off x="3370903" y="430219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2-3</a:t>
            </a:r>
            <a:endParaRPr lang="ko-KR" altLang="en-US" sz="900" b="1" dirty="0"/>
          </a:p>
        </p:txBody>
      </p:sp>
      <p:sp>
        <p:nvSpPr>
          <p:cNvPr id="241" name="모서리가 둥근 직사각형 240"/>
          <p:cNvSpPr/>
          <p:nvPr/>
        </p:nvSpPr>
        <p:spPr>
          <a:xfrm>
            <a:off x="3370903" y="452138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2-4</a:t>
            </a:r>
            <a:endParaRPr lang="ko-KR" altLang="en-US" sz="900" b="1" dirty="0"/>
          </a:p>
        </p:txBody>
      </p:sp>
      <p:sp>
        <p:nvSpPr>
          <p:cNvPr id="243" name="모서리가 둥근 직사각형 242"/>
          <p:cNvSpPr/>
          <p:nvPr/>
        </p:nvSpPr>
        <p:spPr>
          <a:xfrm>
            <a:off x="3370903" y="473270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2-5</a:t>
            </a:r>
            <a:endParaRPr lang="ko-KR" altLang="en-US" sz="900" b="1" dirty="0"/>
          </a:p>
        </p:txBody>
      </p:sp>
      <p:sp>
        <p:nvSpPr>
          <p:cNvPr id="244" name="모서리가 둥근 직사각형 243"/>
          <p:cNvSpPr/>
          <p:nvPr/>
        </p:nvSpPr>
        <p:spPr>
          <a:xfrm>
            <a:off x="3370903" y="4933762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2-6</a:t>
            </a:r>
            <a:endParaRPr lang="ko-KR" altLang="en-US" sz="900" b="1" dirty="0"/>
          </a:p>
        </p:txBody>
      </p:sp>
      <p:sp>
        <p:nvSpPr>
          <p:cNvPr id="265" name="모서리가 둥근 직사각형 264"/>
          <p:cNvSpPr/>
          <p:nvPr/>
        </p:nvSpPr>
        <p:spPr>
          <a:xfrm>
            <a:off x="3370903" y="515327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2-7</a:t>
            </a:r>
            <a:endParaRPr lang="ko-KR" altLang="en-US" sz="900" b="1" dirty="0"/>
          </a:p>
        </p:txBody>
      </p:sp>
      <p:sp>
        <p:nvSpPr>
          <p:cNvPr id="8" name="직사각형 7"/>
          <p:cNvSpPr/>
          <p:nvPr/>
        </p:nvSpPr>
        <p:spPr>
          <a:xfrm>
            <a:off x="7074694" y="5923505"/>
            <a:ext cx="2369315" cy="388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" dirty="0" err="1"/>
              <a:t>노차장님</a:t>
            </a:r>
            <a:r>
              <a:rPr lang="ko-KR" altLang="en-US" sz="400" dirty="0"/>
              <a:t> 확인 필요</a:t>
            </a:r>
            <a:r>
              <a:rPr lang="en-US" altLang="ko-KR" sz="400" dirty="0"/>
              <a:t>.</a:t>
            </a:r>
          </a:p>
          <a:p>
            <a:pPr algn="ctr"/>
            <a:endParaRPr lang="en-US" altLang="ko-KR" sz="400" dirty="0"/>
          </a:p>
          <a:p>
            <a:pPr algn="ctr"/>
            <a:r>
              <a:rPr lang="ko-KR" altLang="en-US" sz="400" dirty="0"/>
              <a:t>물품</a:t>
            </a:r>
            <a:r>
              <a:rPr lang="en-US" altLang="ko-KR" sz="400" dirty="0"/>
              <a:t>/</a:t>
            </a:r>
            <a:r>
              <a:rPr lang="ko-KR" altLang="en-US" sz="400" dirty="0" err="1"/>
              <a:t>군수품일때</a:t>
            </a:r>
            <a:r>
              <a:rPr lang="ko-KR" altLang="en-US" sz="400" dirty="0"/>
              <a:t> </a:t>
            </a:r>
            <a:r>
              <a:rPr lang="en-US" altLang="ko-KR" sz="400" dirty="0"/>
              <a:t>:  ②⑧⑨ : </a:t>
            </a:r>
            <a:r>
              <a:rPr lang="en-US" altLang="ko-KR" sz="400" dirty="0" err="1"/>
              <a:t>readonly</a:t>
            </a:r>
            <a:r>
              <a:rPr lang="en-US" altLang="ko-KR" sz="400" dirty="0"/>
              <a:t>, ④⑤⑥⑦ : active, ①</a:t>
            </a:r>
            <a:r>
              <a:rPr lang="ko-KR" altLang="en-US" sz="400" dirty="0"/>
              <a:t>의 </a:t>
            </a:r>
            <a:r>
              <a:rPr lang="en-US" altLang="ko-KR" sz="400" dirty="0"/>
              <a:t>value 3 : disable</a:t>
            </a:r>
          </a:p>
          <a:p>
            <a:pPr algn="ctr"/>
            <a:r>
              <a:rPr lang="ko-KR" altLang="en-US" sz="400" dirty="0"/>
              <a:t>그 외 </a:t>
            </a:r>
            <a:r>
              <a:rPr lang="ko-KR" altLang="en-US" sz="400" dirty="0" err="1"/>
              <a:t>일때</a:t>
            </a:r>
            <a:r>
              <a:rPr lang="ko-KR" altLang="en-US" sz="400" dirty="0"/>
              <a:t>         </a:t>
            </a:r>
            <a:r>
              <a:rPr lang="en-US" altLang="ko-KR" sz="400" dirty="0"/>
              <a:t>:  ②⑧ : active, ④⑤⑥⑦ : </a:t>
            </a:r>
            <a:r>
              <a:rPr lang="en-US" altLang="ko-KR" sz="400" dirty="0" err="1"/>
              <a:t>readonly</a:t>
            </a:r>
            <a:r>
              <a:rPr lang="en-US" altLang="ko-KR" sz="400" dirty="0"/>
              <a:t>, ①</a:t>
            </a:r>
            <a:r>
              <a:rPr lang="ko-KR" altLang="en-US" sz="400" dirty="0"/>
              <a:t>의 </a:t>
            </a:r>
            <a:r>
              <a:rPr lang="en-US" altLang="ko-KR" sz="400" dirty="0"/>
              <a:t>value 1,2 : disable</a:t>
            </a:r>
            <a:endParaRPr lang="ko-KR" altLang="en-US" sz="400" dirty="0"/>
          </a:p>
        </p:txBody>
      </p:sp>
    </p:spTree>
    <p:extLst>
      <p:ext uri="{BB962C8B-B14F-4D97-AF65-F5344CB8AC3E}">
        <p14:creationId xmlns:p14="http://schemas.microsoft.com/office/powerpoint/2010/main" val="3423887248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ctrtInst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방위사업청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(1)/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(2)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2999" y="2143255"/>
            <a:ext cx="2474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303234"/>
              </p:ext>
            </p:extLst>
          </p:nvPr>
        </p:nvGraphicFramePr>
        <p:xfrm>
          <a:off x="452999" y="2354458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orderInst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291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지출관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dsbofrTel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지출관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59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재무관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finrTel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재무관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66482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F34B8CE-1ABB-F150-1327-3373CEA1C65A}"/>
              </a:ext>
            </a:extLst>
          </p:cNvPr>
          <p:cNvSpPr txBox="1"/>
          <p:nvPr/>
        </p:nvSpPr>
        <p:spPr>
          <a:xfrm>
            <a:off x="452999" y="4677684"/>
            <a:ext cx="4298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신청정보 입력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9045936-57F6-F3EA-C491-B82A0DED9AB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891367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dmndQty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sbmsnDeptNm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usePrpsCdNm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etcUsePrps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경우만 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D1DCF60F-18A8-3BB4-41A1-F17B43F7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8448984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181E2-3BA7-B57D-98EF-0B776A727D98}"/>
              </a:ext>
            </a:extLst>
          </p:cNvPr>
          <p:cNvSpPr txBox="1"/>
          <p:nvPr/>
        </p:nvSpPr>
        <p:spPr>
          <a:xfrm>
            <a:off x="463235" y="822075"/>
            <a:ext cx="35255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C5F04A-9C28-E86D-C357-41CF63514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0913"/>
              </p:ext>
            </p:extLst>
          </p:nvPr>
        </p:nvGraphicFramePr>
        <p:xfrm>
          <a:off x="458117" y="1033278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prfmncIdntyAmt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prpamtIdntyAmt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clclnAmt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otstDmndAmt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mdwyDmndAmt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grnteInsrncNo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idntyDmndMttr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clclnYmd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1DAF561-8940-F301-28F9-894AFD6AB87A}"/>
              </a:ext>
            </a:extLst>
          </p:cNvPr>
          <p:cNvSpPr txBox="1"/>
          <p:nvPr/>
        </p:nvSpPr>
        <p:spPr>
          <a:xfrm>
            <a:off x="458117" y="3089635"/>
            <a:ext cx="42485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시공자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대표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dm_prfmncPrdocAplyRprsInfo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2EE9CFD-A820-FA44-B1F2-B804E2C36D2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30083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DB7E85-55B9-F2B1-FF88-A621CA41216B}"/>
              </a:ext>
            </a:extLst>
          </p:cNvPr>
          <p:cNvSpPr txBox="1"/>
          <p:nvPr/>
        </p:nvSpPr>
        <p:spPr>
          <a:xfrm>
            <a:off x="463235" y="4609033"/>
            <a:ext cx="52872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 err="1">
                <a:solidFill>
                  <a:prstClr val="black"/>
                </a:solidFill>
              </a:rPr>
              <a:t>총공사</a:t>
            </a:r>
            <a:r>
              <a:rPr lang="ko-KR" altLang="en-US" sz="900" b="1" dirty="0">
                <a:solidFill>
                  <a:prstClr val="black"/>
                </a:solidFill>
              </a:rPr>
              <a:t>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dm_prfmncPrdocAplyWholCstrnInfo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D6DB57DF-3264-70A1-5F25-B696A1D2B69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482023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88E6329-F98D-BBA4-9329-4767233D4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납품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선금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정산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착수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중도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6140111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4482E-9BC8-2B91-6322-DFD524FE23D9}"/>
              </a:ext>
            </a:extLst>
          </p:cNvPr>
          <p:cNvSpPr txBox="1"/>
          <p:nvPr/>
        </p:nvSpPr>
        <p:spPr>
          <a:xfrm>
            <a:off x="463235" y="799547"/>
            <a:ext cx="51750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금차공사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6384CB9E-D7A4-B068-B2D0-EC38412C4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636199"/>
              </p:ext>
            </p:extLst>
          </p:nvPr>
        </p:nvGraphicFramePr>
        <p:xfrm>
          <a:off x="458117" y="10107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ctrtYmd2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bgncstYmd2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cmcnYmd2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cstrnAmt2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cmcnAmt2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gvspAmt2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2C62C28-EE12-EE0B-0C0A-A16F41A38450}"/>
              </a:ext>
            </a:extLst>
          </p:cNvPr>
          <p:cNvSpPr txBox="1"/>
          <p:nvPr/>
        </p:nvSpPr>
        <p:spPr>
          <a:xfrm>
            <a:off x="463235" y="2502345"/>
            <a:ext cx="44104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공사성질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msb_prfmncPrdocAplyCstrnTypeInfo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AAFAF7-108B-EEEE-7473-DE803731BDB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13548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cnstrDivs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cnstrExpnCstrnYn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cnstrRmdlCstrnYn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eltyDivs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eltyEpxnCstrnYn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eltyRlocatCstrnYn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eltyEstblCstrnYn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eltyRprwrkYn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09C00F4-9404-C91B-1399-DF8169011927}"/>
              </a:ext>
            </a:extLst>
          </p:cNvPr>
          <p:cNvSpPr txBox="1"/>
          <p:nvPr/>
        </p:nvSpPr>
        <p:spPr>
          <a:xfrm>
            <a:off x="468353" y="3795223"/>
            <a:ext cx="44617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공동도급 여부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rad_prfmncPrdocAplyJntCtrcInfo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DB4DE96-8723-0921-3DA8-36813F40B073}"/>
              </a:ext>
            </a:extLst>
          </p:cNvPr>
          <p:cNvGraphicFramePr>
            <a:graphicFrameLocks noGrp="1"/>
          </p:cNvGraphicFramePr>
          <p:nvPr/>
        </p:nvGraphicFramePr>
        <p:xfrm>
          <a:off x="463235" y="400642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3B425BEC-47CD-CD5A-3F29-5C4F485229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3709478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0BE741-117A-6D32-5EBE-43EDB3129FD8}"/>
              </a:ext>
            </a:extLst>
          </p:cNvPr>
          <p:cNvSpPr txBox="1"/>
          <p:nvPr/>
        </p:nvSpPr>
        <p:spPr>
          <a:xfrm>
            <a:off x="463235" y="874033"/>
            <a:ext cx="468614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실적의 종류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dm_prfmncPrdocAplyprfmncTypeInfo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593A7EF-D452-FBE8-B657-CCAAF1ECE55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5236"/>
          <a:ext cx="8994883" cy="3862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875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실적의종류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rsltDivs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prfmncCncptDesignYn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prfmncBscDesignYn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prfmncEnfrcDesignYn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prfmncCnstYn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prfmncSpvbYn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prfmncQltyCstrnMngYn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prfmncTstrnYn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prfmncMcmtrFbctnInstlYn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prfmncEtcYn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72502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411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889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31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14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893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1270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22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cnstBcoSclMthdCn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266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cnstBcoCnstAmtCn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1911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cnstBcoCmcnAmtCn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674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7492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8DCE7-3703-62EA-C591-0D2AFCE97F56}"/>
              </a:ext>
            </a:extLst>
          </p:cNvPr>
          <p:cNvSpPr txBox="1"/>
          <p:nvPr/>
        </p:nvSpPr>
        <p:spPr>
          <a:xfrm>
            <a:off x="453000" y="5119726"/>
            <a:ext cx="428058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 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A4AE937-CE3D-39A4-C44A-325B4A7851E4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326571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72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89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sbctrCstrnSclCn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22CC85B2-AFAE-35F7-BE83-4D56FE2D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7731225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C8262-3EA1-2756-0C68-C364281C05B7}"/>
              </a:ext>
            </a:extLst>
          </p:cNvPr>
          <p:cNvSpPr txBox="1"/>
          <p:nvPr/>
        </p:nvSpPr>
        <p:spPr>
          <a:xfrm>
            <a:off x="455558" y="1064351"/>
            <a:ext cx="56607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최저가 적정성심사관련 시공실적자료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dm_prfmncPrdocAplyLwprcInfo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46C8FCD-2050-5A41-D075-16415974C18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278034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eqpmntSpcfctCn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inputCntomCn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wkqtyActotCn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918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jobHrActotCn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3788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ptmWkqtyCn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8343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etcRefMttr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542907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6277042-213F-BD1E-DB8E-DFAFA33C9135}"/>
              </a:ext>
            </a:extLst>
          </p:cNvPr>
          <p:cNvSpPr txBox="1"/>
          <p:nvPr/>
        </p:nvSpPr>
        <p:spPr>
          <a:xfrm>
            <a:off x="455558" y="314700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7E37716-D066-1919-8A1E-A572C82D71A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37961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D1386225-D664-D673-3575-749B0598A6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309041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38048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(06/19)</a:t>
            </a:r>
            <a:endParaRPr lang="ko-KR" altLang="en-US" sz="1000" b="1" dirty="0">
              <a:solidFill>
                <a:prstClr val="black"/>
              </a:solidFill>
            </a:endParaRPr>
          </a:p>
          <a:p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F92358-CECD-C653-3FA6-3D4C7200DF2E}"/>
              </a:ext>
            </a:extLst>
          </p:cNvPr>
          <p:cNvSpPr txBox="1"/>
          <p:nvPr/>
        </p:nvSpPr>
        <p:spPr>
          <a:xfrm>
            <a:off x="510736" y="952078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7250B9-9B5E-2209-667D-08910AAAEAC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61923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01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128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23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유지보수공사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snthsDtlCnstpNm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CODE.getCsrtDivsSub1()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491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2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070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5557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174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2322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42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9559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2474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097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thyrOdrSplyMtrlAmt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638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prvyrGvspMtrlActotAmt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46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627840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2DC87E8-B095-9797-67BA-FAE74F2AFE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75497814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D660A-7345-AF1D-5B81-E928CEEDB7EC}"/>
              </a:ext>
            </a:extLst>
          </p:cNvPr>
          <p:cNvSpPr txBox="1"/>
          <p:nvPr/>
        </p:nvSpPr>
        <p:spPr>
          <a:xfrm>
            <a:off x="455558" y="87599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8D75A14-F914-E1A0-5B45-3CD32C5BD8E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3301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3872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prdocUsgCn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061D54-42C2-ABC2-BEC4-E9F8D2B3ADDF}"/>
              </a:ext>
            </a:extLst>
          </p:cNvPr>
          <p:cNvSpPr txBox="1"/>
          <p:nvPr/>
        </p:nvSpPr>
        <p:spPr>
          <a:xfrm>
            <a:off x="460676" y="2319372"/>
            <a:ext cx="575695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수집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운반용역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dm_prfmncPrdocAplyClctCnvncInfo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88055FD-6A65-6C0E-FFEA-FC4E4404E88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530575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clctCnvncCtrtBgngYmd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BF7FE-3684-6278-BA47-60FCDEF7768D}"/>
              </a:ext>
            </a:extLst>
          </p:cNvPr>
          <p:cNvSpPr txBox="1"/>
          <p:nvPr/>
        </p:nvSpPr>
        <p:spPr>
          <a:xfrm>
            <a:off x="460676" y="4454936"/>
            <a:ext cx="58755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중간처리용역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dm_prfmncPrdocAplyMdPrcsLbsvcInfo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099DDEA-9A7A-90A8-4440-F5509D4AA7E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666139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mdPrcsCtprCn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6E16C6D-EBCC-AEC4-9DA3-3596FBA742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76448138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E413DB-BAE1-A5CA-06E1-959007BAF8C7}"/>
              </a:ext>
            </a:extLst>
          </p:cNvPr>
          <p:cNvSpPr txBox="1"/>
          <p:nvPr/>
        </p:nvSpPr>
        <p:spPr>
          <a:xfrm>
            <a:off x="463235" y="837759"/>
            <a:ext cx="4113874" cy="34970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</a:p>
          <a:p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B184D5-1CB7-6E4A-E3B7-E4E1F2322E9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48962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952C0DE-EC99-B818-90E4-0044D8E380B5}"/>
              </a:ext>
            </a:extLst>
          </p:cNvPr>
          <p:cNvSpPr txBox="1"/>
          <p:nvPr/>
        </p:nvSpPr>
        <p:spPr>
          <a:xfrm>
            <a:off x="463235" y="2216782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D01B924D-3AF8-D0AD-B04D-FA009F03FEB4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27985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prvyrGiveActotAmt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922AB7D3-1330-192A-380E-E2C81C8EBA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24731997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CEC13-90FF-84FB-1FC6-C272DC4FAD85}"/>
              </a:ext>
            </a:extLst>
          </p:cNvPr>
          <p:cNvSpPr txBox="1"/>
          <p:nvPr/>
        </p:nvSpPr>
        <p:spPr>
          <a:xfrm>
            <a:off x="429215" y="887706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5DD2849-0F24-7B79-34A0-1ED4EC256DC1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109890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6652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0A5D196-94BC-4511-0404-D81CC6B7E970}"/>
              </a:ext>
            </a:extLst>
          </p:cNvPr>
          <p:cNvSpPr txBox="1"/>
          <p:nvPr/>
        </p:nvSpPr>
        <p:spPr>
          <a:xfrm>
            <a:off x="434333" y="2266729"/>
            <a:ext cx="52488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실적증명서신처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38C5703-47BA-C42E-134E-1E7471B15DCF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2477932"/>
          <a:ext cx="8994883" cy="2642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cstrnRgnNm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제한경쟁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원도급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경보설비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피난설비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소화용수설비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소화활동설비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57284C7-242C-13C2-BEA2-98E155EEF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45222683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(10/19)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E51CA8-B851-C014-4942-C9726A17F7F4}"/>
              </a:ext>
            </a:extLst>
          </p:cNvPr>
          <p:cNvSpPr txBox="1"/>
          <p:nvPr/>
        </p:nvSpPr>
        <p:spPr>
          <a:xfrm>
            <a:off x="463235" y="1066746"/>
            <a:ext cx="55998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2600223-C915-C0B9-3200-4B075AEEEDE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277949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95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401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858650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EFA38-0BCF-E62D-6D10-D106B5E68580}"/>
              </a:ext>
            </a:extLst>
          </p:cNvPr>
          <p:cNvSpPr txBox="1"/>
          <p:nvPr/>
        </p:nvSpPr>
        <p:spPr>
          <a:xfrm>
            <a:off x="463235" y="1096221"/>
            <a:ext cx="5659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복합공종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타 </a:t>
            </a:r>
            <a:r>
              <a:rPr lang="ko-KR" altLang="en-US" sz="900" b="1" dirty="0" err="1">
                <a:solidFill>
                  <a:prstClr val="black"/>
                </a:solidFill>
              </a:rPr>
              <a:t>공종</a:t>
            </a:r>
            <a:r>
              <a:rPr lang="ko-KR" altLang="en-US" sz="900" b="1" dirty="0">
                <a:solidFill>
                  <a:prstClr val="black"/>
                </a:solidFill>
              </a:rPr>
              <a:t>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76710F9-BC4E-11D5-4F7A-0334F689964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307424"/>
          <a:ext cx="8994883" cy="3102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cstrnNm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ctrcAmt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thsyrPxcndAmt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nestblAmt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431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3955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011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8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544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4248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319948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19742-9F88-3E88-B47F-E969969ECF8E}"/>
              </a:ext>
            </a:extLst>
          </p:cNvPr>
          <p:cNvSpPr txBox="1"/>
          <p:nvPr/>
        </p:nvSpPr>
        <p:spPr>
          <a:xfrm>
            <a:off x="460676" y="86783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864D96-C35C-12BD-4B29-F02071D1C24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21903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0394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bldrRegNo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795774B-3284-E9D2-5E06-FE879861AA8F}"/>
              </a:ext>
            </a:extLst>
          </p:cNvPr>
          <p:cNvSpPr txBox="1"/>
          <p:nvPr/>
        </p:nvSpPr>
        <p:spPr>
          <a:xfrm>
            <a:off x="460676" y="2509045"/>
            <a:ext cx="49426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 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D3F15B7-33B6-8A14-3D13-C1B9AB224A8B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20248"/>
          <a:ext cx="8994883" cy="2886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배전설비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산업시설물전기설비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구조물전기설비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도로전기설비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공항전기설비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항만전기설비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전기철도설비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철도신호설비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전기설비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orderIntstNm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일반경쟁입찰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제한경쟁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원도급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자가수요공사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667EA6EC-EB5B-ACE9-B68A-3273A9D77F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466270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20391-6BA9-2E91-175E-D773C7F45A52}"/>
              </a:ext>
            </a:extLst>
          </p:cNvPr>
          <p:cNvSpPr txBox="1"/>
          <p:nvPr/>
        </p:nvSpPr>
        <p:spPr>
          <a:xfrm>
            <a:off x="455558" y="818602"/>
            <a:ext cx="525360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4FAEE54-16E8-DF49-77FD-01C150F9FEF2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24033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6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54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33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prvyrCrfwAmt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etcCstrnKndPxcndAmt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7544D27-6A9E-E000-6A4F-43081CDE1086}"/>
              </a:ext>
            </a:extLst>
          </p:cNvPr>
          <p:cNvSpPr txBox="1"/>
          <p:nvPr/>
        </p:nvSpPr>
        <p:spPr>
          <a:xfrm>
            <a:off x="460676" y="3418276"/>
            <a:ext cx="427096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874F7C9-509D-86D7-E153-18CFB398129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629479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D3E10F7-735A-384B-D044-B5A65A490D4E}"/>
              </a:ext>
            </a:extLst>
          </p:cNvPr>
          <p:cNvSpPr txBox="1"/>
          <p:nvPr/>
        </p:nvSpPr>
        <p:spPr>
          <a:xfrm>
            <a:off x="460676" y="5566009"/>
            <a:ext cx="42357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시공규모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dm_prfmncPrdocAplyCnstSclInfo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7222A68-8CC6-55BD-98CE-A8DEF902A5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777212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798F4079-1F4A-3AA2-EDD7-670B7B3A4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6496613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A8BAA-FEBC-A2D7-CDF6-5161FCA41941}"/>
              </a:ext>
            </a:extLst>
          </p:cNvPr>
          <p:cNvSpPr txBox="1"/>
          <p:nvPr/>
        </p:nvSpPr>
        <p:spPr>
          <a:xfrm>
            <a:off x="460676" y="873352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(1/3)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053B0C-6356-2030-886E-67B59B2E902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4555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29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9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46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prvyrM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782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7097774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9FF465BE-D071-908C-E037-42D480D087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62718580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ABABC4-5791-1F7E-9C6D-7C88CC75CCDD}"/>
              </a:ext>
            </a:extLst>
          </p:cNvPr>
          <p:cNvGraphicFramePr>
            <a:graphicFrameLocks noGrp="1"/>
          </p:cNvGraphicFramePr>
          <p:nvPr/>
        </p:nvGraphicFramePr>
        <p:xfrm>
          <a:off x="508776" y="1135677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327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917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05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prvyrA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466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48850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58117" y="905416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(2/3)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B2DD5028-C8D4-B1A6-19BF-AF43B8A50A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762814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(16/19)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(3/3)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D9E8A80-A4F9-0812-AACD-8E66645E1EFF}"/>
              </a:ext>
            </a:extLst>
          </p:cNvPr>
          <p:cNvGraphicFramePr>
            <a:graphicFrameLocks noGrp="1"/>
          </p:cNvGraphicFramePr>
          <p:nvPr/>
        </p:nvGraphicFramePr>
        <p:xfrm>
          <a:off x="531758" y="1102368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66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811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28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1571C2C5-D197-A374-72B6-4AC77070BC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86490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41572-54CB-BB97-14B8-26728B8BF74E}"/>
              </a:ext>
            </a:extLst>
          </p:cNvPr>
          <p:cNvSpPr txBox="1"/>
          <p:nvPr/>
        </p:nvSpPr>
        <p:spPr>
          <a:xfrm>
            <a:off x="455558" y="826601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7CE651-A68C-38D8-F57D-83B2DEC3539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5010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79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23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5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47D1D4-18BA-6688-655A-E575CF4DC5BF}"/>
              </a:ext>
            </a:extLst>
          </p:cNvPr>
          <p:cNvSpPr txBox="1"/>
          <p:nvPr/>
        </p:nvSpPr>
        <p:spPr>
          <a:xfrm>
            <a:off x="460676" y="2107412"/>
            <a:ext cx="45114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DD57D6-6C16-028F-36D2-73484B85928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318615"/>
          <a:ext cx="8994883" cy="380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91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23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39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유지보수공사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telgmDtlCnstpNm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CODE.getCsrtDivsSub2()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143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709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849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79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4018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2262D1C-90AA-8AB5-963B-11B9874C6C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507454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A88E40-EC22-8EC3-7EA4-A41FCEA2C056}"/>
              </a:ext>
            </a:extLst>
          </p:cNvPr>
          <p:cNvSpPr txBox="1"/>
          <p:nvPr/>
        </p:nvSpPr>
        <p:spPr>
          <a:xfrm>
            <a:off x="458117" y="850431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E221A27-4A35-40D5-4B24-0A904AD4BEF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9907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9866966-F2EA-F6E9-3795-7D7FDCF17347}"/>
              </a:ext>
            </a:extLst>
          </p:cNvPr>
          <p:cNvSpPr txBox="1"/>
          <p:nvPr/>
        </p:nvSpPr>
        <p:spPr>
          <a:xfrm>
            <a:off x="463235" y="2277879"/>
            <a:ext cx="44392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1.33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986C65-5B27-992A-C159-8829D62C403A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89082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year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telgmDtlCnstpNm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CODE.getCsrtDivsSub2()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D6270751-BA05-4CEC-AF0D-C9D73F987E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340472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BC42-08DC-7529-EB0E-36C2B48020C9}"/>
              </a:ext>
            </a:extLst>
          </p:cNvPr>
          <p:cNvSpPr txBox="1"/>
          <p:nvPr/>
        </p:nvSpPr>
        <p:spPr>
          <a:xfrm>
            <a:off x="463235" y="906258"/>
            <a:ext cx="46140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추가사항 입력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dm_prfmncPrdocAplyAddMttrInfo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0B0D306-5BE2-05D0-9F7D-337578DB8F56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7461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prfmncDmndRt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5,2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spcfct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dlvgdsYmd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unitNm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18,3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lbsvcScp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27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scl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87848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428832D-480D-B977-43BD-05C938EE3B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03763543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AC4364-5513-3434-312C-776E5A3675B0}"/>
              </a:ext>
            </a:extLst>
          </p:cNvPr>
          <p:cNvSpPr txBox="1"/>
          <p:nvPr/>
        </p:nvSpPr>
        <p:spPr>
          <a:xfrm>
            <a:off x="455204" y="67304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C4DAA11-E016-20BA-01A0-52F16DF0C25D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14891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scwin.btn_strg_onclick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신청 내용을 임시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600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저장된 실적증명서 신청 내용을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430561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DC6307A0-C88E-FC16-3BC3-BE78E930B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666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0980225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온라인 제출 대상 협회 </a:t>
            </a:r>
            <a:r>
              <a:rPr lang="en-US" altLang="ko-KR" dirty="0"/>
              <a:t>(7) :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대한건설협회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건설산업정보원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대한전문건설협회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한국전기공사협회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한국정보통신공사협회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한국건설기술인협회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한국소방시설협회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제출 협회 명칭 표시 및 선택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제출이 되지 않은 상태에서는 레이블 </a:t>
            </a:r>
            <a:r>
              <a:rPr lang="ko-KR" altLang="en-US" dirty="0" err="1"/>
              <a:t>미표시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상태에 따라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비고 작성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기능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상태에 따라 제출하기 및 </a:t>
            </a:r>
            <a:r>
              <a:rPr lang="ko-KR" altLang="en-US" dirty="0" err="1"/>
              <a:t>제출취소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제출하기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송신완료</a:t>
            </a:r>
            <a:r>
              <a:rPr lang="ko-KR" altLang="en-US" dirty="0"/>
              <a:t> 건이 선택되는 경우 제출하기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/>
              <a:t>제출취소</a:t>
            </a:r>
            <a:r>
              <a:rPr lang="ko-KR" altLang="en-US" dirty="0"/>
              <a:t> 명칭 변경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제출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제출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제출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MUI-CM-04-P20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실적증명서 제출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241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237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85" name="그룹 84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3927245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대한건설협회</a:t>
            </a:r>
          </a:p>
        </p:txBody>
      </p:sp>
      <p:sp>
        <p:nvSpPr>
          <p:cNvPr id="93" name="모서리가 둥근 직사각형 92"/>
          <p:cNvSpPr/>
          <p:nvPr/>
        </p:nvSpPr>
        <p:spPr>
          <a:xfrm>
            <a:off x="2859859" y="3912224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chemeClr val="tx1"/>
                </a:solidFill>
              </a:rPr>
              <a:t>선택</a:t>
            </a:r>
          </a:p>
        </p:txBody>
      </p: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066791"/>
            <a:ext cx="76863" cy="292489"/>
            <a:chOff x="3750067" y="4683795"/>
            <a:chExt cx="76863" cy="292489"/>
          </a:xfrm>
        </p:grpSpPr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7" y="3557443"/>
            <a:ext cx="1701582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온라인 제출 가능 협회 목록</a:t>
            </a:r>
          </a:p>
        </p:txBody>
      </p:sp>
      <p:sp>
        <p:nvSpPr>
          <p:cNvPr id="144" name="모서리가 둥근 직사각형 143"/>
          <p:cNvSpPr/>
          <p:nvPr/>
        </p:nvSpPr>
        <p:spPr>
          <a:xfrm>
            <a:off x="1486956" y="3933524"/>
            <a:ext cx="397895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prstClr val="black"/>
                </a:solidFill>
                <a:latin typeface="맑은 고딕" panose="020B0503020000020004" pitchFamily="50" charset="-127"/>
                <a:cs typeface="Segoe UI" panose="020B0502040204020203" pitchFamily="34" charset="0"/>
              </a:rPr>
              <a:t>송신완료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168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810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436132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/>
              <a:t>건설산업정보원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457195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비고</a:t>
            </a: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2859859" y="4458703"/>
            <a:ext cx="398489" cy="162000"/>
          </a:xfrm>
          <a:prstGeom prst="roundRect">
            <a:avLst>
              <a:gd name="adj" fmla="val 2340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>
                <a:solidFill>
                  <a:schemeClr val="bg1"/>
                </a:solidFill>
              </a:rPr>
              <a:t>선택</a:t>
            </a:r>
            <a:endParaRPr lang="ko-KR" altLang="en-US" sz="600" b="1" dirty="0">
              <a:solidFill>
                <a:schemeClr val="bg1"/>
              </a:solidFill>
            </a:endParaRP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1059429" y="4532211"/>
            <a:ext cx="1713401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계약 금액이 다름</a:t>
            </a:r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1595086" y="4367606"/>
            <a:ext cx="397895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prstClr val="black"/>
                </a:solidFill>
                <a:latin typeface="맑은 고딕" panose="020B0503020000020004" pitchFamily="50" charset="-127"/>
                <a:cs typeface="Segoe UI" panose="020B0502040204020203" pitchFamily="34" charset="0"/>
              </a:rPr>
              <a:t>제출취소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8642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0" name="타원 1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6375709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0099C-AAC0-1739-90BF-B50AFF63E31D}"/>
              </a:ext>
            </a:extLst>
          </p:cNvPr>
          <p:cNvSpPr txBox="1"/>
          <p:nvPr/>
        </p:nvSpPr>
        <p:spPr>
          <a:xfrm>
            <a:off x="471620" y="841653"/>
            <a:ext cx="307192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17A8E60-B99E-BD89-0635-F60DBC72D054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105285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issuNo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prfmncRcptNo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52C738E-BB4C-9DAB-6ADA-0F90D10C4093}"/>
              </a:ext>
            </a:extLst>
          </p:cNvPr>
          <p:cNvSpPr txBox="1"/>
          <p:nvPr/>
        </p:nvSpPr>
        <p:spPr>
          <a:xfrm>
            <a:off x="458117" y="510129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8529455-CAFE-C9BD-2851-C328BCB75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789325"/>
              </p:ext>
            </p:extLst>
          </p:nvPr>
        </p:nvGraphicFramePr>
        <p:xfrm>
          <a:off x="458117" y="5332830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제출취소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scwin.btn_sbmsnRtrcn_onclick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협회로 제출된 실적증명서가 오류가 있어 연락을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받았을때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제출취소 버튼을 클릭하여 비고란에 제출취소 내용을 입력 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협회로 내용을 전송한다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0316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발급된 실적증명서 정보를 선택된 협회로 제출된다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멀티로 협회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845261"/>
                  </a:ext>
                </a:extLst>
              </a:tr>
            </a:tbl>
          </a:graphicData>
        </a:graphic>
      </p:graphicFrame>
      <p:sp>
        <p:nvSpPr>
          <p:cNvPr id="16" name="Text Box 73">
            <a:extLst>
              <a:ext uri="{FF2B5EF4-FFF2-40B4-BE49-F238E27FC236}">
                <a16:creationId xmlns:a16="http://schemas.microsoft.com/office/drawing/2014/main" id="{459A654C-072C-1858-8B43-DE73F578AD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518535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AE7EE7-C157-9ABD-C4DC-7CE0E7CF25A9}"/>
              </a:ext>
            </a:extLst>
          </p:cNvPr>
          <p:cNvSpPr txBox="1"/>
          <p:nvPr/>
        </p:nvSpPr>
        <p:spPr>
          <a:xfrm>
            <a:off x="471620" y="1847219"/>
            <a:ext cx="21902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9873AE5-958B-85FB-6950-78DEAD0BB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255155"/>
              </p:ext>
            </p:extLst>
          </p:nvPr>
        </p:nvGraphicFramePr>
        <p:xfrm>
          <a:off x="466502" y="2058422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dmndNo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ctrtPrgrsCd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643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644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5373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599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0644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65377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2293BB-42BE-0AEB-7C7A-13CE286EA995}"/>
              </a:ext>
            </a:extLst>
          </p:cNvPr>
          <p:cNvSpPr txBox="1"/>
          <p:nvPr/>
        </p:nvSpPr>
        <p:spPr>
          <a:xfrm>
            <a:off x="471620" y="3998185"/>
            <a:ext cx="25942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제출 협회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dl_sbmsnAsctnList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1289CC8-30BE-E6F5-0FCE-23C8F0334853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4209388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제출협회명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sbmsnSttsNm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제출협회명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sttsVl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제출상태 조회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전송중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73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제출상태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취소시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취소사유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송신완료시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529864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3F69CE71-B32E-E7B4-EBB3-D9E34F009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2862359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진행상태 </a:t>
            </a:r>
            <a:r>
              <a:rPr lang="en-US" altLang="ko-KR" dirty="0"/>
              <a:t>–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반려</a:t>
            </a:r>
            <a:r>
              <a:rPr lang="en-US" altLang="ko-KR" dirty="0"/>
              <a:t>, </a:t>
            </a:r>
            <a:r>
              <a:rPr lang="ko-KR" altLang="en-US" dirty="0"/>
              <a:t>승인 </a:t>
            </a:r>
            <a:r>
              <a:rPr lang="en-US" altLang="ko-KR" dirty="0"/>
              <a:t>3</a:t>
            </a:r>
            <a:r>
              <a:rPr lang="ko-KR" altLang="en-US" dirty="0"/>
              <a:t>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 신청한 내역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OZ </a:t>
            </a:r>
            <a:r>
              <a:rPr lang="ko-KR" altLang="en-US" dirty="0"/>
              <a:t>리포트 국외 조달원 확인서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서류   확인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반려 시 발급 사유 대신 반려 사유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 화면 없음</a:t>
            </a:r>
            <a:r>
              <a:rPr lang="en-US" altLang="ko-KR" dirty="0" smtClean="0"/>
              <a:t>. (</a:t>
            </a:r>
            <a:r>
              <a:rPr lang="ko-KR" altLang="en-US" dirty="0" smtClean="0"/>
              <a:t>리포트 연결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카드 클릭 시 발급된 등록증이 없는 경우 토스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승인된 후 확인 가능합니다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국외조달원등록증신청목록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 등록증 신청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국외 조달원 등록증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906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727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2343391"/>
            <a:ext cx="2473257" cy="1411269"/>
            <a:chOff x="781461" y="2610063"/>
            <a:chExt cx="2473257" cy="1411269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발급 </a:t>
              </a:r>
              <a:r>
                <a:rPr lang="ko-KR" altLang="en-US" sz="900" b="1" dirty="0" err="1"/>
                <a:t>대상업체명</a:t>
              </a:r>
              <a:endParaRPr lang="en-US" altLang="ko-KR" sz="900" b="1" dirty="0"/>
            </a:p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발급사유</a:t>
              </a:r>
              <a:r>
                <a:rPr lang="ko-KR" altLang="en-US" sz="700" dirty="0">
                  <a:solidFill>
                    <a:prstClr val="black"/>
                  </a:solidFill>
                </a:rPr>
                <a:t> 작성한 발급 사유가 표시됩니다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여러줄</a:t>
              </a:r>
              <a:r>
                <a:rPr lang="ko-KR" altLang="en-US" sz="700" dirty="0">
                  <a:solidFill>
                    <a:prstClr val="black"/>
                  </a:solidFill>
                </a:rPr>
                <a:t> 인 경우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en-US" altLang="ko-KR" sz="700" dirty="0">
                  <a:solidFill>
                    <a:prstClr val="black"/>
                  </a:solidFill>
                </a:rPr>
                <a:t>             2</a:t>
              </a:r>
              <a:r>
                <a:rPr lang="ko-KR" altLang="en-US" sz="700" dirty="0">
                  <a:solidFill>
                    <a:prstClr val="black"/>
                  </a:solidFill>
                </a:rPr>
                <a:t>줄까지 표시합니다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328835"/>
              <a:ext cx="307777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회사명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68988" y="3313446"/>
              <a:ext cx="565924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조달업체명</a:t>
              </a:r>
              <a:r>
                <a:rPr lang="ko-KR" altLang="en-US" sz="600" dirty="0">
                  <a:latin typeface="+mn-ea"/>
                </a:rPr>
                <a:t> 표시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신청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9299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81461" y="3947250"/>
            <a:ext cx="2473257" cy="1361867"/>
            <a:chOff x="781461" y="2610063"/>
            <a:chExt cx="2473257" cy="1361867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발급 </a:t>
              </a:r>
              <a:r>
                <a:rPr lang="ko-KR" altLang="en-US" sz="900" b="1" dirty="0" err="1"/>
                <a:t>대상업체명</a:t>
              </a:r>
              <a:endParaRPr lang="en-US" altLang="ko-KR" sz="900" b="1" dirty="0"/>
            </a:p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발급사유</a:t>
              </a:r>
              <a:r>
                <a:rPr lang="ko-KR" altLang="en-US" sz="700" dirty="0">
                  <a:solidFill>
                    <a:prstClr val="black"/>
                  </a:solidFill>
                </a:rPr>
                <a:t> 작성한 발급 사유가 표시됩니다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여러줄</a:t>
              </a:r>
              <a:r>
                <a:rPr lang="ko-KR" altLang="en-US" sz="700" dirty="0">
                  <a:solidFill>
                    <a:prstClr val="black"/>
                  </a:solidFill>
                </a:rPr>
                <a:t> 인 경우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en-US" altLang="ko-KR" sz="700" dirty="0">
                  <a:solidFill>
                    <a:prstClr val="black"/>
                  </a:solidFill>
                </a:rPr>
                <a:t>             2</a:t>
              </a:r>
              <a:r>
                <a:rPr lang="ko-KR" altLang="en-US" sz="700" dirty="0">
                  <a:solidFill>
                    <a:prstClr val="black"/>
                  </a:solidFill>
                </a:rPr>
                <a:t>줄까지 표시합니다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294822"/>
              <a:ext cx="307777" cy="6746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회사명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03265" y="3279433"/>
              <a:ext cx="565924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조달업체명</a:t>
              </a:r>
              <a:r>
                <a:rPr lang="ko-KR" altLang="en-US" sz="600" dirty="0">
                  <a:latin typeface="+mn-ea"/>
                </a:rPr>
                <a:t> 표시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승인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2534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9" name="그룹 98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745391"/>
            <a:ext cx="2446613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35642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4" name="그룹 163"/>
          <p:cNvGrpSpPr/>
          <p:nvPr/>
        </p:nvGrpSpPr>
        <p:grpSpPr>
          <a:xfrm>
            <a:off x="3903622" y="2883409"/>
            <a:ext cx="2516607" cy="467691"/>
            <a:chOff x="778515" y="4388257"/>
            <a:chExt cx="2516607" cy="467691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66" name="그룹 165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7" name="모서리가 둥근 직사각형 166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발급 대상 </a:t>
              </a:r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업체명을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91" name="모서리가 둥근 직사각형 90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서류 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OZ </a:t>
            </a:r>
            <a:r>
              <a:rPr lang="ko-KR" altLang="en-US" sz="700" dirty="0">
                <a:latin typeface="+mn-ea"/>
              </a:rPr>
              <a:t>리포트가 실행되며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로딩에 약간의 시간이 소요됩니다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서류  을 진행할까요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97" name="그룹 96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98" name="직선 연결선 97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직선 연결선 10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MUI-BD-01-P14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서류   확인</a:t>
            </a: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43744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4" name="그룹 103"/>
          <p:cNvGrpSpPr/>
          <p:nvPr/>
        </p:nvGrpSpPr>
        <p:grpSpPr>
          <a:xfrm>
            <a:off x="3903622" y="3693566"/>
            <a:ext cx="2516607" cy="467691"/>
            <a:chOff x="778515" y="4388257"/>
            <a:chExt cx="2516607" cy="467691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</a:t>
              </a:r>
            </a:p>
          </p:txBody>
        </p:sp>
        <p:grpSp>
          <p:nvGrpSpPr>
            <p:cNvPr id="113" name="그룹 112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17" name="직선 연결선 11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직선 연결선 11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5" name="모서리가 둥근 직사각형 114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6226184" y="4042123"/>
            <a:ext cx="94010" cy="47005"/>
            <a:chOff x="6812560" y="3297172"/>
            <a:chExt cx="94010" cy="47005"/>
          </a:xfrm>
        </p:grpSpPr>
        <p:cxnSp>
          <p:nvCxnSpPr>
            <p:cNvPr id="120" name="직선 연결선 1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직선 연결선 1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0804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39" name="그룹 13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40" name="직사각형 13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2026-07-20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41" name="직사각형 14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신청하기 버튼 제거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6509330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8523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목록 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60676" y="2195119"/>
            <a:ext cx="28603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41035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270ED7-325D-C87B-19AD-0E2237091A88}"/>
              </a:ext>
            </a:extLst>
          </p:cNvPr>
          <p:cNvSpPr txBox="1"/>
          <p:nvPr/>
        </p:nvSpPr>
        <p:spPr>
          <a:xfrm>
            <a:off x="460676" y="3846285"/>
            <a:ext cx="39487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정보 상세조회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77F5B16-AB1B-306D-1EFD-8E7DB4E2C6A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069247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aplcntJbgdNm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직위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aplcntEntlno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317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0159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 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 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4430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 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 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483796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FE7A915C-F6EF-335A-1F14-38483868E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3254323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339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02754" y="70070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4454732-E597-33F1-5B5D-6BAFE23E8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114135"/>
              </p:ext>
            </p:extLst>
          </p:nvPr>
        </p:nvGraphicFramePr>
        <p:xfrm>
          <a:off x="402754" y="927298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scwin.btn_ovsSosAplyListSrch_onclick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국외조달원 등록증 신청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카드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scwin.btn_otpt_onclick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승인된 국외조달원 등록증을 발급한다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UI-CM-03-R13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80016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AC142F5-C333-78A7-1BB1-C49C4FDD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0329" y="81038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47107048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신청인 정보는 자동완성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Dim</a:t>
            </a:r>
            <a:r>
              <a:rPr lang="ko-KR" altLang="en-US" dirty="0"/>
              <a:t>은 수정 불가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개인정보에서</a:t>
            </a:r>
            <a:r>
              <a:rPr lang="en-US" altLang="ko-KR" dirty="0"/>
              <a:t> </a:t>
            </a:r>
            <a:r>
              <a:rPr lang="ko-KR" altLang="en-US" dirty="0"/>
              <a:t>비어 있는 정보 </a:t>
            </a:r>
            <a:r>
              <a:rPr lang="en-US" altLang="ko-KR" dirty="0"/>
              <a:t>(</a:t>
            </a:r>
            <a:r>
              <a:rPr lang="ko-KR" altLang="en-US" dirty="0"/>
              <a:t>직위 등</a:t>
            </a:r>
            <a:r>
              <a:rPr lang="en-US" altLang="ko-KR" dirty="0"/>
              <a:t>)</a:t>
            </a:r>
            <a:r>
              <a:rPr lang="ko-KR" altLang="en-US" dirty="0"/>
              <a:t>는 비어 있는 상태로 자동 완성함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팝업 진입 시 포커스 이동 및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 선택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신청하기 클릭 시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팝업 닫기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신청 내역 발급 가능 상태로 신청 목록 </a:t>
            </a:r>
            <a:r>
              <a:rPr lang="ko-KR" altLang="en-US" dirty="0" err="1"/>
              <a:t>리프래시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팝업 </a:t>
            </a:r>
            <a:r>
              <a:rPr lang="ko-KR" altLang="en-US" dirty="0" smtClean="0"/>
              <a:t>닫기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신청하기 이후 신청목록으로 이동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MUI-CM-04-M21</a:t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메뉴 목록에서 바로 신청하는 케이스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국외조달원등록증신청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 등록증 신청서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6858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6" name="그룹 45"/>
          <p:cNvGrpSpPr/>
          <p:nvPr/>
        </p:nvGrpSpPr>
        <p:grpSpPr>
          <a:xfrm>
            <a:off x="903581" y="3009851"/>
            <a:ext cx="2255663" cy="306146"/>
            <a:chOff x="3982951" y="3679873"/>
            <a:chExt cx="2255663" cy="306146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조달테스트</a:t>
              </a:r>
              <a:r>
                <a:rPr lang="ko-KR" altLang="en-US" sz="700" dirty="0">
                  <a:latin typeface="+mn-ea"/>
                </a:rPr>
                <a:t> 업체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87091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회사명 </a:t>
            </a:r>
            <a:r>
              <a:rPr lang="en-US" altLang="ko-KR" sz="700" b="1" dirty="0">
                <a:latin typeface="+mn-ea"/>
              </a:rPr>
              <a:t>(Company Name)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903581" y="3592499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직위를 입력해주세요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45356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직위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급</a:t>
            </a:r>
            <a:r>
              <a:rPr lang="en-US" altLang="ko-KR" sz="700" b="1" dirty="0">
                <a:latin typeface="+mn-ea"/>
              </a:rPr>
              <a:t>) (Position)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453564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28596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성명 </a:t>
            </a:r>
            <a:r>
              <a:rPr lang="en-US" altLang="ko-KR" sz="700" b="1" dirty="0">
                <a:latin typeface="+mn-ea"/>
              </a:rPr>
              <a:t>(Name)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03581" y="2433098"/>
            <a:ext cx="2255663" cy="306146"/>
            <a:chOff x="3982951" y="3679873"/>
            <a:chExt cx="2255663" cy="306146"/>
          </a:xfrm>
        </p:grpSpPr>
        <p:sp>
          <p:nvSpPr>
            <p:cNvPr id="59" name="모서리가 둥근 직사각형 5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홍길동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7612452" y="5831196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29354" y="58819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신청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017012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신청인 </a:t>
            </a:r>
            <a:r>
              <a:rPr lang="en-US" altLang="ko-KR" sz="800" b="1" dirty="0">
                <a:latin typeface="+mn-ea"/>
              </a:rPr>
              <a:t>(Applicant)</a:t>
            </a:r>
            <a:endParaRPr lang="ko-KR" altLang="en-US" sz="800" b="1" dirty="0"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903581" y="4024090"/>
            <a:ext cx="2255661" cy="444066"/>
            <a:chOff x="903581" y="5758108"/>
            <a:chExt cx="2255661" cy="444066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7581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연락처</a:t>
              </a:r>
              <a:r>
                <a:rPr lang="en-US" altLang="ko-KR" sz="700" b="1" dirty="0">
                  <a:latin typeface="+mn-ea"/>
                </a:rPr>
                <a:t> (Phone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Number)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74155" y="5758108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70" name="그룹 69"/>
            <p:cNvGrpSpPr/>
            <p:nvPr/>
          </p:nvGrpSpPr>
          <p:grpSpPr>
            <a:xfrm>
              <a:off x="903582" y="5896028"/>
              <a:ext cx="2255660" cy="306146"/>
              <a:chOff x="903582" y="5841774"/>
              <a:chExt cx="2255660" cy="306146"/>
            </a:xfrm>
          </p:grpSpPr>
          <p:sp>
            <p:nvSpPr>
              <p:cNvPr id="74" name="모서리가 둥근 직사각형 73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010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76" name="모서리가 둥근 직사각형 75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1234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78" name="모서리가 둥근 직사각형 77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5678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71" name="그룹 70"/>
            <p:cNvGrpSpPr/>
            <p:nvPr/>
          </p:nvGrpSpPr>
          <p:grpSpPr>
            <a:xfrm>
              <a:off x="1274733" y="6025599"/>
              <a:ext cx="94010" cy="47005"/>
              <a:chOff x="6812560" y="3297172"/>
              <a:chExt cx="94010" cy="47005"/>
            </a:xfrm>
          </p:grpSpPr>
          <p:cxnSp>
            <p:nvCxnSpPr>
              <p:cNvPr id="72" name="직선 연결선 7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직선 연결선 7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293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모서리가 둥근 직사각형 89"/>
          <p:cNvSpPr/>
          <p:nvPr/>
        </p:nvSpPr>
        <p:spPr>
          <a:xfrm>
            <a:off x="4019461" y="2197190"/>
            <a:ext cx="2255663" cy="925926"/>
          </a:xfrm>
          <a:prstGeom prst="roundRect">
            <a:avLst>
              <a:gd name="adj" fmla="val 1016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936" y="2296402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사유를 입력해주세요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19461" y="2058255"/>
            <a:ext cx="17457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발급신청사유 </a:t>
            </a:r>
            <a:r>
              <a:rPr lang="en-US" altLang="ko-KR" sz="700" b="1" dirty="0">
                <a:latin typeface="+mn-ea"/>
              </a:rPr>
              <a:t>(Reason of Application)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 *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0035" y="205825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2" y="508816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업체명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(Company Name)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903582" y="5235295"/>
            <a:ext cx="2255663" cy="306146"/>
            <a:chOff x="3982951" y="3679873"/>
            <a:chExt cx="2255663" cy="306146"/>
          </a:xfrm>
        </p:grpSpPr>
        <p:sp>
          <p:nvSpPr>
            <p:cNvPr id="100" name="모서리가 둥근 직사각형 9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업체를 선택해주세요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819209"/>
            <a:ext cx="221915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조달원 등록증</a:t>
            </a:r>
            <a:r>
              <a:rPr lang="en-US" altLang="ko-KR" sz="800" b="1" dirty="0">
                <a:latin typeface="+mn-ea"/>
              </a:rPr>
              <a:t>(Certificate of Registration)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6" y="5088163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3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912494" y="5625023"/>
            <a:ext cx="2246750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업체 선택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9393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5214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5" y="55741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국외 조달원 </a:t>
            </a:r>
            <a:r>
              <a:rPr lang="ko-KR" altLang="en-US" sz="800" dirty="0" smtClean="0">
                <a:latin typeface="+mn-ea"/>
              </a:rPr>
              <a:t>등록증 신청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7" name="그룹 12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28" name="직선 연결선 12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직선 연결선 12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5" name="타원 134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TextBox 135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국외 조달원 </a:t>
            </a:r>
            <a:r>
              <a:rPr lang="ko-KR" altLang="en-US" sz="800" dirty="0" smtClean="0">
                <a:latin typeface="+mn-ea"/>
              </a:rPr>
              <a:t>등록증 신청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9" name="그룹 138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140" name="직선 연결선 13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직선 연결선 14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2" name="타원 141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6108450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5988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45" name="그룹 14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46" name="직사각형 14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2026-07-20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47" name="직사각형 14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팝업에서 페이지로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25790915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341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8117" y="862025"/>
            <a:ext cx="339893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신청인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095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aplcntJbgdNm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aplcntEntlno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270ED7-325D-C87B-19AD-0E2237091A88}"/>
              </a:ext>
            </a:extLst>
          </p:cNvPr>
          <p:cNvSpPr txBox="1"/>
          <p:nvPr/>
        </p:nvSpPr>
        <p:spPr>
          <a:xfrm>
            <a:off x="450440" y="2311319"/>
            <a:ext cx="40064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조달원 등록증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dm_ovsSosAplyDataInfo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77F5B16-AB1B-306D-1EFD-8E7DB4E2C6AE}"/>
              </a:ext>
            </a:extLst>
          </p:cNvPr>
          <p:cNvGraphicFramePr>
            <a:graphicFrameLocks noGrp="1"/>
          </p:cNvGraphicFramePr>
          <p:nvPr/>
        </p:nvGraphicFramePr>
        <p:xfrm>
          <a:off x="450440" y="2533837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)0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bzentyNm1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bzentyNm2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발급신청사유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F8FDE6B-2650-DAD2-A3E3-004EBEA14F32}"/>
              </a:ext>
            </a:extLst>
          </p:cNvPr>
          <p:cNvSpPr txBox="1"/>
          <p:nvPr/>
        </p:nvSpPr>
        <p:spPr>
          <a:xfrm>
            <a:off x="430605" y="359849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435ADA8-DFB4-32D0-15BF-F937ED4E0D6B}"/>
              </a:ext>
            </a:extLst>
          </p:cNvPr>
          <p:cNvGraphicFramePr>
            <a:graphicFrameLocks noGrp="1"/>
          </p:cNvGraphicFramePr>
          <p:nvPr/>
        </p:nvGraphicFramePr>
        <p:xfrm>
          <a:off x="425487" y="3825089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업체선택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scwin.btn_bzentySrch_onclick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조달업체선택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UI-CM-03-P12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등록증을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225939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D564D4C5-32F2-B2D3-17C5-8763B6DAB4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3062" y="367663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48052CAA-8680-E27F-8DFC-51FCF8EC91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01220778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MUI-CM-04-P23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조달업체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조달업체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업체코드를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업체코드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81984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984311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99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4850652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635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1775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4984311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099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6" y="4993501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모서리가 둥근 직사각형 96"/>
          <p:cNvSpPr/>
          <p:nvPr/>
        </p:nvSpPr>
        <p:spPr>
          <a:xfrm>
            <a:off x="1443878" y="3885710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업체명을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5402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99" name="타원 98"/>
          <p:cNvSpPr/>
          <p:nvPr/>
        </p:nvSpPr>
        <p:spPr>
          <a:xfrm>
            <a:off x="3112794" y="392399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/>
          <p:cNvGrpSpPr/>
          <p:nvPr/>
        </p:nvGrpSpPr>
        <p:grpSpPr>
          <a:xfrm>
            <a:off x="3156699" y="3967900"/>
            <a:ext cx="58075" cy="58074"/>
            <a:chOff x="6812560" y="3297172"/>
            <a:chExt cx="94010" cy="94010"/>
          </a:xfrm>
        </p:grpSpPr>
        <p:cxnSp>
          <p:nvCxnSpPr>
            <p:cNvPr id="103" name="직선 연결선 10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직선 연결선 10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128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56767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4656767"/>
            <a:ext cx="141846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업체정보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4656767"/>
            <a:ext cx="43013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>
                <a:latin typeface="+mn-ea"/>
              </a:rPr>
              <a:t>업체코드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5421848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98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5288189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김길순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0106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5421848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098</a:t>
            </a:r>
          </a:p>
        </p:txBody>
      </p:sp>
      <p:grpSp>
        <p:nvGrpSpPr>
          <p:cNvPr id="119" name="그룹 118"/>
          <p:cNvGrpSpPr/>
          <p:nvPr/>
        </p:nvGrpSpPr>
        <p:grpSpPr>
          <a:xfrm rot="16200000">
            <a:off x="6266706" y="5431038"/>
            <a:ext cx="94010" cy="47005"/>
            <a:chOff x="6812560" y="3297172"/>
            <a:chExt cx="94010" cy="47005"/>
          </a:xfrm>
        </p:grpSpPr>
        <p:cxnSp>
          <p:nvCxnSpPr>
            <p:cNvPr id="120" name="직선 연결선 1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직선 연결선 12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5865528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97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5731869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박길동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447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5865528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097</a:t>
            </a:r>
          </a:p>
        </p:txBody>
      </p:sp>
      <p:grpSp>
        <p:nvGrpSpPr>
          <p:cNvPr id="126" name="그룹 125"/>
          <p:cNvGrpSpPr/>
          <p:nvPr/>
        </p:nvGrpSpPr>
        <p:grpSpPr>
          <a:xfrm rot="16200000">
            <a:off x="6266706" y="5874718"/>
            <a:ext cx="94010" cy="47005"/>
            <a:chOff x="6812560" y="3297172"/>
            <a:chExt cx="94010" cy="47005"/>
          </a:xfrm>
        </p:grpSpPr>
        <p:cxnSp>
          <p:nvCxnSpPr>
            <p:cNvPr id="127" name="직선 연결선 1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직선 연결선 1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1566423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343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조달업체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64054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1384" y="1800668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62092" y="2006715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851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대표전화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대표전화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52977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58117" y="323257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021410"/>
              </p:ext>
            </p:extLst>
          </p:nvPr>
        </p:nvGraphicFramePr>
        <p:xfrm>
          <a:off x="461384" y="3445343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scwin.btn_bzentySrch_onclick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조달업체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조달업체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UI-CM-03-M11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52EBE13D-F697-3B6D-4DB3-0C32B29DA7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8959" y="332842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395E996E-DD98-7B49-87F6-8505D83D7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5385429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법령 구분 탭으로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싱글 </a:t>
            </a:r>
            <a:r>
              <a:rPr lang="ko-KR" altLang="en-US" dirty="0" err="1"/>
              <a:t>셀렉트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법령 구분에 맞춰 하단 목록 재구성</a:t>
            </a:r>
            <a:r>
              <a:rPr lang="en-US" altLang="ko-KR" dirty="0"/>
              <a:t>(</a:t>
            </a:r>
            <a:r>
              <a:rPr lang="ko-KR" altLang="en-US" dirty="0" err="1"/>
              <a:t>법령구분에</a:t>
            </a:r>
            <a:r>
              <a:rPr lang="ko-KR" altLang="en-US" dirty="0"/>
              <a:t> 맞는 항목만 표시</a:t>
            </a:r>
            <a:r>
              <a:rPr lang="en-US" altLang="ko-KR" dirty="0"/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관심법령</a:t>
            </a:r>
            <a:r>
              <a:rPr lang="ko-KR" altLang="en-US" dirty="0"/>
              <a:t>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외부 브라우저로 법령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법령 </a:t>
            </a:r>
            <a:r>
              <a:rPr lang="ko-KR" altLang="en-US" dirty="0" err="1"/>
              <a:t>즐겨찾기</a:t>
            </a:r>
            <a:r>
              <a:rPr lang="ko-KR" altLang="en-US" dirty="0"/>
              <a:t> 및 해제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stared </a:t>
            </a:r>
            <a:r>
              <a:rPr lang="ko-KR" altLang="en-US" dirty="0"/>
              <a:t>는 </a:t>
            </a:r>
            <a:r>
              <a:rPr lang="ko-KR" altLang="en-US" dirty="0" err="1"/>
              <a:t>토글</a:t>
            </a:r>
            <a:r>
              <a:rPr lang="ko-KR" altLang="en-US" dirty="0"/>
              <a:t> 방식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설정에 별다른 메시지 없이 </a:t>
            </a:r>
            <a:r>
              <a:rPr lang="en-US" altLang="ko-KR" dirty="0"/>
              <a:t>stared </a:t>
            </a:r>
            <a:r>
              <a:rPr lang="ko-KR" altLang="en-US" dirty="0"/>
              <a:t>표시 변경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법령정보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법령정보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고객센터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법령정보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법령정보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5256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4507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45075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946898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89330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법령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주요 법령 모음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법령 모음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54205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6811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포인트가 5개인 별 79"/>
          <p:cNvSpPr/>
          <p:nvPr/>
        </p:nvSpPr>
        <p:spPr>
          <a:xfrm>
            <a:off x="3058823" y="3332745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799568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훈령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방위사업법</a:t>
            </a:r>
            <a:r>
              <a:rPr lang="en-US" altLang="ko-KR" sz="700" dirty="0">
                <a:solidFill>
                  <a:prstClr val="black"/>
                </a:solidFill>
              </a:rPr>
              <a:t>/</a:t>
            </a:r>
            <a:r>
              <a:rPr lang="ko-KR" altLang="en-US" sz="700" dirty="0" err="1">
                <a:solidFill>
                  <a:prstClr val="black"/>
                </a:solidFill>
              </a:rPr>
              <a:t>국계법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17834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포인트가 5개인 별 99"/>
          <p:cNvSpPr/>
          <p:nvPr/>
        </p:nvSpPr>
        <p:spPr>
          <a:xfrm>
            <a:off x="3058823" y="3842983"/>
            <a:ext cx="159391" cy="159391"/>
          </a:xfrm>
          <a:prstGeom prst="star5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309806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예규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 err="1">
                <a:solidFill>
                  <a:prstClr val="black"/>
                </a:solidFill>
              </a:rPr>
              <a:t>방위사업청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중앙조달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군수품조달</a:t>
            </a:r>
            <a:r>
              <a:rPr lang="ko-KR" altLang="en-US" sz="900" b="1" dirty="0">
                <a:solidFill>
                  <a:prstClr val="black"/>
                </a:solidFill>
              </a:rPr>
              <a:t> 관리규정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8858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포인트가 5개인 별 111"/>
          <p:cNvSpPr/>
          <p:nvPr/>
        </p:nvSpPr>
        <p:spPr>
          <a:xfrm>
            <a:off x="3058823" y="4353221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814278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지침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국방부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부대조달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군시설공사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입찰참가자격사전심사</a:t>
            </a:r>
            <a:endParaRPr lang="en-US" altLang="ko-KR" sz="900" b="1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세부운영</a:t>
            </a:r>
            <a:r>
              <a:rPr lang="ko-KR" altLang="en-US" sz="900" b="1" dirty="0">
                <a:solidFill>
                  <a:prstClr val="black"/>
                </a:solidFill>
              </a:rPr>
              <a:t> 기준에 관한 훈령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2548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포인트가 5개인 별 118"/>
          <p:cNvSpPr/>
          <p:nvPr/>
        </p:nvSpPr>
        <p:spPr>
          <a:xfrm>
            <a:off x="3058823" y="4926943"/>
            <a:ext cx="159391" cy="159391"/>
          </a:xfrm>
          <a:prstGeom prst="star5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9568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350885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861123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371361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945083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1353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9731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1" name="그룹 50"/>
          <p:cNvGrpSpPr/>
          <p:nvPr/>
        </p:nvGrpSpPr>
        <p:grpSpPr>
          <a:xfrm>
            <a:off x="767702" y="1934600"/>
            <a:ext cx="2527420" cy="473693"/>
            <a:chOff x="786326" y="2274581"/>
            <a:chExt cx="2527420" cy="473693"/>
          </a:xfrm>
        </p:grpSpPr>
        <p:sp>
          <p:nvSpPr>
            <p:cNvPr id="52" name="모서리가 둥근 직사각형 51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법령명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7" name="타원 56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58" name="타원 57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665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2580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전체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2580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법령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대통령령</a:t>
            </a:r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7" name="그룹 86"/>
          <p:cNvGrpSpPr/>
          <p:nvPr/>
        </p:nvGrpSpPr>
        <p:grpSpPr>
          <a:xfrm>
            <a:off x="2924086" y="25419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5" name="직선 연결선 9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직선 연결선 9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0" name="타원 89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2" name="그룹 91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3" name="직선 연결선 9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직선 연결선 9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31827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부령</a:t>
            </a:r>
            <a:endParaRPr lang="ko-KR" altLang="en-US" sz="700" dirty="0">
              <a:latin typeface="+mn-ea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97407357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345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법령정보조회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39638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885461"/>
            <a:ext cx="24339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법령정보조회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sttType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대통령령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부령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행정규칙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훈령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고시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임의법령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553618"/>
              </p:ext>
            </p:extLst>
          </p:nvPr>
        </p:nvGraphicFramePr>
        <p:xfrm>
          <a:off x="453000" y="4156535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법령정보목록조회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scwin.grd_sttUrl_oncellclick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법령의 링크화면으로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즐겨찾기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scwin.grd_sttItrst_oncellclick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즐겨찾기 및 즐겨찾기 해제를 진행한다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법령정보즐겨찾기등록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9770014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092852"/>
          <a:ext cx="8994883" cy="181958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법령정보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sttType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</a:rPr>
                        <a:t>법령구분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대통령령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부령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행정규칙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훈령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고시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임의법령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법령약어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sttAbbrNm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 err="1">
                          <a:latin typeface="+mn-ea"/>
                        </a:rPr>
                        <a:t>법령약어</a:t>
                      </a:r>
                      <a:r>
                        <a:rPr lang="ko-KR" altLang="en-US" sz="800" dirty="0">
                          <a:latin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 err="1">
                          <a:latin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sttEnfcYmd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sttUrl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즐겨찾기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sttItrst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즐겨찾기유무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955ED537-3CA0-2A94-77BF-1AD1B2F734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02870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1893F1C-1BC1-9154-4086-3AB9A54D9213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5FDBB44-DC81-7EBC-28F5-AEF594630BC7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8D1325CC-9FA9-0D81-6E38-0B5C4CDC71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8705279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4. </a:t>
            </a:r>
            <a:r>
              <a:rPr lang="ko-KR" altLang="en-US" dirty="0"/>
              <a:t>인증센터 메뉴</a:t>
            </a:r>
            <a:endParaRPr lang="en-US" altLang="ko-KR" dirty="0"/>
          </a:p>
          <a:p>
            <a:r>
              <a:rPr lang="en-US" altLang="ko-KR" dirty="0"/>
              <a:t>4.1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290680"/>
              </p:ext>
            </p:extLst>
          </p:nvPr>
        </p:nvGraphicFramePr>
        <p:xfrm>
          <a:off x="635474" y="1413419"/>
          <a:ext cx="8701200" cy="25286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인증센터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인증서관리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보유하고 있는 인증서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UC-ZZ-10-04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인증서삭제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관리 화면에서 인증서 선택 삭제 팝업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인증서가져오기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PC →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모바일 인증서 복사 기능 및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CrtfReceivePage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인증서내보내기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모바일  →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PC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복사 기능 및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7252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인증서비밀번호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CrtfPswd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비밀번호 확인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CrtfPswd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151526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인증성공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실패메시지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CrtfInfoMsg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성공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실패 메시지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스마트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PKI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메시지  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CrtfInfo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5233387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347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인증센터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36362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관리</a:t>
            </a: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인증서 가져오기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(PC </a:t>
            </a:r>
            <a:r>
              <a:rPr lang="en-US" altLang="ko-KR" sz="700" dirty="0">
                <a:solidFill>
                  <a:schemeClr val="tx1"/>
                </a:solidFill>
                <a:sym typeface="Wingdings" panose="05000000000000000000" pitchFamily="2" charset="2"/>
              </a:rPr>
              <a:t> Mobile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비밀번호 확인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2451750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내보내기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(Mobile </a:t>
            </a:r>
            <a:r>
              <a:rPr lang="en-US" altLang="ko-KR" sz="700" dirty="0">
                <a:solidFill>
                  <a:schemeClr val="tx1"/>
                </a:solidFill>
                <a:sym typeface="Wingdings" panose="05000000000000000000" pitchFamily="2" charset="2"/>
              </a:rPr>
              <a:t> PC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255800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2361749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4" idx="1"/>
          </p:cNvCxnSpPr>
          <p:nvPr/>
        </p:nvCxnSpPr>
        <p:spPr>
          <a:xfrm>
            <a:off x="3266608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91" idx="1"/>
          </p:cNvCxnSpPr>
          <p:nvPr/>
        </p:nvCxnSpPr>
        <p:spPr>
          <a:xfrm>
            <a:off x="3266608" y="1772964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삭제</a:t>
            </a: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71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1" idx="3"/>
            <a:endCxn id="34" idx="1"/>
          </p:cNvCxnSpPr>
          <p:nvPr/>
        </p:nvCxnSpPr>
        <p:spPr>
          <a:xfrm flipV="1">
            <a:off x="5097742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90" idx="1"/>
          </p:cNvCxnSpPr>
          <p:nvPr/>
        </p:nvCxnSpPr>
        <p:spPr>
          <a:xfrm>
            <a:off x="6928876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 성공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실패 메시지</a:t>
            </a:r>
          </a:p>
        </p:txBody>
      </p:sp>
      <p:cxnSp>
        <p:nvCxnSpPr>
          <p:cNvPr id="9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1" idx="3"/>
            <a:endCxn id="90" idx="1"/>
          </p:cNvCxnSpPr>
          <p:nvPr/>
        </p:nvCxnSpPr>
        <p:spPr>
          <a:xfrm>
            <a:off x="6928876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0" idx="3"/>
            <a:endCxn id="104" idx="2"/>
          </p:cNvCxnSpPr>
          <p:nvPr/>
        </p:nvCxnSpPr>
        <p:spPr>
          <a:xfrm flipV="1">
            <a:off x="8760010" y="2451749"/>
            <a:ext cx="489317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128876" y="2307750"/>
            <a:ext cx="54983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가져온 이후</a:t>
            </a:r>
          </a:p>
        </p:txBody>
      </p:sp>
      <p:grpSp>
        <p:nvGrpSpPr>
          <p:cNvPr id="31" name="그룹 30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32" name="그룹 31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4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128876" y="3158376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내보내기 이전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98478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348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인증센터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CertMngPage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인증서관리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 smtClean="0">
                <a:solidFill>
                  <a:schemeClr val="tx1"/>
                </a:solidFill>
                <a:latin typeface="+mn-ea"/>
              </a:rPr>
              <a:t>인증서삭제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Calibri" panose="020F0502020204030204" pitchFamily="34" charset="0"/>
              </a:rPr>
              <a:t>CrtfDelPage</a:t>
            </a:r>
            <a:r>
              <a:rPr lang="en-US" altLang="ko-KR" sz="700" dirty="0" err="1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외부솔루션</a:t>
            </a:r>
            <a:r>
              <a:rPr lang="ko-KR" altLang="en-US" sz="900" dirty="0"/>
              <a:t> </a:t>
            </a:r>
            <a:r>
              <a:rPr lang="en-US" altLang="ko-KR" sz="900" dirty="0" smtClean="0"/>
              <a:t>Controller&gt;&gt;</a:t>
            </a:r>
            <a:endParaRPr lang="en-US" altLang="ko-KR" sz="9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인증서가져오기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CrtfReceivePage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인증서내보내기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CrtfSendPage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인증서비밀번호확인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CrtfPswd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인증성공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,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실패안내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CrtfInfoMsg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8399349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인증센터는</a:t>
            </a:r>
            <a:r>
              <a:rPr lang="en-US" altLang="ko-KR" dirty="0"/>
              <a:t> </a:t>
            </a:r>
            <a:r>
              <a:rPr lang="ko-KR" altLang="en-US" dirty="0" smtClean="0"/>
              <a:t>한국정보인증 스마트 </a:t>
            </a:r>
            <a:r>
              <a:rPr lang="en-US" altLang="ko-KR" dirty="0" smtClean="0"/>
              <a:t>PKI</a:t>
            </a:r>
            <a:r>
              <a:rPr lang="ko-KR" altLang="en-US" dirty="0"/>
              <a:t> 솔루션을 사용함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err="1"/>
              <a:t>SmartPKI</a:t>
            </a:r>
            <a:r>
              <a:rPr lang="en-US" altLang="ko-KR" dirty="0"/>
              <a:t> </a:t>
            </a:r>
            <a:r>
              <a:rPr lang="en-US" altLang="ko-KR" dirty="0" smtClean="0"/>
              <a:t>v2.2.5_AOS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개발자 </a:t>
            </a:r>
            <a:r>
              <a:rPr lang="en-US" altLang="ko-KR" dirty="0" smtClean="0"/>
              <a:t>SDK </a:t>
            </a:r>
            <a:r>
              <a:rPr lang="en-US" altLang="ko-KR" u="sng" dirty="0" smtClean="0">
                <a:hlinkClick r:id="rId2"/>
              </a:rPr>
              <a:t>http</a:t>
            </a:r>
            <a:r>
              <a:rPr lang="en-US" altLang="ko-KR" u="sng" dirty="0">
                <a:hlinkClick r:id="rId2"/>
              </a:rPr>
              <a:t>://developer.android.com/sdk/index.html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SmartPKI_v2.3.2_iOS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매뉴얼 확인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인증서 관리 </a:t>
            </a:r>
            <a:r>
              <a:rPr lang="en-US" altLang="ko-KR" dirty="0"/>
              <a:t>MUI-CM-04-M14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인증서 가져오기 </a:t>
            </a:r>
            <a:r>
              <a:rPr lang="en-US" altLang="ko-KR" dirty="0" smtClean="0"/>
              <a:t>MUI-CM-04-M16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인증서내보내기 </a:t>
            </a:r>
            <a:r>
              <a:rPr lang="en-US" altLang="ko-KR" dirty="0"/>
              <a:t>MUI-CM-04-M17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모바일의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등록 사용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MUI-CM-03-M14 </a:t>
            </a:r>
            <a:r>
              <a:rPr lang="ko-KR" altLang="en-US" dirty="0" err="1"/>
              <a:t>생체인증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인증센터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인증센터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MUI-CM-04-M13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인증센터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" name="그룹 6"/>
          <p:cNvGrpSpPr/>
          <p:nvPr/>
        </p:nvGrpSpPr>
        <p:grpSpPr>
          <a:xfrm>
            <a:off x="903581" y="2145413"/>
            <a:ext cx="2255663" cy="306146"/>
            <a:chOff x="903581" y="2074658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관리</a:t>
              </a: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903581" y="2593969"/>
            <a:ext cx="2255663" cy="306146"/>
            <a:chOff x="903581" y="2461599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903581" y="2461599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560811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553117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가져오기</a:t>
              </a: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903581" y="3042525"/>
            <a:ext cx="2255663" cy="306146"/>
            <a:chOff x="903581" y="2845891"/>
            <a:chExt cx="2255663" cy="306146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903581" y="2845891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945103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937409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내보내기</a:t>
              </a:r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903581" y="3491082"/>
            <a:ext cx="2255663" cy="306146"/>
            <a:chOff x="903581" y="3230183"/>
            <a:chExt cx="2255663" cy="306146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903581" y="323018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3329395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3321701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err="1">
                  <a:latin typeface="+mn-ea"/>
                </a:rPr>
                <a:t>생체인증</a:t>
              </a:r>
              <a:r>
                <a:rPr lang="ko-KR" altLang="en-US" sz="800" b="1" dirty="0">
                  <a:latin typeface="+mn-ea"/>
                </a:rPr>
                <a:t> </a:t>
              </a:r>
              <a:r>
                <a:rPr lang="en-US" altLang="ko-KR" sz="800" b="1" dirty="0">
                  <a:latin typeface="+mn-ea"/>
                </a:rPr>
                <a:t>(</a:t>
              </a:r>
              <a:r>
                <a:rPr lang="ko-KR" altLang="en-US" sz="800" b="1" dirty="0">
                  <a:latin typeface="+mn-ea"/>
                </a:rPr>
                <a:t>얼굴</a:t>
              </a:r>
              <a:r>
                <a:rPr lang="en-US" altLang="ko-KR" sz="800" b="1" dirty="0">
                  <a:latin typeface="+mn-ea"/>
                </a:rPr>
                <a:t>, </a:t>
              </a:r>
              <a:r>
                <a:rPr lang="ko-KR" altLang="en-US" sz="800" b="1" dirty="0">
                  <a:latin typeface="+mn-ea"/>
                </a:rPr>
                <a:t>지문</a:t>
              </a:r>
              <a:r>
                <a:rPr lang="en-US" altLang="ko-KR" sz="800" b="1" dirty="0">
                  <a:latin typeface="+mn-ea"/>
                </a:rPr>
                <a:t>)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580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35" name="그룹 3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36" name="직사각형 3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솔루션 정보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디렉션</a:t>
              </a:r>
              <a:r>
                <a:rPr lang="ko-KR" altLang="en-US" sz="700" dirty="0" smtClean="0"/>
                <a:t>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5200231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보유하고 있는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MUI-CM-04-M14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인증서 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00472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10394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24394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36892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36" name="모서리가 둥근 직사각형 35"/>
          <p:cNvSpPr/>
          <p:nvPr/>
        </p:nvSpPr>
        <p:spPr>
          <a:xfrm>
            <a:off x="2681859" y="2224346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37" name="모서리가 둥근 직사각형 36"/>
          <p:cNvSpPr/>
          <p:nvPr/>
        </p:nvSpPr>
        <p:spPr>
          <a:xfrm>
            <a:off x="903581" y="272031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81952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95952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08450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1" name="모서리가 둥근 직사각형 40"/>
          <p:cNvSpPr/>
          <p:nvPr/>
        </p:nvSpPr>
        <p:spPr>
          <a:xfrm>
            <a:off x="2681859" y="2939927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42" name="모서리가 둥근 직사각형 41"/>
          <p:cNvSpPr/>
          <p:nvPr/>
        </p:nvSpPr>
        <p:spPr>
          <a:xfrm>
            <a:off x="903581" y="3435891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535104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675103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80008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6" name="모서리가 둥근 직사각형 45"/>
          <p:cNvSpPr/>
          <p:nvPr/>
        </p:nvSpPr>
        <p:spPr>
          <a:xfrm>
            <a:off x="2681859" y="3655508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15156713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가상 </a:t>
            </a:r>
            <a:r>
              <a:rPr lang="ko-KR" altLang="en-US" dirty="0" err="1"/>
              <a:t>키패드는</a:t>
            </a:r>
            <a:r>
              <a:rPr lang="ko-KR" altLang="en-US" dirty="0"/>
              <a:t> 보안 </a:t>
            </a:r>
            <a:r>
              <a:rPr lang="ko-KR" altLang="en-US" dirty="0" err="1"/>
              <a:t>키패드</a:t>
            </a:r>
            <a:r>
              <a:rPr lang="ko-KR" altLang="en-US" dirty="0"/>
              <a:t> 활용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삭제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인증서 관리 화면에서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메시지는 솔루션 메시지 활용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삭제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삭제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삭제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MUI-CM-04-P15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인증서 삭제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5" name="그룹 4"/>
          <p:cNvGrpSpPr/>
          <p:nvPr/>
        </p:nvGrpSpPr>
        <p:grpSpPr>
          <a:xfrm>
            <a:off x="883295" y="5756042"/>
            <a:ext cx="2305144" cy="317083"/>
            <a:chOff x="861671" y="5756042"/>
            <a:chExt cx="2305144" cy="317083"/>
          </a:xfrm>
        </p:grpSpPr>
        <p:sp>
          <p:nvSpPr>
            <p:cNvPr id="47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86815" y="5756042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삭제하기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4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61671" y="5756042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632975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선택하신 인증서는 스마트폰에서 삭제되는 것이며</a:t>
            </a:r>
            <a:r>
              <a:rPr lang="en-US" altLang="ko-KR" sz="700" dirty="0">
                <a:latin typeface="+mn-ea"/>
              </a:rPr>
              <a:t>,</a:t>
            </a:r>
            <a:r>
              <a:rPr lang="ko-KR" altLang="en-US" sz="700" dirty="0">
                <a:latin typeface="+mn-ea"/>
              </a:rPr>
              <a:t> 다른 디바이스에 저장된 인증서는 사용할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선택한 인증서를 삭제하시겠습니까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903581" y="441154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51075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6507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77573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22666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모서리가 둥근 직사각형 81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인증서를 삭제하였습니다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903581" y="5371351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8647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 암호 입력이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775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4934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인증서 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384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2" name="그룹 91"/>
          <p:cNvGrpSpPr/>
          <p:nvPr/>
        </p:nvGrpSpPr>
        <p:grpSpPr>
          <a:xfrm rot="5400000">
            <a:off x="3868283" y="1640499"/>
            <a:ext cx="94010" cy="47005"/>
            <a:chOff x="6812560" y="3297172"/>
            <a:chExt cx="94010" cy="47005"/>
          </a:xfrm>
        </p:grpSpPr>
        <p:cxnSp>
          <p:nvCxnSpPr>
            <p:cNvPr id="93" name="직선 연결선 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직선 연결선 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타원 94"/>
          <p:cNvSpPr/>
          <p:nvPr/>
        </p:nvSpPr>
        <p:spPr>
          <a:xfrm>
            <a:off x="615780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4048656" y="201078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10999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24999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3749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5826934" y="2230400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4048656" y="2726364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8255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965576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30905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5826934" y="2945981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8455" y="53659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30504819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- 12</a:t>
            </a:r>
            <a:r>
              <a:rPr lang="ko-KR" altLang="en-US" dirty="0" smtClean="0"/>
              <a:t>자리 번호 입력 시 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버튼영역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실패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성공 시 인증서 비밀번호 입력 화면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PC → </a:t>
            </a:r>
            <a:r>
              <a:rPr lang="ko-KR" altLang="en-US" dirty="0"/>
              <a:t>모바일 인증서 복사 기능 및 화면 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MUI-CM-04-M16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6890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화면의 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 화면에 표시되는 인증번호 </a:t>
            </a:r>
            <a:r>
              <a:rPr lang="en-US" altLang="ko-KR" sz="700" dirty="0">
                <a:latin typeface="+mn-ea"/>
              </a:rPr>
              <a:t>12</a:t>
            </a:r>
            <a:r>
              <a:rPr lang="ko-KR" altLang="en-US" sz="700" dirty="0">
                <a:latin typeface="+mn-ea"/>
              </a:rPr>
              <a:t>자리를 입력하여 인증서 가져오기를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PC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으로 인증서를 가져옵니다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53" name="모서리가 둥근 직사각형 52"/>
          <p:cNvSpPr/>
          <p:nvPr/>
        </p:nvSpPr>
        <p:spPr>
          <a:xfrm>
            <a:off x="903581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1674396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2445210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204289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인증번호 입력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1298" y="3940522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1" name="그룹 60"/>
          <p:cNvGrpSpPr/>
          <p:nvPr/>
        </p:nvGrpSpPr>
        <p:grpSpPr>
          <a:xfrm>
            <a:off x="825521" y="4059066"/>
            <a:ext cx="2370716" cy="306146"/>
            <a:chOff x="3982951" y="3679873"/>
            <a:chExt cx="2255663" cy="306146"/>
          </a:xfrm>
        </p:grpSpPr>
        <p:sp>
          <p:nvSpPr>
            <p:cNvPr id="62" name="모서리가 둥근 직사각형 6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인증서 가져오기</a:t>
              </a:r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722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8544393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선택 시 인증서 비밀번호 확인 이후 우측 화면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선택된 인증서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인증번호 </a:t>
            </a:r>
            <a:r>
              <a:rPr lang="en-US" altLang="ko-KR" dirty="0"/>
              <a:t>(</a:t>
            </a:r>
            <a:r>
              <a:rPr lang="ko-KR" altLang="en-US" dirty="0" err="1"/>
              <a:t>복사용</a:t>
            </a:r>
            <a:r>
              <a:rPr lang="en-US" altLang="ko-KR" dirty="0"/>
              <a:t>)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버튼 클릭 시 인증번호 복사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띄어쓰기 없는 </a:t>
            </a:r>
            <a:r>
              <a:rPr lang="en-US" altLang="ko-KR" dirty="0" smtClean="0"/>
              <a:t>12</a:t>
            </a:r>
            <a:r>
              <a:rPr lang="ko-KR" altLang="en-US" dirty="0" smtClean="0"/>
              <a:t>자리 번호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토스트 메시지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인증번호를 복사했습니다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인증서내보내기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모바일 </a:t>
            </a:r>
            <a:r>
              <a:rPr lang="en-US" altLang="ko-KR" dirty="0"/>
              <a:t>→ PC </a:t>
            </a:r>
            <a:r>
              <a:rPr lang="ko-KR" altLang="en-US" dirty="0"/>
              <a:t>인증서 복사 기능 및 화면 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MUI-CM-04-M17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6407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0905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3875348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6164872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437362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화면의 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 화면에 표시되는 인증번호 </a:t>
            </a:r>
            <a:r>
              <a:rPr lang="en-US" altLang="ko-KR" sz="700" dirty="0">
                <a:latin typeface="+mn-ea"/>
              </a:rPr>
              <a:t>12</a:t>
            </a:r>
            <a:r>
              <a:rPr lang="ko-KR" altLang="en-US" sz="700" dirty="0">
                <a:latin typeface="+mn-ea"/>
              </a:rPr>
              <a:t>자리를 입력하여 인증서 내보내기를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로 인증서를 내보냅니다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53" name="모서리가 둥근 직사각형 52"/>
          <p:cNvSpPr/>
          <p:nvPr/>
        </p:nvSpPr>
        <p:spPr>
          <a:xfrm>
            <a:off x="4023916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1234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4794731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5678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565545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9012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309552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모서리가 둥근 직사각형 35"/>
          <p:cNvSpPr/>
          <p:nvPr/>
        </p:nvSpPr>
        <p:spPr>
          <a:xfrm>
            <a:off x="903581" y="2386628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485841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62584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75081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1" name="모서리가 둥근 직사각형 40"/>
          <p:cNvSpPr/>
          <p:nvPr/>
        </p:nvSpPr>
        <p:spPr>
          <a:xfrm>
            <a:off x="903581" y="310220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20142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34142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46640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6" name="모서리가 둥근 직사각형 45"/>
          <p:cNvSpPr/>
          <p:nvPr/>
        </p:nvSpPr>
        <p:spPr>
          <a:xfrm>
            <a:off x="903581" y="381779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91700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05700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18198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00906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로 내보내기 하려는 인증서를 선택해주세요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201178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4023916" y="2219217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318430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45842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583408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984" y="23866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984" y="30633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60" name="그룹 59"/>
          <p:cNvGrpSpPr/>
          <p:nvPr/>
        </p:nvGrpSpPr>
        <p:grpSpPr>
          <a:xfrm>
            <a:off x="4023915" y="3703056"/>
            <a:ext cx="2255663" cy="306146"/>
            <a:chOff x="3982951" y="3679873"/>
            <a:chExt cx="2255663" cy="306146"/>
          </a:xfrm>
        </p:grpSpPr>
        <p:sp>
          <p:nvSpPr>
            <p:cNvPr id="61" name="모서리가 둥근 직사각형 6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인증번호 복사하기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3" name="그룹 6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4" name="직사각형 6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인증번호 복사하기 버튼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6651497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가상 </a:t>
            </a:r>
            <a:r>
              <a:rPr lang="ko-KR" altLang="en-US" dirty="0" err="1"/>
              <a:t>키패드는</a:t>
            </a:r>
            <a:r>
              <a:rPr lang="ko-KR" altLang="en-US" dirty="0"/>
              <a:t> 보안 </a:t>
            </a:r>
            <a:r>
              <a:rPr lang="ko-KR" altLang="en-US" dirty="0" err="1"/>
              <a:t>키패드</a:t>
            </a:r>
            <a:r>
              <a:rPr lang="ko-KR" altLang="en-US" dirty="0"/>
              <a:t> 활용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비밀번호 확인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비밀번호 확인 </a:t>
            </a:r>
            <a:r>
              <a:rPr lang="ko-KR" altLang="en-US" dirty="0" smtClean="0">
                <a:latin typeface="+mn-ea"/>
              </a:rPr>
              <a:t>팝업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smtClean="0">
                <a:latin typeface="+mn-ea"/>
              </a:rPr>
              <a:t>인증서 내보내기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가져오기 시 비밀번호 확인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인증서 내보내기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인증서 </a:t>
            </a:r>
            <a:r>
              <a:rPr lang="ko-KR" altLang="en-US" dirty="0">
                <a:latin typeface="+mn-ea"/>
              </a:rPr>
              <a:t>비밀번호 </a:t>
            </a:r>
            <a:r>
              <a:rPr lang="ko-KR" altLang="en-US" dirty="0" smtClean="0">
                <a:latin typeface="+mn-ea"/>
              </a:rPr>
              <a:t>확인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MUI-CM-04-P18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2230399"/>
            <a:ext cx="2712027" cy="3992893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2267027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2401443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382122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인증서 비밀번호 확인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6435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7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1541933" y="4038347"/>
            <a:ext cx="1646506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1000" kern="0" dirty="0">
                <a:solidFill>
                  <a:prstClr val="white"/>
                </a:solidFill>
              </a:rPr>
              <a:t>완료</a:t>
            </a:r>
            <a:endParaRPr kumimoji="1" lang="en-US" altLang="ko-KR" sz="1000" kern="0" dirty="0">
              <a:solidFill>
                <a:prstClr val="white"/>
              </a:solidFill>
            </a:endParaRPr>
          </a:p>
        </p:txBody>
      </p:sp>
      <p:sp>
        <p:nvSpPr>
          <p:cNvPr id="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3295" y="4038347"/>
            <a:ext cx="551805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851722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내보내기에 사용되는 인증서의 비밀번호를 확인합니다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인증서의 비밀번호를 입력해주세요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53" name="모서리가 둥근 직사각형 52"/>
          <p:cNvSpPr/>
          <p:nvPr/>
        </p:nvSpPr>
        <p:spPr>
          <a:xfrm>
            <a:off x="903581" y="3631332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44645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보안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8455" y="53659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모서리가 둥근 직사각형 57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9522203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토스트 메시지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 성공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실패 메시지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성공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실패 메시지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스마트 </a:t>
            </a:r>
            <a:r>
              <a:rPr lang="en-US" altLang="ko-KR" dirty="0">
                <a:latin typeface="+mn-ea"/>
              </a:rPr>
              <a:t>PKI </a:t>
            </a:r>
            <a:r>
              <a:rPr lang="ko-KR" altLang="en-US" dirty="0">
                <a:latin typeface="+mn-ea"/>
              </a:rPr>
              <a:t>메시지 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각 인증 페이지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MUI-CM-04-P19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모서리가 둥근 직사각형 57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181373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6" name="모서리가 둥근 직사각형 35"/>
          <p:cNvSpPr/>
          <p:nvPr/>
        </p:nvSpPr>
        <p:spPr>
          <a:xfrm>
            <a:off x="1181373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인증서를 복사하였습니다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6388861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5. </a:t>
            </a:r>
            <a:r>
              <a:rPr lang="ko-KR" altLang="en-US" dirty="0"/>
              <a:t>국방전자조달 소개 메뉴</a:t>
            </a:r>
            <a:endParaRPr lang="en-US" altLang="ko-KR" dirty="0"/>
          </a:p>
          <a:p>
            <a:r>
              <a:rPr lang="en-US" altLang="ko-KR" dirty="0"/>
              <a:t>5.1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345089"/>
              </p:ext>
            </p:extLst>
          </p:nvPr>
        </p:nvGraphicFramePr>
        <p:xfrm>
          <a:off x="635474" y="1574092"/>
          <a:ext cx="8749092" cy="1601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426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시스템소개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시스템 소개 정보를 안내한다</a:t>
                      </a:r>
                      <a:r>
                        <a:rPr lang="en-US" altLang="ko-KR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주요특징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주요 특징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연혁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연혁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인포그래픽스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인포그래픽스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관련시스템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관련시스템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SystemPage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6479342"/>
                  </a:ext>
                </a:extLst>
              </a:tr>
              <a:tr h="1665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이용문의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이용문의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031716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8094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357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3236587" y="1969772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4430539" y="2110476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시스템소개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3086307" y="2164476"/>
            <a:ext cx="448641" cy="180000"/>
            <a:chOff x="4520608" y="1663914"/>
            <a:chExt cx="448641" cy="180000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4019EDD-4322-2651-BC19-3D7C8083D355}"/>
              </a:ext>
            </a:extLst>
          </p:cNvPr>
          <p:cNvSpPr/>
          <p:nvPr/>
        </p:nvSpPr>
        <p:spPr>
          <a:xfrm>
            <a:off x="7161673" y="3712492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04C0B0F-7275-1964-CD84-22454585E4D5}"/>
              </a:ext>
            </a:extLst>
          </p:cNvPr>
          <p:cNvGrpSpPr/>
          <p:nvPr/>
        </p:nvGrpSpPr>
        <p:grpSpPr>
          <a:xfrm>
            <a:off x="7190670" y="3496492"/>
            <a:ext cx="180000" cy="180000"/>
            <a:chOff x="5058274" y="2498299"/>
            <a:chExt cx="180000" cy="18000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E9B5D9EB-9463-896B-12A2-37CBFEB67E81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035D845-DB68-ACE3-6F03-D835D7B8D78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3534948" y="2254476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4430539" y="3158618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연혁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2AF491E-63F1-F699-073F-514A5C4333F6}"/>
              </a:ext>
            </a:extLst>
          </p:cNvPr>
          <p:cNvCxnSpPr>
            <a:stCxn id="5" idx="4"/>
            <a:endCxn id="34" idx="1"/>
          </p:cNvCxnSpPr>
          <p:nvPr/>
        </p:nvCxnSpPr>
        <p:spPr>
          <a:xfrm rot="16200000" flipH="1">
            <a:off x="3458672" y="2330751"/>
            <a:ext cx="958142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4430539" y="3682689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인포그래픽스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CFECD5A-167A-2BFA-A89F-A19A249C0BEF}"/>
              </a:ext>
            </a:extLst>
          </p:cNvPr>
          <p:cNvSpPr/>
          <p:nvPr/>
        </p:nvSpPr>
        <p:spPr>
          <a:xfrm>
            <a:off x="4430539" y="4206760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관련시스템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B17AD25-D206-F26A-9104-B75209208B2A}"/>
              </a:ext>
            </a:extLst>
          </p:cNvPr>
          <p:cNvSpPr/>
          <p:nvPr/>
        </p:nvSpPr>
        <p:spPr>
          <a:xfrm>
            <a:off x="4430539" y="473083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이용문의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CFDF6D94-4D2F-7F6C-B069-143F7B96D22A}"/>
              </a:ext>
            </a:extLst>
          </p:cNvPr>
          <p:cNvCxnSpPr>
            <a:stCxn id="5" idx="4"/>
            <a:endCxn id="37" idx="1"/>
          </p:cNvCxnSpPr>
          <p:nvPr/>
        </p:nvCxnSpPr>
        <p:spPr>
          <a:xfrm rot="16200000" flipH="1">
            <a:off x="3196637" y="2592786"/>
            <a:ext cx="1482213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E45CF68-21E8-22BD-72CD-36C63BECD0F7}"/>
              </a:ext>
            </a:extLst>
          </p:cNvPr>
          <p:cNvCxnSpPr>
            <a:stCxn id="5" idx="4"/>
            <a:endCxn id="38" idx="1"/>
          </p:cNvCxnSpPr>
          <p:nvPr/>
        </p:nvCxnSpPr>
        <p:spPr>
          <a:xfrm rot="16200000" flipH="1">
            <a:off x="2934601" y="2854822"/>
            <a:ext cx="2006284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F85301B9-81E9-EFE4-CD6A-9ECF68788A13}"/>
              </a:ext>
            </a:extLst>
          </p:cNvPr>
          <p:cNvCxnSpPr>
            <a:stCxn id="5" idx="4"/>
            <a:endCxn id="39" idx="1"/>
          </p:cNvCxnSpPr>
          <p:nvPr/>
        </p:nvCxnSpPr>
        <p:spPr>
          <a:xfrm rot="16200000" flipH="1">
            <a:off x="2672566" y="3116857"/>
            <a:ext cx="2530355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4430539" y="2634547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주요특징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5" idx="4"/>
            <a:endCxn id="60" idx="1"/>
          </p:cNvCxnSpPr>
          <p:nvPr/>
        </p:nvCxnSpPr>
        <p:spPr>
          <a:xfrm rot="16200000" flipH="1">
            <a:off x="3720708" y="2068715"/>
            <a:ext cx="434071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19" idx="2"/>
          </p:cNvCxnSpPr>
          <p:nvPr/>
        </p:nvCxnSpPr>
        <p:spPr>
          <a:xfrm>
            <a:off x="5852099" y="2254476"/>
            <a:ext cx="1338571" cy="133201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5852099" y="2778547"/>
            <a:ext cx="1338571" cy="80794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5852099" y="3302618"/>
            <a:ext cx="1338571" cy="28387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19" idx="2"/>
          </p:cNvCxnSpPr>
          <p:nvPr/>
        </p:nvCxnSpPr>
        <p:spPr>
          <a:xfrm flipV="1">
            <a:off x="5852099" y="3586492"/>
            <a:ext cx="1338571" cy="24019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8" idx="3"/>
            <a:endCxn id="19" idx="2"/>
          </p:cNvCxnSpPr>
          <p:nvPr/>
        </p:nvCxnSpPr>
        <p:spPr>
          <a:xfrm flipV="1">
            <a:off x="5852099" y="3586492"/>
            <a:ext cx="1338571" cy="76426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9" idx="3"/>
            <a:endCxn id="19" idx="2"/>
          </p:cNvCxnSpPr>
          <p:nvPr/>
        </p:nvCxnSpPr>
        <p:spPr>
          <a:xfrm flipV="1">
            <a:off x="5852099" y="3586492"/>
            <a:ext cx="1338571" cy="128833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그룹 29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31" name="그룹 30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4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778021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358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377745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시스템소개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IntroducePage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1979942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주요특징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FeaturePage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2581860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연혁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HistoryPage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1624440"/>
            <a:ext cx="1559406" cy="1365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244896"/>
            <a:ext cx="1559406" cy="74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>
            <a:off x="2409921" y="2841193"/>
            <a:ext cx="1550170" cy="14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F4671E-4427-2BDF-F89C-1D2C6FF8CDC4}"/>
              </a:ext>
            </a:extLst>
          </p:cNvPr>
          <p:cNvSpPr/>
          <p:nvPr/>
        </p:nvSpPr>
        <p:spPr>
          <a:xfrm>
            <a:off x="587331" y="3182219"/>
            <a:ext cx="1822590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인포그래픽스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GraphicPage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A384F7-003A-8FF5-8CA0-66426F46808C}"/>
              </a:ext>
            </a:extLst>
          </p:cNvPr>
          <p:cNvSpPr/>
          <p:nvPr/>
        </p:nvSpPr>
        <p:spPr>
          <a:xfrm>
            <a:off x="578095" y="3793800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관련시스템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SystemPage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0E73C03-9092-F094-8AA2-4C44C53A7B41}"/>
              </a:ext>
            </a:extLst>
          </p:cNvPr>
          <p:cNvCxnSpPr>
            <a:cxnSpLocks/>
            <a:stCxn id="18" idx="3"/>
            <a:endCxn id="39" idx="1"/>
          </p:cNvCxnSpPr>
          <p:nvPr/>
        </p:nvCxnSpPr>
        <p:spPr>
          <a:xfrm flipV="1">
            <a:off x="2409921" y="2990174"/>
            <a:ext cx="1550170" cy="447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7AEA11-AAE1-EEF4-81E7-9065429B580D}"/>
              </a:ext>
            </a:extLst>
          </p:cNvPr>
          <p:cNvCxnSpPr>
            <a:cxnSpLocks/>
            <a:stCxn id="19" idx="3"/>
            <a:endCxn id="39" idx="1"/>
          </p:cNvCxnSpPr>
          <p:nvPr/>
        </p:nvCxnSpPr>
        <p:spPr>
          <a:xfrm flipV="1">
            <a:off x="2409921" y="2990174"/>
            <a:ext cx="1550170" cy="1058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B2F7C40-600B-875B-C343-ECDD468EC02B}"/>
              </a:ext>
            </a:extLst>
          </p:cNvPr>
          <p:cNvSpPr/>
          <p:nvPr/>
        </p:nvSpPr>
        <p:spPr>
          <a:xfrm>
            <a:off x="587331" y="4347866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이용문의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InquiryPage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D7FC058-62A0-1FAB-CEB6-BB905872E30E}"/>
              </a:ext>
            </a:extLst>
          </p:cNvPr>
          <p:cNvCxnSpPr>
            <a:cxnSpLocks/>
            <a:stCxn id="27" idx="3"/>
            <a:endCxn id="39" idx="1"/>
          </p:cNvCxnSpPr>
          <p:nvPr/>
        </p:nvCxnSpPr>
        <p:spPr>
          <a:xfrm flipV="1">
            <a:off x="2419157" y="2990174"/>
            <a:ext cx="1540934" cy="1612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217105745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시스템소개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시스템 소개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시스템소개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MUI-CM-05-M01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69840"/>
          <a:stretch/>
        </p:blipFill>
        <p:spPr>
          <a:xfrm>
            <a:off x="675399" y="1493927"/>
            <a:ext cx="2712027" cy="4732701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25674"/>
          <a:stretch/>
        </p:blipFill>
        <p:spPr>
          <a:xfrm>
            <a:off x="4572457" y="1273831"/>
            <a:ext cx="1202838" cy="517289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543567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주요특징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주요 특징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주요특징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MUI-CM-05-M02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4142"/>
          <a:stretch/>
        </p:blipFill>
        <p:spPr>
          <a:xfrm>
            <a:off x="675399" y="1493928"/>
            <a:ext cx="2712027" cy="471528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54237"/>
          <a:stretch/>
        </p:blipFill>
        <p:spPr>
          <a:xfrm>
            <a:off x="4028222" y="1493928"/>
            <a:ext cx="944988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45763" b="13601"/>
          <a:stretch/>
        </p:blipFill>
        <p:spPr>
          <a:xfrm>
            <a:off x="5353870" y="1493927"/>
            <a:ext cx="944988" cy="421018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73510135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연혁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연혁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연혁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81764"/>
          <a:stretch/>
        </p:blipFill>
        <p:spPr>
          <a:xfrm>
            <a:off x="675399" y="1493929"/>
            <a:ext cx="2712027" cy="470657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b="48548"/>
          <a:stretch/>
        </p:blipFill>
        <p:spPr>
          <a:xfrm>
            <a:off x="4068784" y="1493927"/>
            <a:ext cx="964771" cy="4723993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2"/>
          <a:srcRect t="51547"/>
          <a:stretch/>
        </p:blipFill>
        <p:spPr>
          <a:xfrm>
            <a:off x="5300924" y="1493927"/>
            <a:ext cx="964771" cy="4448698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987032311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콘텐츠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개발기간 중 현행화 예정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인포그래픽스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인포그래픽스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인포그래픽스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969B4D1-B485-E260-A44F-DFB4FE93A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861" y="1774041"/>
            <a:ext cx="3445451" cy="406927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401458451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관련시스템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관련시스템</a:t>
            </a:r>
            <a:r>
              <a:rPr lang="ko-KR" altLang="en-US" dirty="0">
                <a:latin typeface="+mn-ea"/>
              </a:rPr>
              <a:t>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관련시스템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MUI-CM-05-M05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64909"/>
          <a:stretch/>
        </p:blipFill>
        <p:spPr>
          <a:xfrm>
            <a:off x="675399" y="1493927"/>
            <a:ext cx="2712027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b="25789"/>
          <a:stretch/>
        </p:blipFill>
        <p:spPr>
          <a:xfrm>
            <a:off x="3795734" y="1493928"/>
            <a:ext cx="1280010" cy="471528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t="74486"/>
          <a:stretch/>
        </p:blipFill>
        <p:spPr>
          <a:xfrm>
            <a:off x="5227751" y="1493927"/>
            <a:ext cx="1280010" cy="1621123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399210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이용문의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이용문의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이용문의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MUI-CM-05-M06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-1" b="71994"/>
          <a:stretch/>
        </p:blipFill>
        <p:spPr>
          <a:xfrm>
            <a:off x="679024" y="1493927"/>
            <a:ext cx="2708402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41561"/>
          <a:stretch/>
        </p:blipFill>
        <p:spPr>
          <a:xfrm>
            <a:off x="3795735" y="1493927"/>
            <a:ext cx="1300401" cy="4732702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58439" b="23926"/>
          <a:stretch/>
        </p:blipFill>
        <p:spPr>
          <a:xfrm>
            <a:off x="5207360" y="1493927"/>
            <a:ext cx="1300401" cy="142820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3617858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6. </a:t>
            </a:r>
            <a:r>
              <a:rPr lang="ko-KR" altLang="en-US" dirty="0"/>
              <a:t>이용안내 메뉴</a:t>
            </a:r>
            <a:endParaRPr lang="en-US" altLang="ko-KR" dirty="0"/>
          </a:p>
          <a:p>
            <a:r>
              <a:rPr lang="en-US" altLang="ko-KR" dirty="0"/>
              <a:t>6.1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662148"/>
              </p:ext>
            </p:extLst>
          </p:nvPr>
        </p:nvGraphicFramePr>
        <p:xfrm>
          <a:off x="635474" y="1574093"/>
          <a:ext cx="8749092" cy="3352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76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사전준비사항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사전준비사항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/biz/cm/p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reparation01/Preparation01Page.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청렴계약제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청렴계약제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MUI-CM-05-M09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국방조달참여절차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참여절차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국내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전자입찰절차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전자입찰절차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전자대금청구절차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전자대금청구절차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6479342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국외조달원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 등록절차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국외조달원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등록절차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031716"/>
                  </a:ext>
                </a:extLst>
              </a:tr>
              <a:tr h="2390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국외조달원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 등록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변경안내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국외조달원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변경안내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/F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oreign02Page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587819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전자입찰절차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Foreign03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국외조달</a:t>
                      </a:r>
                      <a:r>
                        <a:rPr lang="ko-KR" altLang="en-US" sz="800" dirty="0">
                          <a:latin typeface="+mn-ea"/>
                        </a:rPr>
                        <a:t> 전자입찰절차 정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보를 안내한다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foreign03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</a:rPr>
                        <a:t>F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oreign03Page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390001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MUI-CM-05-M15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관련사이트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</a:t>
                      </a:r>
                      <a:r>
                        <a:rPr lang="en-US" altLang="ko-KR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관련사이트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877910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-01-P06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앱 이용 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AppSrvcExpln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스플래시에서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사용된 앱 이용 안내 다시 보기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2674137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044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366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7.2.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3036291" y="989311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4230243" y="1130015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사전준비사항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3125655" y="1184015"/>
            <a:ext cx="237994" cy="323541"/>
            <a:chOff x="4760252" y="1663914"/>
            <a:chExt cx="237994" cy="323541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760252" y="1864344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E336770-3307-E038-1843-D3E94EEE0172}"/>
              </a:ext>
            </a:extLst>
          </p:cNvPr>
          <p:cNvGrpSpPr/>
          <p:nvPr/>
        </p:nvGrpSpPr>
        <p:grpSpPr>
          <a:xfrm>
            <a:off x="6961377" y="3221511"/>
            <a:ext cx="237994" cy="339111"/>
            <a:chOff x="565604" y="5691736"/>
            <a:chExt cx="237994" cy="33911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4019EDD-4322-2651-BC19-3D7C8083D355}"/>
                </a:ext>
              </a:extLst>
            </p:cNvPr>
            <p:cNvSpPr/>
            <p:nvPr/>
          </p:nvSpPr>
          <p:spPr>
            <a:xfrm>
              <a:off x="565604" y="590773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끝</a:t>
              </a: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04C0B0F-7275-1964-CD84-22454585E4D5}"/>
                </a:ext>
              </a:extLst>
            </p:cNvPr>
            <p:cNvGrpSpPr/>
            <p:nvPr/>
          </p:nvGrpSpPr>
          <p:grpSpPr>
            <a:xfrm>
              <a:off x="594601" y="5691736"/>
              <a:ext cx="180000" cy="180000"/>
              <a:chOff x="5058274" y="2498299"/>
              <a:chExt cx="180000" cy="180000"/>
            </a:xfrm>
          </p:grpSpPr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E9B5D9EB-9463-896B-12A2-37CBFEB67E81}"/>
                  </a:ext>
                </a:extLst>
              </p:cNvPr>
              <p:cNvSpPr/>
              <p:nvPr/>
            </p:nvSpPr>
            <p:spPr>
              <a:xfrm>
                <a:off x="5058274" y="2498299"/>
                <a:ext cx="180000" cy="180000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5035D845-DB68-ACE3-6F03-D835D7B8D78D}"/>
                  </a:ext>
                </a:extLst>
              </p:cNvPr>
              <p:cNvSpPr/>
              <p:nvPr/>
            </p:nvSpPr>
            <p:spPr>
              <a:xfrm>
                <a:off x="5094274" y="253429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3334652" y="1274015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4230243" y="2178157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국방조달참여절차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2AF491E-63F1-F699-073F-514A5C4333F6}"/>
              </a:ext>
            </a:extLst>
          </p:cNvPr>
          <p:cNvCxnSpPr>
            <a:stCxn id="5" idx="6"/>
            <a:endCxn id="34" idx="1"/>
          </p:cNvCxnSpPr>
          <p:nvPr/>
        </p:nvCxnSpPr>
        <p:spPr>
          <a:xfrm>
            <a:off x="3334652" y="1274015"/>
            <a:ext cx="895591" cy="10481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4230243" y="2702228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국내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전자입찰절차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CFECD5A-167A-2BFA-A89F-A19A249C0BEF}"/>
              </a:ext>
            </a:extLst>
          </p:cNvPr>
          <p:cNvSpPr/>
          <p:nvPr/>
        </p:nvSpPr>
        <p:spPr>
          <a:xfrm>
            <a:off x="4230243" y="3226299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전자대금청구절차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B17AD25-D206-F26A-9104-B75209208B2A}"/>
              </a:ext>
            </a:extLst>
          </p:cNvPr>
          <p:cNvSpPr/>
          <p:nvPr/>
        </p:nvSpPr>
        <p:spPr>
          <a:xfrm>
            <a:off x="4230243" y="3750370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국외조달원</a:t>
            </a:r>
            <a:r>
              <a:rPr lang="ko-KR" altLang="en-US" sz="800" dirty="0">
                <a:solidFill>
                  <a:schemeClr val="tx1"/>
                </a:solidFill>
              </a:rPr>
              <a:t> 등록절차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8D378D86-4B1E-1F57-AC9B-76EEAE958A06}"/>
              </a:ext>
            </a:extLst>
          </p:cNvPr>
          <p:cNvSpPr/>
          <p:nvPr/>
        </p:nvSpPr>
        <p:spPr>
          <a:xfrm>
            <a:off x="4230243" y="427444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국외조달원등록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>
                <a:solidFill>
                  <a:schemeClr val="tx1"/>
                </a:solidFill>
              </a:rPr>
              <a:t>변경안내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BB1C59E-02BD-94B4-9458-F9347CA2D9FF}"/>
              </a:ext>
            </a:extLst>
          </p:cNvPr>
          <p:cNvSpPr/>
          <p:nvPr/>
        </p:nvSpPr>
        <p:spPr>
          <a:xfrm>
            <a:off x="4230243" y="4798512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전자입찰절차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CFDF6D94-4D2F-7F6C-B069-143F7B96D22A}"/>
              </a:ext>
            </a:extLst>
          </p:cNvPr>
          <p:cNvCxnSpPr>
            <a:stCxn id="5" idx="6"/>
            <a:endCxn id="37" idx="1"/>
          </p:cNvCxnSpPr>
          <p:nvPr/>
        </p:nvCxnSpPr>
        <p:spPr>
          <a:xfrm>
            <a:off x="3334652" y="1274015"/>
            <a:ext cx="895591" cy="1572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E45CF68-21E8-22BD-72CD-36C63BECD0F7}"/>
              </a:ext>
            </a:extLst>
          </p:cNvPr>
          <p:cNvCxnSpPr>
            <a:stCxn id="5" idx="6"/>
            <a:endCxn id="38" idx="1"/>
          </p:cNvCxnSpPr>
          <p:nvPr/>
        </p:nvCxnSpPr>
        <p:spPr>
          <a:xfrm>
            <a:off x="3334652" y="1274015"/>
            <a:ext cx="895591" cy="209628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F85301B9-81E9-EFE4-CD6A-9ECF68788A13}"/>
              </a:ext>
            </a:extLst>
          </p:cNvPr>
          <p:cNvCxnSpPr>
            <a:stCxn id="5" idx="6"/>
            <a:endCxn id="39" idx="1"/>
          </p:cNvCxnSpPr>
          <p:nvPr/>
        </p:nvCxnSpPr>
        <p:spPr>
          <a:xfrm>
            <a:off x="3334652" y="1274015"/>
            <a:ext cx="895591" cy="262035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CD627301-C430-A011-579E-9C40E27EDB40}"/>
              </a:ext>
            </a:extLst>
          </p:cNvPr>
          <p:cNvCxnSpPr>
            <a:stCxn id="5" idx="6"/>
            <a:endCxn id="40" idx="1"/>
          </p:cNvCxnSpPr>
          <p:nvPr/>
        </p:nvCxnSpPr>
        <p:spPr>
          <a:xfrm>
            <a:off x="3334652" y="1274015"/>
            <a:ext cx="895591" cy="314442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연결선: 꺾임 53">
            <a:extLst>
              <a:ext uri="{FF2B5EF4-FFF2-40B4-BE49-F238E27FC236}">
                <a16:creationId xmlns:a16="http://schemas.microsoft.com/office/drawing/2014/main" id="{729A2AB8-659F-426C-56DA-422C8BAA20F7}"/>
              </a:ext>
            </a:extLst>
          </p:cNvPr>
          <p:cNvCxnSpPr>
            <a:stCxn id="5" idx="6"/>
            <a:endCxn id="41" idx="1"/>
          </p:cNvCxnSpPr>
          <p:nvPr/>
        </p:nvCxnSpPr>
        <p:spPr>
          <a:xfrm>
            <a:off x="3334652" y="1274015"/>
            <a:ext cx="895591" cy="366849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4230243" y="1654086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청렴계약제</a:t>
            </a: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5" idx="6"/>
            <a:endCxn id="60" idx="1"/>
          </p:cNvCxnSpPr>
          <p:nvPr/>
        </p:nvCxnSpPr>
        <p:spPr>
          <a:xfrm>
            <a:off x="3334652" y="1274015"/>
            <a:ext cx="895591" cy="524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0CDCE3D-4C6B-BA16-AA25-2DA6E66BCD2E}"/>
              </a:ext>
            </a:extLst>
          </p:cNvPr>
          <p:cNvSpPr/>
          <p:nvPr/>
        </p:nvSpPr>
        <p:spPr>
          <a:xfrm>
            <a:off x="4230243" y="5322583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관련사이트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34" name="연결선: 꺾임 133">
            <a:extLst>
              <a:ext uri="{FF2B5EF4-FFF2-40B4-BE49-F238E27FC236}">
                <a16:creationId xmlns:a16="http://schemas.microsoft.com/office/drawing/2014/main" id="{116E8111-1955-150D-AB7F-15AA6FB9F3C8}"/>
              </a:ext>
            </a:extLst>
          </p:cNvPr>
          <p:cNvCxnSpPr>
            <a:stCxn id="5" idx="6"/>
            <a:endCxn id="133" idx="1"/>
          </p:cNvCxnSpPr>
          <p:nvPr/>
        </p:nvCxnSpPr>
        <p:spPr>
          <a:xfrm>
            <a:off x="3334652" y="1274015"/>
            <a:ext cx="895591" cy="419256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BE73A25C-8071-605A-9B3F-4CD21668733A}"/>
              </a:ext>
            </a:extLst>
          </p:cNvPr>
          <p:cNvSpPr/>
          <p:nvPr/>
        </p:nvSpPr>
        <p:spPr>
          <a:xfrm>
            <a:off x="4230243" y="584665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이용 안내</a:t>
            </a:r>
          </a:p>
        </p:txBody>
      </p:sp>
      <p:cxnSp>
        <p:nvCxnSpPr>
          <p:cNvPr id="137" name="연결선: 꺾임 136">
            <a:extLst>
              <a:ext uri="{FF2B5EF4-FFF2-40B4-BE49-F238E27FC236}">
                <a16:creationId xmlns:a16="http://schemas.microsoft.com/office/drawing/2014/main" id="{E817709E-FD18-1B63-CE48-BED45C5EF2E4}"/>
              </a:ext>
            </a:extLst>
          </p:cNvPr>
          <p:cNvCxnSpPr>
            <a:stCxn id="5" idx="6"/>
            <a:endCxn id="136" idx="1"/>
          </p:cNvCxnSpPr>
          <p:nvPr/>
        </p:nvCxnSpPr>
        <p:spPr>
          <a:xfrm>
            <a:off x="3334652" y="1274015"/>
            <a:ext cx="895591" cy="47166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19" idx="2"/>
          </p:cNvCxnSpPr>
          <p:nvPr/>
        </p:nvCxnSpPr>
        <p:spPr>
          <a:xfrm>
            <a:off x="5651803" y="1274015"/>
            <a:ext cx="1338571" cy="203749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5651803" y="1798086"/>
            <a:ext cx="1338571" cy="15134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5651803" y="2322157"/>
            <a:ext cx="1338571" cy="9893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19" idx="2"/>
          </p:cNvCxnSpPr>
          <p:nvPr/>
        </p:nvCxnSpPr>
        <p:spPr>
          <a:xfrm>
            <a:off x="5651803" y="2846228"/>
            <a:ext cx="1338571" cy="46528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8" idx="3"/>
            <a:endCxn id="19" idx="2"/>
          </p:cNvCxnSpPr>
          <p:nvPr/>
        </p:nvCxnSpPr>
        <p:spPr>
          <a:xfrm flipV="1">
            <a:off x="5651803" y="3311511"/>
            <a:ext cx="1338571" cy="587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9" idx="3"/>
            <a:endCxn id="19" idx="2"/>
          </p:cNvCxnSpPr>
          <p:nvPr/>
        </p:nvCxnSpPr>
        <p:spPr>
          <a:xfrm flipV="1">
            <a:off x="5651803" y="3311511"/>
            <a:ext cx="1338571" cy="5828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40" idx="3"/>
            <a:endCxn id="19" idx="2"/>
          </p:cNvCxnSpPr>
          <p:nvPr/>
        </p:nvCxnSpPr>
        <p:spPr>
          <a:xfrm flipV="1">
            <a:off x="5651803" y="3311511"/>
            <a:ext cx="1338571" cy="11069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41" idx="3"/>
            <a:endCxn id="19" idx="2"/>
          </p:cNvCxnSpPr>
          <p:nvPr/>
        </p:nvCxnSpPr>
        <p:spPr>
          <a:xfrm flipV="1">
            <a:off x="5651803" y="3311511"/>
            <a:ext cx="1338571" cy="16310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133" idx="3"/>
            <a:endCxn id="19" idx="2"/>
          </p:cNvCxnSpPr>
          <p:nvPr/>
        </p:nvCxnSpPr>
        <p:spPr>
          <a:xfrm flipV="1">
            <a:off x="5651803" y="3311511"/>
            <a:ext cx="1338571" cy="215507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136" idx="3"/>
            <a:endCxn id="19" idx="2"/>
          </p:cNvCxnSpPr>
          <p:nvPr/>
        </p:nvCxnSpPr>
        <p:spPr>
          <a:xfrm flipV="1">
            <a:off x="5651803" y="3311511"/>
            <a:ext cx="1338571" cy="2679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4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47" name="그룹 46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5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945476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367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377745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사전준비사항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Preparation01Page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1979942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청렴계약제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Preparation02Page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2581860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국방조달참여절차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1624440"/>
            <a:ext cx="1559406" cy="1365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244896"/>
            <a:ext cx="1559406" cy="74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>
            <a:off x="2409921" y="2841193"/>
            <a:ext cx="1550170" cy="14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F4671E-4427-2BDF-F89C-1D2C6FF8CDC4}"/>
              </a:ext>
            </a:extLst>
          </p:cNvPr>
          <p:cNvSpPr/>
          <p:nvPr/>
        </p:nvSpPr>
        <p:spPr>
          <a:xfrm>
            <a:off x="587331" y="3182219"/>
            <a:ext cx="1822590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국내 </a:t>
            </a:r>
            <a:r>
              <a:rPr lang="en-US" altLang="ko-KR" sz="1100" dirty="0">
                <a:solidFill>
                  <a:schemeClr val="tx1"/>
                </a:solidFill>
              </a:rPr>
              <a:t>- </a:t>
            </a:r>
            <a:r>
              <a:rPr lang="ko-KR" altLang="en-US" sz="1100" dirty="0">
                <a:solidFill>
                  <a:schemeClr val="tx1"/>
                </a:solidFill>
              </a:rPr>
              <a:t>전자입찰절차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A384F7-003A-8FF5-8CA0-66426F46808C}"/>
              </a:ext>
            </a:extLst>
          </p:cNvPr>
          <p:cNvSpPr/>
          <p:nvPr/>
        </p:nvSpPr>
        <p:spPr>
          <a:xfrm>
            <a:off x="578095" y="3793800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전자대금청구절차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Domestic03Page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0E73C03-9092-F094-8AA2-4C44C53A7B41}"/>
              </a:ext>
            </a:extLst>
          </p:cNvPr>
          <p:cNvCxnSpPr>
            <a:cxnSpLocks/>
            <a:stCxn id="18" idx="3"/>
            <a:endCxn id="39" idx="1"/>
          </p:cNvCxnSpPr>
          <p:nvPr/>
        </p:nvCxnSpPr>
        <p:spPr>
          <a:xfrm flipV="1">
            <a:off x="2409921" y="2990174"/>
            <a:ext cx="1550170" cy="447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7AEA11-AAE1-EEF4-81E7-9065429B580D}"/>
              </a:ext>
            </a:extLst>
          </p:cNvPr>
          <p:cNvCxnSpPr>
            <a:cxnSpLocks/>
            <a:stCxn id="19" idx="3"/>
            <a:endCxn id="39" idx="1"/>
          </p:cNvCxnSpPr>
          <p:nvPr/>
        </p:nvCxnSpPr>
        <p:spPr>
          <a:xfrm flipV="1">
            <a:off x="2409921" y="2990174"/>
            <a:ext cx="1550170" cy="1058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B2F7C40-600B-875B-C343-ECDD468EC02B}"/>
              </a:ext>
            </a:extLst>
          </p:cNvPr>
          <p:cNvSpPr/>
          <p:nvPr/>
        </p:nvSpPr>
        <p:spPr>
          <a:xfrm>
            <a:off x="587331" y="4347866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국외조달원등록절차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D7FC058-62A0-1FAB-CEB6-BB905872E30E}"/>
              </a:ext>
            </a:extLst>
          </p:cNvPr>
          <p:cNvCxnSpPr>
            <a:cxnSpLocks/>
            <a:stCxn id="27" idx="3"/>
            <a:endCxn id="39" idx="1"/>
          </p:cNvCxnSpPr>
          <p:nvPr/>
        </p:nvCxnSpPr>
        <p:spPr>
          <a:xfrm flipV="1">
            <a:off x="2419157" y="2990174"/>
            <a:ext cx="1540934" cy="1612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F66584F-EEE5-DF1C-E16B-45A654981E6D}"/>
              </a:ext>
            </a:extLst>
          </p:cNvPr>
          <p:cNvSpPr/>
          <p:nvPr/>
        </p:nvSpPr>
        <p:spPr>
          <a:xfrm>
            <a:off x="587330" y="4976710"/>
            <a:ext cx="1831827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국외조달원등록</a:t>
            </a:r>
            <a:r>
              <a:rPr lang="en-US" altLang="ko-KR" sz="1100" dirty="0">
                <a:solidFill>
                  <a:schemeClr val="tx1"/>
                </a:solidFill>
              </a:rPr>
              <a:t>/</a:t>
            </a:r>
            <a:r>
              <a:rPr lang="ko-KR" altLang="en-US" sz="1100" dirty="0">
                <a:solidFill>
                  <a:schemeClr val="tx1"/>
                </a:solidFill>
              </a:rPr>
              <a:t>변경안내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4360397-962A-DE55-F3AB-F52E7CF3D102}"/>
              </a:ext>
            </a:extLst>
          </p:cNvPr>
          <p:cNvCxnSpPr>
            <a:cxnSpLocks/>
            <a:stCxn id="34" idx="3"/>
            <a:endCxn id="39" idx="1"/>
          </p:cNvCxnSpPr>
          <p:nvPr/>
        </p:nvCxnSpPr>
        <p:spPr>
          <a:xfrm flipV="1">
            <a:off x="2419157" y="2990174"/>
            <a:ext cx="1540934" cy="2241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4201F9E-7F68-9B8B-10DA-19342D571C18}"/>
              </a:ext>
            </a:extLst>
          </p:cNvPr>
          <p:cNvSpPr/>
          <p:nvPr/>
        </p:nvSpPr>
        <p:spPr>
          <a:xfrm>
            <a:off x="587330" y="5559027"/>
            <a:ext cx="1831827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국외전자입찰절차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Foreign03Page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D4D0308-2143-C1F4-B3DA-D7229C517CFE}"/>
              </a:ext>
            </a:extLst>
          </p:cNvPr>
          <p:cNvCxnSpPr>
            <a:stCxn id="46" idx="3"/>
            <a:endCxn id="39" idx="1"/>
          </p:cNvCxnSpPr>
          <p:nvPr/>
        </p:nvCxnSpPr>
        <p:spPr>
          <a:xfrm flipV="1">
            <a:off x="2419157" y="2990174"/>
            <a:ext cx="1540934" cy="28241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8F1979A7-187B-8CC0-5EAD-9E911A321D65}"/>
              </a:ext>
            </a:extLst>
          </p:cNvPr>
          <p:cNvSpPr/>
          <p:nvPr/>
        </p:nvSpPr>
        <p:spPr>
          <a:xfrm>
            <a:off x="2888323" y="5481964"/>
            <a:ext cx="1294602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관련사이트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SitePage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5BBF5535-8BD2-DA27-9508-2AAACD963DE2}"/>
              </a:ext>
            </a:extLst>
          </p:cNvPr>
          <p:cNvSpPr/>
          <p:nvPr/>
        </p:nvSpPr>
        <p:spPr>
          <a:xfrm>
            <a:off x="4375355" y="5462214"/>
            <a:ext cx="1421601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lvl="0" algn="ctr"/>
            <a:r>
              <a:rPr lang="ko-KR" altLang="en-US" sz="1100" dirty="0">
                <a:solidFill>
                  <a:schemeClr val="tx1"/>
                </a:solidFill>
                <a:latin typeface="맑은 고딕" panose="020B0503020000020004" pitchFamily="50" charset="-127"/>
              </a:rPr>
              <a:t>앱 이용 안내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AppSrvcExpln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DCFF2270-4921-2DBE-4FE7-F47558EADD78}"/>
              </a:ext>
            </a:extLst>
          </p:cNvPr>
          <p:cNvCxnSpPr>
            <a:stCxn id="68" idx="0"/>
            <a:endCxn id="39" idx="2"/>
          </p:cNvCxnSpPr>
          <p:nvPr/>
        </p:nvCxnSpPr>
        <p:spPr>
          <a:xfrm flipV="1">
            <a:off x="3535624" y="3810190"/>
            <a:ext cx="1288067" cy="1671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951C1A0-315F-228E-7726-753A2B3E22C9}"/>
              </a:ext>
            </a:extLst>
          </p:cNvPr>
          <p:cNvCxnSpPr>
            <a:stCxn id="69" idx="0"/>
            <a:endCxn id="39" idx="2"/>
          </p:cNvCxnSpPr>
          <p:nvPr/>
        </p:nvCxnSpPr>
        <p:spPr>
          <a:xfrm flipH="1" flipV="1">
            <a:off x="4823691" y="3810190"/>
            <a:ext cx="262465" cy="1652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D3CB4D9-52F7-0D5C-68EF-1168EC02BFE2}"/>
              </a:ext>
            </a:extLst>
          </p:cNvPr>
          <p:cNvSpPr/>
          <p:nvPr/>
        </p:nvSpPr>
        <p:spPr>
          <a:xfrm>
            <a:off x="6849666" y="2747194"/>
            <a:ext cx="1945632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공통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ComController</a:t>
            </a:r>
            <a:endParaRPr lang="en-US" altLang="ko-KR" sz="1100" dirty="0"/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3AF93D-84A9-5883-893A-24F5B3B4EDAB}"/>
              </a:ext>
            </a:extLst>
          </p:cNvPr>
          <p:cNvCxnSpPr>
            <a:cxnSpLocks/>
            <a:stCxn id="39" idx="3"/>
            <a:endCxn id="30" idx="1"/>
          </p:cNvCxnSpPr>
          <p:nvPr/>
        </p:nvCxnSpPr>
        <p:spPr>
          <a:xfrm>
            <a:off x="5687291" y="2990174"/>
            <a:ext cx="11623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40558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등록 하단 </a:t>
            </a:r>
            <a:r>
              <a:rPr lang="en-US" altLang="ko-KR" dirty="0"/>
              <a:t>[</a:t>
            </a:r>
            <a:r>
              <a:rPr lang="ko-KR" altLang="en-US" dirty="0"/>
              <a:t>유의사항</a:t>
            </a:r>
            <a:r>
              <a:rPr lang="en-US" altLang="ko-KR" dirty="0"/>
              <a:t>]</a:t>
            </a:r>
            <a:r>
              <a:rPr lang="ko-KR" altLang="en-US" dirty="0"/>
              <a:t> 안내 추가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모바일에서는 사용자 등록되지 않습니다</a:t>
            </a:r>
            <a:r>
              <a:rPr lang="en-US" altLang="ko-KR" dirty="0"/>
              <a:t>. PC </a:t>
            </a:r>
            <a:r>
              <a:rPr lang="ko-KR" altLang="en-US" dirty="0"/>
              <a:t>버전에서 </a:t>
            </a:r>
            <a:r>
              <a:rPr lang="ko-KR" altLang="en-US" dirty="0" err="1"/>
              <a:t>업체등록</a:t>
            </a:r>
            <a:r>
              <a:rPr lang="ko-KR" altLang="en-US" dirty="0"/>
              <a:t> 및 사용자 등록을 진행한 이후 모바일 앱 서비스 사용이 가능합니다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사전준비사항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사전준비사항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조달사전준비안내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사전준비사항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MUI-CM-05-M07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70846"/>
          <a:stretch/>
        </p:blipFill>
        <p:spPr>
          <a:xfrm>
            <a:off x="675399" y="1493928"/>
            <a:ext cx="2712027" cy="471528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b="39010"/>
          <a:stretch/>
        </p:blipFill>
        <p:spPr>
          <a:xfrm>
            <a:off x="3795734" y="1493927"/>
            <a:ext cx="1291541" cy="4697867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t="61443"/>
          <a:stretch/>
        </p:blipFill>
        <p:spPr>
          <a:xfrm>
            <a:off x="5216220" y="1493927"/>
            <a:ext cx="1291541" cy="29699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421696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804237253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청렴계약제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청렴계약제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조달사전준비안내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청렴계약제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MUI-CM-05-M08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47332"/>
          <a:stretch/>
        </p:blipFill>
        <p:spPr>
          <a:xfrm>
            <a:off x="675399" y="1493928"/>
            <a:ext cx="2712027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839" y="1493927"/>
            <a:ext cx="1435816" cy="4766110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3535250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국방조달참여절차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</a:t>
            </a:r>
            <a:r>
              <a:rPr lang="ko-KR" altLang="en-US" dirty="0" err="1">
                <a:latin typeface="+mn-ea"/>
              </a:rPr>
              <a:t>참여절차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국방조달참여절차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2"/>
          <a:srcRect b="80601"/>
          <a:stretch/>
        </p:blipFill>
        <p:spPr>
          <a:xfrm>
            <a:off x="3795734" y="1493927"/>
            <a:ext cx="1281087" cy="472399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b="24753"/>
          <a:stretch/>
        </p:blipFill>
        <p:spPr>
          <a:xfrm>
            <a:off x="675399" y="1493927"/>
            <a:ext cx="2712027" cy="4732702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2"/>
          <a:srcRect t="19435" b="60235"/>
          <a:stretch/>
        </p:blipFill>
        <p:spPr>
          <a:xfrm>
            <a:off x="5226674" y="1493928"/>
            <a:ext cx="1281087" cy="495041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51310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국내 </a:t>
            </a:r>
            <a:r>
              <a:rPr lang="en-US" altLang="ko-KR" dirty="0"/>
              <a:t>- </a:t>
            </a:r>
            <a:r>
              <a:rPr lang="ko-KR" altLang="en-US" dirty="0"/>
              <a:t>전자입찰절차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전자입찰절차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전자입찰절차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4916"/>
          <a:stretch/>
        </p:blipFill>
        <p:spPr>
          <a:xfrm>
            <a:off x="675399" y="1493929"/>
            <a:ext cx="2712027" cy="470657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64448"/>
          <a:stretch/>
        </p:blipFill>
        <p:spPr>
          <a:xfrm>
            <a:off x="3795734" y="1493928"/>
            <a:ext cx="1157008" cy="473270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t="35486" b="27326"/>
          <a:stretch/>
        </p:blipFill>
        <p:spPr>
          <a:xfrm>
            <a:off x="5350753" y="1493928"/>
            <a:ext cx="1157008" cy="495041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22755313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전자대금청구절차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전자대금청구절차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전자대금청구절차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MUI-CM-05-M11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66427"/>
          <a:stretch/>
        </p:blipFill>
        <p:spPr>
          <a:xfrm>
            <a:off x="675399" y="1493928"/>
            <a:ext cx="2717346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26769"/>
          <a:stretch/>
        </p:blipFill>
        <p:spPr>
          <a:xfrm>
            <a:off x="3790415" y="1493927"/>
            <a:ext cx="1241197" cy="472399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t="73096"/>
          <a:stretch/>
        </p:blipFill>
        <p:spPr>
          <a:xfrm>
            <a:off x="5266564" y="1493927"/>
            <a:ext cx="1241197" cy="173549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49627206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국외조달원</a:t>
            </a:r>
            <a:r>
              <a:rPr lang="ko-KR" altLang="en-US" dirty="0"/>
              <a:t> 등록절차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국외조달원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 등록절차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국외조달원</a:t>
            </a:r>
            <a:r>
              <a:rPr lang="ko-KR" altLang="en-US" dirty="0"/>
              <a:t> 등록절차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59751"/>
          <a:stretch/>
        </p:blipFill>
        <p:spPr>
          <a:xfrm>
            <a:off x="675399" y="1493927"/>
            <a:ext cx="2712027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b="15799"/>
          <a:stretch/>
        </p:blipFill>
        <p:spPr>
          <a:xfrm>
            <a:off x="3795734" y="1493926"/>
            <a:ext cx="1301150" cy="4741411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84046"/>
          <a:stretch/>
        </p:blipFill>
        <p:spPr>
          <a:xfrm>
            <a:off x="5212677" y="1493926"/>
            <a:ext cx="1301150" cy="89838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328916524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국외조달원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 err="1"/>
              <a:t>변경안내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국외조달원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변경안내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국외조달원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 err="1"/>
              <a:t>변경안내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6369"/>
          <a:stretch/>
        </p:blipFill>
        <p:spPr>
          <a:xfrm>
            <a:off x="675399" y="1493928"/>
            <a:ext cx="2712027" cy="4732702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b="71977"/>
          <a:stretch/>
        </p:blipFill>
        <p:spPr>
          <a:xfrm>
            <a:off x="3795735" y="1493927"/>
            <a:ext cx="1311846" cy="4706576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28127" b="42347"/>
          <a:stretch/>
        </p:blipFill>
        <p:spPr>
          <a:xfrm>
            <a:off x="5195915" y="1493928"/>
            <a:ext cx="1311846" cy="4959124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877668449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국외 </a:t>
            </a:r>
            <a:r>
              <a:rPr lang="en-US" altLang="ko-KR" dirty="0"/>
              <a:t>- </a:t>
            </a:r>
            <a:r>
              <a:rPr lang="ko-KR" altLang="en-US" dirty="0"/>
              <a:t>전자입찰절차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국외조달</a:t>
            </a:r>
            <a:r>
              <a:rPr lang="ko-KR" altLang="en-US" dirty="0">
                <a:latin typeface="+mn-ea"/>
              </a:rPr>
              <a:t> 전자입찰절차 정보를 안내한다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전자입찰절차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17079"/>
          <a:stretch/>
        </p:blipFill>
        <p:spPr>
          <a:xfrm>
            <a:off x="675399" y="1493927"/>
            <a:ext cx="2712028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733" y="1493927"/>
            <a:ext cx="1161094" cy="472399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562" y="1496757"/>
            <a:ext cx="1216199" cy="4399165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935417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관련사이트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관련사이트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관련사이트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28789"/>
          <a:stretch/>
        </p:blipFill>
        <p:spPr>
          <a:xfrm>
            <a:off x="675399" y="1493927"/>
            <a:ext cx="2712027" cy="496783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b="75403"/>
          <a:stretch/>
        </p:blipFill>
        <p:spPr>
          <a:xfrm>
            <a:off x="3805204" y="1493928"/>
            <a:ext cx="1230093" cy="4732702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t="24552" b="49629"/>
          <a:stretch/>
        </p:blipFill>
        <p:spPr>
          <a:xfrm>
            <a:off x="5277668" y="1493929"/>
            <a:ext cx="1230093" cy="4967832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82394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앱 이용에 대한 안내 인덱스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전체 표시 안내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메인홈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마이페이지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메뉴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조달계획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입찰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각 화면 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 안내 표시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smtClean="0"/>
              <a:t>닫기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메인 페이지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이용안내 닫기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앱 </a:t>
            </a:r>
            <a:r>
              <a:rPr lang="ko-KR" altLang="en-US" dirty="0">
                <a:latin typeface="+mn-ea"/>
              </a:rPr>
              <a:t>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MUI-CM-05-M16</a:t>
            </a:r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2"/>
          <a:srcRect b="22502"/>
          <a:stretch/>
        </p:blipFill>
        <p:spPr>
          <a:xfrm>
            <a:off x="7648135" y="4368394"/>
            <a:ext cx="1166392" cy="2038851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3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788121" y="1582647"/>
              <a:ext cx="1252261" cy="2144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19069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5" name="그룹 24"/>
            <p:cNvGrpSpPr/>
            <p:nvPr/>
          </p:nvGrpSpPr>
          <p:grpSpPr>
            <a:xfrm>
              <a:off x="677960" y="5859779"/>
              <a:ext cx="2712027" cy="372519"/>
              <a:chOff x="3788901" y="5859779"/>
              <a:chExt cx="2712027" cy="372519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3788901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4466908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5144915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5819851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타원 29"/>
              <p:cNvSpPr/>
              <p:nvPr/>
            </p:nvSpPr>
            <p:spPr>
              <a:xfrm>
                <a:off x="4028078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872308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latin typeface="+mn-ea"/>
                  </a:rPr>
                  <a:t>홈</a:t>
                </a:r>
              </a:p>
            </p:txBody>
          </p:sp>
          <p:sp>
            <p:nvSpPr>
              <p:cNvPr id="32" name="타원 31"/>
              <p:cNvSpPr/>
              <p:nvPr/>
            </p:nvSpPr>
            <p:spPr>
              <a:xfrm>
                <a:off x="4716846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61076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 smtClean="0">
                    <a:latin typeface="+mn-ea"/>
                  </a:rPr>
                  <a:t>통합검색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34" name="타원 33"/>
              <p:cNvSpPr/>
              <p:nvPr/>
            </p:nvSpPr>
            <p:spPr>
              <a:xfrm>
                <a:off x="5386873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231103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 err="1" smtClean="0">
                    <a:latin typeface="+mn-ea"/>
                  </a:rPr>
                  <a:t>챗봇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36" name="타원 35"/>
              <p:cNvSpPr/>
              <p:nvPr/>
            </p:nvSpPr>
            <p:spPr>
              <a:xfrm>
                <a:off x="6069480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913710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latin typeface="+mn-ea"/>
                  </a:rPr>
                  <a:t>마이</a:t>
                </a:r>
              </a:p>
            </p:txBody>
          </p:sp>
        </p:grpSp>
        <p:sp>
          <p:nvSpPr>
            <p:cNvPr id="38" name="타원 37"/>
            <p:cNvSpPr/>
            <p:nvPr/>
          </p:nvSpPr>
          <p:spPr>
            <a:xfrm>
              <a:off x="2446129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/>
            <p:cNvSpPr/>
            <p:nvPr/>
          </p:nvSpPr>
          <p:spPr>
            <a:xfrm>
              <a:off x="2759886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/>
            <p:cNvSpPr/>
            <p:nvPr/>
          </p:nvSpPr>
          <p:spPr>
            <a:xfrm>
              <a:off x="3073643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28317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410195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3" name="모서리가 둥근 직사각형 42"/>
            <p:cNvSpPr/>
            <p:nvPr/>
          </p:nvSpPr>
          <p:spPr>
            <a:xfrm>
              <a:off x="891228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899271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바로가기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45" name="모서리가 둥근 직사각형 44"/>
            <p:cNvSpPr/>
            <p:nvPr/>
          </p:nvSpPr>
          <p:spPr>
            <a:xfrm>
              <a:off x="1508351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모서리가 둥근 직사각형 45"/>
            <p:cNvSpPr/>
            <p:nvPr/>
          </p:nvSpPr>
          <p:spPr>
            <a:xfrm>
              <a:off x="2125474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모서리가 둥근 직사각형 46"/>
            <p:cNvSpPr/>
            <p:nvPr/>
          </p:nvSpPr>
          <p:spPr>
            <a:xfrm>
              <a:off x="2742597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모서리가 둥근 직사각형 47"/>
            <p:cNvSpPr/>
            <p:nvPr/>
          </p:nvSpPr>
          <p:spPr>
            <a:xfrm>
              <a:off x="891228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모서리가 둥근 직사각형 48"/>
            <p:cNvSpPr/>
            <p:nvPr/>
          </p:nvSpPr>
          <p:spPr>
            <a:xfrm>
              <a:off x="1508351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2125474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2742597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307902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사용 안내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537337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>
                  <a:latin typeface="+mn-ea"/>
                </a:rPr>
                <a:t>사전준비안내</a:t>
              </a:r>
              <a:endParaRPr lang="ko-KR" altLang="en-US" sz="800" dirty="0">
                <a:latin typeface="+mn-ea"/>
              </a:endParaRPr>
            </a:p>
          </p:txBody>
        </p:sp>
        <p:sp>
          <p:nvSpPr>
            <p:cNvPr id="54" name="모서리가 둥근 직사각형 53"/>
            <p:cNvSpPr/>
            <p:nvPr/>
          </p:nvSpPr>
          <p:spPr>
            <a:xfrm>
              <a:off x="891228" y="4736426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모서리가 둥근 직사각형 54"/>
            <p:cNvSpPr/>
            <p:nvPr/>
          </p:nvSpPr>
          <p:spPr>
            <a:xfrm>
              <a:off x="891227" y="4903435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5152551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국내조달안내</a:t>
              </a: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891228" y="5351640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891227" y="5518649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 rot="16200000">
              <a:off x="3143548" y="4560840"/>
              <a:ext cx="94010" cy="47005"/>
              <a:chOff x="6812560" y="3297172"/>
              <a:chExt cx="94010" cy="47005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그룹 61"/>
            <p:cNvGrpSpPr/>
            <p:nvPr/>
          </p:nvGrpSpPr>
          <p:grpSpPr>
            <a:xfrm rot="16200000">
              <a:off x="3143549" y="5181230"/>
              <a:ext cx="94010" cy="47005"/>
              <a:chOff x="6812560" y="3297172"/>
              <a:chExt cx="94010" cy="47005"/>
            </a:xfrm>
          </p:grpSpPr>
          <p:cxnSp>
            <p:nvCxnSpPr>
              <p:cNvPr id="63" name="직선 연결선 6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그룹 64"/>
            <p:cNvGrpSpPr/>
            <p:nvPr/>
          </p:nvGrpSpPr>
          <p:grpSpPr>
            <a:xfrm>
              <a:off x="767702" y="2113949"/>
              <a:ext cx="2527420" cy="477995"/>
              <a:chOff x="786326" y="2270279"/>
              <a:chExt cx="2527420" cy="477995"/>
            </a:xfrm>
          </p:grpSpPr>
          <p:sp>
            <p:nvSpPr>
              <p:cNvPr id="66" name="모서리가 둥근 직사각형 65"/>
              <p:cNvSpPr/>
              <p:nvPr/>
            </p:nvSpPr>
            <p:spPr>
              <a:xfrm>
                <a:off x="786326" y="2481707"/>
                <a:ext cx="2527420" cy="266567"/>
              </a:xfrm>
              <a:prstGeom prst="roundRect">
                <a:avLst>
                  <a:gd name="adj" fmla="val 50000"/>
                </a:avLst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타원 66"/>
              <p:cNvSpPr/>
              <p:nvPr/>
            </p:nvSpPr>
            <p:spPr>
              <a:xfrm>
                <a:off x="3071451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90013" y="2561129"/>
                <a:ext cx="1886364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검색할 내용을 입력하세요</a:t>
                </a:r>
                <a:r>
                  <a:rPr lang="en-US" altLang="ko-KR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.</a:t>
                </a:r>
                <a:endPara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69" name="그룹 68"/>
              <p:cNvGrpSpPr/>
              <p:nvPr/>
            </p:nvGrpSpPr>
            <p:grpSpPr>
              <a:xfrm>
                <a:off x="795624" y="2274581"/>
                <a:ext cx="1299303" cy="155984"/>
                <a:chOff x="808107" y="2288229"/>
                <a:chExt cx="1189739" cy="168318"/>
              </a:xfrm>
            </p:grpSpPr>
            <p:sp>
              <p:nvSpPr>
                <p:cNvPr id="76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808107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0070C0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solidFill>
                        <a:srgbClr val="0070C0"/>
                      </a:solidFill>
                      <a:latin typeface="맑은 고딕"/>
                      <a:ea typeface="맑은 고딕" panose="020B0503020000020004" pitchFamily="50" charset="-127"/>
                    </a:rPr>
                    <a:t>공고명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맑은 고딕"/>
                  </a:endParaRPr>
                </a:p>
              </p:txBody>
            </p:sp>
            <p:sp>
              <p:nvSpPr>
                <p:cNvPr id="77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1434352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latin typeface="맑은 고딕"/>
                      <a:ea typeface="맑은 고딕" panose="020B0503020000020004" pitchFamily="50" charset="-127"/>
                    </a:rPr>
                    <a:t>공고번호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endParaRPr>
                </a:p>
              </p:txBody>
            </p:sp>
          </p:grpSp>
          <p:sp>
            <p:nvSpPr>
              <p:cNvPr id="70" name="타원 69"/>
              <p:cNvSpPr/>
              <p:nvPr/>
            </p:nvSpPr>
            <p:spPr>
              <a:xfrm>
                <a:off x="814969" y="2290708"/>
                <a:ext cx="108000" cy="1080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dirty="0"/>
                  <a:t>V</a:t>
                </a:r>
                <a:endParaRPr lang="ko-KR" altLang="en-US" sz="600" dirty="0"/>
              </a:p>
            </p:txBody>
          </p:sp>
          <p:sp>
            <p:nvSpPr>
              <p:cNvPr id="71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2726021" y="2270279"/>
                <a:ext cx="582849" cy="154795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검색필터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72" name="타원 71"/>
              <p:cNvSpPr/>
              <p:nvPr/>
            </p:nvSpPr>
            <p:spPr>
              <a:xfrm>
                <a:off x="2857726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73" name="그룹 72"/>
              <p:cNvGrpSpPr/>
              <p:nvPr/>
            </p:nvGrpSpPr>
            <p:grpSpPr>
              <a:xfrm>
                <a:off x="2901631" y="2585953"/>
                <a:ext cx="58075" cy="58074"/>
                <a:chOff x="6812560" y="3297172"/>
                <a:chExt cx="94010" cy="94010"/>
              </a:xfrm>
            </p:grpSpPr>
            <p:cxnSp>
              <p:nvCxnSpPr>
                <p:cNvPr id="74" name="직선 연결선 73"/>
                <p:cNvCxnSpPr/>
                <p:nvPr/>
              </p:nvCxnSpPr>
              <p:spPr>
                <a:xfrm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직선 연결선 74"/>
                <p:cNvCxnSpPr/>
                <p:nvPr/>
              </p:nvCxnSpPr>
              <p:spPr>
                <a:xfrm rot="5400000"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/>
          <p:cNvSpPr txBox="1"/>
          <p:nvPr/>
        </p:nvSpPr>
        <p:spPr>
          <a:xfrm>
            <a:off x="897083" y="3116755"/>
            <a:ext cx="2273780" cy="1354217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>
                <a:solidFill>
                  <a:schemeClr val="bg1"/>
                </a:solidFill>
              </a:rPr>
              <a:t>앱 이용안내</a:t>
            </a:r>
            <a:endParaRPr lang="en-US" altLang="ko-KR" sz="900" b="1" dirty="0" smtClean="0">
              <a:solidFill>
                <a:schemeClr val="bg1"/>
              </a:solidFill>
            </a:endParaRPr>
          </a:p>
          <a:p>
            <a:endParaRPr lang="en-US" altLang="ko-KR" sz="900" dirty="0" smtClean="0">
              <a:solidFill>
                <a:schemeClr val="bg1"/>
              </a:solidFill>
            </a:endParaRPr>
          </a:p>
          <a:p>
            <a:r>
              <a:rPr lang="ko-KR" altLang="en-US" sz="900" dirty="0" smtClean="0">
                <a:solidFill>
                  <a:schemeClr val="bg1"/>
                </a:solidFill>
              </a:rPr>
              <a:t>안내를 원하시는 항목을 선택해주세요</a:t>
            </a:r>
            <a:r>
              <a:rPr lang="en-US" altLang="ko-KR" sz="900" dirty="0" smtClean="0">
                <a:solidFill>
                  <a:schemeClr val="bg1"/>
                </a:solidFill>
              </a:rPr>
              <a:t>.</a:t>
            </a:r>
          </a:p>
          <a:p>
            <a:endParaRPr lang="en-US" altLang="ko-KR" sz="900" dirty="0" smtClean="0">
              <a:solidFill>
                <a:schemeClr val="bg1"/>
              </a:solidFill>
            </a:endParaRPr>
          </a:p>
          <a:p>
            <a:r>
              <a:rPr lang="en-US" altLang="ko-KR" sz="900" dirty="0" smtClean="0">
                <a:solidFill>
                  <a:schemeClr val="bg1"/>
                </a:solidFill>
              </a:rPr>
              <a:t>- </a:t>
            </a:r>
            <a:r>
              <a:rPr lang="ko-KR" altLang="en-US" sz="900" dirty="0" err="1" smtClean="0">
                <a:solidFill>
                  <a:schemeClr val="bg1"/>
                </a:solidFill>
              </a:rPr>
              <a:t>메인홈</a:t>
            </a:r>
            <a:r>
              <a:rPr lang="en-US" altLang="ko-KR" sz="900" dirty="0" smtClean="0">
                <a:solidFill>
                  <a:schemeClr val="bg1"/>
                </a:solidFill>
              </a:rPr>
              <a:t>		&gt;</a:t>
            </a:r>
            <a:r>
              <a:rPr lang="ko-KR" altLang="en-US" sz="900" dirty="0">
                <a:solidFill>
                  <a:schemeClr val="bg1"/>
                </a:solidFill>
              </a:rPr>
              <a:t/>
            </a:r>
            <a:br>
              <a:rPr lang="ko-KR" altLang="en-US" sz="900" dirty="0">
                <a:solidFill>
                  <a:schemeClr val="bg1"/>
                </a:solidFill>
              </a:rPr>
            </a:br>
            <a:r>
              <a:rPr lang="en-US" altLang="ko-KR" sz="900" dirty="0" smtClean="0">
                <a:solidFill>
                  <a:schemeClr val="bg1"/>
                </a:solidFill>
              </a:rPr>
              <a:t>- </a:t>
            </a:r>
            <a:r>
              <a:rPr lang="ko-KR" altLang="en-US" sz="900" dirty="0" err="1" smtClean="0">
                <a:solidFill>
                  <a:schemeClr val="bg1"/>
                </a:solidFill>
              </a:rPr>
              <a:t>마이페이지</a:t>
            </a:r>
            <a:r>
              <a:rPr lang="en-US" altLang="ko-KR" sz="900" dirty="0" smtClean="0">
                <a:solidFill>
                  <a:schemeClr val="bg1"/>
                </a:solidFill>
              </a:rPr>
              <a:t>		&gt;</a:t>
            </a:r>
            <a:r>
              <a:rPr lang="ko-KR" altLang="en-US" sz="900" dirty="0">
                <a:solidFill>
                  <a:schemeClr val="bg1"/>
                </a:solidFill>
              </a:rPr>
              <a:t/>
            </a:r>
            <a:br>
              <a:rPr lang="ko-KR" altLang="en-US" sz="900" dirty="0">
                <a:solidFill>
                  <a:schemeClr val="bg1"/>
                </a:solidFill>
              </a:rPr>
            </a:br>
            <a:r>
              <a:rPr lang="en-US" altLang="ko-KR" sz="900" dirty="0" smtClean="0">
                <a:solidFill>
                  <a:schemeClr val="bg1"/>
                </a:solidFill>
              </a:rPr>
              <a:t>- </a:t>
            </a:r>
            <a:r>
              <a:rPr lang="ko-KR" altLang="en-US" sz="900" dirty="0" smtClean="0">
                <a:solidFill>
                  <a:schemeClr val="bg1"/>
                </a:solidFill>
              </a:rPr>
              <a:t>메뉴</a:t>
            </a:r>
            <a:r>
              <a:rPr lang="en-US" altLang="ko-KR" sz="900" dirty="0" smtClean="0">
                <a:solidFill>
                  <a:schemeClr val="bg1"/>
                </a:solidFill>
              </a:rPr>
              <a:t>		&gt;</a:t>
            </a:r>
            <a:r>
              <a:rPr lang="ko-KR" altLang="en-US" sz="900" dirty="0">
                <a:solidFill>
                  <a:schemeClr val="bg1"/>
                </a:solidFill>
              </a:rPr>
              <a:t/>
            </a:r>
            <a:br>
              <a:rPr lang="ko-KR" altLang="en-US" sz="900" dirty="0">
                <a:solidFill>
                  <a:schemeClr val="bg1"/>
                </a:solidFill>
              </a:rPr>
            </a:br>
            <a:r>
              <a:rPr lang="en-US" altLang="ko-KR" sz="900" dirty="0" smtClean="0">
                <a:solidFill>
                  <a:schemeClr val="bg1"/>
                </a:solidFill>
              </a:rPr>
              <a:t>- </a:t>
            </a:r>
            <a:r>
              <a:rPr lang="ko-KR" altLang="en-US" sz="900" dirty="0" smtClean="0">
                <a:solidFill>
                  <a:schemeClr val="bg1"/>
                </a:solidFill>
              </a:rPr>
              <a:t>조달계획</a:t>
            </a:r>
            <a:r>
              <a:rPr lang="en-US" altLang="ko-KR" sz="900" dirty="0" smtClean="0">
                <a:solidFill>
                  <a:schemeClr val="bg1"/>
                </a:solidFill>
              </a:rPr>
              <a:t>		&gt;</a:t>
            </a:r>
            <a:r>
              <a:rPr lang="ko-KR" altLang="en-US" sz="900" dirty="0">
                <a:solidFill>
                  <a:schemeClr val="bg1"/>
                </a:solidFill>
              </a:rPr>
              <a:t/>
            </a:r>
            <a:br>
              <a:rPr lang="ko-KR" altLang="en-US" sz="900" dirty="0">
                <a:solidFill>
                  <a:schemeClr val="bg1"/>
                </a:solidFill>
              </a:rPr>
            </a:br>
            <a:r>
              <a:rPr lang="en-US" altLang="ko-KR" sz="900" dirty="0" smtClean="0">
                <a:solidFill>
                  <a:schemeClr val="bg1"/>
                </a:solidFill>
              </a:rPr>
              <a:t>- </a:t>
            </a:r>
            <a:r>
              <a:rPr lang="ko-KR" altLang="en-US" sz="900" dirty="0" smtClean="0">
                <a:solidFill>
                  <a:schemeClr val="bg1"/>
                </a:solidFill>
              </a:rPr>
              <a:t>입찰</a:t>
            </a:r>
            <a:r>
              <a:rPr lang="en-US" altLang="ko-KR" sz="900" dirty="0" smtClean="0">
                <a:solidFill>
                  <a:schemeClr val="bg1"/>
                </a:solidFill>
              </a:rPr>
              <a:t>		&gt;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86" name="그룹 8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7" name="직사각형 8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2026-07-24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앱 이용안내 화면 추가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코치마크</a:t>
              </a:r>
              <a:r>
                <a:rPr lang="ko-KR" altLang="en-US" sz="700" dirty="0" smtClean="0"/>
                <a:t> 방식</a:t>
              </a:r>
              <a:endParaRPr lang="ko-KR" altLang="en-US" sz="700" dirty="0"/>
            </a:p>
          </p:txBody>
        </p:sp>
      </p:grpSp>
      <p:sp>
        <p:nvSpPr>
          <p:cNvPr id="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5771878"/>
            <a:ext cx="2305144" cy="317083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1000" kern="0" dirty="0">
                <a:solidFill>
                  <a:srgbClr val="0070C0"/>
                </a:solidFill>
              </a:rPr>
              <a:t>앱 이용안내 닫기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58597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158934827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앱 이용에 대한 안내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전체 표시 안내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메인홈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마이페이지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메뉴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조달계획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입찰</a:t>
            </a:r>
            <a:endParaRPr lang="en-US" altLang="ko-KR" dirty="0" smtClean="0"/>
          </a:p>
          <a:p>
            <a:pPr marL="228600" indent="-228600">
              <a:buAutoNum type="arabicPeriod"/>
            </a:pPr>
            <a:r>
              <a:rPr lang="ko-KR" altLang="en-US" dirty="0" smtClean="0"/>
              <a:t>설명 앞 숫자는 순차 노출하는 경우 진행 순서를 의미함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설명 앞 숫자는 제거하고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아래 참고 이미지와 같이 한 화면에 모두 표시하여도 무방함</a:t>
            </a:r>
            <a:r>
              <a:rPr lang="en-US" altLang="ko-KR" dirty="0" smtClean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 smtClean="0"/>
              <a:t>레이어 </a:t>
            </a:r>
            <a:r>
              <a:rPr lang="ko-KR" altLang="en-US" dirty="0" err="1" smtClean="0"/>
              <a:t>최상단에</a:t>
            </a:r>
            <a:r>
              <a:rPr lang="ko-KR" altLang="en-US" dirty="0" smtClean="0"/>
              <a:t> 표시되는 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앱 이용안내 닫기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메인 홈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이전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안내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첫 화면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마지막 화면에서는 각각 이전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버튼 </a:t>
            </a:r>
            <a:r>
              <a:rPr lang="en-US" altLang="ko-KR" dirty="0" smtClean="0"/>
              <a:t>disable </a:t>
            </a:r>
            <a:r>
              <a:rPr lang="ko-KR" altLang="en-US" dirty="0" smtClean="0"/>
              <a:t>처리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앱 </a:t>
            </a:r>
            <a:r>
              <a:rPr lang="ko-KR" altLang="en-US" dirty="0">
                <a:latin typeface="+mn-ea"/>
              </a:rPr>
              <a:t>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MUI-CM-05-M16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2"/>
          <a:srcRect b="22502"/>
          <a:stretch/>
        </p:blipFill>
        <p:spPr>
          <a:xfrm>
            <a:off x="7648135" y="4368394"/>
            <a:ext cx="1166392" cy="2038851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3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788121" y="1582647"/>
              <a:ext cx="1252261" cy="2144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19069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5" name="그룹 24"/>
            <p:cNvGrpSpPr/>
            <p:nvPr/>
          </p:nvGrpSpPr>
          <p:grpSpPr>
            <a:xfrm>
              <a:off x="677960" y="5859779"/>
              <a:ext cx="2712027" cy="372519"/>
              <a:chOff x="3788901" y="5859779"/>
              <a:chExt cx="2712027" cy="372519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3788901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4466908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5144915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F56F1743-11A0-EA94-9184-4E42C0A37F9C}"/>
                  </a:ext>
                </a:extLst>
              </p:cNvPr>
              <p:cNvSpPr/>
              <p:nvPr/>
            </p:nvSpPr>
            <p:spPr>
              <a:xfrm>
                <a:off x="5819851" y="5859779"/>
                <a:ext cx="681077" cy="37251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타원 29"/>
              <p:cNvSpPr/>
              <p:nvPr/>
            </p:nvSpPr>
            <p:spPr>
              <a:xfrm>
                <a:off x="4028078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872308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latin typeface="+mn-ea"/>
                  </a:rPr>
                  <a:t>홈</a:t>
                </a:r>
              </a:p>
            </p:txBody>
          </p:sp>
          <p:sp>
            <p:nvSpPr>
              <p:cNvPr id="32" name="타원 31"/>
              <p:cNvSpPr/>
              <p:nvPr/>
            </p:nvSpPr>
            <p:spPr>
              <a:xfrm>
                <a:off x="4716846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61076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 smtClean="0">
                    <a:latin typeface="+mn-ea"/>
                  </a:rPr>
                  <a:t>통합검색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34" name="타원 33"/>
              <p:cNvSpPr/>
              <p:nvPr/>
            </p:nvSpPr>
            <p:spPr>
              <a:xfrm>
                <a:off x="5386873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231103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 err="1" smtClean="0">
                    <a:latin typeface="+mn-ea"/>
                  </a:rPr>
                  <a:t>챗봇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36" name="타원 35"/>
              <p:cNvSpPr/>
              <p:nvPr/>
            </p:nvSpPr>
            <p:spPr>
              <a:xfrm>
                <a:off x="6069480" y="590100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913710" y="6119441"/>
                <a:ext cx="499500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latin typeface="+mn-ea"/>
                  </a:rPr>
                  <a:t>마이</a:t>
                </a:r>
              </a:p>
            </p:txBody>
          </p:sp>
        </p:grpSp>
        <p:sp>
          <p:nvSpPr>
            <p:cNvPr id="38" name="타원 37"/>
            <p:cNvSpPr/>
            <p:nvPr/>
          </p:nvSpPr>
          <p:spPr>
            <a:xfrm>
              <a:off x="2446129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/>
            <p:cNvSpPr/>
            <p:nvPr/>
          </p:nvSpPr>
          <p:spPr>
            <a:xfrm>
              <a:off x="2759886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/>
            <p:cNvSpPr/>
            <p:nvPr/>
          </p:nvSpPr>
          <p:spPr>
            <a:xfrm>
              <a:off x="3073643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28317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410195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3" name="모서리가 둥근 직사각형 42"/>
            <p:cNvSpPr/>
            <p:nvPr/>
          </p:nvSpPr>
          <p:spPr>
            <a:xfrm>
              <a:off x="891228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899271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바로가기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45" name="모서리가 둥근 직사각형 44"/>
            <p:cNvSpPr/>
            <p:nvPr/>
          </p:nvSpPr>
          <p:spPr>
            <a:xfrm>
              <a:off x="1508351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모서리가 둥근 직사각형 45"/>
            <p:cNvSpPr/>
            <p:nvPr/>
          </p:nvSpPr>
          <p:spPr>
            <a:xfrm>
              <a:off x="2125474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모서리가 둥근 직사각형 46"/>
            <p:cNvSpPr/>
            <p:nvPr/>
          </p:nvSpPr>
          <p:spPr>
            <a:xfrm>
              <a:off x="2742597" y="3057723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모서리가 둥근 직사각형 47"/>
            <p:cNvSpPr/>
            <p:nvPr/>
          </p:nvSpPr>
          <p:spPr>
            <a:xfrm>
              <a:off x="891228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모서리가 둥근 직사각형 48"/>
            <p:cNvSpPr/>
            <p:nvPr/>
          </p:nvSpPr>
          <p:spPr>
            <a:xfrm>
              <a:off x="1508351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2125474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2742597" y="3562354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307902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사용 안내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537337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>
                  <a:latin typeface="+mn-ea"/>
                </a:rPr>
                <a:t>사전준비안내</a:t>
              </a:r>
              <a:endParaRPr lang="ko-KR" altLang="en-US" sz="800" dirty="0">
                <a:latin typeface="+mn-ea"/>
              </a:endParaRPr>
            </a:p>
          </p:txBody>
        </p:sp>
        <p:sp>
          <p:nvSpPr>
            <p:cNvPr id="54" name="모서리가 둥근 직사각형 53"/>
            <p:cNvSpPr/>
            <p:nvPr/>
          </p:nvSpPr>
          <p:spPr>
            <a:xfrm>
              <a:off x="891228" y="4736426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모서리가 둥근 직사각형 54"/>
            <p:cNvSpPr/>
            <p:nvPr/>
          </p:nvSpPr>
          <p:spPr>
            <a:xfrm>
              <a:off x="891227" y="4903435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5152551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국내조달안내</a:t>
              </a: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891228" y="5351640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891227" y="5518649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 rot="16200000">
              <a:off x="3143548" y="4560840"/>
              <a:ext cx="94010" cy="47005"/>
              <a:chOff x="6812560" y="3297172"/>
              <a:chExt cx="94010" cy="47005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그룹 61"/>
            <p:cNvGrpSpPr/>
            <p:nvPr/>
          </p:nvGrpSpPr>
          <p:grpSpPr>
            <a:xfrm rot="16200000">
              <a:off x="3143549" y="5181230"/>
              <a:ext cx="94010" cy="47005"/>
              <a:chOff x="6812560" y="3297172"/>
              <a:chExt cx="94010" cy="47005"/>
            </a:xfrm>
          </p:grpSpPr>
          <p:cxnSp>
            <p:nvCxnSpPr>
              <p:cNvPr id="63" name="직선 연결선 6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그룹 64"/>
            <p:cNvGrpSpPr/>
            <p:nvPr/>
          </p:nvGrpSpPr>
          <p:grpSpPr>
            <a:xfrm>
              <a:off x="767702" y="2113949"/>
              <a:ext cx="2527420" cy="477995"/>
              <a:chOff x="786326" y="2270279"/>
              <a:chExt cx="2527420" cy="477995"/>
            </a:xfrm>
          </p:grpSpPr>
          <p:sp>
            <p:nvSpPr>
              <p:cNvPr id="66" name="모서리가 둥근 직사각형 65"/>
              <p:cNvSpPr/>
              <p:nvPr/>
            </p:nvSpPr>
            <p:spPr>
              <a:xfrm>
                <a:off x="786326" y="2481707"/>
                <a:ext cx="2527420" cy="266567"/>
              </a:xfrm>
              <a:prstGeom prst="roundRect">
                <a:avLst>
                  <a:gd name="adj" fmla="val 50000"/>
                </a:avLst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타원 66"/>
              <p:cNvSpPr/>
              <p:nvPr/>
            </p:nvSpPr>
            <p:spPr>
              <a:xfrm>
                <a:off x="3071451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90013" y="2561129"/>
                <a:ext cx="1886364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검색할 내용을 입력하세요</a:t>
                </a:r>
                <a:r>
                  <a:rPr lang="en-US" altLang="ko-KR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.</a:t>
                </a:r>
                <a:endPara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69" name="그룹 68"/>
              <p:cNvGrpSpPr/>
              <p:nvPr/>
            </p:nvGrpSpPr>
            <p:grpSpPr>
              <a:xfrm>
                <a:off x="795624" y="2274581"/>
                <a:ext cx="1299303" cy="155984"/>
                <a:chOff x="808107" y="2288229"/>
                <a:chExt cx="1189739" cy="168318"/>
              </a:xfrm>
            </p:grpSpPr>
            <p:sp>
              <p:nvSpPr>
                <p:cNvPr id="76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808107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0070C0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solidFill>
                        <a:srgbClr val="0070C0"/>
                      </a:solidFill>
                      <a:latin typeface="맑은 고딕"/>
                      <a:ea typeface="맑은 고딕" panose="020B0503020000020004" pitchFamily="50" charset="-127"/>
                    </a:rPr>
                    <a:t>공고명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맑은 고딕"/>
                  </a:endParaRPr>
                </a:p>
              </p:txBody>
            </p:sp>
            <p:sp>
              <p:nvSpPr>
                <p:cNvPr id="77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1434352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latin typeface="맑은 고딕"/>
                      <a:ea typeface="맑은 고딕" panose="020B0503020000020004" pitchFamily="50" charset="-127"/>
                    </a:rPr>
                    <a:t>공고번호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endParaRPr>
                </a:p>
              </p:txBody>
            </p:sp>
          </p:grpSp>
          <p:sp>
            <p:nvSpPr>
              <p:cNvPr id="70" name="타원 69"/>
              <p:cNvSpPr/>
              <p:nvPr/>
            </p:nvSpPr>
            <p:spPr>
              <a:xfrm>
                <a:off x="814969" y="2290708"/>
                <a:ext cx="108000" cy="1080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dirty="0"/>
                  <a:t>V</a:t>
                </a:r>
                <a:endParaRPr lang="ko-KR" altLang="en-US" sz="600" dirty="0"/>
              </a:p>
            </p:txBody>
          </p:sp>
          <p:sp>
            <p:nvSpPr>
              <p:cNvPr id="71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2726021" y="2270279"/>
                <a:ext cx="582849" cy="154795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검색필터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72" name="타원 71"/>
              <p:cNvSpPr/>
              <p:nvPr/>
            </p:nvSpPr>
            <p:spPr>
              <a:xfrm>
                <a:off x="2857726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73" name="그룹 72"/>
              <p:cNvGrpSpPr/>
              <p:nvPr/>
            </p:nvGrpSpPr>
            <p:grpSpPr>
              <a:xfrm>
                <a:off x="2901631" y="2585953"/>
                <a:ext cx="58075" cy="58074"/>
                <a:chOff x="6812560" y="3297172"/>
                <a:chExt cx="94010" cy="94010"/>
              </a:xfrm>
            </p:grpSpPr>
            <p:cxnSp>
              <p:nvCxnSpPr>
                <p:cNvPr id="74" name="직선 연결선 73"/>
                <p:cNvCxnSpPr/>
                <p:nvPr/>
              </p:nvCxnSpPr>
              <p:spPr>
                <a:xfrm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직선 연결선 74"/>
                <p:cNvCxnSpPr/>
                <p:nvPr/>
              </p:nvCxnSpPr>
              <p:spPr>
                <a:xfrm rot="5400000"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450135" y="2562611"/>
            <a:ext cx="1701107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2. </a:t>
            </a:r>
            <a:r>
              <a:rPr lang="ko-KR" altLang="en-US" sz="800" dirty="0" smtClean="0">
                <a:solidFill>
                  <a:schemeClr val="bg1"/>
                </a:solidFill>
              </a:rPr>
              <a:t>공고를 바로 검색할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" name="꺾인 연결선 8"/>
          <p:cNvCxnSpPr>
            <a:stCxn id="7" idx="1"/>
          </p:cNvCxnSpPr>
          <p:nvPr/>
        </p:nvCxnSpPr>
        <p:spPr>
          <a:xfrm rot="10800000">
            <a:off x="1260867" y="2478595"/>
            <a:ext cx="189268" cy="191738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299344" y="4029840"/>
            <a:ext cx="1604927" cy="33855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3. </a:t>
            </a:r>
            <a:r>
              <a:rPr lang="ko-KR" altLang="en-US" sz="800" dirty="0" smtClean="0">
                <a:solidFill>
                  <a:schemeClr val="bg1"/>
                </a:solidFill>
              </a:rPr>
              <a:t>메인화면에서 주요 서비스에</a:t>
            </a:r>
            <a:endParaRPr lang="en-US" altLang="ko-KR" sz="800" dirty="0" smtClean="0">
              <a:solidFill>
                <a:schemeClr val="bg1"/>
              </a:solidFill>
            </a:endParaRPr>
          </a:p>
          <a:p>
            <a:r>
              <a:rPr lang="ko-KR" altLang="en-US" sz="800" dirty="0" smtClean="0">
                <a:solidFill>
                  <a:schemeClr val="bg1"/>
                </a:solidFill>
              </a:rPr>
              <a:t>쉽게 이동할 수 있어요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3" name="꺾인 연결선 82"/>
          <p:cNvCxnSpPr>
            <a:stCxn id="82" idx="1"/>
          </p:cNvCxnSpPr>
          <p:nvPr/>
        </p:nvCxnSpPr>
        <p:spPr>
          <a:xfrm rot="10800000">
            <a:off x="1110076" y="3945827"/>
            <a:ext cx="189268" cy="253291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19595" y="1857231"/>
            <a:ext cx="2045753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1. </a:t>
            </a:r>
            <a:r>
              <a:rPr lang="ko-KR" altLang="en-US" sz="800" dirty="0" smtClean="0">
                <a:solidFill>
                  <a:schemeClr val="bg1"/>
                </a:solidFill>
              </a:rPr>
              <a:t>전체 메뉴와 알림을 확인할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5" name="꺾인 연결선 84"/>
          <p:cNvCxnSpPr>
            <a:stCxn id="84" idx="3"/>
          </p:cNvCxnSpPr>
          <p:nvPr/>
        </p:nvCxnSpPr>
        <p:spPr>
          <a:xfrm flipV="1">
            <a:off x="2965348" y="1810619"/>
            <a:ext cx="85157" cy="154334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299344" y="5553299"/>
            <a:ext cx="2023311" cy="33855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4.</a:t>
            </a:r>
            <a:r>
              <a:rPr lang="ko-KR" altLang="en-US" sz="800" dirty="0" smtClean="0">
                <a:solidFill>
                  <a:schemeClr val="bg1"/>
                </a:solidFill>
              </a:rPr>
              <a:t>홈 이동</a:t>
            </a:r>
            <a:r>
              <a:rPr lang="en-US" altLang="ko-KR" sz="800" dirty="0" smtClean="0">
                <a:solidFill>
                  <a:schemeClr val="bg1"/>
                </a:solidFill>
              </a:rPr>
              <a:t>, </a:t>
            </a:r>
            <a:r>
              <a:rPr lang="ko-KR" altLang="en-US" sz="800" dirty="0" smtClean="0">
                <a:solidFill>
                  <a:schemeClr val="bg1"/>
                </a:solidFill>
              </a:rPr>
              <a:t>통합검색</a:t>
            </a:r>
            <a:r>
              <a:rPr lang="en-US" altLang="ko-KR" sz="800" dirty="0" smtClean="0">
                <a:solidFill>
                  <a:schemeClr val="bg1"/>
                </a:solidFill>
              </a:rPr>
              <a:t>,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챗봇</a:t>
            </a:r>
            <a:r>
              <a:rPr lang="en-US" altLang="ko-KR" sz="800" dirty="0" smtClean="0">
                <a:solidFill>
                  <a:schemeClr val="bg1"/>
                </a:solidFill>
              </a:rPr>
              <a:t>,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마이페이지를</a:t>
            </a:r>
            <a:r>
              <a:rPr lang="ko-KR" altLang="en-US" sz="800" dirty="0" smtClean="0">
                <a:solidFill>
                  <a:schemeClr val="bg1"/>
                </a:solidFill>
              </a:rPr>
              <a:t> 쓰기 쉽게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꺼내두었어요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0" name="꺾인 연결선 89"/>
          <p:cNvCxnSpPr>
            <a:stCxn id="89" idx="1"/>
          </p:cNvCxnSpPr>
          <p:nvPr/>
        </p:nvCxnSpPr>
        <p:spPr>
          <a:xfrm rot="10800000" flipV="1">
            <a:off x="1160186" y="5722576"/>
            <a:ext cx="139158" cy="165060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4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5236515" y="5771878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다음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011371" y="5771878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이전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96" name="그룹 95"/>
          <p:cNvGrpSpPr/>
          <p:nvPr/>
        </p:nvGrpSpPr>
        <p:grpSpPr>
          <a:xfrm>
            <a:off x="6191609" y="1682789"/>
            <a:ext cx="94010" cy="94010"/>
            <a:chOff x="6812560" y="3297172"/>
            <a:chExt cx="94010" cy="94010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9" name="TextBox 98"/>
          <p:cNvSpPr txBox="1"/>
          <p:nvPr/>
        </p:nvSpPr>
        <p:spPr>
          <a:xfrm>
            <a:off x="5309993" y="1636062"/>
            <a:ext cx="8771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 smtClean="0"/>
              <a:t>앱 이용안내 닫기</a:t>
            </a:r>
            <a:endParaRPr lang="ko-KR" altLang="en-US" sz="700" b="1" dirty="0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19021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3883" y="16598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86" name="그룹 8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7" name="직사각형 8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2026-07-24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앱 이용안내 화면 추가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코치마크</a:t>
              </a:r>
              <a:r>
                <a:rPr lang="ko-KR" altLang="en-US" sz="700" dirty="0" smtClean="0"/>
                <a:t> 방식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991789045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680570" y="1515996"/>
            <a:ext cx="2712027" cy="4709440"/>
            <a:chOff x="680570" y="1515996"/>
            <a:chExt cx="2712027" cy="4709440"/>
          </a:xfrm>
        </p:grpSpPr>
        <p:pic>
          <p:nvPicPr>
            <p:cNvPr id="87" name="그림 86">
              <a:extLst>
                <a:ext uri="{FF2B5EF4-FFF2-40B4-BE49-F238E27FC236}">
                  <a16:creationId xmlns:a16="http://schemas.microsoft.com/office/drawing/2014/main" id="{6EA78311-C2E0-881B-8EBE-A8E77192A9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44" r="4806" b="32893"/>
            <a:stretch/>
          </p:blipFill>
          <p:spPr>
            <a:xfrm>
              <a:off x="856015" y="4368527"/>
              <a:ext cx="2362786" cy="1856909"/>
            </a:xfrm>
            <a:prstGeom prst="rect">
              <a:avLst/>
            </a:prstGeom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36072" y="1608356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 err="1">
                  <a:latin typeface="+mn-ea"/>
                </a:rPr>
                <a:t>마이페이지</a:t>
              </a:r>
              <a:endParaRPr lang="en-US" altLang="ko-KR" sz="800" dirty="0">
                <a:latin typeface="+mn-ea"/>
              </a:endParaRP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2" name="그룹 91"/>
            <p:cNvGrpSpPr/>
            <p:nvPr/>
          </p:nvGrpSpPr>
          <p:grpSpPr>
            <a:xfrm rot="5400000">
              <a:off x="755013" y="1640499"/>
              <a:ext cx="94010" cy="47005"/>
              <a:chOff x="6812560" y="3297172"/>
              <a:chExt cx="94010" cy="47005"/>
            </a:xfrm>
          </p:grpSpPr>
          <p:cxnSp>
            <p:nvCxnSpPr>
              <p:cNvPr id="93" name="직선 연결선 9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연결선 1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3" name="타원 102"/>
            <p:cNvSpPr/>
            <p:nvPr/>
          </p:nvSpPr>
          <p:spPr>
            <a:xfrm>
              <a:off x="3044537" y="158037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1131" y="2055971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800" b="1" dirty="0">
                  <a:latin typeface="+mn-ea"/>
                </a:rPr>
                <a:t>[A </a:t>
              </a:r>
              <a:r>
                <a:rPr lang="ko-KR" altLang="en-US" sz="800" b="1" dirty="0">
                  <a:latin typeface="+mn-ea"/>
                </a:rPr>
                <a:t>업체</a:t>
              </a:r>
              <a:r>
                <a:rPr lang="en-US" altLang="ko-KR" sz="800" b="1" dirty="0">
                  <a:latin typeface="+mn-ea"/>
                </a:rPr>
                <a:t>] </a:t>
              </a:r>
              <a:r>
                <a:rPr lang="ko-KR" altLang="en-US" sz="800" b="1" dirty="0">
                  <a:latin typeface="+mn-ea"/>
                </a:rPr>
                <a:t>홍길동 님</a:t>
              </a:r>
            </a:p>
          </p:txBody>
        </p:sp>
        <p:sp>
          <p:nvSpPr>
            <p:cNvPr id="105" name="타원 104"/>
            <p:cNvSpPr/>
            <p:nvPr/>
          </p:nvSpPr>
          <p:spPr>
            <a:xfrm>
              <a:off x="3044537" y="199596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02436" y="1977892"/>
              <a:ext cx="282450" cy="2308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ko-KR" altLang="en-US" sz="900" dirty="0"/>
                <a:t>⚙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2993286" y="1515996"/>
              <a:ext cx="290464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ko-KR" altLang="en-US" sz="1200" dirty="0"/>
                <a:t>≡</a:t>
              </a:r>
            </a:p>
          </p:txBody>
        </p:sp>
        <p:sp>
          <p:nvSpPr>
            <p:cNvPr id="108" name="모서리가 둥근 직사각형 107"/>
            <p:cNvSpPr/>
            <p:nvPr/>
          </p:nvSpPr>
          <p:spPr>
            <a:xfrm>
              <a:off x="903581" y="2423118"/>
              <a:ext cx="2255663" cy="1012125"/>
            </a:xfrm>
            <a:prstGeom prst="roundRect">
              <a:avLst>
                <a:gd name="adj" fmla="val 654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9" name="그룹 108"/>
            <p:cNvGrpSpPr/>
            <p:nvPr/>
          </p:nvGrpSpPr>
          <p:grpSpPr>
            <a:xfrm>
              <a:off x="903581" y="2344367"/>
              <a:ext cx="2255663" cy="306146"/>
              <a:chOff x="903581" y="2074658"/>
              <a:chExt cx="2255663" cy="306146"/>
            </a:xfrm>
          </p:grpSpPr>
          <p:sp>
            <p:nvSpPr>
              <p:cNvPr id="110" name="모서리가 둥근 직사각형 109"/>
              <p:cNvSpPr/>
              <p:nvPr/>
            </p:nvSpPr>
            <p:spPr>
              <a:xfrm>
                <a:off x="903581" y="2074658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76525" y="2173870"/>
                <a:ext cx="36801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700" dirty="0">
                    <a:latin typeface="+mn-ea"/>
                  </a:rPr>
                  <a:t>&gt;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5" y="2166176"/>
                <a:ext cx="1731957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b="1" dirty="0">
                    <a:latin typeface="+mn-ea"/>
                  </a:rPr>
                  <a:t>나의 진행 업무 현황</a:t>
                </a: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20900" y="2166176"/>
                <a:ext cx="79878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800" b="1" dirty="0">
                    <a:solidFill>
                      <a:srgbClr val="0070C0"/>
                    </a:solidFill>
                    <a:latin typeface="+mn-ea"/>
                  </a:rPr>
                  <a:t>00</a:t>
                </a:r>
                <a:r>
                  <a:rPr lang="en-US" altLang="ko-KR" sz="800" b="1" dirty="0">
                    <a:latin typeface="+mn-ea"/>
                  </a:rPr>
                  <a:t> </a:t>
                </a:r>
                <a:r>
                  <a:rPr lang="ko-KR" altLang="en-US" sz="800" b="1" dirty="0">
                    <a:latin typeface="+mn-ea"/>
                  </a:rPr>
                  <a:t>건</a:t>
                </a: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721050"/>
              <a:ext cx="1731957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dirty="0">
                  <a:latin typeface="+mn-ea"/>
                </a:rPr>
                <a:t>입찰참가신청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dirty="0">
                  <a:latin typeface="+mn-ea"/>
                </a:rPr>
                <a:t>적격심사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dirty="0">
                  <a:latin typeface="+mn-ea"/>
                </a:rPr>
                <a:t>기술평가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dirty="0" err="1">
                  <a:latin typeface="+mn-ea"/>
                </a:rPr>
                <a:t>사양서평가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70713" y="2721050"/>
              <a:ext cx="64896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71283" y="2721050"/>
              <a:ext cx="173253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&gt;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&gt;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&gt;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7" name="그룹 116"/>
            <p:cNvGrpSpPr/>
            <p:nvPr/>
          </p:nvGrpSpPr>
          <p:grpSpPr>
            <a:xfrm>
              <a:off x="903581" y="3511341"/>
              <a:ext cx="2255663" cy="306146"/>
              <a:chOff x="903581" y="2074658"/>
              <a:chExt cx="2255663" cy="306146"/>
            </a:xfrm>
          </p:grpSpPr>
          <p:sp>
            <p:nvSpPr>
              <p:cNvPr id="118" name="모서리가 둥근 직사각형 117"/>
              <p:cNvSpPr/>
              <p:nvPr/>
            </p:nvSpPr>
            <p:spPr>
              <a:xfrm>
                <a:off x="903581" y="2074658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76525" y="2173870"/>
                <a:ext cx="36801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700" dirty="0">
                    <a:latin typeface="+mn-ea"/>
                  </a:rPr>
                  <a:t>&gt;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5" y="2166176"/>
                <a:ext cx="1731957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b="1" dirty="0">
                    <a:latin typeface="+mn-ea"/>
                  </a:rPr>
                  <a:t>나의 업무 이력 현황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20900" y="2166176"/>
                <a:ext cx="79878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800" b="1" dirty="0">
                    <a:solidFill>
                      <a:srgbClr val="0070C0"/>
                    </a:solidFill>
                    <a:latin typeface="+mn-ea"/>
                  </a:rPr>
                  <a:t>00</a:t>
                </a:r>
                <a:r>
                  <a:rPr lang="en-US" altLang="ko-KR" sz="800" b="1" dirty="0">
                    <a:latin typeface="+mn-ea"/>
                  </a:rPr>
                  <a:t> </a:t>
                </a:r>
                <a:r>
                  <a:rPr lang="ko-KR" altLang="en-US" sz="800" b="1" dirty="0">
                    <a:latin typeface="+mn-ea"/>
                  </a:rPr>
                  <a:t>건</a:t>
                </a:r>
              </a:p>
            </p:txBody>
          </p:sp>
        </p:grpSp>
        <p:grpSp>
          <p:nvGrpSpPr>
            <p:cNvPr id="122" name="그룹 121"/>
            <p:cNvGrpSpPr/>
            <p:nvPr/>
          </p:nvGrpSpPr>
          <p:grpSpPr>
            <a:xfrm>
              <a:off x="903581" y="3893585"/>
              <a:ext cx="2255663" cy="306146"/>
              <a:chOff x="903581" y="2074658"/>
              <a:chExt cx="2255663" cy="306146"/>
            </a:xfrm>
          </p:grpSpPr>
          <p:sp>
            <p:nvSpPr>
              <p:cNvPr id="123" name="모서리가 둥근 직사각형 122"/>
              <p:cNvSpPr/>
              <p:nvPr/>
            </p:nvSpPr>
            <p:spPr>
              <a:xfrm>
                <a:off x="903581" y="2074658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76525" y="2173870"/>
                <a:ext cx="36801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700" dirty="0">
                    <a:latin typeface="+mn-ea"/>
                  </a:rPr>
                  <a:t>&gt;</a:t>
                </a:r>
                <a:endParaRPr lang="ko-KR" altLang="en-US" sz="700" dirty="0">
                  <a:latin typeface="+mn-ea"/>
                </a:endParaRP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5" y="2166176"/>
                <a:ext cx="1731957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b="1" dirty="0">
                    <a:latin typeface="+mn-ea"/>
                  </a:rPr>
                  <a:t>관심 입찰공고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20900" y="2166176"/>
                <a:ext cx="79878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800" b="1" dirty="0">
                    <a:solidFill>
                      <a:srgbClr val="0070C0"/>
                    </a:solidFill>
                    <a:latin typeface="+mn-ea"/>
                  </a:rPr>
                  <a:t>00</a:t>
                </a:r>
                <a:r>
                  <a:rPr lang="en-US" altLang="ko-KR" sz="800" b="1" dirty="0">
                    <a:latin typeface="+mn-ea"/>
                  </a:rPr>
                  <a:t> </a:t>
                </a:r>
                <a:r>
                  <a:rPr lang="ko-KR" altLang="en-US" sz="800" b="1" dirty="0">
                    <a:latin typeface="+mn-ea"/>
                  </a:rPr>
                  <a:t>건</a:t>
                </a:r>
              </a:p>
            </p:txBody>
          </p:sp>
        </p:grp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1131" y="42925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업무 캘린더</a:t>
              </a:r>
            </a:p>
          </p:txBody>
        </p:sp>
        <p:sp>
          <p:nvSpPr>
            <p:cNvPr id="128" name="모서리가 둥근 직사각형 127"/>
            <p:cNvSpPr/>
            <p:nvPr/>
          </p:nvSpPr>
          <p:spPr>
            <a:xfrm>
              <a:off x="2737360" y="4273131"/>
              <a:ext cx="419793" cy="16200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err="1">
                  <a:solidFill>
                    <a:schemeClr val="tx1"/>
                  </a:solidFill>
                </a:rPr>
                <a:t>더보기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>
                  <a:solidFill>
                    <a:schemeClr val="tx1"/>
                  </a:solidFill>
                </a:rPr>
                <a:t>&gt;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err="1" smtClean="0"/>
              <a:t>마이페이지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숫자는 제외하고 표시함</a:t>
            </a:r>
            <a:endParaRPr lang="en-US" altLang="ko-KR" dirty="0" smtClean="0"/>
          </a:p>
          <a:p>
            <a:pPr marL="228600" indent="-228600">
              <a:buAutoNum type="arabicPeriod"/>
            </a:pPr>
            <a:r>
              <a:rPr lang="ko-KR" altLang="en-US" dirty="0" smtClean="0"/>
              <a:t>메뉴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숫자는 제외하고 표시함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앱 </a:t>
            </a:r>
            <a:r>
              <a:rPr lang="ko-KR" altLang="en-US" dirty="0">
                <a:latin typeface="+mn-ea"/>
              </a:rPr>
              <a:t>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MUI-CM-05-M16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b="22502"/>
          <a:stretch/>
        </p:blipFill>
        <p:spPr>
          <a:xfrm>
            <a:off x="7648135" y="4368394"/>
            <a:ext cx="1166392" cy="2038851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6933" y="1500366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236520" y="3756149"/>
            <a:ext cx="2148345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2. </a:t>
            </a:r>
            <a:r>
              <a:rPr lang="ko-KR" altLang="en-US" sz="800" dirty="0" smtClean="0">
                <a:solidFill>
                  <a:schemeClr val="bg1"/>
                </a:solidFill>
              </a:rPr>
              <a:t>진행했던 업무 이력을 확인할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" name="꺾인 연결선 8"/>
          <p:cNvCxnSpPr>
            <a:stCxn id="7" idx="1"/>
          </p:cNvCxnSpPr>
          <p:nvPr/>
        </p:nvCxnSpPr>
        <p:spPr>
          <a:xfrm rot="10800000">
            <a:off x="1047252" y="3672133"/>
            <a:ext cx="189268" cy="191738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28441" y="4213241"/>
            <a:ext cx="2492990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3. </a:t>
            </a:r>
            <a:r>
              <a:rPr lang="ko-KR" altLang="en-US" sz="800" dirty="0" smtClean="0">
                <a:solidFill>
                  <a:schemeClr val="bg1"/>
                </a:solidFill>
              </a:rPr>
              <a:t>입찰공고에 별 표시한 공고를 모아볼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3" name="꺾인 연결선 82"/>
          <p:cNvCxnSpPr>
            <a:stCxn id="82" idx="1"/>
          </p:cNvCxnSpPr>
          <p:nvPr/>
        </p:nvCxnSpPr>
        <p:spPr>
          <a:xfrm rot="10800000">
            <a:off x="839173" y="4129228"/>
            <a:ext cx="189268" cy="253291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46807" y="2032539"/>
            <a:ext cx="2148345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1. </a:t>
            </a:r>
            <a:r>
              <a:rPr lang="ko-KR" altLang="en-US" sz="800" dirty="0" smtClean="0">
                <a:solidFill>
                  <a:schemeClr val="bg1"/>
                </a:solidFill>
              </a:rPr>
              <a:t>진행중인 업무 현황을 확인할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5" name="꺾인 연결선 84"/>
          <p:cNvCxnSpPr>
            <a:stCxn id="84" idx="3"/>
          </p:cNvCxnSpPr>
          <p:nvPr/>
        </p:nvCxnSpPr>
        <p:spPr>
          <a:xfrm>
            <a:off x="2895152" y="2140261"/>
            <a:ext cx="173276" cy="186473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217905" y="5821116"/>
            <a:ext cx="2023311" cy="33855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4. </a:t>
            </a:r>
            <a:r>
              <a:rPr lang="ko-KR" altLang="en-US" sz="800" dirty="0" smtClean="0">
                <a:solidFill>
                  <a:schemeClr val="bg1"/>
                </a:solidFill>
              </a:rPr>
              <a:t>업무 캘린더를 통해 공고 일정과 개인 일정을 더 쉽게 확인할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0" name="꺾인 연결선 89"/>
          <p:cNvCxnSpPr>
            <a:stCxn id="89" idx="1"/>
          </p:cNvCxnSpPr>
          <p:nvPr/>
        </p:nvCxnSpPr>
        <p:spPr>
          <a:xfrm rot="10800000">
            <a:off x="1049185" y="5807817"/>
            <a:ext cx="168720" cy="182577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5" name="그룹 14"/>
          <p:cNvGrpSpPr/>
          <p:nvPr/>
        </p:nvGrpSpPr>
        <p:grpSpPr>
          <a:xfrm>
            <a:off x="3785444" y="1582794"/>
            <a:ext cx="2712027" cy="4410956"/>
            <a:chOff x="677960" y="1582794"/>
            <a:chExt cx="2712027" cy="4410956"/>
          </a:xfrm>
        </p:grpSpPr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065266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로그인 하기 </a:t>
              </a:r>
              <a:r>
                <a:rPr lang="en-US" altLang="ko-KR" sz="900" b="1" dirty="0">
                  <a:latin typeface="+mn-ea"/>
                </a:rPr>
                <a:t>&gt;</a:t>
              </a:r>
              <a:endParaRPr lang="ko-KR" altLang="en-US" sz="900" b="1" dirty="0">
                <a:latin typeface="+mn-ea"/>
              </a:endParaRPr>
            </a:p>
          </p:txBody>
        </p: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19069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1" name="타원 130"/>
            <p:cNvSpPr/>
            <p:nvPr/>
          </p:nvSpPr>
          <p:spPr>
            <a:xfrm>
              <a:off x="873369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타원 131"/>
            <p:cNvSpPr/>
            <p:nvPr/>
          </p:nvSpPr>
          <p:spPr>
            <a:xfrm>
              <a:off x="2759886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타원 132"/>
            <p:cNvSpPr/>
            <p:nvPr/>
          </p:nvSpPr>
          <p:spPr>
            <a:xfrm>
              <a:off x="3073643" y="1582794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7960" y="321276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1832" y="3484334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6" name="모서리가 둥근 직사각형 135"/>
            <p:cNvSpPr/>
            <p:nvPr/>
          </p:nvSpPr>
          <p:spPr>
            <a:xfrm>
              <a:off x="891228" y="2364250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모서리가 둥근 직사각형 136"/>
            <p:cNvSpPr/>
            <p:nvPr/>
          </p:nvSpPr>
          <p:spPr>
            <a:xfrm>
              <a:off x="1508351" y="2364250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모서리가 둥근 직사각형 137"/>
            <p:cNvSpPr/>
            <p:nvPr/>
          </p:nvSpPr>
          <p:spPr>
            <a:xfrm>
              <a:off x="2125474" y="2364250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모서리가 둥근 직사각형 138"/>
            <p:cNvSpPr/>
            <p:nvPr/>
          </p:nvSpPr>
          <p:spPr>
            <a:xfrm>
              <a:off x="2742597" y="2364250"/>
              <a:ext cx="434121" cy="43412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331318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메뉴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3542624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조달계획</a:t>
              </a:r>
            </a:p>
          </p:txBody>
        </p:sp>
        <p:sp>
          <p:nvSpPr>
            <p:cNvPr id="142" name="모서리가 둥근 직사각형 141"/>
            <p:cNvSpPr/>
            <p:nvPr/>
          </p:nvSpPr>
          <p:spPr>
            <a:xfrm>
              <a:off x="891228" y="3741713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모서리가 둥근 직사각형 142"/>
            <p:cNvSpPr/>
            <p:nvPr/>
          </p:nvSpPr>
          <p:spPr>
            <a:xfrm>
              <a:off x="891227" y="3908722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157838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입찰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891228" y="4356927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891227" y="4523936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4828123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계약</a:t>
              </a:r>
            </a:p>
          </p:txBody>
        </p:sp>
        <p:sp>
          <p:nvSpPr>
            <p:cNvPr id="148" name="모서리가 둥근 직사각형 147"/>
            <p:cNvSpPr/>
            <p:nvPr/>
          </p:nvSpPr>
          <p:spPr>
            <a:xfrm>
              <a:off x="891228" y="5027212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모서리가 둥근 직사각형 148"/>
            <p:cNvSpPr/>
            <p:nvPr/>
          </p:nvSpPr>
          <p:spPr>
            <a:xfrm>
              <a:off x="891227" y="5194221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1832" y="4103404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1832" y="4740330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2" name="그룹 151"/>
            <p:cNvGrpSpPr/>
            <p:nvPr/>
          </p:nvGrpSpPr>
          <p:grpSpPr>
            <a:xfrm flipV="1">
              <a:off x="3124233" y="3580677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5" name="그룹 154"/>
            <p:cNvGrpSpPr/>
            <p:nvPr/>
          </p:nvGrpSpPr>
          <p:grpSpPr>
            <a:xfrm flipV="1">
              <a:off x="3124233" y="4195891"/>
              <a:ext cx="94010" cy="47005"/>
              <a:chOff x="6812560" y="3297172"/>
              <a:chExt cx="94010" cy="47005"/>
            </a:xfrm>
          </p:grpSpPr>
          <p:cxnSp>
            <p:nvCxnSpPr>
              <p:cNvPr id="156" name="직선 연결선 15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8" name="그룹 157"/>
            <p:cNvGrpSpPr/>
            <p:nvPr/>
          </p:nvGrpSpPr>
          <p:grpSpPr>
            <a:xfrm flipV="1">
              <a:off x="3124233" y="4866176"/>
              <a:ext cx="94010" cy="47005"/>
              <a:chOff x="6812560" y="3297172"/>
              <a:chExt cx="94010" cy="47005"/>
            </a:xfrm>
          </p:grpSpPr>
          <p:cxnSp>
            <p:nvCxnSpPr>
              <p:cNvPr id="159" name="직선 연결선 1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8892" y="5501652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대금</a:t>
              </a:r>
              <a:r>
                <a:rPr lang="en-US" altLang="ko-KR" sz="800" dirty="0">
                  <a:latin typeface="+mn-ea"/>
                </a:rPr>
                <a:t>/</a:t>
              </a:r>
              <a:r>
                <a:rPr lang="ko-KR" altLang="en-US" sz="800" dirty="0">
                  <a:latin typeface="+mn-ea"/>
                </a:rPr>
                <a:t>사후</a:t>
              </a:r>
            </a:p>
          </p:txBody>
        </p:sp>
        <p:sp>
          <p:nvSpPr>
            <p:cNvPr id="162" name="모서리가 둥근 직사각형 161"/>
            <p:cNvSpPr/>
            <p:nvPr/>
          </p:nvSpPr>
          <p:spPr>
            <a:xfrm>
              <a:off x="891228" y="5700741"/>
              <a:ext cx="1817682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모서리가 둥근 직사각형 162"/>
            <p:cNvSpPr/>
            <p:nvPr/>
          </p:nvSpPr>
          <p:spPr>
            <a:xfrm>
              <a:off x="891227" y="5867750"/>
              <a:ext cx="2062597" cy="12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1832" y="5413859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5" name="그룹 164"/>
            <p:cNvGrpSpPr/>
            <p:nvPr/>
          </p:nvGrpSpPr>
          <p:grpSpPr>
            <a:xfrm flipV="1">
              <a:off x="3124233" y="5539705"/>
              <a:ext cx="94010" cy="47005"/>
              <a:chOff x="6812560" y="3297172"/>
              <a:chExt cx="94010" cy="47005"/>
            </a:xfrm>
          </p:grpSpPr>
          <p:cxnSp>
            <p:nvCxnSpPr>
              <p:cNvPr id="166" name="직선 연결선 16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" name="직선 연결선 16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8" name="그룹 167"/>
            <p:cNvGrpSpPr/>
            <p:nvPr/>
          </p:nvGrpSpPr>
          <p:grpSpPr>
            <a:xfrm>
              <a:off x="906142" y="2861354"/>
              <a:ext cx="2255663" cy="306146"/>
              <a:chOff x="3982951" y="3679873"/>
              <a:chExt cx="2255663" cy="306146"/>
            </a:xfrm>
          </p:grpSpPr>
          <p:sp>
            <p:nvSpPr>
              <p:cNvPr id="169" name="모서리가 둥근 직사각형 168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b="1" dirty="0" err="1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메뉴명</a:t>
                </a:r>
                <a:r>
                  <a:rPr lang="ko-KR" altLang="en-US" sz="700" b="1" dirty="0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 검색</a:t>
                </a:r>
              </a:p>
            </p:txBody>
          </p:sp>
        </p:grpSp>
        <p:sp>
          <p:nvSpPr>
            <p:cNvPr id="171" name="타원 170"/>
            <p:cNvSpPr/>
            <p:nvPr/>
          </p:nvSpPr>
          <p:spPr>
            <a:xfrm>
              <a:off x="2932305" y="2941887"/>
              <a:ext cx="145081" cy="14508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804367" y="1500366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3874241" y="2032539"/>
            <a:ext cx="2214068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1. </a:t>
            </a:r>
            <a:r>
              <a:rPr lang="ko-KR" altLang="en-US" sz="800" dirty="0" smtClean="0">
                <a:solidFill>
                  <a:schemeClr val="bg1"/>
                </a:solidFill>
              </a:rPr>
              <a:t>사용자들이 자주 사용하는 메뉴가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74" name="꺾인 연결선 173"/>
          <p:cNvCxnSpPr>
            <a:stCxn id="173" idx="3"/>
          </p:cNvCxnSpPr>
          <p:nvPr/>
        </p:nvCxnSpPr>
        <p:spPr>
          <a:xfrm>
            <a:off x="6088309" y="2140261"/>
            <a:ext cx="107553" cy="186473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타원 1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130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78" name="TextBox 177"/>
          <p:cNvSpPr txBox="1"/>
          <p:nvPr/>
        </p:nvSpPr>
        <p:spPr>
          <a:xfrm>
            <a:off x="4400130" y="3198574"/>
            <a:ext cx="1906291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2.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메뉴명을</a:t>
            </a:r>
            <a:r>
              <a:rPr lang="ko-KR" altLang="en-US" sz="800" dirty="0" smtClean="0">
                <a:solidFill>
                  <a:schemeClr val="bg1"/>
                </a:solidFill>
              </a:rPr>
              <a:t> 검색해서 찾을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79" name="꺾인 연결선 178"/>
          <p:cNvCxnSpPr>
            <a:stCxn id="178" idx="1"/>
          </p:cNvCxnSpPr>
          <p:nvPr/>
        </p:nvCxnSpPr>
        <p:spPr>
          <a:xfrm rot="10800000">
            <a:off x="4210862" y="3114558"/>
            <a:ext cx="189268" cy="191738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243238" y="4378378"/>
            <a:ext cx="1943161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3. </a:t>
            </a:r>
            <a:r>
              <a:rPr lang="ko-KR" altLang="en-US" sz="800" dirty="0" smtClean="0">
                <a:solidFill>
                  <a:schemeClr val="bg1"/>
                </a:solidFill>
              </a:rPr>
              <a:t>각각의 메뉴는 열고 닫을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81" name="꺾인 연결선 180"/>
          <p:cNvCxnSpPr>
            <a:stCxn id="180" idx="1"/>
          </p:cNvCxnSpPr>
          <p:nvPr/>
        </p:nvCxnSpPr>
        <p:spPr>
          <a:xfrm rot="10800000">
            <a:off x="4053970" y="4294366"/>
            <a:ext cx="189268" cy="191734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77" name="직사각형 17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2026-07-24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앱 이용안내 화면 추가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코치마크</a:t>
              </a:r>
              <a:r>
                <a:rPr lang="ko-KR" altLang="en-US" sz="700" dirty="0" smtClean="0"/>
                <a:t> 방식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1350985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3801786" y="1582647"/>
            <a:ext cx="2717198" cy="4681146"/>
            <a:chOff x="675399" y="1582647"/>
            <a:chExt cx="2717198" cy="4681146"/>
          </a:xfrm>
        </p:grpSpPr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7344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4" name="그룹 233"/>
            <p:cNvGrpSpPr/>
            <p:nvPr/>
          </p:nvGrpSpPr>
          <p:grpSpPr>
            <a:xfrm>
              <a:off x="781461" y="3684828"/>
              <a:ext cx="2186266" cy="467617"/>
              <a:chOff x="781461" y="2610063"/>
              <a:chExt cx="2186266" cy="467617"/>
            </a:xfrm>
          </p:grpSpPr>
          <p:sp>
            <p:nvSpPr>
              <p:cNvPr id="235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808106" y="2831459"/>
                <a:ext cx="2159621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700" dirty="0">
                    <a:latin typeface="+mn-ea"/>
                  </a:rPr>
                  <a:t>G2B</a:t>
                </a:r>
                <a:r>
                  <a:rPr lang="ko-KR" altLang="en-US" sz="700" dirty="0" err="1" smtClean="0">
                    <a:latin typeface="+mn-ea"/>
                  </a:rPr>
                  <a:t>공고번호</a:t>
                </a:r>
                <a:r>
                  <a:rPr lang="ko-KR" altLang="en-US" sz="700" dirty="0" smtClean="0">
                    <a:latin typeface="+mn-ea"/>
                  </a:rPr>
                  <a:t> </a:t>
                </a:r>
                <a:r>
                  <a:rPr lang="en-US" altLang="ko-KR" sz="700" dirty="0" smtClean="0">
                    <a:latin typeface="+mn-ea"/>
                  </a:rPr>
                  <a:t>: </a:t>
                </a:r>
                <a:r>
                  <a:rPr lang="en-US" altLang="ko-KR" sz="700" dirty="0" smtClean="0"/>
                  <a:t>2026LGM000604191-01</a:t>
                </a:r>
                <a:endParaRPr lang="en-US" altLang="ko-KR" sz="700" dirty="0"/>
              </a:p>
              <a:p>
                <a:r>
                  <a:rPr lang="en-US" altLang="ko-KR" sz="900" b="1" dirty="0" smtClean="0"/>
                  <a:t>(</a:t>
                </a:r>
                <a:r>
                  <a:rPr lang="ko-KR" altLang="en-US" sz="900" b="1" dirty="0" smtClean="0"/>
                  <a:t>입찰 건명</a:t>
                </a:r>
                <a:r>
                  <a:rPr lang="en-US" altLang="ko-KR" sz="900" b="1" dirty="0" smtClean="0"/>
                  <a:t>) </a:t>
                </a:r>
                <a:r>
                  <a:rPr lang="ko-KR" altLang="en-US" sz="900" b="1" dirty="0" err="1" smtClean="0"/>
                  <a:t>입찰건명을</a:t>
                </a:r>
                <a:r>
                  <a:rPr lang="ko-KR" altLang="en-US" sz="900" b="1" dirty="0" smtClean="0"/>
                  <a:t> 노출하는 영역</a:t>
                </a:r>
                <a:endParaRPr lang="en-US" altLang="ko-KR" sz="900" b="1" dirty="0" smtClean="0"/>
              </a:p>
            </p:txBody>
          </p:sp>
          <p:sp>
            <p:nvSpPr>
              <p:cNvPr id="236" name="모서리가 둥근 직사각형 235"/>
              <p:cNvSpPr/>
              <p:nvPr/>
            </p:nvSpPr>
            <p:spPr>
              <a:xfrm>
                <a:off x="781461" y="2610063"/>
                <a:ext cx="243478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 smtClean="0">
                    <a:solidFill>
                      <a:schemeClr val="dk1"/>
                    </a:solidFill>
                  </a:rPr>
                  <a:t>용역</a:t>
                </a:r>
                <a:endParaRPr lang="ko-KR" altLang="en-US" sz="6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237" name="모서리가 둥근 직사각형 236"/>
              <p:cNvSpPr/>
              <p:nvPr/>
            </p:nvSpPr>
            <p:spPr>
              <a:xfrm>
                <a:off x="1075655" y="2610063"/>
                <a:ext cx="396419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 smtClean="0"/>
                  <a:t>경쟁입찰</a:t>
                </a:r>
                <a:endParaRPr lang="ko-KR" altLang="en-US" sz="600" dirty="0"/>
              </a:p>
            </p:txBody>
          </p:sp>
        </p:grp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58759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9" name="직선 연결선 2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636667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814" y="2329182"/>
              <a:ext cx="452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공지사항</a:t>
              </a:r>
            </a:p>
          </p:txBody>
        </p:sp>
        <p:sp>
          <p:nvSpPr>
            <p:cNvPr id="241" name="타원 240"/>
            <p:cNvSpPr/>
            <p:nvPr/>
          </p:nvSpPr>
          <p:spPr>
            <a:xfrm>
              <a:off x="783686" y="236052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2" name="그룹 241"/>
            <p:cNvGrpSpPr/>
            <p:nvPr/>
          </p:nvGrpSpPr>
          <p:grpSpPr>
            <a:xfrm>
              <a:off x="3143548" y="2442513"/>
              <a:ext cx="94010" cy="47005"/>
              <a:chOff x="6812560" y="3297172"/>
              <a:chExt cx="94010" cy="47005"/>
            </a:xfrm>
          </p:grpSpPr>
          <p:cxnSp>
            <p:nvCxnSpPr>
              <p:cNvPr id="243" name="직선 연결선 24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4" name="직선 연결선 24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그룹 244"/>
            <p:cNvGrpSpPr/>
            <p:nvPr/>
          </p:nvGrpSpPr>
          <p:grpSpPr>
            <a:xfrm>
              <a:off x="767702" y="2696788"/>
              <a:ext cx="2527420" cy="477995"/>
              <a:chOff x="786326" y="2270279"/>
              <a:chExt cx="2527420" cy="477995"/>
            </a:xfrm>
          </p:grpSpPr>
          <p:sp>
            <p:nvSpPr>
              <p:cNvPr id="246" name="모서리가 둥근 직사각형 245"/>
              <p:cNvSpPr/>
              <p:nvPr/>
            </p:nvSpPr>
            <p:spPr>
              <a:xfrm>
                <a:off x="786326" y="2481707"/>
                <a:ext cx="2527420" cy="266567"/>
              </a:xfrm>
              <a:prstGeom prst="roundRect">
                <a:avLst>
                  <a:gd name="adj" fmla="val 50000"/>
                </a:avLst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7" name="타원 246"/>
              <p:cNvSpPr/>
              <p:nvPr/>
            </p:nvSpPr>
            <p:spPr>
              <a:xfrm>
                <a:off x="3071451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90013" y="2561129"/>
                <a:ext cx="1886364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검색할 내용을 입력하세요</a:t>
                </a:r>
                <a:r>
                  <a:rPr lang="en-US" altLang="ko-KR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.</a:t>
                </a:r>
                <a:endPara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249" name="그룹 248"/>
              <p:cNvGrpSpPr/>
              <p:nvPr/>
            </p:nvGrpSpPr>
            <p:grpSpPr>
              <a:xfrm>
                <a:off x="795624" y="2274581"/>
                <a:ext cx="1299303" cy="155984"/>
                <a:chOff x="808107" y="2288229"/>
                <a:chExt cx="1189739" cy="168318"/>
              </a:xfrm>
            </p:grpSpPr>
            <p:sp>
              <p:nvSpPr>
                <p:cNvPr id="256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808107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0070C0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solidFill>
                        <a:srgbClr val="0070C0"/>
                      </a:solidFill>
                      <a:latin typeface="맑은 고딕"/>
                      <a:ea typeface="맑은 고딕" panose="020B0503020000020004" pitchFamily="50" charset="-127"/>
                    </a:rPr>
                    <a:t>공고명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맑은 고딕"/>
                  </a:endParaRPr>
                </a:p>
              </p:txBody>
            </p:sp>
            <p:sp>
              <p:nvSpPr>
                <p:cNvPr id="257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1434352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latin typeface="맑은 고딕"/>
                      <a:ea typeface="맑은 고딕" panose="020B0503020000020004" pitchFamily="50" charset="-127"/>
                    </a:rPr>
                    <a:t>공고번호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endParaRPr>
                </a:p>
              </p:txBody>
            </p:sp>
          </p:grpSp>
          <p:sp>
            <p:nvSpPr>
              <p:cNvPr id="250" name="타원 249"/>
              <p:cNvSpPr/>
              <p:nvPr/>
            </p:nvSpPr>
            <p:spPr>
              <a:xfrm>
                <a:off x="814969" y="2290708"/>
                <a:ext cx="108000" cy="1080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dirty="0"/>
                  <a:t>V</a:t>
                </a:r>
                <a:endParaRPr lang="ko-KR" altLang="en-US" sz="600" dirty="0"/>
              </a:p>
            </p:txBody>
          </p:sp>
          <p:sp>
            <p:nvSpPr>
              <p:cNvPr id="251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2726021" y="2270279"/>
                <a:ext cx="582849" cy="154795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검색필터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52" name="타원 251"/>
              <p:cNvSpPr/>
              <p:nvPr/>
            </p:nvSpPr>
            <p:spPr>
              <a:xfrm>
                <a:off x="2857726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3" name="그룹 252"/>
              <p:cNvGrpSpPr/>
              <p:nvPr/>
            </p:nvGrpSpPr>
            <p:grpSpPr>
              <a:xfrm>
                <a:off x="2901631" y="2585953"/>
                <a:ext cx="58075" cy="58074"/>
                <a:chOff x="6812560" y="3297172"/>
                <a:chExt cx="94010" cy="94010"/>
              </a:xfrm>
            </p:grpSpPr>
            <p:cxnSp>
              <p:nvCxnSpPr>
                <p:cNvPr id="254" name="직선 연결선 253"/>
                <p:cNvCxnSpPr/>
                <p:nvPr/>
              </p:nvCxnSpPr>
              <p:spPr>
                <a:xfrm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5" name="직선 연결선 254"/>
                <p:cNvCxnSpPr/>
                <p:nvPr/>
              </p:nvCxnSpPr>
              <p:spPr>
                <a:xfrm rot="5400000"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23224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301231"/>
              <a:ext cx="135706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solidFill>
                    <a:schemeClr val="accent1">
                      <a:lumMod val="75000"/>
                    </a:schemeClr>
                  </a:solidFill>
                  <a:latin typeface="+mn-ea"/>
                </a:rPr>
                <a:t>2,010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78206" y="3297177"/>
              <a:ext cx="39384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표시 개수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27990" y="3297177"/>
              <a:ext cx="50571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개</a:t>
              </a:r>
            </a:p>
          </p:txBody>
        </p:sp>
        <p:grpSp>
          <p:nvGrpSpPr>
            <p:cNvPr id="262" name="그룹 261"/>
            <p:cNvGrpSpPr/>
            <p:nvPr/>
          </p:nvGrpSpPr>
          <p:grpSpPr>
            <a:xfrm>
              <a:off x="3143548" y="3399000"/>
              <a:ext cx="94010" cy="47005"/>
              <a:chOff x="6812560" y="3297172"/>
              <a:chExt cx="94010" cy="47005"/>
            </a:xfrm>
          </p:grpSpPr>
          <p:cxnSp>
            <p:nvCxnSpPr>
              <p:cNvPr id="263" name="직선 연결선 26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4" name="직선 연결선 26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65" name="그룹 264"/>
            <p:cNvGrpSpPr/>
            <p:nvPr/>
          </p:nvGrpSpPr>
          <p:grpSpPr>
            <a:xfrm>
              <a:off x="677960" y="1582647"/>
              <a:ext cx="2714637" cy="686386"/>
              <a:chOff x="677960" y="1582647"/>
              <a:chExt cx="2714637" cy="686386"/>
            </a:xfrm>
          </p:grpSpPr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00027" y="2030452"/>
                <a:ext cx="206277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800" dirty="0" smtClean="0">
                    <a:latin typeface="+mn-ea"/>
                  </a:rPr>
                  <a:t>입찰공고 </a:t>
                </a:r>
                <a:r>
                  <a:rPr lang="ko-KR" altLang="en-US" sz="800" dirty="0" err="1" smtClean="0">
                    <a:latin typeface="+mn-ea"/>
                  </a:rPr>
                  <a:t>통합목록</a:t>
                </a:r>
                <a:endParaRPr lang="ko-KR" altLang="en-US" sz="800" dirty="0">
                  <a:latin typeface="+mn-ea"/>
                </a:endParaRPr>
              </a:p>
            </p:txBody>
          </p:sp>
          <p:cxnSp>
            <p:nvCxnSpPr>
              <p:cNvPr id="267" name="직선 연결선 2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22690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68" name="그룹 267"/>
              <p:cNvGrpSpPr/>
              <p:nvPr/>
            </p:nvGrpSpPr>
            <p:grpSpPr>
              <a:xfrm rot="5400000">
                <a:off x="852159" y="2062596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75" name="직선 연결선 27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직선 연결선 27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9" name="그룹 268"/>
              <p:cNvGrpSpPr/>
              <p:nvPr/>
            </p:nvGrpSpPr>
            <p:grpSpPr>
              <a:xfrm>
                <a:off x="677960" y="1582647"/>
                <a:ext cx="2712027" cy="324286"/>
                <a:chOff x="677960" y="1582647"/>
                <a:chExt cx="2712027" cy="324286"/>
              </a:xfrm>
            </p:grpSpPr>
            <p:pic>
              <p:nvPicPr>
                <p:cNvPr id="270" name="Picture 2">
                  <a:extLst>
                    <a:ext uri="{FF2B5EF4-FFF2-40B4-BE49-F238E27FC236}">
                      <a16:creationId xmlns:a16="http://schemas.microsoft.com/office/drawing/2014/main" id="{1C4B5929-C206-23D9-2234-19ADD0E7AA5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01" r="32311"/>
                <a:stretch>
                  <a:fillRect/>
                </a:stretch>
              </p:blipFill>
              <p:spPr bwMode="auto">
                <a:xfrm>
                  <a:off x="788121" y="1582647"/>
                  <a:ext cx="1252261" cy="21447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71" name="직선 연결선 270">
                  <a:extLst>
                    <a:ext uri="{FF2B5EF4-FFF2-40B4-BE49-F238E27FC236}">
                      <a16:creationId xmlns:a16="http://schemas.microsoft.com/office/drawing/2014/main" id="{E9293055-D5CD-4B9E-7F64-64B2D2CA7A52}"/>
                    </a:ext>
                  </a:extLst>
                </p:cNvPr>
                <p:cNvCxnSpPr/>
                <p:nvPr/>
              </p:nvCxnSpPr>
              <p:spPr>
                <a:xfrm>
                  <a:off x="677960" y="1906933"/>
                  <a:ext cx="2712027" cy="0"/>
                </a:xfrm>
                <a:prstGeom prst="line">
                  <a:avLst/>
                </a:prstGeom>
                <a:noFill/>
                <a:ln w="3175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72" name="타원 271"/>
                <p:cNvSpPr/>
                <p:nvPr/>
              </p:nvSpPr>
              <p:spPr>
                <a:xfrm>
                  <a:off x="2446129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3" name="타원 272"/>
                <p:cNvSpPr/>
                <p:nvPr/>
              </p:nvSpPr>
              <p:spPr>
                <a:xfrm>
                  <a:off x="2759886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4" name="타원 273"/>
                <p:cNvSpPr/>
                <p:nvPr/>
              </p:nvSpPr>
              <p:spPr>
                <a:xfrm>
                  <a:off x="3073643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277" name="그룹 276"/>
            <p:cNvGrpSpPr/>
            <p:nvPr/>
          </p:nvGrpSpPr>
          <p:grpSpPr>
            <a:xfrm>
              <a:off x="808106" y="4399754"/>
              <a:ext cx="2461380" cy="692497"/>
              <a:chOff x="783686" y="4433552"/>
              <a:chExt cx="2461380" cy="692497"/>
            </a:xfrm>
          </p:grpSpPr>
          <p:sp>
            <p:nvSpPr>
              <p:cNvPr id="278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3686" y="4433552"/>
                <a:ext cx="769441" cy="6924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발주기관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기초예가금액</a:t>
                </a:r>
                <a:endParaRPr lang="ko-KR" altLang="en-US" sz="5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생산능력제출마감일시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 smtClean="0">
                    <a:latin typeface="+mn-ea"/>
                  </a:rPr>
                  <a:t>입찰참가등록마감일시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입찰서제출마감일시</a:t>
                </a:r>
                <a:endParaRPr lang="en-US" altLang="ko-KR" sz="600" dirty="0" smtClean="0">
                  <a:latin typeface="+mn-ea"/>
                </a:endParaRPr>
              </a:p>
            </p:txBody>
          </p:sp>
          <p:sp>
            <p:nvSpPr>
              <p:cNvPr id="279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2757753" y="4433552"/>
                <a:ext cx="487313" cy="674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한국전력공사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 smtClean="0">
                    <a:latin typeface="+mn-ea"/>
                  </a:rPr>
                  <a:t>150,000,000</a:t>
                </a:r>
                <a:r>
                  <a:rPr lang="ko-KR" altLang="en-US" sz="600" dirty="0" smtClean="0">
                    <a:latin typeface="+mn-ea"/>
                  </a:rPr>
                  <a:t>원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 smtClean="0">
                    <a:latin typeface="+mn-ea"/>
                  </a:rPr>
                  <a:t>2026-07-15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 smtClean="0">
                    <a:latin typeface="+mn-ea"/>
                  </a:rPr>
                  <a:t>2026-07-17</a:t>
                </a:r>
                <a:br>
                  <a:rPr lang="en-US" altLang="ko-KR" sz="600" dirty="0" smtClean="0">
                    <a:latin typeface="+mn-ea"/>
                  </a:rPr>
                </a:br>
                <a:r>
                  <a:rPr lang="en-US" altLang="ko-KR" sz="600" dirty="0" smtClean="0">
                    <a:latin typeface="+mn-ea"/>
                  </a:rPr>
                  <a:t>2026-07-18</a:t>
                </a:r>
                <a:endParaRPr lang="en-US" altLang="ko-KR" sz="600" dirty="0">
                  <a:latin typeface="+mn-ea"/>
                </a:endParaRPr>
              </a:p>
            </p:txBody>
          </p:sp>
        </p:grpSp>
        <p:sp>
          <p:nvSpPr>
            <p:cNvPr id="280" name="모서리가 둥근 직사각형 279"/>
            <p:cNvSpPr/>
            <p:nvPr/>
          </p:nvSpPr>
          <p:spPr>
            <a:xfrm>
              <a:off x="1522790" y="3684828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 smtClean="0"/>
                <a:t>취급공고</a:t>
              </a:r>
              <a:endParaRPr lang="ko-KR" altLang="en-US" sz="600" dirty="0"/>
            </a:p>
          </p:txBody>
        </p: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58922" y="519414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82" name="그룹 281"/>
            <p:cNvGrpSpPr/>
            <p:nvPr/>
          </p:nvGrpSpPr>
          <p:grpSpPr>
            <a:xfrm>
              <a:off x="783686" y="5271868"/>
              <a:ext cx="2186266" cy="467617"/>
              <a:chOff x="781461" y="2610063"/>
              <a:chExt cx="2186266" cy="467617"/>
            </a:xfrm>
          </p:grpSpPr>
          <p:sp>
            <p:nvSpPr>
              <p:cNvPr id="283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808106" y="2831459"/>
                <a:ext cx="2159621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 smtClean="0">
                    <a:latin typeface="+mn-ea"/>
                  </a:rPr>
                  <a:t>통합참조번호 </a:t>
                </a:r>
                <a:r>
                  <a:rPr lang="en-US" altLang="ko-KR" sz="700" dirty="0" smtClean="0">
                    <a:latin typeface="+mn-ea"/>
                  </a:rPr>
                  <a:t>: </a:t>
                </a:r>
                <a:r>
                  <a:rPr lang="en-US" altLang="ko-KR" sz="700" dirty="0" smtClean="0"/>
                  <a:t>2026LGM000604191-01</a:t>
                </a:r>
                <a:endParaRPr lang="en-US" altLang="ko-KR" sz="700" dirty="0"/>
              </a:p>
              <a:p>
                <a:r>
                  <a:rPr lang="en-US" altLang="ko-KR" sz="900" b="1" dirty="0">
                    <a:latin typeface="+mn-ea"/>
                  </a:rPr>
                  <a:t>(</a:t>
                </a:r>
                <a:r>
                  <a:rPr lang="ko-KR" altLang="en-US" sz="900" b="1" dirty="0" err="1">
                    <a:latin typeface="+mn-ea"/>
                  </a:rPr>
                  <a:t>공사명</a:t>
                </a:r>
                <a:r>
                  <a:rPr lang="en-US" altLang="ko-KR" sz="900" b="1" dirty="0">
                    <a:latin typeface="+mn-ea"/>
                  </a:rPr>
                  <a:t>) </a:t>
                </a:r>
                <a:r>
                  <a:rPr lang="ko-KR" altLang="en-US" sz="900" b="1" dirty="0">
                    <a:latin typeface="+mn-ea"/>
                  </a:rPr>
                  <a:t>커피나인청사 </a:t>
                </a:r>
                <a:r>
                  <a:rPr lang="ko-KR" altLang="en-US" sz="900" b="1" dirty="0" err="1">
                    <a:latin typeface="+mn-ea"/>
                  </a:rPr>
                  <a:t>냉난방기</a:t>
                </a:r>
                <a:r>
                  <a:rPr lang="ko-KR" altLang="en-US" sz="900" b="1" dirty="0">
                    <a:latin typeface="+mn-ea"/>
                  </a:rPr>
                  <a:t> </a:t>
                </a:r>
                <a:r>
                  <a:rPr lang="ko-KR" altLang="en-US" sz="900" b="1" dirty="0" err="1">
                    <a:latin typeface="+mn-ea"/>
                  </a:rPr>
                  <a:t>교체공사</a:t>
                </a:r>
                <a:endParaRPr lang="ko-KR" altLang="en-US" sz="900" b="1" dirty="0"/>
              </a:p>
            </p:txBody>
          </p:sp>
          <p:sp>
            <p:nvSpPr>
              <p:cNvPr id="284" name="모서리가 둥근 직사각형 283"/>
              <p:cNvSpPr/>
              <p:nvPr/>
            </p:nvSpPr>
            <p:spPr>
              <a:xfrm>
                <a:off x="781461" y="2610063"/>
                <a:ext cx="243478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 smtClean="0">
                    <a:solidFill>
                      <a:schemeClr val="dk1"/>
                    </a:solidFill>
                  </a:rPr>
                  <a:t>공사</a:t>
                </a:r>
                <a:endParaRPr lang="ko-KR" altLang="en-US" sz="6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285" name="모서리가 둥근 직사각형 284"/>
              <p:cNvSpPr/>
              <p:nvPr/>
            </p:nvSpPr>
            <p:spPr>
              <a:xfrm>
                <a:off x="1075655" y="2610063"/>
                <a:ext cx="396419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 err="1" smtClean="0"/>
                  <a:t>공개수의</a:t>
                </a:r>
                <a:endParaRPr lang="ko-KR" altLang="en-US" sz="600" dirty="0"/>
              </a:p>
            </p:txBody>
          </p:sp>
        </p:grpSp>
        <p:grpSp>
          <p:nvGrpSpPr>
            <p:cNvPr id="286" name="그룹 285"/>
            <p:cNvGrpSpPr/>
            <p:nvPr/>
          </p:nvGrpSpPr>
          <p:grpSpPr>
            <a:xfrm>
              <a:off x="810331" y="5986794"/>
              <a:ext cx="2461380" cy="276999"/>
              <a:chOff x="783686" y="4433552"/>
              <a:chExt cx="2461380" cy="276999"/>
            </a:xfrm>
          </p:grpSpPr>
          <p:sp>
            <p:nvSpPr>
              <p:cNvPr id="287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3686" y="4433552"/>
                <a:ext cx="4616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발주기관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기초예가금액</a:t>
                </a:r>
                <a:endParaRPr lang="ko-KR" altLang="en-US" sz="500" dirty="0">
                  <a:latin typeface="+mn-ea"/>
                </a:endParaRPr>
              </a:p>
            </p:txBody>
          </p:sp>
          <p:sp>
            <p:nvSpPr>
              <p:cNvPr id="288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2757753" y="4433552"/>
                <a:ext cx="4873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 smtClean="0">
                    <a:latin typeface="+mn-ea"/>
                  </a:rPr>
                  <a:t>한국전력공사</a:t>
                </a:r>
                <a:endParaRPr lang="en-US" altLang="ko-KR" sz="600" dirty="0" smtClean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 smtClean="0">
                    <a:latin typeface="+mn-ea"/>
                  </a:rPr>
                  <a:t>150,000,000</a:t>
                </a:r>
                <a:r>
                  <a:rPr lang="ko-KR" altLang="en-US" sz="600" dirty="0" smtClean="0">
                    <a:latin typeface="+mn-ea"/>
                  </a:rPr>
                  <a:t>원</a:t>
                </a:r>
                <a:endParaRPr lang="en-US" altLang="ko-KR" sz="600" dirty="0" smtClean="0">
                  <a:latin typeface="+mn-ea"/>
                </a:endParaRPr>
              </a:p>
            </p:txBody>
          </p:sp>
        </p:grpSp>
        <p:sp>
          <p:nvSpPr>
            <p:cNvPr id="289" name="모서리가 둥근 직사각형 288"/>
            <p:cNvSpPr/>
            <p:nvPr/>
          </p:nvSpPr>
          <p:spPr>
            <a:xfrm>
              <a:off x="1525015" y="5271868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 smtClean="0"/>
                <a:t>재공고</a:t>
              </a:r>
              <a:endParaRPr lang="ko-KR" altLang="en-US" sz="600" dirty="0"/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675399" y="1493927"/>
            <a:ext cx="2717198" cy="4738372"/>
            <a:chOff x="675399" y="1493927"/>
            <a:chExt cx="2717198" cy="4738372"/>
          </a:xfrm>
        </p:grpSpPr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7" name="그룹 176"/>
            <p:cNvGrpSpPr/>
            <p:nvPr/>
          </p:nvGrpSpPr>
          <p:grpSpPr>
            <a:xfrm>
              <a:off x="781461" y="4065071"/>
              <a:ext cx="2473257" cy="1098561"/>
              <a:chOff x="781461" y="2610063"/>
              <a:chExt cx="2473257" cy="1098561"/>
            </a:xfrm>
          </p:grpSpPr>
          <p:sp>
            <p:nvSpPr>
              <p:cNvPr id="182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781461" y="2794394"/>
                <a:ext cx="2473257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 err="1"/>
                  <a:t>판단번호</a:t>
                </a:r>
                <a:r>
                  <a:rPr lang="ko-KR" altLang="en-US" sz="700" dirty="0"/>
                  <a:t> </a:t>
                </a:r>
                <a:r>
                  <a:rPr lang="en-US" altLang="ko-KR" sz="700" dirty="0"/>
                  <a:t>6000A</a:t>
                </a:r>
              </a:p>
              <a:p>
                <a:r>
                  <a:rPr lang="en-US" altLang="ko-KR" sz="900" b="1" dirty="0"/>
                  <a:t>‘26</a:t>
                </a:r>
                <a:r>
                  <a:rPr lang="ko-KR" altLang="en-US" sz="900" b="1" dirty="0"/>
                  <a:t>년 </a:t>
                </a:r>
                <a:r>
                  <a:rPr lang="en-US" altLang="ko-KR" sz="900" b="1" dirty="0"/>
                  <a:t>K5</a:t>
                </a:r>
                <a:r>
                  <a:rPr lang="ko-KR" altLang="en-US" sz="900" b="1" dirty="0"/>
                  <a:t>방독면</a:t>
                </a:r>
              </a:p>
            </p:txBody>
          </p:sp>
          <p:sp>
            <p:nvSpPr>
              <p:cNvPr id="183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1461" y="3154626"/>
                <a:ext cx="38472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발주예정월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발주기관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계약방법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예산금액</a:t>
                </a:r>
                <a:endParaRPr lang="en-US" altLang="ko-KR" sz="600" dirty="0">
                  <a:latin typeface="+mn-ea"/>
                </a:endParaRPr>
              </a:p>
            </p:txBody>
          </p:sp>
          <p:sp>
            <p:nvSpPr>
              <p:cNvPr id="184" name="TextBox 60">
                <a:extLst>
                  <a:ext uri="{FF2B5EF4-FFF2-40B4-BE49-F238E27FC236}">
                    <a16:creationId xmlns:a16="http://schemas.microsoft.com/office/drawing/2014/main" id="{8F5E3227-69E6-C89F-B8C5-534226E95EA8}"/>
                  </a:ext>
                </a:extLst>
              </p:cNvPr>
              <p:cNvSpPr txBox="1"/>
              <p:nvPr/>
            </p:nvSpPr>
            <p:spPr>
              <a:xfrm>
                <a:off x="2596303" y="3139237"/>
                <a:ext cx="53860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50000"/>
                  </a:lnSpc>
                </a:pPr>
                <a:r>
                  <a:rPr lang="en-US" altLang="ko-KR" sz="600" dirty="0">
                    <a:latin typeface="+mn-ea"/>
                  </a:rPr>
                  <a:t>2026-03</a:t>
                </a:r>
              </a:p>
              <a:p>
                <a:pPr algn="r"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화력총괄계약팀</a:t>
                </a:r>
                <a:endParaRPr lang="en-US" altLang="ko-KR" sz="600" dirty="0">
                  <a:latin typeface="+mn-ea"/>
                </a:endParaRPr>
              </a:p>
              <a:p>
                <a:pPr algn="r"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총액제</a:t>
                </a:r>
                <a:endParaRPr lang="en-US" altLang="ko-KR" sz="600" dirty="0">
                  <a:latin typeface="+mn-ea"/>
                </a:endParaRPr>
              </a:p>
              <a:p>
                <a:pPr algn="r">
                  <a:lnSpc>
                    <a:spcPct val="150000"/>
                  </a:lnSpc>
                </a:pPr>
                <a:r>
                  <a:rPr lang="en-US" altLang="ko-KR" sz="600" dirty="0">
                    <a:latin typeface="+mn-ea"/>
                  </a:rPr>
                  <a:t>11,616,000 </a:t>
                </a:r>
                <a:r>
                  <a:rPr lang="ko-KR" altLang="en-US" sz="600" dirty="0">
                    <a:latin typeface="+mn-ea"/>
                  </a:rPr>
                  <a:t>원</a:t>
                </a:r>
              </a:p>
            </p:txBody>
          </p:sp>
          <p:sp>
            <p:nvSpPr>
              <p:cNvPr id="185" name="모서리가 둥근 직사각형 184"/>
              <p:cNvSpPr/>
              <p:nvPr/>
            </p:nvSpPr>
            <p:spPr>
              <a:xfrm>
                <a:off x="781461" y="2610063"/>
                <a:ext cx="243478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>
                    <a:solidFill>
                      <a:schemeClr val="dk1"/>
                    </a:solidFill>
                  </a:rPr>
                  <a:t>물품</a:t>
                </a:r>
              </a:p>
            </p:txBody>
          </p:sp>
          <p:sp>
            <p:nvSpPr>
              <p:cNvPr id="186" name="모서리가 둥근 직사각형 185"/>
              <p:cNvSpPr/>
              <p:nvPr/>
            </p:nvSpPr>
            <p:spPr>
              <a:xfrm>
                <a:off x="1075655" y="2610063"/>
                <a:ext cx="396419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/>
                  <a:t>수의계약</a:t>
                </a:r>
              </a:p>
            </p:txBody>
          </p:sp>
        </p:grp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5245877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41180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814" y="232476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업무도움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90" name="타원 189"/>
            <p:cNvSpPr/>
            <p:nvPr/>
          </p:nvSpPr>
          <p:spPr>
            <a:xfrm>
              <a:off x="783686" y="2356114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1" name="그룹 190"/>
            <p:cNvGrpSpPr/>
            <p:nvPr/>
          </p:nvGrpSpPr>
          <p:grpSpPr>
            <a:xfrm>
              <a:off x="3143548" y="2438100"/>
              <a:ext cx="94010" cy="47005"/>
              <a:chOff x="6812560" y="3297172"/>
              <a:chExt cx="94010" cy="47005"/>
            </a:xfrm>
          </p:grpSpPr>
          <p:cxnSp>
            <p:nvCxnSpPr>
              <p:cNvPr id="192" name="직선 연결선 19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638327"/>
              <a:ext cx="135706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solidFill>
                    <a:schemeClr val="accent1">
                      <a:lumMod val="75000"/>
                    </a:schemeClr>
                  </a:solidFill>
                  <a:latin typeface="+mn-ea"/>
                </a:rPr>
                <a:t>2,010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78206" y="3634273"/>
              <a:ext cx="39384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표시 개수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27990" y="3634273"/>
              <a:ext cx="50571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개</a:t>
              </a:r>
            </a:p>
          </p:txBody>
        </p:sp>
        <p:grpSp>
          <p:nvGrpSpPr>
            <p:cNvPr id="197" name="그룹 196"/>
            <p:cNvGrpSpPr/>
            <p:nvPr/>
          </p:nvGrpSpPr>
          <p:grpSpPr>
            <a:xfrm>
              <a:off x="3143548" y="3746640"/>
              <a:ext cx="94010" cy="47005"/>
              <a:chOff x="6812560" y="3297172"/>
              <a:chExt cx="94010" cy="47005"/>
            </a:xfrm>
          </p:grpSpPr>
          <p:cxnSp>
            <p:nvCxnSpPr>
              <p:cNvPr id="198" name="직선 연결선 19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9" name="직선 연결선 19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00" name="그룹 199"/>
            <p:cNvGrpSpPr/>
            <p:nvPr/>
          </p:nvGrpSpPr>
          <p:grpSpPr>
            <a:xfrm>
              <a:off x="767702" y="3033884"/>
              <a:ext cx="2527420" cy="477995"/>
              <a:chOff x="786326" y="2270279"/>
              <a:chExt cx="2527420" cy="477995"/>
            </a:xfrm>
          </p:grpSpPr>
          <p:sp>
            <p:nvSpPr>
              <p:cNvPr id="201" name="모서리가 둥근 직사각형 200"/>
              <p:cNvSpPr/>
              <p:nvPr/>
            </p:nvSpPr>
            <p:spPr>
              <a:xfrm>
                <a:off x="786326" y="2481707"/>
                <a:ext cx="2527420" cy="266567"/>
              </a:xfrm>
              <a:prstGeom prst="roundRect">
                <a:avLst>
                  <a:gd name="adj" fmla="val 50000"/>
                </a:avLst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2" name="타원 201"/>
              <p:cNvSpPr/>
              <p:nvPr/>
            </p:nvSpPr>
            <p:spPr>
              <a:xfrm>
                <a:off x="3071451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90013" y="2561129"/>
                <a:ext cx="1886364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검색할 내용을 입력하세요</a:t>
                </a:r>
                <a:r>
                  <a:rPr lang="en-US" altLang="ko-KR" sz="7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.</a:t>
                </a:r>
                <a:endPara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204" name="그룹 203"/>
              <p:cNvGrpSpPr/>
              <p:nvPr/>
            </p:nvGrpSpPr>
            <p:grpSpPr>
              <a:xfrm>
                <a:off x="795624" y="2274581"/>
                <a:ext cx="1299303" cy="155984"/>
                <a:chOff x="808107" y="2288229"/>
                <a:chExt cx="1189739" cy="168318"/>
              </a:xfrm>
            </p:grpSpPr>
            <p:sp>
              <p:nvSpPr>
                <p:cNvPr id="211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808107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0070C0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solidFill>
                        <a:srgbClr val="0070C0"/>
                      </a:solidFill>
                      <a:latin typeface="맑은 고딕"/>
                      <a:ea typeface="맑은 고딕" panose="020B0503020000020004" pitchFamily="50" charset="-127"/>
                    </a:rPr>
                    <a:t>조달명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맑은 고딕"/>
                  </a:endParaRPr>
                </a:p>
              </p:txBody>
            </p:sp>
            <p:sp>
              <p:nvSpPr>
                <p:cNvPr id="212" name="사각형: 둥근 모서리 31">
                  <a:extLst>
                    <a:ext uri="{FF2B5EF4-FFF2-40B4-BE49-F238E27FC236}">
                      <a16:creationId xmlns:a16="http://schemas.microsoft.com/office/drawing/2014/main" id="{2AC143EE-93CF-3518-F0CB-8469E98507E0}"/>
                    </a:ext>
                  </a:extLst>
                </p:cNvPr>
                <p:cNvSpPr/>
                <p:nvPr/>
              </p:nvSpPr>
              <p:spPr>
                <a:xfrm>
                  <a:off x="1434352" y="2288229"/>
                  <a:ext cx="563494" cy="168318"/>
                </a:xfrm>
                <a:prstGeom prst="roundRect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tx1"/>
                  </a:solidFill>
                  <a:prstDash val="solid"/>
                </a:ln>
                <a:effectLst/>
              </p:spPr>
              <p:txBody>
                <a:bodyPr lIns="0" tIns="0" rIns="0" bIns="0" rtlCol="0" anchor="ctr"/>
                <a:lstStyle>
                  <a:defPPr>
                    <a:defRPr lang="ko-KR"/>
                  </a:defPPr>
                  <a:lvl1pPr marL="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1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ko-KR" altLang="en-US" sz="800" kern="0" dirty="0" err="1">
                      <a:latin typeface="맑은 고딕"/>
                      <a:ea typeface="맑은 고딕" panose="020B0503020000020004" pitchFamily="50" charset="-127"/>
                    </a:rPr>
                    <a:t>판단번호</a:t>
                  </a:r>
                  <a:endParaRPr kumimoji="1" lang="en-US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endParaRPr>
                </a:p>
              </p:txBody>
            </p:sp>
          </p:grpSp>
          <p:sp>
            <p:nvSpPr>
              <p:cNvPr id="205" name="타원 204"/>
              <p:cNvSpPr/>
              <p:nvPr/>
            </p:nvSpPr>
            <p:spPr>
              <a:xfrm>
                <a:off x="814969" y="2290708"/>
                <a:ext cx="108000" cy="1080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dirty="0"/>
                  <a:t>V</a:t>
                </a:r>
                <a:endParaRPr lang="ko-KR" altLang="en-US" sz="600" dirty="0"/>
              </a:p>
            </p:txBody>
          </p:sp>
          <p:sp>
            <p:nvSpPr>
              <p:cNvPr id="20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2726021" y="2270279"/>
                <a:ext cx="582849" cy="154795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검색필터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07" name="타원 206"/>
              <p:cNvSpPr/>
              <p:nvPr/>
            </p:nvSpPr>
            <p:spPr>
              <a:xfrm>
                <a:off x="2857726" y="2551066"/>
                <a:ext cx="145884" cy="14588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8" name="그룹 207"/>
              <p:cNvGrpSpPr/>
              <p:nvPr/>
            </p:nvGrpSpPr>
            <p:grpSpPr>
              <a:xfrm>
                <a:off x="2901631" y="2585953"/>
                <a:ext cx="58075" cy="58074"/>
                <a:chOff x="6812560" y="3297172"/>
                <a:chExt cx="94010" cy="94010"/>
              </a:xfrm>
            </p:grpSpPr>
            <p:cxnSp>
              <p:nvCxnSpPr>
                <p:cNvPr id="209" name="직선 연결선 208"/>
                <p:cNvCxnSpPr/>
                <p:nvPr/>
              </p:nvCxnSpPr>
              <p:spPr>
                <a:xfrm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/>
                <p:cNvCxnSpPr/>
                <p:nvPr/>
              </p:nvCxnSpPr>
              <p:spPr>
                <a:xfrm rot="5400000">
                  <a:off x="6812560" y="3297172"/>
                  <a:ext cx="94010" cy="9401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3" name="직선 연결선 2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63225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599105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97725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743200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217" name="모서리가 둥근 직사각형 216"/>
            <p:cNvSpPr/>
            <p:nvPr/>
          </p:nvSpPr>
          <p:spPr>
            <a:xfrm>
              <a:off x="1104835" y="2711058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조달계획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218" name="모서리가 둥근 직사각형 217"/>
            <p:cNvSpPr/>
            <p:nvPr/>
          </p:nvSpPr>
          <p:spPr>
            <a:xfrm>
              <a:off x="1857752" y="2711058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smtClean="0">
                  <a:solidFill>
                    <a:schemeClr val="tx1"/>
                  </a:solidFill>
                </a:rPr>
                <a:t>사전규격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19" name="모서리가 둥근 직사각형 218"/>
            <p:cNvSpPr/>
            <p:nvPr/>
          </p:nvSpPr>
          <p:spPr>
            <a:xfrm>
              <a:off x="2604380" y="2711058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smtClean="0">
                  <a:solidFill>
                    <a:schemeClr val="tx1"/>
                  </a:solidFill>
                </a:rPr>
                <a:t>연간조달계획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6" y="5828262"/>
              <a:ext cx="2446613" cy="279492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더보기</a:t>
              </a: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 </a:t>
              </a:r>
              <a:r>
                <a:rPr kumimoji="1" lang="en-US" altLang="ko-KR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(10/258)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grpSp>
          <p:nvGrpSpPr>
            <p:cNvPr id="221" name="그룹 220"/>
            <p:cNvGrpSpPr/>
            <p:nvPr/>
          </p:nvGrpSpPr>
          <p:grpSpPr>
            <a:xfrm>
              <a:off x="677960" y="1582647"/>
              <a:ext cx="2714637" cy="686386"/>
              <a:chOff x="677960" y="1582647"/>
              <a:chExt cx="2714637" cy="686386"/>
            </a:xfrm>
          </p:grpSpPr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93635" y="2030452"/>
                <a:ext cx="207555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800" dirty="0">
                    <a:latin typeface="+mn-ea"/>
                  </a:rPr>
                  <a:t>조달계획 </a:t>
                </a:r>
                <a:r>
                  <a:rPr lang="ko-KR" altLang="en-US" sz="800" dirty="0" err="1">
                    <a:latin typeface="+mn-ea"/>
                  </a:rPr>
                  <a:t>통합목록</a:t>
                </a:r>
                <a:endParaRPr lang="ko-KR" altLang="en-US" sz="800" dirty="0">
                  <a:latin typeface="+mn-ea"/>
                </a:endParaRPr>
              </a:p>
            </p:txBody>
          </p:sp>
          <p:cxnSp>
            <p:nvCxnSpPr>
              <p:cNvPr id="223" name="직선 연결선 22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22690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24" name="그룹 223"/>
              <p:cNvGrpSpPr/>
              <p:nvPr/>
            </p:nvGrpSpPr>
            <p:grpSpPr>
              <a:xfrm rot="5400000">
                <a:off x="852159" y="2062596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31" name="직선 연결선 2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직선 연결선 2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5" name="그룹 224"/>
              <p:cNvGrpSpPr/>
              <p:nvPr/>
            </p:nvGrpSpPr>
            <p:grpSpPr>
              <a:xfrm>
                <a:off x="677960" y="1582647"/>
                <a:ext cx="2712027" cy="324286"/>
                <a:chOff x="677960" y="1582647"/>
                <a:chExt cx="2712027" cy="324286"/>
              </a:xfrm>
            </p:grpSpPr>
            <p:pic>
              <p:nvPicPr>
                <p:cNvPr id="226" name="Picture 2">
                  <a:extLst>
                    <a:ext uri="{FF2B5EF4-FFF2-40B4-BE49-F238E27FC236}">
                      <a16:creationId xmlns:a16="http://schemas.microsoft.com/office/drawing/2014/main" id="{1C4B5929-C206-23D9-2234-19ADD0E7AA5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01" r="32311"/>
                <a:stretch>
                  <a:fillRect/>
                </a:stretch>
              </p:blipFill>
              <p:spPr bwMode="auto">
                <a:xfrm>
                  <a:off x="788121" y="1582647"/>
                  <a:ext cx="1252261" cy="21447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27" name="직선 연결선 226">
                  <a:extLst>
                    <a:ext uri="{FF2B5EF4-FFF2-40B4-BE49-F238E27FC236}">
                      <a16:creationId xmlns:a16="http://schemas.microsoft.com/office/drawing/2014/main" id="{E9293055-D5CD-4B9E-7F64-64B2D2CA7A52}"/>
                    </a:ext>
                  </a:extLst>
                </p:cNvPr>
                <p:cNvCxnSpPr/>
                <p:nvPr/>
              </p:nvCxnSpPr>
              <p:spPr>
                <a:xfrm>
                  <a:off x="677960" y="1906933"/>
                  <a:ext cx="2712027" cy="0"/>
                </a:xfrm>
                <a:prstGeom prst="line">
                  <a:avLst/>
                </a:prstGeom>
                <a:noFill/>
                <a:ln w="3175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28" name="타원 227"/>
                <p:cNvSpPr/>
                <p:nvPr/>
              </p:nvSpPr>
              <p:spPr>
                <a:xfrm>
                  <a:off x="2446129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29" name="타원 228"/>
                <p:cNvSpPr/>
                <p:nvPr/>
              </p:nvSpPr>
              <p:spPr>
                <a:xfrm>
                  <a:off x="2759886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30" name="타원 229"/>
                <p:cNvSpPr/>
                <p:nvPr/>
              </p:nvSpPr>
              <p:spPr>
                <a:xfrm>
                  <a:off x="3073643" y="1582794"/>
                  <a:ext cx="228600" cy="22860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조달계획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숫자는 제외하고 표시함</a:t>
            </a:r>
            <a:endParaRPr lang="en-US" altLang="ko-KR" dirty="0" smtClean="0"/>
          </a:p>
          <a:p>
            <a:pPr marL="228600" indent="-228600">
              <a:buAutoNum type="arabicPeriod"/>
            </a:pPr>
            <a:r>
              <a:rPr lang="ko-KR" altLang="en-US" dirty="0" smtClean="0"/>
              <a:t>입찰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숫자는 제외하고 표시함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앱 </a:t>
            </a:r>
            <a:r>
              <a:rPr lang="ko-KR" altLang="en-US" dirty="0">
                <a:latin typeface="+mn-ea"/>
              </a:rPr>
              <a:t>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MUI-CM-05-M16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b="22502"/>
          <a:stretch/>
        </p:blipFill>
        <p:spPr>
          <a:xfrm>
            <a:off x="7648135" y="4368394"/>
            <a:ext cx="1166392" cy="2038851"/>
          </a:xfrm>
          <a:prstGeom prst="rect">
            <a:avLst/>
          </a:pr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6933" y="1493927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217905" y="2424051"/>
            <a:ext cx="2111475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2. </a:t>
            </a:r>
            <a:r>
              <a:rPr lang="ko-KR" altLang="en-US" sz="800" dirty="0" smtClean="0">
                <a:solidFill>
                  <a:schemeClr val="bg1"/>
                </a:solidFill>
              </a:rPr>
              <a:t>조달계획 유형에 따라 목록이 바뀌어요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" name="꺾인 연결선 8"/>
          <p:cNvCxnSpPr>
            <a:stCxn id="7" idx="1"/>
          </p:cNvCxnSpPr>
          <p:nvPr/>
        </p:nvCxnSpPr>
        <p:spPr>
          <a:xfrm rot="10800000" flipV="1">
            <a:off x="1110657" y="2531773"/>
            <a:ext cx="107249" cy="142240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729380" y="3271274"/>
            <a:ext cx="2045753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3.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검색필터로</a:t>
            </a:r>
            <a:r>
              <a:rPr lang="ko-KR" altLang="en-US" sz="800" dirty="0" smtClean="0">
                <a:solidFill>
                  <a:schemeClr val="bg1"/>
                </a:solidFill>
              </a:rPr>
              <a:t> 상세 검색을 할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3" name="꺾인 연결선 82"/>
          <p:cNvCxnSpPr>
            <a:stCxn id="82" idx="3"/>
          </p:cNvCxnSpPr>
          <p:nvPr/>
        </p:nvCxnSpPr>
        <p:spPr>
          <a:xfrm flipV="1">
            <a:off x="2775133" y="3179993"/>
            <a:ext cx="135070" cy="199003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46807" y="2032539"/>
            <a:ext cx="2148345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1. </a:t>
            </a:r>
            <a:r>
              <a:rPr lang="ko-KR" altLang="en-US" sz="800" dirty="0" smtClean="0">
                <a:solidFill>
                  <a:schemeClr val="bg1"/>
                </a:solidFill>
              </a:rPr>
              <a:t>업무에 참고할 수 있는 도움말이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85" name="꺾인 연결선 84"/>
          <p:cNvCxnSpPr/>
          <p:nvPr/>
        </p:nvCxnSpPr>
        <p:spPr>
          <a:xfrm>
            <a:off x="2790092" y="2140261"/>
            <a:ext cx="173276" cy="186473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194710" y="5159042"/>
            <a:ext cx="2023311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4. </a:t>
            </a:r>
            <a:r>
              <a:rPr lang="ko-KR" altLang="en-US" sz="800" dirty="0">
                <a:solidFill>
                  <a:schemeClr val="bg1"/>
                </a:solidFill>
              </a:rPr>
              <a:t>공고들이 카드형식으로 표시되요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90" name="꺾인 연결선 89"/>
          <p:cNvCxnSpPr>
            <a:stCxn id="89" idx="1"/>
          </p:cNvCxnSpPr>
          <p:nvPr/>
        </p:nvCxnSpPr>
        <p:spPr>
          <a:xfrm rot="10800000">
            <a:off x="1101572" y="5159044"/>
            <a:ext cx="93139" cy="107720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804933" y="1493927"/>
            <a:ext cx="2712027" cy="4738372"/>
          </a:xfrm>
          <a:prstGeom prst="rect">
            <a:avLst/>
          </a:prstGeom>
          <a:solidFill>
            <a:srgbClr val="000000">
              <a:alpha val="40000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3922472" y="3295630"/>
            <a:ext cx="2172390" cy="33855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1. </a:t>
            </a:r>
            <a:r>
              <a:rPr lang="ko-KR" altLang="en-US" sz="800" dirty="0" smtClean="0">
                <a:solidFill>
                  <a:schemeClr val="bg1"/>
                </a:solidFill>
              </a:rPr>
              <a:t>공고들이 카드형식으로 표시되요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</a:p>
          <a:p>
            <a:r>
              <a:rPr lang="ko-KR" altLang="en-US" sz="800" dirty="0" smtClean="0">
                <a:solidFill>
                  <a:schemeClr val="bg1"/>
                </a:solidFill>
              </a:rPr>
              <a:t>카드를 클릭하면 상세 내용을 볼 수 있어요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74" name="꺾인 연결선 173"/>
          <p:cNvCxnSpPr>
            <a:stCxn id="173" idx="3"/>
          </p:cNvCxnSpPr>
          <p:nvPr/>
        </p:nvCxnSpPr>
        <p:spPr>
          <a:xfrm>
            <a:off x="6094862" y="3464907"/>
            <a:ext cx="57354" cy="169277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타원 1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130" y="14078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78" name="TextBox 177"/>
          <p:cNvSpPr txBox="1"/>
          <p:nvPr/>
        </p:nvSpPr>
        <p:spPr>
          <a:xfrm>
            <a:off x="4400130" y="3941180"/>
            <a:ext cx="2008883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2. </a:t>
            </a:r>
            <a:r>
              <a:rPr lang="ko-KR" altLang="en-US" sz="800" dirty="0" smtClean="0">
                <a:solidFill>
                  <a:schemeClr val="bg1"/>
                </a:solidFill>
              </a:rPr>
              <a:t>카드 상단에 주요 조건들이 제공되요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79" name="꺾인 연결선 178"/>
          <p:cNvCxnSpPr>
            <a:stCxn id="178" idx="1"/>
          </p:cNvCxnSpPr>
          <p:nvPr/>
        </p:nvCxnSpPr>
        <p:spPr>
          <a:xfrm rot="10800000">
            <a:off x="4210862" y="3857164"/>
            <a:ext cx="189268" cy="191738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4400130" y="5192780"/>
            <a:ext cx="2111475" cy="21544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non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3. </a:t>
            </a:r>
            <a:r>
              <a:rPr lang="ko-KR" altLang="en-US" sz="800" dirty="0" smtClean="0">
                <a:solidFill>
                  <a:schemeClr val="bg1"/>
                </a:solidFill>
              </a:rPr>
              <a:t>공고의 주요 정보들이 하단에 표시되요</a:t>
            </a:r>
            <a:r>
              <a:rPr lang="en-US" altLang="ko-KR" sz="800" dirty="0" smtClean="0">
                <a:solidFill>
                  <a:schemeClr val="bg1"/>
                </a:solidFill>
              </a:rPr>
              <a:t>.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300" name="꺾인 연결선 299"/>
          <p:cNvCxnSpPr>
            <a:stCxn id="299" idx="1"/>
          </p:cNvCxnSpPr>
          <p:nvPr/>
        </p:nvCxnSpPr>
        <p:spPr>
          <a:xfrm rot="10800000">
            <a:off x="4210862" y="5108764"/>
            <a:ext cx="189268" cy="191738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/>
          <p:cNvSpPr txBox="1"/>
          <p:nvPr/>
        </p:nvSpPr>
        <p:spPr>
          <a:xfrm>
            <a:off x="1194710" y="5533731"/>
            <a:ext cx="2023311" cy="338554"/>
          </a:xfrm>
          <a:prstGeom prst="rect">
            <a:avLst/>
          </a:prstGeom>
          <a:solidFill>
            <a:srgbClr val="0D0D0D">
              <a:alpha val="50196"/>
            </a:srgbClr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 smtClean="0">
                <a:solidFill>
                  <a:schemeClr val="bg1"/>
                </a:solidFill>
              </a:rPr>
              <a:t>5. </a:t>
            </a:r>
            <a:r>
              <a:rPr lang="ko-KR" altLang="en-US" sz="800" dirty="0" err="1" smtClean="0">
                <a:solidFill>
                  <a:schemeClr val="bg1"/>
                </a:solidFill>
              </a:rPr>
              <a:t>더보기</a:t>
            </a:r>
            <a:r>
              <a:rPr lang="ko-KR" altLang="en-US" sz="800" dirty="0" smtClean="0">
                <a:solidFill>
                  <a:schemeClr val="bg1"/>
                </a:solidFill>
              </a:rPr>
              <a:t> 버튼으로 공고를 추가로 확인할 수 있어요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302" name="꺾인 연결선 301"/>
          <p:cNvCxnSpPr>
            <a:stCxn id="301" idx="1"/>
          </p:cNvCxnSpPr>
          <p:nvPr/>
        </p:nvCxnSpPr>
        <p:spPr>
          <a:xfrm rot="10800000" flipV="1">
            <a:off x="1050406" y="5703007"/>
            <a:ext cx="144305" cy="104367"/>
          </a:xfrm>
          <a:prstGeom prst="bent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3" name="그룹 14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44" name="직사각형 14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2026-07-24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45" name="직사각형 14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앱 이용안내 화면 추가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코치마크</a:t>
              </a:r>
              <a:r>
                <a:rPr lang="ko-KR" altLang="en-US" sz="700" dirty="0" smtClean="0"/>
                <a:t> 방식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72540418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7. </a:t>
            </a:r>
            <a:r>
              <a:rPr lang="ko-KR" altLang="en-US" dirty="0"/>
              <a:t>앱 설정</a:t>
            </a:r>
            <a:endParaRPr lang="en-US" altLang="ko-KR" dirty="0"/>
          </a:p>
          <a:p>
            <a:r>
              <a:rPr lang="en-US" altLang="ko-KR" dirty="0"/>
              <a:t>7.1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184140"/>
              </p:ext>
            </p:extLst>
          </p:nvPr>
        </p:nvGraphicFramePr>
        <p:xfrm>
          <a:off x="635474" y="1574093"/>
          <a:ext cx="8749092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76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MUI-MS-02-M01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설정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AppStng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설정 정보를 안내한다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AppStngPage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MUI-MS-02-P02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앱 캐시 삭제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AppCashDel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캐시 정보를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AppCashDel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MUI-MS-02-P03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모바일앱서비스 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AppSrvc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웹에서 로그인 서비스를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사용하려할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앱을 안내한다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AppSrvc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8889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382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7.2.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808381" y="2075956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3002333" y="2216660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설정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658101" y="2270660"/>
            <a:ext cx="448641" cy="180000"/>
            <a:chOff x="4520608" y="1663914"/>
            <a:chExt cx="448641" cy="180000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E336770-3307-E038-1843-D3E94EEE0172}"/>
              </a:ext>
            </a:extLst>
          </p:cNvPr>
          <p:cNvGrpSpPr/>
          <p:nvPr/>
        </p:nvGrpSpPr>
        <p:grpSpPr>
          <a:xfrm>
            <a:off x="8499697" y="3158625"/>
            <a:ext cx="237994" cy="339111"/>
            <a:chOff x="565604" y="5691736"/>
            <a:chExt cx="237994" cy="33911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4019EDD-4322-2651-BC19-3D7C8083D355}"/>
                </a:ext>
              </a:extLst>
            </p:cNvPr>
            <p:cNvSpPr/>
            <p:nvPr/>
          </p:nvSpPr>
          <p:spPr>
            <a:xfrm>
              <a:off x="565604" y="590773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끝</a:t>
              </a: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04C0B0F-7275-1964-CD84-22454585E4D5}"/>
                </a:ext>
              </a:extLst>
            </p:cNvPr>
            <p:cNvGrpSpPr/>
            <p:nvPr/>
          </p:nvGrpSpPr>
          <p:grpSpPr>
            <a:xfrm>
              <a:off x="594601" y="5691736"/>
              <a:ext cx="180000" cy="180000"/>
              <a:chOff x="5058274" y="2498299"/>
              <a:chExt cx="180000" cy="180000"/>
            </a:xfrm>
          </p:grpSpPr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E9B5D9EB-9463-896B-12A2-37CBFEB67E81}"/>
                  </a:ext>
                </a:extLst>
              </p:cNvPr>
              <p:cNvSpPr/>
              <p:nvPr/>
            </p:nvSpPr>
            <p:spPr>
              <a:xfrm>
                <a:off x="5058274" y="2498299"/>
                <a:ext cx="180000" cy="180000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5035D845-DB68-ACE3-6F03-D835D7B8D78D}"/>
                  </a:ext>
                </a:extLst>
              </p:cNvPr>
              <p:cNvSpPr/>
              <p:nvPr/>
            </p:nvSpPr>
            <p:spPr>
              <a:xfrm>
                <a:off x="5094274" y="253429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2106742" y="2360660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768563" y="2735794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캐시 삭제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3002333" y="3788873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모바일앱서비스 안내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5768563" y="2211723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디바이스 </a:t>
            </a:r>
            <a:r>
              <a:rPr lang="en-US" altLang="ko-KR" sz="800" dirty="0">
                <a:solidFill>
                  <a:schemeClr val="tx1"/>
                </a:solidFill>
              </a:rPr>
              <a:t>–</a:t>
            </a:r>
            <a:r>
              <a:rPr lang="ko-KR" altLang="en-US" sz="800" dirty="0">
                <a:solidFill>
                  <a:schemeClr val="tx1"/>
                </a:solidFill>
              </a:rPr>
              <a:t> 앱 권한</a:t>
            </a:r>
          </a:p>
        </p:txBody>
      </p: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34" idx="1"/>
          </p:cNvCxnSpPr>
          <p:nvPr/>
        </p:nvCxnSpPr>
        <p:spPr>
          <a:xfrm>
            <a:off x="4423893" y="2360660"/>
            <a:ext cx="1344670" cy="51913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658101" y="3644396"/>
            <a:ext cx="755015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 err="1">
                <a:solidFill>
                  <a:schemeClr val="tx1"/>
                </a:solidFill>
              </a:rPr>
              <a:t>모바일웹</a:t>
            </a:r>
            <a:r>
              <a:rPr lang="ko-KR" altLang="en-US" sz="800" b="1" dirty="0">
                <a:solidFill>
                  <a:schemeClr val="tx1"/>
                </a:solidFill>
              </a:rPr>
              <a:t> 사용자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658101" y="3842873"/>
            <a:ext cx="448641" cy="180000"/>
            <a:chOff x="4520608" y="1663914"/>
            <a:chExt cx="448641" cy="180000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49" idx="6"/>
            <a:endCxn id="37" idx="1"/>
          </p:cNvCxnSpPr>
          <p:nvPr/>
        </p:nvCxnSpPr>
        <p:spPr>
          <a:xfrm>
            <a:off x="2106742" y="3932873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3" idx="3"/>
            <a:endCxn id="60" idx="1"/>
          </p:cNvCxnSpPr>
          <p:nvPr/>
        </p:nvCxnSpPr>
        <p:spPr>
          <a:xfrm flipV="1">
            <a:off x="4423893" y="2355723"/>
            <a:ext cx="1344670" cy="49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768563" y="3788873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연결</a:t>
            </a:r>
          </a:p>
        </p:txBody>
      </p:sp>
      <p:sp>
        <p:nvSpPr>
          <p:cNvPr id="63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768563" y="4302635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앱스토어</a:t>
            </a:r>
          </a:p>
        </p:txBody>
      </p:sp>
      <p:cxnSp>
        <p:nvCxnSpPr>
          <p:cNvPr id="6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63" idx="1"/>
          </p:cNvCxnSpPr>
          <p:nvPr/>
        </p:nvCxnSpPr>
        <p:spPr>
          <a:xfrm>
            <a:off x="4423893" y="3932873"/>
            <a:ext cx="1344670" cy="5137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37" idx="3"/>
            <a:endCxn id="62" idx="1"/>
          </p:cNvCxnSpPr>
          <p:nvPr/>
        </p:nvCxnSpPr>
        <p:spPr>
          <a:xfrm>
            <a:off x="4423893" y="3932873"/>
            <a:ext cx="13446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7190123" y="2355723"/>
            <a:ext cx="1338571" cy="89290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7190123" y="2879794"/>
            <a:ext cx="1338571" cy="36883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2" idx="3"/>
            <a:endCxn id="19" idx="2"/>
          </p:cNvCxnSpPr>
          <p:nvPr/>
        </p:nvCxnSpPr>
        <p:spPr>
          <a:xfrm flipV="1">
            <a:off x="7190123" y="3248625"/>
            <a:ext cx="1338571" cy="6842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3" idx="3"/>
            <a:endCxn id="19" idx="2"/>
          </p:cNvCxnSpPr>
          <p:nvPr/>
        </p:nvCxnSpPr>
        <p:spPr>
          <a:xfrm flipV="1">
            <a:off x="7190123" y="3248625"/>
            <a:ext cx="1338571" cy="1198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996C471-E44F-C5C9-F26F-9A9662EC602C}"/>
              </a:ext>
            </a:extLst>
          </p:cNvPr>
          <p:cNvSpPr/>
          <p:nvPr/>
        </p:nvSpPr>
        <p:spPr>
          <a:xfrm>
            <a:off x="3002332" y="3644397"/>
            <a:ext cx="133857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로그인</a:t>
            </a:r>
            <a:r>
              <a:rPr lang="en-US" altLang="ko-KR" sz="800" dirty="0" smtClean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서비스 사용 시도 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38" name="그룹 37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43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2838823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383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802607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설정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AppStngPage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2404804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앱 캐시 삭제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AppCashDel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3006722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모바일앱서비스 안내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AppSrvc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2049302"/>
            <a:ext cx="1559406" cy="940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669758"/>
            <a:ext cx="1559406" cy="32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 flipV="1">
            <a:off x="2409921" y="2990174"/>
            <a:ext cx="1550170" cy="275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499836018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ko-KR" altLang="en-US" dirty="0" err="1"/>
              <a:t>알림설정</a:t>
            </a:r>
            <a:r>
              <a:rPr lang="ko-KR" altLang="en-US" dirty="0"/>
              <a:t> 값과 동일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알림 서비스 신청 및 해지 페이지 </a:t>
            </a:r>
            <a:r>
              <a:rPr lang="ko-KR" altLang="en-US" dirty="0" err="1"/>
              <a:t>바로가기</a:t>
            </a:r>
            <a:r>
              <a:rPr lang="ko-KR" altLang="en-US" dirty="0"/>
              <a:t> 버튼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권한 설정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시스템 앱 설정으로 </a:t>
            </a:r>
            <a:r>
              <a:rPr lang="ko-KR" altLang="en-US" dirty="0" err="1">
                <a:sym typeface="Wingdings" panose="05000000000000000000" pitchFamily="2" charset="2"/>
              </a:rPr>
              <a:t>바로가기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앱 버전 정보 아코디언으로 최소화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앱 캐시 삭제 클릭 시 팝업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약관</a:t>
            </a:r>
            <a:r>
              <a:rPr lang="en-US" altLang="ko-KR" dirty="0">
                <a:sym typeface="Wingdings" panose="05000000000000000000" pitchFamily="2" charset="2"/>
              </a:rPr>
              <a:t> dapa.go.kr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개인정보 처리방침 외부 브라우저 링크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저작권 정책 외부 브라우저 링크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설정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앱 설정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설정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MUI-MS-02-M01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F397FE-75BC-416F-A3B0-F0A2DFA42B38}"/>
              </a:ext>
            </a:extLst>
          </p:cNvPr>
          <p:cNvSpPr/>
          <p:nvPr/>
        </p:nvSpPr>
        <p:spPr>
          <a:xfrm>
            <a:off x="675401" y="1493927"/>
            <a:ext cx="2712026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설정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5" name="그룹 2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6" name="직선 연결선 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직선 연결선 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타원 2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903581" y="3648461"/>
            <a:ext cx="2255663" cy="306146"/>
            <a:chOff x="903581" y="2074658"/>
            <a:chExt cx="2255663" cy="306146"/>
          </a:xfrm>
        </p:grpSpPr>
        <p:sp>
          <p:nvSpPr>
            <p:cNvPr id="30" name="모서리가 둥근 직사각형 29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앱 권한 설정</a:t>
              </a: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906602" y="5195084"/>
            <a:ext cx="2255663" cy="306146"/>
            <a:chOff x="903581" y="2845891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903581" y="2845891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945103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937409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앱 캐시 삭제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348355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앱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074" y="2002738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0624" y="2299999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앱 푸시 알림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0624" y="2446054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모바일 앱으로 알림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88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10973" y="2361554"/>
            <a:ext cx="301752" cy="137160"/>
            <a:chOff x="840582" y="1601197"/>
            <a:chExt cx="301752" cy="137160"/>
          </a:xfrm>
        </p:grpSpPr>
        <p:sp>
          <p:nvSpPr>
            <p:cNvPr id="89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0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4787" y="31909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8" name="그룹 97"/>
          <p:cNvGrpSpPr/>
          <p:nvPr/>
        </p:nvGrpSpPr>
        <p:grpSpPr>
          <a:xfrm>
            <a:off x="903581" y="2707140"/>
            <a:ext cx="2255663" cy="306146"/>
            <a:chOff x="903581" y="2074658"/>
            <a:chExt cx="2255663" cy="306146"/>
          </a:xfrm>
        </p:grpSpPr>
        <p:sp>
          <p:nvSpPr>
            <p:cNvPr id="99" name="모서리가 둥근 직사각형 98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알림 서비스 신청 및 해지</a:t>
              </a:r>
            </a:p>
          </p:txBody>
        </p:sp>
      </p:grpSp>
      <p:sp>
        <p:nvSpPr>
          <p:cNvPr id="102" name="모서리가 둥근 직사각형 101"/>
          <p:cNvSpPr/>
          <p:nvPr/>
        </p:nvSpPr>
        <p:spPr>
          <a:xfrm>
            <a:off x="948491" y="4310789"/>
            <a:ext cx="2165844" cy="692962"/>
          </a:xfrm>
          <a:prstGeom prst="roundRect">
            <a:avLst>
              <a:gd name="adj" fmla="val 579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모서리가 둥근 직사각형 81"/>
          <p:cNvSpPr/>
          <p:nvPr/>
        </p:nvSpPr>
        <p:spPr>
          <a:xfrm>
            <a:off x="903581" y="4091030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182548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앱 </a:t>
            </a:r>
            <a:r>
              <a:rPr lang="ko-KR" altLang="en-US" sz="800" b="1" dirty="0" err="1">
                <a:latin typeface="+mn-ea"/>
              </a:rPr>
              <a:t>버전정보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9470" y="4182548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800">
                <a:latin typeface="+mn-ea"/>
              </a:defRPr>
            </a:lvl1pPr>
          </a:lstStyle>
          <a:p>
            <a:pPr algn="r"/>
            <a:r>
              <a:rPr lang="en-US" altLang="ko-KR" dirty="0"/>
              <a:t>V 1.0.1</a:t>
            </a:r>
          </a:p>
        </p:txBody>
      </p:sp>
      <p:grpSp>
        <p:nvGrpSpPr>
          <p:cNvPr id="78" name="그룹 77"/>
          <p:cNvGrpSpPr/>
          <p:nvPr/>
        </p:nvGrpSpPr>
        <p:grpSpPr>
          <a:xfrm>
            <a:off x="2950527" y="4220601"/>
            <a:ext cx="94010" cy="47005"/>
            <a:chOff x="6812560" y="3297172"/>
            <a:chExt cx="94010" cy="47005"/>
          </a:xfrm>
        </p:grpSpPr>
        <p:cxnSp>
          <p:nvCxnSpPr>
            <p:cNvPr id="79" name="직선 연결선 7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472572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현재 앱 버전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472572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/>
              <a:t>V 1.0.1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638866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내 기기 정보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638866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/>
              <a:t>iPhone 16.2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805160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내 기기 </a:t>
            </a:r>
            <a:r>
              <a:rPr lang="en-US" altLang="ko-KR" sz="800" dirty="0">
                <a:latin typeface="+mn-ea"/>
              </a:rPr>
              <a:t>OS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805160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 err="1"/>
              <a:t>ios</a:t>
            </a:r>
            <a:endParaRPr lang="en-US" altLang="ko-KR" sz="800" dirty="0"/>
          </a:p>
        </p:txBody>
      </p:sp>
      <p:sp>
        <p:nvSpPr>
          <p:cNvPr id="109" name="모서리가 둥근 직사각형 108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삭제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앱 캐시 삭제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앱에 임시 보관된 캐시를 삭제할까요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115" name="직선 연결선 11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직선 연결선 11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7" name="직사각형 116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MUI-MS-02-P02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앱 캐시 삭제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0" name="그룹 119"/>
          <p:cNvGrpSpPr/>
          <p:nvPr/>
        </p:nvGrpSpPr>
        <p:grpSpPr>
          <a:xfrm>
            <a:off x="4034528" y="1984727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개인정보처리방침</a:t>
              </a:r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4633" y="1684621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약관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8420" y="57259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2" name="그룹 131"/>
          <p:cNvGrpSpPr/>
          <p:nvPr/>
        </p:nvGrpSpPr>
        <p:grpSpPr>
          <a:xfrm>
            <a:off x="4034528" y="2427296"/>
            <a:ext cx="2255663" cy="306146"/>
            <a:chOff x="903581" y="2074658"/>
            <a:chExt cx="2255663" cy="306146"/>
          </a:xfrm>
        </p:grpSpPr>
        <p:sp>
          <p:nvSpPr>
            <p:cNvPr id="133" name="모서리가 둥근 직사각형 132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저작권 정책</a:t>
              </a:r>
              <a:endParaRPr lang="en-US" altLang="ko-KR" sz="800" b="1" dirty="0">
                <a:solidFill>
                  <a:srgbClr val="FF0000"/>
                </a:solidFill>
                <a:latin typeface="+mn-ea"/>
              </a:endParaRPr>
            </a:p>
          </p:txBody>
        </p: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140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6" y="19701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6" y="32993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8880" y="16666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129785500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모바일 웹에서 서비스 사용 시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로그인 서비스를 사용하려 할 때 노출되는 팝업 메시지임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버튼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앱이 설치되어 있다면 앱으로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앱이 설치되어 있지 않다면 앱 설치 스토어로 연결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모바일앱서비스안내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모바일 웹에서 로그인 서비스를 </a:t>
            </a:r>
            <a:r>
              <a:rPr lang="ko-KR" altLang="en-US" dirty="0" err="1">
                <a:latin typeface="+mn-ea"/>
              </a:rPr>
              <a:t>사용하려할</a:t>
            </a:r>
            <a:r>
              <a:rPr lang="ko-KR" altLang="en-US" dirty="0">
                <a:latin typeface="+mn-ea"/>
              </a:rPr>
              <a:t> 때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모바일 앱을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모바일 웹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서비스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모바일앱서비스안내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MUI-MS-02-P03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F397FE-75BC-416F-A3B0-F0A2DFA42B38}"/>
              </a:ext>
            </a:extLst>
          </p:cNvPr>
          <p:cNvSpPr/>
          <p:nvPr/>
        </p:nvSpPr>
        <p:spPr>
          <a:xfrm>
            <a:off x="675401" y="1493927"/>
            <a:ext cx="2712026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/>
          </a:p>
        </p:txBody>
      </p:sp>
      <p:grpSp>
        <p:nvGrpSpPr>
          <p:cNvPr id="19" name="Overlay and Alert">
            <a:extLst>
              <a:ext uri="{FF2B5EF4-FFF2-40B4-BE49-F238E27FC236}">
                <a16:creationId xmlns:a16="http://schemas.microsoft.com/office/drawing/2014/main" id="{8570DB11-89E5-44DD-9545-614AC5D78982}"/>
              </a:ext>
            </a:extLst>
          </p:cNvPr>
          <p:cNvGrpSpPr/>
          <p:nvPr/>
        </p:nvGrpSpPr>
        <p:grpSpPr>
          <a:xfrm>
            <a:off x="675401" y="1493927"/>
            <a:ext cx="2701627" cy="4738361"/>
            <a:chOff x="595686" y="1261242"/>
            <a:chExt cx="2286000" cy="4064000"/>
          </a:xfrm>
        </p:grpSpPr>
        <p:sp>
          <p:nvSpPr>
            <p:cNvPr id="20" name="Overlay">
              <a:extLst>
                <a:ext uri="{FF2B5EF4-FFF2-40B4-BE49-F238E27FC236}">
                  <a16:creationId xmlns:a16="http://schemas.microsoft.com/office/drawing/2014/main" id="{50423D8B-855D-4277-89CC-C6A83C8025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686" y="1261242"/>
              <a:ext cx="2286000" cy="4064000"/>
            </a:xfrm>
            <a:prstGeom prst="rect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Background">
              <a:extLst>
                <a:ext uri="{FF2B5EF4-FFF2-40B4-BE49-F238E27FC236}">
                  <a16:creationId xmlns:a16="http://schemas.microsoft.com/office/drawing/2014/main" id="{A1A44B50-9D70-4862-8DC3-A37BCACED50C}"/>
                </a:ext>
              </a:extLst>
            </p:cNvPr>
            <p:cNvSpPr/>
            <p:nvPr/>
          </p:nvSpPr>
          <p:spPr>
            <a:xfrm>
              <a:off x="781226" y="2038441"/>
              <a:ext cx="1914922" cy="2584963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182880" tIns="128016" rIns="182880" bIns="4572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0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B1AD0E-77B8-4F9D-ADEF-B1427C8D6092}"/>
              </a:ext>
            </a:extLst>
          </p:cNvPr>
          <p:cNvSpPr/>
          <p:nvPr/>
        </p:nvSpPr>
        <p:spPr>
          <a:xfrm>
            <a:off x="1078300" y="3553946"/>
            <a:ext cx="1962202" cy="9144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국방전자조달 모바일 서비스란</a:t>
            </a:r>
            <a:r>
              <a:rPr lang="en-US" altLang="ko-KR" sz="10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국방전자조달시스템에 게시되는 주요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조달정보를 언제 어디서나 조회할 수 있도록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스마트폰에서도 이용 가능한 모바일 앱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서비스입니다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각종 입찰공고는 물론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입찰결과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계약정보 등 다양한 정보를 실시간으로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조회하실 수 있습니다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79">
            <a:extLst>
              <a:ext uri="{FF2B5EF4-FFF2-40B4-BE49-F238E27FC236}">
                <a16:creationId xmlns:a16="http://schemas.microsoft.com/office/drawing/2014/main" id="{3086DFF5-18F6-4939-8DBB-B672A87906A0}"/>
              </a:ext>
            </a:extLst>
          </p:cNvPr>
          <p:cNvSpPr/>
          <p:nvPr/>
        </p:nvSpPr>
        <p:spPr>
          <a:xfrm>
            <a:off x="1078300" y="5029200"/>
            <a:ext cx="1962202" cy="220443"/>
          </a:xfrm>
          <a:prstGeom prst="roundRect">
            <a:avLst/>
          </a:prstGeom>
          <a:solidFill>
            <a:srgbClr val="0070C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국방전자조달 앱 실행하기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C8E76FAB-6B90-42DF-A52B-36ACEC056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01" y="2783146"/>
            <a:ext cx="1828800" cy="371475"/>
          </a:xfrm>
          <a:prstGeom prst="rect">
            <a:avLst/>
          </a:prstGeom>
          <a:solidFill>
            <a:schemeClr val="bg1"/>
          </a:solidFill>
          <a:ln>
            <a:solidFill>
              <a:srgbClr val="F5F5F5"/>
            </a:solidFill>
          </a:ln>
        </p:spPr>
      </p:pic>
      <p:sp>
        <p:nvSpPr>
          <p:cNvPr id="32" name="타원 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814437" y="23140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524838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HNKjcG5LQF3a4yIKJeEMiBUZIB0kVbgXykBmurRQ/4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HNKjcG5LQF3a4yIKJeEMiBUZIB0kVbgXykBmurRQ/4="/>
</p:tagLst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19329</TotalTime>
  <Words>50073</Words>
  <Application>Microsoft Office PowerPoint</Application>
  <PresentationFormat>A4 용지(210x297mm)</PresentationFormat>
  <Paragraphs>22023</Paragraphs>
  <Slides>386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386</vt:i4>
      </vt:variant>
    </vt:vector>
  </HeadingPairs>
  <TitlesOfParts>
    <vt:vector size="398" baseType="lpstr">
      <vt:lpstr>Pretendard GOV</vt:lpstr>
      <vt:lpstr>Pretendard Medium</vt:lpstr>
      <vt:lpstr>맑은 고딕</vt:lpstr>
      <vt:lpstr>맑은 고딕 (본문)</vt:lpstr>
      <vt:lpstr>Arial</vt:lpstr>
      <vt:lpstr>Calibri</vt:lpstr>
      <vt:lpstr>Consolas</vt:lpstr>
      <vt:lpstr>Segoe UI</vt:lpstr>
      <vt:lpstr>Times New Roman</vt:lpstr>
      <vt:lpstr>Verdana</vt:lpstr>
      <vt:lpstr>Wingdings</vt:lpstr>
      <vt:lpstr>Office 테마</vt:lpstr>
      <vt:lpstr>사용자인터페이스 설계서 - 모바일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LIG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표준서식-PPTX-A4-Landscape</dc:title>
  <dc:subject>프로젝트 명</dc:subject>
  <dc:creator>LIG SYSTEM</dc:creator>
  <cp:keywords>표준서식-PPTX-A4-Landscape</cp:keywords>
  <cp:lastModifiedBy>User</cp:lastModifiedBy>
  <cp:revision>1048</cp:revision>
  <cp:lastPrinted>2016-10-27T08:57:39Z</cp:lastPrinted>
  <dcterms:created xsi:type="dcterms:W3CDTF">2016-10-27T07:41:55Z</dcterms:created>
  <dcterms:modified xsi:type="dcterms:W3CDTF">2026-08-07T05:53:11Z</dcterms:modified>
  <cp:category>서브시스템/업무명</cp:category>
  <cp:contentStatus>0.1</cp:contentStatus>
</cp:coreProperties>
</file>