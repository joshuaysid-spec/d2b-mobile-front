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94"/>
  </p:notesMasterIdLst>
  <p:handoutMasterIdLst>
    <p:handoutMasterId r:id="rId395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757" r:id="rId15"/>
    <p:sldId id="743" r:id="rId16"/>
    <p:sldId id="758" r:id="rId17"/>
    <p:sldId id="273" r:id="rId18"/>
    <p:sldId id="275" r:id="rId19"/>
    <p:sldId id="276" r:id="rId20"/>
    <p:sldId id="277" r:id="rId21"/>
    <p:sldId id="279" r:id="rId22"/>
    <p:sldId id="744" r:id="rId23"/>
    <p:sldId id="301" r:id="rId24"/>
    <p:sldId id="503" r:id="rId25"/>
    <p:sldId id="284" r:id="rId26"/>
    <p:sldId id="288" r:id="rId27"/>
    <p:sldId id="289" r:id="rId28"/>
    <p:sldId id="290" r:id="rId29"/>
    <p:sldId id="308" r:id="rId30"/>
    <p:sldId id="309" r:id="rId31"/>
    <p:sldId id="310" r:id="rId32"/>
    <p:sldId id="724" r:id="rId33"/>
    <p:sldId id="780" r:id="rId34"/>
    <p:sldId id="386" r:id="rId35"/>
    <p:sldId id="782" r:id="rId36"/>
    <p:sldId id="313" r:id="rId37"/>
    <p:sldId id="783" r:id="rId38"/>
    <p:sldId id="779" r:id="rId39"/>
    <p:sldId id="420" r:id="rId40"/>
    <p:sldId id="311" r:id="rId41"/>
    <p:sldId id="777" r:id="rId42"/>
    <p:sldId id="778" r:id="rId43"/>
    <p:sldId id="314" r:id="rId44"/>
    <p:sldId id="715" r:id="rId45"/>
    <p:sldId id="317" r:id="rId46"/>
    <p:sldId id="322" r:id="rId47"/>
    <p:sldId id="716" r:id="rId48"/>
    <p:sldId id="781" r:id="rId49"/>
    <p:sldId id="318" r:id="rId50"/>
    <p:sldId id="323" r:id="rId51"/>
    <p:sldId id="717" r:id="rId52"/>
    <p:sldId id="324" r:id="rId53"/>
    <p:sldId id="718" r:id="rId54"/>
    <p:sldId id="319" r:id="rId55"/>
    <p:sldId id="315" r:id="rId56"/>
    <p:sldId id="316" r:id="rId57"/>
    <p:sldId id="321" r:id="rId58"/>
    <p:sldId id="320" r:id="rId59"/>
    <p:sldId id="326" r:id="rId60"/>
    <p:sldId id="325" r:id="rId61"/>
    <p:sldId id="759" r:id="rId62"/>
    <p:sldId id="327" r:id="rId63"/>
    <p:sldId id="328" r:id="rId64"/>
    <p:sldId id="330" r:id="rId65"/>
    <p:sldId id="329" r:id="rId66"/>
    <p:sldId id="331" r:id="rId67"/>
    <p:sldId id="746" r:id="rId68"/>
    <p:sldId id="374" r:id="rId69"/>
    <p:sldId id="375" r:id="rId70"/>
    <p:sldId id="760" r:id="rId71"/>
    <p:sldId id="332" r:id="rId72"/>
    <p:sldId id="788" r:id="rId73"/>
    <p:sldId id="371" r:id="rId74"/>
    <p:sldId id="789" r:id="rId75"/>
    <p:sldId id="747" r:id="rId76"/>
    <p:sldId id="762" r:id="rId77"/>
    <p:sldId id="748" r:id="rId78"/>
    <p:sldId id="761" r:id="rId79"/>
    <p:sldId id="749" r:id="rId80"/>
    <p:sldId id="378" r:id="rId81"/>
    <p:sldId id="379" r:id="rId82"/>
    <p:sldId id="725" r:id="rId83"/>
    <p:sldId id="380" r:id="rId84"/>
    <p:sldId id="381" r:id="rId85"/>
    <p:sldId id="382" r:id="rId86"/>
    <p:sldId id="383" r:id="rId87"/>
    <p:sldId id="726" r:id="rId88"/>
    <p:sldId id="727" r:id="rId89"/>
    <p:sldId id="384" r:id="rId90"/>
    <p:sldId id="728" r:id="rId91"/>
    <p:sldId id="385" r:id="rId92"/>
    <p:sldId id="400" r:id="rId93"/>
    <p:sldId id="401" r:id="rId94"/>
    <p:sldId id="729" r:id="rId95"/>
    <p:sldId id="402" r:id="rId96"/>
    <p:sldId id="504" r:id="rId97"/>
    <p:sldId id="792" r:id="rId98"/>
    <p:sldId id="793" r:id="rId99"/>
    <p:sldId id="794" r:id="rId100"/>
    <p:sldId id="795" r:id="rId101"/>
    <p:sldId id="403" r:id="rId102"/>
    <p:sldId id="770" r:id="rId103"/>
    <p:sldId id="404" r:id="rId104"/>
    <p:sldId id="771" r:id="rId105"/>
    <p:sldId id="796" r:id="rId106"/>
    <p:sldId id="730" r:id="rId107"/>
    <p:sldId id="731" r:id="rId108"/>
    <p:sldId id="732" r:id="rId109"/>
    <p:sldId id="733" r:id="rId110"/>
    <p:sldId id="734" r:id="rId111"/>
    <p:sldId id="735" r:id="rId112"/>
    <p:sldId id="736" r:id="rId113"/>
    <p:sldId id="405" r:id="rId114"/>
    <p:sldId id="737" r:id="rId115"/>
    <p:sldId id="406" r:id="rId116"/>
    <p:sldId id="738" r:id="rId117"/>
    <p:sldId id="626" r:id="rId118"/>
    <p:sldId id="407" r:id="rId119"/>
    <p:sldId id="408" r:id="rId120"/>
    <p:sldId id="739" r:id="rId121"/>
    <p:sldId id="409" r:id="rId122"/>
    <p:sldId id="740" r:id="rId123"/>
    <p:sldId id="410" r:id="rId124"/>
    <p:sldId id="577" r:id="rId125"/>
    <p:sldId id="411" r:id="rId126"/>
    <p:sldId id="772" r:id="rId127"/>
    <p:sldId id="412" r:id="rId128"/>
    <p:sldId id="505" r:id="rId129"/>
    <p:sldId id="506" r:id="rId130"/>
    <p:sldId id="507" r:id="rId131"/>
    <p:sldId id="508" r:id="rId132"/>
    <p:sldId id="413" r:id="rId133"/>
    <p:sldId id="719" r:id="rId134"/>
    <p:sldId id="414" r:id="rId135"/>
    <p:sldId id="509" r:id="rId136"/>
    <p:sldId id="510" r:id="rId137"/>
    <p:sldId id="511" r:id="rId138"/>
    <p:sldId id="512" r:id="rId139"/>
    <p:sldId id="513" r:id="rId140"/>
    <p:sldId id="514" r:id="rId141"/>
    <p:sldId id="515" r:id="rId142"/>
    <p:sldId id="516" r:id="rId143"/>
    <p:sldId id="415" r:id="rId144"/>
    <p:sldId id="518" r:id="rId145"/>
    <p:sldId id="519" r:id="rId146"/>
    <p:sldId id="517" r:id="rId147"/>
    <p:sldId id="521" r:id="rId148"/>
    <p:sldId id="773" r:id="rId149"/>
    <p:sldId id="524" r:id="rId150"/>
    <p:sldId id="522" r:id="rId151"/>
    <p:sldId id="525" r:id="rId152"/>
    <p:sldId id="526" r:id="rId153"/>
    <p:sldId id="720" r:id="rId154"/>
    <p:sldId id="528" r:id="rId155"/>
    <p:sldId id="529" r:id="rId156"/>
    <p:sldId id="530" r:id="rId157"/>
    <p:sldId id="531" r:id="rId158"/>
    <p:sldId id="532" r:id="rId159"/>
    <p:sldId id="541" r:id="rId160"/>
    <p:sldId id="756" r:id="rId161"/>
    <p:sldId id="536" r:id="rId162"/>
    <p:sldId id="537" r:id="rId163"/>
    <p:sldId id="538" r:id="rId164"/>
    <p:sldId id="539" r:id="rId165"/>
    <p:sldId id="540" r:id="rId166"/>
    <p:sldId id="533" r:id="rId167"/>
    <p:sldId id="535" r:id="rId168"/>
    <p:sldId id="542" r:id="rId169"/>
    <p:sldId id="543" r:id="rId170"/>
    <p:sldId id="544" r:id="rId171"/>
    <p:sldId id="545" r:id="rId172"/>
    <p:sldId id="546" r:id="rId173"/>
    <p:sldId id="547" r:id="rId174"/>
    <p:sldId id="548" r:id="rId175"/>
    <p:sldId id="549" r:id="rId176"/>
    <p:sldId id="550" r:id="rId177"/>
    <p:sldId id="551" r:id="rId178"/>
    <p:sldId id="552" r:id="rId179"/>
    <p:sldId id="553" r:id="rId180"/>
    <p:sldId id="556" r:id="rId181"/>
    <p:sldId id="557" r:id="rId182"/>
    <p:sldId id="560" r:id="rId183"/>
    <p:sldId id="558" r:id="rId184"/>
    <p:sldId id="559" r:id="rId185"/>
    <p:sldId id="555" r:id="rId186"/>
    <p:sldId id="554" r:id="rId187"/>
    <p:sldId id="561" r:id="rId188"/>
    <p:sldId id="562" r:id="rId189"/>
    <p:sldId id="563" r:id="rId190"/>
    <p:sldId id="564" r:id="rId191"/>
    <p:sldId id="565" r:id="rId192"/>
    <p:sldId id="566" r:id="rId193"/>
    <p:sldId id="569" r:id="rId194"/>
    <p:sldId id="567" r:id="rId195"/>
    <p:sldId id="568" r:id="rId196"/>
    <p:sldId id="570" r:id="rId197"/>
    <p:sldId id="571" r:id="rId198"/>
    <p:sldId id="572" r:id="rId199"/>
    <p:sldId id="722" r:id="rId200"/>
    <p:sldId id="574" r:id="rId201"/>
    <p:sldId id="578" r:id="rId202"/>
    <p:sldId id="575" r:id="rId203"/>
    <p:sldId id="576" r:id="rId204"/>
    <p:sldId id="590" r:id="rId205"/>
    <p:sldId id="591" r:id="rId206"/>
    <p:sldId id="592" r:id="rId207"/>
    <p:sldId id="588" r:id="rId208"/>
    <p:sldId id="589" r:id="rId209"/>
    <p:sldId id="593" r:id="rId210"/>
    <p:sldId id="595" r:id="rId211"/>
    <p:sldId id="596" r:id="rId212"/>
    <p:sldId id="594" r:id="rId213"/>
    <p:sldId id="579" r:id="rId214"/>
    <p:sldId id="583" r:id="rId215"/>
    <p:sldId id="580" r:id="rId216"/>
    <p:sldId id="582" r:id="rId217"/>
    <p:sldId id="584" r:id="rId218"/>
    <p:sldId id="587" r:id="rId219"/>
    <p:sldId id="586" r:id="rId220"/>
    <p:sldId id="585" r:id="rId221"/>
    <p:sldId id="337" r:id="rId222"/>
    <p:sldId id="763" r:id="rId223"/>
    <p:sldId id="764" r:id="rId224"/>
    <p:sldId id="765" r:id="rId225"/>
    <p:sldId id="338" r:id="rId226"/>
    <p:sldId id="790" r:id="rId227"/>
    <p:sldId id="766" r:id="rId228"/>
    <p:sldId id="750" r:id="rId229"/>
    <p:sldId id="767" r:id="rId230"/>
    <p:sldId id="768" r:id="rId231"/>
    <p:sldId id="388" r:id="rId232"/>
    <p:sldId id="611" r:id="rId233"/>
    <p:sldId id="612" r:id="rId234"/>
    <p:sldId id="613" r:id="rId235"/>
    <p:sldId id="614" r:id="rId236"/>
    <p:sldId id="615" r:id="rId237"/>
    <p:sldId id="616" r:id="rId238"/>
    <p:sldId id="617" r:id="rId239"/>
    <p:sldId id="389" r:id="rId240"/>
    <p:sldId id="618" r:id="rId241"/>
    <p:sldId id="619" r:id="rId242"/>
    <p:sldId id="620" r:id="rId243"/>
    <p:sldId id="621" r:id="rId244"/>
    <p:sldId id="622" r:id="rId245"/>
    <p:sldId id="623" r:id="rId246"/>
    <p:sldId id="624" r:id="rId247"/>
    <p:sldId id="390" r:id="rId248"/>
    <p:sldId id="627" r:id="rId249"/>
    <p:sldId id="774" r:id="rId250"/>
    <p:sldId id="392" r:id="rId251"/>
    <p:sldId id="393" r:id="rId252"/>
    <p:sldId id="787" r:id="rId253"/>
    <p:sldId id="628" r:id="rId254"/>
    <p:sldId id="629" r:id="rId255"/>
    <p:sldId id="394" r:id="rId256"/>
    <p:sldId id="775" r:id="rId257"/>
    <p:sldId id="630" r:id="rId258"/>
    <p:sldId id="631" r:id="rId259"/>
    <p:sldId id="632" r:id="rId260"/>
    <p:sldId id="633" r:id="rId261"/>
    <p:sldId id="634" r:id="rId262"/>
    <p:sldId id="635" r:id="rId263"/>
    <p:sldId id="636" r:id="rId264"/>
    <p:sldId id="637" r:id="rId265"/>
    <p:sldId id="638" r:id="rId266"/>
    <p:sldId id="639" r:id="rId267"/>
    <p:sldId id="640" r:id="rId268"/>
    <p:sldId id="641" r:id="rId269"/>
    <p:sldId id="642" r:id="rId270"/>
    <p:sldId id="643" r:id="rId271"/>
    <p:sldId id="644" r:id="rId272"/>
    <p:sldId id="645" r:id="rId273"/>
    <p:sldId id="646" r:id="rId274"/>
    <p:sldId id="647" r:id="rId275"/>
    <p:sldId id="668" r:id="rId276"/>
    <p:sldId id="669" r:id="rId277"/>
    <p:sldId id="670" r:id="rId278"/>
    <p:sldId id="648" r:id="rId279"/>
    <p:sldId id="649" r:id="rId280"/>
    <p:sldId id="650" r:id="rId281"/>
    <p:sldId id="723" r:id="rId282"/>
    <p:sldId id="652" r:id="rId283"/>
    <p:sldId id="653" r:id="rId284"/>
    <p:sldId id="654" r:id="rId285"/>
    <p:sldId id="655" r:id="rId286"/>
    <p:sldId id="656" r:id="rId287"/>
    <p:sldId id="657" r:id="rId288"/>
    <p:sldId id="658" r:id="rId289"/>
    <p:sldId id="659" r:id="rId290"/>
    <p:sldId id="660" r:id="rId291"/>
    <p:sldId id="661" r:id="rId292"/>
    <p:sldId id="662" r:id="rId293"/>
    <p:sldId id="663" r:id="rId294"/>
    <p:sldId id="664" r:id="rId295"/>
    <p:sldId id="665" r:id="rId296"/>
    <p:sldId id="666" r:id="rId297"/>
    <p:sldId id="667" r:id="rId298"/>
    <p:sldId id="776" r:id="rId299"/>
    <p:sldId id="395" r:id="rId300"/>
    <p:sldId id="671" r:id="rId301"/>
    <p:sldId id="672" r:id="rId302"/>
    <p:sldId id="673" r:id="rId303"/>
    <p:sldId id="674" r:id="rId304"/>
    <p:sldId id="675" r:id="rId305"/>
    <p:sldId id="676" r:id="rId306"/>
    <p:sldId id="677" r:id="rId307"/>
    <p:sldId id="678" r:id="rId308"/>
    <p:sldId id="679" r:id="rId309"/>
    <p:sldId id="680" r:id="rId310"/>
    <p:sldId id="681" r:id="rId311"/>
    <p:sldId id="682" r:id="rId312"/>
    <p:sldId id="683" r:id="rId313"/>
    <p:sldId id="684" r:id="rId314"/>
    <p:sldId id="685" r:id="rId315"/>
    <p:sldId id="686" r:id="rId316"/>
    <p:sldId id="687" r:id="rId317"/>
    <p:sldId id="688" r:id="rId318"/>
    <p:sldId id="689" r:id="rId319"/>
    <p:sldId id="690" r:id="rId320"/>
    <p:sldId id="691" r:id="rId321"/>
    <p:sldId id="692" r:id="rId322"/>
    <p:sldId id="693" r:id="rId323"/>
    <p:sldId id="694" r:id="rId324"/>
    <p:sldId id="695" r:id="rId325"/>
    <p:sldId id="696" r:id="rId326"/>
    <p:sldId id="697" r:id="rId327"/>
    <p:sldId id="698" r:id="rId328"/>
    <p:sldId id="699" r:id="rId329"/>
    <p:sldId id="700" r:id="rId330"/>
    <p:sldId id="701" r:id="rId331"/>
    <p:sldId id="702" r:id="rId332"/>
    <p:sldId id="703" r:id="rId333"/>
    <p:sldId id="704" r:id="rId334"/>
    <p:sldId id="705" r:id="rId335"/>
    <p:sldId id="706" r:id="rId336"/>
    <p:sldId id="707" r:id="rId337"/>
    <p:sldId id="708" r:id="rId338"/>
    <p:sldId id="709" r:id="rId339"/>
    <p:sldId id="710" r:id="rId340"/>
    <p:sldId id="711" r:id="rId341"/>
    <p:sldId id="712" r:id="rId342"/>
    <p:sldId id="713" r:id="rId343"/>
    <p:sldId id="597" r:id="rId344"/>
    <p:sldId id="599" r:id="rId345"/>
    <p:sldId id="600" r:id="rId346"/>
    <p:sldId id="598" r:id="rId347"/>
    <p:sldId id="601" r:id="rId348"/>
    <p:sldId id="602" r:id="rId349"/>
    <p:sldId id="603" r:id="rId350"/>
    <p:sldId id="604" r:id="rId351"/>
    <p:sldId id="605" r:id="rId352"/>
    <p:sldId id="340" r:id="rId353"/>
    <p:sldId id="341" r:id="rId354"/>
    <p:sldId id="751" r:id="rId355"/>
    <p:sldId id="365" r:id="rId356"/>
    <p:sldId id="366" r:id="rId357"/>
    <p:sldId id="367" r:id="rId358"/>
    <p:sldId id="368" r:id="rId359"/>
    <p:sldId id="369" r:id="rId360"/>
    <p:sldId id="370" r:id="rId361"/>
    <p:sldId id="387" r:id="rId362"/>
    <p:sldId id="356" r:id="rId363"/>
    <p:sldId id="357" r:id="rId364"/>
    <p:sldId id="753" r:id="rId365"/>
    <p:sldId id="359" r:id="rId366"/>
    <p:sldId id="360" r:id="rId367"/>
    <p:sldId id="361" r:id="rId368"/>
    <p:sldId id="755" r:id="rId369"/>
    <p:sldId id="363" r:id="rId370"/>
    <p:sldId id="364" r:id="rId371"/>
    <p:sldId id="344" r:id="rId372"/>
    <p:sldId id="345" r:id="rId373"/>
    <p:sldId id="752" r:id="rId374"/>
    <p:sldId id="343" r:id="rId375"/>
    <p:sldId id="347" r:id="rId376"/>
    <p:sldId id="348" r:id="rId377"/>
    <p:sldId id="349" r:id="rId378"/>
    <p:sldId id="350" r:id="rId379"/>
    <p:sldId id="351" r:id="rId380"/>
    <p:sldId id="352" r:id="rId381"/>
    <p:sldId id="353" r:id="rId382"/>
    <p:sldId id="354" r:id="rId383"/>
    <p:sldId id="791" r:id="rId384"/>
    <p:sldId id="786" r:id="rId385"/>
    <p:sldId id="769" r:id="rId386"/>
    <p:sldId id="784" r:id="rId387"/>
    <p:sldId id="785" r:id="rId388"/>
    <p:sldId id="608" r:id="rId389"/>
    <p:sldId id="609" r:id="rId390"/>
    <p:sldId id="754" r:id="rId391"/>
    <p:sldId id="607" r:id="rId392"/>
    <p:sldId id="625" r:id="rId393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757"/>
            <p14:sldId id="743"/>
            <p14:sldId id="758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780"/>
            <p14:sldId id="386"/>
            <p14:sldId id="782"/>
            <p14:sldId id="313"/>
            <p14:sldId id="783"/>
            <p14:sldId id="779"/>
            <p14:sldId id="420"/>
            <p14:sldId id="311"/>
            <p14:sldId id="777"/>
            <p14:sldId id="778"/>
            <p14:sldId id="314"/>
            <p14:sldId id="715"/>
            <p14:sldId id="317"/>
            <p14:sldId id="322"/>
            <p14:sldId id="716"/>
            <p14:sldId id="781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759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760"/>
            <p14:sldId id="332"/>
            <p14:sldId id="788"/>
            <p14:sldId id="371"/>
            <p14:sldId id="789"/>
            <p14:sldId id="747"/>
            <p14:sldId id="762"/>
            <p14:sldId id="748"/>
            <p14:sldId id="761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792"/>
            <p14:sldId id="793"/>
            <p14:sldId id="794"/>
            <p14:sldId id="795"/>
            <p14:sldId id="403"/>
            <p14:sldId id="770"/>
            <p14:sldId id="404"/>
            <p14:sldId id="771"/>
            <p14:sldId id="796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772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773"/>
            <p14:sldId id="524"/>
            <p14:sldId id="522"/>
            <p14:sldId id="525"/>
            <p14:sldId id="526"/>
            <p14:sldId id="720"/>
            <p14:sldId id="528"/>
            <p14:sldId id="529"/>
            <p14:sldId id="530"/>
            <p14:sldId id="531"/>
            <p14:sldId id="532"/>
            <p14:sldId id="541"/>
            <p14:sldId id="756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763"/>
            <p14:sldId id="764"/>
            <p14:sldId id="765"/>
            <p14:sldId id="338"/>
            <p14:sldId id="790"/>
            <p14:sldId id="766"/>
            <p14:sldId id="750"/>
            <p14:sldId id="767"/>
            <p14:sldId id="768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774"/>
            <p14:sldId id="392"/>
            <p14:sldId id="393"/>
            <p14:sldId id="787"/>
            <p14:sldId id="628"/>
            <p14:sldId id="629"/>
            <p14:sldId id="394"/>
            <p14:sldId id="775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776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791"/>
            <p14:sldId id="786"/>
            <p14:sldId id="769"/>
            <p14:sldId id="784"/>
            <p14:sldId id="785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D0D0D"/>
    <a:srgbClr val="FFFFFF"/>
    <a:srgbClr val="000000"/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96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056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tableStyles" Target="tableStyles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handoutMaster" Target="handoutMasters/handoutMaster1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presProps" Target="presProps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viewProps" Target="viewProps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theme" Target="theme/theme1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2026-08-26 (Wednesday)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2026-08-26 (Wednesday)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hyperlink" Target="http://developer.android.com/sdk/index.html" TargetMode="External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.png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27041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49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570426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앱실행스플래시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앱접근권한동의팝업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앱업데이트안내팝업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앱오류안내팝업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-01-M06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앱이용안내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메인홈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중요공지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챗봇문의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햄버거메뉴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알림현황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로그인업체설정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67125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방식선택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mainLoginPage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0190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idPswdLoginPage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사용자등록안내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UserRegInfoPage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799172"/>
              </p:ext>
            </p:extLst>
          </p:nvPr>
        </p:nvGraphicFramePr>
        <p:xfrm>
          <a:off x="635474" y="1413419"/>
          <a:ext cx="8701200" cy="4739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간편인증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SimpleCert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FnstCert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공동인증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JntCert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모바일신분증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MobileIdntyCert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BioInfoCertRegPage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등록 완료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BioInfoCertRsltPage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96699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인증성공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실패안내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CertRsltPage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PcQRLgnPage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로그아웃안내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LgoInfo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로그인필요서비스안내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LgnSrvcInfo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비로그인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시도시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노출되는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NewIdChgInfo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구버전의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아이디로 로그인 하는 경우 신규 통합 아이디로 변경되는 사항 안내 팝업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NewIdChgInfo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961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NewIdPwReg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아이디와 비밀번호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NewIdPwReg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97124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통합로그인계정등록완료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NewIdCmptn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통합 아이디 등록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NewIdCmptn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5292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통합로그인계정 관련 추가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 smtClean="0"/>
                <a:t>MUI-CM-03-P21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MUI-CM-03-M22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MUI-CM-03-M23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로고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앱업데이트안내팝업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버전 체크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71" idx="0"/>
          </p:cNvCxnSpPr>
          <p:nvPr/>
        </p:nvCxnSpPr>
        <p:spPr>
          <a:xfrm>
            <a:off x="4647742" y="2595750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앱이용안내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앱접근권한동의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앱접근권한동의팝업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메인홈</a:t>
            </a:r>
            <a:r>
              <a:rPr lang="ko-KR" altLang="en-US" sz="800" dirty="0" smtClean="0">
                <a:solidFill>
                  <a:schemeClr val="tx1"/>
                </a:solidFill>
              </a:rPr>
              <a:t> 진입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grpSp>
        <p:nvGrpSpPr>
          <p:cNvPr id="55" name="그룹 5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서버 연결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앱오류안내팝업</a:t>
            </a:r>
          </a:p>
        </p:txBody>
      </p: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1" idx="2"/>
            <a:endCxn id="91" idx="0"/>
          </p:cNvCxnSpPr>
          <p:nvPr/>
        </p:nvCxnSpPr>
        <p:spPr>
          <a:xfrm>
            <a:off x="4647742" y="3274535"/>
            <a:ext cx="0" cy="39642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1" idx="3"/>
            <a:endCxn id="72" idx="1"/>
          </p:cNvCxnSpPr>
          <p:nvPr/>
        </p:nvCxnSpPr>
        <p:spPr>
          <a:xfrm>
            <a:off x="5097742" y="313053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2" idx="2"/>
            <a:endCxn id="91" idx="0"/>
          </p:cNvCxnSpPr>
          <p:nvPr/>
        </p:nvCxnSpPr>
        <p:spPr>
          <a:xfrm rot="5400000">
            <a:off x="5365096" y="2557181"/>
            <a:ext cx="39642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24203" y="2944110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 smtClean="0">
                <a:solidFill>
                  <a:schemeClr val="tx1"/>
                </a:solidFill>
              </a:rPr>
              <a:t>장애 발생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1090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중요공지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시스템안내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3"/>
            <a:endCxn id="87" idx="1"/>
          </p:cNvCxnSpPr>
          <p:nvPr/>
        </p:nvCxnSpPr>
        <p:spPr>
          <a:xfrm>
            <a:off x="5097742" y="5176874"/>
            <a:ext cx="91316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7" idx="2"/>
            <a:endCxn id="192" idx="0"/>
          </p:cNvCxnSpPr>
          <p:nvPr/>
        </p:nvCxnSpPr>
        <p:spPr>
          <a:xfrm rot="5400000">
            <a:off x="5434308" y="4534308"/>
            <a:ext cx="240028" cy="18131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35010" y="5002392"/>
            <a:ext cx="79188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 smtClean="0">
                <a:solidFill>
                  <a:schemeClr val="tx1"/>
                </a:solidFill>
              </a:rPr>
              <a:t>정보가 있는 경우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메인홈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햄버거메뉴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smtClean="0">
                <a:solidFill>
                  <a:schemeClr val="tx1"/>
                </a:solidFill>
              </a:rPr>
              <a:t>방식 </a:t>
            </a:r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104" idx="2"/>
          </p:cNvCxnSpPr>
          <p:nvPr/>
        </p:nvCxnSpPr>
        <p:spPr>
          <a:xfrm flipV="1">
            <a:off x="6928876" y="3130535"/>
            <a:ext cx="2229819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알림현황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결과목록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로그인필요서비스안내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32876" y="2060260"/>
            <a:ext cx="1033937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상태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로그인 필요 메뉴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사용자등록안내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챗봇문의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04" idx="2"/>
          </p:cNvCxnSpPr>
          <p:nvPr/>
        </p:nvCxnSpPr>
        <p:spPr>
          <a:xfrm flipV="1">
            <a:off x="6928876" y="3130535"/>
            <a:ext cx="2229819" cy="6817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</a:p>
        </p:txBody>
      </p: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6" name="그룹 7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2"/>
            <a:endCxn id="112" idx="0"/>
          </p:cNvCxnSpPr>
          <p:nvPr/>
        </p:nvCxnSpPr>
        <p:spPr>
          <a:xfrm>
            <a:off x="6478876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직선 화살표 연결선 13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>
            <a:off x="6478876" y="2595750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2"/>
            <a:endCxn id="145" idx="0"/>
          </p:cNvCxnSpPr>
          <p:nvPr/>
        </p:nvCxnSpPr>
        <p:spPr>
          <a:xfrm>
            <a:off x="6478876" y="3274536"/>
            <a:ext cx="0" cy="39370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3" idx="3"/>
            <a:endCxn id="104" idx="2"/>
          </p:cNvCxnSpPr>
          <p:nvPr/>
        </p:nvCxnSpPr>
        <p:spPr>
          <a:xfrm flipV="1">
            <a:off x="6928876" y="3130535"/>
            <a:ext cx="2229819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1" idx="3"/>
            <a:endCxn id="102" idx="2"/>
          </p:cNvCxnSpPr>
          <p:nvPr/>
        </p:nvCxnSpPr>
        <p:spPr>
          <a:xfrm flipV="1">
            <a:off x="5097742" y="3359904"/>
            <a:ext cx="4150953" cy="247439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973386" y="1485248"/>
            <a:ext cx="1136530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 smtClean="0">
                <a:solidFill>
                  <a:schemeClr val="tx1"/>
                </a:solidFill>
              </a:rPr>
              <a:t>기로그인</a:t>
            </a:r>
            <a:r>
              <a:rPr lang="ko-KR" altLang="en-US" sz="800" dirty="0" smtClean="0">
                <a:solidFill>
                  <a:schemeClr val="tx1"/>
                </a:solidFill>
              </a:rPr>
              <a:t> 상태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로그인 불필요 메뉴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방식선택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3266608" y="1772964"/>
            <a:ext cx="81534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649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09" idx="1"/>
          </p:cNvCxnSpPr>
          <p:nvPr/>
        </p:nvCxnSpPr>
        <p:spPr>
          <a:xfrm>
            <a:off x="3266608" y="1772964"/>
            <a:ext cx="815348" cy="32971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01" idx="1"/>
          </p:cNvCxnSpPr>
          <p:nvPr/>
        </p:nvCxnSpPr>
        <p:spPr>
          <a:xfrm>
            <a:off x="5207373" y="1772964"/>
            <a:ext cx="82150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인증성공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실패안내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인증성공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실패안내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483918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282255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205" idx="1"/>
          </p:cNvCxnSpPr>
          <p:nvPr/>
        </p:nvCxnSpPr>
        <p:spPr>
          <a:xfrm>
            <a:off x="5094665" y="2545861"/>
            <a:ext cx="934211" cy="584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310649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1877026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166" idx="2"/>
          </p:cNvCxnSpPr>
          <p:nvPr/>
        </p:nvCxnSpPr>
        <p:spPr>
          <a:xfrm>
            <a:off x="8760010" y="2451750"/>
            <a:ext cx="436938" cy="9205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25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그룹 6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69" name="그룹 6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0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1665891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513738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PW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549925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사용자등록안내</a:t>
            </a: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1956" y="4247160"/>
            <a:ext cx="1125417" cy="164593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en-US" altLang="ko-KR" sz="800" b="1" dirty="0" smtClean="0">
                <a:solidFill>
                  <a:schemeClr val="tx1"/>
                </a:solidFill>
              </a:rPr>
              <a:t>ID/PW</a:t>
            </a:r>
            <a:r>
              <a:rPr lang="ko-KR" altLang="en-US" sz="800" b="1" dirty="0" smtClean="0">
                <a:solidFill>
                  <a:schemeClr val="tx1"/>
                </a:solidFill>
              </a:rPr>
              <a:t>로그인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1956" y="1449344"/>
            <a:ext cx="1125417" cy="171681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en-US" altLang="ko-KR" sz="800" b="1" dirty="0" smtClean="0">
                <a:solidFill>
                  <a:schemeClr val="tx1"/>
                </a:solidFill>
              </a:rPr>
              <a:t>Any-ID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032415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금융인증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398939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공동인증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2764577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모바일신분증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4665" y="44107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1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3266608" y="1772964"/>
            <a:ext cx="928057" cy="1914124"/>
          </a:xfrm>
          <a:prstGeom prst="bentConnector3">
            <a:avLst>
              <a:gd name="adj1" fmla="val 4437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6" idx="1"/>
          </p:cNvCxnSpPr>
          <p:nvPr/>
        </p:nvCxnSpPr>
        <p:spPr>
          <a:xfrm flipV="1">
            <a:off x="5094665" y="2454649"/>
            <a:ext cx="934211" cy="9121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생체인증등록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35430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생체인증등록완료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1" name="직선 화살표 연결선 15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  <a:endCxn id="149" idx="1"/>
          </p:cNvCxnSpPr>
          <p:nvPr/>
        </p:nvCxnSpPr>
        <p:spPr>
          <a:xfrm>
            <a:off x="5094665" y="3687088"/>
            <a:ext cx="93421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9" idx="3"/>
            <a:endCxn id="150" idx="1"/>
          </p:cNvCxnSpPr>
          <p:nvPr/>
        </p:nvCxnSpPr>
        <p:spPr>
          <a:xfrm>
            <a:off x="6928876" y="3687088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159929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0" idx="2"/>
            <a:endCxn id="197" idx="0"/>
          </p:cNvCxnSpPr>
          <p:nvPr/>
        </p:nvCxnSpPr>
        <p:spPr>
          <a:xfrm rot="5400000">
            <a:off x="7295053" y="3014912"/>
            <a:ext cx="190712" cy="18230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등록정보로찾기</a:t>
            </a: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477550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찾기결과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1324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PW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등록정보로찾기</a:t>
            </a:r>
          </a:p>
        </p:txBody>
      </p:sp>
      <p:sp>
        <p:nvSpPr>
          <p:cNvPr id="1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1941" y="51324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PW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찾기결과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73" name="직선 화살표 연결선 17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5" idx="3"/>
            <a:endCxn id="169" idx="1"/>
          </p:cNvCxnSpPr>
          <p:nvPr/>
        </p:nvCxnSpPr>
        <p:spPr>
          <a:xfrm>
            <a:off x="5094665" y="4919507"/>
            <a:ext cx="93421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화살표 연결선 1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9" idx="3"/>
            <a:endCxn id="170" idx="1"/>
          </p:cNvCxnSpPr>
          <p:nvPr/>
        </p:nvCxnSpPr>
        <p:spPr>
          <a:xfrm>
            <a:off x="6928876" y="4919507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0" idx="3"/>
            <a:endCxn id="166" idx="2"/>
          </p:cNvCxnSpPr>
          <p:nvPr/>
        </p:nvCxnSpPr>
        <p:spPr>
          <a:xfrm flipV="1">
            <a:off x="8751941" y="3372255"/>
            <a:ext cx="445007" cy="1547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2" idx="3"/>
            <a:endCxn id="166" idx="2"/>
          </p:cNvCxnSpPr>
          <p:nvPr/>
        </p:nvCxnSpPr>
        <p:spPr>
          <a:xfrm flipV="1">
            <a:off x="8751941" y="3372255"/>
            <a:ext cx="445007" cy="19042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화살표 연결선 18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2" idx="1"/>
          </p:cNvCxnSpPr>
          <p:nvPr/>
        </p:nvCxnSpPr>
        <p:spPr>
          <a:xfrm>
            <a:off x="6928876" y="5276479"/>
            <a:ext cx="92306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직선 화살표 연결선 1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6" idx="3"/>
            <a:endCxn id="171" idx="1"/>
          </p:cNvCxnSpPr>
          <p:nvPr/>
        </p:nvCxnSpPr>
        <p:spPr>
          <a:xfrm flipV="1">
            <a:off x="5094665" y="5276479"/>
            <a:ext cx="934211" cy="490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66" idx="2"/>
          </p:cNvCxnSpPr>
          <p:nvPr/>
        </p:nvCxnSpPr>
        <p:spPr>
          <a:xfrm flipV="1">
            <a:off x="5207373" y="3372255"/>
            <a:ext cx="3989575" cy="1196806"/>
          </a:xfrm>
          <a:prstGeom prst="bentConnector3">
            <a:avLst>
              <a:gd name="adj1" fmla="val 9431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02180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생체인증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로그인 실행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97" idx="1"/>
          </p:cNvCxnSpPr>
          <p:nvPr/>
        </p:nvCxnSpPr>
        <p:spPr>
          <a:xfrm>
            <a:off x="5094665" y="3687088"/>
            <a:ext cx="934211" cy="47871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7" idx="3"/>
            <a:endCxn id="166" idx="2"/>
          </p:cNvCxnSpPr>
          <p:nvPr/>
        </p:nvCxnSpPr>
        <p:spPr>
          <a:xfrm flipV="1">
            <a:off x="6928876" y="3372255"/>
            <a:ext cx="2268072" cy="793545"/>
          </a:xfrm>
          <a:prstGeom prst="bentConnector3">
            <a:avLst>
              <a:gd name="adj1" fmla="val 899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533675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4023779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cxnSp>
        <p:nvCxnSpPr>
          <p:cNvPr id="213" name="직선 화살표 연결선 2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0"/>
            <a:endCxn id="101" idx="2"/>
          </p:cNvCxnSpPr>
          <p:nvPr/>
        </p:nvCxnSpPr>
        <p:spPr>
          <a:xfrm flipV="1">
            <a:off x="6478876" y="1916964"/>
            <a:ext cx="0" cy="3936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메인홈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햄버거메뉴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사용자 로그인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상태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구버전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800" dirty="0" smtClean="0">
                <a:solidFill>
                  <a:schemeClr val="tx1"/>
                </a:solidFill>
              </a:rPr>
              <a:t>ID </a:t>
            </a:r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2724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3"/>
            <a:endCxn id="75" idx="1"/>
          </p:cNvCxnSpPr>
          <p:nvPr/>
        </p:nvCxnSpPr>
        <p:spPr>
          <a:xfrm flipV="1">
            <a:off x="3266608" y="2451750"/>
            <a:ext cx="931134" cy="6793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3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로그아웃안내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08" idx="1"/>
          </p:cNvCxnSpPr>
          <p:nvPr/>
        </p:nvCxnSpPr>
        <p:spPr>
          <a:xfrm>
            <a:off x="3266608" y="51773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15" idx="2"/>
          </p:cNvCxnSpPr>
          <p:nvPr/>
        </p:nvCxnSpPr>
        <p:spPr>
          <a:xfrm flipV="1">
            <a:off x="5097742" y="3812061"/>
            <a:ext cx="4099206" cy="1365253"/>
          </a:xfrm>
          <a:prstGeom prst="bentConnector3">
            <a:avLst>
              <a:gd name="adj1" fmla="val 9482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사용자 등록 안내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-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앱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56" name="그룹 5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987132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방식선택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2"/>
            <a:endCxn id="69" idx="0"/>
          </p:cNvCxnSpPr>
          <p:nvPr/>
        </p:nvCxnSpPr>
        <p:spPr>
          <a:xfrm>
            <a:off x="2816608" y="2595750"/>
            <a:ext cx="0" cy="39138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 필요 서비스 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로그인필요서비스안내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6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3"/>
            <a:endCxn id="80" idx="1"/>
          </p:cNvCxnSpPr>
          <p:nvPr/>
        </p:nvCxnSpPr>
        <p:spPr>
          <a:xfrm>
            <a:off x="6928876" y="1772964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15" idx="2"/>
          </p:cNvCxnSpPr>
          <p:nvPr/>
        </p:nvCxnSpPr>
        <p:spPr>
          <a:xfrm>
            <a:off x="8756934" y="1772964"/>
            <a:ext cx="440014" cy="20390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77" idx="1"/>
          </p:cNvCxnSpPr>
          <p:nvPr/>
        </p:nvCxnSpPr>
        <p:spPr>
          <a:xfrm flipV="1">
            <a:off x="3266608" y="3130536"/>
            <a:ext cx="931134" cy="59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03331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로그아웃 </a:t>
            </a:r>
            <a:r>
              <a:rPr lang="ko-KR" altLang="en-US" sz="800" dirty="0">
                <a:solidFill>
                  <a:schemeClr val="tx1"/>
                </a:solidFill>
              </a:rPr>
              <a:t>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클릭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8" idx="1"/>
          </p:cNvCxnSpPr>
          <p:nvPr/>
        </p:nvCxnSpPr>
        <p:spPr>
          <a:xfrm>
            <a:off x="1435474" y="1772964"/>
            <a:ext cx="931134" cy="3404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3858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3858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2724" y="4347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로그인업체설정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신규버전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ID </a:t>
            </a:r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40136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시간 초과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120" idx="1"/>
          </p:cNvCxnSpPr>
          <p:nvPr/>
        </p:nvCxnSpPr>
        <p:spPr>
          <a:xfrm>
            <a:off x="1435474" y="1772964"/>
            <a:ext cx="931134" cy="377240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0" idx="3"/>
            <a:endCxn id="108" idx="1"/>
          </p:cNvCxnSpPr>
          <p:nvPr/>
        </p:nvCxnSpPr>
        <p:spPr>
          <a:xfrm flipV="1">
            <a:off x="3266608" y="5177314"/>
            <a:ext cx="931134" cy="36805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3"/>
            <a:endCxn id="116" idx="1"/>
          </p:cNvCxnSpPr>
          <p:nvPr/>
        </p:nvCxnSpPr>
        <p:spPr>
          <a:xfrm>
            <a:off x="3266608" y="3131132"/>
            <a:ext cx="931134" cy="1359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PC </a:t>
            </a:r>
            <a:r>
              <a:rPr lang="ko-KR" altLang="en-US" sz="800" dirty="0" smtClean="0">
                <a:solidFill>
                  <a:schemeClr val="tx1"/>
                </a:solidFill>
              </a:rPr>
              <a:t>로그인 완료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253595" y="4826590"/>
            <a:ext cx="1125417" cy="968870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로그인 이후</a:t>
            </a: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15" idx="2"/>
          </p:cNvCxnSpPr>
          <p:nvPr/>
        </p:nvCxnSpPr>
        <p:spPr>
          <a:xfrm flipV="1">
            <a:off x="6922724" y="3812061"/>
            <a:ext cx="2274224" cy="679318"/>
          </a:xfrm>
          <a:prstGeom prst="bentConnector3">
            <a:avLst>
              <a:gd name="adj1" fmla="val 9059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5799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PCQR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46" name="직선 화살표 연결선 1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45" idx="1"/>
          </p:cNvCxnSpPr>
          <p:nvPr/>
        </p:nvCxnSpPr>
        <p:spPr>
          <a:xfrm>
            <a:off x="5097742" y="2451750"/>
            <a:ext cx="92805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화살표 연결선 14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5" idx="3"/>
            <a:endCxn id="132" idx="1"/>
          </p:cNvCxnSpPr>
          <p:nvPr/>
        </p:nvCxnSpPr>
        <p:spPr>
          <a:xfrm>
            <a:off x="6925799" y="2451750"/>
            <a:ext cx="93113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2" idx="3"/>
            <a:endCxn id="115" idx="2"/>
          </p:cNvCxnSpPr>
          <p:nvPr/>
        </p:nvCxnSpPr>
        <p:spPr>
          <a:xfrm>
            <a:off x="8756934" y="2451750"/>
            <a:ext cx="44001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8" idx="1"/>
          </p:cNvCxnSpPr>
          <p:nvPr/>
        </p:nvCxnSpPr>
        <p:spPr>
          <a:xfrm>
            <a:off x="5097742" y="3130536"/>
            <a:ext cx="9249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화살표 연결선 16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105" idx="1"/>
          </p:cNvCxnSpPr>
          <p:nvPr/>
        </p:nvCxnSpPr>
        <p:spPr>
          <a:xfrm>
            <a:off x="6922724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직선 화살표 연결선 1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5" idx="2"/>
            <a:endCxn id="107" idx="0"/>
          </p:cNvCxnSpPr>
          <p:nvPr/>
        </p:nvCxnSpPr>
        <p:spPr>
          <a:xfrm>
            <a:off x="8303858" y="3274536"/>
            <a:ext cx="0" cy="39352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1"/>
            <a:endCxn id="116" idx="0"/>
          </p:cNvCxnSpPr>
          <p:nvPr/>
        </p:nvCxnSpPr>
        <p:spPr>
          <a:xfrm rot="10800000" flipV="1">
            <a:off x="4647742" y="3812060"/>
            <a:ext cx="3206116" cy="53478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화살표 연결선 1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6" idx="3"/>
            <a:endCxn id="109" idx="1"/>
          </p:cNvCxnSpPr>
          <p:nvPr/>
        </p:nvCxnSpPr>
        <p:spPr>
          <a:xfrm>
            <a:off x="5097742" y="4490846"/>
            <a:ext cx="924982" cy="533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25109" y="4089815"/>
            <a:ext cx="931345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사용자의 업체가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r>
              <a:rPr lang="ko-KR" altLang="en-US" sz="800" dirty="0" smtClean="0">
                <a:solidFill>
                  <a:schemeClr val="tx1"/>
                </a:solidFill>
              </a:rPr>
              <a:t>여러 개인 경우 노출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1000" dirty="0">
                <a:solidFill>
                  <a:schemeClr val="tx1"/>
                </a:solidFill>
              </a:rPr>
              <a:t>–</a:t>
            </a:r>
            <a:r>
              <a:rPr lang="ko-KR" altLang="en-US" sz="1000" dirty="0">
                <a:solidFill>
                  <a:schemeClr val="tx1"/>
                </a:solidFill>
              </a:rPr>
              <a:t>로고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앱업데이트안내팝업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앱접근권한동의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앱접근권한동의팝업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앱오류안내팝업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앱이용안내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메인홈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중요공지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시스템안내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결과목록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IntgSrch_Rslt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햄버거메뉴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방식선택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알림현황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notiPrstPage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챗봇문의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ChatbotPage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48055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IdPswdLoginPage.tsx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IdRegInfoFndngPage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PswdRegInfoFndngPage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간편인증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금융인증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FnstCert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공동인증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JntCert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모바일신분증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MobileIdntyCert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</a:rPr>
              <a:t>CertRsltPage.tsx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생체인증등록완료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PCQR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PcQRLgnPage.tsx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로그아웃안내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LgoInfo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로그인필요서비스안내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LgnSrvcInfo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9100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사용자등록안내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UserRegInfoPage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36769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NewIdChgInfo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3882538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NewIdPwReg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33024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통합로그인계정등록완료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NewIdCmptn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782803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로그인업체설정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BzentyChc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10950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앱실행스플래시</a:t>
            </a:r>
            <a:r>
              <a:rPr lang="en-US" altLang="ko-KR" dirty="0"/>
              <a:t>–</a:t>
            </a:r>
            <a:r>
              <a:rPr lang="ko-KR" altLang="en-US" dirty="0"/>
              <a:t>로고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앱접근권한동의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721212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2446664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25191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0" name="직사각형 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우측 설계에서 </a:t>
              </a:r>
              <a:r>
                <a:rPr lang="ko-KR" altLang="en-US" sz="700" dirty="0" err="1" smtClean="0"/>
                <a:t>반복화면</a:t>
              </a:r>
              <a:r>
                <a:rPr lang="ko-KR" altLang="en-US" sz="700" dirty="0" smtClean="0"/>
                <a:t>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앱접근권한동의팝업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앱업데이트안내팝업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앱오류안내팝업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MUI-MS-01-M06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007573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007573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/>
          <a:srcRect b="6251"/>
          <a:stretch/>
        </p:blipFill>
        <p:spPr>
          <a:xfrm>
            <a:off x="677960" y="1493927"/>
            <a:ext cx="2712027" cy="474141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그룹 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8" name="직사각형 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스크린샷</a:t>
              </a:r>
              <a:r>
                <a:rPr lang="ko-KR" altLang="en-US" sz="700" dirty="0" smtClean="0"/>
                <a:t> 이미지 업데이트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영역 추가 및 설명 작성</a:t>
              </a:r>
              <a:endParaRPr lang="en-US" altLang="ko-KR" sz="700" dirty="0" smtClean="0"/>
            </a:p>
            <a:p>
              <a:endParaRPr lang="en-US" altLang="ko-KR" sz="700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80162" y="4835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800272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3910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236515" y="57712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4011371" y="577451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37" name="그룹 36"/>
          <p:cNvGrpSpPr/>
          <p:nvPr/>
        </p:nvGrpSpPr>
        <p:grpSpPr>
          <a:xfrm>
            <a:off x="3452438" y="1810835"/>
            <a:ext cx="3568154" cy="1505331"/>
            <a:chOff x="3535132" y="1493927"/>
            <a:chExt cx="4319336" cy="1822239"/>
          </a:xfrm>
        </p:grpSpPr>
        <p:pic>
          <p:nvPicPr>
            <p:cNvPr id="8" name="그림 7"/>
            <p:cNvPicPr>
              <a:picLocks noChangeAspect="1"/>
            </p:cNvPicPr>
            <p:nvPr/>
          </p:nvPicPr>
          <p:blipFill rotWithShape="1">
            <a:blip r:embed="rId3"/>
            <a:srcRect b="5350"/>
            <a:stretch/>
          </p:blipFill>
          <p:spPr>
            <a:xfrm>
              <a:off x="3535132" y="1499406"/>
              <a:ext cx="1045578" cy="1816759"/>
            </a:xfrm>
            <a:prstGeom prst="rect">
              <a:avLst/>
            </a:prstGeom>
          </p:spPr>
        </p:pic>
        <p:pic>
          <p:nvPicPr>
            <p:cNvPr id="9" name="그림 8"/>
            <p:cNvPicPr>
              <a:picLocks noChangeAspect="1"/>
            </p:cNvPicPr>
            <p:nvPr/>
          </p:nvPicPr>
          <p:blipFill rotWithShape="1">
            <a:blip r:embed="rId4"/>
            <a:srcRect b="9317"/>
            <a:stretch/>
          </p:blipFill>
          <p:spPr>
            <a:xfrm>
              <a:off x="4639790" y="1493927"/>
              <a:ext cx="1040338" cy="1822238"/>
            </a:xfrm>
            <a:prstGeom prst="rect">
              <a:avLst/>
            </a:prstGeom>
          </p:spPr>
        </p:pic>
        <p:pic>
          <p:nvPicPr>
            <p:cNvPr id="32" name="그림 31"/>
            <p:cNvPicPr>
              <a:picLocks noChangeAspect="1"/>
            </p:cNvPicPr>
            <p:nvPr/>
          </p:nvPicPr>
          <p:blipFill rotWithShape="1">
            <a:blip r:embed="rId5"/>
            <a:srcRect b="7088"/>
            <a:stretch/>
          </p:blipFill>
          <p:spPr>
            <a:xfrm>
              <a:off x="5740480" y="1498376"/>
              <a:ext cx="1040729" cy="1817789"/>
            </a:xfrm>
            <a:prstGeom prst="rect">
              <a:avLst/>
            </a:prstGeom>
          </p:spPr>
        </p:pic>
        <p:pic>
          <p:nvPicPr>
            <p:cNvPr id="33" name="그림 3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841562" y="1493928"/>
              <a:ext cx="1012906" cy="1822238"/>
            </a:xfrm>
            <a:prstGeom prst="rect">
              <a:avLst/>
            </a:prstGeom>
          </p:spPr>
        </p:pic>
      </p:grpSp>
      <p:sp>
        <p:nvSpPr>
          <p:cNvPr id="3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578880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88808"/>
            <a:ext cx="1080000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최초 기동 시 앱 </a:t>
            </a:r>
            <a:r>
              <a:rPr lang="ko-KR" altLang="en-US" dirty="0"/>
              <a:t>이용에 대한 안내 </a:t>
            </a:r>
            <a:r>
              <a:rPr lang="ko-KR" altLang="en-US" dirty="0" smtClean="0"/>
              <a:t>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하단 </a:t>
            </a:r>
            <a:r>
              <a:rPr lang="en-US" altLang="ko-KR" dirty="0" smtClean="0"/>
              <a:t>5</a:t>
            </a:r>
            <a:r>
              <a:rPr lang="ko-KR" altLang="en-US" dirty="0" smtClean="0"/>
              <a:t>개 페이지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검색필터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화면 하단 버튼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다시보지</a:t>
            </a:r>
            <a:r>
              <a:rPr lang="ko-KR" altLang="en-US" dirty="0" smtClean="0"/>
              <a:t> 않기 버튼으로 </a:t>
            </a:r>
            <a:r>
              <a:rPr lang="ko-KR" altLang="en-US" dirty="0" err="1" smtClean="0"/>
              <a:t>앱시작</a:t>
            </a:r>
            <a:r>
              <a:rPr lang="ko-KR" altLang="en-US" dirty="0" smtClean="0"/>
              <a:t> 이용안내 다시 노출하지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이후 기동 시 앱 이용안내 화면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버튼은 순차적으로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첫 페이지</a:t>
            </a:r>
            <a:r>
              <a:rPr lang="en-US" altLang="ko-KR" dirty="0" smtClean="0"/>
              <a:t> </a:t>
            </a:r>
            <a:r>
              <a:rPr lang="en-US" altLang="ko-KR" dirty="0" smtClean="0">
                <a:sym typeface="Wingdings" panose="05000000000000000000" pitchFamily="2" charset="2"/>
              </a:rPr>
              <a:t></a:t>
            </a:r>
            <a:r>
              <a:rPr lang="en-US" altLang="ko-KR" dirty="0" smtClean="0"/>
              <a:t> </a:t>
            </a:r>
            <a:r>
              <a:rPr lang="ko-KR" altLang="en-US" dirty="0" smtClean="0"/>
              <a:t>중간 페이지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마지막 페이지 순으로 표시가 변경됨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이전</a:t>
            </a:r>
            <a:r>
              <a:rPr lang="en-US" altLang="ko-KR" dirty="0" smtClean="0">
                <a:sym typeface="Wingdings" panose="05000000000000000000" pitchFamily="2" charset="2"/>
              </a:rPr>
              <a:t>, </a:t>
            </a:r>
            <a:r>
              <a:rPr lang="ko-KR" altLang="en-US" dirty="0" smtClean="0">
                <a:sym typeface="Wingdings" panose="05000000000000000000" pitchFamily="2" charset="2"/>
              </a:rPr>
              <a:t>다음 버튼으로 순서대로 이동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로고 </a:t>
            </a:r>
            <a:r>
              <a:rPr lang="ko-KR" altLang="en-US" dirty="0"/>
              <a:t>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  &gt; 1. </a:t>
            </a:r>
            <a:r>
              <a:rPr lang="ko-KR" altLang="en-US" dirty="0">
                <a:solidFill>
                  <a:srgbClr val="FF0000"/>
                </a:solidFill>
              </a:rPr>
              <a:t>로그인 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로그인 후 </a:t>
            </a:r>
            <a:r>
              <a:rPr lang="ko-KR" altLang="en-US" dirty="0" smtClean="0">
                <a:solidFill>
                  <a:srgbClr val="FF0000"/>
                </a:solidFill>
              </a:rPr>
              <a:t>로그아웃</a:t>
            </a:r>
            <a:r>
              <a:rPr lang="en-US" altLang="ko-KR" dirty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아이콘 표시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  &gt; 2. </a:t>
            </a:r>
            <a:r>
              <a:rPr lang="ko-KR" altLang="en-US" dirty="0" err="1" smtClean="0">
                <a:solidFill>
                  <a:srgbClr val="FF0000"/>
                </a:solidFill>
              </a:rPr>
              <a:t>알림현황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>
                <a:solidFill>
                  <a:srgbClr val="FF0000"/>
                </a:solidFill>
              </a:rPr>
              <a:t>(MUI-MS-01-M13)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</a:t>
            </a:r>
            <a:r>
              <a:rPr lang="ko-KR" altLang="en-US" dirty="0" smtClean="0"/>
              <a:t>메뉴 </a:t>
            </a:r>
            <a:r>
              <a:rPr lang="en-US" altLang="ko-KR" dirty="0"/>
              <a:t>(MUI-MS-01-M12)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MUI-BD-01-M01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</a:t>
            </a:r>
            <a:r>
              <a:rPr lang="en-US" altLang="ko-KR" dirty="0" smtClean="0"/>
              <a:t>, </a:t>
            </a:r>
            <a:r>
              <a:rPr lang="en-US" altLang="ko-KR" dirty="0"/>
              <a:t>MUI-OP-01-M01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>, </a:t>
            </a:r>
            <a:r>
              <a:rPr lang="en-US" altLang="ko-KR" dirty="0"/>
              <a:t>MUI-BD-01-M01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개찰</a:t>
            </a:r>
            <a:r>
              <a:rPr lang="en-US" altLang="ko-KR" dirty="0" smtClean="0"/>
              <a:t>, </a:t>
            </a:r>
            <a:r>
              <a:rPr lang="en-US" altLang="ko-KR" dirty="0"/>
              <a:t>MUI-BD-08-M01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</a:t>
            </a:r>
            <a:r>
              <a:rPr lang="en-US" altLang="ko-KR" dirty="0" smtClean="0"/>
              <a:t>, </a:t>
            </a:r>
            <a:r>
              <a:rPr lang="en-US" altLang="ko-KR" dirty="0"/>
              <a:t>MUI-CT-01-M01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</a:t>
            </a:r>
            <a:r>
              <a:rPr lang="en-US" altLang="ko-KR" dirty="0" smtClean="0"/>
              <a:t>, </a:t>
            </a:r>
            <a:r>
              <a:rPr lang="en-US" altLang="ko-KR" dirty="0"/>
              <a:t>MUI-CM-04-M06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조달원 등록증</a:t>
            </a:r>
            <a:r>
              <a:rPr lang="en-US" altLang="ko-KR" dirty="0" smtClean="0"/>
              <a:t>(</a:t>
            </a:r>
            <a:r>
              <a:rPr lang="ko-KR" altLang="en-US" dirty="0" smtClean="0"/>
              <a:t>국내</a:t>
            </a:r>
            <a:r>
              <a:rPr lang="en-US" altLang="ko-KR" dirty="0"/>
              <a:t>) MUI-CM-01-M19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사전준비안내 </a:t>
            </a:r>
            <a:r>
              <a:rPr lang="en-US" altLang="ko-KR" dirty="0" smtClean="0"/>
              <a:t>MUI-CM-05-M07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국내조달안내 </a:t>
            </a:r>
            <a:r>
              <a:rPr lang="en-US" altLang="ko-KR" dirty="0" smtClean="0"/>
              <a:t>MUI-CM-05-M09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국외조달안내 </a:t>
            </a:r>
            <a:r>
              <a:rPr lang="en-US" altLang="ko-KR" dirty="0"/>
              <a:t>MUI-CM-05-M12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모의심사안내는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 smtClean="0"/>
              <a:t>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일반공지사항 </a:t>
            </a:r>
            <a:r>
              <a:rPr lang="en-US" altLang="ko-KR" dirty="0" smtClean="0"/>
              <a:t>MUI-CM-04-M01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방위사업청공지사항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수요부대별공지사항 </a:t>
            </a:r>
            <a:r>
              <a:rPr lang="en-US" altLang="ko-KR" dirty="0" smtClean="0"/>
              <a:t>MUI-CM-04-M23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화면은 디자인에 따름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푸터</a:t>
            </a:r>
            <a:r>
              <a:rPr lang="ko-KR" altLang="en-US" dirty="0" smtClean="0"/>
              <a:t> 영역은 표준 설계에 따름</a:t>
            </a:r>
            <a:r>
              <a:rPr lang="en-US" altLang="ko-KR" dirty="0" smtClean="0"/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메인홈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통합검색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챗봇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공지사항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 smtClean="0">
                  <a:latin typeface="+mn-ea"/>
                </a:rPr>
                <a:t>수요부대별</a:t>
              </a:r>
              <a:r>
                <a:rPr lang="ko-KR" altLang="en-US" sz="900" b="1" dirty="0" smtClean="0">
                  <a:latin typeface="+mn-ea"/>
                </a:rPr>
                <a:t> </a:t>
              </a:r>
              <a:r>
                <a:rPr lang="ko-KR" altLang="en-US" sz="900" b="1" dirty="0">
                  <a:latin typeface="+mn-ea"/>
                </a:rPr>
                <a:t>공지사항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</a:t>
              </a:r>
              <a:r>
                <a:rPr lang="ko-KR" altLang="en-US" sz="900" b="1" dirty="0" smtClean="0">
                  <a:latin typeface="+mn-ea"/>
                </a:rPr>
                <a:t>공지사항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1" name="직사각형 16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2026-06-23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추가됨에 따라 모바일 </a:t>
              </a: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없다는 문구를 삭제함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165" name="직사각형 1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6" name="직사각형 16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en-US" altLang="ko-KR" sz="700" dirty="0" smtClean="0"/>
                <a:t>, </a:t>
              </a:r>
              <a:r>
                <a:rPr lang="ko-KR" altLang="en-US" sz="700" dirty="0" err="1" smtClean="0"/>
                <a:t>탭바</a:t>
              </a:r>
              <a:r>
                <a:rPr lang="ko-KR" altLang="en-US" sz="700" dirty="0" smtClean="0"/>
                <a:t> 노출 버튼 변경</a:t>
              </a:r>
              <a:endParaRPr lang="en-US" altLang="ko-KR" sz="700" dirty="0"/>
            </a:p>
          </p:txBody>
        </p:sp>
      </p:grpSp>
      <p:grpSp>
        <p:nvGrpSpPr>
          <p:cNvPr id="167" name="그룹 166"/>
          <p:cNvGrpSpPr/>
          <p:nvPr/>
        </p:nvGrpSpPr>
        <p:grpSpPr>
          <a:xfrm>
            <a:off x="8223250" y="1055200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69" name="직사각형 16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 안내 이동 경로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1862561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 smtClean="0">
                          <a:effectLst/>
                        </a:rPr>
                        <a:t>MUI-BD-01-M01 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 smtClean="0">
                          <a:effectLst/>
                        </a:rPr>
                        <a:t>이동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MUI-CM-05-M07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MUI-CM-05-M09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MUI-CM-05-M12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MUI-CM-04-M23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MUI-CM-04-M01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중요공지</a:t>
            </a:r>
            <a:r>
              <a:rPr lang="en-US" altLang="ko-KR" dirty="0"/>
              <a:t>,</a:t>
            </a:r>
            <a:r>
              <a:rPr lang="ko-KR" altLang="en-US" dirty="0" err="1"/>
              <a:t>시스템안내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통합검색 솔루션 </a:t>
            </a:r>
            <a:r>
              <a:rPr lang="en-US" altLang="ko-KR" dirty="0" err="1" smtClean="0">
                <a:solidFill>
                  <a:srgbClr val="FF0000"/>
                </a:solidFill>
              </a:rPr>
              <a:t>konan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활용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4349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 </a:t>
            </a: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포함 </a:t>
            </a:r>
            <a:r>
              <a:rPr lang="en-US" altLang="ko-KR" dirty="0" smtClean="0"/>
              <a:t>-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검색하여 </a:t>
            </a:r>
            <a:r>
              <a:rPr lang="ko-KR" altLang="en-US" dirty="0" err="1" smtClean="0"/>
              <a:t>제외처리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</a:t>
            </a:r>
            <a:r>
              <a:rPr lang="en-US" altLang="ko-KR" dirty="0"/>
              <a:t>-</a:t>
            </a:r>
            <a:r>
              <a:rPr lang="ko-KR" altLang="en-US" dirty="0" err="1"/>
              <a:t>결과목록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솔루션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솔루션 화면 참고용 설계 내용이며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솔루션에서 제공되는 화면을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채팅 </a:t>
            </a:r>
            <a:r>
              <a:rPr lang="ko-KR" altLang="en-US" dirty="0"/>
              <a:t>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챗봇문의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4166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클릭 </a:t>
            </a:r>
            <a:r>
              <a:rPr lang="ko-KR" altLang="en-US" dirty="0" smtClean="0"/>
              <a:t>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MUI-CM-03-M01 </a:t>
            </a:r>
            <a:r>
              <a:rPr lang="ko-KR" altLang="en-US" dirty="0" smtClean="0"/>
              <a:t>로그인</a:t>
            </a:r>
            <a:r>
              <a:rPr lang="en-US" altLang="ko-KR" dirty="0"/>
              <a:t>-</a:t>
            </a:r>
            <a:r>
              <a:rPr lang="ko-KR" altLang="en-US" dirty="0" err="1" smtClean="0"/>
              <a:t>방식선택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등록되어 있는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진행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</a:t>
            </a:r>
            <a:r>
              <a:rPr lang="ko-KR" altLang="en-US" dirty="0" smtClean="0"/>
              <a:t>시간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바로가기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>, </a:t>
            </a:r>
            <a:r>
              <a:rPr lang="en-US" altLang="ko-KR" dirty="0"/>
              <a:t>MUI-CM-06-M01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챗봇상담</a:t>
            </a:r>
            <a:r>
              <a:rPr lang="en-US" altLang="ko-KR" dirty="0" smtClean="0"/>
              <a:t>, </a:t>
            </a:r>
            <a:r>
              <a:rPr lang="en-US" altLang="ko-KR" dirty="0"/>
              <a:t>MUI-MS-01-M11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인증센터</a:t>
            </a:r>
            <a:r>
              <a:rPr lang="en-US" altLang="ko-KR" dirty="0" smtClean="0"/>
              <a:t>, </a:t>
            </a:r>
            <a:r>
              <a:rPr lang="en-US" altLang="ko-KR" dirty="0"/>
              <a:t>MUI-CM-04-M13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앱설정</a:t>
            </a:r>
            <a:r>
              <a:rPr lang="ko-KR" altLang="en-US" dirty="0" smtClean="0"/>
              <a:t> </a:t>
            </a:r>
            <a:r>
              <a:rPr lang="en-US" altLang="ko-KR" dirty="0"/>
              <a:t>MUI-MS-02-M01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메뉴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검색 </a:t>
            </a:r>
            <a:r>
              <a:rPr lang="ko-KR" altLang="en-US" dirty="0" err="1"/>
              <a:t>메뉴명</a:t>
            </a:r>
            <a:r>
              <a:rPr lang="ko-KR" altLang="en-US" dirty="0"/>
              <a:t> </a:t>
            </a:r>
            <a:r>
              <a:rPr lang="en-US" altLang="ko-KR" dirty="0" smtClean="0"/>
              <a:t>like </a:t>
            </a:r>
            <a:r>
              <a:rPr lang="ko-KR" altLang="en-US" dirty="0" smtClean="0"/>
              <a:t>값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검색 일치된 단어 </a:t>
            </a:r>
            <a:r>
              <a:rPr lang="ko-KR" altLang="en-US" dirty="0" err="1" smtClean="0"/>
              <a:t>하일라이트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최소 </a:t>
            </a:r>
            <a:r>
              <a:rPr lang="en-US" altLang="ko-KR" dirty="0" smtClean="0"/>
              <a:t>2</a:t>
            </a:r>
            <a:r>
              <a:rPr lang="ko-KR" altLang="en-US" dirty="0" smtClean="0"/>
              <a:t>글자 이상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사이트맵</a:t>
            </a:r>
            <a:r>
              <a:rPr lang="ko-KR" altLang="en-US" dirty="0" smtClean="0"/>
              <a:t> 참조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시스템 관리자의 </a:t>
            </a:r>
            <a:r>
              <a:rPr lang="ko-KR" altLang="en-US" dirty="0" err="1" smtClean="0">
                <a:solidFill>
                  <a:srgbClr val="FF0000"/>
                </a:solidFill>
              </a:rPr>
              <a:t>메뉴관리</a:t>
            </a:r>
            <a:r>
              <a:rPr lang="ko-KR" altLang="en-US" dirty="0" smtClean="0">
                <a:solidFill>
                  <a:srgbClr val="FF0000"/>
                </a:solidFill>
              </a:rPr>
              <a:t> 라우터에서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표시여부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 smtClean="0">
                <a:solidFill>
                  <a:srgbClr val="FF0000"/>
                </a:solidFill>
              </a:rPr>
              <a:t>Y</a:t>
            </a:r>
            <a:r>
              <a:rPr lang="ko-KR" altLang="en-US" dirty="0" smtClean="0">
                <a:solidFill>
                  <a:srgbClr val="FF0000"/>
                </a:solidFill>
              </a:rPr>
              <a:t>값으로 등록된 메뉴가 노출됨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햄버거메뉴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3803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651953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480808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71024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90933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407634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748296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34612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err="1" smtClean="0">
                <a:latin typeface="+mn-ea"/>
              </a:rPr>
              <a:t>업체명</a:t>
            </a:r>
            <a:r>
              <a:rPr lang="en-US" altLang="ko-KR" sz="900" b="1" dirty="0" smtClean="0">
                <a:latin typeface="+mn-ea"/>
              </a:rPr>
              <a:t>]</a:t>
            </a:r>
            <a:endParaRPr lang="en-US" altLang="ko-KR" sz="900" b="1" dirty="0">
              <a:latin typeface="+mn-ea"/>
            </a:endParaRPr>
          </a:p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smtClean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3028973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3109506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3138180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3090771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  <p:grpSp>
        <p:nvGrpSpPr>
          <p:cNvPr id="92" name="그룹 9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3" name="직사각형 9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업체명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사용자명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줄 표시로 변경</a:t>
              </a:r>
              <a:endParaRPr lang="en-US" altLang="ko-KR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로그인 클릭 시 인증 조건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</a:t>
              </a:r>
              <a:r>
                <a:rPr lang="ko-KR" altLang="en-US" sz="700" dirty="0" err="1" smtClean="0"/>
                <a:t>하일라이트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검색 최소값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메뉴 </a:t>
              </a:r>
              <a:r>
                <a:rPr lang="ko-KR" altLang="en-US" sz="700" dirty="0" err="1" smtClean="0"/>
                <a:t>표시여부</a:t>
              </a:r>
              <a:r>
                <a:rPr lang="ko-KR" altLang="en-US" sz="700" dirty="0" smtClean="0"/>
                <a:t> 설명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현황에 진입한 이후 이탈하면 미확인 알림 카운트를 초기화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미확인된 사항은 미확인 레이블 처리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말머리</a:t>
            </a:r>
            <a:r>
              <a:rPr lang="en-US" altLang="ko-KR" dirty="0" smtClean="0"/>
              <a:t>, </a:t>
            </a:r>
            <a:r>
              <a:rPr lang="ko-KR" altLang="en-US" dirty="0" smtClean="0"/>
              <a:t>라벨</a:t>
            </a:r>
            <a:r>
              <a:rPr lang="en-US" altLang="ko-KR" dirty="0" smtClean="0"/>
              <a:t>, </a:t>
            </a:r>
            <a:r>
              <a:rPr lang="ko-KR" altLang="en-US" dirty="0" err="1"/>
              <a:t>뱃</a:t>
            </a:r>
            <a:r>
              <a:rPr lang="ko-KR" altLang="en-US" dirty="0" err="1" smtClean="0"/>
              <a:t>지</a:t>
            </a:r>
            <a:r>
              <a:rPr lang="ko-KR" altLang="en-US" dirty="0" smtClean="0"/>
              <a:t> 등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확인한 내역은 별도 표시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알림현황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34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3825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미확인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 smtClean="0">
                <a:latin typeface="+mn-ea"/>
              </a:rPr>
              <a:t>조달계획이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37348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5347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미확인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smtClean="0">
                <a:latin typeface="+mn-ea"/>
              </a:rPr>
              <a:t>입찰참가 </a:t>
            </a:r>
            <a:r>
              <a:rPr lang="ko-KR" altLang="en-US" sz="800" dirty="0">
                <a:latin typeface="+mn-ea"/>
              </a:rPr>
              <a:t>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5256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2375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2284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49903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3596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728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09637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0949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1973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33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66354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0327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29991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미확인 말머리 추가</a:t>
              </a:r>
              <a:endParaRPr lang="en-US" altLang="ko-KR" sz="700" dirty="0"/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77" name="직사각형 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뒤로가기로</a:t>
              </a:r>
              <a:r>
                <a:rPr lang="ko-KR" altLang="en-US" sz="700" dirty="0" smtClean="0"/>
                <a:t> 변경</a:t>
              </a:r>
              <a:r>
                <a:rPr lang="en-US" altLang="ko-KR" sz="700" dirty="0" smtClean="0"/>
                <a:t>,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페이지 타이틀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68093"/>
              </p:ext>
            </p:extLst>
          </p:nvPr>
        </p:nvGraphicFramePr>
        <p:xfrm>
          <a:off x="453000" y="5217275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팝업 타이틀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하드코딩</a:t>
            </a:r>
            <a:r>
              <a:rPr lang="ko-KR" altLang="en-US" dirty="0" smtClean="0"/>
              <a:t> 메시지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</a:t>
            </a:r>
            <a:r>
              <a:rPr lang="ko-KR" altLang="en-US" dirty="0" err="1" smtClean="0"/>
              <a:t>팝업창</a:t>
            </a:r>
            <a:r>
              <a:rPr lang="ko-KR" altLang="en-US" dirty="0" smtClean="0"/>
              <a:t> 닫기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아이디를 통해 로그인한 사용자에게 </a:t>
            </a:r>
            <a:r>
              <a:rPr lang="ko-KR" altLang="en-US" dirty="0" err="1" smtClean="0"/>
              <a:t>통합계정을</a:t>
            </a:r>
            <a:r>
              <a:rPr lang="ko-KR" altLang="en-US" dirty="0" smtClean="0"/>
              <a:t> 안내하는 팝업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err="1" smtClean="0"/>
              <a:t>메인홈</a:t>
            </a:r>
            <a:r>
              <a:rPr lang="ko-KR" altLang="en-US" dirty="0" smtClean="0"/>
              <a:t>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MUI-CM-03-P21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83887" y="4365159"/>
            <a:ext cx="1602658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통합 로그인 계정 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584792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 로그인 계정 등록 안내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8863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국방전자조달시스템에서 통합 로그인 계정을 도입합니다</a:t>
            </a:r>
            <a:r>
              <a:rPr lang="en-US" altLang="ko-KR" sz="800" dirty="0" smtClean="0">
                <a:latin typeface="+mn-ea"/>
              </a:rPr>
              <a:t>.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120000"/>
              </a:lnSpc>
            </a:pPr>
            <a:endParaRPr lang="en-US" altLang="ko-KR" sz="8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기존 아이디로 로그인하신 </a:t>
            </a:r>
            <a:r>
              <a:rPr lang="ko-KR" altLang="en-US" sz="800" dirty="0" err="1" smtClean="0">
                <a:latin typeface="+mn-ea"/>
              </a:rPr>
              <a:t>조달업체</a:t>
            </a:r>
            <a:r>
              <a:rPr lang="ko-KR" altLang="en-US" sz="800" dirty="0" smtClean="0">
                <a:latin typeface="+mn-ea"/>
              </a:rPr>
              <a:t> 사용자께서는 원활한 서비스 사용을 위해서 통합 로그인 계정을 새로 등록해 주시길 바랍니다</a:t>
            </a:r>
            <a:r>
              <a:rPr lang="en-US" altLang="ko-KR" sz="800" dirty="0" smtClean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524382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2" name="그룹 3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23239710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 아이디로 로그인 했을 시 통합 계정으로 등록하는 화면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뒤로 이동 시 메인 화면으로 이동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주민등록번호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- 13</a:t>
            </a:r>
            <a:r>
              <a:rPr lang="ko-KR" altLang="en-US" sz="700" dirty="0" smtClean="0"/>
              <a:t>자리 중간 하이픈 자동 삽입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숫자 입력만 가능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버튼 클릭 시 </a:t>
            </a:r>
            <a:r>
              <a:rPr lang="en-US" altLang="ko-KR" sz="700" dirty="0" smtClean="0"/>
              <a:t>Nice </a:t>
            </a:r>
            <a:r>
              <a:rPr lang="ko-KR" altLang="en-US" sz="700" dirty="0" smtClean="0"/>
              <a:t>본인인증 솔루션 호출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본인 인증 실패 시 토스트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err="1" smtClean="0"/>
              <a:t>본인인증에</a:t>
            </a:r>
            <a:r>
              <a:rPr lang="ko-KR" altLang="en-US" sz="700" dirty="0" smtClean="0"/>
              <a:t> 실패했습니다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성공 시 </a:t>
            </a:r>
            <a:r>
              <a:rPr lang="en-US" altLang="ko-KR" sz="700" dirty="0" smtClean="0"/>
              <a:t>5</a:t>
            </a:r>
            <a:r>
              <a:rPr lang="ko-KR" altLang="en-US" sz="700" dirty="0" smtClean="0"/>
              <a:t>번 항목 참조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기존에 사용하던 업체 및 사용자 아이디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본인인증 성공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메시지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주민등록번호 수정 불가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하단 통합 계정 아이디 입력 폼 추가 노출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아이디 중복 체크 유효성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미입력</a:t>
            </a:r>
            <a:r>
              <a:rPr lang="ko-KR" altLang="en-US" sz="700" dirty="0" smtClean="0"/>
              <a:t>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통합 계정 아이디를 입력해주세요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중복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이미 사용중인 계정입니다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 가능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사용이 가능합니다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비밀번호 확인 유효성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상기 입력 비밀번호와 같을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메시지 없음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입력 불가 특수문자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입력 불가 특수문자를 제외하고 비밀번호를 입력해주세요</a:t>
            </a:r>
            <a:r>
              <a:rPr lang="en-US" altLang="ko-KR" sz="700" dirty="0" smtClean="0"/>
              <a:t>..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비밀번호 패턴 불일치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9~16</a:t>
            </a:r>
            <a:r>
              <a:rPr lang="ko-KR" altLang="en-US" sz="700" dirty="0" smtClean="0"/>
              <a:t>자 숫자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영문</a:t>
            </a:r>
            <a:r>
              <a:rPr lang="en-US" altLang="ko-KR" sz="700" dirty="0" smtClean="0"/>
              <a:t> </a:t>
            </a:r>
            <a:r>
              <a:rPr lang="ko-KR" altLang="en-US" sz="700" dirty="0" smtClean="0"/>
              <a:t>소문자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특수문자 조합으로 입력해주세요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메인으로</a:t>
            </a:r>
            <a:r>
              <a:rPr lang="ko-KR" altLang="en-US" sz="700" dirty="0" smtClean="0"/>
              <a:t> 이동하고 팝업 메시지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통합 계정으로 새로 로그인해주세요</a:t>
            </a:r>
            <a:r>
              <a:rPr lang="en-US" altLang="ko-KR" sz="700" dirty="0" smtClean="0"/>
              <a:t>. (</a:t>
            </a:r>
            <a:r>
              <a:rPr lang="ko-KR" altLang="en-US" sz="700" dirty="0" smtClean="0"/>
              <a:t>취소</a:t>
            </a:r>
            <a:r>
              <a:rPr lang="en-US" altLang="ko-KR" sz="700" dirty="0" smtClean="0"/>
              <a:t>/</a:t>
            </a:r>
            <a:r>
              <a:rPr lang="ko-KR" altLang="en-US" sz="700" dirty="0" smtClean="0"/>
              <a:t>확인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버튼 하단에 도움말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도움말 하단 기존 사용자 아이디 목록 표시</a:t>
            </a:r>
            <a:endParaRPr lang="ko-KR" altLang="en-US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아이디로 로그인 한 경우 통합 아이디로 변경하도록 아이디 및 비밀번호를 </a:t>
            </a:r>
            <a:r>
              <a:rPr lang="ko-KR" altLang="en-US" dirty="0"/>
              <a:t>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err="1"/>
              <a:t>통합로그인계정등록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</a:t>
            </a:r>
            <a:endParaRPr lang="ko-KR" altLang="en-US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그룹 57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타원 60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</a:t>
            </a:r>
            <a:r>
              <a:rPr lang="ko-KR" altLang="en-US" sz="700" dirty="0" smtClean="0">
                <a:latin typeface="+mn-ea"/>
              </a:rPr>
              <a:t>아이디가 필요합니다</a:t>
            </a:r>
            <a:r>
              <a:rPr lang="en-US" altLang="ko-KR" sz="700" dirty="0" smtClean="0">
                <a:latin typeface="+mn-ea"/>
              </a:rPr>
              <a:t>.</a:t>
            </a:r>
            <a:r>
              <a:rPr lang="ko-KR" altLang="en-US" sz="700" dirty="0" smtClean="0">
                <a:latin typeface="+mn-ea"/>
              </a:rPr>
              <a:t> 통합 아이디를 등록하기 위해 본인인증을 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>
            <a:off x="903580" y="3984685"/>
            <a:ext cx="2255663" cy="306146"/>
            <a:chOff x="3982951" y="3679873"/>
            <a:chExt cx="2255663" cy="306146"/>
          </a:xfrm>
        </p:grpSpPr>
        <p:sp>
          <p:nvSpPr>
            <p:cNvPr id="82" name="모서리가 둥근 직사각형 8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본인인증하기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903581" y="2752065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903581" y="3345730"/>
            <a:ext cx="2255663" cy="306146"/>
            <a:chOff x="3982951" y="3679873"/>
            <a:chExt cx="2255663" cy="306146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주민등록번호를  입력하세요</a:t>
              </a: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8353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37922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통합 계정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4022397" y="3939395"/>
            <a:ext cx="1833056" cy="306146"/>
            <a:chOff x="3982952" y="3679873"/>
            <a:chExt cx="1833056" cy="306146"/>
          </a:xfrm>
        </p:grpSpPr>
        <p:sp>
          <p:nvSpPr>
            <p:cNvPr id="97" name="모서리가 둥근 직사각형 96"/>
            <p:cNvSpPr/>
            <p:nvPr/>
          </p:nvSpPr>
          <p:spPr>
            <a:xfrm>
              <a:off x="3982952" y="3679873"/>
              <a:ext cx="1633530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4022396" y="4626464"/>
            <a:ext cx="2255663" cy="306146"/>
            <a:chOff x="3982951" y="3679873"/>
            <a:chExt cx="2255663" cy="306146"/>
          </a:xfrm>
        </p:grpSpPr>
        <p:sp>
          <p:nvSpPr>
            <p:cNvPr id="101" name="모서리가 둥근 직사각형 10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48752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04" name="그룹 103"/>
          <p:cNvGrpSpPr/>
          <p:nvPr/>
        </p:nvGrpSpPr>
        <p:grpSpPr>
          <a:xfrm>
            <a:off x="4022395" y="5854974"/>
            <a:ext cx="2255663" cy="306146"/>
            <a:chOff x="3982951" y="3679873"/>
            <a:chExt cx="2255663" cy="306146"/>
          </a:xfrm>
        </p:grpSpPr>
        <p:sp>
          <p:nvSpPr>
            <p:cNvPr id="105" name="모서리가 둥근 직사각형 10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통합 아이디 등록하기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277203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25235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16" name="타원 115"/>
          <p:cNvSpPr/>
          <p:nvPr/>
        </p:nvSpPr>
        <p:spPr>
          <a:xfrm>
            <a:off x="3974491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227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아이디와 비밀번호를 </a:t>
            </a:r>
            <a:r>
              <a:rPr lang="ko-KR" altLang="en-US" sz="700" dirty="0" smtClean="0">
                <a:latin typeface="+mn-ea"/>
              </a:rPr>
              <a:t>등록해주세요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>
            <a:off x="4023916" y="2752065"/>
            <a:ext cx="2255663" cy="306146"/>
            <a:chOff x="3982951" y="3679873"/>
            <a:chExt cx="2255663" cy="306146"/>
          </a:xfrm>
        </p:grpSpPr>
        <p:sp>
          <p:nvSpPr>
            <p:cNvPr id="120" name="모서리가 둥근 직사각형 11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4023916" y="3345730"/>
            <a:ext cx="2255663" cy="306146"/>
            <a:chOff x="3982951" y="3679873"/>
            <a:chExt cx="2255663" cy="306146"/>
          </a:xfrm>
        </p:grpSpPr>
        <p:sp>
          <p:nvSpPr>
            <p:cNvPr id="124" name="모서리가 둥근 직사각형 12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123456-7******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7" name="그룹 126"/>
          <p:cNvGrpSpPr/>
          <p:nvPr/>
        </p:nvGrpSpPr>
        <p:grpSpPr>
          <a:xfrm>
            <a:off x="4022396" y="5258804"/>
            <a:ext cx="2255663" cy="306146"/>
            <a:chOff x="3982951" y="3679873"/>
            <a:chExt cx="2255663" cy="306146"/>
          </a:xfrm>
        </p:grpSpPr>
        <p:sp>
          <p:nvSpPr>
            <p:cNvPr id="128" name="모서리가 둥근 직사각형 12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1198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6048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32" name="그룹 131"/>
          <p:cNvGrpSpPr/>
          <p:nvPr/>
        </p:nvGrpSpPr>
        <p:grpSpPr>
          <a:xfrm>
            <a:off x="5723978" y="3939395"/>
            <a:ext cx="554080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solidFill>
                    <a:schemeClr val="bg1"/>
                  </a:solidFill>
                  <a:latin typeface="+mn-ea"/>
                </a:rPr>
                <a:t>중복체크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304798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714770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404182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user123456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814154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user234567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52996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기존 사용자 아이디</a:t>
            </a:r>
            <a:r>
              <a:rPr lang="en-US" altLang="ko-KR" sz="800" b="1" dirty="0" smtClean="0">
                <a:latin typeface="+mn-ea"/>
              </a:rPr>
              <a:t> </a:t>
            </a:r>
            <a:r>
              <a:rPr lang="ko-KR" altLang="en-US" sz="800" b="1" dirty="0" smtClean="0">
                <a:latin typeface="+mn-ea"/>
              </a:rPr>
              <a:t>목록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52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0409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업체에서 등록</a:t>
            </a:r>
            <a:r>
              <a:rPr lang="en-US" altLang="ko-KR" sz="700" dirty="0" smtClean="0">
                <a:latin typeface="+mn-ea"/>
              </a:rPr>
              <a:t>, </a:t>
            </a:r>
            <a:r>
              <a:rPr lang="ko-KR" altLang="en-US" sz="700" dirty="0" smtClean="0">
                <a:latin typeface="+mn-ea"/>
              </a:rPr>
              <a:t>생성한 </a:t>
            </a:r>
            <a:r>
              <a:rPr lang="ko-KR" altLang="en-US" sz="700" dirty="0">
                <a:latin typeface="+mn-ea"/>
              </a:rPr>
              <a:t>기존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아이디 정보입니다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544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127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21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536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374" y="22351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47" name="그룹 146"/>
          <p:cNvGrpSpPr/>
          <p:nvPr/>
        </p:nvGrpSpPr>
        <p:grpSpPr>
          <a:xfrm>
            <a:off x="6694978" y="5658670"/>
            <a:ext cx="2652743" cy="769170"/>
            <a:chOff x="734683" y="4769160"/>
            <a:chExt cx="2652743" cy="769170"/>
          </a:xfrm>
        </p:grpSpPr>
        <p:sp>
          <p:nvSpPr>
            <p:cNvPr id="148" name="모서리가 둥근 직사각형 14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50" name="타원 14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1" name="그룹 15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2" name="직선 연결선 15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3" name="직선 연결선 15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" name="꺾인 연결선 4"/>
          <p:cNvCxnSpPr>
            <a:stCxn id="82" idx="3"/>
            <a:endCxn id="95" idx="1"/>
          </p:cNvCxnSpPr>
          <p:nvPr/>
        </p:nvCxnSpPr>
        <p:spPr>
          <a:xfrm flipV="1">
            <a:off x="3159243" y="3846124"/>
            <a:ext cx="863153" cy="291634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꺾인 연결선 153"/>
          <p:cNvCxnSpPr>
            <a:stCxn id="82" idx="3"/>
            <a:endCxn id="105" idx="1"/>
          </p:cNvCxnSpPr>
          <p:nvPr/>
        </p:nvCxnSpPr>
        <p:spPr>
          <a:xfrm>
            <a:off x="3159243" y="4137758"/>
            <a:ext cx="863152" cy="1870289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39774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325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9164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8</a:t>
            </a:r>
            <a:endParaRPr lang="ko-KR" altLang="en-US" sz="900" b="1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0493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7922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448752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51198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12043" y="3560186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성공 시</a:t>
            </a:r>
            <a:endParaRPr lang="en-US" altLang="ko-KR" sz="700" dirty="0" smtClean="0">
              <a:latin typeface="+mn-ea"/>
            </a:endParaRPr>
          </a:p>
          <a:p>
            <a:pPr algn="ctr"/>
            <a:r>
              <a:rPr lang="ko-KR" altLang="en-US" sz="700" dirty="0" err="1" smtClean="0">
                <a:latin typeface="+mn-ea"/>
              </a:rPr>
              <a:t>추가노출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60931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731428"/>
              </p:ext>
            </p:extLst>
          </p:nvPr>
        </p:nvGraphicFramePr>
        <p:xfrm>
          <a:off x="455204" y="2835901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본인인증 체크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scwin.btn_cert_onclick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본인인증을 확인한다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값 획득하기 위해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69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중복체크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등록하려는 사용자 아이디 중복 체크한다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663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 아이디 등록하기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통합로그인 계정을 생성한다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7281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57819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통합로그인계정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7943844"/>
              </p:ext>
            </p:extLst>
          </p:nvPr>
        </p:nvGraphicFramePr>
        <p:xfrm>
          <a:off x="454850" y="1104443"/>
          <a:ext cx="8623561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3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12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이름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생략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0408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8542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userEnpswdChk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3128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8724168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등록한 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메인홈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바로가기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통합로그인계정등록완료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통합 로그인 계정 등록 완료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통합로그인계정등록완료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통합 로그인 계정 </a:t>
            </a:r>
            <a:r>
              <a:rPr lang="ko-KR" altLang="en-US" sz="800" dirty="0" smtClean="0"/>
              <a:t>등록 완료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smtClean="0">
                <a:latin typeface="+mn-ea"/>
              </a:rPr>
              <a:t>통합 로그인 계정을 </a:t>
            </a:r>
            <a:r>
              <a:rPr lang="ko-KR" altLang="en-US" sz="900" b="1" dirty="0">
                <a:latin typeface="+mn-ea"/>
              </a:rPr>
              <a:t>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로그인 계정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메인홈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ko-KR" altLang="en-US" sz="700" b="1" dirty="0" err="1" smtClean="0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  <p:sp>
        <p:nvSpPr>
          <p:cNvPr id="30" name="타원 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64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26862"/>
              </p:ext>
            </p:extLst>
          </p:nvPr>
        </p:nvGraphicFramePr>
        <p:xfrm>
          <a:off x="455204" y="2285057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선택화면으로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메인홈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78848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251795"/>
              </p:ext>
            </p:extLst>
          </p:nvPr>
        </p:nvGraphicFramePr>
        <p:xfrm>
          <a:off x="454850" y="11044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0493923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업체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통합계정아이디를 통해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로그인을</a:t>
            </a:r>
            <a:r>
              <a:rPr lang="ko-KR" altLang="en-US" dirty="0" smtClean="0">
                <a:solidFill>
                  <a:srgbClr val="FF0000"/>
                </a:solidFill>
              </a:rPr>
              <a:t> 한 경우에 표시됨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소속된 업체가 하나인 경우는 팝업을 띄우지 않고 업체를 </a:t>
            </a:r>
            <a:r>
              <a:rPr lang="ko-KR" altLang="en-US" dirty="0" smtClean="0"/>
              <a:t>설정하여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</a:t>
            </a:r>
            <a:r>
              <a:rPr lang="ko-KR" altLang="en-US" dirty="0" smtClean="0"/>
              <a:t>경우 사용자가 선택할 수 있는 목록 표시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</a:t>
            </a:r>
            <a:r>
              <a:rPr lang="ko-KR" altLang="en-US" dirty="0" err="1" smtClean="0"/>
              <a:t>미선택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로그인 클릭 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업체를 선택해주세요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로그아웃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로그인 성공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로그인업체설정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로그인업체설정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로그인</a:t>
            </a:r>
            <a:r>
              <a:rPr lang="en-US" altLang="ko-KR" sz="900" dirty="0" smtClean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</a:t>
            </a:r>
            <a:r>
              <a:rPr lang="ko-KR" altLang="en-US" sz="900" dirty="0" smtClean="0">
                <a:latin typeface="+mn-ea"/>
              </a:rPr>
              <a:t>설정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업체선택</a:t>
              </a:r>
              <a:r>
                <a:rPr lang="ko-KR" altLang="en-US" sz="700" dirty="0" smtClean="0"/>
                <a:t> 팝업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로그인 업체 설정으로</a:t>
              </a:r>
              <a:r>
                <a:rPr lang="ko-KR" altLang="en-US" sz="700" dirty="0" smtClean="0"/>
                <a:t> 타이틀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4878174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556585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선택 로그인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기관 선택 탭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화면은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선택에 따른 분기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Any-ID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로그인 </a:t>
            </a:r>
            <a:r>
              <a:rPr lang="ko-KR" altLang="en-US" dirty="0"/>
              <a:t>방식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anyID</a:t>
            </a:r>
            <a:r>
              <a:rPr lang="en-US" altLang="ko-KR" dirty="0" smtClean="0"/>
              <a:t> </a:t>
            </a:r>
            <a:r>
              <a:rPr lang="ko-KR" altLang="en-US" dirty="0" smtClean="0"/>
              <a:t>솔루션 화면 활용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trike="sngStrike" dirty="0" smtClean="0">
                <a:solidFill>
                  <a:srgbClr val="FF0000"/>
                </a:solidFill>
              </a:rPr>
              <a:t>- </a:t>
            </a:r>
            <a:r>
              <a:rPr lang="en-US" altLang="ko-KR" strike="sngStrike" dirty="0" err="1" smtClean="0">
                <a:solidFill>
                  <a:srgbClr val="FF0000"/>
                </a:solidFill>
              </a:rPr>
              <a:t>anyID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정책에 따라 개인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,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기업 선택 </a:t>
            </a:r>
            <a:r>
              <a:rPr lang="ko-KR" altLang="en-US" strike="sngStrike" dirty="0" err="1" smtClean="0">
                <a:solidFill>
                  <a:srgbClr val="FF0000"/>
                </a:solidFill>
              </a:rPr>
              <a:t>로그인이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 추가될 수 있음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 사용에 따른 등록된 </a:t>
            </a:r>
            <a:r>
              <a:rPr lang="ko-KR" altLang="en-US" dirty="0" err="1" smtClean="0"/>
              <a:t>생체인증</a:t>
            </a:r>
            <a:r>
              <a:rPr lang="en-US" altLang="ko-KR" dirty="0" smtClean="0"/>
              <a:t>, ID</a:t>
            </a:r>
            <a:r>
              <a:rPr lang="ko-KR" altLang="en-US" dirty="0" smtClean="0"/>
              <a:t>를 사용한 </a:t>
            </a:r>
            <a:r>
              <a:rPr lang="en-US" altLang="ko-KR" dirty="0" smtClean="0"/>
              <a:t>ID/PW </a:t>
            </a:r>
            <a:r>
              <a:rPr lang="ko-KR" altLang="en-US" dirty="0" smtClean="0"/>
              <a:t>로그인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모바일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체크 및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로그인 성공 시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smtClean="0"/>
              <a:t>토스트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미등록 시 </a:t>
            </a:r>
            <a:r>
              <a:rPr lang="en-US" altLang="ko-KR" dirty="0" smtClean="0"/>
              <a:t>MUI-CM-03-M14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ID/PW </a:t>
            </a:r>
            <a:r>
              <a:rPr lang="ko-KR" altLang="en-US" dirty="0" smtClean="0"/>
              <a:t>로그인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</a:t>
            </a:r>
            <a:r>
              <a:rPr lang="ko-KR" altLang="en-US" dirty="0" smtClean="0"/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와 통합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를 구분하지 않고 입력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기존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입력하여 로그인 하는 경우 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생성하도록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 smtClean="0"/>
              <a:t>로그인 이동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모바일에서 사용자 등록은 불가하며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 등록 안내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45433"/>
            <a:ext cx="2305144" cy="4770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통합로그인은 한 번의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로그인으로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연계된 모든 공공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웹서비스를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이용할 수 있는 인증 서비스입니다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  <a:p>
            <a:endParaRPr lang="en-US" altLang="ko-KR" sz="300" dirty="0">
              <a:solidFill>
                <a:srgbClr val="1D1D1D"/>
              </a:solidFill>
              <a:latin typeface="Pretendard GOV"/>
            </a:endParaRPr>
          </a:p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 smtClean="0">
                <a:solidFill>
                  <a:srgbClr val="1D1D1D"/>
                </a:solidFill>
                <a:latin typeface="Pretendard GOV"/>
              </a:rPr>
              <a:t>로그인은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 하단의 국방전자조달시스템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09632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3985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392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3702685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187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4319007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4417291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440764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4456138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4030026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04892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4366576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5217340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92206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5553890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03580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  <a:latin typeface="+mn-ea"/>
              </a:rPr>
              <a:t>조달업체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기관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en-US" altLang="ko-KR" sz="700" dirty="0" smtClean="0"/>
                <a:t>Any-ID </a:t>
              </a:r>
              <a:r>
                <a:rPr lang="ko-KR" altLang="en-US" sz="700" dirty="0" smtClean="0"/>
                <a:t>시스템 영역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솔루션에 따라 변경될 수 있음</a:t>
              </a:r>
              <a:r>
                <a:rPr lang="en-US" altLang="ko-KR" sz="700" dirty="0" smtClean="0"/>
                <a:t>)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402000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정부 통합로그인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86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857491" y="3402669"/>
            <a:ext cx="301752" cy="137160"/>
            <a:chOff x="840582" y="1601197"/>
            <a:chExt cx="301752" cy="137160"/>
          </a:xfrm>
        </p:grpSpPr>
        <p:sp>
          <p:nvSpPr>
            <p:cNvPr id="87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4472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아직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</a:p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사용자가 아니신가요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?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8675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 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325760" y="3626446"/>
            <a:ext cx="874449" cy="252000"/>
            <a:chOff x="-2180572" y="3259503"/>
            <a:chExt cx="874449" cy="252000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등록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2325760" y="3914618"/>
            <a:ext cx="874449" cy="252000"/>
            <a:chOff x="-2180572" y="3259503"/>
            <a:chExt cx="874449" cy="252000"/>
          </a:xfrm>
        </p:grpSpPr>
        <p:sp>
          <p:nvSpPr>
            <p:cNvPr id="96" name="모서리가 둥근 직사각형 95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관리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623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20508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30955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</a:t>
            </a:r>
            <a:r>
              <a:rPr lang="en-US" altLang="ko-KR" dirty="0"/>
              <a:t>, </a:t>
            </a:r>
            <a:r>
              <a:rPr lang="ko-KR" altLang="en-US" dirty="0"/>
              <a:t>기관 선택 탭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화면은 </a:t>
            </a:r>
            <a:r>
              <a:rPr lang="ko-KR" altLang="en-US" dirty="0" smtClean="0"/>
              <a:t>기관 </a:t>
            </a:r>
            <a:r>
              <a:rPr lang="ko-KR" altLang="en-US" dirty="0"/>
              <a:t>선택에 따른 분기 </a:t>
            </a:r>
            <a:r>
              <a:rPr lang="ko-KR" altLang="en-US" dirty="0" smtClean="0"/>
              <a:t>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기관은 </a:t>
            </a:r>
            <a:r>
              <a:rPr lang="en-US" altLang="ko-KR" dirty="0" smtClean="0"/>
              <a:t>radio </a:t>
            </a:r>
            <a:r>
              <a:rPr lang="ko-KR" altLang="en-US" dirty="0" smtClean="0"/>
              <a:t>형태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단일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ID/PW </a:t>
            </a:r>
            <a:r>
              <a:rPr lang="ko-KR" altLang="en-US" dirty="0" smtClean="0"/>
              <a:t>단일 로그인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03580" y="3959869"/>
            <a:ext cx="2255663" cy="606288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54658" y="4197659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25" name="타원 24"/>
          <p:cNvSpPr/>
          <p:nvPr/>
        </p:nvSpPr>
        <p:spPr>
          <a:xfrm>
            <a:off x="1110938" y="406709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8026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기관을 선택한 후 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2037805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latin typeface="+mn-ea"/>
              </a:rPr>
              <a:t>조달업체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solidFill>
                  <a:schemeClr val="bg1"/>
                </a:solidFill>
                <a:latin typeface="+mn-ea"/>
              </a:rPr>
              <a:t>기관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기관 선택에 따른 기관 세부 조건 설정 이후 로그인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60955" y="3144992"/>
            <a:ext cx="10711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기관을 선택해주세요</a:t>
            </a:r>
            <a:r>
              <a:rPr lang="en-US" altLang="ko-KR" sz="800" b="1" dirty="0" smtClean="0">
                <a:latin typeface="+mn-ea"/>
              </a:rPr>
              <a:t>.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903580" y="3382015"/>
            <a:ext cx="1075272" cy="187200"/>
          </a:xfrm>
          <a:prstGeom prst="roundRect">
            <a:avLst>
              <a:gd name="adj" fmla="val 17463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</a:rPr>
              <a:t>방위사업청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2083971" y="3382015"/>
            <a:ext cx="1075272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수요부대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타원 87"/>
          <p:cNvSpPr/>
          <p:nvPr/>
        </p:nvSpPr>
        <p:spPr>
          <a:xfrm>
            <a:off x="947497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2119124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14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54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142808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737434"/>
              </p:ext>
            </p:extLst>
          </p:nvPr>
        </p:nvGraphicFramePr>
        <p:xfrm>
          <a:off x="455204" y="971284"/>
          <a:ext cx="8995591" cy="27206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scwin.tacpg_select_onclick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또는 기관 탭을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364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 또는 수요부대를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28998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95319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아이디는 이전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및 통합 </a:t>
            </a:r>
            <a:r>
              <a:rPr lang="en-US" altLang="ko-KR" dirty="0" smtClean="0"/>
              <a:t>ID(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)</a:t>
            </a:r>
            <a:r>
              <a:rPr lang="ko-KR" altLang="en-US" dirty="0" smtClean="0"/>
              <a:t>를</a:t>
            </a:r>
            <a:r>
              <a:rPr lang="en-US" altLang="ko-KR" dirty="0" smtClean="0"/>
              <a:t> </a:t>
            </a:r>
            <a:r>
              <a:rPr lang="ko-KR" altLang="en-US" dirty="0" smtClean="0"/>
              <a:t>둘다 사용할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(as-is </a:t>
            </a:r>
            <a:r>
              <a:rPr lang="ko-KR" altLang="en-US" dirty="0" smtClean="0"/>
              <a:t>나라장터 등록 </a:t>
            </a:r>
            <a:r>
              <a:rPr lang="en-US" altLang="ko-KR" dirty="0" smtClean="0"/>
              <a:t>ID) ID</a:t>
            </a:r>
            <a:r>
              <a:rPr lang="ko-KR" altLang="en-US" dirty="0" smtClean="0"/>
              <a:t>로 로그인 시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생성 안내 화면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로 로그인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하나인 경우 업체 선택 팝업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여러 개인 경우 업체 선택 팝업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기관사용자는 해당 영역 하단은 표시하지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아이디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비밀번호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처음 </a:t>
            </a:r>
            <a:r>
              <a:rPr lang="ko-KR" altLang="en-US" dirty="0" err="1" smtClean="0"/>
              <a:t>방문하셨나요</a:t>
            </a:r>
            <a:r>
              <a:rPr lang="en-US" altLang="ko-KR" dirty="0"/>
              <a:t>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08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273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등록한 </a:t>
            </a:r>
            <a:r>
              <a:rPr lang="ko-KR" altLang="en-US" sz="700" dirty="0">
                <a:latin typeface="+mn-ea"/>
              </a:rPr>
              <a:t>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02277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774518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461587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2265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08576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232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075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1" name="직사각형 9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기관 선택 추가</a:t>
              </a:r>
              <a:endParaRPr lang="en-US" altLang="ko-KR" sz="700" dirty="0"/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073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956" y="2178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88" name="직사각형 8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4</a:t>
              </a:r>
              <a:r>
                <a:rPr lang="ko-KR" altLang="en-US" sz="700" dirty="0" smtClean="0"/>
                <a:t>번 영역 설명을 추가함</a:t>
              </a:r>
              <a:r>
                <a:rPr lang="en-US" altLang="ko-KR" sz="700" dirty="0" smtClean="0"/>
                <a:t>.</a:t>
              </a:r>
              <a:br>
                <a:rPr lang="en-US" altLang="ko-KR" sz="700" dirty="0" smtClean="0"/>
              </a:br>
              <a:r>
                <a:rPr lang="ko-KR" altLang="en-US" sz="700" dirty="0" err="1" smtClean="0"/>
                <a:t>조달업체</a:t>
              </a:r>
              <a:r>
                <a:rPr lang="ko-KR" altLang="en-US" sz="700" dirty="0" smtClean="0"/>
                <a:t> 사용자에게만 노출되는 영역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102633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같은 아이디로 등록한 업체가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있을때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업체 선택창이 나온다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(UI-CM-02-P12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퇴사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탈퇴한 회원은 로그인이 불가능하다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ID/PW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비밀번호 변경일이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일이 경과되면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- 60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장기 미사용자도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920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5836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본인인증을 </a:t>
            </a:r>
            <a:r>
              <a:rPr lang="ko-KR" altLang="en-US" sz="900" b="1" dirty="0">
                <a:latin typeface="+mn-ea"/>
              </a:rPr>
              <a:t>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188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086107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85319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25" name="타원 24"/>
          <p:cNvSpPr/>
          <p:nvPr/>
        </p:nvSpPr>
        <p:spPr>
          <a:xfrm>
            <a:off x="1062376" y="4125304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룹 38"/>
          <p:cNvGrpSpPr/>
          <p:nvPr/>
        </p:nvGrpSpPr>
        <p:grpSpPr>
          <a:xfrm rot="16200000" flipH="1">
            <a:off x="2958652" y="2698407"/>
            <a:ext cx="94010" cy="47005"/>
            <a:chOff x="6812560" y="3297172"/>
            <a:chExt cx="94010" cy="47005"/>
          </a:xfrm>
        </p:grpSpPr>
        <p:cxnSp>
          <p:nvCxnSpPr>
            <p:cNvPr id="40" name="직선 연결선 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2" name="그룹 41"/>
          <p:cNvGrpSpPr/>
          <p:nvPr/>
        </p:nvGrpSpPr>
        <p:grpSpPr>
          <a:xfrm rot="16200000" flipH="1">
            <a:off x="2958653" y="3083465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rot="16200000" flipH="1">
            <a:off x="2958653" y="346445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 rot="16200000" flipH="1">
            <a:off x="2958654" y="3849517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그룹 51"/>
          <p:cNvGrpSpPr/>
          <p:nvPr/>
        </p:nvGrpSpPr>
        <p:grpSpPr>
          <a:xfrm rot="16200000" flipH="1">
            <a:off x="2958654" y="4215678"/>
            <a:ext cx="94010" cy="47005"/>
            <a:chOff x="6812560" y="3297172"/>
            <a:chExt cx="94010" cy="47005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ID, </a:t>
            </a:r>
            <a:r>
              <a:rPr lang="ko-KR" altLang="en-US" dirty="0" smtClean="0"/>
              <a:t>기존</a:t>
            </a:r>
            <a:r>
              <a:rPr lang="en-US" altLang="ko-KR" dirty="0" smtClean="0"/>
              <a:t> ID</a:t>
            </a:r>
            <a:r>
              <a:rPr lang="ko-KR" altLang="en-US" dirty="0" smtClean="0"/>
              <a:t>를 둘다 조회함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</a:t>
            </a:r>
            <a:r>
              <a:rPr lang="ko-KR" altLang="en-US" dirty="0" err="1" smtClean="0"/>
              <a:t>찾기결과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등록정보로찾기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>
                <a:latin typeface="+mn-ea"/>
              </a:rPr>
              <a:t>아이디</a:t>
            </a:r>
            <a:r>
              <a:rPr lang="en-US" altLang="ko-KR" sz="1000" b="1" dirty="0">
                <a:latin typeface="+mn-ea"/>
              </a:rPr>
              <a:t> </a:t>
            </a:r>
            <a:r>
              <a:rPr lang="ko-KR" altLang="en-US" sz="1000" b="1" dirty="0" err="1">
                <a:latin typeface="+mn-ea"/>
              </a:rPr>
              <a:t>등록정보로</a:t>
            </a:r>
            <a:r>
              <a:rPr lang="ko-KR" altLang="en-US" sz="10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5" name="직사각형 4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 주민등록번호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사용자 생년월일</a:t>
              </a:r>
              <a:endParaRPr lang="en-US" altLang="ko-KR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059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2" name="그룹 51"/>
          <p:cNvGrpSpPr/>
          <p:nvPr/>
        </p:nvGrpSpPr>
        <p:grpSpPr>
          <a:xfrm>
            <a:off x="903581" y="4854131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151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001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151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9" name="그룹 58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0" name="직사각형 5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492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가 있는 경우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가 없는 경우 소속업체명과 아이디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60923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8014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88538928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통합 </a:t>
            </a:r>
            <a:r>
              <a:rPr lang="en-US" altLang="ko-KR" dirty="0" smtClean="0">
                <a:sym typeface="Wingdings" panose="05000000000000000000" pitchFamily="2" charset="2"/>
              </a:rPr>
              <a:t>ID, </a:t>
            </a:r>
            <a:r>
              <a:rPr lang="ko-KR" altLang="en-US" dirty="0" smtClean="0">
                <a:sym typeface="Wingdings" panose="05000000000000000000" pitchFamily="2" charset="2"/>
              </a:rPr>
              <a:t>기존</a:t>
            </a:r>
            <a:r>
              <a:rPr lang="en-US" altLang="ko-KR" dirty="0" smtClean="0">
                <a:sym typeface="Wingdings" panose="05000000000000000000" pitchFamily="2" charset="2"/>
              </a:rPr>
              <a:t> ID </a:t>
            </a:r>
            <a:r>
              <a:rPr lang="ko-KR" altLang="en-US" dirty="0" smtClean="0">
                <a:sym typeface="Wingdings" panose="05000000000000000000" pitchFamily="2" charset="2"/>
              </a:rPr>
              <a:t>모두 설정 가능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PW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294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880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본인인증을 </a:t>
            </a:r>
            <a:r>
              <a:rPr lang="ko-KR" altLang="en-US" sz="700" dirty="0">
                <a:latin typeface="+mn-ea"/>
              </a:rPr>
              <a:t>통해 비밀번호를 변경할 수 있습니다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7869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63962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883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69266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4024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23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4077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4056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0488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45872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79073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88994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84377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5156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5256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520993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519609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82661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43558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406374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67706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8516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71516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474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 smtClean="0">
                <a:latin typeface="+mn-ea"/>
              </a:rPr>
              <a:t>비밀번호</a:t>
            </a:r>
            <a:r>
              <a:rPr lang="en-US" altLang="ko-KR" sz="1000" b="1" dirty="0" smtClean="0">
                <a:latin typeface="+mn-ea"/>
              </a:rPr>
              <a:t> </a:t>
            </a:r>
            <a:r>
              <a:rPr lang="ko-KR" altLang="en-US" sz="1000" b="1" dirty="0" smtClean="0">
                <a:latin typeface="+mn-ea"/>
              </a:rPr>
              <a:t>찾기</a:t>
            </a:r>
            <a:endParaRPr lang="ko-KR" altLang="en-US" sz="1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ID</a:t>
            </a:r>
            <a:r>
              <a:rPr lang="ko-KR" altLang="en-US" dirty="0" smtClean="0"/>
              <a:t>는 직전에 입력한 아이디 자동입력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아이디 체계가 개편되어</a:t>
            </a:r>
            <a:r>
              <a:rPr lang="en-US" altLang="ko-KR" dirty="0" smtClean="0">
                <a:solidFill>
                  <a:srgbClr val="FF0000"/>
                </a:solidFill>
              </a:rPr>
              <a:t>, 1</a:t>
            </a:r>
            <a:r>
              <a:rPr lang="ko-KR" altLang="en-US" dirty="0" smtClean="0">
                <a:solidFill>
                  <a:srgbClr val="FF0000"/>
                </a:solidFill>
              </a:rPr>
              <a:t>사용자당 </a:t>
            </a:r>
            <a:r>
              <a:rPr lang="en-US" altLang="ko-KR" dirty="0" smtClean="0">
                <a:solidFill>
                  <a:srgbClr val="FF0000"/>
                </a:solidFill>
              </a:rPr>
              <a:t>1</a:t>
            </a:r>
            <a:r>
              <a:rPr lang="ko-KR" altLang="en-US" dirty="0" smtClean="0">
                <a:solidFill>
                  <a:srgbClr val="FF0000"/>
                </a:solidFill>
              </a:rPr>
              <a:t>개의 통합 아이디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여러 개의 기존 아이디가 존재함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strike="sngStrike" dirty="0" smtClean="0"/>
              <a:t>- as-is</a:t>
            </a:r>
            <a:r>
              <a:rPr lang="ko-KR" altLang="en-US" strike="sngStrike" dirty="0" smtClean="0"/>
              <a:t>에서는 업체별로 사용자가 사용할 아이디를 계속 추가하는 </a:t>
            </a:r>
            <a:r>
              <a:rPr lang="ko-KR" altLang="en-US" strike="sngStrike" dirty="0" err="1" smtClean="0"/>
              <a:t>방식이었음</a:t>
            </a:r>
            <a:r>
              <a:rPr lang="en-US" altLang="ko-KR" strike="sngStrike" dirty="0" smtClean="0"/>
              <a:t>.</a:t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현재 화면에 사용자 구분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사업자 아이디가 무의미해지고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화면이 일부 변경될 수 있음</a:t>
            </a:r>
            <a:r>
              <a:rPr lang="en-US" altLang="ko-KR" strike="sngStrike" dirty="0" smtClean="0"/>
              <a:t>.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입력된 통합 </a:t>
            </a:r>
            <a:r>
              <a:rPr lang="en-US" altLang="ko-KR" dirty="0" smtClean="0">
                <a:solidFill>
                  <a:srgbClr val="FF0000"/>
                </a:solidFill>
              </a:rPr>
              <a:t>ID,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에 해당하는 비밀번호 변경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PW</a:t>
            </a:r>
            <a:r>
              <a:rPr lang="ko-KR" altLang="en-US" dirty="0" err="1" smtClean="0"/>
              <a:t>찾기결과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MUI-CM-03-M08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/>
              <a:t>등록정보로찾기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등록정보로</a:t>
            </a:r>
            <a:r>
              <a:rPr lang="ko-KR" altLang="en-US" sz="900" b="1" dirty="0" smtClean="0">
                <a:latin typeface="+mn-ea"/>
              </a:rPr>
              <a:t> 비밀번호 </a:t>
            </a:r>
            <a:r>
              <a:rPr lang="ko-KR" altLang="en-US" sz="900" b="1" dirty="0">
                <a:latin typeface="+mn-ea"/>
              </a:rPr>
              <a:t>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2" name="직사각형 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정책이 정해지면 화면 변경이 필요함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55" name="타원 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9112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6" name="그룹 55"/>
          <p:cNvGrpSpPr/>
          <p:nvPr/>
        </p:nvGrpSpPr>
        <p:grpSpPr>
          <a:xfrm>
            <a:off x="903581" y="5361205"/>
            <a:ext cx="2255663" cy="306146"/>
            <a:chOff x="3982951" y="3679873"/>
            <a:chExt cx="2255663" cy="306146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2227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0721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2227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3" name="직사각형 6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설명 변경</a:t>
              </a:r>
              <a:endParaRPr lang="ko-KR" altLang="en-US" sz="700" dirty="0"/>
            </a:p>
          </p:txBody>
        </p:sp>
      </p:grpSp>
      <p:grpSp>
        <p:nvGrpSpPr>
          <p:cNvPr id="84" name="그룹 83"/>
          <p:cNvGrpSpPr/>
          <p:nvPr/>
        </p:nvGrpSpPr>
        <p:grpSpPr>
          <a:xfrm>
            <a:off x="8223250" y="140467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아이디 </a:t>
              </a:r>
              <a:r>
                <a:rPr lang="en-US" altLang="ko-KR" sz="700" dirty="0" smtClean="0"/>
                <a:t>disable</a:t>
              </a:r>
              <a:r>
                <a:rPr lang="ko-KR" altLang="en-US" sz="700" dirty="0" smtClean="0"/>
                <a:t>로 변경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필수 표시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이전 화면에서 입력한 아이디 표시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238255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비밀번호를 변경할 수 있음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사용자등록안내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Any-ID</a:t>
            </a:r>
            <a:r>
              <a:rPr lang="ko-KR" altLang="en-US" dirty="0" smtClean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en-US" altLang="ko-KR" dirty="0">
                <a:solidFill>
                  <a:srgbClr val="FF0000"/>
                </a:solidFill>
              </a:rPr>
              <a:t>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금융인증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금융인증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인증서 활용 화면은 가이드라인 추가 확인이 필요함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</a:t>
            </a:r>
            <a:r>
              <a:rPr lang="ko-KR" altLang="en-US" dirty="0" smtClean="0"/>
              <a:t>따름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Any-ID</a:t>
            </a:r>
            <a:r>
              <a:rPr lang="ko-KR" altLang="en-US" dirty="0">
                <a:solidFill>
                  <a:srgbClr val="FF0000"/>
                </a:solidFill>
              </a:rPr>
              <a:t>에서 제공하는 화면을 사용함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정책에 따라 현재 화면이 노출되지 않고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정부 모바일 신분증 앱</a:t>
            </a:r>
            <a:r>
              <a:rPr lang="en-US" altLang="ko-KR" dirty="0" smtClean="0">
                <a:solidFill>
                  <a:srgbClr val="FF0000"/>
                </a:solidFill>
              </a:rPr>
              <a:t>(</a:t>
            </a:r>
            <a:r>
              <a:rPr lang="ko-KR" altLang="en-US" dirty="0" err="1" smtClean="0">
                <a:solidFill>
                  <a:srgbClr val="FF0000"/>
                </a:solidFill>
              </a:rPr>
              <a:t>정부앱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ko-KR" altLang="en-US" dirty="0" smtClean="0">
                <a:solidFill>
                  <a:srgbClr val="FF0000"/>
                </a:solidFill>
              </a:rPr>
              <a:t>을 바로 호출할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모바일신분증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</a:t>
            </a:r>
            <a:r>
              <a:rPr lang="ko-KR" altLang="en-US" dirty="0" smtClean="0"/>
              <a:t>인증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endParaRPr lang="en-US" altLang="ko-KR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우측에 표시된 인증방식 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2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번 항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MUI-CM-03-M03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의 일부 항목 제거하고 사용됨</a:t>
            </a:r>
            <a:r>
              <a:rPr lang="en-US" altLang="ko-KR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ko-KR" altLang="en-US" sz="1000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생체인증등록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3198842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5990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05990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54383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1399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56112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66033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419041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0287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38191" y="5786374"/>
            <a:ext cx="2386443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생체인증</a:t>
            </a:r>
            <a:r>
              <a:rPr lang="ko-KR" altLang="en-US" sz="900" b="1" dirty="0" smtClean="0">
                <a:latin typeface="+mn-ea"/>
              </a:rPr>
              <a:t> 등록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인증하기로 수정함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73" name="모서리가 둥근 직사각형 72"/>
          <p:cNvSpPr/>
          <p:nvPr/>
        </p:nvSpPr>
        <p:spPr>
          <a:xfrm>
            <a:off x="4117524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4117524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117524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117524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6" name="타원 85"/>
          <p:cNvSpPr/>
          <p:nvPr/>
        </p:nvSpPr>
        <p:spPr>
          <a:xfrm>
            <a:off x="4243828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/>
          <p:cNvSpPr/>
          <p:nvPr/>
        </p:nvSpPr>
        <p:spPr>
          <a:xfrm>
            <a:off x="4243828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/>
          <p:cNvSpPr/>
          <p:nvPr/>
        </p:nvSpPr>
        <p:spPr>
          <a:xfrm>
            <a:off x="4243828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4243828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0" name="그룹 89"/>
          <p:cNvGrpSpPr/>
          <p:nvPr/>
        </p:nvGrpSpPr>
        <p:grpSpPr>
          <a:xfrm rot="16200000" flipH="1">
            <a:off x="6140104" y="2698407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 flipH="1">
            <a:off x="6140105" y="3083465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0" name="그룹 109"/>
          <p:cNvGrpSpPr/>
          <p:nvPr/>
        </p:nvGrpSpPr>
        <p:grpSpPr>
          <a:xfrm rot="16200000" flipH="1">
            <a:off x="6140105" y="3464459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7" name="직선 연결선 1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8" name="그룹 117"/>
          <p:cNvGrpSpPr/>
          <p:nvPr/>
        </p:nvGrpSpPr>
        <p:grpSpPr>
          <a:xfrm rot="16200000" flipH="1">
            <a:off x="6140106" y="3849517"/>
            <a:ext cx="94010" cy="47005"/>
            <a:chOff x="6812560" y="3297172"/>
            <a:chExt cx="94010" cy="47005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0" name="직선 연결선 11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9341" y="2349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본인 </a:t>
            </a:r>
            <a:r>
              <a:rPr lang="ko-KR" altLang="en-US" dirty="0"/>
              <a:t>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</a:t>
            </a:r>
            <a:r>
              <a:rPr lang="ko-KR" altLang="en-US" dirty="0" smtClean="0">
                <a:sym typeface="Wingdings" panose="05000000000000000000" pitchFamily="2" charset="2"/>
              </a:rPr>
              <a:t>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생체인증등록완료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19271" y="2419419"/>
            <a:ext cx="2624283" cy="3673101"/>
            <a:chOff x="737559" y="2419419"/>
            <a:chExt cx="2624283" cy="367310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34614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본인 인증이 완료되었습니다</a:t>
              </a:r>
              <a:r>
                <a:rPr lang="en-US" altLang="ko-KR" sz="900" b="1" dirty="0">
                  <a:latin typeface="+mn-ea"/>
                </a:rPr>
                <a:t>.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651557"/>
              <a:ext cx="2305144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</a:rPr>
                <a:t>디바이스에 등록된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>
                  <a:latin typeface="+mn-ea"/>
                </a:rPr>
                <a:t>모든 </a:t>
              </a:r>
              <a:r>
                <a:rPr lang="ko-KR" altLang="en-US" sz="800" dirty="0" err="1">
                  <a:latin typeface="+mn-ea"/>
                </a:rPr>
                <a:t>얼굴정보</a:t>
              </a:r>
              <a:r>
                <a:rPr lang="en-US" altLang="ko-KR" sz="800" dirty="0">
                  <a:latin typeface="+mn-ea"/>
                </a:rPr>
                <a:t>, </a:t>
              </a:r>
              <a:r>
                <a:rPr lang="ko-KR" altLang="en-US" sz="800" dirty="0">
                  <a:latin typeface="+mn-ea"/>
                </a:rPr>
                <a:t>지문정보를</a:t>
              </a:r>
              <a:r>
                <a:rPr lang="en-US" altLang="ko-KR" sz="800" dirty="0">
                  <a:latin typeface="+mn-ea"/>
                </a:rPr>
                <a:t> </a:t>
              </a:r>
              <a:r>
                <a:rPr lang="ko-KR" altLang="en-US" sz="800" dirty="0">
                  <a:latin typeface="+mn-ea"/>
                </a:rPr>
                <a:t>이용하여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 err="1">
                  <a:latin typeface="+mn-ea"/>
                </a:rPr>
                <a:t>로그인을</a:t>
              </a:r>
              <a:r>
                <a:rPr lang="ko-KR" altLang="en-US" sz="800" dirty="0">
                  <a:latin typeface="+mn-ea"/>
                </a:rPr>
                <a:t> 진행합니다</a:t>
              </a:r>
              <a:r>
                <a:rPr lang="en-US" altLang="ko-KR" sz="800" dirty="0">
                  <a:latin typeface="+mn-ea"/>
                </a:rPr>
                <a:t>.</a:t>
              </a:r>
            </a:p>
          </p:txBody>
        </p:sp>
        <p:sp>
          <p:nvSpPr>
            <p:cNvPr id="126" name="타원 125"/>
            <p:cNvSpPr/>
            <p:nvPr/>
          </p:nvSpPr>
          <p:spPr>
            <a:xfrm>
              <a:off x="1720489" y="2419419"/>
              <a:ext cx="658422" cy="65841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37559" y="56678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2" name="그룹 131"/>
            <p:cNvGrpSpPr/>
            <p:nvPr/>
          </p:nvGrpSpPr>
          <p:grpSpPr>
            <a:xfrm>
              <a:off x="861782" y="5786374"/>
              <a:ext cx="2370716" cy="306146"/>
              <a:chOff x="3982951" y="3679873"/>
              <a:chExt cx="2255663" cy="306146"/>
            </a:xfrm>
          </p:grpSpPr>
          <p:sp>
            <p:nvSpPr>
              <p:cNvPr id="133" name="모서리가 둥근 직사각형 132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259991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>
                    <a:solidFill>
                      <a:schemeClr val="bg1"/>
                    </a:solidFill>
                    <a:latin typeface="+mn-ea"/>
                  </a:rPr>
                  <a:t>생체인증</a:t>
                </a:r>
                <a:r>
                  <a:rPr lang="ko-KR" altLang="en-US" sz="700" b="1" dirty="0">
                    <a:solidFill>
                      <a:schemeClr val="bg1"/>
                    </a:solidFill>
                    <a:latin typeface="+mn-ea"/>
                  </a:rPr>
                  <a:t> 로그인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26680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인증성공</a:t>
            </a:r>
            <a:r>
              <a:rPr lang="en-US" altLang="ko-KR" dirty="0"/>
              <a:t>/</a:t>
            </a:r>
            <a:r>
              <a:rPr lang="ko-KR" altLang="en-US" dirty="0" err="1"/>
              <a:t>실패안내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PCQR</a:t>
            </a:r>
            <a:r>
              <a:rPr lang="ko-KR" altLang="en-US" dirty="0"/>
              <a:t>로그인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PC QR </a:t>
            </a:r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로그아웃안내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</a:t>
            </a:r>
            <a:r>
              <a:rPr lang="ko-KR" altLang="en-US" dirty="0" smtClean="0"/>
              <a:t>이동</a:t>
            </a:r>
            <a:r>
              <a:rPr lang="en-US" altLang="ko-KR" dirty="0"/>
              <a:t> </a:t>
            </a:r>
            <a:r>
              <a:rPr lang="en-US" altLang="ko-KR" dirty="0" smtClean="0"/>
              <a:t>MUI-CM-03-M01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로그인 이후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</a:t>
            </a:r>
            <a:r>
              <a:rPr lang="en-US" altLang="ko-KR" dirty="0" smtClean="0"/>
              <a:t> </a:t>
            </a:r>
            <a:r>
              <a:rPr lang="ko-KR" altLang="en-US" dirty="0" smtClean="0"/>
              <a:t>만약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처리 후 진입하고자 했던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로그인필요서비스안내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1438351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세부스텝팝업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일정상세정보팝업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3121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첨언상세보기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67596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02690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2/5)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9580685"/>
              </p:ext>
            </p:extLst>
          </p:nvPr>
        </p:nvGraphicFramePr>
        <p:xfrm>
          <a:off x="635474" y="1413419"/>
          <a:ext cx="8701200" cy="4889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ItrstSttPage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92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MyPstPage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12172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폴더설정권한관리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폴더내파일목록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업체일반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탭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1060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936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363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781249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3/5)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488539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AddRegInfoAplyListPage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60533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94765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52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DmstLctnColInfoAddRegPage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077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담당자정보저장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4280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958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2672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등록대상품목선택팝업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품목조회팝업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보안측정인원등록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4/5)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981396"/>
              </p:ext>
            </p:extLst>
          </p:nvPr>
        </p:nvGraphicFramePr>
        <p:xfrm>
          <a:off x="635474" y="1413419"/>
          <a:ext cx="8701200" cy="4523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FSC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168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주거래은행선택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57416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행정정보공동이용사전동의서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9049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확인팝업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977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군수품무역대리업신청및발급목록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42566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신청내역상세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03322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갱신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4242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65690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728683"/>
              </p:ext>
            </p:extLst>
          </p:nvPr>
        </p:nvGraphicFramePr>
        <p:xfrm>
          <a:off x="635474" y="1413419"/>
          <a:ext cx="8701200" cy="4229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IndvIdntIdntyPage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인증서관리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CrtfMng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인증서 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99962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인증서확인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CrtfIdnty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 인증서 확인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1925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업체소속사용자목록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PrcmBzentyUserMngPage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상태변경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483731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6297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664059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663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9105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495193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31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관심입찰공고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495193" y="1646297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135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문서함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4700298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4504040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9517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6004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682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1765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디지털캐비닛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9930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알림서비스신청및해지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>
          <a:xfrm>
            <a:off x="2495193" y="1646297"/>
            <a:ext cx="926084" cy="8164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6" idx="1"/>
          </p:cNvCxnSpPr>
          <p:nvPr/>
        </p:nvCxnSpPr>
        <p:spPr>
          <a:xfrm>
            <a:off x="2495193" y="1646297"/>
            <a:ext cx="931134" cy="122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7" idx="1"/>
          </p:cNvCxnSpPr>
          <p:nvPr/>
        </p:nvCxnSpPr>
        <p:spPr>
          <a:xfrm>
            <a:off x="2495193" y="1646297"/>
            <a:ext cx="931134" cy="16329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2" idx="1"/>
          </p:cNvCxnSpPr>
          <p:nvPr/>
        </p:nvCxnSpPr>
        <p:spPr>
          <a:xfrm>
            <a:off x="2495193" y="1646297"/>
            <a:ext cx="931134" cy="244949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3" idx="1"/>
          </p:cNvCxnSpPr>
          <p:nvPr/>
        </p:nvCxnSpPr>
        <p:spPr>
          <a:xfrm>
            <a:off x="2495193" y="1646297"/>
            <a:ext cx="931134" cy="285774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5" idx="1"/>
          </p:cNvCxnSpPr>
          <p:nvPr/>
        </p:nvCxnSpPr>
        <p:spPr>
          <a:xfrm>
            <a:off x="2495193" y="1646297"/>
            <a:ext cx="931134" cy="32659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6" idx="1"/>
          </p:cNvCxnSpPr>
          <p:nvPr/>
        </p:nvCxnSpPr>
        <p:spPr>
          <a:xfrm>
            <a:off x="2495193" y="1646297"/>
            <a:ext cx="931134" cy="36742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7" idx="1"/>
          </p:cNvCxnSpPr>
          <p:nvPr/>
        </p:nvCxnSpPr>
        <p:spPr>
          <a:xfrm>
            <a:off x="2495193" y="1646297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2" idx="3"/>
            <a:endCxn id="106" idx="0"/>
          </p:cNvCxnSpPr>
          <p:nvPr/>
        </p:nvCxnSpPr>
        <p:spPr>
          <a:xfrm>
            <a:off x="7988595" y="1646297"/>
            <a:ext cx="488685" cy="285774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06" idx="0"/>
          </p:cNvCxnSpPr>
          <p:nvPr/>
        </p:nvCxnSpPr>
        <p:spPr>
          <a:xfrm>
            <a:off x="6157461" y="2462795"/>
            <a:ext cx="2319819" cy="204124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4" idx="3"/>
            <a:endCxn id="106" idx="0"/>
          </p:cNvCxnSpPr>
          <p:nvPr/>
        </p:nvCxnSpPr>
        <p:spPr>
          <a:xfrm>
            <a:off x="6157461" y="2054546"/>
            <a:ext cx="2319819" cy="244949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3"/>
            <a:endCxn id="106" idx="2"/>
          </p:cNvCxnSpPr>
          <p:nvPr/>
        </p:nvCxnSpPr>
        <p:spPr>
          <a:xfrm flipV="1">
            <a:off x="4326327" y="4594040"/>
            <a:ext cx="4060953" cy="15429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9" idx="3"/>
            <a:endCxn id="106" idx="2"/>
          </p:cNvCxnSpPr>
          <p:nvPr/>
        </p:nvCxnSpPr>
        <p:spPr>
          <a:xfrm>
            <a:off x="6157461" y="3687542"/>
            <a:ext cx="2229819" cy="906498"/>
          </a:xfrm>
          <a:prstGeom prst="bentConnector3">
            <a:avLst>
              <a:gd name="adj1" fmla="val 859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1" idx="3"/>
            <a:endCxn id="106" idx="2"/>
          </p:cNvCxnSpPr>
          <p:nvPr/>
        </p:nvCxnSpPr>
        <p:spPr>
          <a:xfrm>
            <a:off x="6157461" y="4095791"/>
            <a:ext cx="2229819" cy="498249"/>
          </a:xfrm>
          <a:prstGeom prst="bentConnector3">
            <a:avLst>
              <a:gd name="adj1" fmla="val 859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5435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나의게시물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2" idx="1"/>
          </p:cNvCxnSpPr>
          <p:nvPr/>
        </p:nvCxnSpPr>
        <p:spPr>
          <a:xfrm>
            <a:off x="2495193" y="1646297"/>
            <a:ext cx="931134" cy="20412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3"/>
            <a:endCxn id="106" idx="0"/>
          </p:cNvCxnSpPr>
          <p:nvPr/>
        </p:nvCxnSpPr>
        <p:spPr>
          <a:xfrm>
            <a:off x="7993645" y="2871044"/>
            <a:ext cx="483635" cy="163299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8" name="그룹 7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5022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세부스텝팝업</a:t>
            </a:r>
          </a:p>
        </p:txBody>
      </p: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910546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318795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일정상세정보팝업</a:t>
            </a:r>
          </a:p>
        </p:txBody>
      </p:sp>
      <p:sp>
        <p:nvSpPr>
          <p:cNvPr id="10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502297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0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135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삭제</a:t>
            </a:r>
          </a:p>
        </p:txBody>
      </p: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02" idx="1"/>
          </p:cNvCxnSpPr>
          <p:nvPr/>
        </p:nvCxnSpPr>
        <p:spPr>
          <a:xfrm>
            <a:off x="6157461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03" idx="1"/>
          </p:cNvCxnSpPr>
          <p:nvPr/>
        </p:nvCxnSpPr>
        <p:spPr>
          <a:xfrm>
            <a:off x="6157461" y="2871044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93645" y="27270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r>
              <a:rPr lang="ko-KR" altLang="en-US" sz="800" dirty="0">
                <a:solidFill>
                  <a:schemeClr val="tx1"/>
                </a:solidFill>
              </a:rPr>
              <a:t>수정</a:t>
            </a:r>
          </a:p>
        </p:txBody>
      </p: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07" idx="1"/>
          </p:cNvCxnSpPr>
          <p:nvPr/>
        </p:nvCxnSpPr>
        <p:spPr>
          <a:xfrm>
            <a:off x="6157461" y="2871044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  <a:endCxn id="91" idx="1"/>
          </p:cNvCxnSpPr>
          <p:nvPr/>
        </p:nvCxnSpPr>
        <p:spPr>
          <a:xfrm>
            <a:off x="4326327" y="164629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94" idx="1"/>
          </p:cNvCxnSpPr>
          <p:nvPr/>
        </p:nvCxnSpPr>
        <p:spPr>
          <a:xfrm>
            <a:off x="4326327" y="20545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98" idx="1"/>
          </p:cNvCxnSpPr>
          <p:nvPr/>
        </p:nvCxnSpPr>
        <p:spPr>
          <a:xfrm>
            <a:off x="4321277" y="2462795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화살표 연결선 1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6" idx="3"/>
            <a:endCxn id="101" idx="1"/>
          </p:cNvCxnSpPr>
          <p:nvPr/>
        </p:nvCxnSpPr>
        <p:spPr>
          <a:xfrm>
            <a:off x="4326327" y="287104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58478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국외보관함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1" idx="1"/>
          </p:cNvCxnSpPr>
          <p:nvPr/>
        </p:nvCxnSpPr>
        <p:spPr>
          <a:xfrm>
            <a:off x="2495193" y="1646297"/>
            <a:ext cx="931134" cy="40824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543542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3" idx="3"/>
            <a:endCxn id="106" idx="0"/>
          </p:cNvCxnSpPr>
          <p:nvPr/>
        </p:nvCxnSpPr>
        <p:spPr>
          <a:xfrm>
            <a:off x="7988595" y="3279293"/>
            <a:ext cx="488685" cy="122474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951791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외부 페이지 이동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6" idx="2"/>
          </p:cNvCxnSpPr>
          <p:nvPr/>
        </p:nvCxnSpPr>
        <p:spPr>
          <a:xfrm flipV="1">
            <a:off x="4326327" y="4594040"/>
            <a:ext cx="4060953" cy="113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6" idx="3"/>
            <a:endCxn id="106" idx="2"/>
          </p:cNvCxnSpPr>
          <p:nvPr/>
        </p:nvCxnSpPr>
        <p:spPr>
          <a:xfrm flipV="1">
            <a:off x="4326327" y="4594040"/>
            <a:ext cx="4060953" cy="7264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6" idx="2"/>
          </p:cNvCxnSpPr>
          <p:nvPr/>
        </p:nvCxnSpPr>
        <p:spPr>
          <a:xfrm flipV="1">
            <a:off x="4326327" y="4594040"/>
            <a:ext cx="4060953" cy="31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6" idx="2"/>
          </p:cNvCxnSpPr>
          <p:nvPr/>
        </p:nvCxnSpPr>
        <p:spPr>
          <a:xfrm>
            <a:off x="4326327" y="3279293"/>
            <a:ext cx="4060953" cy="131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06" idx="2"/>
          </p:cNvCxnSpPr>
          <p:nvPr/>
        </p:nvCxnSpPr>
        <p:spPr>
          <a:xfrm>
            <a:off x="4326327" y="4504040"/>
            <a:ext cx="4060953" cy="900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직선 화살표 연결선 1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2" idx="3"/>
            <a:endCxn id="159" idx="1"/>
          </p:cNvCxnSpPr>
          <p:nvPr/>
        </p:nvCxnSpPr>
        <p:spPr>
          <a:xfrm>
            <a:off x="4326327" y="368754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화살표 연결선 1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3"/>
            <a:endCxn id="161" idx="1"/>
          </p:cNvCxnSpPr>
          <p:nvPr/>
        </p:nvCxnSpPr>
        <p:spPr>
          <a:xfrm>
            <a:off x="4326327" y="409579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extBox 170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254141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문서함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업체정보관리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사용자관리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디지털 캐비닛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국외보관함은 별도의 화면 흐름도에서 추가 표시함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en-US" altLang="ko-KR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357461" y="5581643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국외 입찰 참조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85943" y="223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문서함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747949" y="2290622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954809" y="238062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04879" y="2150956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223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문서함상세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264487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785943" y="238062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785943" y="2380622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34613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폴더내파일목록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717077" y="38696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폴더설정권한관리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49033" y="442678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678030" y="4230525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97" idx="1"/>
          </p:cNvCxnSpPr>
          <p:nvPr/>
        </p:nvCxnSpPr>
        <p:spPr>
          <a:xfrm>
            <a:off x="2785943" y="3605369"/>
            <a:ext cx="931134" cy="40824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6"/>
            <a:endCxn id="92" idx="1"/>
          </p:cNvCxnSpPr>
          <p:nvPr/>
        </p:nvCxnSpPr>
        <p:spPr>
          <a:xfrm>
            <a:off x="954809" y="2380622"/>
            <a:ext cx="931134" cy="12247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06" idx="0"/>
          </p:cNvCxnSpPr>
          <p:nvPr/>
        </p:nvCxnSpPr>
        <p:spPr>
          <a:xfrm>
            <a:off x="8383862" y="2322070"/>
            <a:ext cx="384168" cy="190845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9" idx="3"/>
            <a:endCxn id="106" idx="0"/>
          </p:cNvCxnSpPr>
          <p:nvPr/>
        </p:nvCxnSpPr>
        <p:spPr>
          <a:xfrm>
            <a:off x="4617077" y="2788871"/>
            <a:ext cx="4150953" cy="144165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6" idx="3"/>
            <a:endCxn id="106" idx="0"/>
          </p:cNvCxnSpPr>
          <p:nvPr/>
        </p:nvCxnSpPr>
        <p:spPr>
          <a:xfrm>
            <a:off x="4617077" y="3605369"/>
            <a:ext cx="4150953" cy="62515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8" name="그룹 7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</p:cNvCxnSpPr>
          <p:nvPr/>
        </p:nvCxnSpPr>
        <p:spPr>
          <a:xfrm>
            <a:off x="4617077" y="2380622"/>
            <a:ext cx="427496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6" idx="0"/>
          </p:cNvCxnSpPr>
          <p:nvPr/>
        </p:nvCxnSpPr>
        <p:spPr>
          <a:xfrm>
            <a:off x="4617077" y="4013618"/>
            <a:ext cx="4150953" cy="21690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85943" y="34613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044573" y="1985616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8232" y="22463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문서정보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357426" y="22532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첨부파일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262829" y="22463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첨언상세보기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96" idx="1"/>
          </p:cNvCxnSpPr>
          <p:nvPr/>
        </p:nvCxnSpPr>
        <p:spPr>
          <a:xfrm>
            <a:off x="2785943" y="360536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17813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7466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3"/>
            <a:endCxn id="133" idx="1"/>
          </p:cNvCxnSpPr>
          <p:nvPr/>
        </p:nvCxnSpPr>
        <p:spPr>
          <a:xfrm>
            <a:off x="3210378" y="2389404"/>
            <a:ext cx="284841" cy="7336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업체정보상세</a:t>
            </a:r>
          </a:p>
        </p:txBody>
      </p:sp>
      <p:sp>
        <p:nvSpPr>
          <p:cNvPr id="1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1256287"/>
            <a:ext cx="4413751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15170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업체일반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152387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15170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152387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추가정보신청목록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1" y="1984678"/>
            <a:ext cx="2236194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신청내역상세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신청정보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신청정보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국내소재상사신청정보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30" name="직선 화살표 연결선 12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</p:cNvCxnSpPr>
          <p:nvPr/>
        </p:nvCxnSpPr>
        <p:spPr>
          <a:xfrm>
            <a:off x="3210378" y="2389404"/>
            <a:ext cx="2843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</p:cNvCxnSpPr>
          <p:nvPr/>
        </p:nvCxnSpPr>
        <p:spPr>
          <a:xfrm>
            <a:off x="3210378" y="1642795"/>
            <a:ext cx="28438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9790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594946" y="2718297"/>
            <a:ext cx="3313565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추가 등록 그룹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담당자정보저장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7941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</p:cNvCxnSpPr>
          <p:nvPr/>
        </p:nvCxnSpPr>
        <p:spPr>
          <a:xfrm>
            <a:off x="4395219" y="3123023"/>
            <a:ext cx="19972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3574262"/>
            <a:ext cx="4413751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신청 등록 </a:t>
            </a:r>
            <a:r>
              <a:rPr lang="ko-KR" altLang="en-US" sz="800" b="1" dirty="0">
                <a:solidFill>
                  <a:schemeClr val="tx1"/>
                </a:solidFill>
              </a:rPr>
              <a:t>개별 팝업</a:t>
            </a:r>
          </a:p>
        </p:txBody>
      </p:sp>
      <p:sp>
        <p:nvSpPr>
          <p:cNvPr id="1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3834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품류선택팝업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38418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등록대상품목선택팝업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3834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조합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단체선택팝업</a:t>
            </a:r>
          </a:p>
        </p:txBody>
      </p: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38418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품목조회팝업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2"/>
            <a:endCxn id="157" idx="0"/>
          </p:cNvCxnSpPr>
          <p:nvPr/>
        </p:nvCxnSpPr>
        <p:spPr>
          <a:xfrm rot="5400000">
            <a:off x="5826006" y="3142653"/>
            <a:ext cx="307239" cy="5559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5" idx="2"/>
            <a:endCxn id="157" idx="0"/>
          </p:cNvCxnSpPr>
          <p:nvPr/>
        </p:nvCxnSpPr>
        <p:spPr>
          <a:xfrm rot="5400000">
            <a:off x="6371170" y="2597490"/>
            <a:ext cx="307239" cy="164630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42185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보안측정인원등록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42254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주거래은행선택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42185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FSC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선택</a:t>
            </a: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42254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행정정보공동이용사전동의서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115201" y="29790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</a:rPr>
              <a:t>확인팝업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72" idx="1"/>
          </p:cNvCxnSpPr>
          <p:nvPr/>
        </p:nvCxnSpPr>
        <p:spPr>
          <a:xfrm>
            <a:off x="7915474" y="3123023"/>
            <a:ext cx="19972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</p:cNvCxnSpPr>
          <p:nvPr/>
        </p:nvCxnSpPr>
        <p:spPr>
          <a:xfrm flipV="1">
            <a:off x="7715706" y="3383956"/>
            <a:ext cx="0" cy="19030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6918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군수품무역대리업신청및발급목록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6918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신청내역상세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31930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05509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신규</a:t>
            </a:r>
            <a:r>
              <a:rPr lang="en-US" altLang="ko-KR" sz="800" dirty="0">
                <a:solidFill>
                  <a:srgbClr val="000000"/>
                </a:solidFill>
              </a:rPr>
              <a:t>(</a:t>
            </a:r>
            <a:r>
              <a:rPr lang="ko-KR" altLang="en-US" sz="800" dirty="0">
                <a:solidFill>
                  <a:srgbClr val="000000"/>
                </a:solidFill>
              </a:rPr>
              <a:t>갱신</a:t>
            </a:r>
            <a:r>
              <a:rPr lang="en-US" altLang="ko-KR" sz="800" dirty="0">
                <a:solidFill>
                  <a:srgbClr val="000000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0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4183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0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89" idx="3"/>
            <a:endCxn id="201" idx="1"/>
          </p:cNvCxnSpPr>
          <p:nvPr/>
        </p:nvCxnSpPr>
        <p:spPr>
          <a:xfrm>
            <a:off x="3210378" y="4835884"/>
            <a:ext cx="284841" cy="3632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4835884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89" idx="3"/>
            <a:endCxn id="202" idx="1"/>
          </p:cNvCxnSpPr>
          <p:nvPr/>
        </p:nvCxnSpPr>
        <p:spPr>
          <a:xfrm>
            <a:off x="3210378" y="4835884"/>
            <a:ext cx="284841" cy="72642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57843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</a:rPr>
              <a:t>조달원확인서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64" idx="1"/>
          </p:cNvCxnSpPr>
          <p:nvPr/>
        </p:nvCxnSpPr>
        <p:spPr>
          <a:xfrm>
            <a:off x="1908180" y="1642795"/>
            <a:ext cx="402198" cy="42855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57824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prstClr val="black"/>
                </a:solidFill>
              </a:rPr>
              <a:t>조달원확인서신청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61491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4" idx="3"/>
            <a:endCxn id="267" idx="1"/>
          </p:cNvCxnSpPr>
          <p:nvPr/>
        </p:nvCxnSpPr>
        <p:spPr>
          <a:xfrm>
            <a:off x="3210378" y="5928362"/>
            <a:ext cx="284841" cy="36474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64" idx="3"/>
            <a:endCxn id="266" idx="1"/>
          </p:cNvCxnSpPr>
          <p:nvPr/>
        </p:nvCxnSpPr>
        <p:spPr>
          <a:xfrm flipV="1">
            <a:off x="3210378" y="5926474"/>
            <a:ext cx="284841" cy="188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5" idx="3"/>
            <a:endCxn id="211" idx="0"/>
          </p:cNvCxnSpPr>
          <p:nvPr/>
        </p:nvCxnSpPr>
        <p:spPr>
          <a:xfrm>
            <a:off x="7908511" y="1592741"/>
            <a:ext cx="1433946" cy="188700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211" idx="0"/>
          </p:cNvCxnSpPr>
          <p:nvPr/>
        </p:nvCxnSpPr>
        <p:spPr>
          <a:xfrm>
            <a:off x="5730955" y="2321132"/>
            <a:ext cx="3611502" cy="115861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72" idx="3"/>
            <a:endCxn id="211" idx="0"/>
          </p:cNvCxnSpPr>
          <p:nvPr/>
        </p:nvCxnSpPr>
        <p:spPr>
          <a:xfrm>
            <a:off x="9015201" y="3123023"/>
            <a:ext cx="327256" cy="356725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1" idx="3"/>
            <a:endCxn id="209" idx="2"/>
          </p:cNvCxnSpPr>
          <p:nvPr/>
        </p:nvCxnSpPr>
        <p:spPr>
          <a:xfrm flipV="1">
            <a:off x="4395219" y="3799117"/>
            <a:ext cx="4947238" cy="103676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1" idx="3"/>
            <a:endCxn id="209" idx="2"/>
          </p:cNvCxnSpPr>
          <p:nvPr/>
        </p:nvCxnSpPr>
        <p:spPr>
          <a:xfrm flipV="1">
            <a:off x="4395219" y="3799117"/>
            <a:ext cx="4947238" cy="13999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2" idx="3"/>
            <a:endCxn id="209" idx="2"/>
          </p:cNvCxnSpPr>
          <p:nvPr/>
        </p:nvCxnSpPr>
        <p:spPr>
          <a:xfrm flipV="1">
            <a:off x="4395219" y="3799117"/>
            <a:ext cx="4947238" cy="176319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6" idx="3"/>
            <a:endCxn id="209" idx="2"/>
          </p:cNvCxnSpPr>
          <p:nvPr/>
        </p:nvCxnSpPr>
        <p:spPr>
          <a:xfrm flipV="1">
            <a:off x="4395219" y="3799117"/>
            <a:ext cx="4947238" cy="212735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7" idx="3"/>
            <a:endCxn id="209" idx="2"/>
          </p:cNvCxnSpPr>
          <p:nvPr/>
        </p:nvCxnSpPr>
        <p:spPr>
          <a:xfrm flipV="1">
            <a:off x="4395219" y="3799117"/>
            <a:ext cx="4947238" cy="249399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(4/4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28252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2628953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74660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생체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개인정보상세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24540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생체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4" idx="3"/>
            <a:endCxn id="106" idx="1"/>
          </p:cNvCxnSpPr>
          <p:nvPr/>
        </p:nvCxnSpPr>
        <p:spPr>
          <a:xfrm>
            <a:off x="3210378" y="1642795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개인신원확인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인증서관리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149759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26462" y="29963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인증서확인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3140386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37448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업체소속사용자목록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64" idx="1"/>
          </p:cNvCxnSpPr>
          <p:nvPr/>
        </p:nvCxnSpPr>
        <p:spPr>
          <a:xfrm>
            <a:off x="1908180" y="1642795"/>
            <a:ext cx="402198" cy="22460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37429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상태변경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64" idx="3"/>
            <a:endCxn id="266" idx="1"/>
          </p:cNvCxnSpPr>
          <p:nvPr/>
        </p:nvCxnSpPr>
        <p:spPr>
          <a:xfrm flipV="1">
            <a:off x="3210378" y="3886995"/>
            <a:ext cx="408042" cy="188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9" idx="3"/>
            <a:endCxn id="211" idx="0"/>
          </p:cNvCxnSpPr>
          <p:nvPr/>
        </p:nvCxnSpPr>
        <p:spPr>
          <a:xfrm>
            <a:off x="5826462" y="1642795"/>
            <a:ext cx="3515995" cy="98615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211" idx="0"/>
          </p:cNvCxnSpPr>
          <p:nvPr/>
        </p:nvCxnSpPr>
        <p:spPr>
          <a:xfrm>
            <a:off x="4518420" y="2389404"/>
            <a:ext cx="4824037" cy="239549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01" idx="3"/>
            <a:endCxn id="209" idx="2"/>
          </p:cNvCxnSpPr>
          <p:nvPr/>
        </p:nvCxnSpPr>
        <p:spPr>
          <a:xfrm flipV="1">
            <a:off x="5826462" y="2948322"/>
            <a:ext cx="3515995" cy="19206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26462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개인정보수정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6" idx="3"/>
            <a:endCxn id="89" idx="1"/>
          </p:cNvCxnSpPr>
          <p:nvPr/>
        </p:nvCxnSpPr>
        <p:spPr>
          <a:xfrm>
            <a:off x="4518420" y="1642795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224540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비밀번호변경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  <a:endCxn id="93" idx="1"/>
          </p:cNvCxnSpPr>
          <p:nvPr/>
        </p:nvCxnSpPr>
        <p:spPr>
          <a:xfrm>
            <a:off x="3210378" y="2389404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91" idx="3"/>
            <a:endCxn id="201" idx="1"/>
          </p:cNvCxnSpPr>
          <p:nvPr/>
        </p:nvCxnSpPr>
        <p:spPr>
          <a:xfrm>
            <a:off x="4518420" y="3140386"/>
            <a:ext cx="40804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4914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회원탈퇴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9" idx="1"/>
          </p:cNvCxnSpPr>
          <p:nvPr/>
        </p:nvCxnSpPr>
        <p:spPr>
          <a:xfrm>
            <a:off x="1908180" y="1642795"/>
            <a:ext cx="402198" cy="29926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9" idx="3"/>
            <a:endCxn id="209" idx="2"/>
          </p:cNvCxnSpPr>
          <p:nvPr/>
        </p:nvCxnSpPr>
        <p:spPr>
          <a:xfrm flipV="1">
            <a:off x="3210378" y="2948322"/>
            <a:ext cx="6132079" cy="168717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6" idx="3"/>
            <a:endCxn id="209" idx="2"/>
          </p:cNvCxnSpPr>
          <p:nvPr/>
        </p:nvCxnSpPr>
        <p:spPr>
          <a:xfrm flipV="1">
            <a:off x="4518420" y="2948322"/>
            <a:ext cx="4824037" cy="93867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724904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세부스텝팝업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일정상세정보팝업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문서함상세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DocBoxDtl_Info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첨언상세보기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DocBoxDtl_AtchOpnn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디지털캐비닛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폴더설정권한관리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폴더내파일목록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dirty="0">
                <a:solidFill>
                  <a:schemeClr val="tx1"/>
                </a:solidFill>
              </a:rPr>
              <a:t> 1)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294384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 smtClean="0">
                <a:solidFill>
                  <a:schemeClr val="tx1"/>
                </a:solidFill>
              </a:rPr>
              <a:t>업체일반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 smtClean="0">
                <a:solidFill>
                  <a:schemeClr val="tx1"/>
                </a:solidFill>
                <a:latin typeface="+mn-ea"/>
              </a:rPr>
              <a:t>bzentyGnrlInfoDtl_Gnrl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시설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bzentyGnrlInfoDtl_Fclt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추가정보신청목록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000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>
                <a:solidFill>
                  <a:schemeClr val="tx1"/>
                </a:solidFill>
                <a:latin typeface="+mn-ea"/>
              </a:rPr>
              <a:t>addRegInfoAplyDtl_Cmdty</a:t>
            </a:r>
            <a:r>
              <a:rPr lang="en-US" altLang="ko-KR" sz="100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국내소재상사신청정보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addRegInfoAplyDtl_DmsAgt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담당자정보저장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dmstLctnColInfoAddReg_Pic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단체선택팝업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FSC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품류선택팝업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품목조회팝업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등록대상품목선택팝업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dmstLctnColInfoAddReg_Cmbz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주거래은행선택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 smtClean="0">
                <a:solidFill>
                  <a:schemeClr val="tx1"/>
                </a:solidFill>
                <a:latin typeface="+mn-ea"/>
              </a:rPr>
              <a:t>행정정보공동이용사전동의서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확인팝업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Confirm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군수품무역대리업신청및발급목록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DfEqpmntTradeAgncAplyDtlPage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조달원확인서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조달원확인서신청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560544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</a:rPr>
              <a:t>개인정보상세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비밀번호변경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CrtfMng.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(5/5)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CrtfIdnty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anose="020B0503020000020004" pitchFamily="50" charset="-127"/>
              </a:rPr>
              <a:t>업체소속사용자목록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3" idx="3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회원탈퇴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MbWithdrawal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PrcmBzentyUsrSttsChg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67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5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>
            <a:normAutofit fontScale="92500" lnSpcReduction="100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등 하단 메뉴 진입 시 검색 필터에 해당 정보를 </a:t>
            </a:r>
            <a:r>
              <a:rPr lang="ko-KR" altLang="en-US" dirty="0" err="1" smtClean="0"/>
              <a:t>필터링</a:t>
            </a:r>
            <a:r>
              <a:rPr lang="ko-KR" altLang="en-US" dirty="0" smtClean="0"/>
              <a:t> 하여 진입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입찰참가신청 건만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MUI-CM-06-M02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MUI-CM-06-M04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 </a:t>
            </a:r>
            <a:r>
              <a:rPr lang="en-US" altLang="ko-KR" dirty="0" smtClean="0"/>
              <a:t>MUI-CM-06-M05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</a:t>
            </a:r>
            <a:r>
              <a:rPr lang="ko-KR" altLang="en-US" dirty="0" smtClean="0"/>
              <a:t>캘린더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클릭 시 </a:t>
            </a:r>
            <a:r>
              <a:rPr lang="en-US" altLang="ko-KR" dirty="0" smtClean="0"/>
              <a:t>MUI-CM-06-M06 </a:t>
            </a:r>
            <a:r>
              <a:rPr lang="ko-KR" altLang="en-US" dirty="0" smtClean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</a:t>
            </a:r>
            <a:r>
              <a:rPr lang="ko-KR" altLang="en-US" dirty="0" smtClean="0"/>
              <a:t>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날짜 선택 시 하단 </a:t>
            </a:r>
            <a:r>
              <a:rPr lang="en-US" altLang="ko-KR" dirty="0" smtClean="0"/>
              <a:t>6</a:t>
            </a:r>
            <a:r>
              <a:rPr lang="ko-KR" altLang="en-US" dirty="0" err="1" smtClean="0"/>
              <a:t>번항에</a:t>
            </a:r>
            <a:r>
              <a:rPr lang="ko-KR" altLang="en-US" dirty="0" smtClean="0"/>
              <a:t>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개까지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MUI-CM-06-P07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받은 문서 등으로 진입할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검색 필터에 해당 정보로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</a:t>
            </a:r>
            <a:r>
              <a:rPr lang="ko-KR" altLang="en-US" dirty="0" err="1" smtClean="0"/>
              <a:t>한달이내</a:t>
            </a:r>
            <a:r>
              <a:rPr lang="ko-KR" altLang="en-US" dirty="0" smtClean="0"/>
              <a:t>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문서함 클릭 </a:t>
            </a:r>
            <a:r>
              <a:rPr lang="en-US" altLang="ko-KR" dirty="0" smtClean="0"/>
              <a:t>- MUI-CM-06-M10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등 클릭 시 </a:t>
            </a:r>
            <a:r>
              <a:rPr lang="en-US" altLang="ko-KR" dirty="0" smtClean="0"/>
              <a:t>MUI-CM-06-M10</a:t>
            </a:r>
            <a:r>
              <a:rPr lang="ko-KR" altLang="en-US" dirty="0" smtClean="0"/>
              <a:t>이동하면서 검색 필터 적용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MUI-CM-06-M13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나의 게시물 </a:t>
            </a:r>
            <a:r>
              <a:rPr lang="en-US" altLang="ko-KR" dirty="0" smtClean="0"/>
              <a:t>MUI-CM-06-M17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사용자정보관리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625865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16648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 smtClean="0">
                <a:latin typeface="+mn-ea"/>
              </a:rPr>
              <a:t>임시저장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개인별수신처관리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7163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6004904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6039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10</a:t>
            </a:r>
            <a:endParaRPr lang="ko-KR" altLang="en-US" sz="800" b="1" dirty="0"/>
          </a:p>
        </p:txBody>
      </p:sp>
      <p:grpSp>
        <p:nvGrpSpPr>
          <p:cNvPr id="125" name="그룹 12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6" name="직사각형 12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2026-07-27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개인별수신처관리 진입 포인트 생성</a:t>
              </a:r>
              <a:endParaRPr lang="ko-KR" altLang="en-US" sz="700" dirty="0"/>
            </a:p>
          </p:txBody>
        </p:sp>
      </p:grpSp>
      <p:sp>
        <p:nvSpPr>
          <p:cNvPr id="128" name="타원 1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5255" y="19979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11</a:t>
            </a:r>
            <a:endParaRPr lang="ko-KR" altLang="en-US" sz="800" b="1" dirty="0"/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837987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11</a:t>
              </a:r>
              <a:r>
                <a:rPr lang="ko-KR" altLang="en-US" sz="700" dirty="0" smtClean="0"/>
                <a:t>번 항목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페이지 또는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보관함 </a:t>
            </a:r>
            <a:r>
              <a:rPr lang="en-US" altLang="ko-KR" dirty="0"/>
              <a:t>MUI-CM-01-M71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latin typeface="+mn-ea"/>
              </a:rPr>
              <a:t>업체정보 관리 </a:t>
            </a:r>
            <a:r>
              <a:rPr lang="en-US" altLang="ko-KR" dirty="0" smtClean="0">
                <a:latin typeface="+mn-ea"/>
              </a:rPr>
              <a:t>MUI-CM-01-M01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사용자 정보 관리 </a:t>
            </a:r>
            <a:r>
              <a:rPr lang="en-US" altLang="ko-KR" dirty="0" smtClean="0">
                <a:latin typeface="+mn-ea"/>
              </a:rPr>
              <a:t>MUI-CM-02-M01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디지털 캐비닛 </a:t>
            </a:r>
            <a:r>
              <a:rPr lang="en-US" altLang="ko-KR" dirty="0" smtClean="0">
                <a:latin typeface="+mn-ea"/>
              </a:rPr>
              <a:t>MUI-CM-06-M14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알림 서비스 </a:t>
            </a:r>
            <a:r>
              <a:rPr lang="en-US" altLang="ko-KR" dirty="0">
                <a:latin typeface="+mn-ea"/>
              </a:rPr>
              <a:t>MUI-CM-02-M09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411372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793616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3173892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559184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202149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보관함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10362424" y="585047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회원탈퇴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국외보관함</a:t>
              </a:r>
              <a:r>
                <a:rPr lang="ko-KR" altLang="en-US" sz="700" dirty="0" smtClean="0"/>
                <a:t> 추가</a:t>
              </a:r>
              <a:endParaRPr lang="en-US" altLang="ko-KR" sz="700" dirty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회원탈퇴 제거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회원탈퇴는 사용자 정보 화면으로 이동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</a:t>
            </a:r>
            <a:r>
              <a:rPr lang="ko-KR" altLang="en-US" dirty="0" smtClean="0">
                <a:sym typeface="Wingdings" panose="05000000000000000000" pitchFamily="2" charset="2"/>
              </a:rPr>
              <a:t>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MUI-CM-06-P03</a:t>
            </a:r>
            <a:endParaRPr lang="en-US" altLang="ko-KR" dirty="0" smtClean="0">
              <a:sym typeface="Wingdings" panose="05000000000000000000" pitchFamily="2" charset="2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09786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진행 단계 클릭 시 선택이 유지되며</a:t>
            </a:r>
            <a:r>
              <a:rPr lang="en-US" altLang="ko-KR" dirty="0" smtClean="0"/>
              <a:t>,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버튼으로 해당하는 목록으로 이동함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공고에 매칭되는 정보만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해당 공고의 정보가 사용자가 선택하는 목록에 없는 경우 정보가 없음을 표시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</a:t>
            </a:r>
            <a:r>
              <a:rPr lang="ko-KR" altLang="en-US" dirty="0" smtClean="0">
                <a:solidFill>
                  <a:srgbClr val="FF0000"/>
                </a:solidFill>
              </a:rPr>
              <a:t> 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목록까지 해당 공고가 표시되고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전자계약</a:t>
            </a:r>
            <a:r>
              <a:rPr lang="ko-KR" altLang="en-US" dirty="0" smtClean="0">
                <a:solidFill>
                  <a:srgbClr val="FF0000"/>
                </a:solidFill>
              </a:rPr>
              <a:t> 목록부터는 해당 공고가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선택된 목록에는 검색 영역이 숨겨지고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선택한 공고에 해당하는 정보만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목록에서 해당 공고가 표시될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검색 영역이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>
                <a:solidFill>
                  <a:srgbClr val="FF0000"/>
                </a:solidFill>
              </a:rPr>
              <a:t>[08-25 </a:t>
            </a:r>
            <a:r>
              <a:rPr lang="ko-KR" altLang="en-US" dirty="0" smtClean="0">
                <a:solidFill>
                  <a:srgbClr val="FF0000"/>
                </a:solidFill>
              </a:rPr>
              <a:t>삭제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strike="sngStrike" dirty="0" smtClean="0"/>
              <a:t>버튼 표시</a:t>
            </a:r>
            <a:r>
              <a:rPr lang="en-US" altLang="ko-KR" strike="sngStrike" dirty="0" smtClean="0"/>
              <a:t/>
            </a:r>
            <a:br>
              <a:rPr lang="en-US" altLang="ko-KR" strike="sngStrike" dirty="0" smtClean="0"/>
            </a:br>
            <a:r>
              <a:rPr lang="en-US" altLang="ko-KR" strike="sngStrike" dirty="0" smtClean="0">
                <a:solidFill>
                  <a:srgbClr val="FF0000"/>
                </a:solidFill>
              </a:rPr>
              <a:t>-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상기 표시된 단계 상태에 선택된 목록으로 이동</a:t>
            </a:r>
            <a:endParaRPr lang="ko-KR" altLang="en-US" strike="sngStrike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grpSp>
        <p:nvGrpSpPr>
          <p:cNvPr id="29" name="그룹 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0" name="직사각형 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명칭 </a:t>
              </a:r>
              <a:r>
                <a:rPr lang="en-US" altLang="ko-KR" sz="700" dirty="0" smtClean="0"/>
                <a:t>[</a:t>
              </a:r>
              <a:r>
                <a:rPr lang="ko-KR" altLang="en-US" sz="700" dirty="0" smtClean="0"/>
                <a:t>공고 </a:t>
              </a:r>
              <a:r>
                <a:rPr lang="ko-KR" altLang="en-US" sz="700" dirty="0" err="1" smtClean="0"/>
                <a:t>바로가기</a:t>
              </a:r>
              <a:r>
                <a:rPr lang="en-US" altLang="ko-KR" sz="700" dirty="0" smtClean="0"/>
                <a:t>]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[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바로가기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]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 변경</a:t>
              </a:r>
              <a:endParaRPr lang="en-US" altLang="ko-KR" sz="700" dirty="0" smtClean="0">
                <a:sym typeface="Wingdings" panose="05000000000000000000" pitchFamily="2" charset="2"/>
              </a:endParaRPr>
            </a:p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설명 추가 작성</a:t>
              </a:r>
              <a:endParaRPr lang="ko-KR" altLang="en-US" sz="700" dirty="0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8223250" y="836864"/>
            <a:ext cx="3365500" cy="634511"/>
            <a:chOff x="8223250" y="569392"/>
            <a:chExt cx="3365500" cy="634511"/>
          </a:xfrm>
        </p:grpSpPr>
        <p:sp>
          <p:nvSpPr>
            <p:cNvPr id="33" name="직사각형 3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하단 </a:t>
              </a:r>
              <a:r>
                <a:rPr lang="ko-KR" altLang="en-US" sz="700" dirty="0" err="1" smtClean="0"/>
                <a:t>바로가기</a:t>
              </a:r>
              <a:r>
                <a:rPr lang="ko-KR" altLang="en-US" sz="700" dirty="0" smtClean="0"/>
                <a:t> 버튼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이력 현황에 표시되는 </a:t>
            </a:r>
            <a:r>
              <a:rPr lang="en-US" altLang="ko-KR" dirty="0" smtClean="0"/>
              <a:t>4</a:t>
            </a:r>
            <a:r>
              <a:rPr lang="ko-KR" altLang="en-US" dirty="0" smtClean="0"/>
              <a:t>가지 현황을 선택하여 볼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각각 표시되는 항목은 개별 목록에 따라 다름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표시 정보 아래의 목록 참조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입찰서 제출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공개수의협상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계약통합목록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진행중인 </a:t>
            </a:r>
            <a:r>
              <a:rPr lang="ko-KR" altLang="en-US" dirty="0"/>
              <a:t>업무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상세 화면으로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 진행 상세 </a:t>
            </a:r>
            <a:r>
              <a:rPr lang="en-US" altLang="ko-KR" dirty="0" smtClean="0"/>
              <a:t>MUI-BD-03-M02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상세는 조건에 따라 분기되어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MUI-CT-01-M03 </a:t>
            </a:r>
            <a:r>
              <a:rPr lang="ko-KR" altLang="en-US" dirty="0" err="1"/>
              <a:t>물품전자계약진행상세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MUI-CT-01-M04 </a:t>
            </a:r>
            <a:r>
              <a:rPr lang="ko-KR" altLang="en-US" dirty="0" err="1"/>
              <a:t>물품전자계약확정상세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MUI-CT-01-M09 </a:t>
            </a:r>
            <a:r>
              <a:rPr lang="ko-KR" altLang="en-US" dirty="0" err="1"/>
              <a:t>공사전자계약진행상세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MUI-CT-01-M07 </a:t>
            </a:r>
            <a:r>
              <a:rPr lang="ko-KR" altLang="en-US" dirty="0" smtClean="0"/>
              <a:t>물품총액계약서상세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MUI-CT-01-M08 </a:t>
            </a:r>
            <a:r>
              <a:rPr lang="ko-KR" altLang="en-US" dirty="0" smtClean="0"/>
              <a:t>물품단가계약서상세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MUI-CT-01-M05 </a:t>
            </a:r>
            <a:r>
              <a:rPr lang="ko-KR" altLang="en-US" dirty="0" smtClean="0"/>
              <a:t>물품일반계약서상세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MUI-CT-01-M10 </a:t>
            </a:r>
            <a:r>
              <a:rPr lang="ko-KR" altLang="en-US" dirty="0" smtClean="0"/>
              <a:t>공사계약서상세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MUI-CT-01-M06 </a:t>
            </a:r>
            <a:r>
              <a:rPr lang="ko-KR" altLang="en-US" dirty="0"/>
              <a:t>물품수정계약서상세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7276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65283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65283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67106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51142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994104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755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168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65283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25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20491" y="1941161"/>
            <a:ext cx="2621844" cy="199577"/>
            <a:chOff x="720490" y="1941161"/>
            <a:chExt cx="2938973" cy="199577"/>
          </a:xfrm>
        </p:grpSpPr>
        <p:sp>
          <p:nvSpPr>
            <p:cNvPr id="11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20490" y="1941161"/>
              <a:ext cx="698735" cy="199577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>
                  <a:solidFill>
                    <a:schemeClr val="bg1"/>
                  </a:solidFill>
                </a:rPr>
                <a:t>입찰참가신청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66334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 err="1"/>
                <a:t>입찰서제출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213531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공개수의협상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960728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계약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상단 분기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66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smtClean="0"/>
              <a:t>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페이지 유지 시 </a:t>
            </a:r>
            <a:r>
              <a:rPr lang="ko-KR" altLang="en-US" dirty="0" err="1" smtClean="0"/>
              <a:t>리로드하지</a:t>
            </a:r>
            <a:r>
              <a:rPr lang="ko-KR" altLang="en-US" dirty="0" smtClean="0"/>
              <a:t> 않고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별 하이라이트가 </a:t>
            </a:r>
            <a:r>
              <a:rPr lang="en-US" altLang="ko-KR" dirty="0" smtClean="0"/>
              <a:t>OFF</a:t>
            </a:r>
            <a:r>
              <a:rPr lang="ko-KR" altLang="en-US" dirty="0" smtClean="0"/>
              <a:t>으로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페이지를 이탈했다 다시 접근하는 경우 </a:t>
            </a:r>
            <a:r>
              <a:rPr lang="ko-KR" altLang="en-US" dirty="0" err="1" smtClean="0">
                <a:solidFill>
                  <a:srgbClr val="FF0000"/>
                </a:solidFill>
              </a:rPr>
              <a:t>즐겨찾기</a:t>
            </a:r>
            <a:r>
              <a:rPr lang="ko-KR" altLang="en-US" dirty="0" smtClean="0">
                <a:solidFill>
                  <a:srgbClr val="FF0000"/>
                </a:solidFill>
              </a:rPr>
              <a:t> 된 항목만 표시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</a:t>
            </a:r>
            <a:r>
              <a:rPr lang="ko-KR" altLang="en-US" dirty="0"/>
              <a:t> 해제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다음부터 묻지 않기를 통해 앱 </a:t>
            </a:r>
            <a:r>
              <a:rPr lang="ko-KR" altLang="en-US" dirty="0" err="1"/>
              <a:t>스토리지에</a:t>
            </a:r>
            <a:r>
              <a:rPr lang="ko-KR" altLang="en-US" dirty="0"/>
              <a:t> 내역 저장하고</a:t>
            </a:r>
            <a:r>
              <a:rPr lang="en-US" altLang="ko-KR" dirty="0"/>
              <a:t>, </a:t>
            </a:r>
            <a:r>
              <a:rPr lang="ko-KR" altLang="en-US" dirty="0"/>
              <a:t>클릭 이후 즉시 </a:t>
            </a:r>
            <a:r>
              <a:rPr lang="ko-KR" altLang="en-US" dirty="0" err="1"/>
              <a:t>즐겨찾기</a:t>
            </a:r>
            <a:r>
              <a:rPr lang="ko-KR" altLang="en-US" dirty="0"/>
              <a:t> </a:t>
            </a:r>
            <a:r>
              <a:rPr lang="ko-KR" altLang="en-US" dirty="0" smtClean="0"/>
              <a:t>해제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즐겨찾기</a:t>
            </a:r>
            <a:r>
              <a:rPr lang="ko-KR" altLang="en-US" dirty="0" smtClean="0"/>
              <a:t> 해제 시 토스트 메시지 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4435552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관심공고에서 제외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58536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 smtClean="0"/>
              <a:t>관심공고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클릭 시 해당 공고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</a:t>
            </a:r>
            <a:r>
              <a:rPr lang="ko-KR" altLang="en-US" dirty="0" smtClean="0"/>
              <a:t>스케줄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상세내역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바텀</a:t>
            </a:r>
            <a:r>
              <a:rPr lang="ko-KR" altLang="en-US" dirty="0" smtClean="0"/>
              <a:t> 시트 호출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즐겨찾기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해제시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관심공고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해제 팝업 다음부터 묻지 않기가 설정되지 않은 경우 팝업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수정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시 확인 팝업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팝업에서 삭제 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삭제되었습니다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 메시지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수정됨에 따라 토스트 메시지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등록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수정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등록</a:t>
            </a:r>
            <a:r>
              <a:rPr lang="en-US" altLang="ko-KR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클릭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삭제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삭제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문서함 설명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사용자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관리자가 업무에 작성한 내역을 문서함에서 표시함</a:t>
            </a:r>
            <a:r>
              <a:rPr lang="en-US" altLang="ko-KR" sz="750" dirty="0" smtClean="0"/>
              <a:t>.</a:t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예를 들어 사용자가 발주의뢰서를 작성하는 경우 보낸 문서함에 표시됨</a:t>
            </a:r>
            <a:r>
              <a:rPr lang="en-US" altLang="ko-KR" sz="750" dirty="0" smtClean="0"/>
              <a:t>. (</a:t>
            </a:r>
            <a:r>
              <a:rPr lang="ko-KR" altLang="en-US" sz="750" dirty="0" smtClean="0"/>
              <a:t>사용자 기준 보낸 문서임</a:t>
            </a:r>
            <a:r>
              <a:rPr lang="en-US" altLang="ko-KR" sz="750" dirty="0" smtClean="0"/>
              <a:t>)</a:t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문서함에 표시되는 항목은 추가 확인이 필요함</a:t>
            </a:r>
            <a:r>
              <a:rPr lang="en-US" altLang="ko-KR" sz="750" dirty="0" smtClean="0"/>
              <a:t>.</a:t>
            </a:r>
            <a:br>
              <a:rPr lang="en-US" altLang="ko-KR" sz="750" dirty="0" smtClean="0"/>
            </a:br>
            <a:r>
              <a:rPr lang="en-US" altLang="ko-KR" sz="750" dirty="0" smtClean="0">
                <a:solidFill>
                  <a:srgbClr val="FF0000"/>
                </a:solidFill>
              </a:rPr>
              <a:t>- DB</a:t>
            </a:r>
            <a:r>
              <a:rPr lang="ko-KR" altLang="en-US" sz="750" dirty="0" smtClean="0">
                <a:solidFill>
                  <a:srgbClr val="FF0000"/>
                </a:solidFill>
              </a:rPr>
              <a:t>에서 로그인한 사용자 정보만 추려서 보여주어야 함</a:t>
            </a:r>
            <a:r>
              <a:rPr lang="en-US" altLang="ko-KR" sz="750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각 탭에서 받은 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보낸문서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반려문서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임시저장</a:t>
            </a:r>
            <a:r>
              <a:rPr lang="ko-KR" altLang="en-US" sz="750" dirty="0" smtClean="0"/>
              <a:t> 문서가 표시됨</a:t>
            </a:r>
            <a:r>
              <a:rPr lang="en-US" altLang="ko-KR" sz="75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smtClean="0"/>
              <a:t>검색 필터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err="1" smtClean="0"/>
              <a:t>검색필터</a:t>
            </a:r>
            <a:r>
              <a:rPr lang="ko-KR" altLang="en-US" sz="750" dirty="0"/>
              <a:t> 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MUI-CM-06-P20</a:t>
            </a:r>
            <a:b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검색 필터는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받은문서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보낸문서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반려문서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sz="75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임시저장에</a:t>
            </a:r>
            <a:r>
              <a:rPr lang="ko-KR" altLang="en-US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따라 검색 가능한 부분이 </a:t>
            </a:r>
            <a:r>
              <a:rPr lang="ko-KR" altLang="en-US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다름</a:t>
            </a: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/>
              <a:t>첨언</a:t>
            </a:r>
            <a:r>
              <a:rPr lang="en-US" altLang="ko-KR" sz="750" dirty="0"/>
              <a:t>, </a:t>
            </a:r>
            <a:r>
              <a:rPr lang="ko-KR" altLang="en-US" sz="750" dirty="0"/>
              <a:t>첨부가 발생하는 경우 레이블</a:t>
            </a:r>
            <a:r>
              <a:rPr lang="en-US" altLang="ko-KR" sz="750" dirty="0"/>
              <a:t>(</a:t>
            </a:r>
            <a:r>
              <a:rPr lang="ko-KR" altLang="en-US" sz="750" dirty="0" err="1"/>
              <a:t>뱃지</a:t>
            </a:r>
            <a:r>
              <a:rPr lang="en-US" altLang="ko-KR" sz="750" dirty="0"/>
              <a:t>) </a:t>
            </a:r>
            <a:r>
              <a:rPr lang="ko-KR" altLang="en-US" sz="750" dirty="0" smtClean="0"/>
              <a:t>표시</a:t>
            </a:r>
            <a:endParaRPr lang="en-US" altLang="ko-KR" sz="7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err="1" smtClean="0"/>
              <a:t>송신처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제목 표시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ko-KR" altLang="en-US" sz="750" dirty="0" smtClean="0"/>
              <a:t>카드 영역 클릭 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해당하는 문서를 조회할 수 있는 상세 화면으로 이동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err="1" smtClean="0"/>
              <a:t>발주의뢰서</a:t>
            </a:r>
            <a:r>
              <a:rPr lang="en-US" altLang="ko-KR" sz="750" dirty="0" smtClean="0"/>
              <a:t>, </a:t>
            </a:r>
            <a:r>
              <a:rPr lang="ko-KR" altLang="en-US" sz="750" dirty="0" err="1" smtClean="0"/>
              <a:t>견적의뢰서</a:t>
            </a:r>
            <a:r>
              <a:rPr lang="ko-KR" altLang="en-US" sz="750" dirty="0" smtClean="0"/>
              <a:t> 등 업무에서 작성된 </a:t>
            </a:r>
            <a:r>
              <a:rPr lang="ko-KR" altLang="en-US" sz="750" dirty="0" err="1" smtClean="0"/>
              <a:t>상세화면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이동 경로는 받아오는 데이터에서 확인 </a:t>
            </a:r>
            <a:r>
              <a:rPr lang="ko-KR" altLang="en-US" sz="750" dirty="0" smtClean="0"/>
              <a:t>가능</a:t>
            </a:r>
            <a:r>
              <a:rPr lang="en-US" altLang="ko-KR" sz="750" dirty="0"/>
              <a:t/>
            </a:r>
            <a:br>
              <a:rPr lang="en-US" altLang="ko-KR" sz="750" dirty="0"/>
            </a:br>
            <a:r>
              <a:rPr lang="en-US" altLang="ko-KR" sz="750" dirty="0"/>
              <a:t>- </a:t>
            </a:r>
            <a:r>
              <a:rPr lang="ko-KR" altLang="en-US" sz="750" dirty="0">
                <a:solidFill>
                  <a:srgbClr val="FF0000"/>
                </a:solidFill>
              </a:rPr>
              <a:t>모바일에서 제공하지 않는 문서의 경우 </a:t>
            </a:r>
            <a:r>
              <a:rPr lang="ko-KR" altLang="en-US" sz="750" dirty="0" err="1">
                <a:solidFill>
                  <a:srgbClr val="FF0000"/>
                </a:solidFill>
              </a:rPr>
              <a:t>모달</a:t>
            </a:r>
            <a:r>
              <a:rPr lang="ko-KR" altLang="en-US" sz="750" dirty="0">
                <a:solidFill>
                  <a:srgbClr val="FF0000"/>
                </a:solidFill>
              </a:rPr>
              <a:t> 팝업으로 안내</a:t>
            </a:r>
            <a:r>
              <a:rPr lang="en-US" altLang="ko-KR" sz="750" dirty="0"/>
              <a:t/>
            </a:r>
            <a:br>
              <a:rPr lang="en-US" altLang="ko-KR" sz="750" dirty="0"/>
            </a:br>
            <a:r>
              <a:rPr lang="en-US" altLang="ko-KR" sz="750" dirty="0"/>
              <a:t>  &gt; </a:t>
            </a:r>
            <a:r>
              <a:rPr lang="ko-KR" altLang="en-US" sz="750" dirty="0"/>
              <a:t>메시지</a:t>
            </a:r>
            <a:r>
              <a:rPr lang="en-US" altLang="ko-KR" sz="750" dirty="0"/>
              <a:t>: </a:t>
            </a:r>
            <a:r>
              <a:rPr lang="ko-KR" altLang="en-US" sz="750" dirty="0"/>
              <a:t>선택하신 문서는 </a:t>
            </a:r>
            <a:r>
              <a:rPr lang="en-US" altLang="ko-KR" sz="750" dirty="0"/>
              <a:t>PC</a:t>
            </a:r>
            <a:r>
              <a:rPr lang="ko-KR" altLang="en-US" sz="750" dirty="0"/>
              <a:t>버전에서 확인하실 수 있습니다</a:t>
            </a:r>
            <a:r>
              <a:rPr lang="en-US" altLang="ko-KR" sz="750" dirty="0"/>
              <a:t>. (</a:t>
            </a:r>
            <a:r>
              <a:rPr lang="ko-KR" altLang="en-US" sz="750" dirty="0"/>
              <a:t>확인</a:t>
            </a:r>
            <a:r>
              <a:rPr lang="en-US" altLang="ko-KR" sz="750" dirty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50" dirty="0" err="1" smtClean="0"/>
              <a:t>보조정보</a:t>
            </a:r>
            <a:r>
              <a:rPr lang="ko-KR" altLang="en-US" sz="750" dirty="0" smtClean="0"/>
              <a:t> 표시 영역</a:t>
            </a:r>
            <a:endParaRPr lang="en-US" altLang="ko-KR" sz="75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750" dirty="0" smtClean="0"/>
              <a:t>+ </a:t>
            </a:r>
            <a:r>
              <a:rPr lang="ko-KR" altLang="en-US" sz="750" dirty="0" smtClean="0"/>
              <a:t>첨언</a:t>
            </a:r>
            <a:r>
              <a:rPr lang="en-US" altLang="ko-KR" sz="750" dirty="0" smtClean="0"/>
              <a:t>/</a:t>
            </a:r>
            <a:r>
              <a:rPr lang="ko-KR" altLang="en-US" sz="750" dirty="0" smtClean="0"/>
              <a:t>첨부 보기 버튼 클릭 </a:t>
            </a:r>
            <a:r>
              <a:rPr lang="ko-KR" altLang="en-US" sz="750" dirty="0" smtClean="0"/>
              <a:t>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7-1. </a:t>
            </a:r>
            <a:r>
              <a:rPr lang="ko-KR" altLang="en-US" sz="750" dirty="0" smtClean="0"/>
              <a:t>정상 상태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클릭 시 현재 팝업을 닫고 첨언</a:t>
            </a:r>
            <a:r>
              <a:rPr lang="en-US" altLang="ko-KR" sz="750" dirty="0"/>
              <a:t> </a:t>
            </a:r>
            <a:r>
              <a:rPr lang="ko-KR" altLang="en-US" sz="750" dirty="0" smtClean="0"/>
              <a:t>또는 첨부 </a:t>
            </a:r>
            <a:r>
              <a:rPr lang="ko-KR" altLang="en-US" sz="750" dirty="0" err="1" smtClean="0"/>
              <a:t>바텀시트</a:t>
            </a:r>
            <a:r>
              <a:rPr lang="ko-KR" altLang="en-US" sz="750" dirty="0" smtClean="0"/>
              <a:t> 확장 표시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첨언 </a:t>
            </a:r>
            <a:r>
              <a:rPr lang="en-US" altLang="ko-KR" sz="750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MUI-CM-06-P21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  &gt; </a:t>
            </a:r>
            <a:r>
              <a:rPr lang="ko-KR" altLang="en-US" sz="750" dirty="0" smtClean="0"/>
              <a:t>첨부</a:t>
            </a:r>
            <a:r>
              <a:rPr lang="en-US" altLang="ko-KR" sz="7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5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MUI-CM-06-P22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r>
              <a:rPr lang="en-US" altLang="ko-KR" sz="750" dirty="0" smtClean="0"/>
              <a:t>7-2. dim </a:t>
            </a:r>
            <a:r>
              <a:rPr lang="ko-KR" altLang="en-US" sz="750" dirty="0" smtClean="0"/>
              <a:t>상태 </a:t>
            </a:r>
            <a:r>
              <a:rPr lang="en-US" altLang="ko-KR" sz="750" dirty="0" smtClean="0"/>
              <a:t>(</a:t>
            </a:r>
            <a:r>
              <a:rPr lang="ko-KR" altLang="en-US" sz="750" dirty="0" smtClean="0"/>
              <a:t>비활성</a:t>
            </a:r>
            <a:r>
              <a:rPr lang="en-US" altLang="ko-KR" sz="750" dirty="0" smtClean="0"/>
              <a:t>)</a:t>
            </a:r>
            <a:br>
              <a:rPr lang="en-US" altLang="ko-KR" sz="750" dirty="0" smtClean="0"/>
            </a:br>
            <a:r>
              <a:rPr lang="en-US" altLang="ko-KR" sz="750" dirty="0" smtClean="0"/>
              <a:t>- </a:t>
            </a:r>
            <a:r>
              <a:rPr lang="ko-KR" altLang="en-US" sz="750" dirty="0" smtClean="0"/>
              <a:t>첨언</a:t>
            </a:r>
            <a:r>
              <a:rPr lang="en-US" altLang="ko-KR" sz="750" dirty="0" smtClean="0"/>
              <a:t>, </a:t>
            </a:r>
            <a:r>
              <a:rPr lang="ko-KR" altLang="en-US" sz="750" dirty="0" smtClean="0"/>
              <a:t>첨부가 발생하지 않은 경우 비활성</a:t>
            </a:r>
            <a:r>
              <a:rPr lang="en-US" altLang="ko-KR" sz="750" dirty="0" smtClean="0"/>
              <a:t/>
            </a:r>
            <a:br>
              <a:rPr lang="en-US" altLang="ko-KR" sz="750" dirty="0" smtClean="0"/>
            </a:br>
            <a:endParaRPr lang="en-US" altLang="ko-KR" sz="75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9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40685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71791" y="2769406"/>
            <a:ext cx="2482927" cy="821562"/>
            <a:chOff x="771791" y="2610063"/>
            <a:chExt cx="2482927" cy="821562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25560" y="350728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8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보낸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반려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066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495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03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0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26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38654" y="23227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32215" y="385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7</a:t>
            </a:r>
            <a:r>
              <a:rPr lang="en-US" altLang="ko-KR" sz="600" b="1" dirty="0" smtClean="0"/>
              <a:t>-1</a:t>
            </a:r>
            <a:endParaRPr lang="ko-KR" altLang="en-US" sz="6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56341" y="49411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7</a:t>
            </a:r>
            <a:r>
              <a:rPr lang="en-US" altLang="ko-KR" sz="600" b="1" dirty="0" smtClean="0"/>
              <a:t>-2</a:t>
            </a:r>
            <a:endParaRPr lang="ko-KR" altLang="en-US" sz="6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771791" y="4134133"/>
            <a:ext cx="2482927" cy="865107"/>
            <a:chOff x="771791" y="2610063"/>
            <a:chExt cx="2482927" cy="865107"/>
          </a:xfrm>
        </p:grpSpPr>
        <p:sp>
          <p:nvSpPr>
            <p:cNvPr id="9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9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3" name="모서리가 둥근 직사각형 102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smtClean="0"/>
              <a:t>반려 문서에 따라 항목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검색 기간은 동일하게 모두 표시함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받은문서</a:t>
            </a:r>
            <a:r>
              <a:rPr lang="ko-KR" altLang="en-US" dirty="0" smtClean="0"/>
              <a:t> </a:t>
            </a:r>
            <a:r>
              <a:rPr lang="ko-KR" altLang="en-US" dirty="0"/>
              <a:t>대응 검색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주번호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불러오는 데이터에 </a:t>
            </a:r>
            <a:r>
              <a:rPr lang="ko-KR" altLang="en-US" dirty="0" smtClean="0"/>
              <a:t>따름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보낸문서</a:t>
            </a:r>
            <a:r>
              <a:rPr lang="ko-KR" altLang="en-US" dirty="0" smtClean="0"/>
              <a:t> </a:t>
            </a:r>
            <a:r>
              <a:rPr lang="ko-KR" altLang="en-US" dirty="0"/>
              <a:t>대응 검색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</a:t>
            </a:r>
            <a:r>
              <a:rPr lang="ko-KR" altLang="en-US" dirty="0" smtClean="0"/>
              <a:t>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수신처 </a:t>
            </a:r>
            <a:r>
              <a:rPr lang="en-US" altLang="ko-KR" dirty="0"/>
              <a:t>: </a:t>
            </a:r>
            <a:r>
              <a:rPr lang="ko-KR" altLang="en-US" dirty="0"/>
              <a:t>불러오는 데이터에 </a:t>
            </a:r>
            <a:r>
              <a:rPr lang="ko-KR" altLang="en-US" dirty="0" smtClean="0"/>
              <a:t>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반려문서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반려상태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임시저장함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문서명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한글</a:t>
            </a:r>
            <a:r>
              <a:rPr lang="en-US" altLang="ko-KR" dirty="0"/>
              <a:t>, </a:t>
            </a:r>
            <a:r>
              <a:rPr lang="ko-KR" altLang="en-US" dirty="0"/>
              <a:t>영문</a:t>
            </a:r>
            <a:r>
              <a:rPr lang="en-US" altLang="ko-KR" dirty="0"/>
              <a:t>, </a:t>
            </a:r>
            <a:r>
              <a:rPr lang="ko-KR" altLang="en-US" dirty="0"/>
              <a:t>숫자 입력 </a:t>
            </a:r>
            <a:r>
              <a:rPr lang="ko-KR" altLang="en-US" dirty="0" smtClean="0"/>
              <a:t>가능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30" name="그룹 129"/>
          <p:cNvGrpSpPr/>
          <p:nvPr/>
        </p:nvGrpSpPr>
        <p:grpSpPr>
          <a:xfrm>
            <a:off x="672112" y="2003681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0893" y="2961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92117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1449284" y="32016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158169"/>
            <a:ext cx="670770" cy="61202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주번호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송신처</a:t>
            </a:r>
            <a:endParaRPr lang="en-US" altLang="ko-KR" sz="700" dirty="0"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1445998" y="363181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전체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3137663" y="3702556"/>
            <a:ext cx="91438" cy="45719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모서리가 둥근 직사각형 82"/>
          <p:cNvSpPr/>
          <p:nvPr/>
        </p:nvSpPr>
        <p:spPr>
          <a:xfrm>
            <a:off x="1449284" y="341674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주번호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0893" y="4048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007662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1449284" y="428815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44653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송신처</a:t>
            </a:r>
            <a:endParaRPr lang="en-US" altLang="ko-KR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1445998" y="450980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전체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90" name="그룹 89"/>
          <p:cNvGrpSpPr/>
          <p:nvPr/>
        </p:nvGrpSpPr>
        <p:grpSpPr>
          <a:xfrm>
            <a:off x="3137663" y="4580546"/>
            <a:ext cx="91438" cy="45719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39612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948" y="29026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28620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2" name="모서리가 둥근 직사각형 101"/>
          <p:cNvSpPr/>
          <p:nvPr/>
        </p:nvSpPr>
        <p:spPr>
          <a:xfrm>
            <a:off x="4583339" y="314253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smtClean="0">
                <a:solidFill>
                  <a:schemeClr val="bg1">
                    <a:lumMod val="65000"/>
                  </a:schemeClr>
                </a:solidFill>
              </a:rPr>
              <a:t>문서명을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3099039"/>
            <a:ext cx="67077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문서명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6167" y="2815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948" y="17838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1743222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검색어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일부 입력 가능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1" name="모서리가 둥근 직사각형 120"/>
          <p:cNvSpPr/>
          <p:nvPr/>
        </p:nvSpPr>
        <p:spPr>
          <a:xfrm>
            <a:off x="4583339" y="202371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2570" y="1980213"/>
            <a:ext cx="67077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반려여부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6167" y="1696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>
            <a:off x="6215934" y="2104227"/>
            <a:ext cx="91438" cy="45719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1" name="직선 연결선 1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첨언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첨부가 발생하는 경우 레이블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뱃지</a:t>
            </a:r>
            <a:r>
              <a:rPr lang="en-US" altLang="ko-KR" sz="800" dirty="0" smtClean="0"/>
              <a:t>) </a:t>
            </a:r>
            <a:r>
              <a:rPr lang="ko-KR" altLang="en-US" sz="800" dirty="0" smtClean="0"/>
              <a:t>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첨언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첨부는 둘 다 없을 수도 있음</a:t>
            </a:r>
            <a:r>
              <a:rPr lang="en-US" altLang="ko-KR" sz="800" dirty="0"/>
              <a:t>.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해당하는 상세 화면으로 이동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송신처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제목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없이 전체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도착일시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수신일시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/>
              <a:t>일시로 표시되었으나</a:t>
            </a:r>
            <a:r>
              <a:rPr lang="en-US" altLang="ko-KR" sz="800" dirty="0"/>
              <a:t>, </a:t>
            </a:r>
            <a:r>
              <a:rPr lang="ko-KR" altLang="en-US" sz="800" dirty="0" err="1"/>
              <a:t>일자까지만</a:t>
            </a:r>
            <a:r>
              <a:rPr lang="ko-KR" altLang="en-US" sz="800" dirty="0"/>
              <a:t> 표시됨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받은문서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보낸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smtClean="0">
                  <a:latin typeface="맑은 고딕"/>
                  <a:ea typeface="맑은 고딕" panose="020B0503020000020004" pitchFamily="50" charset="-127"/>
                </a:rPr>
                <a:t>반려 </a:t>
              </a: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42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85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76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9" name="직선 연결선 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>
            <a:off x="771791" y="2769406"/>
            <a:ext cx="2482927" cy="821562"/>
            <a:chOff x="771791" y="2610063"/>
            <a:chExt cx="2482927" cy="821562"/>
          </a:xfrm>
        </p:grpSpPr>
        <p:sp>
          <p:nvSpPr>
            <p:cNvPr id="10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2" name="그룹 121"/>
          <p:cNvGrpSpPr/>
          <p:nvPr/>
        </p:nvGrpSpPr>
        <p:grpSpPr>
          <a:xfrm>
            <a:off x="771791" y="4134133"/>
            <a:ext cx="2482927" cy="865107"/>
            <a:chOff x="771791" y="2610063"/>
            <a:chExt cx="2482927" cy="865107"/>
          </a:xfrm>
        </p:grpSpPr>
        <p:sp>
          <p:nvSpPr>
            <p:cNvPr id="1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1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도착일시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수신일시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78413490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수신처</a:t>
            </a:r>
            <a:r>
              <a:rPr lang="en-US" altLang="ko-KR" sz="800" dirty="0"/>
              <a:t>, </a:t>
            </a:r>
            <a:r>
              <a:rPr lang="ko-KR" altLang="en-US" sz="800" dirty="0"/>
              <a:t>제목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첨언</a:t>
            </a:r>
            <a:r>
              <a:rPr lang="en-US" altLang="ko-KR" sz="800" dirty="0"/>
              <a:t>, </a:t>
            </a:r>
            <a:r>
              <a:rPr lang="ko-KR" altLang="en-US" sz="800" dirty="0"/>
              <a:t>첨부는 둘 다 없을 수도 있음</a:t>
            </a:r>
            <a:r>
              <a:rPr lang="en-US" altLang="ko-KR" sz="800" dirty="0"/>
              <a:t>.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해당하는 상세 화면으로 이동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송신일시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확인일시</a:t>
            </a:r>
            <a:r>
              <a:rPr lang="ko-KR" altLang="en-US" sz="800" dirty="0" smtClean="0"/>
              <a:t> 정보가 받은 문서와 상이함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/>
              <a:t>일시로 표시되었으나</a:t>
            </a:r>
            <a:r>
              <a:rPr lang="en-US" altLang="ko-KR" sz="800" dirty="0"/>
              <a:t>, </a:t>
            </a:r>
            <a:r>
              <a:rPr lang="ko-KR" altLang="en-US" sz="800" dirty="0" err="1"/>
              <a:t>일자까지만</a:t>
            </a:r>
            <a:r>
              <a:rPr lang="ko-KR" altLang="en-US" sz="800" dirty="0"/>
              <a:t> 표시됨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보낸문서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41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570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103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79" name="그룹 78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771791" y="2769406"/>
            <a:ext cx="2482927" cy="803737"/>
            <a:chOff x="771791" y="2610063"/>
            <a:chExt cx="2482927" cy="803737"/>
          </a:xfrm>
        </p:grpSpPr>
        <p:sp>
          <p:nvSpPr>
            <p:cNvPr id="9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국제한도액전력운영계약팀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 err="1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9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송신일시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확인일시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39237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1" name="모서리가 둥근 직사각형 100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  <p:sp>
          <p:nvSpPr>
            <p:cNvPr id="102" name="모서리가 둥근 직사각형 101"/>
            <p:cNvSpPr/>
            <p:nvPr/>
          </p:nvSpPr>
          <p:spPr>
            <a:xfrm>
              <a:off x="108309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620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39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3672711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771791" y="4134133"/>
            <a:ext cx="2482927" cy="847282"/>
            <a:chOff x="771791" y="2610063"/>
            <a:chExt cx="2482927" cy="847282"/>
          </a:xfrm>
        </p:grpSpPr>
        <p:sp>
          <p:nvSpPr>
            <p:cNvPr id="11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6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600" dirty="0">
                  <a:solidFill>
                    <a:prstClr val="black"/>
                  </a:solidFill>
                </a:rPr>
                <a:t> </a:t>
              </a:r>
              <a:r>
                <a:rPr lang="en-US" altLang="ko-KR" sz="600" dirty="0">
                  <a:solidFill>
                    <a:prstClr val="black"/>
                  </a:solidFill>
                </a:rPr>
                <a:t>- </a:t>
              </a:r>
              <a:r>
                <a:rPr lang="ko-KR" altLang="en-US" sz="600" dirty="0">
                  <a:solidFill>
                    <a:prstClr val="black"/>
                  </a:solidFill>
                </a:rPr>
                <a:t>화력총괄계약팀</a:t>
              </a:r>
              <a:endParaRPr lang="en-US" altLang="ko-KR" sz="6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800" b="1" dirty="0">
                  <a:solidFill>
                    <a:prstClr val="black"/>
                  </a:solidFill>
                </a:rPr>
                <a:t>납기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30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일전 </a:t>
              </a:r>
              <a:r>
                <a:rPr lang="ko-KR" altLang="en-US" sz="800" b="1" dirty="0" err="1">
                  <a:solidFill>
                    <a:prstClr val="black"/>
                  </a:solidFill>
                </a:rPr>
                <a:t>납품촉구</a:t>
              </a:r>
              <a:r>
                <a:rPr lang="ko-KR" altLang="en-US" sz="8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800" b="1" dirty="0">
                  <a:solidFill>
                    <a:prstClr val="black"/>
                  </a:solidFill>
                </a:rPr>
                <a:t>[KD33KA5LP01 1325013358828]</a:t>
              </a:r>
              <a:endParaRPr lang="ko-KR" altLang="en-US" sz="800" b="1" dirty="0">
                <a:solidFill>
                  <a:prstClr val="black"/>
                </a:solidFill>
              </a:endParaRPr>
            </a:p>
          </p:txBody>
        </p:sp>
        <p:sp>
          <p:nvSpPr>
            <p:cNvPr id="12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98171"/>
              <a:ext cx="307777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송신일시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확인일시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182782"/>
              <a:ext cx="397545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2" name="모서리가 둥근 직사각형 121"/>
            <p:cNvSpPr/>
            <p:nvPr/>
          </p:nvSpPr>
          <p:spPr>
            <a:xfrm>
              <a:off x="77179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첨언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702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3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첨언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56341" y="5080983"/>
            <a:ext cx="1184876" cy="212372"/>
          </a:xfrm>
          <a:prstGeom prst="roundRect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첨부파일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89384052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레이블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뱃지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반려받은</a:t>
            </a:r>
            <a:r>
              <a:rPr lang="ko-KR" altLang="en-US" sz="800" dirty="0" smtClean="0"/>
              <a:t> 문서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반려한 문서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PC </a:t>
            </a:r>
            <a:r>
              <a:rPr lang="ko-KR" altLang="en-US" sz="800" dirty="0" smtClean="0"/>
              <a:t>버전은 상기 두가지를 분리해서 보여주지만 모바일에서는 반려 문서 모두를 기본값으로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검색 필터에서 조정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반려처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제목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카드 클릭 이동 없음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반려자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반려일시</a:t>
            </a:r>
            <a:r>
              <a:rPr lang="ko-KR" altLang="en-US" sz="800" dirty="0" smtClean="0"/>
              <a:t> 정보가 받은 문서와 상이함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일시로 표시되었으나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일자까지만</a:t>
            </a:r>
            <a:r>
              <a:rPr lang="ko-KR" altLang="en-US" sz="800" dirty="0" smtClean="0"/>
              <a:t> 표시됨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반려사유</a:t>
            </a:r>
            <a:r>
              <a:rPr lang="ko-KR" altLang="en-US" sz="800" dirty="0" smtClean="0"/>
              <a:t> 보기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반려 사유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MUI-CM-06-P23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반려문서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964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959164"/>
            <a:ext cx="2473257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반려처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- </a:t>
            </a:r>
            <a:r>
              <a:rPr lang="ko-KR" altLang="en-US" sz="700" dirty="0" err="1">
                <a:solidFill>
                  <a:prstClr val="black"/>
                </a:solidFill>
              </a:rPr>
              <a:t>국제한도액전력운영계약팀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한도액계약</a:t>
            </a:r>
            <a:r>
              <a:rPr lang="en-US" altLang="ko-KR" sz="900" b="1" dirty="0">
                <a:solidFill>
                  <a:prstClr val="black"/>
                </a:solidFill>
              </a:rPr>
              <a:t>(BOA) </a:t>
            </a:r>
            <a:r>
              <a:rPr lang="ko-KR" altLang="en-US" sz="900" b="1" dirty="0" err="1">
                <a:solidFill>
                  <a:prstClr val="black"/>
                </a:solidFill>
              </a:rPr>
              <a:t>견적통보서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[KD73AM08S35 33]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9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3400808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반려자</a:t>
            </a:r>
            <a:endParaRPr lang="en-US" altLang="ko-KR" sz="6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반려일시</a:t>
            </a:r>
            <a:endParaRPr lang="en-US" altLang="ko-KR" sz="600" dirty="0">
              <a:latin typeface="+mn-ea"/>
            </a:endParaRPr>
          </a:p>
        </p:txBody>
      </p:sp>
      <p:sp>
        <p:nvSpPr>
          <p:cNvPr id="60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707060" y="3385419"/>
            <a:ext cx="54502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방사청콜센터</a:t>
            </a:r>
            <a:r>
              <a:rPr lang="en-US" altLang="ko-KR" sz="600" dirty="0">
                <a:latin typeface="+mn-ea"/>
              </a:rPr>
              <a:t>13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2026-05-18</a:t>
            </a:r>
          </a:p>
        </p:txBody>
      </p:sp>
      <p:sp>
        <p:nvSpPr>
          <p:cNvPr id="71" name="모서리가 둥근 직사각형 70"/>
          <p:cNvSpPr/>
          <p:nvPr/>
        </p:nvSpPr>
        <p:spPr>
          <a:xfrm>
            <a:off x="1421515" y="2774833"/>
            <a:ext cx="2438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사유</a:t>
            </a:r>
            <a:endParaRPr lang="ko-KR" altLang="en-US" sz="600" dirty="0"/>
          </a:p>
        </p:txBody>
      </p:sp>
      <p:sp>
        <p:nvSpPr>
          <p:cNvPr id="97" name="모서리가 둥근 직사각형 96"/>
          <p:cNvSpPr/>
          <p:nvPr/>
        </p:nvSpPr>
        <p:spPr>
          <a:xfrm>
            <a:off x="778516" y="2774833"/>
            <a:ext cx="58196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err="1" smtClean="0"/>
              <a:t>반려받은</a:t>
            </a:r>
            <a:r>
              <a:rPr lang="ko-KR" altLang="en-US" sz="600" dirty="0" smtClean="0"/>
              <a:t> 문서</a:t>
            </a:r>
            <a:endParaRPr lang="ko-KR" altLang="en-US" sz="600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4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4301841"/>
            <a:ext cx="2473257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반려처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화력총괄계약팀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납기</a:t>
            </a:r>
            <a:r>
              <a:rPr lang="en-US" altLang="ko-KR" sz="900" b="1" dirty="0">
                <a:solidFill>
                  <a:prstClr val="black"/>
                </a:solidFill>
              </a:rPr>
              <a:t>30</a:t>
            </a:r>
            <a:r>
              <a:rPr lang="ko-KR" altLang="en-US" sz="900" b="1" dirty="0">
                <a:solidFill>
                  <a:prstClr val="black"/>
                </a:solidFill>
              </a:rPr>
              <a:t>일전 </a:t>
            </a:r>
            <a:r>
              <a:rPr lang="ko-KR" altLang="en-US" sz="900" b="1" dirty="0" err="1">
                <a:solidFill>
                  <a:prstClr val="black"/>
                </a:solidFill>
              </a:rPr>
              <a:t>납품촉구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[KD33KA5LP01 1325013358828]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4776057"/>
            <a:ext cx="307777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반려자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반려일시</a:t>
            </a:r>
            <a:endParaRPr lang="en-US" altLang="ko-KR" sz="600" dirty="0">
              <a:latin typeface="+mn-ea"/>
            </a:endParaRPr>
          </a:p>
        </p:txBody>
      </p:sp>
      <p:sp>
        <p:nvSpPr>
          <p:cNvPr id="7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700631" y="4760668"/>
            <a:ext cx="545021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방사청콜센터</a:t>
            </a:r>
            <a:r>
              <a:rPr lang="en-US" altLang="ko-KR" sz="600" dirty="0" smtClean="0">
                <a:latin typeface="+mn-ea"/>
              </a:rPr>
              <a:t>13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2026-05-18</a:t>
            </a:r>
          </a:p>
        </p:txBody>
      </p:sp>
      <p:sp>
        <p:nvSpPr>
          <p:cNvPr id="83" name="모서리가 둥근 직사각형 82"/>
          <p:cNvSpPr/>
          <p:nvPr/>
        </p:nvSpPr>
        <p:spPr>
          <a:xfrm>
            <a:off x="778515" y="4117510"/>
            <a:ext cx="58196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반려한 문서</a:t>
            </a:r>
            <a:endParaRPr lang="ko-KR" altLang="en-US" sz="600" dirty="0"/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391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80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2" y="3759550"/>
            <a:ext cx="2460115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 smtClean="0">
                <a:latin typeface="맑은 고딕"/>
                <a:ea typeface="맑은 고딕" panose="020B0503020000020004" pitchFamily="50" charset="-127"/>
              </a:rPr>
              <a:t>반려사유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보기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94602" y="5147237"/>
            <a:ext cx="2460115" cy="21237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kern="0" dirty="0"/>
              <a:t>+ </a:t>
            </a:r>
            <a:r>
              <a:rPr kumimoji="1" lang="ko-KR" altLang="en-US" sz="800" kern="0" dirty="0" err="1"/>
              <a:t>반려사유</a:t>
            </a:r>
            <a:r>
              <a:rPr kumimoji="1" lang="ko-KR" altLang="en-US" sz="800" kern="0" dirty="0"/>
              <a:t> 보기</a:t>
            </a:r>
            <a:endParaRPr kumimoji="1" lang="en-US" altLang="ko-KR" sz="800" kern="0" dirty="0"/>
          </a:p>
        </p:txBody>
      </p: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21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36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모서리가 둥근 직사각형 97"/>
          <p:cNvSpPr/>
          <p:nvPr/>
        </p:nvSpPr>
        <p:spPr>
          <a:xfrm>
            <a:off x="1421515" y="4117510"/>
            <a:ext cx="2438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사유</a:t>
            </a: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595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82" name="그룹 81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84" name="직선 연결선 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6" name="직선 연결선 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238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6607170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제목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해당하는 상세 화면으로 이동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작성일 표시</a:t>
            </a:r>
            <a:endParaRPr lang="en-US" altLang="ko-KR" sz="8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err="1" smtClean="0">
                <a:latin typeface="+mn-ea"/>
              </a:rPr>
              <a:t>임시저장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034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5056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48487"/>
            <a:ext cx="2473257" cy="394315"/>
            <a:chOff x="781461" y="2794394"/>
            <a:chExt cx="2473257" cy="39431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5291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596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794602" y="1944826"/>
            <a:ext cx="2446614" cy="212372"/>
            <a:chOff x="794602" y="1944826"/>
            <a:chExt cx="2814646" cy="212372"/>
          </a:xfrm>
        </p:grpSpPr>
        <p:sp>
          <p:nvSpPr>
            <p:cNvPr id="11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4602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받은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515818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보낸 문서</a:t>
              </a:r>
              <a:endParaRPr kumimoji="1" lang="en-US" sz="8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237034" y="1944826"/>
              <a:ext cx="650997" cy="21237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반려 문서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958251" y="1944826"/>
              <a:ext cx="650997" cy="21237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 err="1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임시저장</a:t>
              </a:r>
              <a:endParaRPr kumimoji="1" lang="en-US" sz="8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213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972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8" name="그룹 67"/>
          <p:cNvGrpSpPr/>
          <p:nvPr/>
        </p:nvGrpSpPr>
        <p:grpSpPr>
          <a:xfrm>
            <a:off x="781461" y="3384113"/>
            <a:ext cx="2473257" cy="394315"/>
            <a:chOff x="781461" y="2794394"/>
            <a:chExt cx="2473257" cy="394315"/>
          </a:xfrm>
        </p:grpSpPr>
        <p:sp>
          <p:nvSpPr>
            <p:cNvPr id="6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953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4" name="그룹 93"/>
          <p:cNvGrpSpPr/>
          <p:nvPr/>
        </p:nvGrpSpPr>
        <p:grpSpPr>
          <a:xfrm>
            <a:off x="781461" y="4022561"/>
            <a:ext cx="2473257" cy="394315"/>
            <a:chOff x="781461" y="2794394"/>
            <a:chExt cx="2473257" cy="394315"/>
          </a:xfrm>
        </p:grpSpPr>
        <p:sp>
          <p:nvSpPr>
            <p:cNvPr id="9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9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3375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781461" y="4683721"/>
            <a:ext cx="2473257" cy="394315"/>
            <a:chOff x="781461" y="2794394"/>
            <a:chExt cx="2473257" cy="394315"/>
          </a:xfrm>
        </p:grpSpPr>
        <p:sp>
          <p:nvSpPr>
            <p:cNvPr id="10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 err="1" smtClean="0">
                  <a:solidFill>
                    <a:prstClr val="black"/>
                  </a:solidFill>
                </a:rPr>
                <a:t>한도액계약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(BOA)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발주의뢰서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[KD73AM08S35]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2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50210"/>
              <a:ext cx="230832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54536" y="3034821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949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398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8354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83547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3143548" y="2385370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6169" y="2329795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15543533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추가 정보가 </a:t>
            </a:r>
            <a:r>
              <a:rPr lang="ko-KR" altLang="en-US" dirty="0"/>
              <a:t>발생하는 </a:t>
            </a:r>
            <a:r>
              <a:rPr lang="ko-KR" altLang="en-US" dirty="0" smtClean="0"/>
              <a:t>경우 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MUI-CM-06-T01 </a:t>
            </a:r>
            <a:r>
              <a:rPr lang="ko-KR" altLang="en-US" dirty="0" err="1" smtClean="0"/>
              <a:t>문서정보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MUI-CM-06-T02 </a:t>
            </a:r>
            <a:r>
              <a:rPr lang="ko-KR" altLang="en-US" dirty="0"/>
              <a:t>첨언상세보기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MUI-CM-06-T03 </a:t>
            </a:r>
            <a:r>
              <a:rPr lang="ko-KR" altLang="en-US" dirty="0"/>
              <a:t>첨부파일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2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1816476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1647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26449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1597475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sp>
        <p:nvSpPr>
          <p:cNvPr id="6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70" name="평행 사변형 69"/>
          <p:cNvSpPr/>
          <p:nvPr/>
        </p:nvSpPr>
        <p:spPr>
          <a:xfrm rot="16200000" flipH="1">
            <a:off x="2743131" y="2136323"/>
            <a:ext cx="1696903" cy="408308"/>
          </a:xfrm>
          <a:prstGeom prst="parallelogram">
            <a:avLst>
              <a:gd name="adj" fmla="val 3306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3" name="직선 연결선 62"/>
          <p:cNvCxnSpPr/>
          <p:nvPr/>
        </p:nvCxnSpPr>
        <p:spPr>
          <a:xfrm flipH="1">
            <a:off x="330926" y="917965"/>
            <a:ext cx="9413965" cy="55470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그룹 63"/>
          <p:cNvGrpSpPr/>
          <p:nvPr/>
        </p:nvGrpSpPr>
        <p:grpSpPr>
          <a:xfrm>
            <a:off x="8223250" y="791900"/>
            <a:ext cx="3365500" cy="634511"/>
            <a:chOff x="8223250" y="569392"/>
            <a:chExt cx="3365500" cy="634511"/>
          </a:xfrm>
          <a:solidFill>
            <a:srgbClr val="FF0000"/>
          </a:solidFill>
        </p:grpSpPr>
        <p:sp>
          <p:nvSpPr>
            <p:cNvPr id="65" name="직사각형 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삭제</a:t>
              </a:r>
              <a:endParaRPr lang="ko-KR" altLang="en-US" dirty="0"/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문서함 </a:t>
              </a:r>
              <a:r>
                <a:rPr lang="ko-KR" altLang="en-US" sz="700" dirty="0" err="1" smtClean="0"/>
                <a:t>상세조회</a:t>
              </a:r>
              <a:r>
                <a:rPr lang="ko-KR" altLang="en-US" sz="700" dirty="0" smtClean="0"/>
                <a:t> 화면 삭제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문서정보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</a:t>
            </a:r>
            <a:r>
              <a:rPr lang="ko-KR" altLang="en-US" dirty="0" err="1">
                <a:latin typeface="+mn-ea"/>
              </a:rPr>
              <a:t>문서정보</a:t>
            </a:r>
            <a:r>
              <a:rPr lang="ko-KR" altLang="en-US" dirty="0">
                <a:latin typeface="+mn-ea"/>
              </a:rPr>
              <a:t>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97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cxnSp>
        <p:nvCxnSpPr>
          <p:cNvPr id="37" name="직선 연결선 36"/>
          <p:cNvCxnSpPr/>
          <p:nvPr/>
        </p:nvCxnSpPr>
        <p:spPr>
          <a:xfrm flipH="1">
            <a:off x="330926" y="917965"/>
            <a:ext cx="9413965" cy="55470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그룹 37"/>
          <p:cNvGrpSpPr/>
          <p:nvPr/>
        </p:nvGrpSpPr>
        <p:grpSpPr>
          <a:xfrm>
            <a:off x="8223250" y="791900"/>
            <a:ext cx="3365500" cy="634511"/>
            <a:chOff x="8223250" y="569392"/>
            <a:chExt cx="3365500" cy="634511"/>
          </a:xfrm>
          <a:solidFill>
            <a:srgbClr val="FF0000"/>
          </a:solidFill>
        </p:grpSpPr>
        <p:sp>
          <p:nvSpPr>
            <p:cNvPr id="39" name="직사각형 3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삭제</a:t>
              </a:r>
              <a:endParaRPr lang="ko-KR" altLang="en-US" dirty="0"/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grpFill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문서함 </a:t>
              </a:r>
              <a:r>
                <a:rPr lang="ko-KR" altLang="en-US" sz="700" dirty="0" err="1" smtClean="0"/>
                <a:t>문서정보</a:t>
              </a:r>
              <a:r>
                <a:rPr lang="ko-KR" altLang="en-US" sz="700" dirty="0" smtClean="0"/>
                <a:t> 화면 삭제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1455567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</a:t>
            </a:r>
            <a:r>
              <a:rPr lang="ko-KR" altLang="en-US" dirty="0" err="1" smtClean="0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타이틀로 첨언 상세보기 고정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보낸문서</a:t>
            </a:r>
            <a:r>
              <a:rPr lang="ko-KR" altLang="en-US" dirty="0" smtClean="0"/>
              <a:t> 동일하게 현재 화면 사용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내용에 맞춰 하단으로 늘려서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최소 높이는 화면의 </a:t>
            </a:r>
            <a:r>
              <a:rPr lang="en-US" altLang="ko-KR" dirty="0" smtClean="0"/>
              <a:t>1/3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텍스트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첨언상세보기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첨언상세보기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8223250" y="789300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40" name="양쪽 모서리가 둥근 사각형 39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2" name="그룹 41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직선 연결선 4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첨언 상세보기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10547" y="4142122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첨언 내용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25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592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492232"/>
            <a:ext cx="2532688" cy="147732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 smtClean="0">
                <a:latin typeface="+mn-ea"/>
              </a:rPr>
              <a:t>5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 </a:t>
            </a:r>
            <a:r>
              <a:rPr lang="ko-KR" altLang="en-US" dirty="0" err="1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타이틀로 </a:t>
            </a:r>
            <a:r>
              <a:rPr lang="ko-KR" altLang="en-US" dirty="0" smtClean="0"/>
              <a:t>첨부파일 </a:t>
            </a:r>
            <a:r>
              <a:rPr lang="ko-KR" altLang="en-US" dirty="0"/>
              <a:t>상세보기 고정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받은 문서</a:t>
            </a:r>
            <a:r>
              <a:rPr lang="en-US" altLang="ko-KR" dirty="0"/>
              <a:t>, </a:t>
            </a:r>
            <a:r>
              <a:rPr lang="ko-KR" altLang="en-US" dirty="0" err="1"/>
              <a:t>보낸문서</a:t>
            </a:r>
            <a:r>
              <a:rPr lang="ko-KR" altLang="en-US" dirty="0"/>
              <a:t> 동일하게 현재 화면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첨부파일에 </a:t>
            </a:r>
            <a:r>
              <a:rPr lang="ko-KR" altLang="en-US" dirty="0"/>
              <a:t>맞춰 하단으로 </a:t>
            </a:r>
            <a:r>
              <a:rPr lang="ko-KR" altLang="en-US" dirty="0" smtClean="0"/>
              <a:t>반복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최소 높이는 화면의 </a:t>
            </a:r>
            <a:r>
              <a:rPr lang="en-US" altLang="ko-KR" dirty="0"/>
              <a:t>1/3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첨부파일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첨부파일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8223250" y="789300"/>
            <a:ext cx="3365500" cy="634511"/>
            <a:chOff x="8223250" y="569392"/>
            <a:chExt cx="3365500" cy="634511"/>
          </a:xfrm>
        </p:grpSpPr>
        <p:sp>
          <p:nvSpPr>
            <p:cNvPr id="53" name="직사각형 5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설계 변경</a:t>
              </a:r>
              <a:endParaRPr lang="ko-KR" altLang="en-US" sz="700" dirty="0"/>
            </a:p>
          </p:txBody>
        </p:sp>
      </p:grpSp>
      <p:sp>
        <p:nvSpPr>
          <p:cNvPr id="55" name="양쪽 모서리가 둥근 사각형 54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58" name="직선 연결선 5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9" name="직선 연결선 5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첨부파일 상세보기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94" name="그룹 93"/>
          <p:cNvGrpSpPr/>
          <p:nvPr/>
        </p:nvGrpSpPr>
        <p:grpSpPr>
          <a:xfrm>
            <a:off x="705040" y="4157714"/>
            <a:ext cx="2652743" cy="906290"/>
            <a:chOff x="675929" y="1954020"/>
            <a:chExt cx="2652743" cy="906290"/>
          </a:xfrm>
        </p:grpSpPr>
        <p:sp>
          <p:nvSpPr>
            <p:cNvPr id="95" name="모서리가 둥근 직사각형 94"/>
            <p:cNvSpPr/>
            <p:nvPr/>
          </p:nvSpPr>
          <p:spPr>
            <a:xfrm>
              <a:off x="675929" y="208913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2163659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첨부파일명칭 표시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4125" y="2217520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98" name="타원 97"/>
            <p:cNvSpPr/>
            <p:nvPr/>
          </p:nvSpPr>
          <p:spPr>
            <a:xfrm>
              <a:off x="3063926" y="2199381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모서리가 둥근 직사각형 98"/>
            <p:cNvSpPr/>
            <p:nvPr/>
          </p:nvSpPr>
          <p:spPr>
            <a:xfrm>
              <a:off x="675929" y="2495824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2570345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첨부파일명칭 표시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4125" y="2624206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103" name="타원 102"/>
            <p:cNvSpPr/>
            <p:nvPr/>
          </p:nvSpPr>
          <p:spPr>
            <a:xfrm>
              <a:off x="3063926" y="2606067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76597" y="1954020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73442" y="1954020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1074" y="1954020"/>
              <a:ext cx="153888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1907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6110122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</a:t>
            </a:r>
            <a:r>
              <a:rPr lang="ko-KR" altLang="en-US" dirty="0" err="1" smtClean="0"/>
              <a:t>바텀시트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타이틀로 첨언 상세보기 고정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보낸문서</a:t>
            </a:r>
            <a:r>
              <a:rPr lang="ko-KR" altLang="en-US" dirty="0" smtClean="0"/>
              <a:t> 동일하게 현재 화면 사용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첨언 내용에 맞춰 하단으로 늘려서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최소 높이는 화면의 </a:t>
            </a:r>
            <a:r>
              <a:rPr lang="en-US" altLang="ko-KR" dirty="0" smtClean="0"/>
              <a:t>1/3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텍스트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반려사유보기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반려사유보기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문서함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/>
                <a:t>설계 변경</a:t>
              </a:r>
            </a:p>
          </p:txBody>
        </p:sp>
      </p:grpSp>
      <p:sp>
        <p:nvSpPr>
          <p:cNvPr id="40" name="양쪽 모서리가 둥근 사각형 39"/>
          <p:cNvSpPr/>
          <p:nvPr/>
        </p:nvSpPr>
        <p:spPr>
          <a:xfrm>
            <a:off x="679854" y="3560029"/>
            <a:ext cx="2712027" cy="267227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59665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2" name="그룹 41"/>
          <p:cNvGrpSpPr/>
          <p:nvPr/>
        </p:nvGrpSpPr>
        <p:grpSpPr>
          <a:xfrm>
            <a:off x="3168793" y="3731072"/>
            <a:ext cx="94010" cy="94010"/>
            <a:chOff x="6812560" y="3297172"/>
            <a:chExt cx="94010" cy="94010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직선 연결선 4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71175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반려사유</a:t>
            </a:r>
            <a:r>
              <a:rPr lang="ko-KR" altLang="en-US" sz="900" dirty="0" smtClean="0">
                <a:latin typeface="+mn-ea"/>
              </a:rPr>
              <a:t> 보기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973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16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0962" y="4142122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반려 사유 내용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425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0592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4492232"/>
            <a:ext cx="2532688" cy="147732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 smtClean="0">
                <a:latin typeface="+mn-ea"/>
              </a:rPr>
              <a:t>5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37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8254160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563240"/>
              </p:ext>
            </p:extLst>
          </p:nvPr>
        </p:nvGraphicFramePr>
        <p:xfrm>
          <a:off x="453000" y="432189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937466"/>
              </p:ext>
            </p:extLst>
          </p:nvPr>
        </p:nvGraphicFramePr>
        <p:xfrm>
          <a:off x="453000" y="432189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상세화면</a:t>
            </a:r>
            <a:r>
              <a:rPr lang="ko-KR" altLang="en-US" dirty="0" smtClean="0"/>
              <a:t> 없음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097698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96653"/>
              </p:ext>
            </p:extLst>
          </p:nvPr>
        </p:nvGraphicFramePr>
        <p:xfrm>
          <a:off x="452999" y="1381452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143381"/>
              </p:ext>
            </p:extLst>
          </p:nvPr>
        </p:nvGraphicFramePr>
        <p:xfrm>
          <a:off x="453000" y="356781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별표 하이라이트가 꺼지고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페이지에서는 유지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페이지를 이탈했다가 다시 돌아오는 경우 </a:t>
            </a:r>
            <a:r>
              <a:rPr lang="ko-KR" altLang="en-US" dirty="0" err="1" smtClean="0"/>
              <a:t>즐겨찾기</a:t>
            </a:r>
            <a:r>
              <a:rPr lang="ko-KR" altLang="en-US" dirty="0" smtClean="0"/>
              <a:t> 된 관심 법령만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해제 메시지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해제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외부 페이지 링크로 법령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외부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법령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관리자가 작성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44736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378913"/>
              </p:ext>
            </p:extLst>
          </p:nvPr>
        </p:nvGraphicFramePr>
        <p:xfrm>
          <a:off x="452999" y="175593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300751"/>
              </p:ext>
            </p:extLst>
          </p:nvPr>
        </p:nvGraphicFramePr>
        <p:xfrm>
          <a:off x="453000" y="446547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작성 </a:t>
            </a:r>
            <a:r>
              <a:rPr lang="ko-KR" altLang="en-US" strike="sngStrike" dirty="0" smtClean="0"/>
              <a:t>위치정보 </a:t>
            </a:r>
            <a:r>
              <a:rPr lang="en-US" altLang="ko-KR" strike="sngStrike" dirty="0" smtClean="0"/>
              <a:t>(</a:t>
            </a:r>
            <a:r>
              <a:rPr lang="ko-KR" altLang="en-US" strike="sngStrike" dirty="0" smtClean="0"/>
              <a:t>삭제</a:t>
            </a:r>
            <a:r>
              <a:rPr lang="en-US" altLang="ko-KR" strike="sngStrike" dirty="0" smtClean="0"/>
              <a:t>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7" name="직사각형 5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작성 위치정보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권한 </a:t>
            </a:r>
            <a:r>
              <a:rPr lang="ko-KR" altLang="en-US" dirty="0"/>
              <a:t>관리는 업체 대표자에게만 표시됨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업로드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디지털 캐비닛 선택 업로드로 진입하는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권한 버튼 숨김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입찰참가</a:t>
            </a:r>
            <a:r>
              <a:rPr lang="en-US" altLang="ko-KR" dirty="0"/>
              <a:t>, </a:t>
            </a:r>
            <a:r>
              <a:rPr lang="ko-KR" altLang="en-US" dirty="0"/>
              <a:t>입찰서 등을 작성할 때</a:t>
            </a:r>
            <a:r>
              <a:rPr lang="en-US" altLang="ko-KR" dirty="0"/>
              <a:t>, </a:t>
            </a:r>
            <a:r>
              <a:rPr lang="ko-KR" altLang="en-US" dirty="0"/>
              <a:t>사용자가 디지털 캐비닛의 파일첨부</a:t>
            </a:r>
            <a:r>
              <a:rPr lang="en-US" altLang="ko-KR" dirty="0"/>
              <a:t>, </a:t>
            </a:r>
            <a:r>
              <a:rPr lang="ko-KR" altLang="en-US" dirty="0"/>
              <a:t>파일업로드를 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폴더의 권한은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폴더설정권한관리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파일첨부</a:t>
            </a:r>
            <a:r>
              <a:rPr lang="en-US" altLang="ko-KR" dirty="0"/>
              <a:t>, </a:t>
            </a:r>
            <a:r>
              <a:rPr lang="ko-KR" altLang="en-US" dirty="0"/>
              <a:t>파일 업로드 </a:t>
            </a:r>
            <a:r>
              <a:rPr lang="en-US" altLang="ko-KR" dirty="0"/>
              <a:t>&gt; </a:t>
            </a:r>
            <a:r>
              <a:rPr lang="ko-KR" altLang="en-US" dirty="0"/>
              <a:t>디지털 캐비닛 선택으로 진입하는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입찰참가</a:t>
            </a:r>
            <a:r>
              <a:rPr lang="en-US" altLang="ko-KR" dirty="0" smtClean="0"/>
              <a:t>, </a:t>
            </a:r>
            <a:r>
              <a:rPr lang="ko-KR" altLang="en-US" dirty="0" smtClean="0"/>
              <a:t>입찰서 등을 작성할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사용자가 디지털 캐비닛의 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파일업로드를 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파일 첨부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입찰참가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입찰서 등에서 파일을 업로드</a:t>
            </a:r>
            <a:r>
              <a:rPr lang="en-US" altLang="ko-KR" dirty="0" smtClean="0">
                <a:solidFill>
                  <a:srgbClr val="FF0000"/>
                </a:solidFill>
              </a:rPr>
              <a:t>(</a:t>
            </a:r>
            <a:r>
              <a:rPr lang="ko-KR" altLang="en-US" dirty="0" smtClean="0">
                <a:solidFill>
                  <a:srgbClr val="FF0000"/>
                </a:solidFill>
              </a:rPr>
              <a:t>파일 첨부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ko-KR" altLang="en-US" dirty="0" smtClean="0">
                <a:solidFill>
                  <a:srgbClr val="FF0000"/>
                </a:solidFill>
              </a:rPr>
              <a:t>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사용자에게 </a:t>
            </a:r>
            <a:r>
              <a:rPr lang="ko-KR" altLang="en-US" dirty="0" err="1" smtClean="0">
                <a:solidFill>
                  <a:srgbClr val="FF0000"/>
                </a:solidFill>
              </a:rPr>
              <a:t>직접업로드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캐비닛 업로드를 할 수 있는 팝업 선택지가 노출됨</a:t>
            </a:r>
            <a:r>
              <a:rPr lang="en-US" altLang="ko-KR" dirty="0" smtClean="0">
                <a:solidFill>
                  <a:srgbClr val="FF0000"/>
                </a:solidFill>
              </a:rPr>
              <a:t>. 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사용자가 디지털 캐비닛 업로드 선택 시 캐비닛의 파일을 선택하여 업로드할 수 있는 체크박스와 </a:t>
            </a:r>
            <a:r>
              <a:rPr lang="ko-KR" altLang="en-US" dirty="0" err="1" smtClean="0">
                <a:solidFill>
                  <a:srgbClr val="FF0000"/>
                </a:solidFill>
              </a:rPr>
              <a:t>선택파일</a:t>
            </a:r>
            <a:r>
              <a:rPr lang="ko-KR" altLang="en-US" dirty="0" smtClean="0">
                <a:solidFill>
                  <a:srgbClr val="FF0000"/>
                </a:solidFill>
              </a:rPr>
              <a:t> 첨부 버튼을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캐비닛 업로드 선택 시 최초 진입은 목록 화면으로 진입하며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권한 버튼은 숨김 처리됨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사용자가 선택 여부를 확인할 수 있는 체크박스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선택 파일 첨부를 통해 신청서 작성 등의 파일 </a:t>
            </a:r>
            <a:r>
              <a:rPr lang="ko-KR" altLang="en-US" dirty="0" err="1" smtClean="0"/>
              <a:t>첨부항목에</a:t>
            </a:r>
            <a:r>
              <a:rPr lang="ko-KR" altLang="en-US" dirty="0" smtClean="0"/>
              <a:t> 선택된 캐비닛 자료 업로드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 </a:t>
            </a:r>
            <a:r>
              <a:rPr lang="ko-KR" altLang="en-US" dirty="0" err="1" smtClean="0"/>
              <a:t>파일첨부하던</a:t>
            </a:r>
            <a:r>
              <a:rPr lang="ko-KR" altLang="en-US" dirty="0" smtClean="0"/>
              <a:t> 화면으로 복귀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폴더내파일목록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선택 파일 첨부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2763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7261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5" name="그룹 54"/>
          <p:cNvGrpSpPr/>
          <p:nvPr/>
        </p:nvGrpSpPr>
        <p:grpSpPr>
          <a:xfrm rot="5400000">
            <a:off x="3881704" y="1640499"/>
            <a:ext cx="94010" cy="47005"/>
            <a:chOff x="6812560" y="3297172"/>
            <a:chExt cx="94010" cy="47005"/>
          </a:xfrm>
        </p:grpSpPr>
        <p:cxnSp>
          <p:nvCxnSpPr>
            <p:cNvPr id="62" name="직선 연결선 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타원 69"/>
          <p:cNvSpPr/>
          <p:nvPr/>
        </p:nvSpPr>
        <p:spPr>
          <a:xfrm>
            <a:off x="6171228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/>
          <p:cNvSpPr txBox="1"/>
          <p:nvPr/>
        </p:nvSpPr>
        <p:spPr>
          <a:xfrm>
            <a:off x="6119977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9672" y="4874158"/>
            <a:ext cx="76863" cy="292489"/>
            <a:chOff x="3750067" y="4683795"/>
            <a:chExt cx="76863" cy="292489"/>
          </a:xfrm>
        </p:grpSpPr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3908152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209534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99316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107311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46505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/>
          <p:cNvSpPr/>
          <p:nvPr/>
        </p:nvSpPr>
        <p:spPr>
          <a:xfrm>
            <a:off x="3910377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1" name="그룹 110"/>
          <p:cNvGrpSpPr/>
          <p:nvPr/>
        </p:nvGrpSpPr>
        <p:grpSpPr>
          <a:xfrm>
            <a:off x="6270239" y="2279636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028158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444097"/>
            <a:ext cx="108000" cy="108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V</a:t>
            </a:r>
            <a:endParaRPr kumimoji="1" lang="en-US" sz="7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861946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4277885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141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이해를 돕기 위해 디지털 캐비닛에서 파일을 첨부하는 화면을 추가함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27835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선택된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사용중인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MUI-CM-01-M02 </a:t>
            </a:r>
            <a:r>
              <a:rPr lang="ko-KR" altLang="en-US" dirty="0" smtClean="0"/>
              <a:t>업체정보상세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MUI-CM-01-M03 </a:t>
            </a:r>
            <a:r>
              <a:rPr lang="ko-KR" altLang="en-US" dirty="0" smtClean="0"/>
              <a:t>추가정보신청목록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이동없음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담당자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MUI-CM-01-M05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물품 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MUI-CM-01-M22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국내소재상사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군수품무역대리업 신청 및 발급 목록 </a:t>
            </a:r>
            <a:r>
              <a:rPr lang="en-US" altLang="ko-KR" dirty="0" smtClean="0"/>
              <a:t>MUI-CM-01-M15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목록 </a:t>
            </a:r>
            <a:r>
              <a:rPr lang="en-US" altLang="ko-KR" dirty="0" smtClean="0"/>
              <a:t>MUI-CM-01-M19</a:t>
            </a:r>
            <a:br>
              <a:rPr lang="en-US" altLang="ko-KR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국내 조달원 확인서 신청 </a:t>
            </a:r>
            <a:r>
              <a:rPr lang="en-US" altLang="ko-KR" strike="sngStrike" dirty="0"/>
              <a:t>MUI-CM-01-P20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 조달원등록증 </a:t>
            </a:r>
            <a:r>
              <a:rPr lang="ko-KR" altLang="en-US" dirty="0" smtClean="0"/>
              <a:t>신청안내 </a:t>
            </a:r>
            <a:r>
              <a:rPr lang="en-US" altLang="ko-KR" dirty="0" smtClean="0"/>
              <a:t>MUI-CM-01-P21</a:t>
            </a: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 및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79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조달원 등록증 신청 안내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09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75" name="그룹 74"/>
          <p:cNvGrpSpPr/>
          <p:nvPr/>
        </p:nvGrpSpPr>
        <p:grpSpPr>
          <a:xfrm>
            <a:off x="8223250" y="792718"/>
            <a:ext cx="3365500" cy="634511"/>
            <a:chOff x="8223250" y="569392"/>
            <a:chExt cx="3365500" cy="634511"/>
          </a:xfrm>
        </p:grpSpPr>
        <p:sp>
          <p:nvSpPr>
            <p:cNvPr id="76" name="직사각형 7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2026-08-06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smtClean="0"/>
                <a:t>국내 조달원 확인서 신청과 목록을 통합함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콘텐츠 표시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670228" y="2529918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75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675399" y="2828741"/>
            <a:ext cx="2712027" cy="354413"/>
            <a:chOff x="675399" y="2506644"/>
            <a:chExt cx="2712027" cy="354413"/>
          </a:xfrm>
        </p:grpSpPr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949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0172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680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</p:grp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3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25" name="평행 사변형 124"/>
          <p:cNvSpPr/>
          <p:nvPr/>
        </p:nvSpPr>
        <p:spPr>
          <a:xfrm rot="16200000" flipH="1">
            <a:off x="2746018" y="2133438"/>
            <a:ext cx="1691129" cy="408308"/>
          </a:xfrm>
          <a:prstGeom prst="parallelogram">
            <a:avLst>
              <a:gd name="adj" fmla="val 328517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51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20" name="그룹 119"/>
          <p:cNvGrpSpPr/>
          <p:nvPr/>
        </p:nvGrpSpPr>
        <p:grpSpPr>
          <a:xfrm>
            <a:off x="8223250" y="954919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3" name="직사각형 12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나라장터 갱신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업체일반</a:t>
            </a:r>
            <a:r>
              <a:rPr lang="ko-KR" altLang="en-US" dirty="0" smtClean="0"/>
              <a:t>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사업구분은</a:t>
            </a:r>
            <a:r>
              <a:rPr lang="ko-KR" altLang="en-US" dirty="0" smtClean="0"/>
              <a:t> 여러 개 노출될 수 있음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데이터가 없는 경우 표시 정보 데이터 확인이 필요함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61472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1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554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554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5215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5543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554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271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1857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3528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390777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일반 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수의계약 배제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 smtClean="0"/>
              <a:t>개월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배제된 정보가 없는 경우 표시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수의계약에 배제된 사실이 없습니다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11781" y="1909918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0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8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8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54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8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8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5021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8565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5460" y="16399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0787" y="163994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1781" y="18565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893012" y="163994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58093" y="163994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82" name="그룹 181"/>
          <p:cNvGrpSpPr/>
          <p:nvPr/>
        </p:nvGrpSpPr>
        <p:grpSpPr>
          <a:xfrm>
            <a:off x="3828452" y="1903968"/>
            <a:ext cx="2630093" cy="1169259"/>
            <a:chOff x="720490" y="2967388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대표자영문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abcde@dapa.go.kr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51969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3566683"/>
            <a:ext cx="2630093" cy="966004"/>
            <a:chOff x="720490" y="2967388"/>
            <a:chExt cx="2630093" cy="966004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6463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9668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25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15386" y="1952353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4272" y="4264461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5567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1084"/>
              </p:ext>
            </p:extLst>
          </p:nvPr>
        </p:nvGraphicFramePr>
        <p:xfrm>
          <a:off x="425692" y="50317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783636"/>
              </p:ext>
            </p:extLst>
          </p:nvPr>
        </p:nvGraphicFramePr>
        <p:xfrm>
          <a:off x="458117" y="1022781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</a:t>
            </a:r>
            <a:r>
              <a:rPr lang="ko-KR" altLang="en-US" dirty="0" smtClean="0"/>
              <a:t>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5012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556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9333" y="163908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4660" y="163908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408018" y="185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16885" y="163908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1966" y="163908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483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2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90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902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902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902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1941610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3237467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750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790431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923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41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4417833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479652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448438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18556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2" name="직사각형 1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시설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09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70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022056" y="1855314"/>
            <a:ext cx="185793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70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70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108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9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741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741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741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741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1961775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2857690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4365750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991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1854026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63088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6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국내소재상사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6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6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602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602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346458" y="1852629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602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602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2925419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53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31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31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31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9713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1992290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1929674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1952839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17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498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해외관련</a:t>
            </a:r>
            <a:r>
              <a:rPr lang="ko-KR" altLang="en-US" dirty="0" smtClean="0"/>
              <a:t> 업체 정보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4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87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215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215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8758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215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215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46" name="그룹 145"/>
          <p:cNvGrpSpPr/>
          <p:nvPr/>
        </p:nvGrpSpPr>
        <p:grpSpPr>
          <a:xfrm>
            <a:off x="716366" y="1925803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1785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255073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316891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32162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8" name="직사각형 4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  <p:sp>
        <p:nvSpPr>
          <p:cNvPr id="43" name="타원 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2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서류 </a:t>
            </a:r>
            <a:r>
              <a:rPr lang="ko-KR" altLang="en-US" dirty="0"/>
              <a:t>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</a:t>
            </a:r>
            <a:r>
              <a:rPr lang="ko-KR" altLang="en-US" dirty="0" smtClean="0"/>
              <a:t>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MUI-CM-01-P20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국내 조달원 </a:t>
            </a:r>
            <a:r>
              <a:rPr lang="ko-KR" altLang="en-US" sz="800" dirty="0">
                <a:latin typeface="+mn-ea"/>
              </a:rPr>
              <a:t>확인서 신청 </a:t>
            </a:r>
            <a:r>
              <a:rPr lang="ko-KR" altLang="en-US" sz="800" dirty="0" smtClean="0">
                <a:latin typeface="+mn-ea"/>
              </a:rPr>
              <a:t>및 목록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</a:t>
            </a:r>
            <a:r>
              <a:rPr lang="ko-KR" altLang="en-US" sz="9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확인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업체정보관리에서 진입한 경우 신청목록으로 이동</a:t>
            </a:r>
            <a:r>
              <a:rPr lang="en-US" altLang="ko-KR" strike="sngStrike" dirty="0" smtClean="0"/>
              <a:t>. </a:t>
            </a:r>
            <a:r>
              <a:rPr lang="en-US" altLang="ko-KR" strike="sngStrike" dirty="0"/>
              <a:t>MUI-CM-01-M03</a:t>
            </a:r>
            <a:endParaRPr lang="ko-KR" altLang="en-US" strike="sngStrike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/>
              <a:t>상태값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</a:t>
            </a:r>
            <a:r>
              <a:rPr lang="en-US" altLang="ko-KR" dirty="0" smtClean="0">
                <a:latin typeface="+mn-ea"/>
              </a:rPr>
              <a:t>’)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상태값에</a:t>
            </a:r>
            <a:r>
              <a:rPr lang="ko-KR" altLang="en-US" dirty="0" smtClean="0"/>
              <a:t> 상관 없이 상세 페이지 진입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MUI-CM-01-T05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신청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MUI-CM-01-T06 </a:t>
            </a:r>
            <a:r>
              <a:rPr lang="ko-KR" altLang="en-US" dirty="0" smtClean="0"/>
              <a:t>국내소재상사신청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담당자 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 건의 경우 목록에 표시하지 않음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기본값 </a:t>
            </a:r>
            <a:r>
              <a:rPr lang="en-US" altLang="ko-KR" dirty="0" smtClean="0"/>
              <a:t>1</a:t>
            </a:r>
            <a:r>
              <a:rPr lang="ko-KR" altLang="en-US" dirty="0" smtClean="0"/>
              <a:t>개월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처리 </a:t>
            </a:r>
            <a:r>
              <a:rPr lang="ko-KR" altLang="en-US" dirty="0" err="1" smtClean="0"/>
              <a:t>상태값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(‘F’)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smtClean="0">
                <a:latin typeface="+mn-ea"/>
              </a:rPr>
              <a:t>추가정보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목록의 </a:t>
            </a:r>
            <a:r>
              <a:rPr lang="ko-KR" altLang="en-US" dirty="0" err="1" smtClean="0">
                <a:latin typeface="+mn-ea"/>
              </a:rPr>
              <a:t>검색필터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목록과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</a:t>
              </a:r>
              <a:r>
                <a:rPr lang="en-US" altLang="ko-KR" sz="700" dirty="0" smtClean="0"/>
                <a:t> </a:t>
              </a:r>
              <a:r>
                <a:rPr lang="ko-KR" altLang="en-US" sz="700" dirty="0" smtClean="0"/>
                <a:t>분리</a:t>
              </a:r>
              <a:r>
                <a:rPr lang="en-US" altLang="ko-KR" sz="700" dirty="0" smtClean="0"/>
                <a:t> </a:t>
              </a:r>
              <a:endParaRPr lang="ko-KR" altLang="en-US" sz="700" dirty="0"/>
            </a:p>
          </p:txBody>
        </p:sp>
      </p:grp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76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3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5739633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534866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169259"/>
            <a:chOff x="720490" y="4465173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8617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기관명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4988057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</a:t>
            </a:r>
            <a:r>
              <a:rPr lang="ko-KR" altLang="en-US" dirty="0" smtClean="0">
                <a:latin typeface="+mn-ea"/>
              </a:rPr>
              <a:t>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126752"/>
              </p:ext>
            </p:extLst>
          </p:nvPr>
        </p:nvGraphicFramePr>
        <p:xfrm>
          <a:off x="453000" y="107883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담당자 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MUI-CM-01-P06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MUI-CM-01-P07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물품 </a:t>
            </a:r>
            <a:r>
              <a:rPr lang="en-US" altLang="ko-KR" sz="800" dirty="0">
                <a:latin typeface="+mn-ea"/>
              </a:rPr>
              <a:t>(</a:t>
            </a:r>
            <a:r>
              <a:rPr lang="ko-KR" altLang="en-US" sz="800" dirty="0">
                <a:latin typeface="+mn-ea"/>
              </a:rPr>
              <a:t>내자</a:t>
            </a:r>
            <a:r>
              <a:rPr lang="en-US" altLang="ko-KR" sz="800" dirty="0">
                <a:latin typeface="+mn-ea"/>
              </a:rPr>
              <a:t>) </a:t>
            </a:r>
            <a:r>
              <a:rPr lang="ko-KR" altLang="en-US" sz="800" dirty="0">
                <a:latin typeface="+mn-ea"/>
              </a:rPr>
              <a:t>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</a:t>
            </a:r>
            <a:r>
              <a:rPr lang="ko-KR" altLang="en-US" dirty="0" smtClean="0"/>
              <a:t>되돌림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초기화 되었습니다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목록에서 검색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MUI-CM-01-P08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on/off </a:t>
            </a:r>
            <a:r>
              <a:rPr lang="ko-KR" altLang="en-US" dirty="0" err="1" smtClean="0"/>
              <a:t>토글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>
                <a:latin typeface="+mn-ea"/>
              </a:rPr>
              <a:t>MUI-CM-01-P09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국내소재상사 정보 </a:t>
            </a:r>
            <a:r>
              <a:rPr lang="ko-KR" altLang="en-US" sz="800" dirty="0" err="1">
                <a:latin typeface="+mn-ea"/>
              </a:rPr>
              <a:t>추가등록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</a:t>
            </a:r>
            <a:r>
              <a:rPr lang="ko-KR" altLang="en-US" dirty="0" smtClean="0"/>
              <a:t>닫힘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</a:t>
            </a:r>
            <a:r>
              <a:rPr lang="ko-KR" altLang="en-US" dirty="0" smtClean="0"/>
              <a:t>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 </a:t>
            </a:r>
            <a:r>
              <a:rPr lang="en-US" altLang="ko-KR" dirty="0" smtClean="0"/>
              <a:t>MUI-CM-01-P13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</a:t>
            </a:r>
            <a:r>
              <a:rPr lang="ko-KR" altLang="en-US" dirty="0" smtClean="0"/>
              <a:t>프로세스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</a:t>
            </a:r>
            <a:r>
              <a:rPr lang="ko-KR" altLang="en-US" dirty="0" smtClean="0"/>
              <a:t>등록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MUI-CM-01-P10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</a:t>
            </a:r>
            <a:r>
              <a:rPr lang="ko-KR" altLang="en-US" dirty="0" smtClean="0"/>
              <a:t>삭제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뷰어 솔루션 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449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44783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527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71021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067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56429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791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50335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50335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52989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법인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52989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개인</a:t>
            </a: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2618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359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622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795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52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892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02762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30161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1596718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1710049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19042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038216"/>
            <a:ext cx="2630093" cy="1391691"/>
            <a:chOff x="3836700" y="3066437"/>
            <a:chExt cx="2630093" cy="1391691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6016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166009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297" y="61640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232" y="582104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132" name="직사각형 1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2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87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32151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FSC </a:t>
            </a:r>
            <a:r>
              <a:rPr lang="ko-KR" altLang="en-US" dirty="0" smtClean="0"/>
              <a:t>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MUI-CM-01-P11</a:t>
            </a:r>
            <a:br>
              <a:rPr lang="en-US" altLang="ko-KR" dirty="0" smtClean="0"/>
            </a:br>
            <a:r>
              <a:rPr lang="ko-KR" altLang="en-US" dirty="0" smtClean="0"/>
              <a:t>선택 삭제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목록 선택 사항 삭제 확인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없이 선택 삭제 버튼 클릭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선택 항목이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주거래은행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MUI-CM-01-P12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팝업 없음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동의 체크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397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257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39288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724917"/>
              </p:ext>
            </p:extLst>
          </p:nvPr>
        </p:nvGraphicFramePr>
        <p:xfrm>
          <a:off x="458117" y="52810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캐비닛 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호출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첨부파일 명 입력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업로드 파일 삭제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677031"/>
            <a:chOff x="3836700" y="3380909"/>
            <a:chExt cx="2630093" cy="677031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6770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28613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2873752"/>
            <a:ext cx="134873" cy="137278"/>
          </a:xfrm>
          <a:prstGeom prst="rect">
            <a:avLst/>
          </a:prstGeom>
        </p:spPr>
      </p:pic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6606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718956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18475"/>
              </p:ext>
            </p:extLst>
          </p:nvPr>
        </p:nvGraphicFramePr>
        <p:xfrm>
          <a:off x="453000" y="101323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6084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 smtClean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</a:t>
            </a:r>
            <a:r>
              <a:rPr lang="ko-KR" altLang="en-US" dirty="0" smtClean="0"/>
              <a:t>지연이 </a:t>
            </a:r>
            <a:r>
              <a:rPr lang="ko-KR" altLang="en-US" dirty="0"/>
              <a:t>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 smtClean="0"/>
              <a:t>로딩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등록증 </a:t>
            </a:r>
            <a:r>
              <a:rPr lang="ko-KR" altLang="en-US" dirty="0" err="1" smtClean="0"/>
              <a:t>오즈리포트</a:t>
            </a:r>
            <a:r>
              <a:rPr lang="ko-KR" altLang="en-US" dirty="0" smtClean="0"/>
              <a:t>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UI-CM-01-R26 </a:t>
            </a:r>
            <a:r>
              <a:rPr lang="ko-KR" altLang="en-US" dirty="0" err="1"/>
              <a:t>군수품무역대리업등록증출력물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744635"/>
            <a:ext cx="2446613" cy="314008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군수품무역대리업 등록증 발급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9" name="직사각형 8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등록증 발급 버튼 추가</a:t>
              </a:r>
              <a:endParaRPr lang="en-US" altLang="ko-KR" sz="700" dirty="0"/>
            </a:p>
          </p:txBody>
        </p:sp>
      </p:grp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86" y="58014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</a:t>
            </a:r>
            <a:r>
              <a:rPr lang="ko-KR" altLang="en-US" dirty="0" smtClean="0"/>
              <a:t>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해당 항목을 선택하여 파일 첨부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711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762410"/>
            <a:chOff x="720490" y="4465173"/>
            <a:chExt cx="2630093" cy="762410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4549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179698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81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>
              <a:gd name="adj1" fmla="val 7735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1" name="그룹 110"/>
          <p:cNvGrpSpPr/>
          <p:nvPr/>
        </p:nvGrpSpPr>
        <p:grpSpPr>
          <a:xfrm>
            <a:off x="8223250" y="54307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기간 정보 수정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반려 사유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 smtClean="0"/>
              <a:t>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행정정보 공동이용 동의서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바텀시트로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행정정보 공동이용 동의서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본인은 </a:t>
            </a:r>
            <a:r>
              <a:rPr lang="ko-KR" altLang="en-US" dirty="0"/>
              <a:t>이 건 업무처리와 관련하여 담당 공무원이 </a:t>
            </a:r>
            <a:r>
              <a:rPr lang="en-US" altLang="ko-KR" dirty="0"/>
              <a:t>"</a:t>
            </a:r>
            <a:r>
              <a:rPr lang="ko-KR" altLang="en-US" dirty="0" err="1"/>
              <a:t>전자정부법</a:t>
            </a:r>
            <a:r>
              <a:rPr lang="en-US" altLang="ko-KR" dirty="0"/>
              <a:t>" </a:t>
            </a:r>
            <a:r>
              <a:rPr lang="ko-KR" altLang="en-US" dirty="0"/>
              <a:t>제</a:t>
            </a:r>
            <a:r>
              <a:rPr lang="en-US" altLang="ko-KR" dirty="0"/>
              <a:t>36</a:t>
            </a:r>
            <a:r>
              <a:rPr lang="ko-KR" altLang="en-US" dirty="0"/>
              <a:t>조제</a:t>
            </a:r>
            <a:r>
              <a:rPr lang="en-US" altLang="ko-KR" dirty="0"/>
              <a:t>1</a:t>
            </a:r>
            <a:r>
              <a:rPr lang="ko-KR" altLang="en-US" dirty="0"/>
              <a:t>항에 따른 행정정보의 공동이용을 통하여 위의 담당공무원 </a:t>
            </a:r>
            <a:r>
              <a:rPr lang="ko-KR" altLang="en-US" dirty="0" err="1"/>
              <a:t>확인사항</a:t>
            </a:r>
            <a:r>
              <a:rPr lang="ko-KR" altLang="en-US" dirty="0"/>
              <a:t> 중 </a:t>
            </a:r>
            <a:r>
              <a:rPr lang="ko-KR" altLang="en-US" dirty="0" err="1"/>
              <a:t>주민등록표</a:t>
            </a:r>
            <a:r>
              <a:rPr lang="ko-KR" altLang="en-US" dirty="0"/>
              <a:t> 등본</a:t>
            </a:r>
            <a:r>
              <a:rPr lang="en-US" altLang="ko-KR" dirty="0"/>
              <a:t>, </a:t>
            </a:r>
            <a:r>
              <a:rPr lang="ko-KR" altLang="en-US" dirty="0"/>
              <a:t>사업자등록증을 </a:t>
            </a:r>
            <a:r>
              <a:rPr lang="ko-KR" altLang="en-US" dirty="0" err="1"/>
              <a:t>확인하는것에</a:t>
            </a:r>
            <a:r>
              <a:rPr lang="ko-KR" altLang="en-US" dirty="0"/>
              <a:t> 동의합니다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동의하지 </a:t>
            </a:r>
            <a:r>
              <a:rPr lang="ko-KR" altLang="en-US" dirty="0"/>
              <a:t>아니하는 경우에는 신청인이 직접 관련 서류를 제출하여야 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동의안함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동의함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52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12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78" name="모서리가 둥근 직사각형 77"/>
          <p:cNvSpPr/>
          <p:nvPr/>
        </p:nvSpPr>
        <p:spPr>
          <a:xfrm>
            <a:off x="3874040" y="2020963"/>
            <a:ext cx="2543426" cy="1285781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77120" y="2082782"/>
            <a:ext cx="2154318" cy="11310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도움말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심사대기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심사전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수정대기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보안측정인원 첨부파일 </a:t>
            </a:r>
            <a:r>
              <a:rPr lang="ko-KR" altLang="en-US" sz="700" dirty="0" err="1">
                <a:latin typeface="Consolas" panose="020B0609020204030204" pitchFamily="49" charset="0"/>
              </a:rPr>
              <a:t>수정제출한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승인완료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발급완료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</p:txBody>
      </p:sp>
      <p:sp>
        <p:nvSpPr>
          <p:cNvPr id="80" name="타원 79"/>
          <p:cNvSpPr/>
          <p:nvPr/>
        </p:nvSpPr>
        <p:spPr>
          <a:xfrm>
            <a:off x="3947179" y="20875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 flipV="1">
            <a:off x="6253053" y="2157996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4" name="그룹 83"/>
          <p:cNvGrpSpPr/>
          <p:nvPr/>
        </p:nvGrpSpPr>
        <p:grpSpPr>
          <a:xfrm>
            <a:off x="8223250" y="896370"/>
            <a:ext cx="3365500" cy="634511"/>
            <a:chOff x="8223250" y="569392"/>
            <a:chExt cx="3365500" cy="634511"/>
          </a:xfrm>
        </p:grpSpPr>
        <p:sp>
          <p:nvSpPr>
            <p:cNvPr id="85" name="직사각형 8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심사대기</a:t>
              </a:r>
              <a:r>
                <a:rPr lang="ko-KR" altLang="en-US" sz="700" dirty="0" smtClean="0"/>
                <a:t> 등 도움말 항목으로 변경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동의서 내용 팝업에서 노출되는 방식으로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553688"/>
              </p:ext>
            </p:extLst>
          </p:nvPr>
        </p:nvGraphicFramePr>
        <p:xfrm>
          <a:off x="453000" y="477183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638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760616"/>
            <a:chOff x="720490" y="4465173"/>
            <a:chExt cx="2630093" cy="76061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4531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17243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0" name="그룹 99"/>
          <p:cNvGrpSpPr/>
          <p:nvPr/>
        </p:nvGrpSpPr>
        <p:grpSpPr>
          <a:xfrm>
            <a:off x="8223250" y="543072"/>
            <a:ext cx="3365500" cy="634511"/>
            <a:chOff x="8223250" y="569392"/>
            <a:chExt cx="3365500" cy="634511"/>
          </a:xfrm>
        </p:grpSpPr>
        <p:sp>
          <p:nvSpPr>
            <p:cNvPr id="102" name="직사각형 10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기간 정보 수정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반려 사유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61590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4" name="직사각형 7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6" name="모서리가 둥근 직사각형 75"/>
          <p:cNvSpPr/>
          <p:nvPr/>
        </p:nvSpPr>
        <p:spPr>
          <a:xfrm>
            <a:off x="3874040" y="1566003"/>
            <a:ext cx="2543426" cy="1285781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77120" y="1627822"/>
            <a:ext cx="2154318" cy="11310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도움말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심사대기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심사전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수정대기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보안측정인원 첨부파일 </a:t>
            </a:r>
            <a:r>
              <a:rPr lang="ko-KR" altLang="en-US" sz="700" dirty="0" err="1">
                <a:latin typeface="Consolas" panose="020B0609020204030204" pitchFamily="49" charset="0"/>
              </a:rPr>
              <a:t>수정제출한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승인완료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발급완료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</p:txBody>
      </p:sp>
      <p:sp>
        <p:nvSpPr>
          <p:cNvPr id="78" name="타원 77"/>
          <p:cNvSpPr/>
          <p:nvPr/>
        </p:nvSpPr>
        <p:spPr>
          <a:xfrm>
            <a:off x="3947179" y="163255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9" name="그룹 78"/>
          <p:cNvGrpSpPr/>
          <p:nvPr/>
        </p:nvGrpSpPr>
        <p:grpSpPr>
          <a:xfrm flipV="1">
            <a:off x="6253053" y="1703036"/>
            <a:ext cx="94010" cy="47005"/>
            <a:chOff x="6812560" y="3297172"/>
            <a:chExt cx="94010" cy="47005"/>
          </a:xfrm>
        </p:grpSpPr>
        <p:cxnSp>
          <p:nvCxnSpPr>
            <p:cNvPr id="80" name="직선 연결선 7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1" name="직선 연결선 8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8223250" y="80257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도움말 신규</a:t>
              </a: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갱신</a:t>
              </a:r>
              <a:r>
                <a:rPr lang="en-US" altLang="ko-KR" sz="700" dirty="0" smtClean="0"/>
                <a:t>)</a:t>
              </a:r>
              <a:r>
                <a:rPr lang="ko-KR" altLang="en-US" sz="700" dirty="0" smtClean="0"/>
                <a:t>과 통일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03313"/>
              </p:ext>
            </p:extLst>
          </p:nvPr>
        </p:nvGraphicFramePr>
        <p:xfrm>
          <a:off x="455558" y="482318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생체 인증 </a:t>
            </a:r>
            <a:r>
              <a:rPr lang="en-US" altLang="ko-KR" dirty="0" smtClean="0"/>
              <a:t>MUI-CM-02-M02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개인정보 상세 </a:t>
            </a:r>
            <a:r>
              <a:rPr lang="en-US" altLang="ko-KR" dirty="0" smtClean="0"/>
              <a:t>MUI-CM-02-M03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변경 </a:t>
            </a:r>
            <a:r>
              <a:rPr lang="en-US" altLang="ko-KR" dirty="0" smtClean="0"/>
              <a:t>MUI-CM-02-M05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개인신원확인 </a:t>
            </a:r>
            <a:r>
              <a:rPr lang="en-US" altLang="ko-KR" dirty="0" smtClean="0"/>
              <a:t>MUI-CM-02-M06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회원탈퇴 </a:t>
            </a:r>
            <a:r>
              <a:rPr lang="en-US" altLang="ko-KR" dirty="0"/>
              <a:t>MUI-CM-02-P10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</a:t>
            </a:r>
            <a:r>
              <a:rPr lang="ko-KR" altLang="en-US" dirty="0" smtClean="0"/>
              <a:t>목록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MUI-CM-02-M07</a:t>
            </a:r>
            <a:br>
              <a:rPr lang="en-US" altLang="ko-KR" dirty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03947" y="48218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</a:t>
            </a:r>
            <a:r>
              <a:rPr lang="ko-KR" altLang="en-US" dirty="0" smtClean="0"/>
              <a:t>진행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실패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생체인증에</a:t>
            </a:r>
            <a:r>
              <a:rPr lang="ko-KR" altLang="en-US" dirty="0" smtClean="0"/>
              <a:t> 실패했습니다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실패 시 유효성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비밀번호를 정확히 입력해주세요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비밀번호인증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23916" y="300017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023916" y="240044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4023916" y="179327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582017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903581" y="27841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모서리가 둥근 직사각형 60"/>
          <p:cNvSpPr/>
          <p:nvPr/>
        </p:nvSpPr>
        <p:spPr>
          <a:xfrm>
            <a:off x="903581" y="339134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모서리가 둥근 직사각형 61"/>
          <p:cNvSpPr/>
          <p:nvPr/>
        </p:nvSpPr>
        <p:spPr>
          <a:xfrm>
            <a:off x="903581" y="5229249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903581" y="4622079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400671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03581" y="217700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</a:t>
            </a:r>
            <a:r>
              <a:rPr lang="ko-KR" altLang="en-US" dirty="0" smtClean="0"/>
              <a:t>조회만 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 불가능</a:t>
            </a:r>
            <a:r>
              <a:rPr lang="en-US" altLang="ko-KR" dirty="0" smtClean="0"/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</a:t>
            </a:r>
            <a:r>
              <a:rPr lang="ko-KR" altLang="en-US" dirty="0" smtClean="0"/>
              <a:t>수정된 개인정보를 저장하고 개인정보 </a:t>
            </a:r>
            <a:r>
              <a:rPr lang="ko-KR" altLang="en-US" dirty="0"/>
              <a:t>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변경 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체크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동일한 비밀번호를 다시 한번 입력해주세요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유효성 메시지 </a:t>
            </a:r>
            <a:r>
              <a:rPr lang="en-US" altLang="ko-KR" dirty="0"/>
              <a:t>– </a:t>
            </a:r>
            <a:r>
              <a:rPr lang="ko-KR" altLang="en-US" dirty="0" smtClean="0"/>
              <a:t>입력 불가능한 특수문자를 제외하고 비밀번호를 입력해주세요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비밀번호는 </a:t>
            </a:r>
            <a:r>
              <a:rPr lang="en-US" altLang="ko-KR" dirty="0" smtClean="0"/>
              <a:t>9~16</a:t>
            </a:r>
            <a:r>
              <a:rPr lang="ko-KR" altLang="en-US" dirty="0" smtClean="0"/>
              <a:t>자로 숫자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영문 소문자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특수문자 조합으로 입력해주세요</a:t>
            </a:r>
            <a:r>
              <a:rPr lang="en-US" altLang="ko-KR" dirty="0" smtClean="0"/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0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이름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824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</a:t>
            </a:r>
            <a:r>
              <a:rPr lang="ko-KR" altLang="en-US" dirty="0" smtClean="0"/>
              <a:t>팝업 </a:t>
            </a:r>
            <a:r>
              <a:rPr lang="en-US" altLang="ko-KR" dirty="0"/>
              <a:t>MUI-CM-04-P18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 smtClean="0">
                <a:latin typeface="+mn-ea"/>
              </a:rPr>
              <a:t>인증서관리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>
                <a:latin typeface="+mn-ea"/>
              </a:rPr>
              <a:t>인증서확인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MUI-CM-02-P11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</a:t>
            </a:r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암호를 정확히 입력해주세요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812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826603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80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4428555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5952149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3387426" y="2016004"/>
            <a:ext cx="33113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6" name="직사각형 8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상태 변경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대상 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/>
              <a:t>MUI-CM-02-M03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284901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9238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D2b_NoticeDtlPage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12182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Dmdfrc_NoticeListPage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37020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Dmdfrc_NoticeDtlPage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17471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RpstrList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06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0849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914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3490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617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51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9212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9403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자주묻는질문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419990"/>
              </p:ext>
            </p:extLst>
          </p:nvPr>
        </p:nvGraphicFramePr>
        <p:xfrm>
          <a:off x="635474" y="1413419"/>
          <a:ext cx="8701200" cy="5155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MUI-CM-04-M04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민원서류발급신청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민원서류발급신청 서브 메인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307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신청절차및안내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MUI-CM-04-P33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 목록의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283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실적증명서확인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상세 화면의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0559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D2b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44376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7881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PrfmncPrdocDtl_UnitC.tsx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76882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PrfmncPrdocDtl_UnitD.tsx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60540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PrfmncPrdocDtl_UnitE.tsx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1597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PrfmncPrdocDtl_UnitF.tsx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4298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PrfmncPrdocDtl_UnitG.tsx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980613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2026-07-16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민원서류발급신청 서브 메인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84203072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0685702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PrfmncPrdocDtl_UnitH.tsx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9813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PrfmncPrdocDtl_UnitI.tsx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242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AplyInfo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94369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실적증명서제출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PrfmncPrdocSbmsn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MUI-CM-04-M10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계약정보선택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발급할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목록에서 계약을 검색할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34202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926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계약건에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맞는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분기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92098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23809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2026-08-19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오류 수정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MUI-CM-04-M10 </a:t>
              </a:r>
              <a:r>
                <a:rPr lang="ko-KR" altLang="en-US" sz="700" dirty="0">
                  <a:latin typeface="+mn-ea"/>
                </a:rPr>
                <a:t>계약정보선택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58999323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948814"/>
              </p:ext>
            </p:extLst>
          </p:nvPr>
        </p:nvGraphicFramePr>
        <p:xfrm>
          <a:off x="635474" y="1413419"/>
          <a:ext cx="8701200" cy="5083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7219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9511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05098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484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567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8370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계약건에 맞는 실적 정보 입력 분기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4757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07414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국외조달원등록증신청목록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국외조달원등록증신청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조달업체선택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법령정보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정보 목록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589793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16871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2359775" y="174114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322746" y="15872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16871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4397769" y="183114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92881" y="309704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721878" y="290638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7" idx="1"/>
          </p:cNvCxnSpPr>
          <p:nvPr/>
        </p:nvCxnSpPr>
        <p:spPr>
          <a:xfrm>
            <a:off x="2566635" y="1831144"/>
            <a:ext cx="833027" cy="140533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6" idx="1"/>
          </p:cNvCxnSpPr>
          <p:nvPr/>
        </p:nvCxnSpPr>
        <p:spPr>
          <a:xfrm>
            <a:off x="2566635" y="1831144"/>
            <a:ext cx="931134" cy="3422572"/>
          </a:xfrm>
          <a:prstGeom prst="bentConnector3">
            <a:avLst>
              <a:gd name="adj1" fmla="val 442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04" idx="2"/>
          </p:cNvCxnSpPr>
          <p:nvPr/>
        </p:nvCxnSpPr>
        <p:spPr>
          <a:xfrm flipV="1">
            <a:off x="6327010" y="2996388"/>
            <a:ext cx="1394868" cy="24009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5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8" name="그룹 5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7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21760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방위사업청공지사항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21760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26650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수요부대별공지사항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26650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수요부대별공지사항상세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31539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31539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일반자료실상세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36429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364290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수요부대별자료실상세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41318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계약관련서식자료실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41318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계약관련서식자료실상세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46207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시스템개선안내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328903" y="46207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시스템개선안내상세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510971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자주묻는질문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99662" y="1469920"/>
            <a:ext cx="1096214" cy="353312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게시판 목록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30796" y="1469920"/>
            <a:ext cx="1096214" cy="3533121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게시판 </a:t>
            </a:r>
            <a:r>
              <a:rPr lang="ko-KR" altLang="en-US" sz="800" b="1" dirty="0" smtClean="0">
                <a:solidFill>
                  <a:schemeClr val="tx1"/>
                </a:solidFill>
              </a:rPr>
              <a:t>상세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6" idx="3"/>
            <a:endCxn id="104" idx="2"/>
          </p:cNvCxnSpPr>
          <p:nvPr/>
        </p:nvCxnSpPr>
        <p:spPr>
          <a:xfrm flipV="1">
            <a:off x="4397769" y="2996388"/>
            <a:ext cx="3324109" cy="2257328"/>
          </a:xfrm>
          <a:prstGeom prst="bentConnector3">
            <a:avLst>
              <a:gd name="adj1" fmla="val 7911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79" idx="1"/>
          </p:cNvCxnSpPr>
          <p:nvPr/>
        </p:nvCxnSpPr>
        <p:spPr>
          <a:xfrm>
            <a:off x="4397769" y="232009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83" idx="1"/>
          </p:cNvCxnSpPr>
          <p:nvPr/>
        </p:nvCxnSpPr>
        <p:spPr>
          <a:xfrm>
            <a:off x="4397769" y="280903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4" idx="3"/>
            <a:endCxn id="85" idx="1"/>
          </p:cNvCxnSpPr>
          <p:nvPr/>
        </p:nvCxnSpPr>
        <p:spPr>
          <a:xfrm>
            <a:off x="4397769" y="329796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7" idx="3"/>
            <a:endCxn id="88" idx="1"/>
          </p:cNvCxnSpPr>
          <p:nvPr/>
        </p:nvCxnSpPr>
        <p:spPr>
          <a:xfrm>
            <a:off x="4397769" y="378690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90" idx="1"/>
          </p:cNvCxnSpPr>
          <p:nvPr/>
        </p:nvCxnSpPr>
        <p:spPr>
          <a:xfrm>
            <a:off x="4397769" y="427584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95" idx="1"/>
          </p:cNvCxnSpPr>
          <p:nvPr/>
        </p:nvCxnSpPr>
        <p:spPr>
          <a:xfrm>
            <a:off x="4397769" y="476477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7769" y="55464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</a:rPr>
              <a:t>법령정보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115" idx="1"/>
          </p:cNvCxnSpPr>
          <p:nvPr/>
        </p:nvCxnSpPr>
        <p:spPr>
          <a:xfrm>
            <a:off x="2566635" y="1831144"/>
            <a:ext cx="931134" cy="3859290"/>
          </a:xfrm>
          <a:prstGeom prst="bentConnector3">
            <a:avLst>
              <a:gd name="adj1" fmla="val 4438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4" idx="2"/>
          </p:cNvCxnSpPr>
          <p:nvPr/>
        </p:nvCxnSpPr>
        <p:spPr>
          <a:xfrm flipV="1">
            <a:off x="4397769" y="2996388"/>
            <a:ext cx="3324109" cy="2694046"/>
          </a:xfrm>
          <a:prstGeom prst="bentConnector3">
            <a:avLst>
              <a:gd name="adj1" fmla="val 7908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3.2</a:t>
            </a:r>
            <a:r>
              <a:rPr lang="en-US" altLang="ko-KR" dirty="0"/>
              <a:t>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08180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민원서류발급신청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552795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642795"/>
            <a:ext cx="34412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41312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3460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52457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17" idx="1"/>
          </p:cNvCxnSpPr>
          <p:nvPr/>
        </p:nvCxnSpPr>
        <p:spPr>
          <a:xfrm>
            <a:off x="1908180" y="1642795"/>
            <a:ext cx="402198" cy="603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14987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신청절차및안내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04" idx="1"/>
          </p:cNvCxnSpPr>
          <p:nvPr/>
        </p:nvCxnSpPr>
        <p:spPr>
          <a:xfrm>
            <a:off x="1908180" y="1642795"/>
            <a:ext cx="40219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21018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141" name="그룹 14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14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852796" y="2905457"/>
            <a:ext cx="6162405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신청정보</a:t>
            </a:r>
            <a:r>
              <a:rPr lang="ko-KR" altLang="en-US" sz="800" b="1" dirty="0" smtClean="0">
                <a:solidFill>
                  <a:schemeClr val="tx1"/>
                </a:solidFill>
              </a:rPr>
              <a:t> 분기 화면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76456" y="31661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계약정보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76834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unitB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976645" y="31661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방위사업청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77023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unitC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76456" y="35497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976834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976645" y="35497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77023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unitI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국외조달원등록증신청목록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국외조달원등록증신청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89" idx="1"/>
          </p:cNvCxnSpPr>
          <p:nvPr/>
        </p:nvCxnSpPr>
        <p:spPr>
          <a:xfrm>
            <a:off x="1908180" y="1642795"/>
            <a:ext cx="402198" cy="46471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9" idx="3"/>
            <a:endCxn id="191" idx="1"/>
          </p:cNvCxnSpPr>
          <p:nvPr/>
        </p:nvCxnSpPr>
        <p:spPr>
          <a:xfrm>
            <a:off x="3210378" y="6289960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211" idx="0"/>
          </p:cNvCxnSpPr>
          <p:nvPr/>
        </p:nvCxnSpPr>
        <p:spPr>
          <a:xfrm>
            <a:off x="3210378" y="1642795"/>
            <a:ext cx="6132079" cy="183695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7" idx="3"/>
            <a:endCxn id="211" idx="2"/>
          </p:cNvCxnSpPr>
          <p:nvPr/>
        </p:nvCxnSpPr>
        <p:spPr>
          <a:xfrm>
            <a:off x="9015201" y="3416480"/>
            <a:ext cx="237256" cy="153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209" idx="2"/>
          </p:cNvCxnSpPr>
          <p:nvPr/>
        </p:nvCxnSpPr>
        <p:spPr>
          <a:xfrm flipV="1">
            <a:off x="5580060" y="3799117"/>
            <a:ext cx="3762397" cy="249084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680060" y="614596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</a:rPr>
              <a:t>조달업체선택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9" name="직선 화살표 연결선 9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91" idx="3"/>
            <a:endCxn id="97" idx="1"/>
          </p:cNvCxnSpPr>
          <p:nvPr/>
        </p:nvCxnSpPr>
        <p:spPr>
          <a:xfrm>
            <a:off x="4395219" y="6289960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10189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검색필터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-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7" idx="3"/>
            <a:endCxn id="110" idx="1"/>
          </p:cNvCxnSpPr>
          <p:nvPr/>
        </p:nvCxnSpPr>
        <p:spPr>
          <a:xfrm>
            <a:off x="3210378" y="2245891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0"/>
            <a:endCxn id="117" idx="0"/>
          </p:cNvCxnSpPr>
          <p:nvPr/>
        </p:nvCxnSpPr>
        <p:spPr>
          <a:xfrm rot="16200000" flipV="1">
            <a:off x="3352799" y="1509470"/>
            <a:ext cx="12700" cy="1184841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25073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실적증명서확인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상세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unitD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35566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7" idx="2"/>
            <a:endCxn id="114" idx="1"/>
          </p:cNvCxnSpPr>
          <p:nvPr/>
        </p:nvCxnSpPr>
        <p:spPr>
          <a:xfrm rot="16200000" flipH="1">
            <a:off x="2997064" y="2153204"/>
            <a:ext cx="261468" cy="73484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10378" y="422866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smtClean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실적증명서신청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2286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계약정보선택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680060" y="42319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검색필터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-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</a:t>
            </a:r>
          </a:p>
        </p:txBody>
      </p:sp>
      <p:cxnSp>
        <p:nvCxnSpPr>
          <p:cNvPr id="13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8" idx="0"/>
            <a:endCxn id="127" idx="0"/>
          </p:cNvCxnSpPr>
          <p:nvPr/>
        </p:nvCxnSpPr>
        <p:spPr>
          <a:xfrm rot="16200000" flipV="1">
            <a:off x="4536007" y="3637880"/>
            <a:ext cx="3266" cy="1184841"/>
          </a:xfrm>
          <a:prstGeom prst="bentConnector3">
            <a:avLst>
              <a:gd name="adj1" fmla="val 709938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157" idx="0"/>
          </p:cNvCxnSpPr>
          <p:nvPr/>
        </p:nvCxnSpPr>
        <p:spPr>
          <a:xfrm>
            <a:off x="4395219" y="2651359"/>
            <a:ext cx="1538780" cy="25409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화살표 연결선 1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27" idx="1"/>
          </p:cNvCxnSpPr>
          <p:nvPr/>
        </p:nvCxnSpPr>
        <p:spPr>
          <a:xfrm>
            <a:off x="3210378" y="4372668"/>
            <a:ext cx="284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5219" y="4656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신청정보입력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65" name="직선 화살표 연결선 1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7" idx="2"/>
            <a:endCxn id="164" idx="0"/>
          </p:cNvCxnSpPr>
          <p:nvPr/>
        </p:nvCxnSpPr>
        <p:spPr>
          <a:xfrm>
            <a:off x="3945219" y="4516668"/>
            <a:ext cx="0" cy="14001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94760" y="4999235"/>
            <a:ext cx="5520441" cy="1022046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선택 계약에 따른 </a:t>
            </a:r>
            <a:r>
              <a:rPr lang="ko-KR" altLang="en-US" sz="800" b="1" dirty="0" err="1" smtClean="0">
                <a:solidFill>
                  <a:schemeClr val="tx1"/>
                </a:solidFill>
              </a:rPr>
              <a:t>실적정보</a:t>
            </a:r>
            <a:r>
              <a:rPr lang="ko-KR" altLang="en-US" sz="800" b="1" dirty="0" smtClean="0">
                <a:solidFill>
                  <a:schemeClr val="tx1"/>
                </a:solidFill>
              </a:rPr>
              <a:t> 입력 분기 화면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unitC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5259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unitB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unitD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5643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807614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713017" y="5643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896034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unitI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82699" y="526682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unitE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82699" y="56504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실적정보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8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66" idx="0"/>
          </p:cNvCxnSpPr>
          <p:nvPr/>
        </p:nvCxnSpPr>
        <p:spPr>
          <a:xfrm>
            <a:off x="4395219" y="4800678"/>
            <a:ext cx="1859762" cy="198557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6" idx="3"/>
            <a:endCxn id="209" idx="2"/>
          </p:cNvCxnSpPr>
          <p:nvPr/>
        </p:nvCxnSpPr>
        <p:spPr>
          <a:xfrm flipV="1">
            <a:off x="9015201" y="3799117"/>
            <a:ext cx="327256" cy="171114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618420" y="5259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방위사업청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977400" y="31730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unitE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24" idx="1"/>
          </p:cNvCxnSpPr>
          <p:nvPr/>
        </p:nvCxnSpPr>
        <p:spPr>
          <a:xfrm>
            <a:off x="1908180" y="1642795"/>
            <a:ext cx="402198" cy="27298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977212" y="25073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실적증명서제출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197" idx="2"/>
          </p:cNvCxnSpPr>
          <p:nvPr/>
        </p:nvCxnSpPr>
        <p:spPr>
          <a:xfrm flipV="1">
            <a:off x="7427212" y="2795359"/>
            <a:ext cx="0" cy="11009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7" idx="3"/>
            <a:endCxn id="212" idx="0"/>
          </p:cNvCxnSpPr>
          <p:nvPr/>
        </p:nvCxnSpPr>
        <p:spPr>
          <a:xfrm>
            <a:off x="7877212" y="2651359"/>
            <a:ext cx="1465245" cy="864389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3360322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방위사업청공지사항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D2b_NoticeListPage</a:t>
            </a:r>
            <a:r>
              <a:rPr lang="en-US" altLang="ko-KR" sz="700" dirty="0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방위사업청공지사항상세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D2b_NoticeDtlPage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일반자료실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rpstrList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일반자료실상세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81448" y="5443501"/>
            <a:ext cx="1353773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계약관련서식자료실상세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시스템개선안내상세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계약관련서식자료실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시스템개선안내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자주묻는질문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9408263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latin typeface="+mn-ea"/>
              </a:rPr>
              <a:t>민원서류발급신청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DcmntIssuAplyPage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신청절차및안내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실적증명서신청목록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PrfmncPrdocPage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실적증명서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PrfmncPrdocPage_SrchFilter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실적증명서확인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>
                <a:solidFill>
                  <a:schemeClr val="tx1"/>
                </a:solidFill>
              </a:rPr>
              <a:t>상세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PrfmncPrdocDtl_Cn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PrfmncPrdocDtl_D2b</a:t>
            </a:r>
            <a:r>
              <a:rPr lang="en-US" altLang="ko-KR" sz="1000" dirty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1" idx="0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029886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PrfmncPrdocDtl_UnitH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계약정보선택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CtrtInfoChc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계약정보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신청정보입력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PrfmncPrdocReg_D2b.</a:t>
            </a:r>
            <a:r>
              <a:rPr lang="en-US" altLang="ko-KR" sz="1000" dirty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PrfmncPrdocReg_UnitI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PrfmncPrdocReg_UnitH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</a:rPr>
              <a:t>실적정보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endCxn id="9" idx="1"/>
          </p:cNvCxnSpPr>
          <p:nvPr/>
        </p:nvCxnSpPr>
        <p:spPr>
          <a:xfrm flipV="1">
            <a:off x="2992582" y="2990174"/>
            <a:ext cx="967509" cy="30797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3661136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국외조달원등록증신청목록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국외조달원등록증신청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조달업체선택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ovsSosCnfdocChc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 smtClean="0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/>
              <a:t>법령정보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SttInfoController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42345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게시판별</a:t>
            </a:r>
            <a:r>
              <a:rPr lang="ko-KR" altLang="en-US" dirty="0" smtClean="0"/>
              <a:t> 제목과 화면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MUI-CM-04-M01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</a:t>
            </a:r>
            <a:r>
              <a:rPr lang="ko-KR" altLang="en-US" dirty="0" smtClean="0">
                <a:latin typeface="+mn-ea"/>
              </a:rPr>
              <a:t>자료실 </a:t>
            </a:r>
            <a:r>
              <a:rPr lang="en-US" altLang="ko-KR" dirty="0">
                <a:latin typeface="+mn-ea"/>
              </a:rPr>
              <a:t>MUI-CM-04-M25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수요부대별자료실 </a:t>
            </a:r>
            <a:r>
              <a:rPr lang="en-US" altLang="ko-KR" dirty="0">
                <a:latin typeface="+mn-ea"/>
              </a:rPr>
              <a:t>MUI-CM-04-M27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계약관련서식자료실 </a:t>
            </a:r>
            <a:r>
              <a:rPr lang="en-US" altLang="ko-KR" dirty="0">
                <a:latin typeface="+mn-ea"/>
              </a:rPr>
              <a:t>MUI-CM-04-M29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시스템개선안내 </a:t>
            </a:r>
            <a:r>
              <a:rPr lang="en-US" altLang="ko-KR" dirty="0" smtClean="0">
                <a:latin typeface="+mn-ea"/>
              </a:rPr>
              <a:t>MUI-CM-04-M31</a:t>
            </a:r>
            <a:br>
              <a:rPr lang="en-US" altLang="ko-KR" dirty="0" smtClean="0">
                <a:latin typeface="+mn-ea"/>
              </a:rPr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제목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FF0000"/>
                </a:solidFill>
              </a:rPr>
              <a:t>각 </a:t>
            </a:r>
            <a:r>
              <a:rPr lang="ko-KR" altLang="en-US" dirty="0" err="1" smtClean="0">
                <a:solidFill>
                  <a:srgbClr val="FF0000"/>
                </a:solidFill>
              </a:rPr>
              <a:t>게시판별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구분값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</a:t>
            </a:r>
            <a:r>
              <a:rPr lang="ko-KR" altLang="en-US" dirty="0"/>
              <a:t>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24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92954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6107783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11362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291860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29769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96072"/>
            <a:ext cx="2473257" cy="775730"/>
            <a:chOff x="781461" y="2794394"/>
            <a:chExt cx="2473257" cy="775730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6472" y="4285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51" name="그룹 1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2" name="직사각형 1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53" name="직사각형 1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구분설정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구분으로 설정 값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</a:t>
            </a:r>
            <a:r>
              <a:rPr lang="ko-KR" altLang="en-US" dirty="0" smtClean="0">
                <a:solidFill>
                  <a:prstClr val="black"/>
                </a:solidFill>
              </a:rPr>
              <a:t>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ko-KR" altLang="en-US" dirty="0" err="1"/>
              <a:t>게시판별</a:t>
            </a:r>
            <a:r>
              <a:rPr lang="ko-KR" altLang="en-US" dirty="0"/>
              <a:t> 제목과 화면 </a:t>
            </a:r>
            <a:r>
              <a:rPr lang="en-US" altLang="ko-KR" dirty="0"/>
              <a:t>ID </a:t>
            </a:r>
            <a:r>
              <a:rPr lang="ko-KR" altLang="en-US" dirty="0"/>
              <a:t>정보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MUI-CM-04-M02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MUI-CM-04-M24</a:t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MUI-CM-04-M26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MUI-CM-04-M28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MUI-CM-04-M30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MUI-CM-04-M32</a:t>
            </a: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</a:t>
            </a:r>
            <a:r>
              <a:rPr lang="ko-KR" altLang="en-US" dirty="0" smtClean="0">
                <a:solidFill>
                  <a:prstClr val="black"/>
                </a:solidFill>
              </a:rPr>
              <a:t>제목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작성 정보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내용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첨부파일이 있는 경우 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48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038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714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 smtClean="0"/>
              <a:t>)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구분 값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</a:t>
            </a:r>
            <a:r>
              <a:rPr lang="ko-KR" altLang="en-US" sz="900" dirty="0" smtClean="0">
                <a:solidFill>
                  <a:prstClr val="black"/>
                </a:solidFill>
              </a:rPr>
              <a:t>최대 </a:t>
            </a:r>
            <a:r>
              <a:rPr lang="ko-KR" altLang="en-US" sz="900" dirty="0">
                <a:solidFill>
                  <a:prstClr val="black"/>
                </a:solidFill>
              </a:rPr>
              <a:t>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61976" y="2971849"/>
            <a:ext cx="1194558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전체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전자입찰일반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업체등록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인증관련문의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입찰참가신청서제출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입찰서제출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홈페이지일반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전자문서유통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지문인식관련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전자계약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기타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윈도우</a:t>
            </a:r>
            <a:r>
              <a:rPr lang="en-US" altLang="ko-KR" sz="800" dirty="0"/>
              <a:t>10 PC</a:t>
            </a:r>
            <a:r>
              <a:rPr lang="ko-KR" altLang="en-US" sz="800" dirty="0"/>
              <a:t>환경설정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납품대가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선금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착</a:t>
            </a:r>
            <a:r>
              <a:rPr lang="en-US" altLang="ko-KR" sz="800" dirty="0"/>
              <a:t>·</a:t>
            </a:r>
            <a:r>
              <a:rPr lang="ko-KR" altLang="en-US" sz="800" dirty="0"/>
              <a:t>중도금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619255" y="2633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화면 재사용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신청절차및안내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 </a:t>
            </a:r>
            <a:r>
              <a:rPr lang="ko-KR" altLang="en-US" dirty="0"/>
              <a:t>증명서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MUI-CM-04-M06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실적증명서신청 </a:t>
            </a:r>
            <a:r>
              <a:rPr lang="en-US" altLang="ko-KR" dirty="0" smtClean="0"/>
              <a:t>MUI-CM-04-M08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국외조달원등록증신청목록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국외조달원등록증신청 </a:t>
            </a:r>
            <a:r>
              <a:rPr lang="en-US" altLang="ko-KR" dirty="0"/>
              <a:t>MUI-CM-04-P10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민원서류발급신청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민원서류 발급 신청 메뉴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민원서류발급신청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민원서류발급신청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신청 절차 및 안내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진입점을</a:t>
              </a:r>
              <a:r>
                <a:rPr lang="ko-KR" altLang="en-US" sz="700" dirty="0" smtClean="0"/>
                <a:t> 위한 화면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38212887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콘텐츠 정보는 추후 변경될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(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8223250" y="0"/>
            <a:ext cx="3365500" cy="634511"/>
            <a:chOff x="8223250" y="569392"/>
            <a:chExt cx="3365500" cy="634511"/>
          </a:xfrm>
        </p:grpSpPr>
        <p:sp>
          <p:nvSpPr>
            <p:cNvPr id="32" name="직사각형 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smtClean="0"/>
                <a:t>2026-07-29 </a:t>
              </a:r>
              <a:r>
                <a:rPr lang="ko-KR" altLang="en-US" dirty="0" smtClean="0"/>
                <a:t>주의사항</a:t>
              </a:r>
              <a:endParaRPr lang="ko-KR" altLang="en-US" dirty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사용자에게 전달될 안내 메시지 </a:t>
              </a: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버전과 재정리가 필요함</a:t>
              </a:r>
              <a:r>
                <a:rPr lang="en-US" altLang="ko-KR" sz="700" dirty="0" smtClean="0"/>
                <a:t>.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진본성</a:t>
              </a:r>
              <a:r>
                <a:rPr lang="ko-KR" altLang="en-US" sz="700" dirty="0" smtClean="0"/>
                <a:t> 프로그램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솔루션 등이 별도로 사용될 수 있음</a:t>
              </a:r>
              <a:r>
                <a:rPr lang="en-US" altLang="ko-KR" sz="700" dirty="0" smtClean="0"/>
                <a:t>. (</a:t>
              </a:r>
              <a:r>
                <a:rPr lang="ko-KR" altLang="en-US" sz="700" dirty="0" err="1" smtClean="0"/>
                <a:t>미확정</a:t>
              </a:r>
              <a:r>
                <a:rPr lang="en-US" altLang="ko-KR" sz="700" dirty="0" smtClean="0"/>
                <a:t>)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실적증명서신청목록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필터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에 따라 분리</a:t>
              </a:r>
              <a:endParaRPr lang="ko-KR" altLang="en-US" sz="700" dirty="0"/>
            </a:p>
          </p:txBody>
        </p:sp>
      </p:grp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5828" y="434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처리상태</a:t>
            </a:r>
            <a:r>
              <a:rPr lang="ko-KR" altLang="en-US" dirty="0" smtClean="0"/>
              <a:t> 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신청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처리중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발급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반려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보류</a:t>
            </a:r>
            <a:endParaRPr lang="ko-KR" altLang="en-US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>
                <a:latin typeface="+mn-ea"/>
              </a:rPr>
              <a:t>실적증명서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MUI-CM-04-P33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089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60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314058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277530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072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966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67760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68089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68089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78878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진행상태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처리상태로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 변경</a:t>
              </a:r>
              <a:endParaRPr lang="ko-KR" altLang="en-US" sz="700" dirty="0"/>
            </a:p>
          </p:txBody>
        </p:sp>
      </p:grp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0171" y="375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24584951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781194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</a:t>
            </a:r>
            <a:r>
              <a:rPr lang="ko-KR" altLang="en-US" dirty="0" smtClean="0"/>
              <a:t>하단 실적증명서 발급 버튼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</a:t>
            </a:r>
            <a:r>
              <a:rPr lang="ko-KR" altLang="en-US" dirty="0" smtClean="0"/>
              <a:t>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저장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</a:t>
            </a:r>
            <a:r>
              <a:rPr lang="ko-KR" altLang="en-US" dirty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접수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처리중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 </a:t>
            </a:r>
            <a:r>
              <a:rPr lang="ko-KR" altLang="en-US" dirty="0" smtClean="0"/>
              <a:t>버튼 없음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발급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 smtClean="0"/>
              <a:t>제출 버튼 표시</a:t>
            </a:r>
            <a:r>
              <a:rPr lang="en-US" altLang="ko-KR" dirty="0" smtClean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</a:t>
            </a:r>
            <a:r>
              <a:rPr lang="ko-KR" altLang="en-US" dirty="0" smtClean="0"/>
              <a:t>클릭 시 실적증명서 </a:t>
            </a:r>
            <a:r>
              <a:rPr lang="ko-KR" altLang="en-US" dirty="0"/>
              <a:t>제출 </a:t>
            </a:r>
            <a:r>
              <a:rPr lang="en-US" altLang="ko-KR" dirty="0"/>
              <a:t>(MUI-CM-04-P20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제출은 타 기관 온라인 </a:t>
            </a:r>
            <a:r>
              <a:rPr lang="ko-KR" altLang="en-US" dirty="0" err="1" smtClean="0"/>
              <a:t>제출임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발급은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</a:t>
            </a:r>
            <a:r>
              <a:rPr lang="en-US" altLang="ko-KR" dirty="0" smtClean="0"/>
              <a:t>, PDF </a:t>
            </a:r>
            <a:r>
              <a:rPr lang="ko-KR" altLang="en-US" dirty="0" smtClean="0"/>
              <a:t>뷰어 서류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>
                <a:latin typeface="+mn-ea"/>
              </a:rPr>
              <a:t>발급기관이 </a:t>
            </a:r>
            <a:r>
              <a:rPr lang="ko-KR" altLang="en-US" dirty="0" err="1">
                <a:latin typeface="+mn-ea"/>
              </a:rPr>
              <a:t>부대일때는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pdfViewer</a:t>
            </a:r>
            <a:r>
              <a:rPr lang="ko-KR" altLang="en-US" dirty="0" smtClean="0">
                <a:latin typeface="+mn-ea"/>
              </a:rPr>
              <a:t>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반려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보류 상태일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삭제</a:t>
            </a:r>
            <a:r>
              <a:rPr lang="en-US" altLang="ko-KR" dirty="0" smtClean="0"/>
              <a:t> </a:t>
            </a:r>
            <a:r>
              <a:rPr lang="ko-KR" altLang="en-US" dirty="0"/>
              <a:t>클릭 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정말 </a:t>
            </a:r>
            <a:r>
              <a:rPr lang="ko-KR" altLang="en-US" dirty="0"/>
              <a:t>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250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084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0842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18250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586144" y="2295212"/>
            <a:ext cx="2010878" cy="408308"/>
          </a:xfrm>
          <a:prstGeom prst="parallelogram">
            <a:avLst>
              <a:gd name="adj" fmla="val 39703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191596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80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252742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실적증명서 발급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문서 </a:t>
            </a:r>
            <a:r>
              <a:rPr lang="ko-KR" altLang="en-US" dirty="0"/>
              <a:t>세부 </a:t>
            </a:r>
            <a:r>
              <a:rPr lang="ko-KR" altLang="en-US" dirty="0" smtClean="0"/>
              <a:t>탭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495397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20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1633203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4981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9" name="그룹 28"/>
          <p:cNvGrpSpPr/>
          <p:nvPr/>
        </p:nvGrpSpPr>
        <p:grpSpPr>
          <a:xfrm>
            <a:off x="675400" y="1956141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42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99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10741294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MUI-CM-04-T02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675400" y="1974254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425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087585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281740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173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1739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1739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28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65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025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39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14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751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888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5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9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25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327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65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602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739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5007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288168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31593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375155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15067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458832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499888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31181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1802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683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0304" y="20462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63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6757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7749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3756468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6757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436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63973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61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009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459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19656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43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0258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9310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19656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1972911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3872472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1972911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6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3967975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4864603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3995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87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0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88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19806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19767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28733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37737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29835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39776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49810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63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0071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020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1980621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5793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570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6043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7" y="19806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43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4399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261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3795734" y="19806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72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7646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8638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764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5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7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70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6" y="19806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704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43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806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4137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292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2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291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291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3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3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80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5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2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7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798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80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096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5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7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6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6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3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8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2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2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4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029245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230015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675399" y="1998040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405594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704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9035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3190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31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3189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3189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4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80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7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9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51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63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6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4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919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5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298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945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5922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94682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80001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1947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452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0852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2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291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624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0397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039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0396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0396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15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52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389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26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01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46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23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3903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291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0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4414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23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019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4880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4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76376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13193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15269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2574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13852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382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8713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2868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28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2867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2867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39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76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3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0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5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1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48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7200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0425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04096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1975382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40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1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3611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43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29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126" name="그룹 125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447527401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계약을 검색하기 위한 검색 필터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16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27" name="그룹 126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8" name="직사각형 12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신청한 이후 관리자 </a:t>
            </a: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발급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ko-KR" altLang="en-US" dirty="0" smtClean="0">
                <a:solidFill>
                  <a:srgbClr val="FF0000"/>
                </a:solidFill>
              </a:rPr>
              <a:t> 상태에서 실적증명서를 제출할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MUI-CM-04-T16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 smtClean="0"/>
              <a:t>. (</a:t>
            </a:r>
            <a:r>
              <a:rPr lang="ko-KR" altLang="en-US" dirty="0" smtClean="0"/>
              <a:t>리포트 연결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클릭 시 발급된 등록증이 없는 경우 토스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승인된 후 확인 가능합니다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국외조달원등록증신청목록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91"/>
            <a:ext cx="2446613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39" name="그룹 1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0" name="직사각형 1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신청하기 버튼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114135"/>
              </p:ext>
            </p:extLst>
          </p:nvPr>
        </p:nvGraphicFramePr>
        <p:xfrm>
          <a:off x="402754" y="927298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신청하기 이후 신청목록으로 이동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메뉴 목록에서 바로 신청하는 케이스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국외조달원등록증신청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858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009851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709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3592499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5356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45356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28596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2433098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17012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신청인 </a:t>
            </a:r>
            <a:r>
              <a:rPr lang="en-US" altLang="ko-KR" sz="800" b="1" dirty="0">
                <a:latin typeface="+mn-ea"/>
              </a:rPr>
              <a:t>(Applicant)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024090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9461" y="2197190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22964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2058255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205825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2" y="50881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903582" y="5235295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19209"/>
            <a:ext cx="221915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조달원 등록증</a:t>
            </a:r>
            <a:r>
              <a:rPr lang="en-US" altLang="ko-KR" sz="8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6" y="50881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912494" y="5625023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93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5" y="55741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5" name="타원 1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TextBox 135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2" name="타원 141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TextBox 142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88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5" name="그룹 14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6" name="직사각형 14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팝업에서 페이지로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MUI-CM-04-P23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법령정보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290680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인증서관리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인증서삭제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인증서비밀번호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인증성공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CrtfInfoMsg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가져온 이후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2" name="그룹 31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3158376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내보내기 이전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인증서관리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 smtClean="0">
                <a:solidFill>
                  <a:schemeClr val="tx1"/>
                </a:solidFill>
                <a:latin typeface="+mn-ea"/>
              </a:rPr>
              <a:t>인증서삭제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인증서비밀번호확인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CrtfInfoMsg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인증센터는</a:t>
            </a:r>
            <a:r>
              <a:rPr lang="en-US" altLang="ko-KR" dirty="0"/>
              <a:t> </a:t>
            </a:r>
            <a:r>
              <a:rPr lang="ko-KR" altLang="en-US" dirty="0" smtClean="0"/>
              <a:t>한국정보인증 스마트 </a:t>
            </a:r>
            <a:r>
              <a:rPr lang="en-US" altLang="ko-KR" dirty="0" smtClean="0"/>
              <a:t>PKI</a:t>
            </a:r>
            <a:r>
              <a:rPr lang="ko-KR" altLang="en-US" dirty="0"/>
              <a:t> 솔루션을 사용함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err="1"/>
              <a:t>SmartPKI</a:t>
            </a:r>
            <a:r>
              <a:rPr lang="en-US" altLang="ko-KR" dirty="0"/>
              <a:t> </a:t>
            </a:r>
            <a:r>
              <a:rPr lang="en-US" altLang="ko-KR" dirty="0" smtClean="0"/>
              <a:t>v2.2.5_AOS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개발자 </a:t>
            </a:r>
            <a:r>
              <a:rPr lang="en-US" altLang="ko-KR" dirty="0" smtClean="0"/>
              <a:t>SDK </a:t>
            </a:r>
            <a:r>
              <a:rPr lang="en-US" altLang="ko-KR" u="sng" dirty="0" smtClean="0">
                <a:hlinkClick r:id="rId2"/>
              </a:rPr>
              <a:t>http</a:t>
            </a:r>
            <a:r>
              <a:rPr lang="en-US" altLang="ko-KR" u="sng" dirty="0">
                <a:hlinkClick r:id="rId2"/>
              </a:rPr>
              <a:t>://developer.android.com/sdk/index.html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SmartPKI_v2.3.2_iOS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매뉴얼 확인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 관리 </a:t>
            </a:r>
            <a:r>
              <a:rPr lang="en-US" altLang="ko-KR" dirty="0"/>
              <a:t>MUI-CM-04-M14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인증서 가져오기 </a:t>
            </a:r>
            <a:r>
              <a:rPr lang="en-US" altLang="ko-KR" dirty="0" smtClean="0"/>
              <a:t>MUI-CM-04-M16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인증서내보내기 </a:t>
            </a:r>
            <a:r>
              <a:rPr lang="en-US" altLang="ko-KR" dirty="0"/>
              <a:t>MUI-CM-04-M17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모바일의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등록 사용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MUI-CM-03-M14 </a:t>
            </a:r>
            <a:r>
              <a:rPr lang="ko-KR" altLang="en-US" dirty="0" err="1"/>
              <a:t>생체인증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580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5" name="그룹 3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6" name="직사각형 3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솔루션 정보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디렉션</a:t>
              </a:r>
              <a:r>
                <a:rPr lang="ko-KR" altLang="en-US" sz="700" dirty="0" smtClean="0"/>
                <a:t>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- 12</a:t>
            </a:r>
            <a:r>
              <a:rPr lang="ko-KR" altLang="en-US" dirty="0" smtClean="0"/>
              <a:t>자리 번호 입력 시 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버튼 클릭 시 인증번호 복사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띄어쓰기 없는 </a:t>
            </a:r>
            <a:r>
              <a:rPr lang="en-US" altLang="ko-KR" dirty="0" smtClean="0"/>
              <a:t>12</a:t>
            </a:r>
            <a:r>
              <a:rPr lang="ko-KR" altLang="en-US" dirty="0" smtClean="0"/>
              <a:t>자리 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인증번호를 복사했습니다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인증서내보내기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37362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60" name="그룹 59"/>
          <p:cNvGrpSpPr/>
          <p:nvPr/>
        </p:nvGrpSpPr>
        <p:grpSpPr>
          <a:xfrm>
            <a:off x="4023915" y="3703056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인증번호 복사하기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4" name="직사각형 6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인증번호 복사하기 버튼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인증서 내보내기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가져오기 시 비밀번호 확인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내보내기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비밀번호 </a:t>
            </a:r>
            <a:r>
              <a:rPr lang="ko-KR" altLang="en-US" dirty="0" smtClean="0">
                <a:latin typeface="+mn-ea"/>
              </a:rPr>
              <a:t>확인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362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3236587" y="196977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4430539" y="211047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3086307" y="2164476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7161673" y="3712492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7190670" y="3496492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3534948" y="2254476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4430539" y="315861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3458672" y="2330751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4430539" y="368268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4430539" y="420676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4430539" y="473083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3196637" y="2592786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2934601" y="2854822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2672566" y="3116857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4430539" y="263454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3720708" y="2068715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5852099" y="2254476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5852099" y="2778547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5852099" y="3302618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5852099" y="3586492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5852099" y="3586492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5852099" y="3586492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그룹 29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1" name="그룹 30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371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3036291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4230243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3125655" y="1184015"/>
            <a:ext cx="237994" cy="323541"/>
            <a:chOff x="4760252" y="1663914"/>
            <a:chExt cx="237994" cy="323541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760252" y="1864344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6961377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3334652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4230243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6"/>
            <a:endCxn id="34" idx="1"/>
          </p:cNvCxnSpPr>
          <p:nvPr/>
        </p:nvCxnSpPr>
        <p:spPr>
          <a:xfrm>
            <a:off x="3334652" y="1274015"/>
            <a:ext cx="895591" cy="104814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4230243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4230243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4230243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4230243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4230243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6"/>
            <a:endCxn id="37" idx="1"/>
          </p:cNvCxnSpPr>
          <p:nvPr/>
        </p:nvCxnSpPr>
        <p:spPr>
          <a:xfrm>
            <a:off x="3334652" y="1274015"/>
            <a:ext cx="895591" cy="157221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6"/>
            <a:endCxn id="38" idx="1"/>
          </p:cNvCxnSpPr>
          <p:nvPr/>
        </p:nvCxnSpPr>
        <p:spPr>
          <a:xfrm>
            <a:off x="3334652" y="1274015"/>
            <a:ext cx="895591" cy="209628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6"/>
            <a:endCxn id="39" idx="1"/>
          </p:cNvCxnSpPr>
          <p:nvPr/>
        </p:nvCxnSpPr>
        <p:spPr>
          <a:xfrm>
            <a:off x="3334652" y="1274015"/>
            <a:ext cx="895591" cy="262035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6"/>
            <a:endCxn id="40" idx="1"/>
          </p:cNvCxnSpPr>
          <p:nvPr/>
        </p:nvCxnSpPr>
        <p:spPr>
          <a:xfrm>
            <a:off x="3334652" y="1274015"/>
            <a:ext cx="895591" cy="314442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6"/>
            <a:endCxn id="41" idx="1"/>
          </p:cNvCxnSpPr>
          <p:nvPr/>
        </p:nvCxnSpPr>
        <p:spPr>
          <a:xfrm>
            <a:off x="3334652" y="1274015"/>
            <a:ext cx="895591" cy="36684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4230243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6"/>
            <a:endCxn id="60" idx="1"/>
          </p:cNvCxnSpPr>
          <p:nvPr/>
        </p:nvCxnSpPr>
        <p:spPr>
          <a:xfrm>
            <a:off x="3334652" y="1274015"/>
            <a:ext cx="895591" cy="52407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4230243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6"/>
            <a:endCxn id="133" idx="1"/>
          </p:cNvCxnSpPr>
          <p:nvPr/>
        </p:nvCxnSpPr>
        <p:spPr>
          <a:xfrm>
            <a:off x="3334652" y="1274015"/>
            <a:ext cx="895591" cy="41925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4230243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6"/>
            <a:endCxn id="136" idx="1"/>
          </p:cNvCxnSpPr>
          <p:nvPr/>
        </p:nvCxnSpPr>
        <p:spPr>
          <a:xfrm>
            <a:off x="3334652" y="1274015"/>
            <a:ext cx="895591" cy="471663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5651803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5651803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5651803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5651803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5651803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5651803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5651803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5651803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5651803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5651803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47" name="그룹 4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5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7696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메뉴에서 접근하는 </a:t>
            </a:r>
            <a:r>
              <a:rPr lang="ko-KR" altLang="en-US" dirty="0" err="1" smtClean="0"/>
              <a:t>용어사전은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외부 링크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외부 모바일의 브라우저로 이동하여 표시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접근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추후 </a:t>
            </a:r>
            <a:r>
              <a:rPr lang="en-US" altLang="ko-KR" dirty="0" smtClean="0"/>
              <a:t>PC </a:t>
            </a:r>
            <a:r>
              <a:rPr lang="ko-KR" altLang="en-US" dirty="0" smtClean="0"/>
              <a:t>버전에서 제공하는 용어사전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으로 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유의 사항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메뉴 관리자에서 메뉴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내부 </a:t>
            </a:r>
            <a:r>
              <a:rPr lang="en-US" altLang="ko-KR" dirty="0" smtClean="0"/>
              <a:t>path</a:t>
            </a:r>
            <a:r>
              <a:rPr lang="ko-KR" altLang="en-US" dirty="0" smtClean="0"/>
              <a:t>를 기반으로 동작하도록 구성됨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외부 링크 </a:t>
            </a:r>
            <a:r>
              <a:rPr lang="en-US" altLang="ko-KR" dirty="0" smtClean="0"/>
              <a:t>URL </a:t>
            </a:r>
            <a:r>
              <a:rPr lang="ko-KR" altLang="en-US" dirty="0" smtClean="0"/>
              <a:t>입력이 불가함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용어사전 메뉴는 외부 링크</a:t>
            </a:r>
            <a:r>
              <a:rPr lang="en-US" altLang="ko-KR" dirty="0" smtClean="0"/>
              <a:t>(</a:t>
            </a:r>
            <a:r>
              <a:rPr lang="ko-KR" altLang="en-US" dirty="0" smtClean="0"/>
              <a:t>브라우저</a:t>
            </a:r>
            <a:r>
              <a:rPr lang="en-US" altLang="ko-KR" dirty="0" smtClean="0"/>
              <a:t>)</a:t>
            </a:r>
            <a:r>
              <a:rPr lang="ko-KR" altLang="en-US" dirty="0" smtClean="0"/>
              <a:t>로 보내는 사항으로 하드코딩으로 이용안내 </a:t>
            </a:r>
            <a:r>
              <a:rPr lang="ko-KR" altLang="en-US" dirty="0" err="1" smtClean="0"/>
              <a:t>최하단에서</a:t>
            </a:r>
            <a:r>
              <a:rPr lang="ko-KR" altLang="en-US" dirty="0" smtClean="0"/>
              <a:t> 표시되도록 개발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용어사전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>
                <a:latin typeface="+mn-ea"/>
              </a:rPr>
              <a:t>모바일에서 </a:t>
            </a:r>
            <a:r>
              <a:rPr lang="ko-KR" altLang="en-US" dirty="0" err="1" smtClean="0">
                <a:latin typeface="+mn-ea"/>
              </a:rPr>
              <a:t>용어사전은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PC </a:t>
            </a:r>
            <a:r>
              <a:rPr lang="ko-KR" altLang="en-US" dirty="0" smtClean="0">
                <a:latin typeface="+mn-ea"/>
              </a:rPr>
              <a:t>버전으로 보내서 확인할 수 있도록 하는 메뉴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메뉴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용어사전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5949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직사각형 4"/>
          <p:cNvSpPr/>
          <p:nvPr/>
        </p:nvSpPr>
        <p:spPr>
          <a:xfrm>
            <a:off x="801189" y="5878504"/>
            <a:ext cx="2481942" cy="298367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7" name="직사각형 1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2026-08-25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용어사전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설명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036418042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인덱스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각 화면 </a:t>
            </a:r>
            <a:r>
              <a:rPr lang="en-US" altLang="ko-KR" dirty="0" smtClean="0"/>
              <a:t>1</a:t>
            </a:r>
            <a:r>
              <a:rPr lang="ko-KR" altLang="en-US" dirty="0" smtClean="0"/>
              <a:t>번 안내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페이지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이용안내 닫기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/>
          <p:cNvSpPr txBox="1"/>
          <p:nvPr/>
        </p:nvSpPr>
        <p:spPr>
          <a:xfrm>
            <a:off x="897083" y="3116755"/>
            <a:ext cx="2273780" cy="1354217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ko-KR" altLang="en-US" sz="1000" b="1" dirty="0" smtClean="0">
                <a:solidFill>
                  <a:schemeClr val="bg1"/>
                </a:solidFill>
              </a:rPr>
              <a:t>앱 이용안내</a:t>
            </a:r>
            <a:endParaRPr lang="en-US" altLang="ko-KR" sz="900" b="1" dirty="0" smtClean="0">
              <a:solidFill>
                <a:schemeClr val="bg1"/>
              </a:solidFill>
            </a:endParaRP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ko-KR" altLang="en-US" sz="900" dirty="0" smtClean="0">
                <a:solidFill>
                  <a:schemeClr val="bg1"/>
                </a:solidFill>
              </a:rPr>
              <a:t>안내를 원하시는 항목을 선택해주세요</a:t>
            </a:r>
            <a:r>
              <a:rPr lang="en-US" altLang="ko-KR" sz="900" dirty="0" smtClean="0">
                <a:solidFill>
                  <a:schemeClr val="bg1"/>
                </a:solidFill>
              </a:rPr>
              <a:t>.</a:t>
            </a: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메인홈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마이페이지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메뉴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조달계획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입찰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71878"/>
            <a:ext cx="2305144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앱 이용안내 닫기</a:t>
            </a: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58597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5893482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설명 앞 숫자는 순차 노출하는 경우 진행 순서를 의미함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설명 앞 숫자는 제거하고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참고 이미지와 같이 한 화면에 모두 표시하여도 무방함</a:t>
            </a:r>
            <a:r>
              <a:rPr lang="en-US" altLang="ko-KR" dirty="0" smtClean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 smtClean="0"/>
              <a:t>레이어 </a:t>
            </a:r>
            <a:r>
              <a:rPr lang="ko-KR" altLang="en-US" dirty="0" err="1" smtClean="0"/>
              <a:t>최상단에</a:t>
            </a:r>
            <a:r>
              <a:rPr lang="ko-KR" altLang="en-US" dirty="0" smtClean="0"/>
              <a:t> 표시되는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이용안내 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메인 홈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안내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첫 화면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마지막 화면에서는 각각 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버튼 </a:t>
            </a:r>
            <a:r>
              <a:rPr lang="en-US" altLang="ko-KR" dirty="0" smtClean="0"/>
              <a:t>disable </a:t>
            </a:r>
            <a:r>
              <a:rPr lang="ko-KR" altLang="en-US" dirty="0" smtClean="0"/>
              <a:t>처리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450135" y="2562611"/>
            <a:ext cx="1701107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공고를 바로 검색할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260867" y="2478595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299344" y="4029840"/>
            <a:ext cx="1604927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메인화면에서 주요 서비스에</a:t>
            </a:r>
            <a:endParaRPr lang="en-US" altLang="ko-KR" sz="800" dirty="0" smtClean="0">
              <a:solidFill>
                <a:schemeClr val="bg1"/>
              </a:solidFill>
            </a:endParaRP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쉽게 이동할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1110076" y="3945827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919595" y="1857231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전체 메뉴와 알림을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 flipV="1">
            <a:off x="2965348" y="1810619"/>
            <a:ext cx="85157" cy="1543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99344" y="5553299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</a:t>
            </a:r>
            <a:r>
              <a:rPr lang="ko-KR" altLang="en-US" sz="800" dirty="0" smtClean="0">
                <a:solidFill>
                  <a:schemeClr val="bg1"/>
                </a:solidFill>
              </a:rPr>
              <a:t>홈 이동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smtClean="0">
                <a:solidFill>
                  <a:schemeClr val="bg1"/>
                </a:solidFill>
              </a:rPr>
              <a:t>통합검색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챗봇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마이페이지를</a:t>
            </a:r>
            <a:r>
              <a:rPr lang="ko-KR" altLang="en-US" sz="800" dirty="0" smtClean="0">
                <a:solidFill>
                  <a:schemeClr val="bg1"/>
                </a:solidFill>
              </a:rPr>
              <a:t> 쓰기 쉽게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꺼내두었어요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 flipV="1">
            <a:off x="1160186" y="5722576"/>
            <a:ext cx="139158" cy="16506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77187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771878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6191609" y="16827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TextBox 98"/>
          <p:cNvSpPr txBox="1"/>
          <p:nvPr/>
        </p:nvSpPr>
        <p:spPr>
          <a:xfrm>
            <a:off x="5309993" y="1636062"/>
            <a:ext cx="87716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b="1" dirty="0" smtClean="0"/>
              <a:t>앱 이용안내 닫기</a:t>
            </a:r>
            <a:endParaRPr lang="ko-KR" altLang="en-US" sz="7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9021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3883" y="16598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91789045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80570" y="1515996"/>
            <a:ext cx="2712027" cy="4709440"/>
            <a:chOff x="680570" y="1515996"/>
            <a:chExt cx="2712027" cy="4709440"/>
          </a:xfrm>
        </p:grpSpPr>
        <p:pic>
          <p:nvPicPr>
            <p:cNvPr id="87" name="그림 86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r="4806" b="32893"/>
            <a:stretch/>
          </p:blipFill>
          <p:spPr>
            <a:xfrm>
              <a:off x="856015" y="4368527"/>
              <a:ext cx="2362786" cy="1856909"/>
            </a:xfrm>
            <a:prstGeom prst="rect">
              <a:avLst/>
            </a:prstGeom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 err="1">
                  <a:latin typeface="+mn-ea"/>
                </a:rPr>
                <a:t>마이페이지</a:t>
              </a:r>
              <a:endParaRPr lang="en-US" altLang="ko-KR" sz="8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3" name="타원 102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205597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[A </a:t>
              </a:r>
              <a:r>
                <a:rPr lang="ko-KR" altLang="en-US" sz="800" b="1" dirty="0">
                  <a:latin typeface="+mn-ea"/>
                </a:rPr>
                <a:t>업체</a:t>
              </a:r>
              <a:r>
                <a:rPr lang="en-US" altLang="ko-KR" sz="800" b="1" dirty="0">
                  <a:latin typeface="+mn-ea"/>
                </a:rPr>
                <a:t>] </a:t>
              </a:r>
              <a:r>
                <a:rPr lang="ko-KR" altLang="en-US" sz="800" b="1" dirty="0">
                  <a:latin typeface="+mn-ea"/>
                </a:rPr>
                <a:t>홍길동 님</a:t>
              </a:r>
            </a:p>
          </p:txBody>
        </p:sp>
        <p:sp>
          <p:nvSpPr>
            <p:cNvPr id="105" name="타원 104"/>
            <p:cNvSpPr/>
            <p:nvPr/>
          </p:nvSpPr>
          <p:spPr>
            <a:xfrm>
              <a:off x="3044537" y="199596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002436" y="1977892"/>
              <a:ext cx="282450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⚙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2993286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sp>
          <p:nvSpPr>
            <p:cNvPr id="108" name="모서리가 둥근 직사각형 107"/>
            <p:cNvSpPr/>
            <p:nvPr/>
          </p:nvSpPr>
          <p:spPr>
            <a:xfrm>
              <a:off x="903581" y="2423118"/>
              <a:ext cx="2255663" cy="1012125"/>
            </a:xfrm>
            <a:prstGeom prst="roundRect">
              <a:avLst>
                <a:gd name="adj" fmla="val 65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2344367"/>
              <a:ext cx="2255663" cy="306146"/>
              <a:chOff x="903581" y="2074658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진행 업무 현황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721050"/>
              <a:ext cx="1731957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적격심사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기술평가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사양서평가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0713" y="2721050"/>
              <a:ext cx="64896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871283" y="2721050"/>
              <a:ext cx="17325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7" name="그룹 116"/>
            <p:cNvGrpSpPr/>
            <p:nvPr/>
          </p:nvGrpSpPr>
          <p:grpSpPr>
            <a:xfrm>
              <a:off x="903581" y="3511341"/>
              <a:ext cx="2255663" cy="306146"/>
              <a:chOff x="903581" y="2074658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업무 이력 현황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903581" y="3893585"/>
              <a:ext cx="2255663" cy="306146"/>
              <a:chOff x="903581" y="2074658"/>
              <a:chExt cx="2255663" cy="306146"/>
            </a:xfrm>
          </p:grpSpPr>
          <p:sp>
            <p:nvSpPr>
              <p:cNvPr id="123" name="모서리가 둥근 직사각형 122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관심 입찰공고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42925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업무 캘린더</a:t>
              </a: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2737360" y="4273131"/>
              <a:ext cx="419793" cy="162000"/>
            </a:xfrm>
            <a:prstGeom prst="roundRect">
              <a:avLst>
                <a:gd name="adj" fmla="val 2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600" b="1" dirty="0" err="1">
                  <a:solidFill>
                    <a:schemeClr val="tx1"/>
                  </a:solidFill>
                </a:rPr>
                <a:t>더보기</a:t>
              </a:r>
              <a:r>
                <a:rPr lang="ko-KR" altLang="en-US" sz="600" b="1" dirty="0">
                  <a:solidFill>
                    <a:schemeClr val="tx1"/>
                  </a:solidFill>
                </a:rPr>
                <a:t> </a:t>
              </a:r>
              <a:r>
                <a:rPr lang="en-US" altLang="ko-KR" sz="600" b="1" dirty="0">
                  <a:solidFill>
                    <a:schemeClr val="tx1"/>
                  </a:solidFill>
                </a:rPr>
                <a:t>&gt;</a:t>
              </a:r>
              <a:endParaRPr lang="ko-KR" altLang="en-US" sz="6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36520" y="375614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진행했던 업무 이력을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047252" y="3672133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028441" y="4213241"/>
            <a:ext cx="2492990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입찰공고에 별 표시한 공고를 모아볼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839173" y="4129228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진행중인 업무 현황을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>
            <a:off x="289515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17905" y="5821116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 캘린더를 통해 공고 일정과 개인 일정을 더 쉽게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049185" y="5807817"/>
            <a:ext cx="168720" cy="1825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5" name="그룹 14"/>
          <p:cNvGrpSpPr/>
          <p:nvPr/>
        </p:nvGrpSpPr>
        <p:grpSpPr>
          <a:xfrm>
            <a:off x="3785444" y="1582794"/>
            <a:ext cx="2712027" cy="4410956"/>
            <a:chOff x="677960" y="1582794"/>
            <a:chExt cx="2712027" cy="4410956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6526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하기 </a:t>
              </a:r>
              <a:r>
                <a:rPr lang="en-US" altLang="ko-KR" sz="900" b="1" dirty="0">
                  <a:latin typeface="+mn-ea"/>
                </a:rPr>
                <a:t>&gt;</a:t>
              </a:r>
              <a:endParaRPr lang="ko-KR" altLang="en-US" sz="900" b="1" dirty="0">
                <a:latin typeface="+mn-ea"/>
              </a:endParaRP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타원 130"/>
            <p:cNvSpPr/>
            <p:nvPr/>
          </p:nvSpPr>
          <p:spPr>
            <a:xfrm>
              <a:off x="87336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타원 131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타원 132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321276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348433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모서리가 둥근 직사각형 135"/>
            <p:cNvSpPr/>
            <p:nvPr/>
          </p:nvSpPr>
          <p:spPr>
            <a:xfrm>
              <a:off x="891228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모서리가 둥근 직사각형 136"/>
            <p:cNvSpPr/>
            <p:nvPr/>
          </p:nvSpPr>
          <p:spPr>
            <a:xfrm>
              <a:off x="1508351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8" name="모서리가 둥근 직사각형 137"/>
            <p:cNvSpPr/>
            <p:nvPr/>
          </p:nvSpPr>
          <p:spPr>
            <a:xfrm>
              <a:off x="2125474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모서리가 둥근 직사각형 138"/>
            <p:cNvSpPr/>
            <p:nvPr/>
          </p:nvSpPr>
          <p:spPr>
            <a:xfrm>
              <a:off x="2742597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31318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메뉴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542624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조달계획</a:t>
              </a: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891228" y="3741713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모서리가 둥근 직사각형 142"/>
            <p:cNvSpPr/>
            <p:nvPr/>
          </p:nvSpPr>
          <p:spPr>
            <a:xfrm>
              <a:off x="891227" y="3908722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157838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입찰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891228" y="4356927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891227" y="4523936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828123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계약</a:t>
              </a:r>
            </a:p>
          </p:txBody>
        </p:sp>
        <p:sp>
          <p:nvSpPr>
            <p:cNvPr id="148" name="모서리가 둥근 직사각형 147"/>
            <p:cNvSpPr/>
            <p:nvPr/>
          </p:nvSpPr>
          <p:spPr>
            <a:xfrm>
              <a:off x="891228" y="5027212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모서리가 둥근 직사각형 148"/>
            <p:cNvSpPr/>
            <p:nvPr/>
          </p:nvSpPr>
          <p:spPr>
            <a:xfrm>
              <a:off x="891227" y="5194221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10340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7403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2" name="그룹 151"/>
            <p:cNvGrpSpPr/>
            <p:nvPr/>
          </p:nvGrpSpPr>
          <p:grpSpPr>
            <a:xfrm flipV="1">
              <a:off x="3124233" y="3580677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5" name="그룹 154"/>
            <p:cNvGrpSpPr/>
            <p:nvPr/>
          </p:nvGrpSpPr>
          <p:grpSpPr>
            <a:xfrm flipV="1">
              <a:off x="3124233" y="4195891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8" name="그룹 157"/>
            <p:cNvGrpSpPr/>
            <p:nvPr/>
          </p:nvGrpSpPr>
          <p:grpSpPr>
            <a:xfrm flipV="1">
              <a:off x="3124233" y="4866176"/>
              <a:ext cx="94010" cy="47005"/>
              <a:chOff x="6812560" y="3297172"/>
              <a:chExt cx="94010" cy="47005"/>
            </a:xfrm>
          </p:grpSpPr>
          <p:cxnSp>
            <p:nvCxnSpPr>
              <p:cNvPr id="159" name="직선 연결선 15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501652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대금</a:t>
              </a:r>
              <a:r>
                <a:rPr lang="en-US" altLang="ko-KR" sz="800" dirty="0">
                  <a:latin typeface="+mn-ea"/>
                </a:rPr>
                <a:t>/</a:t>
              </a:r>
              <a:r>
                <a:rPr lang="ko-KR" altLang="en-US" sz="800" dirty="0">
                  <a:latin typeface="+mn-ea"/>
                </a:rPr>
                <a:t>사후</a:t>
              </a: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891228" y="5700741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891227" y="5867750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5413859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5" name="그룹 164"/>
            <p:cNvGrpSpPr/>
            <p:nvPr/>
          </p:nvGrpSpPr>
          <p:grpSpPr>
            <a:xfrm flipV="1">
              <a:off x="3124233" y="5539705"/>
              <a:ext cx="94010" cy="47005"/>
              <a:chOff x="6812560" y="3297172"/>
              <a:chExt cx="94010" cy="47005"/>
            </a:xfrm>
          </p:grpSpPr>
          <p:cxnSp>
            <p:nvCxnSpPr>
              <p:cNvPr id="166" name="직선 연결선 16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7" name="직선 연결선 16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8" name="그룹 167"/>
            <p:cNvGrpSpPr/>
            <p:nvPr/>
          </p:nvGrpSpPr>
          <p:grpSpPr>
            <a:xfrm>
              <a:off x="906142" y="2861354"/>
              <a:ext cx="2255663" cy="306146"/>
              <a:chOff x="3982951" y="3679873"/>
              <a:chExt cx="2255663" cy="306146"/>
            </a:xfrm>
          </p:grpSpPr>
          <p:sp>
            <p:nvSpPr>
              <p:cNvPr id="169" name="모서리가 둥근 직사각형 1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b="1" dirty="0" err="1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메뉴명</a:t>
                </a:r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 검색</a:t>
                </a:r>
              </a:p>
            </p:txBody>
          </p:sp>
        </p:grpSp>
        <p:sp>
          <p:nvSpPr>
            <p:cNvPr id="171" name="타원 170"/>
            <p:cNvSpPr/>
            <p:nvPr/>
          </p:nvSpPr>
          <p:spPr>
            <a:xfrm>
              <a:off x="2932305" y="2941887"/>
              <a:ext cx="145081" cy="14508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367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874241" y="2032539"/>
            <a:ext cx="2214068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사용자들이 자주 사용하는 메뉴가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88309" y="2140261"/>
            <a:ext cx="107553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198574"/>
            <a:ext cx="190629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메뉴명을</a:t>
            </a:r>
            <a:r>
              <a:rPr lang="ko-KR" altLang="en-US" sz="800" dirty="0" smtClean="0">
                <a:solidFill>
                  <a:schemeClr val="bg1"/>
                </a:solidFill>
              </a:rPr>
              <a:t> 검색해서 찾을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114558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/>
          <p:cNvSpPr txBox="1"/>
          <p:nvPr/>
        </p:nvSpPr>
        <p:spPr>
          <a:xfrm>
            <a:off x="4243238" y="4378378"/>
            <a:ext cx="194316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각각의 메뉴는 열고 닫을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81" name="꺾인 연결선 180"/>
          <p:cNvCxnSpPr>
            <a:stCxn id="180" idx="1"/>
          </p:cNvCxnSpPr>
          <p:nvPr/>
        </p:nvCxnSpPr>
        <p:spPr>
          <a:xfrm rot="10800000">
            <a:off x="4053970" y="4294366"/>
            <a:ext cx="189268" cy="1917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77" name="직사각형 1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82" name="직사각형 18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51350985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3801786" y="1582647"/>
            <a:ext cx="2717198" cy="4681146"/>
            <a:chOff x="675399" y="1582647"/>
            <a:chExt cx="2717198" cy="4681146"/>
          </a:xfrm>
        </p:grpSpPr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22734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4" name="그룹 233"/>
            <p:cNvGrpSpPr/>
            <p:nvPr/>
          </p:nvGrpSpPr>
          <p:grpSpPr>
            <a:xfrm>
              <a:off x="781461" y="3684828"/>
              <a:ext cx="2186266" cy="467617"/>
              <a:chOff x="781461" y="2610063"/>
              <a:chExt cx="2186266" cy="467617"/>
            </a:xfrm>
          </p:grpSpPr>
          <p:sp>
            <p:nvSpPr>
              <p:cNvPr id="235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700" dirty="0">
                    <a:latin typeface="+mn-ea"/>
                  </a:rPr>
                  <a:t>G2B</a:t>
                </a:r>
                <a:r>
                  <a:rPr lang="ko-KR" altLang="en-US" sz="700" dirty="0" err="1" smtClean="0">
                    <a:latin typeface="+mn-ea"/>
                  </a:rPr>
                  <a:t>공고번호</a:t>
                </a:r>
                <a:r>
                  <a:rPr lang="ko-KR" altLang="en-US" sz="700" dirty="0" smtClean="0">
                    <a:latin typeface="+mn-ea"/>
                  </a:rPr>
                  <a:t>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 smtClean="0"/>
                  <a:t>(</a:t>
                </a:r>
                <a:r>
                  <a:rPr lang="ko-KR" altLang="en-US" sz="900" b="1" dirty="0" smtClean="0"/>
                  <a:t>입찰 건명</a:t>
                </a:r>
                <a:r>
                  <a:rPr lang="en-US" altLang="ko-KR" sz="900" b="1" dirty="0" smtClean="0"/>
                  <a:t>) </a:t>
                </a:r>
                <a:r>
                  <a:rPr lang="ko-KR" altLang="en-US" sz="900" b="1" dirty="0" err="1" smtClean="0"/>
                  <a:t>입찰건명을</a:t>
                </a:r>
                <a:r>
                  <a:rPr lang="ko-KR" altLang="en-US" sz="900" b="1" dirty="0" smtClean="0"/>
                  <a:t> 노출하는 영역</a:t>
                </a:r>
                <a:endParaRPr lang="en-US" altLang="ko-KR" sz="900" b="1" dirty="0" smtClean="0"/>
              </a:p>
            </p:txBody>
          </p:sp>
          <p:sp>
            <p:nvSpPr>
              <p:cNvPr id="236" name="모서리가 둥근 직사각형 235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용역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37" name="모서리가 둥근 직사각형 236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/>
                  <a:t>경쟁입찰</a:t>
                </a:r>
                <a:endParaRPr lang="ko-KR" altLang="en-US" sz="600" dirty="0"/>
              </a:p>
            </p:txBody>
          </p:sp>
        </p:grp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5875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63666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9182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공지사항</a:t>
              </a:r>
            </a:p>
          </p:txBody>
        </p:sp>
        <p:sp>
          <p:nvSpPr>
            <p:cNvPr id="241" name="타원 240"/>
            <p:cNvSpPr/>
            <p:nvPr/>
          </p:nvSpPr>
          <p:spPr>
            <a:xfrm>
              <a:off x="783686" y="236052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2" name="그룹 241"/>
            <p:cNvGrpSpPr/>
            <p:nvPr/>
          </p:nvGrpSpPr>
          <p:grpSpPr>
            <a:xfrm>
              <a:off x="3143548" y="2442513"/>
              <a:ext cx="94010" cy="47005"/>
              <a:chOff x="6812560" y="3297172"/>
              <a:chExt cx="94010" cy="47005"/>
            </a:xfrm>
          </p:grpSpPr>
          <p:cxnSp>
            <p:nvCxnSpPr>
              <p:cNvPr id="243" name="직선 연결선 2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4" name="직선 연결선 2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5" name="그룹 244"/>
            <p:cNvGrpSpPr/>
            <p:nvPr/>
          </p:nvGrpSpPr>
          <p:grpSpPr>
            <a:xfrm>
              <a:off x="767702" y="2696788"/>
              <a:ext cx="2527420" cy="477995"/>
              <a:chOff x="786326" y="2270279"/>
              <a:chExt cx="2527420" cy="477995"/>
            </a:xfrm>
          </p:grpSpPr>
          <p:sp>
            <p:nvSpPr>
              <p:cNvPr id="246" name="모서리가 둥근 직사각형 24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7" name="타원 24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49" name="그룹 24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5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5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50" name="타원 24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5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52" name="타원 25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53" name="그룹 25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54" name="직선 연결선 25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직선 연결선 25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2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301231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297177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297177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262" name="그룹 261"/>
            <p:cNvGrpSpPr/>
            <p:nvPr/>
          </p:nvGrpSpPr>
          <p:grpSpPr>
            <a:xfrm>
              <a:off x="3143548" y="3399000"/>
              <a:ext cx="94010" cy="47005"/>
              <a:chOff x="6812560" y="3297172"/>
              <a:chExt cx="94010" cy="47005"/>
            </a:xfrm>
          </p:grpSpPr>
          <p:cxnSp>
            <p:nvCxnSpPr>
              <p:cNvPr id="263" name="직선 연결선 2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65" name="그룹 264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00027" y="2030452"/>
                <a:ext cx="206277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 smtClean="0">
                    <a:latin typeface="+mn-ea"/>
                  </a:rPr>
                  <a:t>입찰공고 </a:t>
                </a:r>
                <a:r>
                  <a:rPr lang="ko-KR" altLang="en-US" sz="800" dirty="0" err="1" smtClean="0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68" name="그룹 267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75" name="직선 연결선 2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직선 연결선 2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9" name="그룹 268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70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71" name="직선 연결선 270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72" name="타원 271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3" name="타원 272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4" name="타원 273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  <p:grpSp>
          <p:nvGrpSpPr>
            <p:cNvPr id="277" name="그룹 276"/>
            <p:cNvGrpSpPr/>
            <p:nvPr/>
          </p:nvGrpSpPr>
          <p:grpSpPr>
            <a:xfrm>
              <a:off x="808106" y="4399754"/>
              <a:ext cx="2461380" cy="692497"/>
              <a:chOff x="783686" y="4433552"/>
              <a:chExt cx="2461380" cy="692497"/>
            </a:xfrm>
          </p:grpSpPr>
          <p:sp>
            <p:nvSpPr>
              <p:cNvPr id="27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769441" cy="69249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생산능력제출마감일시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 smtClean="0">
                    <a:latin typeface="+mn-ea"/>
                  </a:rPr>
                  <a:t>입찰참가등록마감일시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입찰서제출마감일시</a:t>
                </a:r>
                <a:endParaRPr lang="en-US" altLang="ko-KR" sz="600" dirty="0" smtClean="0">
                  <a:latin typeface="+mn-ea"/>
                </a:endParaRPr>
              </a:p>
            </p:txBody>
          </p:sp>
          <p:sp>
            <p:nvSpPr>
              <p:cNvPr id="279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67467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2026-07-15</a:t>
                </a: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2026-07-17</a:t>
                </a:r>
                <a:br>
                  <a:rPr lang="en-US" altLang="ko-KR" sz="600" dirty="0" smtClean="0">
                    <a:latin typeface="+mn-ea"/>
                  </a:rPr>
                </a:br>
                <a:r>
                  <a:rPr lang="en-US" altLang="ko-KR" sz="600" dirty="0" smtClean="0">
                    <a:latin typeface="+mn-ea"/>
                  </a:rPr>
                  <a:t>2026-07-18</a:t>
                </a:r>
                <a:endParaRPr lang="en-US" altLang="ko-KR" sz="600" dirty="0">
                  <a:latin typeface="+mn-ea"/>
                </a:endParaRPr>
              </a:p>
            </p:txBody>
          </p:sp>
        </p:grpSp>
        <p:sp>
          <p:nvSpPr>
            <p:cNvPr id="280" name="모서리가 둥근 직사각형 279"/>
            <p:cNvSpPr/>
            <p:nvPr/>
          </p:nvSpPr>
          <p:spPr>
            <a:xfrm>
              <a:off x="1522790" y="368482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취급공고</a:t>
              </a:r>
              <a:endParaRPr lang="ko-KR" altLang="en-US" sz="600" dirty="0"/>
            </a:p>
          </p:txBody>
        </p: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58922" y="51941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82" name="그룹 281"/>
            <p:cNvGrpSpPr/>
            <p:nvPr/>
          </p:nvGrpSpPr>
          <p:grpSpPr>
            <a:xfrm>
              <a:off x="783686" y="5271868"/>
              <a:ext cx="2186266" cy="467617"/>
              <a:chOff x="781461" y="2610063"/>
              <a:chExt cx="2186266" cy="467617"/>
            </a:xfrm>
          </p:grpSpPr>
          <p:sp>
            <p:nvSpPr>
              <p:cNvPr id="283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smtClean="0">
                    <a:latin typeface="+mn-ea"/>
                  </a:rPr>
                  <a:t>통합참조번호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>
                    <a:latin typeface="+mn-ea"/>
                  </a:rPr>
                  <a:t>(</a:t>
                </a:r>
                <a:r>
                  <a:rPr lang="ko-KR" altLang="en-US" sz="900" b="1" dirty="0" err="1">
                    <a:latin typeface="+mn-ea"/>
                  </a:rPr>
                  <a:t>공사명</a:t>
                </a:r>
                <a:r>
                  <a:rPr lang="en-US" altLang="ko-KR" sz="900" b="1" dirty="0">
                    <a:latin typeface="+mn-ea"/>
                  </a:rPr>
                  <a:t>) </a:t>
                </a:r>
                <a:r>
                  <a:rPr lang="ko-KR" altLang="en-US" sz="900" b="1" dirty="0">
                    <a:latin typeface="+mn-ea"/>
                  </a:rPr>
                  <a:t>커피나인청사 </a:t>
                </a:r>
                <a:r>
                  <a:rPr lang="ko-KR" altLang="en-US" sz="900" b="1" dirty="0" err="1">
                    <a:latin typeface="+mn-ea"/>
                  </a:rPr>
                  <a:t>냉난방기</a:t>
                </a:r>
                <a:r>
                  <a:rPr lang="ko-KR" altLang="en-US" sz="900" b="1" dirty="0">
                    <a:latin typeface="+mn-ea"/>
                  </a:rPr>
                  <a:t> </a:t>
                </a:r>
                <a:r>
                  <a:rPr lang="ko-KR" altLang="en-US" sz="900" b="1" dirty="0" err="1">
                    <a:latin typeface="+mn-ea"/>
                  </a:rPr>
                  <a:t>교체공사</a:t>
                </a:r>
                <a:endParaRPr lang="ko-KR" altLang="en-US" sz="900" b="1" dirty="0"/>
              </a:p>
            </p:txBody>
          </p:sp>
          <p:sp>
            <p:nvSpPr>
              <p:cNvPr id="284" name="모서리가 둥근 직사각형 283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공사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85" name="모서리가 둥근 직사각형 284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err="1" smtClean="0"/>
                  <a:t>공개수의</a:t>
                </a:r>
                <a:endParaRPr lang="ko-KR" altLang="en-US" sz="600" dirty="0"/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>
              <a:off x="810331" y="5986794"/>
              <a:ext cx="2461380" cy="276999"/>
              <a:chOff x="783686" y="4433552"/>
              <a:chExt cx="2461380" cy="276999"/>
            </a:xfrm>
          </p:grpSpPr>
          <p:sp>
            <p:nvSpPr>
              <p:cNvPr id="287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46166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</p:txBody>
          </p:sp>
          <p:sp>
            <p:nvSpPr>
              <p:cNvPr id="28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</p:txBody>
          </p:sp>
        </p:grpSp>
        <p:sp>
          <p:nvSpPr>
            <p:cNvPr id="289" name="모서리가 둥근 직사각형 288"/>
            <p:cNvSpPr/>
            <p:nvPr/>
          </p:nvSpPr>
          <p:spPr>
            <a:xfrm>
              <a:off x="1525015" y="527186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재공고</a:t>
              </a:r>
              <a:endParaRPr lang="ko-KR" altLang="en-US" sz="6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675399" y="1493927"/>
            <a:ext cx="2717198" cy="4738372"/>
            <a:chOff x="675399" y="1493927"/>
            <a:chExt cx="2717198" cy="4738372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7" name="그룹 176"/>
            <p:cNvGrpSpPr/>
            <p:nvPr/>
          </p:nvGrpSpPr>
          <p:grpSpPr>
            <a:xfrm>
              <a:off x="781461" y="4065071"/>
              <a:ext cx="2473257" cy="1098561"/>
              <a:chOff x="781461" y="2610063"/>
              <a:chExt cx="2473257" cy="1098561"/>
            </a:xfrm>
          </p:grpSpPr>
          <p:sp>
            <p:nvSpPr>
              <p:cNvPr id="182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781461" y="2794394"/>
                <a:ext cx="2473257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err="1"/>
                  <a:t>판단번호</a:t>
                </a:r>
                <a:r>
                  <a:rPr lang="ko-KR" altLang="en-US" sz="700" dirty="0"/>
                  <a:t> </a:t>
                </a:r>
                <a:r>
                  <a:rPr lang="en-US" altLang="ko-KR" sz="700" dirty="0"/>
                  <a:t>6000A</a:t>
                </a:r>
              </a:p>
              <a:p>
                <a:r>
                  <a:rPr lang="en-US" altLang="ko-KR" sz="900" b="1" dirty="0"/>
                  <a:t>‘26</a:t>
                </a:r>
                <a:r>
                  <a:rPr lang="ko-KR" altLang="en-US" sz="900" b="1" dirty="0"/>
                  <a:t>년 </a:t>
                </a:r>
                <a:r>
                  <a:rPr lang="en-US" altLang="ko-KR" sz="900" b="1" dirty="0"/>
                  <a:t>K5</a:t>
                </a:r>
                <a:r>
                  <a:rPr lang="ko-KR" altLang="en-US" sz="900" b="1" dirty="0"/>
                  <a:t>방독면</a:t>
                </a:r>
              </a:p>
            </p:txBody>
          </p:sp>
          <p:sp>
            <p:nvSpPr>
              <p:cNvPr id="183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1461" y="3154626"/>
                <a:ext cx="384721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발주예정월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발주기관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계약방법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예산금액</a:t>
                </a:r>
                <a:endParaRPr lang="en-US" altLang="ko-KR" sz="600" dirty="0">
                  <a:latin typeface="+mn-ea"/>
                </a:endParaRPr>
              </a:p>
            </p:txBody>
          </p:sp>
          <p:sp>
            <p:nvSpPr>
              <p:cNvPr id="184" name="TextBox 60">
                <a:extLst>
                  <a:ext uri="{FF2B5EF4-FFF2-40B4-BE49-F238E27FC236}">
                    <a16:creationId xmlns:a16="http://schemas.microsoft.com/office/drawing/2014/main" id="{8F5E3227-69E6-C89F-B8C5-534226E95EA8}"/>
                  </a:ext>
                </a:extLst>
              </p:cNvPr>
              <p:cNvSpPr txBox="1"/>
              <p:nvPr/>
            </p:nvSpPr>
            <p:spPr>
              <a:xfrm>
                <a:off x="2596303" y="3139237"/>
                <a:ext cx="538609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2026-03</a:t>
                </a: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화력총괄계약팀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총액제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11,616,000 </a:t>
                </a:r>
                <a:r>
                  <a:rPr lang="ko-KR" altLang="en-US" sz="600" dirty="0">
                    <a:latin typeface="+mn-ea"/>
                  </a:rPr>
                  <a:t>원</a:t>
                </a:r>
              </a:p>
            </p:txBody>
          </p:sp>
          <p:sp>
            <p:nvSpPr>
              <p:cNvPr id="185" name="모서리가 둥근 직사각형 184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물품</a:t>
                </a:r>
              </a:p>
            </p:txBody>
          </p:sp>
          <p:sp>
            <p:nvSpPr>
              <p:cNvPr id="186" name="모서리가 둥근 직사각형 185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/>
                  <a:t>수의계약</a:t>
                </a:r>
              </a:p>
            </p:txBody>
          </p:sp>
        </p:grp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524587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4118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476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업무도움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90" name="타원 189"/>
            <p:cNvSpPr/>
            <p:nvPr/>
          </p:nvSpPr>
          <p:spPr>
            <a:xfrm>
              <a:off x="783686" y="2356114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1" name="그룹 190"/>
            <p:cNvGrpSpPr/>
            <p:nvPr/>
          </p:nvGrpSpPr>
          <p:grpSpPr>
            <a:xfrm>
              <a:off x="3143548" y="2438100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3" name="직선 연결선 1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638327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634273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634273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3143548" y="3746640"/>
              <a:ext cx="94010" cy="47005"/>
              <a:chOff x="6812560" y="3297172"/>
              <a:chExt cx="94010" cy="47005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00" name="그룹 199"/>
            <p:cNvGrpSpPr/>
            <p:nvPr/>
          </p:nvGrpSpPr>
          <p:grpSpPr>
            <a:xfrm>
              <a:off x="767702" y="3033884"/>
              <a:ext cx="2527420" cy="477995"/>
              <a:chOff x="786326" y="2270279"/>
              <a:chExt cx="2527420" cy="477995"/>
            </a:xfrm>
          </p:grpSpPr>
          <p:sp>
            <p:nvSpPr>
              <p:cNvPr id="201" name="모서리가 둥근 직사각형 200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2" name="타원 201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04" name="그룹 203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11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조달명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12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판단번호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05" name="타원 204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06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7" name="타원 206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08" name="그룹 207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09" name="직선 연결선 208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0" name="직선 연결선 209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63225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59910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9772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743200"/>
              <a:ext cx="66385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유형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217" name="모서리가 둥근 직사각형 216"/>
            <p:cNvSpPr/>
            <p:nvPr/>
          </p:nvSpPr>
          <p:spPr>
            <a:xfrm>
              <a:off x="1104835" y="2711058"/>
              <a:ext cx="685866" cy="187200"/>
            </a:xfrm>
            <a:prstGeom prst="roundRect">
              <a:avLst>
                <a:gd name="adj" fmla="val 17463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</a:rPr>
                <a:t>조달계획</a:t>
              </a:r>
              <a:endParaRPr lang="ko-KR" altLang="en-US" sz="800" b="1" dirty="0">
                <a:solidFill>
                  <a:schemeClr val="bg1"/>
                </a:solidFill>
              </a:endParaRPr>
            </a:p>
          </p:txBody>
        </p:sp>
        <p:sp>
          <p:nvSpPr>
            <p:cNvPr id="218" name="모서리가 둥근 직사각형 217"/>
            <p:cNvSpPr/>
            <p:nvPr/>
          </p:nvSpPr>
          <p:spPr>
            <a:xfrm>
              <a:off x="1857752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smtClean="0">
                  <a:solidFill>
                    <a:schemeClr val="tx1"/>
                  </a:solidFill>
                </a:rPr>
                <a:t>사전규격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19" name="모서리가 둥근 직사각형 218"/>
            <p:cNvSpPr/>
            <p:nvPr/>
          </p:nvSpPr>
          <p:spPr>
            <a:xfrm>
              <a:off x="2604380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dirty="0" smtClean="0">
                  <a:solidFill>
                    <a:schemeClr val="tx1"/>
                  </a:solidFill>
                </a:rPr>
                <a:t>연간조달계획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더보기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(10/258)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grpSp>
          <p:nvGrpSpPr>
            <p:cNvPr id="221" name="그룹 220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93635" y="2030452"/>
                <a:ext cx="207555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>
                    <a:latin typeface="+mn-ea"/>
                  </a:rPr>
                  <a:t>조달계획 </a:t>
                </a:r>
                <a:r>
                  <a:rPr lang="ko-KR" altLang="en-US" sz="800" dirty="0" err="1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24" name="그룹 223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31" name="직선 연결선 2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직선 연결선 2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5" name="그룹 224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26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27" name="직선 연결선 226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28" name="타원 227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9" name="타원 228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0" name="타원 229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입찰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17905" y="2424051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조달계획 유형에 따라 목록이 바뀌어요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 flipV="1">
            <a:off x="1110657" y="2531773"/>
            <a:ext cx="107249" cy="14224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729380" y="3271274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검색필터로</a:t>
            </a:r>
            <a:r>
              <a:rPr lang="ko-KR" altLang="en-US" sz="800" dirty="0" smtClean="0">
                <a:solidFill>
                  <a:schemeClr val="bg1"/>
                </a:solidFill>
              </a:rPr>
              <a:t> 상세 검색을 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3"/>
          </p:cNvCxnSpPr>
          <p:nvPr/>
        </p:nvCxnSpPr>
        <p:spPr>
          <a:xfrm flipV="1">
            <a:off x="2775133" y="3179993"/>
            <a:ext cx="135070" cy="19900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업무에 참고할 수 있는 도움말이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/>
          <p:nvPr/>
        </p:nvCxnSpPr>
        <p:spPr>
          <a:xfrm>
            <a:off x="279009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194710" y="5159042"/>
            <a:ext cx="202331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101572" y="5159044"/>
            <a:ext cx="93139" cy="10772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922472" y="3295630"/>
            <a:ext cx="2172390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카드를 클릭하면 상세 내용을 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94862" y="3464907"/>
            <a:ext cx="57354" cy="1692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941180"/>
            <a:ext cx="200888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카드 상단에 주요 조건들이 제공되요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8571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/>
          <p:cNvSpPr txBox="1"/>
          <p:nvPr/>
        </p:nvSpPr>
        <p:spPr>
          <a:xfrm>
            <a:off x="4400130" y="5192780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공고의 주요 정보들이 하단에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0" name="꺾인 연결선 299"/>
          <p:cNvCxnSpPr>
            <a:stCxn id="299" idx="1"/>
          </p:cNvCxnSpPr>
          <p:nvPr/>
        </p:nvCxnSpPr>
        <p:spPr>
          <a:xfrm rot="10800000">
            <a:off x="4210862" y="51087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1" name="TextBox 300"/>
          <p:cNvSpPr txBox="1"/>
          <p:nvPr/>
        </p:nvSpPr>
        <p:spPr>
          <a:xfrm>
            <a:off x="1194710" y="5533731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5.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더보기</a:t>
            </a:r>
            <a:r>
              <a:rPr lang="ko-KR" altLang="en-US" sz="800" dirty="0" smtClean="0">
                <a:solidFill>
                  <a:schemeClr val="bg1"/>
                </a:solidFill>
              </a:rPr>
              <a:t> 버튼으로 공고를 추가로 확인할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2" name="꺾인 연결선 301"/>
          <p:cNvCxnSpPr>
            <a:stCxn id="301" idx="1"/>
          </p:cNvCxnSpPr>
          <p:nvPr/>
        </p:nvCxnSpPr>
        <p:spPr>
          <a:xfrm rot="10800000" flipV="1">
            <a:off x="1050406" y="5703007"/>
            <a:ext cx="144305" cy="104367"/>
          </a:xfrm>
          <a:prstGeom prst="bentConnector3">
            <a:avLst>
              <a:gd name="adj1" fmla="val 50000"/>
            </a:avLst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그룹 14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4" name="직사각형 14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72540418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184140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388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808381" y="2075956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3002333" y="221666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658101" y="2270660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8499697" y="3158625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2106742" y="2360660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2735794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3002333" y="378887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768563" y="221172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4423893" y="2360660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658101" y="3644396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658101" y="3842873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2106742" y="3932873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4423893" y="2355723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37888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768563" y="4302635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4423893" y="3932873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4423893" y="3932873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7190123" y="2355723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7190123" y="2879794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7190123" y="3248625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7190123" y="3248625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996C471-E44F-C5C9-F26F-9A9662EC602C}"/>
              </a:ext>
            </a:extLst>
          </p:cNvPr>
          <p:cNvSpPr/>
          <p:nvPr/>
        </p:nvSpPr>
        <p:spPr>
          <a:xfrm>
            <a:off x="3002332" y="3644397"/>
            <a:ext cx="133857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서비스 사용 시도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36" name="그룹 3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8" name="그룹 37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19894</TotalTime>
  <Words>50558</Words>
  <Application>Microsoft Office PowerPoint</Application>
  <PresentationFormat>A4 용지(210x297mm)</PresentationFormat>
  <Paragraphs>22242</Paragraphs>
  <Slides>392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11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392</vt:i4>
      </vt:variant>
    </vt:vector>
  </HeadingPairs>
  <TitlesOfParts>
    <vt:vector size="404" baseType="lpstr">
      <vt:lpstr>Pretendard GOV</vt:lpstr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1078</cp:revision>
  <cp:lastPrinted>2016-10-27T08:57:39Z</cp:lastPrinted>
  <dcterms:created xsi:type="dcterms:W3CDTF">2016-10-27T07:41:55Z</dcterms:created>
  <dcterms:modified xsi:type="dcterms:W3CDTF">2026-08-26T01:04:32Z</dcterms:modified>
  <cp:category>서브시스템/업무명</cp:category>
  <cp:contentStatus>0.1</cp:contentStatus>
</cp:coreProperties>
</file>