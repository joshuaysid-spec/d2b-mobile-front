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76"/>
  </p:notesMasterIdLst>
  <p:handoutMasterIdLst>
    <p:handoutMasterId r:id="rId77"/>
  </p:handoutMasterIdLst>
  <p:sldIdLst>
    <p:sldId id="256" r:id="rId2"/>
    <p:sldId id="790" r:id="rId3"/>
    <p:sldId id="759" r:id="rId4"/>
    <p:sldId id="356" r:id="rId5"/>
    <p:sldId id="260" r:id="rId6"/>
    <p:sldId id="791" r:id="rId7"/>
    <p:sldId id="792" r:id="rId8"/>
    <p:sldId id="793" r:id="rId9"/>
    <p:sldId id="794" r:id="rId10"/>
    <p:sldId id="798" r:id="rId11"/>
    <p:sldId id="795" r:id="rId12"/>
    <p:sldId id="796" r:id="rId13"/>
    <p:sldId id="797" r:id="rId14"/>
    <p:sldId id="758" r:id="rId15"/>
    <p:sldId id="785" r:id="rId16"/>
    <p:sldId id="292" r:id="rId17"/>
    <p:sldId id="782" r:id="rId18"/>
    <p:sldId id="760" r:id="rId19"/>
    <p:sldId id="761" r:id="rId20"/>
    <p:sldId id="630" r:id="rId21"/>
    <p:sldId id="631" r:id="rId22"/>
    <p:sldId id="633" r:id="rId23"/>
    <p:sldId id="709" r:id="rId24"/>
    <p:sldId id="783" r:id="rId25"/>
    <p:sldId id="762" r:id="rId26"/>
    <p:sldId id="763" r:id="rId27"/>
    <p:sldId id="764" r:id="rId28"/>
    <p:sldId id="713" r:id="rId29"/>
    <p:sldId id="714" r:id="rId30"/>
    <p:sldId id="715" r:id="rId31"/>
    <p:sldId id="716" r:id="rId32"/>
    <p:sldId id="765" r:id="rId33"/>
    <p:sldId id="766" r:id="rId34"/>
    <p:sldId id="767" r:id="rId35"/>
    <p:sldId id="784" r:id="rId36"/>
    <p:sldId id="768" r:id="rId37"/>
    <p:sldId id="722" r:id="rId38"/>
    <p:sldId id="723" r:id="rId39"/>
    <p:sldId id="724" r:id="rId40"/>
    <p:sldId id="725" r:id="rId41"/>
    <p:sldId id="786" r:id="rId42"/>
    <p:sldId id="769" r:id="rId43"/>
    <p:sldId id="770" r:id="rId44"/>
    <p:sldId id="771" r:id="rId45"/>
    <p:sldId id="730" r:id="rId46"/>
    <p:sldId id="731" r:id="rId47"/>
    <p:sldId id="732" r:id="rId48"/>
    <p:sldId id="787" r:id="rId49"/>
    <p:sldId id="733" r:id="rId50"/>
    <p:sldId id="734" r:id="rId51"/>
    <p:sldId id="772" r:id="rId52"/>
    <p:sldId id="773" r:id="rId53"/>
    <p:sldId id="774" r:id="rId54"/>
    <p:sldId id="738" r:id="rId55"/>
    <p:sldId id="739" r:id="rId56"/>
    <p:sldId id="740" r:id="rId57"/>
    <p:sldId id="742" r:id="rId58"/>
    <p:sldId id="775" r:id="rId59"/>
    <p:sldId id="776" r:id="rId60"/>
    <p:sldId id="745" r:id="rId61"/>
    <p:sldId id="746" r:id="rId62"/>
    <p:sldId id="748" r:id="rId63"/>
    <p:sldId id="788" r:id="rId64"/>
    <p:sldId id="749" r:id="rId65"/>
    <p:sldId id="750" r:id="rId66"/>
    <p:sldId id="777" r:id="rId67"/>
    <p:sldId id="778" r:id="rId68"/>
    <p:sldId id="779" r:id="rId69"/>
    <p:sldId id="720" r:id="rId70"/>
    <p:sldId id="704" r:id="rId71"/>
    <p:sldId id="756" r:id="rId72"/>
    <p:sldId id="781" r:id="rId73"/>
    <p:sldId id="789" r:id="rId74"/>
    <p:sldId id="780" r:id="rId75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790"/>
            <p14:sldId id="759"/>
            <p14:sldId id="356"/>
            <p14:sldId id="260"/>
          </p14:sldIdLst>
        </p14:section>
        <p14:section name="목록" id="{A88D8C4A-42D5-488C-851B-9A15CEB54A60}">
          <p14:sldIdLst>
            <p14:sldId id="791"/>
            <p14:sldId id="792"/>
            <p14:sldId id="793"/>
            <p14:sldId id="794"/>
            <p14:sldId id="798"/>
          </p14:sldIdLst>
        </p14:section>
        <p14:section name="1.계약통합목록" id="{BB5718C8-07C1-4018-9189-79486BE9C0C5}">
          <p14:sldIdLst>
            <p14:sldId id="795"/>
            <p14:sldId id="796"/>
            <p14:sldId id="797"/>
            <p14:sldId id="758"/>
            <p14:sldId id="785"/>
            <p14:sldId id="292"/>
            <p14:sldId id="782"/>
            <p14:sldId id="760"/>
            <p14:sldId id="761"/>
            <p14:sldId id="630"/>
            <p14:sldId id="631"/>
            <p14:sldId id="633"/>
            <p14:sldId id="709"/>
            <p14:sldId id="783"/>
            <p14:sldId id="762"/>
            <p14:sldId id="763"/>
            <p14:sldId id="764"/>
            <p14:sldId id="713"/>
            <p14:sldId id="714"/>
            <p14:sldId id="715"/>
            <p14:sldId id="716"/>
            <p14:sldId id="765"/>
            <p14:sldId id="766"/>
            <p14:sldId id="767"/>
            <p14:sldId id="784"/>
            <p14:sldId id="768"/>
            <p14:sldId id="722"/>
            <p14:sldId id="723"/>
            <p14:sldId id="724"/>
            <p14:sldId id="725"/>
            <p14:sldId id="786"/>
            <p14:sldId id="769"/>
            <p14:sldId id="770"/>
            <p14:sldId id="771"/>
            <p14:sldId id="730"/>
            <p14:sldId id="731"/>
            <p14:sldId id="732"/>
            <p14:sldId id="787"/>
            <p14:sldId id="733"/>
            <p14:sldId id="734"/>
            <p14:sldId id="772"/>
            <p14:sldId id="773"/>
            <p14:sldId id="774"/>
            <p14:sldId id="738"/>
            <p14:sldId id="739"/>
            <p14:sldId id="740"/>
            <p14:sldId id="742"/>
            <p14:sldId id="775"/>
            <p14:sldId id="776"/>
            <p14:sldId id="745"/>
            <p14:sldId id="746"/>
            <p14:sldId id="748"/>
            <p14:sldId id="788"/>
            <p14:sldId id="749"/>
            <p14:sldId id="750"/>
            <p14:sldId id="777"/>
            <p14:sldId id="778"/>
            <p14:sldId id="779"/>
            <p14:sldId id="720"/>
            <p14:sldId id="704"/>
          </p14:sldIdLst>
        </p14:section>
        <p14:section name="2. 대금청구진행현황" id="{818F5B40-D4DD-4315-9209-98F8CD025444}">
          <p14:sldIdLst>
            <p14:sldId id="756"/>
            <p14:sldId id="781"/>
          </p14:sldIdLst>
        </p14:section>
        <p14:section name="3.대금지불정보(반납)" id="{ADA4911A-617C-45D8-B34E-F8DEC2891795}">
          <p14:sldIdLst>
            <p14:sldId id="789"/>
            <p14:sldId id="7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6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50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2026-07-08 (Wednesday)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2026-07-08 (Wednesday)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50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05.</a:t>
            </a:r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대금청구및사후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05.</a:t>
            </a:r>
            <a:r>
              <a:rPr lang="ko-KR" altLang="en-US" dirty="0" err="1"/>
              <a:t>대금청구및사후</a:t>
            </a:r>
            <a:endParaRPr lang="ko-KR" altLang="en-US" dirty="0"/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24944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049858"/>
              </p:ext>
            </p:extLst>
          </p:nvPr>
        </p:nvGraphicFramePr>
        <p:xfrm>
          <a:off x="652374" y="1286787"/>
          <a:ext cx="8782571" cy="3743598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0.9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33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6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4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5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394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49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19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F55A7F85-0CCB-E3F1-ADC8-44D278CE1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03742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960415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대금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사후통합목록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(1/3)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35474" y="1365204"/>
          <a:ext cx="8701200" cy="5083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대금청구통합목록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진행한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계약목록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PymtClmIntgList_SrchFilter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2035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선급지급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조건에 따라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선급신청을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진행한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3248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4119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세부신청내역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PrpayApfrDtl_AplyDtsm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PrpayApfrDtl_AplyDtsm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7571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지급조건에 따라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 신청을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진행한 조회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1593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DpsmnItrpyApfrDtl.tsx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9574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세부신청내역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DpsmnItrpyApfrDtl_AplyDtsm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_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AplyDtsm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5622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 지급 상태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PrpayDpsmnItrpyGiveSttsPage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지급 상태를 조회하는 팝업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6654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MUI-WM-01-M05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17416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공급자정보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CenterPrcmPymtClmDtl_Splr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CenterPrcmPymtClmDtl_Splr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140809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115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35474" y="1365204"/>
          <a:ext cx="8701200" cy="5011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대금신청금액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CenterPrcmPymtClmDtl_Pymt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CenterPrcmPymtClmDtl_Pymt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8368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세금계산서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CenterPrcmPymtClmDtl_Txiv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CenterPrcmPymtClmDtl_Txiv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03046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0672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대금신청업체정보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SbsdPrcmPymtClmDtl_PymtBzenty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SbsdPrcmPymtClmDtl_PymtBzenty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67871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대금신청금액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SbsdPrcmPymtClmDtl_PymtAply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SbsdPrcmPymtClmDtl_PymtAply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2733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SbsdPrcmPymtClmDtl_Atch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9457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2182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대가지급업체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CstrnPymtClmDtl_GiveBzenty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CstrnPymtClmDtl_GiveBzenty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770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CstrnPymtClmDtl_Atch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57464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44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35474" y="1365204"/>
          <a:ext cx="8701200" cy="38918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MUI-WM-01-M08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PxcndCstPymtClmDtl_Ctrt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969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기성대가신청금액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PxcndCstPymtClmDtl_PxcndPymt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PxcndCstPymtClmDtl_PxcndPymt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8300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세금계산서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PxcndCstPymtClmDtl_Txiv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PxcndCstPymtClmDtl_Txiv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0276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PxcndCstPymtClmDtl_Atch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53175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안내문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PymtClmGdntc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안내문을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PymtClmGdntc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대금지불정보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RtnPymtDfryInfoPage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조달업체에서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과지급된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대금에 대하여 반납해야하는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8051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MUI-WM-01-P12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대금지불정보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PymtClmIntgList_SrchFilter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PymtClmIntgList_SrchFilter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907235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PymtClmPrgrsPrstPage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진행상태를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1274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736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163098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324838" y="28444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353835" y="2636921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2167097" y="983793"/>
            <a:ext cx="2019" cy="1292362"/>
          </a:xfrm>
          <a:prstGeom prst="bentConnector3">
            <a:avLst>
              <a:gd name="adj1" fmla="val 114224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560243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r>
              <a:rPr lang="ko-KR" altLang="en-US" sz="800" dirty="0">
                <a:solidFill>
                  <a:schemeClr val="tx1"/>
                </a:solidFill>
              </a:rPr>
              <a:t> 안내문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28373" y="3410516"/>
            <a:ext cx="3829466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113" idx="1"/>
          </p:cNvCxnSpPr>
          <p:nvPr/>
        </p:nvCxnSpPr>
        <p:spPr>
          <a:xfrm rot="16200000" flipH="1">
            <a:off x="750929" y="2687960"/>
            <a:ext cx="2272685" cy="73069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1971925" y="1772964"/>
            <a:ext cx="392362" cy="20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00970" y="738418"/>
            <a:ext cx="2245596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선금신청서상세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24629" y="99914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신청정보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19226" y="99914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세부신청내역</a:t>
            </a:r>
          </a:p>
        </p:txBody>
      </p:sp>
      <p:cxnSp>
        <p:nvCxnSpPr>
          <p:cNvPr id="1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1" idx="3"/>
            <a:endCxn id="140" idx="1"/>
          </p:cNvCxnSpPr>
          <p:nvPr/>
        </p:nvCxnSpPr>
        <p:spPr>
          <a:xfrm flipV="1">
            <a:off x="3264287" y="1092872"/>
            <a:ext cx="436683" cy="115035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1.2.1 </a:t>
            </a:r>
            <a:r>
              <a:rPr lang="ko-KR" altLang="en-US" sz="1200" dirty="0" err="1">
                <a:solidFill>
                  <a:schemeClr val="tx1"/>
                </a:solidFill>
              </a:rPr>
              <a:t>대금상세</a:t>
            </a:r>
            <a:r>
              <a:rPr lang="ko-KR" altLang="en-US" sz="1200" dirty="0">
                <a:solidFill>
                  <a:schemeClr val="tx1"/>
                </a:solidFill>
              </a:rPr>
              <a:t> 정보 조회</a:t>
            </a:r>
          </a:p>
        </p:txBody>
      </p:sp>
      <p:sp>
        <p:nvSpPr>
          <p:cNvPr id="10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209922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선금신청서상세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256746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착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중도금신청서상세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35186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중앙조달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393377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부대조달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35257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공사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77087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기성대가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252617" y="3255546"/>
            <a:ext cx="1125417" cy="186820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계약에 따른 분기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2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0926" y="1575622"/>
            <a:ext cx="2245596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착</a:t>
            </a:r>
            <a:r>
              <a:rPr lang="en-US" altLang="ko-KR" sz="800" b="1" dirty="0" smtClean="0">
                <a:solidFill>
                  <a:schemeClr val="tx1"/>
                </a:solidFill>
              </a:rPr>
              <a:t>.</a:t>
            </a:r>
            <a:r>
              <a:rPr lang="ko-KR" altLang="en-US" sz="800" b="1" dirty="0" smtClean="0">
                <a:solidFill>
                  <a:schemeClr val="tx1"/>
                </a:solidFill>
              </a:rPr>
              <a:t>중도금신청서상세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4585" y="183634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신청정보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49182" y="183634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세부신청내역</a:t>
            </a:r>
          </a:p>
        </p:txBody>
      </p:sp>
      <p:cxnSp>
        <p:nvCxnSpPr>
          <p:cNvPr id="13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4" idx="3"/>
            <a:endCxn id="129" idx="1"/>
          </p:cNvCxnSpPr>
          <p:nvPr/>
        </p:nvCxnSpPr>
        <p:spPr>
          <a:xfrm flipV="1">
            <a:off x="3264287" y="1930076"/>
            <a:ext cx="566639" cy="7813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781" y="2412826"/>
            <a:ext cx="4373762" cy="710660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b="1" dirty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4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440" y="26735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037" y="26735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공급자정보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335740" y="183634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착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r>
              <a:rPr lang="ko-KR" altLang="en-US" sz="800" dirty="0" smtClean="0">
                <a:solidFill>
                  <a:schemeClr val="tx1"/>
                </a:solidFill>
              </a:rPr>
              <a:t>중도금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지급상태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9" idx="3"/>
            <a:endCxn id="145" idx="1"/>
          </p:cNvCxnSpPr>
          <p:nvPr/>
        </p:nvCxnSpPr>
        <p:spPr>
          <a:xfrm>
            <a:off x="6076522" y="1930076"/>
            <a:ext cx="1259218" cy="50272"/>
          </a:xfrm>
          <a:prstGeom prst="bentConnector3">
            <a:avLst>
              <a:gd name="adj1" fmla="val 4446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19339" y="26735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대금신청금액</a:t>
            </a:r>
          </a:p>
        </p:txBody>
      </p:sp>
      <p:sp>
        <p:nvSpPr>
          <p:cNvPr id="14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13936" y="26735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cxnSp>
        <p:nvCxnSpPr>
          <p:cNvPr id="1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7" idx="3"/>
            <a:endCxn id="139" idx="1"/>
          </p:cNvCxnSpPr>
          <p:nvPr/>
        </p:nvCxnSpPr>
        <p:spPr>
          <a:xfrm flipV="1">
            <a:off x="3264287" y="2768156"/>
            <a:ext cx="568494" cy="89448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8383" y="3255546"/>
            <a:ext cx="4373762" cy="703132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5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082042" y="351627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76639" y="351627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대금신청업체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244941" y="351627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대금신청금액</a:t>
            </a:r>
          </a:p>
        </p:txBody>
      </p:sp>
      <p:sp>
        <p:nvSpPr>
          <p:cNvPr id="15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339538" y="351627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6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9" idx="3"/>
            <a:endCxn id="151" idx="1"/>
          </p:cNvCxnSpPr>
          <p:nvPr/>
        </p:nvCxnSpPr>
        <p:spPr>
          <a:xfrm flipV="1">
            <a:off x="3264287" y="3607112"/>
            <a:ext cx="694096" cy="47065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919" y="4088726"/>
            <a:ext cx="3340194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</a:rPr>
              <a:t>공사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6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579" y="43494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176" y="43494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대가지급업체</a:t>
            </a:r>
          </a:p>
        </p:txBody>
      </p:sp>
      <p:sp>
        <p:nvSpPr>
          <p:cNvPr id="1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43494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0" idx="3"/>
            <a:endCxn id="162" idx="1"/>
          </p:cNvCxnSpPr>
          <p:nvPr/>
        </p:nvCxnSpPr>
        <p:spPr>
          <a:xfrm flipV="1">
            <a:off x="3264287" y="4443180"/>
            <a:ext cx="568632" cy="5339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19084" y="4962285"/>
            <a:ext cx="4373762" cy="703132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기성대가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7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42743" y="52230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37340" y="52230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기성대가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신청금액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05642" y="52230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sp>
        <p:nvSpPr>
          <p:cNvPr id="18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00239" y="52230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77" idx="1"/>
          </p:cNvCxnSpPr>
          <p:nvPr/>
        </p:nvCxnSpPr>
        <p:spPr>
          <a:xfrm>
            <a:off x="3264287" y="4914870"/>
            <a:ext cx="554797" cy="3989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6" idx="3"/>
            <a:endCxn id="155" idx="2"/>
          </p:cNvCxnSpPr>
          <p:nvPr/>
        </p:nvCxnSpPr>
        <p:spPr>
          <a:xfrm flipV="1">
            <a:off x="3264287" y="2967524"/>
            <a:ext cx="6179548" cy="277890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77" idx="3"/>
            <a:endCxn id="155" idx="2"/>
          </p:cNvCxnSpPr>
          <p:nvPr/>
        </p:nvCxnSpPr>
        <p:spPr>
          <a:xfrm flipV="1">
            <a:off x="8192846" y="2967524"/>
            <a:ext cx="1250989" cy="234632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155" idx="2"/>
          </p:cNvCxnSpPr>
          <p:nvPr/>
        </p:nvCxnSpPr>
        <p:spPr>
          <a:xfrm flipV="1">
            <a:off x="7173113" y="2967524"/>
            <a:ext cx="2270722" cy="14756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5" idx="3"/>
            <a:endCxn id="158" idx="0"/>
          </p:cNvCxnSpPr>
          <p:nvPr/>
        </p:nvCxnSpPr>
        <p:spPr>
          <a:xfrm>
            <a:off x="8235740" y="1980348"/>
            <a:ext cx="1208095" cy="6565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0" idx="3"/>
            <a:endCxn id="145" idx="1"/>
          </p:cNvCxnSpPr>
          <p:nvPr/>
        </p:nvCxnSpPr>
        <p:spPr>
          <a:xfrm>
            <a:off x="5946566" y="1092872"/>
            <a:ext cx="1389174" cy="8874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9" idx="3"/>
            <a:endCxn id="158" idx="2"/>
          </p:cNvCxnSpPr>
          <p:nvPr/>
        </p:nvCxnSpPr>
        <p:spPr>
          <a:xfrm flipV="1">
            <a:off x="8206543" y="2726921"/>
            <a:ext cx="1147292" cy="412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51" idx="3"/>
            <a:endCxn id="155" idx="2"/>
          </p:cNvCxnSpPr>
          <p:nvPr/>
        </p:nvCxnSpPr>
        <p:spPr>
          <a:xfrm flipV="1">
            <a:off x="8332145" y="2967524"/>
            <a:ext cx="1111690" cy="63958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101" idx="1"/>
          </p:cNvCxnSpPr>
          <p:nvPr/>
        </p:nvCxnSpPr>
        <p:spPr>
          <a:xfrm rot="16200000" flipH="1">
            <a:off x="1779977" y="1658912"/>
            <a:ext cx="326258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104" idx="1"/>
          </p:cNvCxnSpPr>
          <p:nvPr/>
        </p:nvCxnSpPr>
        <p:spPr>
          <a:xfrm rot="16200000" flipH="1">
            <a:off x="1545858" y="1893031"/>
            <a:ext cx="794497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045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1.2.2 </a:t>
            </a:r>
            <a:r>
              <a:rPr lang="ko-KR" altLang="en-US" sz="1200" dirty="0" smtClean="0">
                <a:solidFill>
                  <a:schemeClr val="tx1"/>
                </a:solidFill>
              </a:rPr>
              <a:t>대금지불정보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2042420" y="2560195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13441" y="250821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대금지불정보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반납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62615" y="3350564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91612" y="3143072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2005391" y="2392084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9" idx="1"/>
          </p:cNvCxnSpPr>
          <p:nvPr/>
        </p:nvCxnSpPr>
        <p:spPr>
          <a:xfrm>
            <a:off x="2249280" y="2650195"/>
            <a:ext cx="1664161" cy="20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13441" y="355822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대금청구진행현황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3739" y="250821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5" idx="0"/>
            <a:endCxn id="69" idx="0"/>
          </p:cNvCxnSpPr>
          <p:nvPr/>
        </p:nvCxnSpPr>
        <p:spPr>
          <a:xfrm rot="16200000" flipV="1">
            <a:off x="5158590" y="1713065"/>
            <a:ext cx="12700" cy="159029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101" idx="1"/>
          </p:cNvCxnSpPr>
          <p:nvPr/>
        </p:nvCxnSpPr>
        <p:spPr>
          <a:xfrm>
            <a:off x="2249280" y="2650195"/>
            <a:ext cx="1664161" cy="105203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2"/>
            <a:endCxn id="158" idx="2"/>
          </p:cNvCxnSpPr>
          <p:nvPr/>
        </p:nvCxnSpPr>
        <p:spPr>
          <a:xfrm rot="16200000" flipH="1">
            <a:off x="5809097" y="1350557"/>
            <a:ext cx="436858" cy="332817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135" idx="1"/>
          </p:cNvCxnSpPr>
          <p:nvPr/>
        </p:nvCxnSpPr>
        <p:spPr>
          <a:xfrm>
            <a:off x="4813441" y="2652214"/>
            <a:ext cx="69029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1" idx="3"/>
            <a:endCxn id="158" idx="2"/>
          </p:cNvCxnSpPr>
          <p:nvPr/>
        </p:nvCxnSpPr>
        <p:spPr>
          <a:xfrm flipV="1">
            <a:off x="4813441" y="3233072"/>
            <a:ext cx="2878171" cy="46915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53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47958"/>
            <a:ext cx="967509" cy="114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(1/3)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265382" y="1644140"/>
            <a:ext cx="1727200" cy="4103754"/>
            <a:chOff x="1265382" y="1644140"/>
            <a:chExt cx="1727200" cy="375915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FD7B626-4B5C-AE29-EFB9-628750B32B78}"/>
                </a:ext>
              </a:extLst>
            </p:cNvPr>
            <p:cNvSpPr/>
            <p:nvPr/>
          </p:nvSpPr>
          <p:spPr>
            <a:xfrm>
              <a:off x="1265382" y="1644140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대금청구통합목록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PymtClmIntgListPage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 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4F2CFBC-290B-2E89-63C0-62C22747051D}"/>
                </a:ext>
              </a:extLst>
            </p:cNvPr>
            <p:cNvSpPr/>
            <p:nvPr/>
          </p:nvSpPr>
          <p:spPr>
            <a:xfrm>
              <a:off x="1265382" y="2090735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검색필터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-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PymtClmIntgList_SrchFilter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538442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선금신청서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PrpayApfrDtlPage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9623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선금신청서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상세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-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신청정보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PrpayApfrDtl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37600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선금신청서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-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세부신청내역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PrpayApfrDtl_AplyDtsm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78961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착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중도금신청서 상세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DpsmnItrpyApfrDtlPage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20323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착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중도금신청서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상세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-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신청정보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DpsmnItrpyApfrDtl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62326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착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중도금신청서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상세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-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세부신청내역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DpsmnItrpyApfrDtl_AplyDtsm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50298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선금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착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중도금 지급 상태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PrpayDpsmnItrpyGiveSttsPage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11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55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950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11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(2/3)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55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3"/>
            <a:endCxn id="9" idx="1"/>
          </p:cNvCxnSpPr>
          <p:nvPr/>
        </p:nvCxnSpPr>
        <p:spPr>
          <a:xfrm flipV="1">
            <a:off x="2992582" y="2990174"/>
            <a:ext cx="967509" cy="2997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265382" y="1644140"/>
            <a:ext cx="1727200" cy="4547654"/>
            <a:chOff x="1265382" y="1644140"/>
            <a:chExt cx="1727200" cy="416577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FD7B626-4B5C-AE29-EFB9-628750B32B78}"/>
                </a:ext>
              </a:extLst>
            </p:cNvPr>
            <p:cNvSpPr/>
            <p:nvPr/>
          </p:nvSpPr>
          <p:spPr>
            <a:xfrm>
              <a:off x="1265382" y="1644140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중앙조달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4F2CFBC-290B-2E89-63C0-62C22747051D}"/>
                </a:ext>
              </a:extLst>
            </p:cNvPr>
            <p:cNvSpPr/>
            <p:nvPr/>
          </p:nvSpPr>
          <p:spPr>
            <a:xfrm>
              <a:off x="1265382" y="2090735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00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중앙조달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)-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계약정보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CenterPrcmPymtClmDtl_Ctrt.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538442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중앙조달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)-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공급자정보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CenterPrcmPymtClmDtl_Splr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9623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중앙조달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)-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대금신청금액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CenterPrcmPymtClmDtl_Pymt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37600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중앙조달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)-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세금계산서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CenterPrcmPymtClmDtl_Txiv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78961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부대조달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20323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부대조달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)-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</a:rPr>
                <a:t>계약정보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SbsdPrcmPymtClmDtl_Ctrt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62326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부대조달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)-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 대금신청업체정보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SbsdPrcmPymtClmDtl_PymtBzenty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50298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부대조달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)-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 대금신청금액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SbsdPrcmPymtClmDtl_PymtAply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543651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대금청구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부대조달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)-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 첨부파일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SbsdPrcmPymtClmDtl_Atch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82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11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(3/3)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55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3"/>
            <a:endCxn id="9" idx="1"/>
          </p:cNvCxnSpPr>
          <p:nvPr/>
        </p:nvCxnSpPr>
        <p:spPr>
          <a:xfrm flipV="1">
            <a:off x="2992582" y="2990174"/>
            <a:ext cx="967509" cy="2997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 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CstrnPymtClmDtl_Ctrt.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 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대가지급업체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CstrnPymtClmDtl_GiveBzenty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8323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 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첨부파일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CstrnPymtClmDtl_Atch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3476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PxcndCstPymtClmDtlPage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8629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)-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PxcndCstPymtClmDtl_Ctrt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378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)-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 기성대가신청금액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PxcndCstPymtClmDtl_PxcndPymt</a:t>
            </a:r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96357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)-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 세금계산서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PxcndCstPymtClmDtl_Txiv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340258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)-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 첨부파일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PxcndCstPymtClmDtl_Atch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784158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안내문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PymtClmGdntc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3096492" y="5784158"/>
            <a:ext cx="2895006" cy="407636"/>
            <a:chOff x="3096491" y="5784158"/>
            <a:chExt cx="3558309" cy="407636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3096491" y="5784158"/>
              <a:ext cx="1727200" cy="40763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대금청구진행현황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PymtClmPrgrsPrstPage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4927600" y="5784158"/>
              <a:ext cx="1727200" cy="40763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검색필터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-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대금지불정보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PymtClmIntgList_SrchFilter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4" idx="0"/>
            <a:endCxn id="9" idx="2"/>
          </p:cNvCxnSpPr>
          <p:nvPr/>
        </p:nvCxnSpPr>
        <p:spPr>
          <a:xfrm flipV="1">
            <a:off x="3799109" y="3810190"/>
            <a:ext cx="1024582" cy="1973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0"/>
            <a:endCxn id="9" idx="2"/>
          </p:cNvCxnSpPr>
          <p:nvPr/>
        </p:nvCxnSpPr>
        <p:spPr>
          <a:xfrm flipH="1" flipV="1">
            <a:off x="4823691" y="3810190"/>
            <a:ext cx="465191" cy="1973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42" idx="0"/>
            <a:endCxn id="9" idx="2"/>
          </p:cNvCxnSpPr>
          <p:nvPr/>
        </p:nvCxnSpPr>
        <p:spPr>
          <a:xfrm flipH="1" flipV="1">
            <a:off x="4823691" y="3810190"/>
            <a:ext cx="465190" cy="1530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86264" y="5340258"/>
            <a:ext cx="1405233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대금지불정보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반납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RtnPymtDfryInfoPage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559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74704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988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378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2184" y="2319361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18727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318143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3353813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3353813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3353813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3521782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3521782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3521782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상단 </a:t>
            </a:r>
            <a:r>
              <a:rPr lang="ko-KR" altLang="en-US" sz="650" dirty="0" err="1"/>
              <a:t>업무도움은</a:t>
            </a:r>
            <a:r>
              <a:rPr lang="ko-KR" altLang="en-US" sz="650" dirty="0"/>
              <a:t> 기본 값으로 접힘 상태로 정보 제공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- </a:t>
            </a:r>
            <a:r>
              <a:rPr lang="ko-KR" altLang="en-US" sz="650" dirty="0" smtClean="0"/>
              <a:t>페이지 </a:t>
            </a:r>
            <a:r>
              <a:rPr lang="ko-KR" altLang="en-US" sz="650" dirty="0" err="1" smtClean="0"/>
              <a:t>호출시</a:t>
            </a:r>
            <a:r>
              <a:rPr lang="ko-KR" altLang="en-US" sz="650" dirty="0" smtClean="0"/>
              <a:t> </a:t>
            </a:r>
            <a:r>
              <a:rPr lang="en-US" altLang="ko-KR" sz="650" dirty="0" smtClean="0"/>
              <a:t>: </a:t>
            </a:r>
            <a:r>
              <a:rPr lang="ko-KR" altLang="en-US" sz="650" dirty="0" smtClean="0"/>
              <a:t>해당 업체에서 진행중인 모든 </a:t>
            </a:r>
            <a:r>
              <a:rPr lang="ko-KR" altLang="en-US" sz="650" dirty="0" err="1" smtClean="0"/>
              <a:t>계약건이</a:t>
            </a:r>
            <a:r>
              <a:rPr lang="ko-KR" altLang="en-US" sz="650" dirty="0" smtClean="0"/>
              <a:t> 노출됨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- </a:t>
            </a:r>
            <a:r>
              <a:rPr lang="ko-KR" altLang="en-US" sz="650" dirty="0" smtClean="0"/>
              <a:t>계약일자기준 당일 포함 이전 </a:t>
            </a:r>
            <a:r>
              <a:rPr lang="en-US" altLang="ko-KR" sz="650" dirty="0" smtClean="0"/>
              <a:t>30</a:t>
            </a:r>
            <a:r>
              <a:rPr lang="ko-KR" altLang="en-US" sz="650" dirty="0" smtClean="0"/>
              <a:t>일 동안 신청된 계약 건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- </a:t>
            </a:r>
            <a:r>
              <a:rPr lang="ko-KR" altLang="en-US" sz="650" dirty="0"/>
              <a:t>기본값 </a:t>
            </a:r>
            <a:r>
              <a:rPr lang="en-US" altLang="ko-KR" sz="650" dirty="0"/>
              <a:t>: </a:t>
            </a:r>
            <a:r>
              <a:rPr lang="ko-KR" altLang="en-US" sz="650" dirty="0"/>
              <a:t>접힘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사용자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확장하여 정보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업무도움</a:t>
            </a:r>
            <a:r>
              <a:rPr lang="en-US" altLang="ko-KR" sz="650" dirty="0"/>
              <a:t> &gt; </a:t>
            </a:r>
            <a:r>
              <a:rPr lang="ko-KR" altLang="en-US" sz="650" dirty="0"/>
              <a:t>내역이 있는 경우 표시</a:t>
            </a:r>
            <a:r>
              <a:rPr lang="en-US" altLang="ko-KR" sz="650" dirty="0"/>
              <a:t>, </a:t>
            </a:r>
            <a:r>
              <a:rPr lang="ko-KR" altLang="en-US" sz="650" dirty="0"/>
              <a:t>내역이 없으면 항목을 표시하지 않음</a:t>
            </a:r>
            <a:r>
              <a:rPr lang="en-US" altLang="ko-KR" sz="650" dirty="0" smtClean="0"/>
              <a:t>.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검색필터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2-1] </a:t>
            </a:r>
            <a:r>
              <a:rPr lang="ko-KR" altLang="en-US" sz="650" dirty="0"/>
              <a:t>통합참조정보</a:t>
            </a:r>
            <a:r>
              <a:rPr lang="en-US" altLang="ko-KR" sz="650" dirty="0"/>
              <a:t>, </a:t>
            </a:r>
            <a:r>
              <a:rPr lang="ko-KR" altLang="en-US" sz="650" dirty="0" err="1"/>
              <a:t>예약번호중</a:t>
            </a:r>
            <a:r>
              <a:rPr lang="ko-KR" altLang="en-US" sz="650" dirty="0"/>
              <a:t> 선택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2-2] </a:t>
            </a:r>
            <a:r>
              <a:rPr lang="ko-KR" altLang="en-US" sz="650" dirty="0" err="1"/>
              <a:t>검색어</a:t>
            </a:r>
            <a:r>
              <a:rPr lang="ko-KR" altLang="en-US" sz="650" dirty="0"/>
              <a:t> 입력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>
                <a:latin typeface="+mn-ea"/>
              </a:rPr>
              <a:t>검색 필터 호출</a:t>
            </a:r>
            <a:r>
              <a:rPr lang="en-US" altLang="ko-KR" sz="650" dirty="0">
                <a:latin typeface="+mn-ea"/>
              </a:rPr>
              <a:t/>
            </a:r>
            <a:br>
              <a:rPr lang="en-US" altLang="ko-KR" sz="650" dirty="0">
                <a:latin typeface="+mn-ea"/>
              </a:rPr>
            </a:br>
            <a:r>
              <a:rPr lang="ko-KR" altLang="en-US" sz="650" dirty="0">
                <a:latin typeface="+mn-ea"/>
              </a:rPr>
              <a:t> </a:t>
            </a:r>
            <a:r>
              <a:rPr lang="en-US" altLang="ko-KR" sz="650" dirty="0">
                <a:latin typeface="+mn-ea"/>
              </a:rPr>
              <a:t>– </a:t>
            </a:r>
            <a:r>
              <a:rPr lang="ko-KR" altLang="en-US" sz="650" dirty="0">
                <a:latin typeface="+mn-ea"/>
              </a:rPr>
              <a:t>계약 페이지 참고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smtClean="0"/>
              <a:t>표시 </a:t>
            </a:r>
            <a:r>
              <a:rPr lang="ko-KR" altLang="en-US" sz="650" dirty="0"/>
              <a:t>개수 영역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총 개수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표시 개수 </a:t>
            </a:r>
            <a:r>
              <a:rPr lang="en-US" altLang="ko-KR" sz="650" dirty="0"/>
              <a:t>(</a:t>
            </a:r>
            <a:r>
              <a:rPr lang="ko-KR" altLang="en-US" sz="650" dirty="0"/>
              <a:t>선택한 건수 만큼 보여주고 </a:t>
            </a:r>
            <a:r>
              <a:rPr lang="ko-KR" altLang="en-US" sz="650" dirty="0" err="1"/>
              <a:t>더보기시</a:t>
            </a:r>
            <a:r>
              <a:rPr lang="ko-KR" altLang="en-US" sz="650" dirty="0"/>
              <a:t> 추가로 불러옴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ko-KR" altLang="en-US" sz="650" dirty="0"/>
              <a:t>목록 카드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카드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</a:t>
            </a:r>
            <a:r>
              <a:rPr lang="ko-KR" altLang="en-US" sz="650" dirty="0" err="1" smtClean="0"/>
              <a:t>바텀시트</a:t>
            </a:r>
            <a:r>
              <a:rPr lang="ko-KR" altLang="en-US" sz="650" dirty="0" smtClean="0"/>
              <a:t> 호출</a:t>
            </a:r>
            <a:r>
              <a:rPr lang="en-US" altLang="ko-KR" sz="650" dirty="0" smtClean="0"/>
              <a:t>(</a:t>
            </a:r>
            <a:r>
              <a:rPr lang="en-US" altLang="ko-KR" sz="650" dirty="0" smtClean="0">
                <a:latin typeface="+mn-ea"/>
              </a:rPr>
              <a:t>MUI-WM-01-P13)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4-1] </a:t>
            </a:r>
            <a:r>
              <a:rPr lang="ko-KR" altLang="en-US" sz="650" dirty="0" err="1"/>
              <a:t>표시레이블</a:t>
            </a:r>
            <a:r>
              <a:rPr lang="ko-KR" altLang="en-US" sz="650" dirty="0"/>
              <a:t> 영역 </a:t>
            </a:r>
            <a:r>
              <a:rPr lang="ko-KR" altLang="en-US" sz="650" dirty="0" smtClean="0"/>
              <a:t>항목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레이블이 화면을 넘치는 경우 드래그하여 확인 가능 </a:t>
            </a:r>
            <a:r>
              <a:rPr lang="en-US" altLang="ko-KR" sz="650" dirty="0"/>
              <a:t>(</a:t>
            </a:r>
            <a:r>
              <a:rPr lang="ko-KR" altLang="en-US" sz="650" dirty="0" err="1"/>
              <a:t>스와이프기능</a:t>
            </a:r>
            <a:r>
              <a:rPr lang="ko-KR" altLang="en-US" sz="650" dirty="0"/>
              <a:t> 반영 필요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업무구분</a:t>
            </a:r>
            <a:r>
              <a:rPr lang="ko-KR" altLang="en-US" sz="650" dirty="0"/>
              <a:t> </a:t>
            </a:r>
            <a:r>
              <a:rPr lang="en-US" altLang="ko-KR" sz="650" dirty="0"/>
              <a:t>:  </a:t>
            </a:r>
            <a:r>
              <a:rPr lang="ko-KR" altLang="en-US" sz="650" dirty="0"/>
              <a:t>전체</a:t>
            </a:r>
            <a:r>
              <a:rPr lang="en-US" altLang="ko-KR" sz="650" dirty="0"/>
              <a:t>, </a:t>
            </a:r>
            <a:r>
              <a:rPr lang="ko-KR" altLang="en-US" sz="650" dirty="0"/>
              <a:t>물품</a:t>
            </a:r>
            <a:r>
              <a:rPr lang="en-US" altLang="ko-KR" sz="650" dirty="0"/>
              <a:t>, </a:t>
            </a:r>
            <a:r>
              <a:rPr lang="ko-KR" altLang="en-US" sz="650" dirty="0"/>
              <a:t>용역</a:t>
            </a:r>
            <a:r>
              <a:rPr lang="en-US" altLang="ko-KR" sz="650" dirty="0"/>
              <a:t>, </a:t>
            </a:r>
            <a:r>
              <a:rPr lang="ko-KR" altLang="en-US" sz="650" dirty="0"/>
              <a:t>공사</a:t>
            </a:r>
            <a:r>
              <a:rPr lang="en-US" altLang="ko-KR" sz="650" dirty="0"/>
              <a:t>, </a:t>
            </a:r>
            <a:r>
              <a:rPr lang="ko-KR" altLang="en-US" sz="650" dirty="0"/>
              <a:t>국외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입찰구분</a:t>
            </a:r>
            <a:r>
              <a:rPr lang="ko-KR" altLang="en-US" sz="650" dirty="0" smtClean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총액제</a:t>
            </a:r>
            <a:r>
              <a:rPr lang="en-US" altLang="ko-KR" sz="650" dirty="0"/>
              <a:t>, </a:t>
            </a:r>
            <a:r>
              <a:rPr lang="ko-KR" altLang="en-US" sz="650" dirty="0" err="1"/>
              <a:t>단가제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- </a:t>
            </a:r>
            <a:r>
              <a:rPr lang="ko-KR" altLang="en-US" sz="650" dirty="0"/>
              <a:t>계약방법 </a:t>
            </a:r>
            <a:r>
              <a:rPr lang="en-US" altLang="ko-KR" sz="650" dirty="0"/>
              <a:t>:  </a:t>
            </a:r>
            <a:r>
              <a:rPr lang="ko-KR" altLang="en-US" sz="650" dirty="0"/>
              <a:t>일반경쟁</a:t>
            </a:r>
            <a:r>
              <a:rPr lang="en-US" altLang="ko-KR" sz="650" dirty="0"/>
              <a:t>, </a:t>
            </a:r>
            <a:r>
              <a:rPr lang="ko-KR" altLang="en-US" sz="650" dirty="0"/>
              <a:t>지명경쟁</a:t>
            </a:r>
            <a:r>
              <a:rPr lang="en-US" altLang="ko-KR" sz="650" dirty="0"/>
              <a:t>,</a:t>
            </a:r>
            <a:r>
              <a:rPr lang="ko-KR" altLang="en-US" sz="650" dirty="0"/>
              <a:t>제한경쟁</a:t>
            </a:r>
            <a:r>
              <a:rPr lang="en-US" altLang="ko-KR" sz="650" dirty="0"/>
              <a:t>,</a:t>
            </a:r>
            <a:r>
              <a:rPr lang="ko-KR" altLang="en-US" sz="650" dirty="0" err="1"/>
              <a:t>복수경쟁</a:t>
            </a:r>
            <a:r>
              <a:rPr lang="en-US" altLang="ko-KR" sz="650" dirty="0"/>
              <a:t>,</a:t>
            </a:r>
            <a:r>
              <a:rPr lang="ko-KR" altLang="en-US" sz="650" dirty="0"/>
              <a:t>수의계약</a:t>
            </a:r>
            <a:r>
              <a:rPr lang="en-US" altLang="ko-KR" sz="650" dirty="0"/>
              <a:t>,</a:t>
            </a:r>
            <a:r>
              <a:rPr lang="ko-KR" altLang="en-US" sz="650" dirty="0" err="1"/>
              <a:t>협상에의한계약</a:t>
            </a:r>
            <a:r>
              <a:rPr lang="en-US" altLang="ko-KR" sz="650" dirty="0"/>
              <a:t>(</a:t>
            </a:r>
            <a:r>
              <a:rPr lang="ko-KR" altLang="en-US" sz="650" dirty="0"/>
              <a:t>서류</a:t>
            </a:r>
            <a:r>
              <a:rPr lang="en-US" altLang="ko-KR" sz="650" dirty="0"/>
              <a:t>),2</a:t>
            </a:r>
            <a:r>
              <a:rPr lang="ko-KR" altLang="en-US" sz="650" dirty="0"/>
              <a:t>단계 경쟁</a:t>
            </a:r>
            <a:r>
              <a:rPr lang="en-US" altLang="ko-KR" sz="650" dirty="0"/>
              <a:t>(</a:t>
            </a:r>
            <a:r>
              <a:rPr lang="ko-KR" altLang="en-US" sz="650" dirty="0"/>
              <a:t>동시</a:t>
            </a:r>
            <a:r>
              <a:rPr lang="en-US" altLang="ko-KR" sz="650" dirty="0"/>
              <a:t>), 2</a:t>
            </a:r>
            <a:r>
              <a:rPr lang="ko-KR" altLang="en-US" sz="650" dirty="0"/>
              <a:t>단계 경쟁</a:t>
            </a:r>
            <a:r>
              <a:rPr lang="en-US" altLang="ko-KR" sz="650" dirty="0"/>
              <a:t>(</a:t>
            </a:r>
            <a:r>
              <a:rPr lang="ko-KR" altLang="en-US" sz="650" dirty="0"/>
              <a:t>분리</a:t>
            </a:r>
            <a:r>
              <a:rPr lang="en-US" altLang="ko-KR" sz="650" dirty="0"/>
              <a:t>), </a:t>
            </a:r>
            <a:r>
              <a:rPr lang="ko-KR" altLang="en-US" sz="650" dirty="0" err="1"/>
              <a:t>종합낙찰제</a:t>
            </a:r>
            <a:r>
              <a:rPr lang="en-US" altLang="ko-KR" sz="650" dirty="0"/>
              <a:t>, </a:t>
            </a:r>
            <a:r>
              <a:rPr lang="ko-KR" altLang="en-US" sz="650" dirty="0" err="1"/>
              <a:t>협상에의한</a:t>
            </a:r>
            <a:r>
              <a:rPr lang="ko-KR" altLang="en-US" sz="650" dirty="0"/>
              <a:t> 계약</a:t>
            </a:r>
            <a:r>
              <a:rPr lang="en-US" altLang="ko-KR" sz="650" dirty="0"/>
              <a:t>(</a:t>
            </a:r>
            <a:r>
              <a:rPr lang="ko-KR" altLang="en-US" sz="650" dirty="0"/>
              <a:t>전자</a:t>
            </a:r>
            <a:r>
              <a:rPr lang="en-US" altLang="ko-KR" sz="650" dirty="0"/>
              <a:t>), </a:t>
            </a:r>
            <a:r>
              <a:rPr lang="ko-KR" altLang="en-US" sz="650" dirty="0" err="1"/>
              <a:t>역경매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4-2] </a:t>
            </a:r>
            <a:r>
              <a:rPr lang="ko-KR" altLang="en-US" sz="650" dirty="0"/>
              <a:t>문서 정보 영역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계약번호</a:t>
            </a:r>
            <a:r>
              <a:rPr lang="en-US" altLang="ko-KR" sz="650" dirty="0" smtClean="0"/>
              <a:t>+</a:t>
            </a:r>
            <a:r>
              <a:rPr lang="ko-KR" altLang="en-US" sz="650" dirty="0" err="1" smtClean="0"/>
              <a:t>회차노출</a:t>
            </a:r>
            <a:r>
              <a:rPr lang="ko-KR" altLang="en-US" sz="650" dirty="0" smtClean="0"/>
              <a:t>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계약번호</a:t>
            </a:r>
            <a:r>
              <a:rPr lang="ko-KR" altLang="en-US" sz="650" dirty="0" smtClean="0"/>
              <a:t> </a:t>
            </a:r>
            <a:r>
              <a:rPr lang="ko-KR" altLang="en-US" sz="650" dirty="0" err="1"/>
              <a:t>노출시</a:t>
            </a:r>
            <a:r>
              <a:rPr lang="ko-KR" altLang="en-US" sz="650" dirty="0"/>
              <a:t> 해당 라인을 넘어가면 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:</a:t>
            </a:r>
            <a:r>
              <a:rPr lang="ko-KR" altLang="en-US" sz="650" dirty="0"/>
              <a:t>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/>
              <a:t>계약번호차수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4-3] </a:t>
            </a:r>
            <a:r>
              <a:rPr lang="ko-KR" altLang="en-US" sz="650" dirty="0"/>
              <a:t>문서 제목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제목은 </a:t>
            </a:r>
            <a:r>
              <a:rPr lang="en-US" altLang="ko-KR" sz="650" dirty="0"/>
              <a:t>2</a:t>
            </a:r>
            <a:r>
              <a:rPr lang="ko-KR" altLang="en-US" sz="650" dirty="0"/>
              <a:t>줄 까지 노출 이후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더보기</a:t>
            </a:r>
            <a:r>
              <a:rPr lang="ko-KR" altLang="en-US" sz="650" dirty="0"/>
              <a:t> 기능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- 3</a:t>
            </a:r>
            <a:r>
              <a:rPr lang="ko-KR" altLang="en-US" sz="650" dirty="0" err="1"/>
              <a:t>번항목</a:t>
            </a:r>
            <a:r>
              <a:rPr lang="ko-KR" altLang="en-US" sz="650" dirty="0"/>
              <a:t> 표시 개수 영역에서 선택한 개수로 증가</a:t>
            </a:r>
            <a:r>
              <a:rPr lang="en-US" altLang="ko-KR" sz="650" dirty="0"/>
              <a:t>.</a:t>
            </a:r>
            <a:br>
              <a:rPr lang="en-US" altLang="ko-KR" sz="650" dirty="0"/>
            </a:br>
            <a:r>
              <a:rPr lang="ko-KR" altLang="en-US" sz="650" dirty="0"/>
              <a:t>예</a:t>
            </a:r>
            <a:r>
              <a:rPr lang="en-US" altLang="ko-KR" sz="650" dirty="0"/>
              <a:t>) 10</a:t>
            </a:r>
            <a:r>
              <a:rPr lang="ko-KR" altLang="en-US" sz="650" dirty="0"/>
              <a:t>개 노출 이후 </a:t>
            </a:r>
            <a:r>
              <a:rPr lang="ko-KR" altLang="en-US" sz="650" dirty="0" err="1"/>
              <a:t>더보기</a:t>
            </a:r>
            <a:r>
              <a:rPr lang="ko-KR" altLang="en-US" sz="650" dirty="0"/>
              <a:t> 버튼 클릭으로 </a:t>
            </a:r>
            <a:r>
              <a:rPr lang="en-US" altLang="ko-KR" sz="650" dirty="0"/>
              <a:t>10</a:t>
            </a:r>
            <a:r>
              <a:rPr lang="ko-KR" altLang="en-US" sz="650" dirty="0"/>
              <a:t>개씩 추가 </a:t>
            </a:r>
            <a:r>
              <a:rPr lang="ko-KR" altLang="en-US" sz="650" dirty="0" smtClean="0"/>
              <a:t>로드</a:t>
            </a:r>
            <a:endParaRPr lang="en-US" altLang="ko-KR" sz="65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smtClean="0"/>
              <a:t>대금청구관련 안내문을 호출한다</a:t>
            </a:r>
            <a:r>
              <a:rPr lang="en-US" altLang="ko-KR" sz="650" dirty="0" smtClean="0"/>
              <a:t>.</a:t>
            </a:r>
            <a:r>
              <a:rPr lang="en-US" altLang="ko-KR" sz="650" dirty="0">
                <a:latin typeface="+mn-ea"/>
              </a:rPr>
              <a:t> </a:t>
            </a:r>
            <a:r>
              <a:rPr lang="en-US" altLang="ko-KR" sz="650" dirty="0" smtClean="0">
                <a:latin typeface="+mn-ea"/>
              </a:rPr>
              <a:t>(MUI-WM-01-P09)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endParaRPr lang="en-US" altLang="ko-KR" sz="650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8" name="직사각형 7"/>
          <p:cNvSpPr/>
          <p:nvPr/>
        </p:nvSpPr>
        <p:spPr>
          <a:xfrm>
            <a:off x="7098114" y="6054072"/>
            <a:ext cx="2305455" cy="21487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>
                <a:solidFill>
                  <a:schemeClr val="bg1"/>
                </a:solidFill>
              </a:rPr>
              <a:t>0701]</a:t>
            </a:r>
          </a:p>
          <a:p>
            <a:r>
              <a:rPr lang="ko-KR" altLang="en-US" sz="500" dirty="0" err="1" smtClean="0">
                <a:solidFill>
                  <a:schemeClr val="bg1"/>
                </a:solidFill>
              </a:rPr>
              <a:t>업체명</a:t>
            </a:r>
            <a:r>
              <a:rPr lang="en-US" altLang="ko-KR" sz="500" dirty="0" smtClean="0">
                <a:solidFill>
                  <a:schemeClr val="bg1"/>
                </a:solidFill>
              </a:rPr>
              <a:t>, </a:t>
            </a:r>
            <a:r>
              <a:rPr lang="ko-KR" altLang="en-US" sz="500" dirty="0" smtClean="0">
                <a:solidFill>
                  <a:schemeClr val="bg1"/>
                </a:solidFill>
              </a:rPr>
              <a:t>입찰방법</a:t>
            </a:r>
            <a:r>
              <a:rPr lang="en-US" altLang="ko-KR" sz="500" dirty="0" smtClean="0">
                <a:solidFill>
                  <a:schemeClr val="bg1"/>
                </a:solidFill>
              </a:rPr>
              <a:t>,</a:t>
            </a:r>
            <a:r>
              <a:rPr lang="ko-KR" altLang="en-US" sz="500" dirty="0" err="1" smtClean="0">
                <a:solidFill>
                  <a:schemeClr val="bg1"/>
                </a:solidFill>
              </a:rPr>
              <a:t>계약종류</a:t>
            </a:r>
            <a:r>
              <a:rPr lang="en-US" altLang="ko-KR" sz="500" dirty="0" smtClean="0">
                <a:solidFill>
                  <a:schemeClr val="bg1"/>
                </a:solidFill>
              </a:rPr>
              <a:t>,</a:t>
            </a:r>
            <a:r>
              <a:rPr lang="ko-KR" altLang="en-US" sz="500" dirty="0" err="1" smtClean="0">
                <a:solidFill>
                  <a:schemeClr val="bg1"/>
                </a:solidFill>
              </a:rPr>
              <a:t>계약일자</a:t>
            </a:r>
            <a:r>
              <a:rPr lang="en-US" altLang="ko-KR" sz="500" dirty="0">
                <a:solidFill>
                  <a:schemeClr val="bg1"/>
                </a:solidFill>
              </a:rPr>
              <a:t> </a:t>
            </a:r>
            <a:r>
              <a:rPr lang="ko-KR" altLang="en-US" sz="500" dirty="0" smtClean="0">
                <a:solidFill>
                  <a:schemeClr val="bg1"/>
                </a:solidFill>
              </a:rPr>
              <a:t>누락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</p:spTree>
    <p:extLst>
      <p:ext uri="{BB962C8B-B14F-4D97-AF65-F5344CB8AC3E}">
        <p14:creationId xmlns:p14="http://schemas.microsoft.com/office/powerpoint/2010/main" val="540538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74704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378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455540" y="358908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/>
              <a:t>２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선택한 </a:t>
            </a:r>
            <a:r>
              <a:rPr lang="ko-KR" altLang="en-US" sz="800" dirty="0" err="1" smtClean="0"/>
              <a:t>계약건에</a:t>
            </a:r>
            <a:r>
              <a:rPr lang="ko-KR" altLang="en-US" sz="800" dirty="0" smtClean="0"/>
              <a:t> 진행중인 대금 청구가 </a:t>
            </a:r>
            <a:r>
              <a:rPr lang="ko-KR" altLang="en-US" sz="800" dirty="0" err="1" smtClean="0"/>
              <a:t>없는경우</a:t>
            </a:r>
            <a:r>
              <a:rPr lang="ko-KR" altLang="en-US" sz="800" dirty="0" smtClean="0"/>
              <a:t> 토스트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“</a:t>
            </a:r>
            <a:r>
              <a:rPr lang="ko-KR" altLang="en-US" sz="800" dirty="0" smtClean="0"/>
              <a:t>진행중인 대금청구건이 없는 계약입니다</a:t>
            </a:r>
            <a:r>
              <a:rPr lang="en-US" altLang="ko-KR" sz="800" dirty="0" smtClean="0"/>
              <a:t>“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선택한 </a:t>
            </a:r>
            <a:r>
              <a:rPr lang="ko-KR" altLang="en-US" sz="800" dirty="0" err="1" smtClean="0"/>
              <a:t>계약건에</a:t>
            </a:r>
            <a:r>
              <a:rPr lang="ko-KR" altLang="en-US" sz="800" dirty="0" smtClean="0"/>
              <a:t> 진행중인 대금 청구가 있는 경우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바텀시트</a:t>
            </a:r>
            <a:r>
              <a:rPr lang="ko-KR" altLang="en-US" sz="800" dirty="0" smtClean="0"/>
              <a:t>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보유중인 신청 목록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4" name="직사각형 3"/>
          <p:cNvSpPr/>
          <p:nvPr/>
        </p:nvSpPr>
        <p:spPr>
          <a:xfrm>
            <a:off x="674315" y="3236053"/>
            <a:ext cx="2713111" cy="123463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8010" y="5196138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진행중인 </a:t>
            </a:r>
            <a:r>
              <a:rPr kumimoji="1" lang="ko-KR" altLang="en-US" sz="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대금청구가</a:t>
            </a: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 </a:t>
            </a: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없는 계약 입니다</a:t>
            </a:r>
            <a:r>
              <a:rPr kumimoji="1" lang="en-US" altLang="ko-KR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68868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129541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7403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4" name="그룹 173"/>
          <p:cNvGrpSpPr/>
          <p:nvPr/>
        </p:nvGrpSpPr>
        <p:grpSpPr>
          <a:xfrm rot="5400000">
            <a:off x="3948482" y="1640499"/>
            <a:ext cx="94010" cy="47005"/>
            <a:chOff x="6812560" y="3297172"/>
            <a:chExt cx="94010" cy="47005"/>
          </a:xfrm>
        </p:grpSpPr>
        <p:cxnSp>
          <p:nvCxnSpPr>
            <p:cNvPr id="175" name="직선 연결선 17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직선 연결선 17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7" name="타원 176"/>
          <p:cNvSpPr/>
          <p:nvPr/>
        </p:nvSpPr>
        <p:spPr>
          <a:xfrm>
            <a:off x="6238006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양쪽 모서리가 둥근 사각형 188"/>
          <p:cNvSpPr/>
          <p:nvPr/>
        </p:nvSpPr>
        <p:spPr>
          <a:xfrm>
            <a:off x="3868868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4954881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6357807" y="2085445"/>
            <a:ext cx="94010" cy="94010"/>
            <a:chOff x="6812560" y="3297172"/>
            <a:chExt cx="94010" cy="94010"/>
          </a:xfrm>
        </p:grpSpPr>
        <p:cxnSp>
          <p:nvCxnSpPr>
            <p:cNvPr id="192" name="직선 연결선 19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97945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대금청구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신청목록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4001575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3971985" y="3199121"/>
            <a:ext cx="2476202" cy="1171825"/>
            <a:chOff x="778516" y="2610063"/>
            <a:chExt cx="2476202" cy="1171825"/>
          </a:xfrm>
        </p:grpSpPr>
        <p:sp>
          <p:nvSpPr>
            <p:cNvPr id="19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/>
                <a:t>청구번호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12315 - </a:t>
              </a:r>
              <a:r>
                <a:rPr lang="en-US" altLang="ko-KR" sz="800" dirty="0" smtClean="0"/>
                <a:t>42</a:t>
              </a:r>
            </a:p>
            <a:p>
              <a:r>
                <a:rPr lang="ko-KR" altLang="en-US" sz="900" b="1" dirty="0" err="1" smtClean="0"/>
                <a:t>대금청구서</a:t>
              </a:r>
              <a:endParaRPr lang="ko-KR" altLang="en-US" sz="1050" b="1" dirty="0"/>
            </a:p>
          </p:txBody>
        </p:sp>
        <p:sp>
          <p:nvSpPr>
            <p:cNvPr id="19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20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01" name="모서리가 둥근 직사각형 200"/>
            <p:cNvSpPr/>
            <p:nvPr/>
          </p:nvSpPr>
          <p:spPr>
            <a:xfrm>
              <a:off x="778516" y="2610063"/>
              <a:ext cx="480073" cy="12997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진행중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913959" y="443893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74930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2025 000 000 - 01</a:t>
            </a:r>
          </a:p>
          <a:p>
            <a:r>
              <a:rPr lang="ko-KR" altLang="en-US" sz="900" b="1" dirty="0" smtClean="0"/>
              <a:t>변속기 부품 계약의 건</a:t>
            </a:r>
            <a:endParaRPr lang="ko-KR" altLang="en-US" sz="900" b="1" dirty="0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55615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" name="직선 화살표 연결선 8"/>
          <p:cNvCxnSpPr>
            <a:endCxn id="99" idx="0"/>
          </p:cNvCxnSpPr>
          <p:nvPr/>
        </p:nvCxnSpPr>
        <p:spPr>
          <a:xfrm flipH="1">
            <a:off x="2063172" y="4562778"/>
            <a:ext cx="1" cy="63336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/>
          <p:cNvCxnSpPr/>
          <p:nvPr/>
        </p:nvCxnSpPr>
        <p:spPr>
          <a:xfrm>
            <a:off x="3411164" y="3851307"/>
            <a:ext cx="317308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타원 2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106076" y="47375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215" name="그룹 214"/>
          <p:cNvGrpSpPr/>
          <p:nvPr/>
        </p:nvGrpSpPr>
        <p:grpSpPr>
          <a:xfrm>
            <a:off x="3971985" y="4572651"/>
            <a:ext cx="2476202" cy="1171825"/>
            <a:chOff x="778516" y="2610063"/>
            <a:chExt cx="2476202" cy="1171825"/>
          </a:xfrm>
        </p:grpSpPr>
        <p:sp>
          <p:nvSpPr>
            <p:cNvPr id="21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800" dirty="0" err="1">
                  <a:solidFill>
                    <a:prstClr val="black"/>
                  </a:solidFill>
                </a:rPr>
                <a:t>청구번호</a:t>
              </a:r>
              <a:r>
                <a:rPr lang="ko-KR" altLang="en-US" sz="800" dirty="0">
                  <a:solidFill>
                    <a:prstClr val="black"/>
                  </a:solidFill>
                </a:rPr>
                <a:t> </a:t>
              </a:r>
              <a:r>
                <a:rPr lang="en-US" altLang="ko-KR" sz="800" dirty="0">
                  <a:solidFill>
                    <a:prstClr val="black"/>
                  </a:solidFill>
                </a:rPr>
                <a:t>12315 - 42</a:t>
              </a:r>
            </a:p>
            <a:p>
              <a:r>
                <a:rPr lang="ko-KR" altLang="en-US" sz="900" b="1" dirty="0" err="1" smtClean="0"/>
                <a:t>선금신청서</a:t>
              </a:r>
              <a:r>
                <a:rPr lang="ko-KR" altLang="en-US" sz="900" b="1" dirty="0" smtClean="0"/>
                <a:t> </a:t>
              </a:r>
              <a:endParaRPr lang="ko-KR" altLang="en-US" sz="1050" b="1" dirty="0"/>
            </a:p>
          </p:txBody>
        </p:sp>
        <p:sp>
          <p:nvSpPr>
            <p:cNvPr id="21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21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9" name="모서리가 둥근 직사각형 218"/>
            <p:cNvSpPr/>
            <p:nvPr/>
          </p:nvSpPr>
          <p:spPr>
            <a:xfrm>
              <a:off x="778516" y="2610063"/>
              <a:ext cx="480073" cy="12997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 smtClean="0">
                  <a:solidFill>
                    <a:schemeClr val="dk1"/>
                  </a:solidFill>
                </a:rPr>
                <a:t>진행완료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913959" y="581246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3390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69852" y="1501912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검색필터</a:t>
            </a:r>
            <a:r>
              <a:rPr lang="ko-KR" altLang="en-US" sz="800" dirty="0"/>
              <a:t> 페이지 타이틀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초기화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창 닫기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각 </a:t>
            </a:r>
            <a:r>
              <a:rPr lang="ko-KR" altLang="en-US" sz="800" dirty="0" err="1"/>
              <a:t>섹션명</a:t>
            </a:r>
            <a:r>
              <a:rPr lang="ko-KR" altLang="en-US" sz="800" dirty="0"/>
              <a:t> 클릭 시 아코디언 동작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업무 </a:t>
            </a:r>
            <a:r>
              <a:rPr lang="ko-KR" altLang="en-US" sz="800" dirty="0"/>
              <a:t>구분</a:t>
            </a:r>
            <a:r>
              <a:rPr lang="en-US" altLang="ko-KR" sz="800" dirty="0"/>
              <a:t>(</a:t>
            </a:r>
            <a:r>
              <a:rPr lang="ko-KR" altLang="en-US" sz="800" dirty="0" err="1"/>
              <a:t>필수값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항목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전체</a:t>
            </a:r>
            <a:r>
              <a:rPr lang="en-US" altLang="ko-KR" sz="800" dirty="0"/>
              <a:t>, </a:t>
            </a:r>
            <a:r>
              <a:rPr lang="ko-KR" altLang="en-US" sz="800" dirty="0"/>
              <a:t>물품</a:t>
            </a:r>
            <a:r>
              <a:rPr lang="en-US" altLang="ko-KR" sz="800" dirty="0"/>
              <a:t>,</a:t>
            </a:r>
            <a:r>
              <a:rPr lang="ko-KR" altLang="en-US" sz="800" dirty="0"/>
              <a:t>용역</a:t>
            </a:r>
            <a:r>
              <a:rPr lang="en-US" altLang="ko-KR" sz="800" dirty="0"/>
              <a:t>,</a:t>
            </a:r>
            <a:r>
              <a:rPr lang="ko-KR" altLang="en-US" sz="800" dirty="0"/>
              <a:t>공사</a:t>
            </a:r>
            <a:r>
              <a:rPr lang="en-US" altLang="ko-KR" sz="800" dirty="0"/>
              <a:t>,</a:t>
            </a:r>
            <a:r>
              <a:rPr lang="ko-KR" altLang="en-US" sz="800" dirty="0"/>
              <a:t>국외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전체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검색 설정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서류요청</a:t>
            </a:r>
            <a:r>
              <a:rPr lang="ko-KR" altLang="en-US" sz="800" dirty="0"/>
              <a:t> </a:t>
            </a:r>
            <a:r>
              <a:rPr lang="ko-KR" altLang="en-US" sz="800" dirty="0" err="1"/>
              <a:t>수신일자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계약일자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당일 포함 과거 </a:t>
            </a:r>
            <a:r>
              <a:rPr lang="en-US" altLang="ko-KR" sz="800" dirty="0"/>
              <a:t>7</a:t>
            </a:r>
            <a:r>
              <a:rPr lang="ko-KR" altLang="en-US" sz="800" dirty="0"/>
              <a:t>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3-1</a:t>
            </a:r>
            <a:r>
              <a:rPr lang="en-US" altLang="ko-KR" sz="800" dirty="0"/>
              <a:t>)</a:t>
            </a:r>
            <a:r>
              <a:rPr lang="ko-KR" altLang="en-US" sz="800" dirty="0"/>
              <a:t>직접 입력 가능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좌</a:t>
            </a:r>
            <a:r>
              <a:rPr lang="en-US" altLang="ko-KR" sz="800" dirty="0"/>
              <a:t>)</a:t>
            </a:r>
            <a:r>
              <a:rPr lang="ko-KR" altLang="en-US" sz="800" dirty="0"/>
              <a:t>과거 우</a:t>
            </a:r>
            <a:r>
              <a:rPr lang="en-US" altLang="ko-KR" sz="800" dirty="0"/>
              <a:t>)</a:t>
            </a:r>
            <a:r>
              <a:rPr lang="ko-KR" altLang="en-US" sz="800" dirty="0" err="1"/>
              <a:t>현재로한다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</a:t>
            </a:r>
            <a:r>
              <a:rPr lang="ko-KR" altLang="en-US" sz="800" dirty="0"/>
              <a:t> 값은 미래를 선택</a:t>
            </a:r>
            <a:r>
              <a:rPr lang="en-US" altLang="ko-KR" sz="800" dirty="0"/>
              <a:t>,</a:t>
            </a:r>
            <a:r>
              <a:rPr lang="ko-KR" altLang="en-US" sz="800" dirty="0"/>
              <a:t>입력 할 </a:t>
            </a:r>
            <a:r>
              <a:rPr lang="ko-KR" altLang="en-US" sz="800" dirty="0" err="1"/>
              <a:t>수없다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 </a:t>
            </a:r>
            <a:r>
              <a:rPr lang="ko-KR" altLang="en-US" sz="800" dirty="0"/>
              <a:t>값이 미래를 입력한 경우 오늘로 자동 변경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당일 기준 최대 </a:t>
            </a:r>
            <a:r>
              <a:rPr lang="en-US" altLang="ko-KR" sz="800" dirty="0"/>
              <a:t>1</a:t>
            </a:r>
            <a:r>
              <a:rPr lang="ko-KR" altLang="en-US" sz="800" dirty="0"/>
              <a:t>년</a:t>
            </a:r>
            <a:r>
              <a:rPr lang="en-US" altLang="ko-KR" sz="800" dirty="0"/>
              <a:t>(365</a:t>
            </a:r>
            <a:r>
              <a:rPr lang="ko-KR" altLang="en-US" sz="800" dirty="0"/>
              <a:t>일</a:t>
            </a:r>
            <a:r>
              <a:rPr lang="en-US" altLang="ko-KR" sz="800" dirty="0"/>
              <a:t>)</a:t>
            </a:r>
            <a:r>
              <a:rPr lang="ko-KR" altLang="en-US" sz="800" dirty="0"/>
              <a:t>까지 조회 가능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3-2</a:t>
            </a:r>
            <a:r>
              <a:rPr lang="en-US" altLang="ko-KR" sz="800" dirty="0"/>
              <a:t>) </a:t>
            </a:r>
            <a:r>
              <a:rPr lang="ko-KR" altLang="en-US" sz="800" dirty="0"/>
              <a:t>아이콘 </a:t>
            </a:r>
            <a:r>
              <a:rPr lang="en-US" altLang="ko-KR" sz="800" dirty="0">
                <a:sym typeface="Wingdings" panose="05000000000000000000" pitchFamily="2" charset="2"/>
              </a:rPr>
              <a:t> </a:t>
            </a:r>
            <a:r>
              <a:rPr lang="ko-KR" altLang="en-US" sz="800" dirty="0">
                <a:sym typeface="Wingdings" panose="05000000000000000000" pitchFamily="2" charset="2"/>
              </a:rPr>
              <a:t>데이트 </a:t>
            </a:r>
            <a:r>
              <a:rPr lang="ko-KR" altLang="en-US" sz="800" dirty="0" err="1">
                <a:sym typeface="Wingdings" panose="05000000000000000000" pitchFamily="2" charset="2"/>
              </a:rPr>
              <a:t>피커</a:t>
            </a:r>
            <a:r>
              <a:rPr lang="ko-KR" altLang="en-US" sz="800" dirty="0">
                <a:sym typeface="Wingdings" panose="05000000000000000000" pitchFamily="2" charset="2"/>
              </a:rPr>
              <a:t> 호출</a:t>
            </a:r>
            <a:r>
              <a:rPr lang="en-US" altLang="ko-KR" sz="800" dirty="0">
                <a:sym typeface="Wingdings" panose="05000000000000000000" pitchFamily="2" charset="2"/>
              </a:rPr>
              <a:t>( </a:t>
            </a:r>
            <a:r>
              <a:rPr lang="ko-KR" altLang="en-US" sz="800" dirty="0" err="1">
                <a:sym typeface="Wingdings" panose="05000000000000000000" pitchFamily="2" charset="2"/>
              </a:rPr>
              <a:t>미래불가</a:t>
            </a:r>
            <a:r>
              <a:rPr lang="en-US" altLang="ko-KR" sz="800" dirty="0">
                <a:sym typeface="Wingdings" panose="05000000000000000000" pitchFamily="2" charset="2"/>
              </a:rPr>
              <a:t>)</a:t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en-US" altLang="ko-KR" sz="800" dirty="0" smtClean="0">
                <a:sym typeface="Wingdings" panose="05000000000000000000" pitchFamily="2" charset="2"/>
              </a:rPr>
              <a:t>3-3</a:t>
            </a:r>
            <a:r>
              <a:rPr lang="en-US" altLang="ko-KR" sz="800" dirty="0">
                <a:sym typeface="Wingdings" panose="05000000000000000000" pitchFamily="2" charset="2"/>
              </a:rPr>
              <a:t>) </a:t>
            </a:r>
            <a:r>
              <a:rPr lang="ko-KR" altLang="en-US" sz="800" dirty="0">
                <a:sym typeface="Wingdings" panose="05000000000000000000" pitchFamily="2" charset="2"/>
              </a:rPr>
              <a:t>최근</a:t>
            </a:r>
            <a:r>
              <a:rPr lang="en-US" altLang="ko-KR" sz="800" dirty="0">
                <a:sym typeface="Wingdings" panose="05000000000000000000" pitchFamily="2" charset="2"/>
              </a:rPr>
              <a:t>1,3,6</a:t>
            </a:r>
            <a:r>
              <a:rPr lang="ko-KR" altLang="en-US" sz="800" dirty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800" dirty="0">
                <a:sym typeface="Wingdings" panose="05000000000000000000" pitchFamily="2" charset="2"/>
              </a:rPr>
              <a:t>30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 90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,180</a:t>
            </a:r>
            <a:r>
              <a:rPr lang="ko-KR" altLang="en-US" sz="800" dirty="0">
                <a:sym typeface="Wingdings" panose="05000000000000000000" pitchFamily="2" charset="2"/>
              </a:rPr>
              <a:t>일 이전 값을 표시</a:t>
            </a:r>
            <a:r>
              <a:rPr lang="en-US" altLang="ko-KR" sz="800" dirty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>
                <a:sym typeface="Wingdings" panose="05000000000000000000" pitchFamily="2" charset="2"/>
              </a:rPr>
              <a:t>검색어</a:t>
            </a:r>
            <a:r>
              <a:rPr lang="ko-KR" altLang="en-US" sz="800" dirty="0">
                <a:sym typeface="Wingdings" panose="05000000000000000000" pitchFamily="2" charset="2"/>
              </a:rPr>
              <a:t> 영역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계약건명</a:t>
            </a:r>
            <a:r>
              <a:rPr lang="en-US" altLang="ko-KR" sz="800" dirty="0" smtClean="0">
                <a:sym typeface="Wingdings" panose="05000000000000000000" pitchFamily="2" charset="2"/>
              </a:rPr>
              <a:t>, </a:t>
            </a:r>
            <a:r>
              <a:rPr lang="ko-KR" altLang="en-US" sz="800" dirty="0" err="1">
                <a:sym typeface="Wingdings" panose="05000000000000000000" pitchFamily="2" charset="2"/>
              </a:rPr>
              <a:t>계약번호</a:t>
            </a:r>
            <a:r>
              <a:rPr lang="en-US" altLang="ko-KR" sz="800" dirty="0">
                <a:sym typeface="Wingdings" panose="05000000000000000000" pitchFamily="2" charset="2"/>
              </a:rPr>
              <a:t>, </a:t>
            </a:r>
            <a:r>
              <a:rPr lang="en-US" altLang="ko-KR" sz="800" dirty="0" smtClean="0"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sym typeface="Wingdings" panose="05000000000000000000" pitchFamily="2" charset="2"/>
              </a:rPr>
            </a:br>
            <a:r>
              <a:rPr lang="en-US" altLang="ko-KR" sz="800" dirty="0" smtClean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글자검색</a:t>
            </a:r>
            <a:r>
              <a:rPr lang="en-US" altLang="ko-KR" sz="800" dirty="0"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sym typeface="Wingdings" panose="05000000000000000000" pitchFamily="2" charset="2"/>
              </a:rPr>
              <a:t>계약건명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숫자검색</a:t>
            </a:r>
            <a:r>
              <a:rPr lang="en-US" altLang="ko-KR" sz="800" dirty="0" smtClean="0">
                <a:sym typeface="Wingdings" panose="05000000000000000000" pitchFamily="2" charset="2"/>
              </a:rPr>
              <a:t>: </a:t>
            </a:r>
            <a:r>
              <a:rPr lang="ko-KR" altLang="en-US" sz="800" dirty="0">
                <a:sym typeface="Wingdings" panose="05000000000000000000" pitchFamily="2" charset="2"/>
              </a:rPr>
              <a:t>계약 </a:t>
            </a:r>
            <a:r>
              <a:rPr lang="ko-KR" altLang="en-US" sz="800" dirty="0" smtClean="0">
                <a:sym typeface="Wingdings" panose="05000000000000000000" pitchFamily="2" charset="2"/>
              </a:rPr>
              <a:t>번호</a:t>
            </a:r>
            <a:endParaRPr lang="en-US" altLang="ko-KR" sz="800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>
                <a:sym typeface="Wingdings" panose="05000000000000000000" pitchFamily="2" charset="2"/>
              </a:rPr>
              <a:t>검색 </a:t>
            </a:r>
            <a:r>
              <a:rPr lang="ko-KR" altLang="en-US" sz="800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sz="800" dirty="0" err="1">
                <a:sym typeface="Wingdings" panose="05000000000000000000" pitchFamily="2" charset="2"/>
              </a:rPr>
              <a:t>플로팅</a:t>
            </a:r>
            <a:r>
              <a:rPr lang="ko-KR" altLang="en-US" sz="800" dirty="0">
                <a:sym typeface="Wingdings" panose="05000000000000000000" pitchFamily="2" charset="2"/>
              </a:rPr>
              <a:t> </a:t>
            </a:r>
            <a:r>
              <a:rPr lang="ko-KR" altLang="en-US" sz="800" dirty="0" smtClean="0">
                <a:sym typeface="Wingdings" panose="05000000000000000000" pitchFamily="2" charset="2"/>
              </a:rPr>
              <a:t>처리</a:t>
            </a:r>
            <a:endParaRPr lang="en-US" altLang="ko-KR" sz="8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>
                <a:sym typeface="Wingdings" panose="05000000000000000000" pitchFamily="2" charset="2"/>
              </a:rPr>
              <a:t>대금청구구분</a:t>
            </a:r>
            <a:r>
              <a:rPr lang="en-US" altLang="ko-KR" sz="800" dirty="0" smtClean="0"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sym typeface="Wingdings" panose="05000000000000000000" pitchFamily="2" charset="2"/>
              </a:rPr>
            </a:br>
            <a:r>
              <a:rPr lang="en-US" altLang="ko-KR" sz="800" dirty="0" smtClean="0">
                <a:sym typeface="Wingdings" panose="05000000000000000000" pitchFamily="2" charset="2"/>
              </a:rPr>
              <a:t>- </a:t>
            </a:r>
            <a:r>
              <a:rPr lang="ko-KR" altLang="en-US" sz="800" dirty="0" smtClean="0">
                <a:sym typeface="Wingdings" panose="05000000000000000000" pitchFamily="2" charset="2"/>
              </a:rPr>
              <a:t>전체</a:t>
            </a:r>
            <a:r>
              <a:rPr lang="en-US" altLang="ko-KR" sz="800" dirty="0" smtClean="0">
                <a:sym typeface="Wingdings" panose="05000000000000000000" pitchFamily="2" charset="2"/>
              </a:rPr>
              <a:t>, </a:t>
            </a:r>
            <a:r>
              <a:rPr lang="ko-KR" altLang="en-US" sz="800" dirty="0" err="1" smtClean="0">
                <a:sym typeface="Wingdings" panose="05000000000000000000" pitchFamily="2" charset="2"/>
              </a:rPr>
              <a:t>선금신청</a:t>
            </a:r>
            <a:r>
              <a:rPr lang="en-US" altLang="ko-KR" sz="800" dirty="0" smtClean="0">
                <a:sym typeface="Wingdings" panose="05000000000000000000" pitchFamily="2" charset="2"/>
              </a:rPr>
              <a:t>, </a:t>
            </a:r>
            <a:r>
              <a:rPr lang="ko-KR" altLang="en-US" sz="800" dirty="0" err="1" smtClean="0">
                <a:sym typeface="Wingdings" panose="05000000000000000000" pitchFamily="2" charset="2"/>
              </a:rPr>
              <a:t>착중도금신청</a:t>
            </a:r>
            <a:r>
              <a:rPr lang="en-US" altLang="ko-KR" sz="800" dirty="0" smtClean="0">
                <a:sym typeface="Wingdings" panose="05000000000000000000" pitchFamily="2" charset="2"/>
              </a:rPr>
              <a:t>,</a:t>
            </a:r>
            <a:r>
              <a:rPr lang="ko-KR" altLang="en-US" sz="800" dirty="0" smtClean="0">
                <a:sym typeface="Wingdings" panose="05000000000000000000" pitchFamily="2" charset="2"/>
              </a:rPr>
              <a:t>대금청구신청</a:t>
            </a:r>
            <a:r>
              <a:rPr lang="en-US" altLang="ko-KR" sz="800" dirty="0" smtClean="0">
                <a:sym typeface="Wingdings" panose="05000000000000000000" pitchFamily="2" charset="2"/>
              </a:rPr>
              <a:t>,</a:t>
            </a:r>
            <a:r>
              <a:rPr lang="ko-KR" altLang="en-US" sz="800" dirty="0" smtClean="0">
                <a:sym typeface="Wingdings" panose="05000000000000000000" pitchFamily="2" charset="2"/>
              </a:rPr>
              <a:t>사후정산청구서 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endParaRPr lang="en-US" altLang="ko-KR" sz="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4320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221" name="그룹 220"/>
          <p:cNvGrpSpPr/>
          <p:nvPr/>
        </p:nvGrpSpPr>
        <p:grpSpPr>
          <a:xfrm>
            <a:off x="675399" y="5678278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93320" y="4306300"/>
            <a:ext cx="2516607" cy="883322"/>
            <a:chOff x="778515" y="4388257"/>
            <a:chExt cx="2516607" cy="883322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58149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075438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808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236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490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005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253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248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320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253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974060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04218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772169" y="227053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/>
          <p:cNvSpPr/>
          <p:nvPr/>
        </p:nvSpPr>
        <p:spPr>
          <a:xfrm>
            <a:off x="772169" y="2487756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/>
          <p:cNvSpPr/>
          <p:nvPr/>
        </p:nvSpPr>
        <p:spPr>
          <a:xfrm>
            <a:off x="772169" y="2684846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/>
          <p:cNvSpPr/>
          <p:nvPr/>
        </p:nvSpPr>
        <p:spPr>
          <a:xfrm>
            <a:off x="772169" y="289950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/>
          <p:cNvSpPr/>
          <p:nvPr/>
        </p:nvSpPr>
        <p:spPr>
          <a:xfrm>
            <a:off x="772169" y="3111473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712771" y="2449398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34067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36989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  <a:endParaRPr lang="ko-KR" altLang="en-US" sz="5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219722" y="36989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3-2</a:t>
            </a:r>
            <a:endParaRPr lang="ko-KR" altLang="en-US" sz="5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396605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/>
              <a:t>3</a:t>
            </a:r>
            <a:r>
              <a:rPr lang="en-US" altLang="ko-KR" sz="500" b="1" dirty="0" smtClean="0"/>
              <a:t>-3</a:t>
            </a:r>
            <a:endParaRPr lang="ko-KR" altLang="en-US" sz="5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3476" y="192242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243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물려있는 경우 팝업에서 목록을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이동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대금청구신청목록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대금청구신청목록</a:t>
            </a:r>
            <a:r>
              <a:rPr lang="ko-KR" altLang="en-US" dirty="0" smtClean="0"/>
              <a:t> </a:t>
            </a:r>
            <a:r>
              <a:rPr lang="ko-KR" altLang="en-US" dirty="0"/>
              <a:t>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smtClean="0">
                <a:latin typeface="+mn-ea"/>
              </a:rPr>
              <a:t>사후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대금청구신청목록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대금청구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신청목록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778516" y="3199121"/>
            <a:ext cx="2476202" cy="1171825"/>
            <a:chOff x="778516" y="2610063"/>
            <a:chExt cx="2476202" cy="1171825"/>
          </a:xfrm>
        </p:grpSpPr>
        <p:sp>
          <p:nvSpPr>
            <p:cNvPr id="1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800" dirty="0" err="1">
                  <a:solidFill>
                    <a:prstClr val="black"/>
                  </a:solidFill>
                </a:rPr>
                <a:t>청구번호</a:t>
              </a:r>
              <a:r>
                <a:rPr lang="ko-KR" altLang="en-US" sz="800" dirty="0">
                  <a:solidFill>
                    <a:prstClr val="black"/>
                  </a:solidFill>
                </a:rPr>
                <a:t> </a:t>
              </a:r>
              <a:r>
                <a:rPr lang="en-US" altLang="ko-KR" sz="800" dirty="0">
                  <a:solidFill>
                    <a:prstClr val="black"/>
                  </a:solidFill>
                </a:rPr>
                <a:t>12315 - 42</a:t>
              </a:r>
            </a:p>
            <a:p>
              <a:pPr lvl="0"/>
              <a:r>
                <a:rPr lang="ko-KR" altLang="en-US" sz="900" b="1" dirty="0" err="1">
                  <a:solidFill>
                    <a:prstClr val="black"/>
                  </a:solidFill>
                </a:rPr>
                <a:t>대금청구서</a:t>
              </a:r>
              <a:endParaRPr lang="ko-KR" altLang="en-US" sz="1050" b="1" dirty="0">
                <a:solidFill>
                  <a:prstClr val="black"/>
                </a:solidFill>
              </a:endParaRPr>
            </a:p>
          </p:txBody>
        </p:sp>
        <p:sp>
          <p:nvSpPr>
            <p:cNvPr id="1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1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95" name="모서리가 둥근 직사각형 194"/>
            <p:cNvSpPr/>
            <p:nvPr/>
          </p:nvSpPr>
          <p:spPr>
            <a:xfrm>
              <a:off x="778516" y="2610063"/>
              <a:ext cx="480073" cy="12997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진행중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14962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3893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2025 000 000 - 01</a:t>
            </a:r>
          </a:p>
          <a:p>
            <a:r>
              <a:rPr lang="ko-KR" altLang="en-US" sz="900" b="1" dirty="0" smtClean="0"/>
              <a:t>변속기 부품 계약의 건</a:t>
            </a:r>
            <a:endParaRPr lang="ko-KR" altLang="en-US" sz="900" b="1" dirty="0"/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구분</a:t>
            </a:r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수정</a:t>
            </a: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318634" y="2877159"/>
            <a:ext cx="47561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4840814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작성</a:t>
            </a:r>
            <a:endParaRPr lang="ko-KR" altLang="en-US" sz="600" dirty="0"/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5130857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5099260" y="3209690"/>
            <a:ext cx="57287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공급가액 변동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318635" y="3209690"/>
            <a:ext cx="72644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기재사항 </a:t>
            </a:r>
            <a:r>
              <a:rPr lang="ko-KR" altLang="en-US" sz="600" dirty="0" err="1"/>
              <a:t>착오정정</a:t>
            </a:r>
            <a:endParaRPr lang="ko-KR" altLang="en-US" sz="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수정사유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6023985" y="3209690"/>
            <a:ext cx="51229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계약의 해제</a:t>
            </a: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5726322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rPr>
              <a:t>환입</a:t>
            </a:r>
            <a:endParaRPr lang="ko-KR" altLang="en-US" sz="60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42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7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13209" y="3646309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통지번호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합격일자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납품일자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납품금액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58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4471311" y="3638948"/>
            <a:ext cx="65723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2025-10-15</a:t>
            </a:r>
          </a:p>
          <a:p>
            <a:pPr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2025-11-20</a:t>
            </a: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ko-KR" altLang="en-US" sz="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4628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0847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dmt_PymtClmIntgSrch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078900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-mm-dd((From-To))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02136"/>
              </p:ext>
            </p:extLst>
          </p:nvPr>
        </p:nvGraphicFramePr>
        <p:xfrm>
          <a:off x="452999" y="2301691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B6E65A-2A9E-428A-5B6F-2D9A70A8AC9B}"/>
              </a:ext>
            </a:extLst>
          </p:cNvPr>
          <p:cNvSpPr txBox="1"/>
          <p:nvPr/>
        </p:nvSpPr>
        <p:spPr>
          <a:xfrm>
            <a:off x="458117" y="4308312"/>
            <a:ext cx="322901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 신청목록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dlt_pymtClmAplyList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AFEE4E0-F73E-BA2F-1662-ED68211F1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41300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92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3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053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80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8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C6556DB-F5FC-C865-D984-44E8158CA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1434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848977"/>
              </p:ext>
            </p:extLst>
          </p:nvPr>
        </p:nvGraphicFramePr>
        <p:xfrm>
          <a:off x="453000" y="1041145"/>
          <a:ext cx="8995591" cy="1701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조회조건에 해당하는 결과를 대금청구목록 그리드에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018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대금청구안내문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scwin.btn_pymtClmGdntc_onclick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안내문을 팝업으로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(UI-WM-01-P22)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대금청구안내문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대금청구서</a:t>
                      </a:r>
                      <a:r>
                        <a:rPr lang="ko-KR" altLang="en-US" sz="800" dirty="0"/>
                        <a:t>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scwin.btn_pymtClmMdfcnSbmsn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상세화면을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(UI-WM-01-M17)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(UI-WM-01-M18)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(UI-WM-01-M20)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),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(UI-WM-01-M72)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대금청구서상세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755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8B7293-4AE2-DAA5-5A01-3613EC5D2D2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6C2B2374-305A-4B28-5E32-57F40AE4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3745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신청정보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세부 </a:t>
            </a:r>
            <a:r>
              <a:rPr lang="ko-KR" altLang="en-US" sz="800" dirty="0" err="1" smtClean="0"/>
              <a:t>신청내역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신청 </a:t>
            </a:r>
            <a:r>
              <a:rPr lang="ko-KR" altLang="en-US" sz="800" dirty="0"/>
              <a:t>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기본값은 상단 이동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현 상세내용 탭에서는 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2250612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2250612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모서리가 둥근 직사각형 250"/>
          <p:cNvSpPr/>
          <p:nvPr/>
        </p:nvSpPr>
        <p:spPr>
          <a:xfrm>
            <a:off x="1516736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grpSp>
        <p:nvGrpSpPr>
          <p:cNvPr id="9" name="그룹 8"/>
          <p:cNvGrpSpPr/>
          <p:nvPr/>
        </p:nvGrpSpPr>
        <p:grpSpPr>
          <a:xfrm>
            <a:off x="3796091" y="4161857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grpSp>
        <p:nvGrpSpPr>
          <p:cNvPr id="6" name="그룹 5"/>
          <p:cNvGrpSpPr/>
          <p:nvPr/>
        </p:nvGrpSpPr>
        <p:grpSpPr>
          <a:xfrm>
            <a:off x="3836701" y="2540391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1" name="그룹 15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52" name="직선 연결선 15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5" name="타원 15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62" name="직선 연결선 16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그룹 16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7" name="타원 16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3" name="타원 172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7" name="타원 17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0" name="그룹 179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1" name="타원 18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5" name="그룹 18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87" name="직선 연결선 18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직사각형 181"/>
          <p:cNvSpPr/>
          <p:nvPr/>
        </p:nvSpPr>
        <p:spPr>
          <a:xfrm>
            <a:off x="7053988" y="5956663"/>
            <a:ext cx="2349581" cy="25912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>
                <a:solidFill>
                  <a:schemeClr val="bg1"/>
                </a:solidFill>
              </a:rPr>
              <a:t>0701]</a:t>
            </a:r>
          </a:p>
          <a:p>
            <a:r>
              <a:rPr lang="ko-KR" altLang="en-US" sz="500" dirty="0" smtClean="0">
                <a:solidFill>
                  <a:schemeClr val="bg1"/>
                </a:solidFill>
              </a:rPr>
              <a:t>일금 누락</a:t>
            </a:r>
            <a:endParaRPr lang="en-US" altLang="ko-KR" sz="500" dirty="0" smtClean="0">
              <a:solidFill>
                <a:schemeClr val="bg1"/>
              </a:solidFill>
            </a:endParaRPr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1660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918716" y="2249927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선금신청서</a:t>
            </a:r>
            <a:r>
              <a:rPr lang="ko-KR" altLang="en-US" dirty="0"/>
              <a:t> 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4899940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243034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528651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27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97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660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54812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세부신청내역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038797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78272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413051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478496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527996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154214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4784969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6327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선금신청서</a:t>
            </a:r>
            <a:r>
              <a:rPr lang="ko-KR" altLang="en-US" dirty="0" smtClean="0"/>
              <a:t> 진행상태 조회하면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sz="800" dirty="0" err="1">
                <a:latin typeface="+mn-ea"/>
              </a:rPr>
              <a:t>지급상태</a:t>
            </a:r>
            <a:endParaRPr lang="ko-KR" altLang="en-US" sz="800" dirty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대금</a:t>
            </a:r>
            <a:r>
              <a:rPr lang="en-US" altLang="ko-KR" dirty="0" smtClean="0"/>
              <a:t>/</a:t>
            </a:r>
            <a:r>
              <a:rPr lang="ko-KR" altLang="en-US" dirty="0" smtClean="0"/>
              <a:t>사후 상세 </a:t>
            </a:r>
            <a:r>
              <a:rPr lang="en-US" altLang="ko-KR" dirty="0" smtClean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</a:t>
            </a:r>
            <a:r>
              <a:rPr lang="ko-KR" altLang="en-US" dirty="0" err="1" smtClean="0"/>
              <a:t>지급상태</a:t>
            </a:r>
            <a:r>
              <a:rPr lang="ko-KR" altLang="en-US" dirty="0" smtClean="0"/>
              <a:t> 조회 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05" name="그룹 104"/>
          <p:cNvGrpSpPr/>
          <p:nvPr/>
        </p:nvGrpSpPr>
        <p:grpSpPr>
          <a:xfrm>
            <a:off x="716366" y="1527996"/>
            <a:ext cx="2630093" cy="1625814"/>
            <a:chOff x="3795734" y="3441403"/>
            <a:chExt cx="2630093" cy="1625814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369741"/>
              <a:chOff x="3865118" y="2946203"/>
              <a:chExt cx="2630093" cy="1369741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구분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신청년도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계약번호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신청차수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신청금액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진행상태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5741480" y="3023282"/>
                <a:ext cx="691998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700" dirty="0" smtClean="0">
                    <a:latin typeface="+mn-ea"/>
                  </a:rPr>
                  <a:t>1</a:t>
                </a:r>
              </a:p>
              <a:p>
                <a:pPr algn="r"/>
                <a:endParaRPr lang="en-US" altLang="ko-KR" sz="700" dirty="0" smtClean="0">
                  <a:latin typeface="+mn-ea"/>
                </a:endParaRPr>
              </a:p>
              <a:p>
                <a:pPr algn="r"/>
                <a:r>
                  <a:rPr lang="en-US" altLang="ko-KR" sz="700" dirty="0" smtClean="0">
                    <a:latin typeface="+mn-ea"/>
                  </a:rPr>
                  <a:t>2026</a:t>
                </a:r>
              </a:p>
              <a:p>
                <a:pPr algn="r"/>
                <a:endParaRPr lang="en-US" altLang="ko-KR" sz="700" dirty="0" smtClean="0"/>
              </a:p>
              <a:p>
                <a:pPr algn="r"/>
                <a:r>
                  <a:rPr lang="en-US" altLang="ko-KR" sz="700" dirty="0" smtClean="0"/>
                  <a:t>2025000000</a:t>
                </a:r>
              </a:p>
              <a:p>
                <a:pPr algn="r"/>
                <a:endParaRPr lang="en-US" altLang="ko-KR" sz="700" dirty="0" smtClean="0"/>
              </a:p>
              <a:p>
                <a:pPr algn="r"/>
                <a:r>
                  <a:rPr lang="en-US" altLang="ko-KR" sz="700" dirty="0" smtClean="0"/>
                  <a:t>01</a:t>
                </a:r>
              </a:p>
              <a:p>
                <a:pPr algn="r"/>
                <a:endParaRPr lang="en-US" altLang="ko-KR" sz="700" dirty="0" smtClean="0"/>
              </a:p>
              <a:p>
                <a:pPr algn="r"/>
                <a:r>
                  <a:rPr lang="en-US" altLang="ko-KR" sz="700" dirty="0" smtClean="0"/>
                  <a:t>10,000,000</a:t>
                </a:r>
              </a:p>
              <a:p>
                <a:pPr algn="r"/>
                <a:endParaRPr lang="en-US" altLang="ko-KR" sz="700" dirty="0" smtClean="0"/>
              </a:p>
              <a:p>
                <a:pPr algn="r"/>
                <a:r>
                  <a:rPr lang="ko-KR" altLang="en-US" sz="700" dirty="0" smtClean="0"/>
                  <a:t>진행중</a:t>
                </a:r>
                <a:endParaRPr lang="en-US" altLang="ko-KR" sz="700" dirty="0"/>
              </a:p>
              <a:p>
                <a:pPr algn="r"/>
                <a:endParaRPr lang="en-US" altLang="ko-KR" sz="700" dirty="0" smtClean="0">
                  <a:latin typeface="+mn-ea"/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068327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2097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선금신청서 차수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dmt_prpayApfrCyclInfo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817648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61466" y="2049148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9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CD4A05-B1B2-6704-0345-7056CB08D3D5}"/>
              </a:ext>
            </a:extLst>
          </p:cNvPr>
          <p:cNvSpPr txBox="1"/>
          <p:nvPr/>
        </p:nvSpPr>
        <p:spPr>
          <a:xfrm>
            <a:off x="458117" y="3466653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33B436-336A-B501-0BE2-1B19942B1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344850"/>
              </p:ext>
            </p:extLst>
          </p:nvPr>
        </p:nvGraphicFramePr>
        <p:xfrm>
          <a:off x="452999" y="369815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지출원인금액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지출원인금액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수정화면에서만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6F026C-B651-7520-0A7A-01E73FC938FC}"/>
              </a:ext>
            </a:extLst>
          </p:cNvPr>
          <p:cNvSpPr txBox="1"/>
          <p:nvPr/>
        </p:nvSpPr>
        <p:spPr>
          <a:xfrm>
            <a:off x="458117" y="4326026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7EE4C8C-1596-E135-E8B4-EB82C0699BF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5752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prpayAplyDsctnAmtSeNm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금액구분명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대상금액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9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기사용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arusAplyAmt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55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사용예정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usePrnmntAplyAmt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사용예정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5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aplySumAmt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신청금액과 사용예정 신청금액의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*100(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화면에서 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4952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5FFE7C35-2362-9481-0F6A-DA221779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9633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146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EF13B1B-9846-067B-08DD-AB98FCEB3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C33E4-E4DC-F17B-082F-B9C39DF76C95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55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E94EC-9BAC-208C-9C16-356647B1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12735"/>
              </p:ext>
            </p:extLst>
          </p:nvPr>
        </p:nvGraphicFramePr>
        <p:xfrm>
          <a:off x="453000" y="1049851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전자서명 검증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scwin.btn_elsgnVrfc_onclick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 검증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scwin.btn_print_onclick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증명서 출력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710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E4A288-7AB3-FB2A-21DF-A951B130353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BC2CA564-7302-5E8B-9DF2-1E1715C11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4392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2250612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2250612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" name="그룹 8"/>
          <p:cNvGrpSpPr/>
          <p:nvPr/>
        </p:nvGrpSpPr>
        <p:grpSpPr>
          <a:xfrm>
            <a:off x="3796091" y="4161857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618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369"/>
            <a:chOff x="720490" y="4465173"/>
            <a:chExt cx="2630093" cy="160036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926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</a:t>
              </a:r>
              <a:r>
                <a:rPr lang="ko-KR" altLang="en-US" sz="700" dirty="0" smtClean="0">
                  <a:latin typeface="+mn-ea"/>
                </a:rPr>
                <a:t>원정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착수금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5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513040" y="2278058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623744" y="1602341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grpSp>
        <p:nvGrpSpPr>
          <p:cNvPr id="156" name="그룹 155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63" name="그룹 162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5" name="타원 16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4" name="타원 173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8" name="타원 177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1" name="그룹 18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5" name="타원 18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7" name="그룹 186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68023" y="1513670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, 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전체노출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/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err="1" smtClean="0"/>
              <a:t>신청정보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세부 </a:t>
            </a:r>
            <a:r>
              <a:rPr lang="ko-KR" altLang="en-US" sz="800" dirty="0" err="1" smtClean="0"/>
              <a:t>신청내역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지급상태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신청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현 상세내용 탭에서는 </a:t>
            </a:r>
            <a:endParaRPr lang="en-US" altLang="ko-KR" sz="800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1660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67666" y="5831775"/>
            <a:ext cx="2323463" cy="1672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0703) </a:t>
            </a:r>
            <a:r>
              <a:rPr lang="ko-KR" altLang="en-US" sz="500" dirty="0" smtClean="0"/>
              <a:t>품명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일금 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구분</a:t>
            </a:r>
            <a:r>
              <a:rPr lang="en-US" altLang="ko-KR" sz="500" dirty="0" smtClean="0"/>
              <a:t>,</a:t>
            </a:r>
            <a:r>
              <a:rPr lang="ko-KR" altLang="en-US" sz="500" dirty="0">
                <a:latin typeface="+mn-ea"/>
              </a:rPr>
              <a:t> 승인된 전 차수 </a:t>
            </a:r>
            <a:r>
              <a:rPr lang="ko-KR" altLang="en-US" sz="500" dirty="0" err="1">
                <a:latin typeface="+mn-ea"/>
              </a:rPr>
              <a:t>수령금액의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smtClean="0">
                <a:latin typeface="+mn-ea"/>
              </a:rPr>
              <a:t>합계</a:t>
            </a:r>
            <a:r>
              <a:rPr lang="en-US" altLang="ko-KR" sz="500" dirty="0" smtClean="0">
                <a:latin typeface="+mn-ea"/>
              </a:rPr>
              <a:t>,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err="1">
                <a:latin typeface="+mn-ea"/>
              </a:rPr>
              <a:t>신청금액의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smtClean="0">
                <a:latin typeface="+mn-ea"/>
              </a:rPr>
              <a:t>비율</a:t>
            </a:r>
            <a:r>
              <a:rPr lang="en-US" altLang="ko-KR" sz="500" dirty="0" smtClean="0"/>
              <a:t> </a:t>
            </a:r>
            <a:endParaRPr lang="ko-KR" altLang="en-US" sz="500" dirty="0"/>
          </a:p>
        </p:txBody>
      </p:sp>
      <p:sp>
        <p:nvSpPr>
          <p:cNvPr id="154" name="직사각형 153"/>
          <p:cNvSpPr/>
          <p:nvPr/>
        </p:nvSpPr>
        <p:spPr>
          <a:xfrm>
            <a:off x="7067666" y="6021206"/>
            <a:ext cx="2300641" cy="1601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1060755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선금신청서</a:t>
            </a:r>
            <a:r>
              <a:rPr lang="ko-KR" altLang="en-US" dirty="0"/>
              <a:t> 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4899940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243034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275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528651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27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97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660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80565" y="2961293"/>
            <a:ext cx="26930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착수금</a:t>
            </a:r>
          </a:p>
        </p:txBody>
      </p:sp>
    </p:spTree>
    <p:extLst>
      <p:ext uri="{BB962C8B-B14F-4D97-AF65-F5344CB8AC3E}">
        <p14:creationId xmlns:p14="http://schemas.microsoft.com/office/powerpoint/2010/main" val="2801767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038797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78272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413051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478496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852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527996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154214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4784969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536665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3588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착</a:t>
            </a:r>
            <a:r>
              <a:rPr lang="ko-KR" altLang="en-US" sz="9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900" b="1" dirty="0">
                <a:solidFill>
                  <a:prstClr val="black"/>
                </a:solidFill>
              </a:rPr>
              <a:t> 중도금신청서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dmt_dpsmnItrpyApfrInfo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784F8A-DE0A-31A1-3FBE-B085A42597A0}"/>
              </a:ext>
            </a:extLst>
          </p:cNvPr>
          <p:cNvSpPr txBox="1"/>
          <p:nvPr/>
        </p:nvSpPr>
        <p:spPr>
          <a:xfrm>
            <a:off x="458117" y="1914110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8BDE79-BF23-DB8C-B477-712120D11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487162"/>
              </p:ext>
            </p:extLst>
          </p:nvPr>
        </p:nvGraphicFramePr>
        <p:xfrm>
          <a:off x="452999" y="2125313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00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dudtYmd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 ~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납기일을 최대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최소로 시작일과 종료일을 표기함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22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428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631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0467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8630A2-8BAD-BA52-B8EB-F2B7E828C720}"/>
              </a:ext>
            </a:extLst>
          </p:cNvPr>
          <p:cNvSpPr txBox="1"/>
          <p:nvPr/>
        </p:nvSpPr>
        <p:spPr>
          <a:xfrm>
            <a:off x="458117" y="4055031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879A10-7D9E-200F-57E7-3CC23071A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692718"/>
              </p:ext>
            </p:extLst>
          </p:nvPr>
        </p:nvGraphicFramePr>
        <p:xfrm>
          <a:off x="452999" y="426623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D3BEC8-5614-CD32-7841-0B599058EF8D}"/>
              </a:ext>
            </a:extLst>
          </p:cNvPr>
          <p:cNvSpPr txBox="1"/>
          <p:nvPr/>
        </p:nvSpPr>
        <p:spPr>
          <a:xfrm>
            <a:off x="458117" y="4687734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71E247-38D3-E4B4-4CAC-4149A98E1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88985"/>
              </p:ext>
            </p:extLst>
          </p:nvPr>
        </p:nvGraphicFramePr>
        <p:xfrm>
          <a:off x="452999" y="4898937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dpsmnItrpyAplyDsctnSeNm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합계는 자동계산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대상금액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52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승인된 전 차수 수령금액의 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aplyStotAmt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승인된 전 차수 수령금액의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합산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)*100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51853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A07E09A-342C-A174-B633-4277DA610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0305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186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18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26902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2247987-57BA-439D-E6D0-F1A9DB86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D5F5B-3B3B-60FA-DE22-5A8F752BB4B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850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E7B1B2-38C6-7614-0180-1BCA2E21F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24838"/>
              </p:ext>
            </p:extLst>
          </p:nvPr>
        </p:nvGraphicFramePr>
        <p:xfrm>
          <a:off x="453000" y="10498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증명서 출력 팝업 화면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6391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DED4E1-CEE0-2778-ED59-1E6C078C750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DACD6C03-FC7A-E226-2943-55ABE7FC8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6438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선금신청서</a:t>
            </a:r>
            <a:r>
              <a:rPr lang="ko-KR" altLang="en-US" dirty="0" smtClean="0"/>
              <a:t> 진행상태 조회하면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 smtClean="0">
                <a:latin typeface="+mn-ea"/>
              </a:rPr>
              <a:t>– </a:t>
            </a:r>
            <a:r>
              <a:rPr lang="ko-KR" altLang="en-US" dirty="0" err="1" smtClean="0">
                <a:latin typeface="+mn-ea"/>
              </a:rPr>
              <a:t>지급상태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</a:t>
            </a:r>
            <a:r>
              <a:rPr lang="ko-KR" altLang="en-US" dirty="0" err="1">
                <a:latin typeface="+mn-ea"/>
              </a:rPr>
              <a:t>지급상태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상세화면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05" name="그룹 104"/>
          <p:cNvGrpSpPr/>
          <p:nvPr/>
        </p:nvGrpSpPr>
        <p:grpSpPr>
          <a:xfrm>
            <a:off x="716366" y="1527996"/>
            <a:ext cx="2630093" cy="1333292"/>
            <a:chOff x="3795734" y="3441403"/>
            <a:chExt cx="2630093" cy="1333292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7"/>
              <a:ext cx="2630093" cy="1077218"/>
              <a:chOff x="3865118" y="2946204"/>
              <a:chExt cx="2630093" cy="1077218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4"/>
                <a:ext cx="792000" cy="10756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구분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계약번호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신청차수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신청금액 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진행상태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5741480" y="3023282"/>
                <a:ext cx="691998" cy="9694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700" dirty="0" smtClean="0">
                    <a:latin typeface="+mn-ea"/>
                  </a:rPr>
                  <a:t>1</a:t>
                </a:r>
              </a:p>
              <a:p>
                <a:pPr algn="r"/>
                <a:endParaRPr lang="en-US" altLang="ko-KR" sz="700" dirty="0" smtClean="0">
                  <a:latin typeface="+mn-ea"/>
                </a:endParaRPr>
              </a:p>
              <a:p>
                <a:pPr algn="r"/>
                <a:r>
                  <a:rPr lang="en-US" altLang="ko-KR" sz="700" dirty="0" smtClean="0">
                    <a:latin typeface="+mn-ea"/>
                  </a:rPr>
                  <a:t>20250000</a:t>
                </a:r>
              </a:p>
              <a:p>
                <a:pPr algn="r"/>
                <a:endParaRPr lang="en-US" altLang="ko-KR" sz="700" dirty="0" smtClean="0">
                  <a:latin typeface="+mn-ea"/>
                </a:endParaRPr>
              </a:p>
              <a:p>
                <a:pPr algn="r"/>
                <a:r>
                  <a:rPr lang="en-US" altLang="ko-KR" sz="700" dirty="0" smtClean="0">
                    <a:latin typeface="+mn-ea"/>
                  </a:rPr>
                  <a:t>01</a:t>
                </a:r>
              </a:p>
              <a:p>
                <a:pPr algn="r"/>
                <a:endParaRPr lang="en-US" altLang="ko-KR" sz="700" dirty="0" smtClean="0">
                  <a:latin typeface="+mn-ea"/>
                </a:endParaRPr>
              </a:p>
              <a:p>
                <a:pPr algn="r"/>
                <a:r>
                  <a:rPr lang="en-US" altLang="ko-KR" sz="700" dirty="0" smtClean="0">
                    <a:latin typeface="+mn-ea"/>
                  </a:rPr>
                  <a:t>10,000,000 </a:t>
                </a:r>
                <a:r>
                  <a:rPr lang="ko-KR" altLang="en-US" sz="700" dirty="0" smtClean="0">
                    <a:latin typeface="+mn-ea"/>
                  </a:rPr>
                  <a:t>원</a:t>
                </a:r>
                <a:endParaRPr lang="en-US" altLang="ko-KR" sz="700" dirty="0" smtClean="0">
                  <a:latin typeface="+mn-ea"/>
                </a:endParaRPr>
              </a:p>
              <a:p>
                <a:pPr algn="r"/>
                <a:endParaRPr lang="en-US" altLang="ko-KR" sz="700" dirty="0" smtClean="0">
                  <a:latin typeface="+mn-ea"/>
                </a:endParaRPr>
              </a:p>
              <a:p>
                <a:pPr algn="r"/>
                <a:r>
                  <a:rPr lang="ko-KR" altLang="en-US" sz="700" dirty="0" smtClean="0">
                    <a:latin typeface="+mn-ea"/>
                  </a:rPr>
                  <a:t>진행중</a:t>
                </a:r>
                <a:endParaRPr lang="en-US" altLang="ko-KR" sz="700" dirty="0" smtClean="0">
                  <a:latin typeface="+mn-ea"/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4" name="직사각형 23"/>
          <p:cNvSpPr/>
          <p:nvPr/>
        </p:nvSpPr>
        <p:spPr>
          <a:xfrm>
            <a:off x="7100725" y="6130834"/>
            <a:ext cx="2302845" cy="148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2832208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243232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진행상태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dlt_prgrsSttsList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rqstYr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expndStcd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EPDS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6509AC63-573C-E312-A1CF-7408DD54E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2177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168391" y="4142235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3150467" y="3992719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2250612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84908" y="213610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169259"/>
            <a:chOff x="720490" y="4465173"/>
            <a:chExt cx="2630093" cy="116925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853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30313" y="414223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67029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9" name="그룹 148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타원 154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9" name="타원 178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7" name="타원 1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5" name="그룹 20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294737" y="2257939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56659" y="2257939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493375" y="2257939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009170" y="2257939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신청정보</a:t>
            </a:r>
            <a:r>
              <a:rPr lang="ko-KR" altLang="en-US" sz="800" dirty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공급자정보</a:t>
            </a:r>
            <a:r>
              <a:rPr lang="en-US" altLang="ko-KR" sz="800" dirty="0" smtClean="0"/>
              <a:t>,</a:t>
            </a:r>
            <a:r>
              <a:rPr lang="ko-KR" altLang="en-US" sz="800" dirty="0" smtClean="0"/>
              <a:t>대금신청금액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신청 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기본값은 상단 이동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현 상세내용 탭에서는 </a:t>
            </a:r>
            <a:endParaRPr lang="en-US" altLang="ko-KR" sz="800" dirty="0"/>
          </a:p>
          <a:p>
            <a:endParaRPr lang="ko-KR" altLang="en-US" sz="800" dirty="0"/>
          </a:p>
        </p:txBody>
      </p:sp>
      <p:sp>
        <p:nvSpPr>
          <p:cNvPr id="167" name="직사각형 166"/>
          <p:cNvSpPr/>
          <p:nvPr/>
        </p:nvSpPr>
        <p:spPr>
          <a:xfrm>
            <a:off x="7103286" y="6104709"/>
            <a:ext cx="2275404" cy="1568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452805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1160890"/>
            <a:chOff x="720490" y="4465173"/>
            <a:chExt cx="2630093" cy="1160890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853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374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675399" y="2816838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732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77434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25242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공급자 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SMS</a:t>
              </a:r>
              <a:r>
                <a:rPr lang="ko-KR" altLang="en-US" sz="700" dirty="0" err="1">
                  <a:latin typeface="+mn-ea"/>
                </a:rPr>
                <a:t>수신번호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179706"/>
            <a:ext cx="24560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* SMS</a:t>
            </a:r>
            <a:r>
              <a:rPr lang="ko-KR" altLang="en-US" sz="700" dirty="0" err="1">
                <a:latin typeface="+mn-ea"/>
              </a:rPr>
              <a:t>수신번호는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[SMS</a:t>
            </a:r>
            <a:r>
              <a:rPr lang="ko-KR" altLang="en-US" sz="700" dirty="0" err="1">
                <a:latin typeface="+mn-ea"/>
              </a:rPr>
              <a:t>서비스신청</a:t>
            </a:r>
            <a:r>
              <a:rPr lang="en-US" altLang="ko-KR" sz="700" dirty="0">
                <a:latin typeface="+mn-ea"/>
              </a:rPr>
              <a:t>] </a:t>
            </a:r>
            <a:r>
              <a:rPr lang="ko-KR" altLang="en-US" sz="700" dirty="0">
                <a:latin typeface="+mn-ea"/>
              </a:rPr>
              <a:t>시 등록된 번호가 자동으로 입력됩니다</a:t>
            </a:r>
            <a:r>
              <a:rPr lang="en-US" altLang="ko-KR" sz="700" dirty="0">
                <a:latin typeface="+mn-ea"/>
              </a:rPr>
              <a:t>.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012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47862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 smtClean="0"/>
              <a:t>PC</a:t>
            </a:r>
            <a:r>
              <a:rPr lang="ko-KR" altLang="en-US" dirty="0" smtClean="0"/>
              <a:t>에서</a:t>
            </a:r>
            <a:r>
              <a:rPr lang="en-US" altLang="ko-KR" dirty="0"/>
              <a:t> </a:t>
            </a:r>
            <a:r>
              <a:rPr lang="ko-KR" altLang="en-US" dirty="0" err="1" smtClean="0"/>
              <a:t>대금청구</a:t>
            </a:r>
            <a:r>
              <a:rPr lang="ko-KR" altLang="en-US" dirty="0" smtClean="0"/>
              <a:t> 신청서 작성시</a:t>
            </a:r>
            <a:r>
              <a:rPr lang="en-US" altLang="ko-KR" dirty="0" smtClean="0"/>
              <a:t>,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합격을 선택한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합격일자</a:t>
            </a:r>
            <a:r>
              <a:rPr lang="ko-KR" altLang="en-US" dirty="0" smtClean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PC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 err="1"/>
              <a:t>대금청구</a:t>
            </a:r>
            <a:r>
              <a:rPr lang="ko-KR" altLang="en-US" dirty="0"/>
              <a:t> 신청서 작성시</a:t>
            </a:r>
            <a:r>
              <a:rPr lang="en-US" altLang="ko-KR" dirty="0"/>
              <a:t>, </a:t>
            </a:r>
            <a:r>
              <a:rPr lang="ko-KR" altLang="en-US" dirty="0" err="1" smtClean="0"/>
              <a:t>납품일자를</a:t>
            </a:r>
            <a:r>
              <a:rPr lang="ko-KR" altLang="en-US" dirty="0" smtClean="0"/>
              <a:t> 선택한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납품일자</a:t>
            </a:r>
            <a:r>
              <a:rPr lang="ko-KR" altLang="en-US" dirty="0" smtClean="0"/>
              <a:t>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PC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 err="1"/>
              <a:t>대금청구</a:t>
            </a:r>
            <a:r>
              <a:rPr lang="ko-KR" altLang="en-US" dirty="0"/>
              <a:t> 신청서 작성시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세액 여부 있음을 선택한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있음 노출 및 세액 항목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납품청구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신청서상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세액여부</a:t>
            </a:r>
            <a:r>
              <a:rPr lang="ko-KR" altLang="en-US" dirty="0" smtClean="0"/>
              <a:t> 없음 을 선택한 경우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-4-1] </a:t>
            </a:r>
            <a:r>
              <a:rPr lang="ko-KR" altLang="en-US" dirty="0" err="1" smtClean="0"/>
              <a:t>세액여부가</a:t>
            </a:r>
            <a:r>
              <a:rPr lang="ko-KR" altLang="en-US" dirty="0" smtClean="0"/>
              <a:t> 없음인 경우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세액항목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“-”</a:t>
            </a:r>
            <a:r>
              <a:rPr lang="ko-KR" altLang="en-US" dirty="0" smtClean="0"/>
              <a:t>로 표기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대금신청</a:t>
            </a:r>
            <a:r>
              <a:rPr lang="ko-KR" altLang="en-US" dirty="0">
                <a:latin typeface="+mn-ea"/>
              </a:rPr>
              <a:t>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804005"/>
            <a:chOff x="3865118" y="2946203"/>
            <a:chExt cx="2630093" cy="28040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있음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5235" y="1808160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7757" y="1878063"/>
            <a:ext cx="47128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2026-01-30</a:t>
            </a:r>
            <a:endParaRPr lang="ko-KR" altLang="en-US" sz="700" dirty="0">
              <a:latin typeface="+mn-ea"/>
            </a:endParaRPr>
          </a:p>
        </p:txBody>
      </p:sp>
      <p:sp>
        <p:nvSpPr>
          <p:cNvPr id="47" name="타원 46"/>
          <p:cNvSpPr/>
          <p:nvPr/>
        </p:nvSpPr>
        <p:spPr>
          <a:xfrm flipH="1">
            <a:off x="1348969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630801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/>
          <p:cNvGrpSpPr/>
          <p:nvPr/>
        </p:nvGrpSpPr>
        <p:grpSpPr>
          <a:xfrm>
            <a:off x="3758766" y="1527996"/>
            <a:ext cx="2456097" cy="181140"/>
            <a:chOff x="763157" y="1527996"/>
            <a:chExt cx="2456097" cy="18114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53" name="그룹 52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54" name="직선 연결선 5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그룹 55"/>
          <p:cNvGrpSpPr/>
          <p:nvPr/>
        </p:nvGrpSpPr>
        <p:grpSpPr>
          <a:xfrm>
            <a:off x="3671768" y="1820148"/>
            <a:ext cx="2630093" cy="2804005"/>
            <a:chOff x="3865118" y="2946203"/>
            <a:chExt cx="2630093" cy="2804005"/>
          </a:xfrm>
        </p:grpSpPr>
        <p:sp>
          <p:nvSpPr>
            <p:cNvPr id="57" name="직사각형 56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없음 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- 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-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630801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33159" y="1878063"/>
            <a:ext cx="47128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2026-02-10</a:t>
            </a:r>
            <a:endParaRPr lang="ko-KR" altLang="en-US" sz="700" dirty="0">
              <a:latin typeface="+mn-ea"/>
            </a:endParaRPr>
          </a:p>
        </p:txBody>
      </p:sp>
      <p:sp>
        <p:nvSpPr>
          <p:cNvPr id="78" name="타원 77"/>
          <p:cNvSpPr/>
          <p:nvPr/>
        </p:nvSpPr>
        <p:spPr>
          <a:xfrm flipH="1">
            <a:off x="4304371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652932" y="2688661"/>
            <a:ext cx="2689896" cy="2051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/>
          <p:nvPr/>
        </p:nvSpPr>
        <p:spPr>
          <a:xfrm>
            <a:off x="3652932" y="3357843"/>
            <a:ext cx="2689896" cy="2051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10193" y="522222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114415" y="5222223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76337" y="522222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13053" y="522222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28848" y="522222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10637" y="183709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5235" y="206881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10637" y="207893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1708" y="261217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75" name="직사각형 74"/>
          <p:cNvSpPr/>
          <p:nvPr/>
        </p:nvSpPr>
        <p:spPr>
          <a:xfrm>
            <a:off x="7103286" y="6139543"/>
            <a:ext cx="2287843" cy="1219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5172336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 smtClean="0">
                <a:latin typeface="+mn-ea"/>
              </a:rPr>
              <a:t>PC</a:t>
            </a:r>
            <a:r>
              <a:rPr lang="ko-KR" altLang="en-US" dirty="0" smtClean="0">
                <a:latin typeface="+mn-ea"/>
              </a:rPr>
              <a:t>에서 사후정산청구서 작성시</a:t>
            </a:r>
            <a:r>
              <a:rPr lang="en-US" altLang="ko-KR" dirty="0" smtClean="0">
                <a:latin typeface="+mn-ea"/>
              </a:rPr>
              <a:t>(UI-WM-01-M47), </a:t>
            </a:r>
            <a:r>
              <a:rPr lang="ko-KR" altLang="en-US" dirty="0" smtClean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“</a:t>
            </a:r>
            <a:r>
              <a:rPr lang="ko-KR" altLang="en-US" dirty="0" smtClean="0">
                <a:latin typeface="+mn-ea"/>
              </a:rPr>
              <a:t>선택</a:t>
            </a:r>
            <a:r>
              <a:rPr lang="en-US" altLang="ko-KR" dirty="0" smtClean="0">
                <a:latin typeface="+mn-ea"/>
              </a:rPr>
              <a:t>” </a:t>
            </a:r>
            <a:r>
              <a:rPr lang="ko-KR" altLang="en-US" dirty="0" smtClean="0">
                <a:latin typeface="+mn-ea"/>
              </a:rPr>
              <a:t>을 선택한 경우 노출 되는 항목</a:t>
            </a:r>
            <a:endParaRPr lang="en-US" altLang="ko-KR" dirty="0" smtClean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/>
              <a:t>진행상태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</a:t>
            </a:r>
            <a:r>
              <a:rPr lang="ko-KR" altLang="en-US" dirty="0" smtClean="0"/>
              <a:t>진행상태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7065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363885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090538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3764258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253901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7103286" y="6036456"/>
            <a:ext cx="2275404" cy="1958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457489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99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일자구분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98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73129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086851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29805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srngYmd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168979"/>
            <a:ext cx="237461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공급자정보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380182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2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54A4C22-E49D-27FC-D9FD-E7A0C6EBB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801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836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ymdSeCd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합격월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D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납품월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exmptnSbmsnYn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grnteInsrncScrtSbmsnYn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959606"/>
            <a:ext cx="232171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dlt_txBllList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1708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txivChcYn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선택안함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4697EFF-DC34-4A4E-4B12-F5CFDC19D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5E047-FC26-7018-1149-CADBEEF4059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938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1853"/>
              </p:ext>
            </p:extLst>
          </p:nvPr>
        </p:nvGraphicFramePr>
        <p:xfrm>
          <a:off x="453000" y="1068365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5C7748-B9E7-B5A0-7232-092364D0174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A611DD90-B471-FCCC-FD98-DC05C3AF3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8595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384703"/>
            <a:chOff x="720490" y="4465173"/>
            <a:chExt cx="2630093" cy="138470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0772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710" cy="107722"/>
            <a:chOff x="764169" y="4142235"/>
            <a:chExt cx="2210710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3869962" y="2251398"/>
            <a:ext cx="2210710" cy="107722"/>
            <a:chOff x="764169" y="4142235"/>
            <a:chExt cx="2210710" cy="107722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7" name="그룹 156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5" name="직선 연결선 22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직선 연결선 22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3" name="직선 연결선 22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21" name="직선 연결선 22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80" name="타원 17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87" name="타원 18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206" name="그룹 205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207" name="타원 20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18" name="그룹 21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19" name="직선 연결선 21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직선 연결선 21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7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, 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전체노출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신청정보</a:t>
            </a:r>
            <a:r>
              <a:rPr lang="ko-KR" altLang="en-US" dirty="0" smtClean="0"/>
              <a:t>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대금신청업체정보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대금신청금액</a:t>
            </a:r>
            <a:r>
              <a:rPr lang="en-US" altLang="ko-KR" dirty="0" smtClean="0"/>
              <a:t>, </a:t>
            </a:r>
            <a:r>
              <a:rPr lang="ko-KR" altLang="en-US" dirty="0" smtClean="0"/>
              <a:t>첨부파일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세금계산서인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화면에서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세금계산서번호 선택 을 체크한 경우 노출</a:t>
            </a:r>
            <a:r>
              <a:rPr lang="en-US" altLang="ko-KR" dirty="0" smtClean="0"/>
              <a:t>＂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현 상세내용 탭에서는 </a:t>
            </a:r>
            <a:r>
              <a:rPr lang="en-US" altLang="ko-KR" dirty="0" smtClean="0"/>
              <a:t>(+)</a:t>
            </a:r>
            <a:r>
              <a:rPr lang="ko-KR" altLang="en-US" dirty="0" smtClean="0"/>
              <a:t>더하기 버튼 없음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912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1358943"/>
            <a:chOff x="720490" y="4465173"/>
            <a:chExt cx="2630093" cy="1358943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042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673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0959" y="3046651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030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77434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30624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공급자 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215444"/>
            <a:chOff x="763157" y="1527996"/>
            <a:chExt cx="2456097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1077218"/>
            <a:chOff x="3865118" y="2946204"/>
            <a:chExt cx="2630093" cy="10772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0737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9146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1458087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대금신청</a:t>
            </a:r>
            <a:r>
              <a:rPr lang="ko-KR" altLang="en-US" dirty="0">
                <a:latin typeface="+mn-ea"/>
              </a:rPr>
              <a:t>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62371" y="2103380"/>
            <a:ext cx="580039" cy="107722"/>
            <a:chOff x="1746956" y="5895087"/>
            <a:chExt cx="580039" cy="1077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6326" y="4038228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499262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/>
          <p:cNvGrpSpPr/>
          <p:nvPr/>
        </p:nvGrpSpPr>
        <p:grpSpPr>
          <a:xfrm>
            <a:off x="3627227" y="1527996"/>
            <a:ext cx="2456097" cy="181140"/>
            <a:chOff x="763157" y="1527996"/>
            <a:chExt cx="2456097" cy="18114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58" name="그룹 57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59" name="직선 연결선 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그룹 60"/>
          <p:cNvGrpSpPr/>
          <p:nvPr/>
        </p:nvGrpSpPr>
        <p:grpSpPr>
          <a:xfrm>
            <a:off x="3540229" y="1820149"/>
            <a:ext cx="2630093" cy="2586565"/>
            <a:chOff x="3865118" y="2946204"/>
            <a:chExt cx="2630093" cy="2586565"/>
          </a:xfrm>
        </p:grpSpPr>
        <p:sp>
          <p:nvSpPr>
            <p:cNvPr id="62" name="직사각형 6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499262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91283" y="2103380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면세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86234" y="4038228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1804478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08023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01860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sp>
        <p:nvSpPr>
          <p:cNvPr id="94" name="직사각형 93"/>
          <p:cNvSpPr/>
          <p:nvPr/>
        </p:nvSpPr>
        <p:spPr>
          <a:xfrm>
            <a:off x="7103286" y="6036456"/>
            <a:ext cx="2275404" cy="145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586614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err="1"/>
              <a:t>세액여부별</a:t>
            </a:r>
            <a:r>
              <a:rPr lang="ko-KR" altLang="en-US" dirty="0"/>
              <a:t> 항목 확인 필요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세액 여부</a:t>
            </a:r>
            <a:r>
              <a:rPr lang="en-US" altLang="ko-KR" dirty="0"/>
              <a:t>) </a:t>
            </a:r>
            <a:r>
              <a:rPr lang="ko-KR" altLang="en-US" dirty="0"/>
              <a:t>과세</a:t>
            </a:r>
            <a:r>
              <a:rPr lang="en-US" altLang="ko-KR" dirty="0"/>
              <a:t>, </a:t>
            </a:r>
            <a:r>
              <a:rPr lang="ko-KR" altLang="en-US" dirty="0"/>
              <a:t>면세</a:t>
            </a:r>
            <a:r>
              <a:rPr lang="en-US" altLang="ko-KR" dirty="0"/>
              <a:t>, </a:t>
            </a:r>
            <a:r>
              <a:rPr lang="ko-KR" altLang="en-US" dirty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smtClean="0"/>
              <a:t>1-2] </a:t>
            </a:r>
            <a:r>
              <a:rPr lang="ko-KR" altLang="en-US" dirty="0" err="1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/>
              <a:t>예정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대금신청</a:t>
            </a:r>
            <a:r>
              <a:rPr lang="ko-KR" altLang="en-US" dirty="0">
                <a:latin typeface="+mn-ea"/>
              </a:rPr>
              <a:t>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62371" y="2103380"/>
            <a:ext cx="580039" cy="107722"/>
            <a:chOff x="1746956" y="5895087"/>
            <a:chExt cx="580039" cy="1077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smtClean="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50814" y="4038228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예정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79823" y="205111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79823" y="3962754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40" name="직사각형 39"/>
          <p:cNvSpPr/>
          <p:nvPr/>
        </p:nvSpPr>
        <p:spPr>
          <a:xfrm>
            <a:off x="7103286" y="6036456"/>
            <a:ext cx="2275404" cy="145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0993699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계약에 등록된 </a:t>
            </a:r>
            <a:r>
              <a:rPr lang="ko-KR" altLang="en-US" sz="700" dirty="0" err="1"/>
              <a:t>계약관</a:t>
            </a:r>
            <a:r>
              <a:rPr lang="ko-KR" altLang="en-US" sz="700" dirty="0"/>
              <a:t> 첨부서류 </a:t>
            </a:r>
            <a:r>
              <a:rPr lang="ko-KR" altLang="en-US" sz="700" dirty="0" err="1"/>
              <a:t>목록조회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default) </a:t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아코디언 전체 펼침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업로드 기능 </a:t>
            </a:r>
            <a:r>
              <a:rPr lang="ko-KR" altLang="en-US" sz="700" dirty="0" err="1"/>
              <a:t>미지원</a:t>
            </a:r>
            <a:r>
              <a:rPr lang="ko-KR" altLang="en-US" sz="700" dirty="0"/>
              <a:t>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 err="1" smtClean="0"/>
              <a:t>대금청구</a:t>
            </a:r>
            <a:r>
              <a:rPr lang="ko-KR" altLang="en-US" sz="700" dirty="0" smtClean="0"/>
              <a:t> </a:t>
            </a:r>
            <a:r>
              <a:rPr lang="ko-KR" altLang="en-US" sz="700" dirty="0"/>
              <a:t>첨부서류에 첨부된 파일이 있는 경우에만 목록 노출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파일 </a:t>
            </a:r>
            <a:r>
              <a:rPr lang="ko-KR" altLang="en-US" sz="700" dirty="0"/>
              <a:t>목록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정렬</a:t>
            </a:r>
            <a:r>
              <a:rPr lang="en-US" altLang="ko-KR" sz="700" dirty="0"/>
              <a:t> : </a:t>
            </a:r>
            <a:r>
              <a:rPr lang="ko-KR" altLang="en-US" sz="700" dirty="0"/>
              <a:t>파일 업로드 시점의 </a:t>
            </a:r>
            <a:r>
              <a:rPr lang="ko-KR" altLang="en-US" sz="700" dirty="0" err="1"/>
              <a:t>등록일시</a:t>
            </a:r>
            <a:r>
              <a:rPr lang="ko-KR" altLang="en-US" sz="700" dirty="0"/>
              <a:t> 내림차순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 err="1"/>
              <a:t>계약서류명</a:t>
            </a:r>
            <a:r>
              <a:rPr lang="en-US" altLang="ko-KR" sz="700" dirty="0"/>
              <a:t>, </a:t>
            </a:r>
            <a:r>
              <a:rPr lang="ko-KR" altLang="en-US" sz="700" dirty="0" err="1"/>
              <a:t>첨부파일명</a:t>
            </a:r>
            <a:r>
              <a:rPr lang="en-US" altLang="ko-KR" sz="700" dirty="0"/>
              <a:t>, </a:t>
            </a:r>
            <a:r>
              <a:rPr lang="ko-KR" altLang="en-US" sz="700" dirty="0"/>
              <a:t>파일 크기 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 크기 정보가 없거나</a:t>
            </a:r>
            <a:r>
              <a:rPr lang="en-US" altLang="ko-KR" sz="700" dirty="0"/>
              <a:t>, </a:t>
            </a:r>
            <a:r>
              <a:rPr lang="ko-KR" altLang="en-US" sz="700" dirty="0"/>
              <a:t>첨부서류 파일명이 없는 경우 </a:t>
            </a:r>
            <a:r>
              <a:rPr lang="en-US" altLang="ko-KR" sz="700" dirty="0"/>
              <a:t>“-” </a:t>
            </a:r>
            <a:r>
              <a:rPr lang="ko-KR" altLang="en-US" sz="700" dirty="0"/>
              <a:t>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파일명이 긴 경우 </a:t>
            </a:r>
            <a:r>
              <a:rPr lang="ko-KR" altLang="en-US" sz="700" dirty="0" err="1"/>
              <a:t>말줄임</a:t>
            </a:r>
            <a:r>
              <a:rPr lang="ko-KR" altLang="en-US" sz="700" dirty="0"/>
              <a:t> 표시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다운로드 아이콘 노출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다운로드 </a:t>
            </a:r>
            <a:r>
              <a:rPr lang="ko-KR" altLang="en-US" sz="700" dirty="0" err="1"/>
              <a:t>클릭시</a:t>
            </a:r>
            <a:r>
              <a:rPr lang="en-US" altLang="ko-KR" sz="700" dirty="0"/>
              <a:t>, </a:t>
            </a:r>
            <a:r>
              <a:rPr lang="ko-KR" altLang="en-US" sz="700" dirty="0"/>
              <a:t>즉시 다운로드 실행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 다운로드 </a:t>
            </a:r>
            <a:r>
              <a:rPr lang="ko-KR" altLang="en-US" sz="700" dirty="0" err="1"/>
              <a:t>실패시</a:t>
            </a:r>
            <a:r>
              <a:rPr lang="ko-KR" altLang="en-US" sz="700" dirty="0"/>
              <a:t> </a:t>
            </a:r>
            <a:r>
              <a:rPr lang="en-US" altLang="ko-KR" sz="700" dirty="0"/>
              <a:t>, “</a:t>
            </a:r>
            <a:r>
              <a:rPr lang="ko-KR" altLang="en-US" sz="700" dirty="0"/>
              <a:t>다운로드에 실패했습니다</a:t>
            </a:r>
            <a:r>
              <a:rPr lang="en-US" altLang="ko-KR" sz="700" dirty="0"/>
              <a:t>”</a:t>
            </a:r>
            <a:r>
              <a:rPr lang="ko-KR" altLang="en-US" sz="700" dirty="0"/>
              <a:t> 토스트 노출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다운로드 </a:t>
            </a:r>
            <a:r>
              <a:rPr lang="ko-KR" altLang="en-US" sz="700" dirty="0" err="1"/>
              <a:t>성공시</a:t>
            </a:r>
            <a:r>
              <a:rPr lang="ko-KR" altLang="en-US" sz="700" dirty="0"/>
              <a:t> </a:t>
            </a:r>
            <a:r>
              <a:rPr lang="en-US" altLang="ko-KR" sz="700" dirty="0"/>
              <a:t>“</a:t>
            </a:r>
            <a:r>
              <a:rPr lang="ko-KR" altLang="en-US" sz="700" dirty="0"/>
              <a:t>다운로드에 성공했습니다</a:t>
            </a:r>
            <a:r>
              <a:rPr lang="en-US" altLang="ko-KR" sz="700" dirty="0"/>
              <a:t>“ </a:t>
            </a:r>
            <a:r>
              <a:rPr lang="ko-KR" altLang="en-US" sz="700" dirty="0"/>
              <a:t>노출</a:t>
            </a:r>
            <a:endParaRPr lang="en-US" altLang="ko-KR" sz="7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75400" y="1791264"/>
            <a:ext cx="2712026" cy="1339020"/>
            <a:chOff x="4063785" y="1972404"/>
            <a:chExt cx="2712026" cy="1339020"/>
          </a:xfrm>
        </p:grpSpPr>
        <p:grpSp>
          <p:nvGrpSpPr>
            <p:cNvPr id="50" name="그룹 49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54" name="모서리가 둥근 직사각형 53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351332"/>
                <a:ext cx="16827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물품제조구매계약서</a:t>
                </a:r>
                <a:endParaRPr lang="en-US" altLang="ko-KR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7" name="타원 56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모서리가 둥근 직사각형 57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758018"/>
                <a:ext cx="141278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계약명세서</a:t>
                </a:r>
                <a:endParaRPr lang="en-US" altLang="ko-KR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첨부파일명이너무길면어떻게</a:t>
                </a:r>
                <a:r>
                  <a:rPr lang="ko-KR" altLang="en-US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 노출</a:t>
                </a:r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... 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1" name="타원 60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75" name="직사각형 74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853" y="193125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3895" y="256403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8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5536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81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08628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3116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863216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대금신청번호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374242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85445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recrdPblcnNo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UZ03</a:t>
                      </a:r>
                    </a:p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당년국체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608773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1997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D6CFD2F-4DC0-741E-BC14-138D4D7E4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32462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VATA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641739"/>
            <a:ext cx="22207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85294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0344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C55AFAB6-A1E3-0681-D91C-DD3EB4FE0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50219-680A-6FD4-592F-C671CBA010B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247406"/>
              </p:ext>
            </p:extLst>
          </p:nvPr>
        </p:nvGraphicFramePr>
        <p:xfrm>
          <a:off x="453000" y="10509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(UI-WM-01-R31)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(UI-WM-01-R32)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4259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6F3B62-1B8D-DA6D-119E-CFA240CD0032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5" name="Text Box 73">
            <a:extLst>
              <a:ext uri="{FF2B5EF4-FFF2-40B4-BE49-F238E27FC236}">
                <a16:creationId xmlns:a16="http://schemas.microsoft.com/office/drawing/2014/main" id="{7D6E6027-667C-05A1-A04E-9C98E44C9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1875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en-US" altLang="ko-KR" sz="900" b="1" dirty="0"/>
              <a:t>000000 </a:t>
            </a:r>
            <a:r>
              <a:rPr lang="ko-KR" altLang="en-US" sz="900" b="1" dirty="0"/>
              <a:t>공사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en-US" altLang="ko-KR" sz="900" b="1" dirty="0"/>
              <a:t>000000 </a:t>
            </a:r>
            <a:r>
              <a:rPr lang="ko-KR" altLang="en-US" sz="900" b="1" dirty="0"/>
              <a:t>공사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공사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7672" y="2540391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6259759" y="2599744"/>
            <a:ext cx="94010" cy="47005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815590"/>
            <a:chOff x="720490" y="4465173"/>
            <a:chExt cx="2630093" cy="1815590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7"/>
              <a:ext cx="792000" cy="145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0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1636582" cy="107722"/>
            <a:chOff x="764169" y="4142235"/>
            <a:chExt cx="163658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3869962" y="2251719"/>
            <a:ext cx="1636582" cy="107722"/>
            <a:chOff x="764169" y="4142235"/>
            <a:chExt cx="1636582" cy="107722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795734" y="2803333"/>
            <a:ext cx="2712027" cy="1870733"/>
            <a:chOff x="3783912" y="2803333"/>
            <a:chExt cx="2712027" cy="1870733"/>
          </a:xfrm>
        </p:grpSpPr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6740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05" name="직선 연결선 2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81" name="직선 연결선 1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71" name="그룹 17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72" name="타원 17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3" name="그룹 172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79" name="직선 연결선 17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직선 연결선 17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3" name="직사각형 2"/>
          <p:cNvSpPr/>
          <p:nvPr/>
        </p:nvSpPr>
        <p:spPr>
          <a:xfrm>
            <a:off x="7079729" y="5991496"/>
            <a:ext cx="2378480" cy="19893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ko-KR" sz="500" b="1" dirty="0" err="1" smtClean="0">
                <a:solidFill>
                  <a:schemeClr val="bg1"/>
                </a:solidFill>
              </a:rPr>
              <a:t>지급구분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 </a:t>
            </a:r>
            <a:r>
              <a:rPr lang="ko-KR" altLang="ko-KR" sz="500" b="1" dirty="0" smtClean="0">
                <a:solidFill>
                  <a:schemeClr val="bg1"/>
                </a:solidFill>
              </a:rPr>
              <a:t>신청금액</a:t>
            </a:r>
            <a:r>
              <a:rPr lang="en-US" altLang="ko-KR" sz="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500" b="1" dirty="0" smtClean="0">
                <a:solidFill>
                  <a:schemeClr val="bg1"/>
                </a:solidFill>
              </a:rPr>
              <a:t>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198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, 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전체노출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신청정보</a:t>
            </a:r>
            <a:r>
              <a:rPr lang="ko-KR" altLang="en-US" dirty="0" smtClean="0"/>
              <a:t>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대가지금업체</a:t>
            </a:r>
            <a:r>
              <a:rPr lang="en-US" altLang="ko-KR" dirty="0" smtClean="0"/>
              <a:t>,</a:t>
            </a:r>
            <a:r>
              <a:rPr lang="ko-KR" altLang="en-US" dirty="0" smtClean="0"/>
              <a:t>첨부파일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현 상세내용 탭에서는 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87399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비고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2031034"/>
            <a:chOff x="720490" y="4465173"/>
            <a:chExt cx="2630093" cy="2031034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6974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4603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720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4700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391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235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9336" y="3686309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53" name="그룹 52"/>
          <p:cNvGrpSpPr/>
          <p:nvPr/>
        </p:nvGrpSpPr>
        <p:grpSpPr>
          <a:xfrm flipV="1">
            <a:off x="3151423" y="3745662"/>
            <a:ext cx="94010" cy="47005"/>
            <a:chOff x="6812560" y="3297172"/>
            <a:chExt cx="94010" cy="47005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그룹 55"/>
          <p:cNvGrpSpPr/>
          <p:nvPr/>
        </p:nvGrpSpPr>
        <p:grpSpPr>
          <a:xfrm>
            <a:off x="687398" y="3949251"/>
            <a:ext cx="2712027" cy="1870733"/>
            <a:chOff x="3783912" y="2803333"/>
            <a:chExt cx="2712027" cy="1870733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6740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41325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대가지급업체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상세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공사</a:t>
            </a:r>
            <a:r>
              <a:rPr lang="en-US" altLang="ko-KR" sz="800" dirty="0">
                <a:latin typeface="+mn-ea"/>
              </a:rPr>
              <a:t>)</a:t>
            </a:r>
            <a:r>
              <a:rPr lang="ko-KR" altLang="en-US" sz="800" dirty="0">
                <a:latin typeface="+mn-ea"/>
              </a:rPr>
              <a:t> 상세 </a:t>
            </a:r>
            <a:r>
              <a:rPr lang="en-US" altLang="ko-KR" sz="800" dirty="0">
                <a:latin typeface="+mn-ea"/>
              </a:rPr>
              <a:t>– </a:t>
            </a:r>
            <a:r>
              <a:rPr lang="ko-KR" altLang="en-US" sz="800" dirty="0">
                <a:latin typeface="+mn-ea"/>
              </a:rPr>
              <a:t>대가지급업체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1508105"/>
            <a:chOff x="3865118" y="2946204"/>
            <a:chExt cx="2630093" cy="15081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5016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은행명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계좌실명번호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예금주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농협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1100-12345-02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11000-11200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739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10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46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3811854"/>
            <a:ext cx="76863" cy="292489"/>
            <a:chOff x="3750067" y="4683795"/>
            <a:chExt cx="76863" cy="29248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69703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861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/>
          <p:cNvGrpSpPr/>
          <p:nvPr/>
        </p:nvGrpSpPr>
        <p:grpSpPr>
          <a:xfrm>
            <a:off x="806578" y="1527996"/>
            <a:ext cx="2456097" cy="181140"/>
            <a:chOff x="763157" y="1527996"/>
            <a:chExt cx="2456097" cy="18114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34" name="그룹 3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35" name="직선 연결선 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74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8" name="그룹 37"/>
          <p:cNvGrpSpPr/>
          <p:nvPr/>
        </p:nvGrpSpPr>
        <p:grpSpPr>
          <a:xfrm>
            <a:off x="678614" y="1791264"/>
            <a:ext cx="2712026" cy="1339020"/>
            <a:chOff x="4063785" y="1972404"/>
            <a:chExt cx="2712026" cy="1339020"/>
          </a:xfrm>
        </p:grpSpPr>
        <p:grpSp>
          <p:nvGrpSpPr>
            <p:cNvPr id="39" name="그룹 38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412605"/>
                <a:ext cx="168273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타원 44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모서리가 둥근 직사각형 45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819291"/>
                <a:ext cx="141278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9" name="타원 48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항목번호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40" name="직사각형 39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55" name="타원 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0067" y="193125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7109" y="256403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5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8750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1842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6330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62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계약에 등록된 </a:t>
            </a:r>
            <a:r>
              <a:rPr lang="ko-KR" altLang="en-US" sz="800" dirty="0" err="1"/>
              <a:t>계약관</a:t>
            </a:r>
            <a:r>
              <a:rPr lang="ko-KR" altLang="en-US" sz="800" dirty="0"/>
              <a:t> 첨부서류 </a:t>
            </a:r>
            <a:r>
              <a:rPr lang="ko-KR" altLang="en-US" sz="800" dirty="0" err="1"/>
              <a:t>목록조회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default) 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아코디언 전체 펼침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업로드 기능 </a:t>
            </a:r>
            <a:r>
              <a:rPr lang="ko-KR" altLang="en-US" sz="800" dirty="0" err="1"/>
              <a:t>미지원</a:t>
            </a:r>
            <a:r>
              <a:rPr lang="ko-KR" altLang="en-US" sz="800" dirty="0"/>
              <a:t>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대금청구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첨부서류에 첨부된 파일이 있는 경우에만 목록 노출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파일 </a:t>
            </a:r>
            <a:r>
              <a:rPr lang="ko-KR" altLang="en-US" sz="800" dirty="0"/>
              <a:t>목록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정렬</a:t>
            </a:r>
            <a:r>
              <a:rPr lang="en-US" altLang="ko-KR" sz="800" dirty="0"/>
              <a:t> : </a:t>
            </a:r>
            <a:r>
              <a:rPr lang="ko-KR" altLang="en-US" sz="800" dirty="0"/>
              <a:t>파일 업로드 시점의 </a:t>
            </a:r>
            <a:r>
              <a:rPr lang="ko-KR" altLang="en-US" sz="800" dirty="0" err="1"/>
              <a:t>등록일시</a:t>
            </a:r>
            <a:r>
              <a:rPr lang="ko-KR" altLang="en-US" sz="800" dirty="0"/>
              <a:t> 내림차순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계약서류명</a:t>
            </a:r>
            <a:r>
              <a:rPr lang="en-US" altLang="ko-KR" sz="800" dirty="0"/>
              <a:t>, </a:t>
            </a:r>
            <a:r>
              <a:rPr lang="ko-KR" altLang="en-US" sz="800" dirty="0" err="1"/>
              <a:t>첨부파일명</a:t>
            </a:r>
            <a:r>
              <a:rPr lang="en-US" altLang="ko-KR" sz="800" dirty="0"/>
              <a:t>, </a:t>
            </a:r>
            <a:r>
              <a:rPr lang="ko-KR" altLang="en-US" sz="800" dirty="0"/>
              <a:t>파일 크기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크기 정보가 없거나</a:t>
            </a:r>
            <a:r>
              <a:rPr lang="en-US" altLang="ko-KR" sz="800" dirty="0"/>
              <a:t>, </a:t>
            </a:r>
            <a:r>
              <a:rPr lang="ko-KR" altLang="en-US" sz="800" dirty="0"/>
              <a:t>첨부서류 파일명이 없는 경우 </a:t>
            </a:r>
            <a:r>
              <a:rPr lang="en-US" altLang="ko-KR" sz="800" dirty="0"/>
              <a:t>“-” </a:t>
            </a:r>
            <a:r>
              <a:rPr lang="ko-KR" altLang="en-US" sz="800" dirty="0"/>
              <a:t>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파일명이 긴 경우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다운로드 아이콘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클릭시</a:t>
            </a:r>
            <a:r>
              <a:rPr lang="en-US" altLang="ko-KR" sz="800" dirty="0"/>
              <a:t>, </a:t>
            </a:r>
            <a:r>
              <a:rPr lang="ko-KR" altLang="en-US" sz="800" dirty="0"/>
              <a:t>즉시 다운로드 실행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다운로드 </a:t>
            </a:r>
            <a:r>
              <a:rPr lang="ko-KR" altLang="en-US" sz="800" dirty="0" err="1"/>
              <a:t>실패시</a:t>
            </a:r>
            <a:r>
              <a:rPr lang="ko-KR" altLang="en-US" sz="800" dirty="0"/>
              <a:t> </a:t>
            </a:r>
            <a:r>
              <a:rPr lang="en-US" altLang="ko-KR" sz="800" dirty="0"/>
              <a:t>,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다운로드에 실패했습니다</a:t>
            </a:r>
            <a:r>
              <a:rPr lang="en-US" altLang="ko-KR" sz="800" dirty="0" smtClean="0"/>
              <a:t>”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토스트 </a:t>
            </a:r>
            <a:r>
              <a:rPr lang="ko-KR" altLang="en-US" sz="800" dirty="0" smtClean="0"/>
              <a:t>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다운로드 </a:t>
            </a:r>
            <a:r>
              <a:rPr lang="ko-KR" altLang="en-US" sz="800" dirty="0" err="1" smtClean="0"/>
              <a:t>성공시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다운로드에 성공했습니다</a:t>
            </a:r>
            <a:r>
              <a:rPr lang="en-US" altLang="ko-KR" sz="800" dirty="0" smtClean="0"/>
              <a:t>“ </a:t>
            </a:r>
            <a:r>
              <a:rPr lang="ko-KR" altLang="en-US" sz="800" dirty="0" smtClean="0"/>
              <a:t>노출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33028878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inspYmd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34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69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334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844506"/>
            <a:ext cx="2783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대가지급업체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dlt_giveBzentyList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557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fbctnSecd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dlngFnstNm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86692DD-2BE6-B42B-B0B8-6EFA9C93C744}"/>
              </a:ext>
            </a:extLst>
          </p:cNvPr>
          <p:cNvSpPr txBox="1"/>
          <p:nvPr/>
        </p:nvSpPr>
        <p:spPr>
          <a:xfrm>
            <a:off x="458117" y="4678061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86E9A2-63C6-E25A-5752-9C00FC9D6E0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89264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956986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C27F1755-0C59-34E4-D8B1-C5316286E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2573-9183-0B3A-6A93-3C857900E313}"/>
              </a:ext>
            </a:extLst>
          </p:cNvPr>
          <p:cNvSpPr txBox="1"/>
          <p:nvPr/>
        </p:nvSpPr>
        <p:spPr>
          <a:xfrm>
            <a:off x="458117" y="5758859"/>
            <a:ext cx="24691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dmt_birqRmrkCnInfo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C18F62-DCE3-5DF3-65FE-05BBE562069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97006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8161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8AB979B-14AB-5021-AD38-81AFF5B86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040"/>
              </p:ext>
            </p:extLst>
          </p:nvPr>
        </p:nvGraphicFramePr>
        <p:xfrm>
          <a:off x="453000" y="1042241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0B2BC4-AD71-7E59-D96E-28B493C7629B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B61C3E7-13C7-F5C3-BE78-71C249A4A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0192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123811"/>
            <a:chOff x="3836701" y="2575831"/>
            <a:chExt cx="2630093" cy="1123811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871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752297"/>
            <a:chOff x="720490" y="4465173"/>
            <a:chExt cx="2630093" cy="75229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4395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802" cy="107722"/>
            <a:chOff x="764169" y="4142235"/>
            <a:chExt cx="221080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0" name="그룹 179"/>
          <p:cNvGrpSpPr/>
          <p:nvPr/>
        </p:nvGrpSpPr>
        <p:grpSpPr>
          <a:xfrm>
            <a:off x="3866367" y="2251550"/>
            <a:ext cx="2210802" cy="107722"/>
            <a:chOff x="764169" y="4142235"/>
            <a:chExt cx="2210802" cy="107722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72" name="직선 연결선 17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70" name="직선 연결선 16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8" name="직선 연결선 16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0" name="타원 14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3" name="타원 152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58" name="타원 15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2" name="그룹 16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5" name="직선 연결선 16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직선 연결선 16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74" name="직사각형 173"/>
          <p:cNvSpPr/>
          <p:nvPr/>
        </p:nvSpPr>
        <p:spPr>
          <a:xfrm>
            <a:off x="7057780" y="6054387"/>
            <a:ext cx="2345790" cy="17791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납품금액</a:t>
            </a:r>
            <a:r>
              <a:rPr lang="en-US" altLang="ko-KR" sz="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500" b="1" dirty="0" smtClean="0">
                <a:solidFill>
                  <a:schemeClr val="bg1"/>
                </a:solidFill>
              </a:rPr>
              <a:t>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0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, 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전체노출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/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기성대가신청금액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첨부파일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현 상세내용 탭에서는 </a:t>
            </a:r>
            <a:r>
              <a:rPr lang="en-US" altLang="ko-KR" sz="800" dirty="0" smtClean="0"/>
              <a:t>(+)</a:t>
            </a:r>
            <a:r>
              <a:rPr lang="ko-KR" altLang="en-US" sz="800" dirty="0" smtClean="0"/>
              <a:t>더하기 버튼 없음</a:t>
            </a:r>
            <a:endParaRPr lang="en-US" altLang="ko-KR" sz="800" dirty="0" smtClean="0"/>
          </a:p>
          <a:p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2742655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752298"/>
            <a:chOff x="720490" y="4465173"/>
            <a:chExt cx="2630093" cy="752298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4448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546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6366" y="2433985"/>
            <a:ext cx="2630093" cy="1123811"/>
            <a:chOff x="3836701" y="2575831"/>
            <a:chExt cx="2630093" cy="112381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8722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9035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8549606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ko-KR" altLang="en-US" dirty="0">
                <a:latin typeface="+mn-ea"/>
              </a:rPr>
              <a:t> 신청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5399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5093" y="2102656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과세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2371" y="4038228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452955" y="1484342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2" name="그룹 61"/>
          <p:cNvGrpSpPr/>
          <p:nvPr/>
        </p:nvGrpSpPr>
        <p:grpSpPr>
          <a:xfrm>
            <a:off x="3580920" y="1518411"/>
            <a:ext cx="2456097" cy="181140"/>
            <a:chOff x="763157" y="1527996"/>
            <a:chExt cx="2456097" cy="18114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그룹 67"/>
          <p:cNvGrpSpPr/>
          <p:nvPr/>
        </p:nvGrpSpPr>
        <p:grpSpPr>
          <a:xfrm>
            <a:off x="3493922" y="1810564"/>
            <a:ext cx="2630093" cy="3662541"/>
            <a:chOff x="3865118" y="2946204"/>
            <a:chExt cx="2630093" cy="3662541"/>
          </a:xfrm>
        </p:grpSpPr>
        <p:sp>
          <p:nvSpPr>
            <p:cNvPr id="69" name="직사각형 68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452955" y="55303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7139" y="2093795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면세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51797" y="4028643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예정</a:t>
            </a:r>
          </a:p>
        </p:txBody>
      </p:sp>
      <p:sp>
        <p:nvSpPr>
          <p:cNvPr id="110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1804478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08023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01860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</p:spTree>
    <p:extLst>
      <p:ext uri="{BB962C8B-B14F-4D97-AF65-F5344CB8AC3E}">
        <p14:creationId xmlns:p14="http://schemas.microsoft.com/office/powerpoint/2010/main" val="34213953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ko-KR" altLang="en-US" dirty="0">
                <a:latin typeface="+mn-ea"/>
              </a:rPr>
              <a:t> 신청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5399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5093" y="2102656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영세</a:t>
            </a:r>
            <a:endParaRPr lang="ko-KR" altLang="en-US" sz="700" dirty="0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2371" y="4038228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예정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0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1804478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08023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01860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</p:spTree>
    <p:extLst>
      <p:ext uri="{BB962C8B-B14F-4D97-AF65-F5344CB8AC3E}">
        <p14:creationId xmlns:p14="http://schemas.microsoft.com/office/powerpoint/2010/main" val="422676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>
                <a:latin typeface="+mn-ea"/>
              </a:rPr>
              <a:t>PC</a:t>
            </a:r>
            <a:r>
              <a:rPr lang="ko-KR" altLang="en-US" dirty="0">
                <a:latin typeface="+mn-ea"/>
              </a:rPr>
              <a:t>에서 사후정산청구서 작성시</a:t>
            </a:r>
            <a:r>
              <a:rPr lang="en-US" altLang="ko-KR" dirty="0">
                <a:latin typeface="+mn-ea"/>
              </a:rPr>
              <a:t>(UI-WM-01-M47), </a:t>
            </a:r>
            <a:r>
              <a:rPr lang="ko-KR" altLang="en-US" dirty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“</a:t>
            </a:r>
            <a:r>
              <a:rPr lang="ko-KR" altLang="en-US" dirty="0">
                <a:latin typeface="+mn-ea"/>
              </a:rPr>
              <a:t>선택</a:t>
            </a:r>
            <a:r>
              <a:rPr lang="en-US" altLang="ko-KR" dirty="0">
                <a:latin typeface="+mn-ea"/>
              </a:rPr>
              <a:t>” </a:t>
            </a:r>
            <a:r>
              <a:rPr lang="ko-KR" altLang="en-US" dirty="0">
                <a:latin typeface="+mn-ea"/>
              </a:rPr>
              <a:t>을 선택한 경우 노출 되는 항목</a:t>
            </a:r>
            <a:endParaRPr lang="en-US" altLang="ko-KR" dirty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73318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390505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117158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3790878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280521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14900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계약에 등록된 </a:t>
            </a:r>
            <a:r>
              <a:rPr lang="ko-KR" altLang="en-US" sz="800" dirty="0" err="1"/>
              <a:t>계약관</a:t>
            </a:r>
            <a:r>
              <a:rPr lang="ko-KR" altLang="en-US" sz="800" dirty="0"/>
              <a:t> 첨부서류 </a:t>
            </a:r>
            <a:r>
              <a:rPr lang="ko-KR" altLang="en-US" sz="800" dirty="0" err="1"/>
              <a:t>목록조회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default) 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아코디언 전체 펼침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업로드 기능 </a:t>
            </a:r>
            <a:r>
              <a:rPr lang="ko-KR" altLang="en-US" sz="800" dirty="0" err="1"/>
              <a:t>미지원</a:t>
            </a:r>
            <a:r>
              <a:rPr lang="ko-KR" altLang="en-US" sz="800" dirty="0"/>
              <a:t>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대금청구</a:t>
            </a:r>
            <a:r>
              <a:rPr lang="ko-KR" altLang="en-US" sz="800" dirty="0"/>
              <a:t> 첨부서류에 첨부된 파일이 있는 경우에만 목록 노출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파일 목록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정렬</a:t>
            </a:r>
            <a:r>
              <a:rPr lang="en-US" altLang="ko-KR" sz="800" dirty="0"/>
              <a:t> : </a:t>
            </a:r>
            <a:r>
              <a:rPr lang="ko-KR" altLang="en-US" sz="800" dirty="0"/>
              <a:t>파일 업로드 시점의 </a:t>
            </a:r>
            <a:r>
              <a:rPr lang="ko-KR" altLang="en-US" sz="800" dirty="0" err="1"/>
              <a:t>등록일시</a:t>
            </a:r>
            <a:r>
              <a:rPr lang="ko-KR" altLang="en-US" sz="800" dirty="0"/>
              <a:t> 내림차순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계약서류명</a:t>
            </a:r>
            <a:r>
              <a:rPr lang="en-US" altLang="ko-KR" sz="800" dirty="0"/>
              <a:t>, </a:t>
            </a:r>
            <a:r>
              <a:rPr lang="ko-KR" altLang="en-US" sz="800" dirty="0" err="1"/>
              <a:t>첨부파일명</a:t>
            </a:r>
            <a:r>
              <a:rPr lang="en-US" altLang="ko-KR" sz="800" dirty="0"/>
              <a:t>, </a:t>
            </a:r>
            <a:r>
              <a:rPr lang="ko-KR" altLang="en-US" sz="800" dirty="0"/>
              <a:t>파일 크기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크기 정보가 없거나</a:t>
            </a:r>
            <a:r>
              <a:rPr lang="en-US" altLang="ko-KR" sz="800" dirty="0"/>
              <a:t>, </a:t>
            </a:r>
            <a:r>
              <a:rPr lang="ko-KR" altLang="en-US" sz="800" dirty="0"/>
              <a:t>첨부서류 파일명이 없는 경우 </a:t>
            </a:r>
            <a:r>
              <a:rPr lang="en-US" altLang="ko-KR" sz="800" dirty="0"/>
              <a:t>“-” </a:t>
            </a:r>
            <a:r>
              <a:rPr lang="ko-KR" altLang="en-US" sz="800" dirty="0"/>
              <a:t>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파일명이 긴 경우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다운로드 아이콘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클릭시</a:t>
            </a:r>
            <a:r>
              <a:rPr lang="en-US" altLang="ko-KR" sz="800" dirty="0"/>
              <a:t>, </a:t>
            </a:r>
            <a:r>
              <a:rPr lang="ko-KR" altLang="en-US" sz="800" dirty="0"/>
              <a:t>즉시 다운로드 실행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다운로드 </a:t>
            </a:r>
            <a:r>
              <a:rPr lang="ko-KR" altLang="en-US" sz="800" dirty="0" err="1"/>
              <a:t>실패시</a:t>
            </a:r>
            <a:r>
              <a:rPr lang="ko-KR" altLang="en-US" sz="800" dirty="0"/>
              <a:t> </a:t>
            </a:r>
            <a:r>
              <a:rPr lang="en-US" altLang="ko-KR" sz="800" dirty="0"/>
              <a:t>, “</a:t>
            </a:r>
            <a:r>
              <a:rPr lang="ko-KR" altLang="en-US" sz="800" dirty="0"/>
              <a:t>다운로드에 실패했습니다</a:t>
            </a:r>
            <a:r>
              <a:rPr lang="en-US" altLang="ko-KR" sz="800" dirty="0"/>
              <a:t>”</a:t>
            </a:r>
            <a:r>
              <a:rPr lang="ko-KR" altLang="en-US" sz="800" dirty="0"/>
              <a:t> 토스트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성공시</a:t>
            </a:r>
            <a:r>
              <a:rPr lang="ko-KR" altLang="en-US" sz="800" dirty="0"/>
              <a:t> </a:t>
            </a:r>
            <a:r>
              <a:rPr lang="en-US" altLang="ko-KR" sz="800" dirty="0"/>
              <a:t>“</a:t>
            </a:r>
            <a:r>
              <a:rPr lang="ko-KR" altLang="en-US" sz="800" dirty="0"/>
              <a:t>다운로드에 성공했습니다</a:t>
            </a:r>
            <a:r>
              <a:rPr lang="en-US" altLang="ko-KR" sz="800" dirty="0"/>
              <a:t>“ </a:t>
            </a:r>
            <a:r>
              <a:rPr lang="ko-KR" altLang="en-US" sz="800" dirty="0"/>
              <a:t>노출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861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/>
          <p:cNvGrpSpPr/>
          <p:nvPr/>
        </p:nvGrpSpPr>
        <p:grpSpPr>
          <a:xfrm>
            <a:off x="806578" y="1527996"/>
            <a:ext cx="2456097" cy="181140"/>
            <a:chOff x="763157" y="1527996"/>
            <a:chExt cx="2456097" cy="18114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70" name="그룹 69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71" name="직선 연결선 7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74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74" name="그룹 73"/>
          <p:cNvGrpSpPr/>
          <p:nvPr/>
        </p:nvGrpSpPr>
        <p:grpSpPr>
          <a:xfrm>
            <a:off x="678614" y="1791264"/>
            <a:ext cx="2712026" cy="1339020"/>
            <a:chOff x="4063785" y="1972404"/>
            <a:chExt cx="2712026" cy="1339020"/>
          </a:xfrm>
        </p:grpSpPr>
        <p:grpSp>
          <p:nvGrpSpPr>
            <p:cNvPr id="75" name="그룹 74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78" name="모서리가 둥근 직사각형 77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412605"/>
                <a:ext cx="168273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1" name="타원 80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모서리가 둥근 직사각형 81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819291"/>
                <a:ext cx="141278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5" name="타원 84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항목번호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76" name="직사각형 75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98" name="타원 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0067" y="193125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7109" y="256403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8750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1842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6330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3433762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99250B-FAE2-1F51-9C67-0E7F19794195}"/>
              </a:ext>
            </a:extLst>
          </p:cNvPr>
          <p:cNvSpPr txBox="1"/>
          <p:nvPr/>
        </p:nvSpPr>
        <p:spPr>
          <a:xfrm>
            <a:off x="458117" y="1652198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9B73F11-43C8-323E-2BCE-3FE211E579A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6340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C6AD7A-7FEA-F809-E71E-27313A032F8A}"/>
              </a:ext>
            </a:extLst>
          </p:cNvPr>
          <p:cNvSpPr txBox="1"/>
          <p:nvPr/>
        </p:nvSpPr>
        <p:spPr>
          <a:xfrm>
            <a:off x="462469" y="2845273"/>
            <a:ext cx="357045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기성대가 신청 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dmt_PxcndCstAplyAmtInfo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6E49579-C1CC-D6B3-07FE-10A047B3DC53}"/>
              </a:ext>
            </a:extLst>
          </p:cNvPr>
          <p:cNvGraphicFramePr>
            <a:graphicFrameLocks noGrp="1"/>
          </p:cNvGraphicFramePr>
          <p:nvPr/>
        </p:nvGraphicFramePr>
        <p:xfrm>
          <a:off x="457351" y="3056476"/>
          <a:ext cx="8994883" cy="3490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ddcSplyEqvl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ddcDsctnNm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64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648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56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5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899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76F2115-AEA5-60DF-F20F-00DC038CE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51986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3935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4032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A458C6-2001-CF3F-FE8A-1FE6B042F616}"/>
              </a:ext>
            </a:extLst>
          </p:cNvPr>
          <p:cNvSpPr txBox="1"/>
          <p:nvPr/>
        </p:nvSpPr>
        <p:spPr>
          <a:xfrm>
            <a:off x="458117" y="1879207"/>
            <a:ext cx="2278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9933174-C333-B54F-7FFD-9E0BA3052E1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09041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txivChcYn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 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 :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bllPblcnYmd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-mm-dd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splyEqvl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6D7E0CC-76BD-6960-A965-C8968E78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D3C76-3065-7A09-0BCD-20F59635848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6620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D48BDBB-D0E4-C290-79F1-6E5379B7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85978"/>
              </p:ext>
            </p:extLst>
          </p:nvPr>
        </p:nvGraphicFramePr>
        <p:xfrm>
          <a:off x="453000" y="1068364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70381A-11EA-037D-2035-048FAEF0D9C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0564137D-18F6-F736-06A0-678331B91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6173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안내문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화면의 </a:t>
            </a:r>
            <a:r>
              <a:rPr lang="ko-KR" altLang="en-US" dirty="0" err="1"/>
              <a:t>대금청구</a:t>
            </a:r>
            <a:r>
              <a:rPr lang="ko-KR" altLang="en-US" dirty="0"/>
              <a:t> 안내문 팝업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MUI-WM-01-P09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양쪽 모서리가 둥근 사각형 64"/>
          <p:cNvSpPr/>
          <p:nvPr/>
        </p:nvSpPr>
        <p:spPr>
          <a:xfrm>
            <a:off x="676601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762614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3165540" y="2273335"/>
            <a:ext cx="94010" cy="94010"/>
            <a:chOff x="6812560" y="3297172"/>
            <a:chExt cx="94010" cy="94010"/>
          </a:xfrm>
        </p:grpSpPr>
        <p:cxnSp>
          <p:nvCxnSpPr>
            <p:cNvPr id="68" name="직선 연결선 67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5678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601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모서리가 둥근 직사각형 97"/>
          <p:cNvSpPr/>
          <p:nvPr/>
        </p:nvSpPr>
        <p:spPr>
          <a:xfrm rot="5400000">
            <a:off x="2663444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2572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5" y="342336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6270" y="2612075"/>
            <a:ext cx="2532688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+mn-ea"/>
              </a:rPr>
              <a:t>&lt;</a:t>
            </a:r>
            <a:r>
              <a:rPr lang="ko-KR" altLang="en-US" sz="900" dirty="0">
                <a:latin typeface="+mn-ea"/>
              </a:rPr>
              <a:t>계약업체 </a:t>
            </a:r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시 안내문</a:t>
            </a:r>
            <a:r>
              <a:rPr lang="en-US" altLang="ko-KR" sz="900" dirty="0">
                <a:latin typeface="+mn-ea"/>
              </a:rPr>
              <a:t>&gt;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국민연금법 제</a:t>
            </a:r>
            <a:r>
              <a:rPr lang="en-US" altLang="ko-KR" sz="700" dirty="0">
                <a:latin typeface="+mn-ea"/>
              </a:rPr>
              <a:t>95</a:t>
            </a:r>
            <a:r>
              <a:rPr lang="ko-KR" altLang="en-US" sz="700" dirty="0">
                <a:latin typeface="+mn-ea"/>
              </a:rPr>
              <a:t>조의 </a:t>
            </a:r>
            <a:r>
              <a:rPr lang="en-US" altLang="ko-KR" sz="700" dirty="0">
                <a:latin typeface="+mn-ea"/>
              </a:rPr>
              <a:t>2(</a:t>
            </a:r>
            <a:r>
              <a:rPr lang="ko-KR" altLang="en-US" sz="700" dirty="0">
                <a:latin typeface="+mn-ea"/>
              </a:rPr>
              <a:t>연금보험료 등의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시행중인 제도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국민연금보험료 </a:t>
            </a:r>
            <a:r>
              <a:rPr lang="ko-KR" altLang="en-US" sz="700" dirty="0" err="1">
                <a:latin typeface="+mn-ea"/>
              </a:rPr>
              <a:t>납부증명은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대금청구시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행정정보공동이용사전동의</a:t>
            </a:r>
            <a:r>
              <a:rPr lang="ko-KR" altLang="en-US" sz="700" dirty="0">
                <a:latin typeface="+mn-ea"/>
              </a:rPr>
              <a:t> 및 사업장관리번호 입력으로 갈음합니다</a:t>
            </a:r>
            <a:r>
              <a:rPr lang="en-US" altLang="ko-KR" sz="700" dirty="0">
                <a:latin typeface="+mn-ea"/>
              </a:rPr>
              <a:t>.(</a:t>
            </a:r>
            <a:r>
              <a:rPr lang="ko-KR" altLang="en-US" sz="700" dirty="0">
                <a:latin typeface="+mn-ea"/>
              </a:rPr>
              <a:t>사업장 관리번호 문의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국민연금 콜센터 </a:t>
            </a:r>
            <a:r>
              <a:rPr lang="en-US" altLang="ko-KR" sz="700" dirty="0">
                <a:latin typeface="+mn-ea"/>
              </a:rPr>
              <a:t>1355)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국민건강보험법 제</a:t>
            </a:r>
            <a:r>
              <a:rPr lang="en-US" altLang="ko-KR" sz="700" dirty="0">
                <a:latin typeface="+mn-ea"/>
              </a:rPr>
              <a:t>81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 </a:t>
            </a:r>
            <a:r>
              <a:rPr lang="ko-KR" altLang="en-US" sz="700" dirty="0">
                <a:latin typeface="+mn-ea"/>
              </a:rPr>
              <a:t>및 시행령 제</a:t>
            </a:r>
            <a:r>
              <a:rPr lang="en-US" altLang="ko-KR" sz="700" dirty="0">
                <a:latin typeface="+mn-ea"/>
              </a:rPr>
              <a:t>47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3(</a:t>
            </a:r>
            <a:r>
              <a:rPr lang="ko-KR" altLang="en-US" sz="700" dirty="0">
                <a:latin typeface="+mn-ea"/>
              </a:rPr>
              <a:t>보험료의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ko-KR" altLang="en-US" sz="700" dirty="0">
                <a:latin typeface="+mn-ea"/>
              </a:rPr>
              <a:t> 등</a:t>
            </a:r>
            <a:r>
              <a:rPr lang="en-US" altLang="ko-KR" sz="700" dirty="0">
                <a:latin typeface="+mn-ea"/>
              </a:rPr>
              <a:t>) '16.8.4.</a:t>
            </a:r>
            <a:r>
              <a:rPr lang="ko-KR" altLang="en-US" sz="700" dirty="0">
                <a:latin typeface="+mn-ea"/>
              </a:rPr>
              <a:t>시행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대상 </a:t>
            </a:r>
            <a:r>
              <a:rPr lang="en-US" altLang="ko-KR" sz="700" dirty="0">
                <a:latin typeface="+mn-ea"/>
              </a:rPr>
              <a:t>: '16</a:t>
            </a:r>
            <a:r>
              <a:rPr lang="ko-KR" altLang="en-US" sz="700" dirty="0">
                <a:latin typeface="+mn-ea"/>
              </a:rPr>
              <a:t>년 </a:t>
            </a:r>
            <a:r>
              <a:rPr lang="en-US" altLang="ko-KR" sz="700" dirty="0">
                <a:latin typeface="+mn-ea"/>
              </a:rPr>
              <a:t>8</a:t>
            </a:r>
            <a:r>
              <a:rPr lang="ko-KR" altLang="en-US" sz="700" dirty="0">
                <a:latin typeface="+mn-ea"/>
              </a:rPr>
              <a:t>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일 이후 최초로 계약의 대가를 지급받는 자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제출서류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건강</a:t>
            </a:r>
            <a:r>
              <a:rPr lang="en-US" altLang="ko-KR" sz="700" dirty="0">
                <a:latin typeface="+mn-ea"/>
              </a:rPr>
              <a:t>·</a:t>
            </a:r>
            <a:r>
              <a:rPr lang="ko-KR" altLang="en-US" sz="700" dirty="0">
                <a:latin typeface="+mn-ea"/>
              </a:rPr>
              <a:t>장기요양보험료 </a:t>
            </a:r>
            <a:r>
              <a:rPr lang="ko-KR" altLang="en-US" sz="700" dirty="0" err="1">
                <a:latin typeface="+mn-ea"/>
              </a:rPr>
              <a:t>납부증명서</a:t>
            </a:r>
            <a:r>
              <a:rPr lang="ko-KR" altLang="en-US" sz="700" dirty="0">
                <a:latin typeface="+mn-ea"/>
              </a:rPr>
              <a:t> 또는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대 사회보험료 </a:t>
            </a:r>
            <a:r>
              <a:rPr lang="ko-KR" altLang="en-US" sz="700" dirty="0" err="1">
                <a:latin typeface="+mn-ea"/>
              </a:rPr>
              <a:t>완납증명서</a:t>
            </a:r>
            <a:r>
              <a:rPr lang="ko-KR" altLang="en-US" sz="700" dirty="0">
                <a:latin typeface="+mn-ea"/>
              </a:rPr>
              <a:t> 발급 후 스캔하여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란에 첨부하여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［인터넷 국민건강보험공단 사회보험징수포털</a:t>
            </a:r>
            <a:r>
              <a:rPr lang="en-US" altLang="ko-KR" sz="700" dirty="0">
                <a:latin typeface="+mn-ea"/>
              </a:rPr>
              <a:t>(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http://si4n.nhis.or.kr</a:t>
            </a:r>
            <a:r>
              <a:rPr lang="en-US" altLang="ko-KR" sz="700" dirty="0">
                <a:latin typeface="+mn-ea"/>
              </a:rPr>
              <a:t>), </a:t>
            </a:r>
            <a:r>
              <a:rPr lang="ko-KR" altLang="en-US" sz="700" dirty="0">
                <a:latin typeface="+mn-ea"/>
              </a:rPr>
              <a:t>지사 방문 등 발급］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절차 </a:t>
            </a:r>
            <a:r>
              <a:rPr lang="en-US" altLang="ko-KR" sz="700" dirty="0">
                <a:latin typeface="+mn-ea"/>
              </a:rPr>
              <a:t>: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방위사업청</a:t>
            </a:r>
            <a:r>
              <a:rPr lang="ko-KR" altLang="en-US" sz="700" dirty="0">
                <a:latin typeface="+mn-ea"/>
              </a:rPr>
              <a:t> 인터넷 홈페이지 국방전자조달시스템 → 물품</a:t>
            </a:r>
            <a:r>
              <a:rPr lang="en-US" altLang="ko-KR" sz="700" dirty="0">
                <a:latin typeface="+mn-ea"/>
              </a:rPr>
              <a:t>[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공사</a:t>
            </a:r>
            <a:r>
              <a:rPr lang="en-US" altLang="ko-KR" sz="700" dirty="0">
                <a:latin typeface="+mn-ea"/>
              </a:rPr>
              <a:t>] →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→ 대금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선금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 err="1">
                <a:latin typeface="+mn-ea"/>
              </a:rPr>
              <a:t>착중도금</a:t>
            </a:r>
            <a:r>
              <a:rPr lang="ko-KR" altLang="en-US" sz="700" dirty="0">
                <a:latin typeface="+mn-ea"/>
              </a:rPr>
              <a:t> 신청 → 우측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 </a:t>
            </a:r>
            <a:r>
              <a:rPr lang="ko-KR" altLang="en-US" sz="700" dirty="0">
                <a:latin typeface="+mn-ea"/>
              </a:rPr>
              <a:t>란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보험료납부</a:t>
            </a:r>
            <a:r>
              <a:rPr lang="ko-KR" altLang="en-US" sz="700" dirty="0">
                <a:latin typeface="+mn-ea"/>
              </a:rPr>
              <a:t> 증명서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첨부 제출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5403" y="2612075"/>
            <a:ext cx="2532688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기반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02)2079-4791,4793,4794</a:t>
            </a:r>
            <a:r>
              <a:rPr lang="ko-KR" altLang="en-US" sz="700" dirty="0">
                <a:latin typeface="+mn-ea"/>
              </a:rPr>
              <a:t>］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미래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02)2079-4021,4023,4024</a:t>
            </a:r>
            <a:r>
              <a:rPr lang="ko-KR" altLang="en-US" sz="700" dirty="0">
                <a:latin typeface="+mn-ea"/>
              </a:rPr>
              <a:t>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운영지원과 </a:t>
            </a:r>
            <a:r>
              <a:rPr lang="ko-KR" altLang="en-US" sz="700" dirty="0" err="1">
                <a:latin typeface="+mn-ea"/>
              </a:rPr>
              <a:t>재무팀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02)2079-6680,6681(</a:t>
            </a:r>
            <a:r>
              <a:rPr lang="ko-KR" altLang="en-US" sz="700" dirty="0">
                <a:latin typeface="+mn-ea"/>
              </a:rPr>
              <a:t>내자</a:t>
            </a:r>
            <a:r>
              <a:rPr lang="en-US" altLang="ko-KR" sz="700" dirty="0">
                <a:latin typeface="+mn-ea"/>
              </a:rPr>
              <a:t>), 02)2079-6670(</a:t>
            </a:r>
            <a:r>
              <a:rPr lang="ko-KR" altLang="en-US" sz="700" dirty="0">
                <a:latin typeface="+mn-ea"/>
              </a:rPr>
              <a:t>외자</a:t>
            </a:r>
            <a:r>
              <a:rPr lang="en-US" altLang="ko-KR" sz="700" dirty="0">
                <a:latin typeface="+mn-ea"/>
              </a:rPr>
              <a:t>)</a:t>
            </a:r>
            <a:r>
              <a:rPr lang="ko-KR" altLang="en-US" sz="700" dirty="0">
                <a:latin typeface="+mn-ea"/>
              </a:rPr>
              <a:t>］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10712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66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입찰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계약체결단계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gdntc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 내용 출력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 텍스트로 입력되어 있는 내용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AEF4FEA-15CD-69A2-4C8C-8BABCE3423EC}"/>
              </a:ext>
            </a:extLst>
          </p:cNvPr>
          <p:cNvSpPr txBox="1"/>
          <p:nvPr/>
        </p:nvSpPr>
        <p:spPr>
          <a:xfrm>
            <a:off x="458117" y="15047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3D2C0FD-B7E6-BFF5-E0B8-21BA70A73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17151"/>
              </p:ext>
            </p:extLst>
          </p:nvPr>
        </p:nvGraphicFramePr>
        <p:xfrm>
          <a:off x="453000" y="180859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 내용이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scwin.btn_Idnty_onclick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안내문 팝업이 닫힌다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6D6EB85-208E-BA56-0A60-736C4614C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60117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상단 </a:t>
            </a:r>
            <a:r>
              <a:rPr lang="ko-KR" altLang="en-US" sz="650" dirty="0" err="1"/>
              <a:t>업무도움은</a:t>
            </a:r>
            <a:r>
              <a:rPr lang="ko-KR" altLang="en-US" sz="650" dirty="0"/>
              <a:t> 기본 값으로 접힘 상태로 정보 제공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페이지 </a:t>
            </a:r>
            <a:r>
              <a:rPr lang="ko-KR" altLang="en-US" sz="650" dirty="0" err="1"/>
              <a:t>호출시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/>
              <a:t>해당 업체에서 진행중인 모든 </a:t>
            </a:r>
            <a:r>
              <a:rPr lang="ko-KR" altLang="en-US" sz="650" dirty="0" err="1"/>
              <a:t>계약건이</a:t>
            </a:r>
            <a:r>
              <a:rPr lang="ko-KR" altLang="en-US" sz="650" dirty="0"/>
              <a:t> 노출됨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계약일자기준 당일 포함 이전 </a:t>
            </a:r>
            <a:r>
              <a:rPr lang="en-US" altLang="ko-KR" sz="650" dirty="0"/>
              <a:t>30</a:t>
            </a:r>
            <a:r>
              <a:rPr lang="ko-KR" altLang="en-US" sz="650" dirty="0"/>
              <a:t>일 동안 신청된 계약 건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기본값 </a:t>
            </a:r>
            <a:r>
              <a:rPr lang="en-US" altLang="ko-KR" sz="650" dirty="0"/>
              <a:t>: </a:t>
            </a:r>
            <a:r>
              <a:rPr lang="ko-KR" altLang="en-US" sz="650" dirty="0"/>
              <a:t>접힘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사용자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확장하여 정보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업무도움</a:t>
            </a:r>
            <a:r>
              <a:rPr lang="en-US" altLang="ko-KR" sz="650" dirty="0"/>
              <a:t> &gt; </a:t>
            </a:r>
            <a:r>
              <a:rPr lang="ko-KR" altLang="en-US" sz="650" dirty="0"/>
              <a:t>내역이 있는 경우 표시</a:t>
            </a:r>
            <a:r>
              <a:rPr lang="en-US" altLang="ko-KR" sz="650" dirty="0"/>
              <a:t>, </a:t>
            </a:r>
            <a:r>
              <a:rPr lang="ko-KR" altLang="en-US" sz="650" dirty="0"/>
              <a:t>내역이 없으면 항목을 표시하지 않음</a:t>
            </a:r>
            <a:r>
              <a:rPr lang="en-US" altLang="ko-KR" sz="65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검색필터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2-1] </a:t>
            </a:r>
            <a:r>
              <a:rPr lang="ko-KR" altLang="en-US" sz="650" dirty="0"/>
              <a:t>통합참조정보</a:t>
            </a:r>
            <a:r>
              <a:rPr lang="en-US" altLang="ko-KR" sz="650" dirty="0"/>
              <a:t>, </a:t>
            </a:r>
            <a:r>
              <a:rPr lang="ko-KR" altLang="en-US" sz="650" dirty="0" err="1"/>
              <a:t>예약번호중</a:t>
            </a:r>
            <a:r>
              <a:rPr lang="ko-KR" altLang="en-US" sz="650" dirty="0"/>
              <a:t> 선택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2-2] </a:t>
            </a:r>
            <a:r>
              <a:rPr lang="ko-KR" altLang="en-US" sz="650" dirty="0" err="1"/>
              <a:t>검색어</a:t>
            </a:r>
            <a:r>
              <a:rPr lang="ko-KR" altLang="en-US" sz="650" dirty="0"/>
              <a:t> 입력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>
                <a:latin typeface="+mn-ea"/>
              </a:rPr>
              <a:t>검색 필터 호출</a:t>
            </a:r>
            <a:r>
              <a:rPr lang="en-US" altLang="ko-KR" sz="650" dirty="0">
                <a:latin typeface="+mn-ea"/>
              </a:rPr>
              <a:t/>
            </a:r>
            <a:br>
              <a:rPr lang="en-US" altLang="ko-KR" sz="650" dirty="0">
                <a:latin typeface="+mn-ea"/>
              </a:rPr>
            </a:br>
            <a:r>
              <a:rPr lang="ko-KR" altLang="en-US" sz="650" dirty="0">
                <a:latin typeface="+mn-ea"/>
              </a:rPr>
              <a:t> </a:t>
            </a:r>
            <a:r>
              <a:rPr lang="en-US" altLang="ko-KR" sz="650" dirty="0">
                <a:latin typeface="+mn-ea"/>
              </a:rPr>
              <a:t>– </a:t>
            </a:r>
            <a:r>
              <a:rPr lang="ko-KR" altLang="en-US" sz="650" dirty="0">
                <a:latin typeface="+mn-ea"/>
              </a:rPr>
              <a:t>계약 페이지 참고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표시 개수 영역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총 개수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표시 개수 </a:t>
            </a:r>
            <a:r>
              <a:rPr lang="en-US" altLang="ko-KR" sz="650" dirty="0"/>
              <a:t>(</a:t>
            </a:r>
            <a:r>
              <a:rPr lang="ko-KR" altLang="en-US" sz="650" dirty="0"/>
              <a:t>선택한 건수 만큼 보여주고 </a:t>
            </a:r>
            <a:r>
              <a:rPr lang="ko-KR" altLang="en-US" sz="650" dirty="0" err="1"/>
              <a:t>더보기시</a:t>
            </a:r>
            <a:r>
              <a:rPr lang="ko-KR" altLang="en-US" sz="650" dirty="0"/>
              <a:t> 추가로 불러옴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ko-KR" altLang="en-US" sz="650" dirty="0"/>
              <a:t>목록 카드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카드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</a:t>
            </a:r>
            <a:r>
              <a:rPr lang="ko-KR" altLang="en-US" sz="650" dirty="0" err="1"/>
              <a:t>바텀시트</a:t>
            </a:r>
            <a:r>
              <a:rPr lang="ko-KR" altLang="en-US" sz="650" dirty="0"/>
              <a:t> 호출</a:t>
            </a:r>
            <a:r>
              <a:rPr lang="en-US" altLang="ko-KR" sz="650" dirty="0"/>
              <a:t>(</a:t>
            </a:r>
            <a:r>
              <a:rPr lang="en-US" altLang="ko-KR" sz="650" dirty="0">
                <a:latin typeface="+mn-ea"/>
              </a:rPr>
              <a:t>MUI-WM-01-P13)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4-1] </a:t>
            </a:r>
            <a:r>
              <a:rPr lang="ko-KR" altLang="en-US" sz="650" dirty="0" err="1"/>
              <a:t>표시레이블</a:t>
            </a:r>
            <a:r>
              <a:rPr lang="ko-KR" altLang="en-US" sz="650" dirty="0"/>
              <a:t> 영역 항목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레이블이 화면을 넘치는 경우 드래그하여 확인 가능 </a:t>
            </a:r>
            <a:r>
              <a:rPr lang="en-US" altLang="ko-KR" sz="650" dirty="0"/>
              <a:t>(</a:t>
            </a:r>
            <a:r>
              <a:rPr lang="ko-KR" altLang="en-US" sz="650" dirty="0" err="1"/>
              <a:t>스와이프기능</a:t>
            </a:r>
            <a:r>
              <a:rPr lang="ko-KR" altLang="en-US" sz="650" dirty="0"/>
              <a:t> 반영 필요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업무구분</a:t>
            </a:r>
            <a:r>
              <a:rPr lang="ko-KR" altLang="en-US" sz="650" dirty="0"/>
              <a:t> </a:t>
            </a:r>
            <a:r>
              <a:rPr lang="en-US" altLang="ko-KR" sz="650" dirty="0"/>
              <a:t>:  </a:t>
            </a:r>
            <a:r>
              <a:rPr lang="ko-KR" altLang="en-US" sz="650" dirty="0"/>
              <a:t>전체</a:t>
            </a:r>
            <a:r>
              <a:rPr lang="en-US" altLang="ko-KR" sz="650" dirty="0"/>
              <a:t>, </a:t>
            </a:r>
            <a:r>
              <a:rPr lang="ko-KR" altLang="en-US" sz="650" dirty="0"/>
              <a:t>물품</a:t>
            </a:r>
            <a:r>
              <a:rPr lang="en-US" altLang="ko-KR" sz="650" dirty="0"/>
              <a:t>, </a:t>
            </a:r>
            <a:r>
              <a:rPr lang="ko-KR" altLang="en-US" sz="650" dirty="0"/>
              <a:t>용역</a:t>
            </a:r>
            <a:r>
              <a:rPr lang="en-US" altLang="ko-KR" sz="650" dirty="0"/>
              <a:t>, </a:t>
            </a:r>
            <a:r>
              <a:rPr lang="ko-KR" altLang="en-US" sz="650" dirty="0"/>
              <a:t>공사</a:t>
            </a:r>
            <a:r>
              <a:rPr lang="en-US" altLang="ko-KR" sz="650" dirty="0"/>
              <a:t>, </a:t>
            </a:r>
            <a:r>
              <a:rPr lang="ko-KR" altLang="en-US" sz="650" dirty="0"/>
              <a:t>국외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입찰구분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총액제</a:t>
            </a:r>
            <a:r>
              <a:rPr lang="en-US" altLang="ko-KR" sz="650" dirty="0"/>
              <a:t>, </a:t>
            </a:r>
            <a:r>
              <a:rPr lang="ko-KR" altLang="en-US" sz="650" dirty="0" err="1"/>
              <a:t>단가제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대금상태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선금신청</a:t>
            </a:r>
            <a:r>
              <a:rPr lang="en-US" altLang="ko-KR" sz="650" dirty="0"/>
              <a:t>, </a:t>
            </a:r>
            <a:r>
              <a:rPr lang="ko-KR" altLang="en-US" sz="650" dirty="0" err="1"/>
              <a:t>착중도금신청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대금청구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대금수정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대금확정</a:t>
            </a:r>
            <a:r>
              <a:rPr lang="en-US" altLang="ko-KR" sz="650" dirty="0"/>
              <a:t>, </a:t>
            </a:r>
            <a:r>
              <a:rPr lang="ko-KR" altLang="en-US" sz="650" dirty="0"/>
              <a:t>사후정산</a:t>
            </a:r>
            <a:br>
              <a:rPr lang="ko-KR" altLang="en-US" sz="650" dirty="0"/>
            </a:br>
            <a:r>
              <a:rPr lang="en-US" altLang="ko-KR" sz="650" dirty="0"/>
              <a:t>4-2] </a:t>
            </a:r>
            <a:r>
              <a:rPr lang="ko-KR" altLang="en-US" sz="650" dirty="0"/>
              <a:t>문서 정보 영역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 err="1"/>
              <a:t>회차노출</a:t>
            </a:r>
            <a:r>
              <a:rPr lang="ko-KR" altLang="en-US" sz="650" dirty="0"/>
              <a:t>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ko-KR" altLang="en-US" sz="650" dirty="0"/>
              <a:t> </a:t>
            </a:r>
            <a:r>
              <a:rPr lang="ko-KR" altLang="en-US" sz="650" dirty="0" err="1"/>
              <a:t>노출시</a:t>
            </a:r>
            <a:r>
              <a:rPr lang="ko-KR" altLang="en-US" sz="650" dirty="0"/>
              <a:t> 해당 라인을 넘어가면 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:</a:t>
            </a:r>
            <a:r>
              <a:rPr lang="ko-KR" altLang="en-US" sz="650" dirty="0"/>
              <a:t>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/>
              <a:t>계약번호차수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4-3] </a:t>
            </a:r>
            <a:r>
              <a:rPr lang="ko-KR" altLang="en-US" sz="650" dirty="0"/>
              <a:t>문서 제목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제목은 </a:t>
            </a:r>
            <a:r>
              <a:rPr lang="en-US" altLang="ko-KR" sz="650" dirty="0"/>
              <a:t>2</a:t>
            </a:r>
            <a:r>
              <a:rPr lang="ko-KR" altLang="en-US" sz="650" dirty="0"/>
              <a:t>줄 까지 노출 이후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대금청구상세 페이지로 이동 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더보기</a:t>
            </a:r>
            <a:r>
              <a:rPr lang="ko-KR" altLang="en-US" sz="650" dirty="0"/>
              <a:t> 기능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- 3</a:t>
            </a:r>
            <a:r>
              <a:rPr lang="ko-KR" altLang="en-US" sz="650" dirty="0" err="1"/>
              <a:t>번항목</a:t>
            </a:r>
            <a:r>
              <a:rPr lang="ko-KR" altLang="en-US" sz="650" dirty="0"/>
              <a:t> 표시 개수 영역에서 선택한 개수로 증가</a:t>
            </a:r>
            <a:r>
              <a:rPr lang="en-US" altLang="ko-KR" sz="650" dirty="0"/>
              <a:t>.</a:t>
            </a:r>
            <a:br>
              <a:rPr lang="en-US" altLang="ko-KR" sz="650" dirty="0"/>
            </a:br>
            <a:r>
              <a:rPr lang="ko-KR" altLang="en-US" sz="650" dirty="0"/>
              <a:t>예</a:t>
            </a:r>
            <a:r>
              <a:rPr lang="en-US" altLang="ko-KR" sz="650" dirty="0"/>
              <a:t>) 10</a:t>
            </a:r>
            <a:r>
              <a:rPr lang="ko-KR" altLang="en-US" sz="650" dirty="0"/>
              <a:t>개 노출 이후 </a:t>
            </a:r>
            <a:r>
              <a:rPr lang="ko-KR" altLang="en-US" sz="650" dirty="0" err="1"/>
              <a:t>더보기</a:t>
            </a:r>
            <a:r>
              <a:rPr lang="ko-KR" altLang="en-US" sz="650" dirty="0"/>
              <a:t> 버튼 클릭으로 </a:t>
            </a:r>
            <a:r>
              <a:rPr lang="en-US" altLang="ko-KR" sz="650" dirty="0"/>
              <a:t>10</a:t>
            </a:r>
            <a:r>
              <a:rPr lang="ko-KR" altLang="en-US" sz="650" dirty="0"/>
              <a:t>개씩 추가 로드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대금청구관련 안내문을 호출한다</a:t>
            </a:r>
            <a:r>
              <a:rPr lang="en-US" altLang="ko-KR" sz="650" dirty="0"/>
              <a:t>.</a:t>
            </a:r>
            <a:r>
              <a:rPr lang="en-US" altLang="ko-KR" sz="650" dirty="0">
                <a:latin typeface="+mn-ea"/>
              </a:rPr>
              <a:t> (MUI-WM-01-P09)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endParaRPr lang="en-US" altLang="ko-KR" sz="6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대금청구진행현황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대금청구진행현황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315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신청번호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1234-5678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/ </a:t>
              </a:r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수령액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청구금액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243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3388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8417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30550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1978768" y="338417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대금반납</a:t>
            </a:r>
            <a:endParaRPr lang="ko-KR" altLang="en-US" sz="600" dirty="0"/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7067290" y="6120986"/>
            <a:ext cx="2336280" cy="17214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계약일자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청구일자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수령금액</a:t>
            </a:r>
            <a:r>
              <a:rPr lang="ko-KR" altLang="en-US" sz="500" b="1" dirty="0" smtClean="0">
                <a:solidFill>
                  <a:schemeClr val="bg1"/>
                </a:solidFill>
              </a:rPr>
              <a:t> 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6979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3604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dmt_pymtClmPrgrsPrstSrch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490877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40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740763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10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93F0D25-F0ED-6C90-FFD8-CA354714AFA7}"/>
              </a:ext>
            </a:extLst>
          </p:cNvPr>
          <p:cNvSpPr txBox="1"/>
          <p:nvPr/>
        </p:nvSpPr>
        <p:spPr>
          <a:xfrm>
            <a:off x="458117" y="497442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926DA9-86BF-3A57-B2B3-A50D61CC8A52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5278246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상세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scwin.btn_dtl_onclick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 상세조회 화면을 호출한다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(UI-WM-01-M17)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(UI-WM-01-M18)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(UI-WM-01-M20)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대금청구진행현황 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56487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BF0BCD30-B7AD-5863-DCBB-C31A8722B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75338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대금지불정보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반납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대금지불정보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반납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662"/>
            <a:ext cx="2473257" cy="942236"/>
            <a:chOff x="781461" y="3087955"/>
            <a:chExt cx="2473257" cy="942236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신청번호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1234-5678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/ </a:t>
              </a:r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수령금액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반납금액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 smtClean="0"/>
                <a:t>단가제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278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4207" y="230424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8452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27319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36" name="텍스트 개체 틀 5"/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페이지 </a:t>
            </a:r>
            <a:r>
              <a:rPr lang="ko-KR" altLang="en-US" sz="700" dirty="0" err="1" smtClean="0"/>
              <a:t>호출시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해당 업체에서 진행중인 모든 </a:t>
            </a:r>
            <a:r>
              <a:rPr lang="ko-KR" altLang="en-US" sz="700" dirty="0" err="1" smtClean="0"/>
              <a:t>계약건이</a:t>
            </a:r>
            <a:r>
              <a:rPr lang="ko-KR" altLang="en-US" sz="700" dirty="0" smtClean="0"/>
              <a:t> 노출됨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계약일자기준 당일 포함 이전 </a:t>
            </a:r>
            <a:r>
              <a:rPr lang="en-US" altLang="ko-KR" sz="700" dirty="0" smtClean="0"/>
              <a:t>30</a:t>
            </a:r>
            <a:r>
              <a:rPr lang="ko-KR" altLang="en-US" sz="700" dirty="0" smtClean="0"/>
              <a:t>일 동안 신청된 계약 건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2-1] </a:t>
            </a:r>
            <a:r>
              <a:rPr lang="ko-KR" altLang="en-US" sz="700" dirty="0" smtClean="0"/>
              <a:t>통합참조정보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예약번호중</a:t>
            </a:r>
            <a:r>
              <a:rPr lang="ko-KR" altLang="en-US" sz="700" dirty="0" smtClean="0"/>
              <a:t> 선택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2-2] </a:t>
            </a:r>
            <a:r>
              <a:rPr lang="ko-KR" altLang="en-US" sz="700" dirty="0" err="1" smtClean="0"/>
              <a:t>검색어</a:t>
            </a:r>
            <a:r>
              <a:rPr lang="ko-KR" altLang="en-US" sz="700" dirty="0" smtClean="0"/>
              <a:t> 입력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latin typeface="+mn-ea"/>
              </a:rPr>
              <a:t>검색 필터 호출</a:t>
            </a:r>
            <a:r>
              <a:rPr lang="en-US" altLang="ko-KR" sz="700" dirty="0" smtClean="0">
                <a:latin typeface="+mn-ea"/>
              </a:rPr>
              <a:t/>
            </a:r>
            <a:br>
              <a:rPr lang="en-US" altLang="ko-KR" sz="700" dirty="0" smtClean="0">
                <a:latin typeface="+mn-ea"/>
              </a:rPr>
            </a:b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latin typeface="+mn-ea"/>
              </a:rPr>
              <a:t>– </a:t>
            </a:r>
            <a:r>
              <a:rPr lang="ko-KR" altLang="en-US" sz="700" dirty="0" smtClean="0">
                <a:latin typeface="+mn-ea"/>
              </a:rPr>
              <a:t>계약 페이지 참고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카드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바텀시트</a:t>
            </a:r>
            <a:r>
              <a:rPr lang="ko-KR" altLang="en-US" sz="700" dirty="0" smtClean="0"/>
              <a:t> 호출</a:t>
            </a:r>
            <a:r>
              <a:rPr lang="en-US" altLang="ko-KR" sz="700" dirty="0" smtClean="0"/>
              <a:t>(</a:t>
            </a:r>
            <a:r>
              <a:rPr lang="en-US" altLang="ko-KR" sz="700" dirty="0" smtClean="0">
                <a:latin typeface="+mn-ea"/>
              </a:rPr>
              <a:t>MUI-WM-01-P13)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입찰구분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총액제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단가제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대금상태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선금신청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착중도금신청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대금청구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대금수정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대금확정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사후정산</a:t>
            </a:r>
            <a:br>
              <a:rPr lang="ko-KR" altLang="en-US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err="1" smtClean="0"/>
              <a:t>회차노출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4-3] </a:t>
            </a:r>
            <a:r>
              <a:rPr lang="ko-KR" altLang="en-US" sz="700" dirty="0" smtClean="0"/>
              <a:t>문서 제목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제목은 </a:t>
            </a:r>
            <a:r>
              <a:rPr lang="en-US" altLang="ko-KR" sz="700" dirty="0" smtClean="0"/>
              <a:t>2</a:t>
            </a:r>
            <a:r>
              <a:rPr lang="ko-KR" altLang="en-US" sz="700" dirty="0" smtClean="0"/>
              <a:t>줄 까지 노출 이후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대금청구상세 페이지로 이동 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로드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대금청구관련 안내문을 호출한다</a:t>
            </a:r>
            <a:r>
              <a:rPr lang="en-US" altLang="ko-KR" sz="700" dirty="0" smtClean="0"/>
              <a:t>.</a:t>
            </a:r>
            <a:r>
              <a:rPr lang="en-US" altLang="ko-KR" dirty="0" smtClean="0">
                <a:latin typeface="+mn-ea"/>
              </a:rPr>
              <a:t> (</a:t>
            </a:r>
            <a:r>
              <a:rPr lang="en-US" altLang="ko-KR" sz="700" dirty="0" smtClean="0">
                <a:latin typeface="+mn-ea"/>
              </a:rPr>
              <a:t>MUI-WM-01-P09)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endParaRPr lang="en-US" altLang="ko-KR" sz="700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</p:spTree>
    <p:extLst>
      <p:ext uri="{BB962C8B-B14F-4D97-AF65-F5344CB8AC3E}">
        <p14:creationId xmlns:p14="http://schemas.microsoft.com/office/powerpoint/2010/main" val="32755935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1921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dmt_pymtDfryInfoSrch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157281"/>
            <a:ext cx="345664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r>
              <a:rPr lang="ko-KR" altLang="en-US" sz="900" b="1" dirty="0">
                <a:solidFill>
                  <a:prstClr val="black"/>
                </a:solidFill>
              </a:rPr>
              <a:t>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dlt_pymtDfryInfoList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44103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rtnAmt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8E50FD7A-00F1-4BD9-507D-2C54F12D0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82DD0-1779-5E39-E529-9DDFC164E65F}"/>
              </a:ext>
            </a:extLst>
          </p:cNvPr>
          <p:cNvSpPr txBox="1"/>
          <p:nvPr/>
        </p:nvSpPr>
        <p:spPr>
          <a:xfrm>
            <a:off x="458117" y="446569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C11CE2-7F70-9E45-8C39-23589E2A9923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769516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대금지불정보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반납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en-US" sz="800" dirty="0"/>
                        <a:t>목록을 조회한다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542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14509</TotalTime>
  <Words>9304</Words>
  <Application>Microsoft Office PowerPoint</Application>
  <PresentationFormat>A4 용지(210x297mm)</PresentationFormat>
  <Paragraphs>4371</Paragraphs>
  <Slides>74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81" baseType="lpstr">
      <vt:lpstr>Pretendard Medium</vt:lpstr>
      <vt:lpstr>맑은 고딕</vt:lpstr>
      <vt:lpstr>Arial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863</cp:revision>
  <cp:lastPrinted>2016-10-27T08:57:39Z</cp:lastPrinted>
  <dcterms:created xsi:type="dcterms:W3CDTF">2016-10-27T07:41:55Z</dcterms:created>
  <dcterms:modified xsi:type="dcterms:W3CDTF">2026-07-08T07:29:47Z</dcterms:modified>
  <cp:category>서브시스템/업무명</cp:category>
  <cp:contentStatus>0.1</cp:contentStatus>
</cp:coreProperties>
</file>