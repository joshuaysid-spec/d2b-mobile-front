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60" r:id="rId1"/>
  </p:sldMasterIdLst>
  <p:notesMasterIdLst>
    <p:notesMasterId r:id="rId81"/>
  </p:notesMasterIdLst>
  <p:handoutMasterIdLst>
    <p:handoutMasterId r:id="rId82"/>
  </p:handoutMasterIdLst>
  <p:sldIdLst>
    <p:sldId id="256" r:id="rId2"/>
    <p:sldId id="790" r:id="rId3"/>
    <p:sldId id="759" r:id="rId4"/>
    <p:sldId id="356" r:id="rId5"/>
    <p:sldId id="260" r:id="rId6"/>
    <p:sldId id="791" r:id="rId7"/>
    <p:sldId id="792" r:id="rId8"/>
    <p:sldId id="793" r:id="rId9"/>
    <p:sldId id="794" r:id="rId10"/>
    <p:sldId id="798" r:id="rId11"/>
    <p:sldId id="795" r:id="rId12"/>
    <p:sldId id="796" r:id="rId13"/>
    <p:sldId id="797" r:id="rId14"/>
    <p:sldId id="758" r:id="rId15"/>
    <p:sldId id="785" r:id="rId16"/>
    <p:sldId id="292" r:id="rId17"/>
    <p:sldId id="782" r:id="rId18"/>
    <p:sldId id="760" r:id="rId19"/>
    <p:sldId id="761" r:id="rId20"/>
    <p:sldId id="630" r:id="rId21"/>
    <p:sldId id="631" r:id="rId22"/>
    <p:sldId id="633" r:id="rId23"/>
    <p:sldId id="709" r:id="rId24"/>
    <p:sldId id="783" r:id="rId25"/>
    <p:sldId id="762" r:id="rId26"/>
    <p:sldId id="763" r:id="rId27"/>
    <p:sldId id="764" r:id="rId28"/>
    <p:sldId id="713" r:id="rId29"/>
    <p:sldId id="714" r:id="rId30"/>
    <p:sldId id="715" r:id="rId31"/>
    <p:sldId id="716" r:id="rId32"/>
    <p:sldId id="765" r:id="rId33"/>
    <p:sldId id="766" r:id="rId34"/>
    <p:sldId id="767" r:id="rId35"/>
    <p:sldId id="784" r:id="rId36"/>
    <p:sldId id="768" r:id="rId37"/>
    <p:sldId id="722" r:id="rId38"/>
    <p:sldId id="723" r:id="rId39"/>
    <p:sldId id="724" r:id="rId40"/>
    <p:sldId id="725" r:id="rId41"/>
    <p:sldId id="786" r:id="rId42"/>
    <p:sldId id="769" r:id="rId43"/>
    <p:sldId id="770" r:id="rId44"/>
    <p:sldId id="771" r:id="rId45"/>
    <p:sldId id="730" r:id="rId46"/>
    <p:sldId id="731" r:id="rId47"/>
    <p:sldId id="732" r:id="rId48"/>
    <p:sldId id="787" r:id="rId49"/>
    <p:sldId id="733" r:id="rId50"/>
    <p:sldId id="734" r:id="rId51"/>
    <p:sldId id="772" r:id="rId52"/>
    <p:sldId id="773" r:id="rId53"/>
    <p:sldId id="774" r:id="rId54"/>
    <p:sldId id="738" r:id="rId55"/>
    <p:sldId id="739" r:id="rId56"/>
    <p:sldId id="740" r:id="rId57"/>
    <p:sldId id="742" r:id="rId58"/>
    <p:sldId id="775" r:id="rId59"/>
    <p:sldId id="776" r:id="rId60"/>
    <p:sldId id="745" r:id="rId61"/>
    <p:sldId id="746" r:id="rId62"/>
    <p:sldId id="748" r:id="rId63"/>
    <p:sldId id="788" r:id="rId64"/>
    <p:sldId id="749" r:id="rId65"/>
    <p:sldId id="750" r:id="rId66"/>
    <p:sldId id="777" r:id="rId67"/>
    <p:sldId id="778" r:id="rId68"/>
    <p:sldId id="779" r:id="rId69"/>
    <p:sldId id="720" r:id="rId70"/>
    <p:sldId id="704" r:id="rId71"/>
    <p:sldId id="799" r:id="rId72"/>
    <p:sldId id="800" r:id="rId73"/>
    <p:sldId id="804" r:id="rId74"/>
    <p:sldId id="805" r:id="rId75"/>
    <p:sldId id="803" r:id="rId76"/>
    <p:sldId id="756" r:id="rId77"/>
    <p:sldId id="781" r:id="rId78"/>
    <p:sldId id="789" r:id="rId79"/>
    <p:sldId id="780" r:id="rId80"/>
  </p:sldIdLst>
  <p:sldSz cx="9906000" cy="6858000" type="A4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E17E9566-FE8C-4BF9-8A43-99A4B4FC8091}">
          <p14:sldIdLst>
            <p14:sldId id="256"/>
            <p14:sldId id="790"/>
            <p14:sldId id="759"/>
            <p14:sldId id="356"/>
            <p14:sldId id="260"/>
          </p14:sldIdLst>
        </p14:section>
        <p14:section name="목록" id="{A88D8C4A-42D5-488C-851B-9A15CEB54A60}">
          <p14:sldIdLst>
            <p14:sldId id="791"/>
            <p14:sldId id="792"/>
            <p14:sldId id="793"/>
            <p14:sldId id="794"/>
            <p14:sldId id="798"/>
          </p14:sldIdLst>
        </p14:section>
        <p14:section name="1.계약통합목록" id="{BB5718C8-07C1-4018-9189-79486BE9C0C5}">
          <p14:sldIdLst>
            <p14:sldId id="795"/>
            <p14:sldId id="796"/>
            <p14:sldId id="797"/>
            <p14:sldId id="758"/>
            <p14:sldId id="785"/>
            <p14:sldId id="292"/>
            <p14:sldId id="782"/>
            <p14:sldId id="760"/>
            <p14:sldId id="761"/>
            <p14:sldId id="630"/>
            <p14:sldId id="631"/>
            <p14:sldId id="633"/>
            <p14:sldId id="709"/>
            <p14:sldId id="783"/>
            <p14:sldId id="762"/>
            <p14:sldId id="763"/>
            <p14:sldId id="764"/>
            <p14:sldId id="713"/>
            <p14:sldId id="714"/>
            <p14:sldId id="715"/>
            <p14:sldId id="716"/>
            <p14:sldId id="765"/>
            <p14:sldId id="766"/>
            <p14:sldId id="767"/>
            <p14:sldId id="784"/>
            <p14:sldId id="768"/>
            <p14:sldId id="722"/>
            <p14:sldId id="723"/>
            <p14:sldId id="724"/>
            <p14:sldId id="725"/>
            <p14:sldId id="786"/>
            <p14:sldId id="769"/>
            <p14:sldId id="770"/>
            <p14:sldId id="771"/>
            <p14:sldId id="730"/>
            <p14:sldId id="731"/>
            <p14:sldId id="732"/>
            <p14:sldId id="787"/>
            <p14:sldId id="733"/>
            <p14:sldId id="734"/>
            <p14:sldId id="772"/>
            <p14:sldId id="773"/>
            <p14:sldId id="774"/>
            <p14:sldId id="738"/>
            <p14:sldId id="739"/>
            <p14:sldId id="740"/>
            <p14:sldId id="742"/>
            <p14:sldId id="775"/>
            <p14:sldId id="776"/>
            <p14:sldId id="745"/>
            <p14:sldId id="746"/>
            <p14:sldId id="748"/>
            <p14:sldId id="788"/>
            <p14:sldId id="749"/>
            <p14:sldId id="750"/>
            <p14:sldId id="777"/>
            <p14:sldId id="778"/>
            <p14:sldId id="779"/>
            <p14:sldId id="720"/>
            <p14:sldId id="704"/>
            <p14:sldId id="799"/>
            <p14:sldId id="800"/>
            <p14:sldId id="804"/>
            <p14:sldId id="805"/>
            <p14:sldId id="803"/>
          </p14:sldIdLst>
        </p14:section>
        <p14:section name="2. 대금청구진행현황" id="{818F5B40-D4DD-4315-9209-98F8CD025444}">
          <p14:sldIdLst>
            <p14:sldId id="756"/>
            <p14:sldId id="781"/>
          </p14:sldIdLst>
        </p14:section>
        <p14:section name="3.대금지불정보(반납)" id="{ADA4911A-617C-45D8-B34E-F8DEC2891795}">
          <p14:sldIdLst>
            <p14:sldId id="789"/>
            <p14:sldId id="78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D0D0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566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1350" y="96"/>
      </p:cViewPr>
      <p:guideLst>
        <p:guide orient="horz" pos="2160"/>
        <p:guide pos="312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996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notesMaster" Target="notesMasters/notesMaster1.xml"/><Relationship Id="rId86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486772-663E-498C-98A4-55676C0C79D5}" type="datetimeFigureOut">
              <a:rPr lang="ko-KR" altLang="en-US" smtClean="0"/>
              <a:t>2026-07-22 (Wednesday)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728BB6-27BE-4996-B82F-8E6CE98335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19048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880DED-BD55-4631-A63F-CC2459F192F4}" type="datetimeFigureOut">
              <a:rPr lang="ko-KR" altLang="en-US" smtClean="0"/>
              <a:t>2026-07-22 (Wednesday)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1425"/>
            <a:ext cx="48355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E14ED1-D705-4645-B89F-2D03A70CCA7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77305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E14ED1-D705-4645-B89F-2D03A70CCA77}" type="slidenum">
              <a:rPr lang="ko-KR" altLang="en-US" smtClean="0"/>
              <a:t>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018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E14ED1-D705-4645-B89F-2D03A70CCA77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46509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E14ED1-D705-4645-B89F-2D03A70CCA77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12509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E14ED1-D705-4645-B89F-2D03A70CCA77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5767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D56036D5-DD5F-441E-9594-5002CA0E85B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295427" y="5938279"/>
            <a:ext cx="1331674" cy="1648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6694" y="1306235"/>
            <a:ext cx="8640000" cy="612000"/>
          </a:xfrm>
          <a:prstGeom prst="rect">
            <a:avLst/>
          </a:prstGeom>
          <a:ln w="12700">
            <a:noFill/>
          </a:ln>
        </p:spPr>
        <p:txBody>
          <a:bodyPr anchor="b"/>
          <a:lstStyle>
            <a:lvl1pPr algn="r">
              <a:lnSpc>
                <a:spcPct val="100000"/>
              </a:lnSpc>
              <a:defRPr sz="2400" b="1" u="none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37669" y="1942226"/>
            <a:ext cx="8649025" cy="396376"/>
          </a:xfrm>
          <a:prstGeom prst="rect">
            <a:avLst/>
          </a:prstGeo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 sz="16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마스터 부제목 스타일 편집</a:t>
            </a:r>
            <a:endParaRPr lang="en-US" dirty="0"/>
          </a:p>
        </p:txBody>
      </p:sp>
      <p:cxnSp>
        <p:nvCxnSpPr>
          <p:cNvPr id="8" name="직선 연결선 7"/>
          <p:cNvCxnSpPr/>
          <p:nvPr userDrawn="1"/>
        </p:nvCxnSpPr>
        <p:spPr>
          <a:xfrm>
            <a:off x="637669" y="1925053"/>
            <a:ext cx="864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표 10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13922239"/>
              </p:ext>
            </p:extLst>
          </p:nvPr>
        </p:nvGraphicFramePr>
        <p:xfrm>
          <a:off x="4551204" y="3815479"/>
          <a:ext cx="4744543" cy="952503"/>
        </p:xfrm>
        <a:graphic>
          <a:graphicData uri="http://schemas.openxmlformats.org/drawingml/2006/table">
            <a:tbl>
              <a:tblPr firstRow="1" firstCol="1" bandRow="1"/>
              <a:tblGrid>
                <a:gridCol w="9713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731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7501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1000" b="1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프로젝트</a:t>
                      </a:r>
                    </a:p>
                  </a:txBody>
                  <a:tcPr marL="36195" marR="36195" marT="36195" marB="36195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ko-KR" sz="10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36195" marR="36195" marT="36195" marB="3619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7501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1000" b="1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문서번호</a:t>
                      </a:r>
                    </a:p>
                  </a:txBody>
                  <a:tcPr marL="36195" marR="36195" marT="36195" marB="36195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ko-KR" sz="10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36195" marR="36195" marT="36195" marB="3619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7501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altLang="en-US" sz="1000" b="1" kern="100" dirty="0" err="1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제개정이력</a:t>
                      </a:r>
                      <a:endParaRPr lang="ko-KR" sz="1000" b="1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36195" marR="36195" marT="36195" marB="36195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ko-KR" sz="10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36195" marR="36195" marT="36195" marB="3619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5183031"/>
                  </a:ext>
                </a:extLst>
              </a:tr>
            </a:tbl>
          </a:graphicData>
        </a:graphic>
      </p:graphicFrame>
      <p:sp>
        <p:nvSpPr>
          <p:cNvPr id="14" name="텍스트 개체 틀 12"/>
          <p:cNvSpPr>
            <a:spLocks noGrp="1"/>
          </p:cNvSpPr>
          <p:nvPr>
            <p:ph type="body" sz="quarter" idx="11"/>
          </p:nvPr>
        </p:nvSpPr>
        <p:spPr>
          <a:xfrm>
            <a:off x="5540722" y="3848071"/>
            <a:ext cx="3736946" cy="252000"/>
          </a:xfrm>
          <a:prstGeom prst="rect">
            <a:avLst/>
          </a:prstGeom>
        </p:spPr>
        <p:txBody>
          <a:bodyPr anchor="ctr"/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/>
            </a:lvl1pPr>
            <a:lvl2pPr marL="457200" indent="0">
              <a:buNone/>
              <a:defRPr sz="1000"/>
            </a:lvl2pPr>
            <a:lvl3pPr marL="914400" indent="0">
              <a:buNone/>
              <a:defRPr sz="10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ko-KR" altLang="ko-KR" sz="1000" kern="100" dirty="0">
              <a:effectLst/>
              <a:latin typeface="맑은 고딕" panose="020B0503020000020004" pitchFamily="50" charset="-127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5" name="텍스트 개체 틀 12"/>
          <p:cNvSpPr>
            <a:spLocks noGrp="1"/>
          </p:cNvSpPr>
          <p:nvPr>
            <p:ph type="body" sz="quarter" idx="12"/>
          </p:nvPr>
        </p:nvSpPr>
        <p:spPr>
          <a:xfrm>
            <a:off x="5540722" y="4163525"/>
            <a:ext cx="3736946" cy="252000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buNone/>
              <a:defRPr sz="1000"/>
            </a:lvl1pPr>
            <a:lvl2pPr marL="457200" indent="0">
              <a:buNone/>
              <a:defRPr sz="1000"/>
            </a:lvl2pPr>
            <a:lvl3pPr marL="914400" indent="0">
              <a:buNone/>
              <a:defRPr sz="10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lvl="0"/>
            <a:endParaRPr lang="ko-KR" altLang="en-US" dirty="0"/>
          </a:p>
        </p:txBody>
      </p:sp>
      <p:sp>
        <p:nvSpPr>
          <p:cNvPr id="13" name="직사각형 12"/>
          <p:cNvSpPr/>
          <p:nvPr userDrawn="1"/>
        </p:nvSpPr>
        <p:spPr>
          <a:xfrm>
            <a:off x="1527804" y="6225242"/>
            <a:ext cx="6858548" cy="408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lang="en-US" altLang="ko-KR" sz="900" kern="1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Copyright © 2025 by </a:t>
            </a:r>
            <a:r>
              <a:rPr lang="ko-KR" altLang="en-US" sz="900" kern="1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방위사업청</a:t>
            </a:r>
            <a:endParaRPr lang="en-US" altLang="ko-KR" sz="900" kern="100" dirty="0">
              <a:effectLst/>
              <a:latin typeface="+mn-ea"/>
              <a:ea typeface="+mn-ea"/>
              <a:cs typeface="Times New Roman" panose="02020603050405020304" pitchFamily="18" charset="0"/>
            </a:endParaRP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lang="ko-KR" altLang="en-US" sz="900" kern="1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방위사업청의 </a:t>
            </a:r>
            <a:r>
              <a:rPr lang="ko-KR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사전 승인 없이 본 내용의 전부 또는 일부에 대한 복사</a:t>
            </a:r>
            <a:r>
              <a:rPr lang="en-US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, </a:t>
            </a:r>
            <a:r>
              <a:rPr lang="ko-KR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전재</a:t>
            </a:r>
            <a:r>
              <a:rPr lang="en-US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, </a:t>
            </a:r>
            <a:r>
              <a:rPr lang="ko-KR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배포</a:t>
            </a:r>
            <a:r>
              <a:rPr lang="en-US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, </a:t>
            </a:r>
            <a:r>
              <a:rPr lang="ko-KR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사용을 금합니다</a:t>
            </a:r>
            <a:r>
              <a:rPr lang="en-US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.</a:t>
            </a:r>
            <a:endParaRPr lang="ko-KR" altLang="en-US" sz="900" dirty="0">
              <a:latin typeface="+mn-ea"/>
              <a:ea typeface="+mn-ea"/>
            </a:endParaRPr>
          </a:p>
        </p:txBody>
      </p:sp>
      <p:sp>
        <p:nvSpPr>
          <p:cNvPr id="12" name="텍스트 개체 틀 12"/>
          <p:cNvSpPr>
            <a:spLocks noGrp="1"/>
          </p:cNvSpPr>
          <p:nvPr>
            <p:ph type="body" sz="quarter" idx="13"/>
          </p:nvPr>
        </p:nvSpPr>
        <p:spPr>
          <a:xfrm>
            <a:off x="5540722" y="4479945"/>
            <a:ext cx="3736946" cy="252000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buNone/>
              <a:defRPr sz="1000"/>
            </a:lvl1pPr>
            <a:lvl2pPr marL="457200" indent="0">
              <a:buNone/>
              <a:defRPr sz="1000"/>
            </a:lvl2pPr>
            <a:lvl3pPr marL="914400" indent="0">
              <a:buNone/>
              <a:defRPr sz="10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lvl="0"/>
            <a:endParaRPr lang="ko-KR" altLang="en-US" dirty="0"/>
          </a:p>
        </p:txBody>
      </p:sp>
      <p:pic>
        <p:nvPicPr>
          <p:cNvPr id="17" name="그림 16" descr="그래픽, 폰트, 그래픽 디자인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A9D3F7C-59D2-46B0-9671-095C3D9268C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37641" y="465349"/>
            <a:ext cx="1005840" cy="340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3035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개정이력/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10"/>
          <p:cNvSpPr>
            <a:spLocks noGrp="1"/>
          </p:cNvSpPr>
          <p:nvPr>
            <p:ph type="sldNum" sz="quarter" idx="4"/>
          </p:nvPr>
        </p:nvSpPr>
        <p:spPr>
          <a:xfrm>
            <a:off x="4326220" y="6588000"/>
            <a:ext cx="1258128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fld id="{34C8E023-7346-48FC-AB24-9A3388C5320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20" name="텍스트 개체 틀 12"/>
          <p:cNvSpPr>
            <a:spLocks noGrp="1"/>
          </p:cNvSpPr>
          <p:nvPr>
            <p:ph type="body" sz="quarter" idx="10"/>
          </p:nvPr>
        </p:nvSpPr>
        <p:spPr>
          <a:xfrm>
            <a:off x="2250485" y="821363"/>
            <a:ext cx="5400000" cy="41789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1" u="sng"/>
            </a:lvl1pPr>
            <a:lvl2pPr marL="457200" indent="0">
              <a:buNone/>
              <a:defRPr sz="1000"/>
            </a:lvl2pPr>
            <a:lvl3pPr marL="914400" indent="0">
              <a:buNone/>
              <a:defRPr sz="10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lvl="0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7577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-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10"/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fld id="{34C8E023-7346-48FC-AB24-9A3388C5320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>
          <a:xfrm>
            <a:off x="457199" y="612000"/>
            <a:ext cx="9001125" cy="32400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50000"/>
              </a:lnSpc>
              <a:buNone/>
              <a:defRPr sz="1400" b="1"/>
            </a:lvl1pPr>
            <a:lvl2pPr marL="457200" indent="0">
              <a:buNone/>
              <a:defRPr sz="1200" b="1"/>
            </a:lvl2pPr>
            <a:lvl3pPr marL="914400" indent="0">
              <a:buNone/>
              <a:defRPr sz="1200" b="1"/>
            </a:lvl3pPr>
            <a:lvl4pPr marL="1371600" indent="0">
              <a:buNone/>
              <a:defRPr sz="1200" b="1"/>
            </a:lvl4pPr>
            <a:lvl5pPr marL="1828800" indent="0">
              <a:buNone/>
              <a:defRPr sz="1200" b="1"/>
            </a:lvl5pPr>
          </a:lstStyle>
          <a:p>
            <a:pPr lvl="0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266025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-제목&amp;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10"/>
          <p:cNvSpPr>
            <a:spLocks noGrp="1"/>
          </p:cNvSpPr>
          <p:nvPr>
            <p:ph type="sldNum" sz="quarter" idx="4"/>
          </p:nvPr>
        </p:nvSpPr>
        <p:spPr>
          <a:xfrm>
            <a:off x="4327734" y="6590501"/>
            <a:ext cx="1258128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fld id="{34C8E023-7346-48FC-AB24-9A3388C5320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>
          <a:xfrm>
            <a:off x="467025" y="612000"/>
            <a:ext cx="9000000" cy="32400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50000"/>
              </a:lnSpc>
              <a:buNone/>
              <a:defRPr sz="1200" b="1"/>
            </a:lvl1pPr>
            <a:lvl2pPr marL="457200" indent="0">
              <a:buNone/>
              <a:defRPr sz="1200" b="1"/>
            </a:lvl2pPr>
            <a:lvl3pPr marL="914400" indent="0">
              <a:buNone/>
              <a:defRPr sz="1200" b="1"/>
            </a:lvl3pPr>
            <a:lvl4pPr marL="1371600" indent="0">
              <a:buNone/>
              <a:defRPr sz="1200" b="1"/>
            </a:lvl4pPr>
            <a:lvl5pPr marL="1828800" indent="0">
              <a:buNone/>
              <a:defRPr sz="1200" b="1"/>
            </a:lvl5pPr>
          </a:lstStyle>
          <a:p>
            <a:pPr lvl="0"/>
            <a:endParaRPr lang="ko-KR" altLang="en-US" dirty="0"/>
          </a:p>
        </p:txBody>
      </p:sp>
      <p:sp>
        <p:nvSpPr>
          <p:cNvPr id="10" name="텍스트 개체 틀 2"/>
          <p:cNvSpPr>
            <a:spLocks noGrp="1"/>
          </p:cNvSpPr>
          <p:nvPr>
            <p:ph type="body" sz="quarter" idx="11"/>
          </p:nvPr>
        </p:nvSpPr>
        <p:spPr>
          <a:xfrm>
            <a:off x="457200" y="1038808"/>
            <a:ext cx="9000000" cy="5424196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50000"/>
              </a:lnSpc>
              <a:buNone/>
              <a:defRPr sz="1000" b="0"/>
            </a:lvl1pPr>
            <a:lvl2pPr marL="457200" indent="0">
              <a:buNone/>
              <a:defRPr sz="1200" b="1"/>
            </a:lvl2pPr>
            <a:lvl3pPr marL="914400" indent="0">
              <a:buNone/>
              <a:defRPr sz="1200" b="1"/>
            </a:lvl3pPr>
            <a:lvl4pPr marL="1371600" indent="0">
              <a:buNone/>
              <a:defRPr sz="1200" b="1"/>
            </a:lvl4pPr>
            <a:lvl5pPr marL="1828800" indent="0">
              <a:buNone/>
              <a:defRPr sz="1200" b="1"/>
            </a:lvl5pPr>
          </a:lstStyle>
          <a:p>
            <a:pPr lvl="0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1031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-내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10"/>
          <p:cNvSpPr>
            <a:spLocks noGrp="1"/>
          </p:cNvSpPr>
          <p:nvPr>
            <p:ph type="sldNum" sz="quarter" idx="4"/>
          </p:nvPr>
        </p:nvSpPr>
        <p:spPr>
          <a:xfrm>
            <a:off x="4327200" y="6590501"/>
            <a:ext cx="1258128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fld id="{34C8E023-7346-48FC-AB24-9A3388C5320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7" name="텍스트 개체 틀 2"/>
          <p:cNvSpPr>
            <a:spLocks noGrp="1"/>
          </p:cNvSpPr>
          <p:nvPr>
            <p:ph type="body" sz="quarter" idx="11"/>
          </p:nvPr>
        </p:nvSpPr>
        <p:spPr>
          <a:xfrm>
            <a:off x="457200" y="612000"/>
            <a:ext cx="9000000" cy="5851004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50000"/>
              </a:lnSpc>
              <a:buNone/>
              <a:defRPr sz="1100" b="0"/>
            </a:lvl1pPr>
            <a:lvl2pPr marL="457200" indent="0">
              <a:buNone/>
              <a:defRPr sz="1200" b="1"/>
            </a:lvl2pPr>
            <a:lvl3pPr marL="914400" indent="0">
              <a:buNone/>
              <a:defRPr sz="1200" b="1"/>
            </a:lvl3pPr>
            <a:lvl4pPr marL="1371600" indent="0">
              <a:buNone/>
              <a:defRPr sz="1200" b="1"/>
            </a:lvl4pPr>
            <a:lvl5pPr marL="1828800" indent="0">
              <a:buNone/>
              <a:defRPr sz="1200" b="1"/>
            </a:lvl5pPr>
          </a:lstStyle>
          <a:p>
            <a:pPr lvl="0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039650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-서식없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10"/>
          <p:cNvSpPr>
            <a:spLocks noGrp="1"/>
          </p:cNvSpPr>
          <p:nvPr>
            <p:ph type="sldNum" sz="quarter" idx="4"/>
          </p:nvPr>
        </p:nvSpPr>
        <p:spPr>
          <a:xfrm>
            <a:off x="4327200" y="6590501"/>
            <a:ext cx="1258128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fld id="{34C8E023-7346-48FC-AB24-9A3388C5320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35475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인터페이스 이미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072137626"/>
              </p:ext>
            </p:extLst>
          </p:nvPr>
        </p:nvGraphicFramePr>
        <p:xfrm>
          <a:off x="458167" y="719999"/>
          <a:ext cx="8988374" cy="575544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89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51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59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680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424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433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765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6355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1" dirty="0"/>
                        <a:t>UI</a:t>
                      </a:r>
                      <a:r>
                        <a:rPr lang="en-US" altLang="ko-KR" sz="900" b="1" baseline="0" dirty="0"/>
                        <a:t> ID</a:t>
                      </a:r>
                      <a:endParaRPr lang="ko-KR" altLang="en-US" sz="900" b="1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1" dirty="0"/>
                        <a:t>UI </a:t>
                      </a:r>
                      <a:r>
                        <a:rPr lang="ko-KR" altLang="en-US" sz="900" b="1" dirty="0"/>
                        <a:t>명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/>
                        <a:t>화면경로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5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/>
                        <a:t>개요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6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322">
                <a:tc rowSpan="2" gridSpan="6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/>
                        <a:t>설명 및 특이사항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81007">
                <a:tc gridSpan="6" v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텍스트 개체 틀 5"/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  <a:prstGeom prst="rect">
            <a:avLst/>
          </a:prstGeom>
        </p:spPr>
        <p:txBody>
          <a:bodyPr/>
          <a:lstStyle>
            <a:lvl1pPr marL="87313" indent="-87313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Char char="•"/>
              <a:defRPr sz="900"/>
            </a:lvl1pPr>
            <a:lvl2pPr marL="457200" indent="0">
              <a:buNone/>
              <a:defRPr sz="900"/>
            </a:lvl2pPr>
            <a:lvl3pPr marL="914400" indent="0">
              <a:buNone/>
              <a:defRPr sz="9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</a:lstStyle>
          <a:p>
            <a:pPr lvl="0"/>
            <a:endParaRPr lang="ko-KR" altLang="en-US" dirty="0"/>
          </a:p>
        </p:txBody>
      </p:sp>
      <p:sp>
        <p:nvSpPr>
          <p:cNvPr id="7" name="슬라이드 번호 개체 틀 10"/>
          <p:cNvSpPr>
            <a:spLocks noGrp="1"/>
          </p:cNvSpPr>
          <p:nvPr>
            <p:ph type="sldNum" sz="quarter" idx="4"/>
          </p:nvPr>
        </p:nvSpPr>
        <p:spPr>
          <a:xfrm>
            <a:off x="4327200" y="6590501"/>
            <a:ext cx="1258128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fld id="{9DF8E3FD-B4FB-473B-BCAD-C4534B9A9D97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11" name="텍스트 개체 틀 10"/>
          <p:cNvSpPr>
            <a:spLocks noGrp="1"/>
          </p:cNvSpPr>
          <p:nvPr>
            <p:ph type="body" sz="quarter" idx="12"/>
          </p:nvPr>
        </p:nvSpPr>
        <p:spPr>
          <a:xfrm>
            <a:off x="3390640" y="755764"/>
            <a:ext cx="2101850" cy="162201"/>
          </a:xfrm>
          <a:prstGeom prst="rect">
            <a:avLst/>
          </a:prstGeom>
        </p:spPr>
        <p:txBody>
          <a:bodyPr lIns="72000" tIns="36000" rIns="72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900"/>
            </a:lvl1pPr>
            <a:lvl2pPr marL="457200" indent="0">
              <a:buNone/>
              <a:defRPr sz="900"/>
            </a:lvl2pPr>
            <a:lvl3pPr marL="914400" indent="0">
              <a:buNone/>
              <a:defRPr sz="9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</a:lstStyle>
          <a:p>
            <a:pPr lvl="0"/>
            <a:endParaRPr lang="ko-KR" altLang="en-US" dirty="0"/>
          </a:p>
        </p:txBody>
      </p:sp>
      <p:sp>
        <p:nvSpPr>
          <p:cNvPr id="12" name="텍스트 개체 틀 10"/>
          <p:cNvSpPr>
            <a:spLocks noGrp="1"/>
          </p:cNvSpPr>
          <p:nvPr>
            <p:ph type="body" sz="quarter" idx="13"/>
          </p:nvPr>
        </p:nvSpPr>
        <p:spPr>
          <a:xfrm>
            <a:off x="956623" y="1010025"/>
            <a:ext cx="8434506" cy="193878"/>
          </a:xfrm>
          <a:prstGeom prst="rect">
            <a:avLst/>
          </a:prstGeom>
        </p:spPr>
        <p:txBody>
          <a:bodyPr lIns="72000" tIns="36000" rIns="72000" bIns="36000"/>
          <a:lstStyle>
            <a:lvl1pPr marL="0" indent="0">
              <a:buNone/>
              <a:defRPr sz="900"/>
            </a:lvl1pPr>
            <a:lvl2pPr marL="457200" indent="0">
              <a:buNone/>
              <a:defRPr sz="900"/>
            </a:lvl2pPr>
            <a:lvl3pPr marL="914400" indent="0">
              <a:buNone/>
              <a:defRPr sz="9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</a:lstStyle>
          <a:p>
            <a:pPr lvl="0"/>
            <a:endParaRPr lang="ko-KR" altLang="en-US" dirty="0"/>
          </a:p>
        </p:txBody>
      </p:sp>
      <p:sp>
        <p:nvSpPr>
          <p:cNvPr id="13" name="텍스트 개체 틀 10"/>
          <p:cNvSpPr>
            <a:spLocks noGrp="1"/>
          </p:cNvSpPr>
          <p:nvPr>
            <p:ph type="body" sz="quarter" idx="14"/>
          </p:nvPr>
        </p:nvSpPr>
        <p:spPr>
          <a:xfrm>
            <a:off x="6238614" y="755764"/>
            <a:ext cx="3140076" cy="177622"/>
          </a:xfrm>
          <a:prstGeom prst="rect">
            <a:avLst/>
          </a:prstGeom>
        </p:spPr>
        <p:txBody>
          <a:bodyPr lIns="72000" tIns="36000" rIns="72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900"/>
            </a:lvl1pPr>
            <a:lvl2pPr marL="457200" indent="0">
              <a:buNone/>
              <a:defRPr sz="900"/>
            </a:lvl2pPr>
            <a:lvl3pPr marL="914400" indent="0">
              <a:buNone/>
              <a:defRPr sz="9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</a:lstStyle>
          <a:p>
            <a:pPr lvl="0"/>
            <a:endParaRPr lang="ko-KR" altLang="en-US" dirty="0"/>
          </a:p>
        </p:txBody>
      </p:sp>
      <p:sp>
        <p:nvSpPr>
          <p:cNvPr id="10" name="텍스트 개체 틀 10"/>
          <p:cNvSpPr>
            <a:spLocks noGrp="1"/>
          </p:cNvSpPr>
          <p:nvPr>
            <p:ph type="body" sz="quarter" idx="15"/>
          </p:nvPr>
        </p:nvSpPr>
        <p:spPr>
          <a:xfrm>
            <a:off x="956623" y="755764"/>
            <a:ext cx="1404000" cy="193878"/>
          </a:xfrm>
          <a:prstGeom prst="rect">
            <a:avLst/>
          </a:prstGeom>
        </p:spPr>
        <p:txBody>
          <a:bodyPr lIns="72000" tIns="36000" rIns="72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900"/>
            </a:lvl1pPr>
            <a:lvl2pPr marL="457200" indent="0">
              <a:buNone/>
              <a:defRPr sz="900"/>
            </a:lvl2pPr>
            <a:lvl3pPr marL="914400" indent="0">
              <a:buNone/>
              <a:defRPr sz="9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</a:lstStyle>
          <a:p>
            <a:pPr lvl="0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897163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D11E9F2C-2481-4ADA-BED0-11F45689328C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8685200" y="6640342"/>
            <a:ext cx="738733" cy="91480"/>
          </a:xfrm>
          <a:prstGeom prst="rect">
            <a:avLst/>
          </a:prstGeom>
        </p:spPr>
      </p:pic>
      <p:cxnSp>
        <p:nvCxnSpPr>
          <p:cNvPr id="8" name="직선 연결선 7"/>
          <p:cNvCxnSpPr/>
          <p:nvPr userDrawn="1"/>
        </p:nvCxnSpPr>
        <p:spPr>
          <a:xfrm>
            <a:off x="445168" y="540000"/>
            <a:ext cx="900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/>
          <p:cNvCxnSpPr/>
          <p:nvPr userDrawn="1"/>
        </p:nvCxnSpPr>
        <p:spPr>
          <a:xfrm>
            <a:off x="465216" y="6588000"/>
            <a:ext cx="900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/>
          <p:cNvSpPr/>
          <p:nvPr userDrawn="1"/>
        </p:nvSpPr>
        <p:spPr>
          <a:xfrm>
            <a:off x="4950372" y="376754"/>
            <a:ext cx="4519928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/>
            <a:r>
              <a:rPr lang="ko-KR" altLang="en-US" sz="1000" b="1" kern="100" dirty="0" smtClean="0">
                <a:effectLst/>
                <a:latin typeface="맑은 고딕" panose="020B0503020000020004" pitchFamily="50" charset="-127"/>
                <a:ea typeface="+mn-ea"/>
                <a:cs typeface="Times New Roman" panose="02020603050405020304" pitchFamily="18" charset="0"/>
              </a:rPr>
              <a:t>사용자인터페이스설계서 </a:t>
            </a:r>
            <a:r>
              <a:rPr lang="en-US" altLang="ko-KR" sz="1000" b="1" kern="100" dirty="0">
                <a:effectLst/>
                <a:latin typeface="맑은 고딕" panose="020B0503020000020004" pitchFamily="50" charset="-127"/>
                <a:ea typeface="+mn-ea"/>
                <a:cs typeface="Times New Roman" panose="02020603050405020304" pitchFamily="18" charset="0"/>
              </a:rPr>
              <a:t>– 05.</a:t>
            </a:r>
            <a:r>
              <a:rPr lang="ko-KR" altLang="en-US" sz="1000" b="1" kern="100" dirty="0" err="1">
                <a:effectLst/>
                <a:latin typeface="맑은 고딕" panose="020B0503020000020004" pitchFamily="50" charset="-127"/>
                <a:ea typeface="+mn-ea"/>
                <a:cs typeface="Times New Roman" panose="02020603050405020304" pitchFamily="18" charset="0"/>
              </a:rPr>
              <a:t>대금청구및사후</a:t>
            </a:r>
            <a:r>
              <a:rPr lang="en-US" altLang="ko-KR" sz="1000" b="1" kern="100" dirty="0">
                <a:effectLst/>
                <a:latin typeface="맑은 고딕" panose="020B0503020000020004" pitchFamily="50" charset="-127"/>
                <a:ea typeface="+mn-ea"/>
                <a:cs typeface="Times New Roman" panose="02020603050405020304" pitchFamily="18" charset="0"/>
              </a:rPr>
              <a:t>-</a:t>
            </a:r>
            <a:r>
              <a:rPr lang="ko-KR" altLang="en-US" sz="1000" b="1" kern="100" dirty="0">
                <a:effectLst/>
                <a:latin typeface="맑은 고딕" panose="020B0503020000020004" pitchFamily="50" charset="-127"/>
                <a:ea typeface="+mn-ea"/>
                <a:cs typeface="Times New Roman" panose="02020603050405020304" pitchFamily="18" charset="0"/>
              </a:rPr>
              <a:t>모바일</a:t>
            </a:r>
            <a:endParaRPr lang="ko-KR" altLang="en-US" sz="1000" dirty="0"/>
          </a:p>
        </p:txBody>
      </p:sp>
      <p:sp>
        <p:nvSpPr>
          <p:cNvPr id="10" name="직사각형 9"/>
          <p:cNvSpPr/>
          <p:nvPr userDrawn="1"/>
        </p:nvSpPr>
        <p:spPr>
          <a:xfrm>
            <a:off x="445168" y="376754"/>
            <a:ext cx="3939450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sz="1000" b="1" kern="100" dirty="0">
                <a:effectLst/>
              </a:rPr>
              <a:t>국방전자조달시스템 고도화 구축사업</a:t>
            </a:r>
          </a:p>
        </p:txBody>
      </p:sp>
      <p:pic>
        <p:nvPicPr>
          <p:cNvPr id="11" name="Picture 1">
            <a:extLst>
              <a:ext uri="{FF2B5EF4-FFF2-40B4-BE49-F238E27FC236}">
                <a16:creationId xmlns:a16="http://schemas.microsoft.com/office/drawing/2014/main" id="{3BECD7E0-1778-4975-BFA0-E9C4CE243F54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474463" y="6577231"/>
            <a:ext cx="668534" cy="233715"/>
          </a:xfrm>
          <a:prstGeom prst="rect">
            <a:avLst/>
          </a:prstGeom>
          <a:noFill/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714012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7" r:id="rId3"/>
    <p:sldLayoutId id="2147483664" r:id="rId4"/>
    <p:sldLayoutId id="2147483665" r:id="rId5"/>
    <p:sldLayoutId id="2147483666" r:id="rId6"/>
    <p:sldLayoutId id="2147483668" r:id="rId7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제목 5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사용자인터페이스 설계서 </a:t>
            </a:r>
            <a:r>
              <a:rPr lang="en-US" altLang="ko-KR" dirty="0"/>
              <a:t>- </a:t>
            </a:r>
            <a:r>
              <a:rPr lang="ko-KR" altLang="en-US" dirty="0"/>
              <a:t>모바일</a:t>
            </a:r>
          </a:p>
        </p:txBody>
      </p:sp>
      <p:sp>
        <p:nvSpPr>
          <p:cNvPr id="54" name="부제목 5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05.</a:t>
            </a:r>
            <a:r>
              <a:rPr lang="ko-KR" altLang="en-US" dirty="0" err="1"/>
              <a:t>대금청구및사후</a:t>
            </a:r>
            <a:endParaRPr lang="ko-KR" altLang="en-US" dirty="0"/>
          </a:p>
        </p:txBody>
      </p:sp>
      <p:sp>
        <p:nvSpPr>
          <p:cNvPr id="56" name="텍스트 개체 틀 55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국방전자조달시스템 고도화 구축사업</a:t>
            </a:r>
          </a:p>
        </p:txBody>
      </p:sp>
      <p:sp>
        <p:nvSpPr>
          <p:cNvPr id="57" name="텍스트 개체 틀 56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D2BA-AP-3CD-0601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2026.06.18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156324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F21A837-6853-B5CA-5641-F9A516F3B3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1</a:t>
            </a:fld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CF8D2BE-3FE8-714A-457C-A4A1521A282B}"/>
              </a:ext>
            </a:extLst>
          </p:cNvPr>
          <p:cNvSpPr/>
          <p:nvPr/>
        </p:nvSpPr>
        <p:spPr>
          <a:xfrm>
            <a:off x="3079266" y="1809750"/>
            <a:ext cx="3771900" cy="340042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AutoNum type="arabicPeriod"/>
            </a:pPr>
            <a:r>
              <a:rPr lang="ko-KR" altLang="en-US" sz="1400" dirty="0">
                <a:solidFill>
                  <a:schemeClr val="tx1"/>
                </a:solidFill>
              </a:rPr>
              <a:t>본 문서는 국방전자조달시스템 고도화 구축 사업 이외의 어떠한 목적에도 사용을 금하며</a:t>
            </a:r>
            <a:r>
              <a:rPr lang="en-US" altLang="ko-KR" sz="1400" dirty="0">
                <a:solidFill>
                  <a:schemeClr val="tx1"/>
                </a:solidFill>
              </a:rPr>
              <a:t>, </a:t>
            </a:r>
            <a:r>
              <a:rPr lang="ko-KR" altLang="en-US" sz="1400" dirty="0">
                <a:solidFill>
                  <a:schemeClr val="tx1"/>
                </a:solidFill>
              </a:rPr>
              <a:t>사업관리기관 및 개발업체  요원 이외의 열람을 통제한다</a:t>
            </a:r>
            <a:r>
              <a:rPr lang="en-US" altLang="ko-KR" sz="1400" dirty="0">
                <a:solidFill>
                  <a:schemeClr val="tx1"/>
                </a:solidFill>
              </a:rPr>
              <a:t>.</a:t>
            </a:r>
          </a:p>
          <a:p>
            <a:pPr marL="342900" indent="-342900">
              <a:buAutoNum type="arabicPeriod"/>
            </a:pPr>
            <a:endParaRPr lang="en-US" altLang="ko-KR" sz="1400" dirty="0">
              <a:solidFill>
                <a:schemeClr val="tx1"/>
              </a:solidFill>
            </a:endParaRPr>
          </a:p>
          <a:p>
            <a:pPr marL="342900" indent="-342900">
              <a:buAutoNum type="arabicPeriod"/>
            </a:pPr>
            <a:r>
              <a:rPr lang="ko-KR" altLang="en-US" sz="1400" dirty="0">
                <a:solidFill>
                  <a:schemeClr val="tx1"/>
                </a:solidFill>
              </a:rPr>
              <a:t>본 문서는 방위사업청의 승인없이 발췌 및 복사</a:t>
            </a:r>
            <a:r>
              <a:rPr lang="en-US" altLang="ko-KR" sz="1400" dirty="0">
                <a:solidFill>
                  <a:schemeClr val="tx1"/>
                </a:solidFill>
              </a:rPr>
              <a:t>, </a:t>
            </a:r>
            <a:r>
              <a:rPr lang="ko-KR" altLang="en-US" sz="1400" dirty="0">
                <a:solidFill>
                  <a:schemeClr val="tx1"/>
                </a:solidFill>
              </a:rPr>
              <a:t>배포를 금지하며</a:t>
            </a:r>
            <a:r>
              <a:rPr lang="en-US" altLang="ko-KR" sz="1400" dirty="0">
                <a:solidFill>
                  <a:schemeClr val="tx1"/>
                </a:solidFill>
              </a:rPr>
              <a:t>, </a:t>
            </a:r>
            <a:r>
              <a:rPr lang="ko-KR" altLang="en-US" sz="1400" dirty="0">
                <a:solidFill>
                  <a:schemeClr val="tx1"/>
                </a:solidFill>
              </a:rPr>
              <a:t>방위사업청  문서관리규정에 의하여 관리한다</a:t>
            </a:r>
            <a:r>
              <a:rPr lang="en-US" altLang="ko-KR" sz="1400" dirty="0">
                <a:solidFill>
                  <a:schemeClr val="tx1"/>
                </a:solidFill>
              </a:rPr>
              <a:t>.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B3A35A62-3F88-2F9F-9F03-E16DFE92E11E}"/>
              </a:ext>
            </a:extLst>
          </p:cNvPr>
          <p:cNvSpPr txBox="1">
            <a:spLocks/>
          </p:cNvSpPr>
          <p:nvPr/>
        </p:nvSpPr>
        <p:spPr>
          <a:xfrm>
            <a:off x="2265216" y="978498"/>
            <a:ext cx="5400000" cy="417890"/>
          </a:xfrm>
          <a:prstGeom prst="rect">
            <a:avLst/>
          </a:prstGeom>
        </p:spPr>
        <p:txBody>
          <a:bodyPr anchor="ctr"/>
          <a:lstStyle>
            <a:lvl1pPr marL="0" indent="0" algn="ct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600"/>
              <a:t>경 고 문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124944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2</a:t>
            </a:fld>
            <a:endParaRPr lang="ko-KR" altLang="en-US"/>
          </a:p>
        </p:txBody>
      </p:sp>
      <p:sp>
        <p:nvSpPr>
          <p:cNvPr id="4" name="텍스트 개체 틀 15">
            <a:extLst>
              <a:ext uri="{FF2B5EF4-FFF2-40B4-BE49-F238E27FC236}">
                <a16:creationId xmlns:a16="http://schemas.microsoft.com/office/drawing/2014/main" id="{44A815B9-A3EA-BA0B-410C-A69AB9D1A04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250485" y="821363"/>
            <a:ext cx="5400000" cy="417890"/>
          </a:xfrm>
        </p:spPr>
        <p:txBody>
          <a:bodyPr/>
          <a:lstStyle/>
          <a:p>
            <a:r>
              <a:rPr lang="ko-KR" altLang="en-US" dirty="0" err="1"/>
              <a:t>제</a:t>
            </a:r>
            <a:r>
              <a:rPr lang="ko-KR" altLang="en-US" dirty="0" err="1">
                <a:sym typeface="Wingdings" panose="05000000000000000000" pitchFamily="2" charset="2"/>
              </a:rPr>
              <a:t></a:t>
            </a:r>
            <a:r>
              <a:rPr lang="ko-KR" altLang="en-US" dirty="0" err="1"/>
              <a:t>개</a:t>
            </a:r>
            <a:r>
              <a:rPr lang="ko-KR" altLang="en-US" dirty="0"/>
              <a:t> 정 이 력</a:t>
            </a:r>
          </a:p>
        </p:txBody>
      </p:sp>
      <p:graphicFrame>
        <p:nvGraphicFramePr>
          <p:cNvPr id="7" name="Group 759">
            <a:extLst>
              <a:ext uri="{FF2B5EF4-FFF2-40B4-BE49-F238E27FC236}">
                <a16:creationId xmlns:a16="http://schemas.microsoft.com/office/drawing/2014/main" id="{2831990E-7701-AF86-804F-42A7268A90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9049858"/>
              </p:ext>
            </p:extLst>
          </p:nvPr>
        </p:nvGraphicFramePr>
        <p:xfrm>
          <a:off x="652374" y="1286787"/>
          <a:ext cx="8782571" cy="3743598"/>
        </p:xfrm>
        <a:graphic>
          <a:graphicData uri="http://schemas.openxmlformats.org/drawingml/2006/table">
            <a:tbl>
              <a:tblPr/>
              <a:tblGrid>
                <a:gridCol w="7848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19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098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61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19745">
                  <a:extLst>
                    <a:ext uri="{9D8B030D-6E8A-4147-A177-3AD203B41FA5}">
                      <a16:colId xmlns:a16="http://schemas.microsoft.com/office/drawing/2014/main" val="353883393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제개정일</a:t>
                      </a:r>
                      <a:endParaRPr lang="ko-KR" altLang="en-US" sz="1000" b="1" i="0" u="none" strike="noStrike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버전</a:t>
                      </a:r>
                      <a:endParaRPr lang="ko-KR" altLang="en-US" sz="1000" b="1" i="0" u="none" strike="noStrike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제개정내용</a:t>
                      </a:r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작성자</a:t>
                      </a:r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승인자 및 관련근거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2025.11.03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0.1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서식 작성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신미영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2026.03.16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0.3.2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서식 수정</a:t>
                      </a:r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김민재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2026.04.23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0.4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1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차 작성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김영수</a:t>
                      </a: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, 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권순태</a:t>
                      </a: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2026.06.16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0.4.1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설계단계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 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작성 완료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김영수</a:t>
                      </a: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, 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권순태</a:t>
                      </a: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2026.06.16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설계단계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 내부 검토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김영수</a:t>
                      </a: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, 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권순태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2026.06.17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0.6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설계단계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 </a:t>
                      </a: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PL 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검토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u="none" strike="noStrike" kern="1200" dirty="0" err="1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황종서</a:t>
                      </a: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2026.06.17</a:t>
                      </a:r>
                    </a:p>
                  </a:txBody>
                  <a:tcPr marL="53975" marR="53975" marT="53975" marB="53975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0.7</a:t>
                      </a: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품질 검토</a:t>
                      </a:r>
                    </a:p>
                  </a:txBody>
                  <a:tcPr marL="53975" marR="53975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김민재</a:t>
                      </a: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2026.06.18</a:t>
                      </a:r>
                    </a:p>
                  </a:txBody>
                  <a:tcPr marL="53975" marR="53975" marT="53975" marB="53975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0.8</a:t>
                      </a: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PM 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검토</a:t>
                      </a: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박재욱</a:t>
                      </a: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2026.06.18</a:t>
                      </a:r>
                    </a:p>
                  </a:txBody>
                  <a:tcPr marL="53975" marR="53975" marT="53975" marB="53975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0.9</a:t>
                      </a: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PMO 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검토 및 </a:t>
                      </a: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TF 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검토요청</a:t>
                      </a: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김민재</a:t>
                      </a: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3331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641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8493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21598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13949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5498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71921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3</a:t>
            </a:fld>
            <a:endParaRPr lang="ko-KR" altLang="en-US"/>
          </a:p>
        </p:txBody>
      </p:sp>
      <p:sp>
        <p:nvSpPr>
          <p:cNvPr id="7" name="텍스트 개체 틀 15">
            <a:extLst>
              <a:ext uri="{FF2B5EF4-FFF2-40B4-BE49-F238E27FC236}">
                <a16:creationId xmlns:a16="http://schemas.microsoft.com/office/drawing/2014/main" id="{74E68DA1-2E20-231A-31AD-28EAC2F24FE9}"/>
              </a:ext>
            </a:extLst>
          </p:cNvPr>
          <p:cNvSpPr txBox="1">
            <a:spLocks/>
          </p:cNvSpPr>
          <p:nvPr/>
        </p:nvSpPr>
        <p:spPr>
          <a:xfrm>
            <a:off x="2250485" y="959912"/>
            <a:ext cx="5400000" cy="417890"/>
          </a:xfrm>
          <a:prstGeom prst="rect">
            <a:avLst/>
          </a:prstGeom>
        </p:spPr>
        <p:txBody>
          <a:bodyPr anchor="ctr"/>
          <a:lstStyle>
            <a:lvl1pPr marL="0" indent="0" algn="ct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신구 변경 </a:t>
            </a:r>
            <a:r>
              <a:rPr lang="ko-KR" altLang="en-US" dirty="0" err="1"/>
              <a:t>내용표</a:t>
            </a:r>
            <a:endParaRPr lang="ko-KR" altLang="en-US" dirty="0"/>
          </a:p>
        </p:txBody>
      </p:sp>
      <p:graphicFrame>
        <p:nvGraphicFramePr>
          <p:cNvPr id="2" name="Group 759">
            <a:extLst>
              <a:ext uri="{FF2B5EF4-FFF2-40B4-BE49-F238E27FC236}">
                <a16:creationId xmlns:a16="http://schemas.microsoft.com/office/drawing/2014/main" id="{F55A7F85-0CCB-E3F1-ADC8-44D278CE1E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3303742"/>
              </p:ext>
            </p:extLst>
          </p:nvPr>
        </p:nvGraphicFramePr>
        <p:xfrm>
          <a:off x="652374" y="1416776"/>
          <a:ext cx="8782571" cy="491472"/>
        </p:xfrm>
        <a:graphic>
          <a:graphicData uri="http://schemas.openxmlformats.org/drawingml/2006/table">
            <a:tbl>
              <a:tblPr/>
              <a:tblGrid>
                <a:gridCol w="590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03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05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84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44489">
                  <a:extLst>
                    <a:ext uri="{9D8B030D-6E8A-4147-A177-3AD203B41FA5}">
                      <a16:colId xmlns:a16="http://schemas.microsoft.com/office/drawing/2014/main" val="3538833938"/>
                    </a:ext>
                  </a:extLst>
                </a:gridCol>
                <a:gridCol w="938150">
                  <a:extLst>
                    <a:ext uri="{9D8B030D-6E8A-4147-A177-3AD203B41FA5}">
                      <a16:colId xmlns:a16="http://schemas.microsoft.com/office/drawing/2014/main" val="392641555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순번</a:t>
                      </a:r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구버전</a:t>
                      </a:r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신버전</a:t>
                      </a:r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변경 항목</a:t>
                      </a:r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내용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1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78603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4</a:t>
            </a:fld>
            <a:endParaRPr lang="ko-KR" altLang="en-US"/>
          </a:p>
        </p:txBody>
      </p:sp>
      <p:sp>
        <p:nvSpPr>
          <p:cNvPr id="16" name="텍스트 개체 틀 15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목     차</a:t>
            </a:r>
          </a:p>
        </p:txBody>
      </p:sp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4960415"/>
              </p:ext>
            </p:extLst>
          </p:nvPr>
        </p:nvGraphicFramePr>
        <p:xfrm>
          <a:off x="988586" y="1265003"/>
          <a:ext cx="7926814" cy="510224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4197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7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02241"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1.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대금</a:t>
                      </a: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사후통합목록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1.1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화면 목록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1.2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화면 흐름도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1.3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앱 구성 다이어그램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1.4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Layout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4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4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5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6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7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96976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5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8" y="612000"/>
            <a:ext cx="8991601" cy="847274"/>
          </a:xfrm>
        </p:spPr>
        <p:txBody>
          <a:bodyPr anchor="t"/>
          <a:lstStyle/>
          <a:p>
            <a:r>
              <a:rPr lang="en-US" altLang="ko-KR" dirty="0"/>
              <a:t>1.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통합</a:t>
            </a:r>
            <a:r>
              <a:rPr lang="ko-KR" altLang="en-US" dirty="0"/>
              <a:t> 목록</a:t>
            </a:r>
            <a:endParaRPr lang="en-US" altLang="ko-KR" dirty="0"/>
          </a:p>
          <a:p>
            <a:r>
              <a:rPr lang="en-US" altLang="ko-KR" dirty="0"/>
              <a:t>1.1 </a:t>
            </a:r>
            <a:r>
              <a:rPr lang="ko-KR" altLang="en-US" dirty="0"/>
              <a:t>화면 </a:t>
            </a:r>
            <a:r>
              <a:rPr lang="ko-KR" altLang="en-US" dirty="0" smtClean="0"/>
              <a:t>목록 </a:t>
            </a:r>
            <a:r>
              <a:rPr lang="en-US" altLang="ko-KR" dirty="0" smtClean="0"/>
              <a:t>(1/3)</a:t>
            </a:r>
            <a:endParaRPr lang="ko-KR" altLang="en-US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/>
          </p:nvPr>
        </p:nvGraphicFramePr>
        <p:xfrm>
          <a:off x="635474" y="1365204"/>
          <a:ext cx="8701200" cy="508318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77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582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웹페이지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MUI-WM-01-M01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</a:rPr>
                        <a:t>대금청구통합목록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PymtClmIntgListPage</a:t>
                      </a:r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선금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착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〮중도금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,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대금청구를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진행한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계약목록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조회 화면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wm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pymtClmIntgList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PymtClmIntgListPage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UC-WM-01-01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UC-WM-01-02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UC-WM-01-03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MUI-WM-01-P12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검색필터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대금청구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PymtClmIntgList_SrchFilter</a:t>
                      </a:r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상세 검색을 위한 검색 필터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wm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pymtClmIntgList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PymtClmIntgList_SrchFilter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UC-WM-01-01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UC-WM-01-02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UC-WM-01-03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032035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MUI-WM-01-M02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선금신청서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상세</a:t>
                      </a:r>
                      <a:endParaRPr lang="en-US" altLang="ko-KR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PrpayApfrDtlPage</a:t>
                      </a:r>
                      <a:endParaRPr lang="en-US" sz="800" b="0" i="0" u="none" strike="noStrike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계약당시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선급지급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조건에 따라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선급신청을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진행한 조회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wm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pymtClmIntgList</a:t>
                      </a:r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PrpayApfrDtlPage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UC-WM-01-01</a:t>
                      </a:r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632487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MUI-WM-01-T01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신청정보</a:t>
                      </a:r>
                      <a:endParaRPr lang="en-US" altLang="ko-KR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PrpayApfrDtl</a:t>
                      </a:r>
                      <a:endParaRPr lang="en-US" sz="800" b="0" i="0" u="none" strike="noStrike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선금신청서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상세 탭 화면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wm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pymtClmIntgList</a:t>
                      </a:r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PrpayApfrDtl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UC-WM-01-01</a:t>
                      </a:r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441198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MUI-WM-01-T02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세부신청내역</a:t>
                      </a:r>
                      <a:endParaRPr lang="en-US" altLang="ko-KR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PrpayApfrDtl_AplyDtsm</a:t>
                      </a:r>
                      <a:endParaRPr lang="en-US" sz="800" b="0" i="0" u="none" strike="noStrike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선금신청서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상세 탭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wm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pymtClmIntgList</a:t>
                      </a:r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PrpayApfrDtl_AplyDtsm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UC-WM-01-01</a:t>
                      </a:r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275711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MUI-WM-01-M03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착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.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중도금신청서 상세</a:t>
                      </a:r>
                      <a:endParaRPr lang="en-US" altLang="ko-KR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DpsmnItrpyApfrDtlPage</a:t>
                      </a:r>
                      <a:endParaRPr lang="en-US" sz="800" b="0" i="0" u="none" strike="noStrike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계약당시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지급조건에 따라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착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〮중도금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대금 신청을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진행한 조회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wm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dpsmnItrpyApfrDtl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DpsmnItrpyApfrDtlPage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UC-WM-01-02</a:t>
                      </a:r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7815931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MUI-WM-01-T03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신청정보</a:t>
                      </a:r>
                      <a:endParaRPr lang="en-US" altLang="ko-KR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DpsmnItrpyApfrDtl</a:t>
                      </a:r>
                      <a:endParaRPr lang="en-US" sz="800" b="0" i="0" u="none" strike="noStrike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착</a:t>
                      </a:r>
                      <a:r>
                        <a:rPr lang="en-US" altLang="ko-KR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.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중도금신청서 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상세 탭 화면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wm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dpsmnItrpyApfrDtl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DpsmnItrpyApfrDtl.tsx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UC-WM-01-02</a:t>
                      </a:r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195747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MUI-WM-01-T04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세부신청내역</a:t>
                      </a:r>
                      <a:endParaRPr lang="en-US" altLang="ko-KR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DpsmnItrpyApfrDtl_AplyDtsm</a:t>
                      </a:r>
                      <a:endParaRPr lang="en-US" sz="800" b="0" i="0" u="none" strike="noStrike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착</a:t>
                      </a:r>
                      <a:r>
                        <a:rPr lang="en-US" altLang="ko-KR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.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중도금신청서 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상세 탭 화면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wm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dpsmnItrpyApfrDtl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DpsmnItrpyApfrDtl</a:t>
                      </a:r>
                      <a:r>
                        <a:rPr lang="en-US" altLang="ko-KR" sz="8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_</a:t>
                      </a:r>
                      <a:r>
                        <a:rPr lang="en-US" altLang="ko-KR" sz="800" b="0" i="0" u="none" strike="noStrike" kern="1200" dirty="0" err="1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AplyDtsm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.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UC-WM-01-02</a:t>
                      </a:r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3756228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MUI-WM-01-P04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선금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착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.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중도금 지급 상태</a:t>
                      </a:r>
                      <a:endParaRPr lang="en-US" altLang="ko-KR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PrpayDpsmnItrpyGiveSttsPage</a:t>
                      </a:r>
                      <a:endParaRPr lang="ko-KR" altLang="en-US" sz="800" b="0" i="0" u="none" strike="noStrike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선금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착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〮중도금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지급 상태를 조회하는 팝업 화면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wm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prpayDpsmnItrpyGiveStts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PrpayDpsmnItrpyGiveStts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Page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UC-WM-01-03</a:t>
                      </a:r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366545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7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MUI-WM-01-M05</a:t>
                      </a:r>
                      <a:endParaRPr lang="en-US" sz="7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대금청구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상세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중앙조달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CenterPrcmPymtClmDtlPage</a:t>
                      </a:r>
                      <a:endParaRPr lang="en-US" sz="800" b="0" i="0" u="none" strike="noStrike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검사 및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납품조서를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확인하고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출납완료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된 검사 및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납품조서를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근거로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대금청구를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작성한 내역 조회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wm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centerPrcmPymtClmDtl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CenterPrcmPymtClmDtl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Page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UC-WM-01-03</a:t>
                      </a:r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1320861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MUI-WM-01-T05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계약정보</a:t>
                      </a:r>
                      <a:endParaRPr lang="en-US" altLang="ko-KR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CenterPrcmPymtClmDtl_Ctrt</a:t>
                      </a:r>
                      <a:endParaRPr lang="en-US" sz="800" b="0" i="0" u="none" strike="noStrike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대금청구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상세</a:t>
                      </a:r>
                      <a:r>
                        <a:rPr lang="en-US" altLang="ko-KR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중앙조달</a:t>
                      </a:r>
                      <a:r>
                        <a:rPr lang="en-US" altLang="ko-KR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탭 화면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wm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centerPrcmPymtClmDtl</a:t>
                      </a:r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CenterPrcmPymtClmDtl_Ctrt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UC-WM-01-03</a:t>
                      </a:r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5717416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MUI-WM-01-T06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공급자정보</a:t>
                      </a:r>
                      <a:endParaRPr lang="en-US" altLang="ko-KR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CenterPrcmPymtClmDtl_Splr</a:t>
                      </a:r>
                      <a:endParaRPr lang="en-US" sz="800" b="0" i="0" u="none" strike="noStrike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대금청구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상세</a:t>
                      </a:r>
                      <a:r>
                        <a:rPr lang="en-US" altLang="ko-KR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중앙조달</a:t>
                      </a:r>
                      <a:r>
                        <a:rPr lang="en-US" altLang="ko-KR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탭 화면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wm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centerPrcmPymtClmDtl</a:t>
                      </a:r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CenterPrcmPymtClmDtl_Splr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UC-WM-01-03</a:t>
                      </a:r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3140809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AD7ECE73-1C00-0BE7-EBF7-4F2FAD6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97519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311511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6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8" y="612000"/>
            <a:ext cx="8991601" cy="847274"/>
          </a:xfrm>
        </p:spPr>
        <p:txBody>
          <a:bodyPr anchor="t"/>
          <a:lstStyle/>
          <a:p>
            <a:r>
              <a:rPr lang="en-US" altLang="ko-KR" dirty="0"/>
              <a:t>1.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통합</a:t>
            </a:r>
            <a:r>
              <a:rPr lang="ko-KR" altLang="en-US" dirty="0"/>
              <a:t> 목록</a:t>
            </a:r>
            <a:endParaRPr lang="en-US" altLang="ko-KR" dirty="0"/>
          </a:p>
          <a:p>
            <a:r>
              <a:rPr lang="en-US" altLang="ko-KR" dirty="0"/>
              <a:t>1.1 </a:t>
            </a:r>
            <a:r>
              <a:rPr lang="ko-KR" altLang="en-US" dirty="0"/>
              <a:t>화면 </a:t>
            </a:r>
            <a:r>
              <a:rPr lang="ko-KR" altLang="en-US" dirty="0" smtClean="0"/>
              <a:t>목록 </a:t>
            </a:r>
            <a:r>
              <a:rPr lang="en-US" altLang="ko-KR" dirty="0" smtClean="0"/>
              <a:t>(2/3)</a:t>
            </a:r>
            <a:endParaRPr lang="ko-KR" altLang="en-US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/>
          </p:nvPr>
        </p:nvGraphicFramePr>
        <p:xfrm>
          <a:off x="635474" y="1365204"/>
          <a:ext cx="8701200" cy="501118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77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582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웹페이지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MUI-WM-01-T07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대금신청금액</a:t>
                      </a:r>
                      <a:endParaRPr lang="en-US" altLang="ko-KR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kern="120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CenterPrcmPymtClmDtl_Pymt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대금청구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상세</a:t>
                      </a:r>
                      <a:r>
                        <a:rPr lang="en-US" altLang="ko-KR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중앙조달</a:t>
                      </a:r>
                      <a:r>
                        <a:rPr lang="en-US" altLang="ko-KR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탭 화면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wm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centerPrcmPymtClmDtl</a:t>
                      </a:r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CenterPrcmPymtClmDtl_Pymt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UC-WM-01-03</a:t>
                      </a:r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38368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MUI-WM-01-T08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세금계산서</a:t>
                      </a:r>
                      <a:endParaRPr lang="en-US" altLang="ko-KR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CenterPrcmPymtClmDtl_Txiv</a:t>
                      </a:r>
                      <a:endParaRPr lang="en-US" sz="800" b="0" i="0" u="none" strike="noStrike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대금청구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상세</a:t>
                      </a:r>
                      <a:r>
                        <a:rPr lang="en-US" altLang="ko-KR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중앙조달</a:t>
                      </a:r>
                      <a:r>
                        <a:rPr lang="en-US" altLang="ko-KR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탭 화면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wm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centerPrcmPymtClmDtl</a:t>
                      </a:r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CenterPrcmPymtClmDtl_Txiv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UC-WM-01-03</a:t>
                      </a:r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003046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MUI-WM-01-M06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대금청구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부대조달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SbsdPrcmPymtClmDtl</a:t>
                      </a:r>
                      <a:r>
                        <a:rPr lang="en-US" altLang="ko-KR" sz="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Page</a:t>
                      </a:r>
                      <a:endParaRPr lang="en-US" sz="800" b="0" i="0" u="none" strike="noStrike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검사 및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납품조서를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확인하고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출납완료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된 검사 및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납품조서를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근거로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대금청구를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작성한 내역 조회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wm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sbsdPrcmPymtClmDtl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SbsdPrcmPymtClmDtlPage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UC-WM-01-03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440808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MUI-WM-01-T09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계약정보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SbsdPrcmPymtClmDtl_Ctrt</a:t>
                      </a:r>
                      <a:endParaRPr lang="en-US" sz="800" b="0" i="0" u="none" strike="noStrike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대금청구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부대조달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탭 화면</a:t>
                      </a:r>
                      <a:endParaRPr lang="en-US" altLang="ko-KR" sz="8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wm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sbsdPrcmPymtClmDtl</a:t>
                      </a:r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kern="1200" dirty="0" err="1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SbsdPrcmPymtClmDtl_Ctrt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UC-WM-01-03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1706727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MUI-WM-01-T10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대금신청업체정보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SbsdPrcmPymtClmDtl_PymtBzenty</a:t>
                      </a:r>
                      <a:endParaRPr lang="en-US" sz="800" b="0" i="0" u="none" strike="noStrike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대금청구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부대조달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탭 화면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wm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sbsdPrcmPymtClmDtl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b="0" i="0" u="none" strike="noStrike" kern="1200" dirty="0" err="1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SbsdPrcmPymtClmDtl_PymtBzenty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UC-WM-01-03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67871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MUI-WM-01-T11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대금신청금액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SbsdPrcmPymtClmDtl_PymtAply</a:t>
                      </a:r>
                      <a:endParaRPr lang="en-US" sz="800" b="0" i="0" u="none" strike="noStrike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대금청구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부대조달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탭 화면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wm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sbsdPrcmPymtClmDtl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b="0" i="0" u="none" strike="noStrike" kern="1200" dirty="0" err="1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SbsdPrcmPymtClmDtl_PymtAply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UC-WM-01-03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627330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MUI-WM-01-T12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첨부파일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SbsdPrcmPymtClmDtl_Atch</a:t>
                      </a:r>
                      <a:endParaRPr lang="en-US" sz="800" b="0" i="0" u="none" strike="noStrike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대금청구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부대조달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탭 화면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wm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sbsdPrcmPymtClmDtl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b="0" i="0" u="none" strike="noStrike" kern="1200" dirty="0" err="1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SbsdPrcmPymtClmDtl_Atch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UC-WM-01-03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794577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7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MUI-WM-01-M07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대금청구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CstrnPymtClmDtl</a:t>
                      </a:r>
                      <a:r>
                        <a:rPr lang="en-US" altLang="ko-KR" sz="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Page</a:t>
                      </a:r>
                      <a:endParaRPr lang="en-US" sz="800" b="0" i="0" u="none" strike="noStrike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검사 및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납품조서를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확인하고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출납완료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된 검사 및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납품조서를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근거로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대금청구를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작성한 내역 조회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wm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cstrnPymtClmDtl</a:t>
                      </a:r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CstrnPymtClmDtlPage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UC-WM-01-03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694996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MUI-WM-01-T13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계약정보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CstrnPymtClmDtl_Ctrt</a:t>
                      </a:r>
                      <a:endParaRPr lang="en-US" sz="800" b="0" i="0" u="none" strike="noStrike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대금청구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탭 화면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wm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cstrnPymtClmDtl</a:t>
                      </a:r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CstrnPymtClmDtl_Ctrt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UC-WM-01-03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221828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MUI-WM-01-T14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대가지급업체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CstrnPymtClmDtl_GiveBzenty</a:t>
                      </a:r>
                      <a:endParaRPr lang="en-US" sz="800" b="0" i="0" u="none" strike="noStrike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대금청구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탭 화면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wm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cstrnPymtClmDtl</a:t>
                      </a:r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CstrnPymtClmDtl_GiveBzenty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UC-WM-01-03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967708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MUI-WM-01-T15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첨부파일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CstrnPymtClmDtl_Atch</a:t>
                      </a:r>
                      <a:endParaRPr lang="en-US" sz="800" b="0" i="0" u="none" strike="noStrike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대금청구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탭 화면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wm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cstrnPymtClmDtl</a:t>
                      </a:r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CstrnPymtClmDtl_Atch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UC-WM-01-03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4574642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AD7ECE73-1C00-0BE7-EBF7-4F2FAD6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97519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344707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7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8" y="612000"/>
            <a:ext cx="8991601" cy="847274"/>
          </a:xfrm>
        </p:spPr>
        <p:txBody>
          <a:bodyPr anchor="t"/>
          <a:lstStyle/>
          <a:p>
            <a:r>
              <a:rPr lang="en-US" altLang="ko-KR" dirty="0"/>
              <a:t>1.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통합</a:t>
            </a:r>
            <a:r>
              <a:rPr lang="ko-KR" altLang="en-US" dirty="0"/>
              <a:t> 목록</a:t>
            </a:r>
            <a:endParaRPr lang="en-US" altLang="ko-KR" dirty="0"/>
          </a:p>
          <a:p>
            <a:r>
              <a:rPr lang="en-US" altLang="ko-KR" dirty="0"/>
              <a:t>1.1 </a:t>
            </a:r>
            <a:r>
              <a:rPr lang="ko-KR" altLang="en-US" dirty="0"/>
              <a:t>화면 </a:t>
            </a:r>
            <a:r>
              <a:rPr lang="ko-KR" altLang="en-US" dirty="0" smtClean="0"/>
              <a:t>목록 </a:t>
            </a:r>
            <a:r>
              <a:rPr lang="en-US" altLang="ko-KR" dirty="0" smtClean="0"/>
              <a:t>(3/3)</a:t>
            </a:r>
            <a:endParaRPr lang="ko-KR" altLang="en-US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/>
          </p:nvPr>
        </p:nvGraphicFramePr>
        <p:xfrm>
          <a:off x="635474" y="1365204"/>
          <a:ext cx="8701200" cy="389182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77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582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웹페이지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7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MUI-WM-01-M08</a:t>
                      </a:r>
                      <a:endParaRPr lang="en-US" sz="7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대금청구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기성대가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PxcndCstPymtClmDtl</a:t>
                      </a:r>
                      <a:r>
                        <a:rPr lang="en-US" altLang="ko-KR" sz="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Page</a:t>
                      </a:r>
                      <a:endParaRPr lang="en-US" sz="800" b="0" i="0" u="none" strike="noStrike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검사 및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납품조서를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확인하고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출납완료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된 검사 및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납품조서를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근거로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대금청구를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작성한 내역 조회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wm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pxcndCstPymtClmDtl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PxcndCstPymtClmDtlPage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UC-WM-01-03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397847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MUI-WM-01-T16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계약정보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PxcndCstPymtClmDtl_Ctrt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대금청구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기성대가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탭 화면</a:t>
                      </a:r>
                      <a:endParaRPr lang="en-US" altLang="ko-KR" sz="8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wm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pxcndCstPymtClmDtl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PxcndCstPymtClmDtl_Ctrt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UC-WM-01-03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4009698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MUI-WM-01-T17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기성대가신청금액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PxcndCstPymtClmDtl_PxcndPymt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대금청구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기성대가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탭 화면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wm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pxcndCstPymtClmDtl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PxcndCstPymtClmDtl_PxcndPymt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UC-WM-01-03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283006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MUI-WM-01-T18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세금계산서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PxcndCstPymtClmDtl_Txiv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대금청구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기성대가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탭 화면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wm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pxcndCstPymtClmDtl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PxcndCstPymtClmDtl_Txiv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UC-WM-01-03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902760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MUI-WM-01-T19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첨부파일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PxcndCstPymtClmDtl_Atch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대금청구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기성대가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탭 화면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wm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pxcndCstPymtClmDtl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PxcndCstPymtClmDtl_Atch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UC-WM-01-03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153175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7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MUI-WM-01-P09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대금청구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안내문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PymtClmGdntc</a:t>
                      </a:r>
                      <a:endParaRPr lang="en-US" sz="800" b="0" i="0" u="none" strike="noStrike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대금청구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안내문을 확인하는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wm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centerPrcmPymtClmDtl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PymtClmGdntc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UC-WM-01-03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578340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7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MUI-WM-01-M10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대금지불정보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반납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RtnPymtDfryInfoPage</a:t>
                      </a:r>
                      <a:endParaRPr lang="ko-KR" altLang="en-US" sz="800" b="0" i="0" u="none" strike="noStrike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조달업체에서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과지급된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대금에 대하여 반납해야하는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정보를 조회하는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wm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rtnPymtDfryInfo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RtnPymtDfryInfo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Page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UC-WM-01-05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180518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7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MUI-WM-01-P12</a:t>
                      </a:r>
                      <a:endParaRPr lang="en-US" altLang="ko-KR" sz="7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검색필터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대금지불정보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i="0" u="none" strike="noStrike" kern="1200" dirty="0" err="1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PymtClmIntgList_SrchFilter</a:t>
                      </a:r>
                      <a:endParaRPr lang="ko-KR" altLang="en-US" sz="800" b="0" i="0" u="none" strike="noStrike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상세 검색을 위한 검색 필터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wm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rtnPymtDfryInfo</a:t>
                      </a:r>
                      <a:r>
                        <a:rPr lang="en-US" altLang="ko-KR" sz="8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kern="1200" dirty="0" err="1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PymtClmIntgList_SrchFilter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UC-WM-01-05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907235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7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MUI-WM-01-M11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대금청구진행현황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PymtClmPrgrsPrstPage</a:t>
                      </a:r>
                      <a:endParaRPr lang="ko-KR" altLang="en-US" sz="800" b="0" i="0" u="none" strike="noStrike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대금청구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진행상태를 조회하는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wm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pymtClmPrgrsPrst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PymtClmPrgrsPrst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algn="l" latinLnBrk="1"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UC-WM-01-03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512742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AD7ECE73-1C00-0BE7-EBF7-4F2FAD6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97519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973641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8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1.2. </a:t>
            </a:r>
            <a:r>
              <a:rPr lang="ko-KR" altLang="en-US" dirty="0"/>
              <a:t>화면 흐름도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1071925" y="162896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대금</a:t>
            </a:r>
            <a:r>
              <a:rPr lang="en-US" altLang="ko-KR" sz="800" dirty="0">
                <a:solidFill>
                  <a:schemeClr val="tx1"/>
                </a:solidFill>
              </a:rPr>
              <a:t>/</a:t>
            </a:r>
            <a:r>
              <a:rPr lang="ko-KR" altLang="en-US" sz="800" dirty="0">
                <a:solidFill>
                  <a:schemeClr val="tx1"/>
                </a:solidFill>
              </a:rPr>
              <a:t>사후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통합목록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256C95A-5B12-C9E0-F2B5-BC9D5BAB5422}"/>
              </a:ext>
            </a:extLst>
          </p:cNvPr>
          <p:cNvGrpSpPr/>
          <p:nvPr/>
        </p:nvGrpSpPr>
        <p:grpSpPr>
          <a:xfrm>
            <a:off x="493266" y="1682964"/>
            <a:ext cx="237994" cy="316983"/>
            <a:chOff x="4762389" y="1663914"/>
            <a:chExt cx="237994" cy="316983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65003F43-FF09-9E6F-5743-EDAC953723CE}"/>
                </a:ext>
              </a:extLst>
            </p:cNvPr>
            <p:cNvSpPr/>
            <p:nvPr/>
          </p:nvSpPr>
          <p:spPr>
            <a:xfrm>
              <a:off x="4789249" y="1663914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89742BB0-8FB4-9410-125F-B3304E0DFFA4}"/>
                </a:ext>
              </a:extLst>
            </p:cNvPr>
            <p:cNvSpPr/>
            <p:nvPr/>
          </p:nvSpPr>
          <p:spPr>
            <a:xfrm>
              <a:off x="4762389" y="1857786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시작</a:t>
              </a:r>
            </a:p>
          </p:txBody>
        </p:sp>
      </p:grp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" idx="6"/>
            <a:endCxn id="6" idx="1"/>
          </p:cNvCxnSpPr>
          <p:nvPr/>
        </p:nvCxnSpPr>
        <p:spPr>
          <a:xfrm>
            <a:off x="700126" y="1772964"/>
            <a:ext cx="37179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617D047-5413-1F47-3FD7-CCCD3C0C98ED}"/>
              </a:ext>
            </a:extLst>
          </p:cNvPr>
          <p:cNvSpPr/>
          <p:nvPr/>
        </p:nvSpPr>
        <p:spPr>
          <a:xfrm>
            <a:off x="758775" y="1231161"/>
            <a:ext cx="586699" cy="153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목록</a:t>
            </a:r>
            <a:r>
              <a:rPr lang="en-US" altLang="ko-KR" sz="1000" b="1" dirty="0">
                <a:solidFill>
                  <a:schemeClr val="tx1"/>
                </a:solidFill>
              </a:rPr>
              <a:t> </a:t>
            </a:r>
            <a:r>
              <a:rPr lang="ko-KR" altLang="en-US" sz="1000" b="1" dirty="0">
                <a:solidFill>
                  <a:schemeClr val="tx1"/>
                </a:solidFill>
              </a:rPr>
              <a:t>작성</a:t>
            </a:r>
            <a:r>
              <a:rPr lang="en-US" altLang="ko-KR" sz="1000" b="1" dirty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6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64287" y="163098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 smtClean="0">
                <a:solidFill>
                  <a:schemeClr val="tx1"/>
                </a:solidFill>
              </a:rPr>
              <a:t>검색필터</a:t>
            </a:r>
            <a:r>
              <a:rPr lang="ko-KR" altLang="en-US" sz="800" dirty="0" smtClean="0">
                <a:solidFill>
                  <a:schemeClr val="tx1"/>
                </a:solidFill>
              </a:rPr>
              <a:t> </a:t>
            </a:r>
            <a:endParaRPr lang="en-US" altLang="ko-KR" sz="800" dirty="0" smtClean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 smtClean="0">
                <a:solidFill>
                  <a:schemeClr val="tx1"/>
                </a:solidFill>
              </a:rPr>
              <a:t>- </a:t>
            </a:r>
            <a:r>
              <a:rPr lang="ko-KR" altLang="en-US" sz="800" dirty="0" err="1">
                <a:solidFill>
                  <a:schemeClr val="tx1"/>
                </a:solidFill>
              </a:rPr>
              <a:t>대금청구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55" name="직사각형 154">
            <a:extLst>
              <a:ext uri="{FF2B5EF4-FFF2-40B4-BE49-F238E27FC236}">
                <a16:creationId xmlns:a16="http://schemas.microsoft.com/office/drawing/2014/main" id="{4FB9FCCA-B5F3-C0E2-F563-4F0CE0FC24CF}"/>
              </a:ext>
            </a:extLst>
          </p:cNvPr>
          <p:cNvSpPr/>
          <p:nvPr/>
        </p:nvSpPr>
        <p:spPr>
          <a:xfrm>
            <a:off x="9324838" y="2844413"/>
            <a:ext cx="23799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끝</a:t>
            </a:r>
          </a:p>
        </p:txBody>
      </p:sp>
      <p:grpSp>
        <p:nvGrpSpPr>
          <p:cNvPr id="157" name="그룹 156">
            <a:extLst>
              <a:ext uri="{FF2B5EF4-FFF2-40B4-BE49-F238E27FC236}">
                <a16:creationId xmlns:a16="http://schemas.microsoft.com/office/drawing/2014/main" id="{E7279F6C-9434-7961-8F6B-B7AE44CE5FCD}"/>
              </a:ext>
            </a:extLst>
          </p:cNvPr>
          <p:cNvGrpSpPr/>
          <p:nvPr/>
        </p:nvGrpSpPr>
        <p:grpSpPr>
          <a:xfrm>
            <a:off x="9353835" y="2636921"/>
            <a:ext cx="180000" cy="180000"/>
            <a:chOff x="5058274" y="2498299"/>
            <a:chExt cx="180000" cy="180000"/>
          </a:xfrm>
        </p:grpSpPr>
        <p:sp>
          <p:nvSpPr>
            <p:cNvPr id="158" name="타원 157">
              <a:extLst>
                <a:ext uri="{FF2B5EF4-FFF2-40B4-BE49-F238E27FC236}">
                  <a16:creationId xmlns:a16="http://schemas.microsoft.com/office/drawing/2014/main" id="{67DBC56A-CBCC-C3A1-2B65-581D8735D2FA}"/>
                </a:ext>
              </a:extLst>
            </p:cNvPr>
            <p:cNvSpPr/>
            <p:nvPr/>
          </p:nvSpPr>
          <p:spPr>
            <a:xfrm>
              <a:off x="5058274" y="2498299"/>
              <a:ext cx="180000" cy="180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9" name="타원 158">
              <a:extLst>
                <a:ext uri="{FF2B5EF4-FFF2-40B4-BE49-F238E27FC236}">
                  <a16:creationId xmlns:a16="http://schemas.microsoft.com/office/drawing/2014/main" id="{63C46758-AEBC-A78C-E468-C4FFF5E2B33D}"/>
                </a:ext>
              </a:extLst>
            </p:cNvPr>
            <p:cNvSpPr/>
            <p:nvPr/>
          </p:nvSpPr>
          <p:spPr>
            <a:xfrm>
              <a:off x="5094274" y="2534299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70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9" idx="0"/>
            <a:endCxn id="6" idx="0"/>
          </p:cNvCxnSpPr>
          <p:nvPr/>
        </p:nvCxnSpPr>
        <p:spPr>
          <a:xfrm rot="16200000" flipV="1">
            <a:off x="2167097" y="983793"/>
            <a:ext cx="2019" cy="1292362"/>
          </a:xfrm>
          <a:prstGeom prst="bentConnector3">
            <a:avLst>
              <a:gd name="adj1" fmla="val 1142243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직사각형 172">
            <a:extLst>
              <a:ext uri="{FF2B5EF4-FFF2-40B4-BE49-F238E27FC236}">
                <a16:creationId xmlns:a16="http://schemas.microsoft.com/office/drawing/2014/main" id="{23C86455-E84C-0CEA-5C6B-05BE50ADCEF5}"/>
              </a:ext>
            </a:extLst>
          </p:cNvPr>
          <p:cNvSpPr/>
          <p:nvPr/>
        </p:nvSpPr>
        <p:spPr>
          <a:xfrm>
            <a:off x="456237" y="1514853"/>
            <a:ext cx="307777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 dirty="0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6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64287" y="5602430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대금청구</a:t>
            </a:r>
            <a:r>
              <a:rPr lang="ko-KR" altLang="en-US" sz="800" dirty="0">
                <a:solidFill>
                  <a:schemeClr val="tx1"/>
                </a:solidFill>
              </a:rPr>
              <a:t> 안내문</a:t>
            </a:r>
          </a:p>
        </p:txBody>
      </p:sp>
      <p:cxnSp>
        <p:nvCxnSpPr>
          <p:cNvPr id="72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2"/>
            <a:endCxn id="66" idx="1"/>
          </p:cNvCxnSpPr>
          <p:nvPr/>
        </p:nvCxnSpPr>
        <p:spPr>
          <a:xfrm rot="16200000" flipH="1">
            <a:off x="28373" y="3410516"/>
            <a:ext cx="3829466" cy="84236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2"/>
            <a:endCxn id="113" idx="1"/>
          </p:cNvCxnSpPr>
          <p:nvPr/>
        </p:nvCxnSpPr>
        <p:spPr>
          <a:xfrm rot="16200000" flipH="1">
            <a:off x="750929" y="2687960"/>
            <a:ext cx="2272685" cy="73069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6" idx="3"/>
            <a:endCxn id="69" idx="1"/>
          </p:cNvCxnSpPr>
          <p:nvPr/>
        </p:nvCxnSpPr>
        <p:spPr>
          <a:xfrm>
            <a:off x="1971925" y="1772964"/>
            <a:ext cx="392362" cy="201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700970" y="738418"/>
            <a:ext cx="2245596" cy="708908"/>
          </a:xfrm>
          <a:prstGeom prst="roundRect">
            <a:avLst>
              <a:gd name="adj" fmla="val 5227"/>
            </a:avLst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ko-KR" altLang="en-US" sz="800" b="1" dirty="0">
                <a:solidFill>
                  <a:schemeClr val="tx1"/>
                </a:solidFill>
              </a:rPr>
              <a:t>선금신청서상세 </a:t>
            </a:r>
            <a:r>
              <a:rPr lang="ko-KR" altLang="en-US" sz="800" b="1" dirty="0" smtClean="0">
                <a:solidFill>
                  <a:schemeClr val="tx1"/>
                </a:solidFill>
              </a:rPr>
              <a:t>탭 목록</a:t>
            </a:r>
            <a:endParaRPr lang="ko-KR" altLang="en-US" sz="800" b="1" dirty="0">
              <a:solidFill>
                <a:schemeClr val="tx1"/>
              </a:solidFill>
            </a:endParaRPr>
          </a:p>
        </p:txBody>
      </p:sp>
      <p:sp>
        <p:nvSpPr>
          <p:cNvPr id="13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824629" y="99914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신청정보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3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919226" y="99914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세부신청내역</a:t>
            </a:r>
          </a:p>
        </p:txBody>
      </p:sp>
      <p:cxnSp>
        <p:nvCxnSpPr>
          <p:cNvPr id="141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01" idx="3"/>
            <a:endCxn id="140" idx="1"/>
          </p:cNvCxnSpPr>
          <p:nvPr/>
        </p:nvCxnSpPr>
        <p:spPr>
          <a:xfrm flipV="1">
            <a:off x="3264287" y="1092872"/>
            <a:ext cx="436683" cy="115035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8" name="그룹 87"/>
          <p:cNvGrpSpPr/>
          <p:nvPr/>
        </p:nvGrpSpPr>
        <p:grpSpPr>
          <a:xfrm>
            <a:off x="492190" y="5392498"/>
            <a:ext cx="1063310" cy="783216"/>
            <a:chOff x="492190" y="5392498"/>
            <a:chExt cx="1063310" cy="783216"/>
          </a:xfrm>
        </p:grpSpPr>
        <p:grpSp>
          <p:nvGrpSpPr>
            <p:cNvPr id="89" name="그룹 88"/>
            <p:cNvGrpSpPr/>
            <p:nvPr/>
          </p:nvGrpSpPr>
          <p:grpSpPr>
            <a:xfrm>
              <a:off x="492190" y="5624092"/>
              <a:ext cx="235869" cy="548293"/>
              <a:chOff x="669822" y="4927621"/>
              <a:chExt cx="912149" cy="1378059"/>
            </a:xfrm>
          </p:grpSpPr>
          <p:sp>
            <p:nvSpPr>
              <p:cNvPr id="94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5466998"/>
                <a:ext cx="899998" cy="288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5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4927621"/>
                <a:ext cx="899998" cy="28800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6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81971" y="6006377"/>
                <a:ext cx="900000" cy="299303"/>
              </a:xfrm>
              <a:prstGeom prst="roundRect">
                <a:avLst>
                  <a:gd name="adj" fmla="val 5227"/>
                </a:avLst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t"/>
              <a:lstStyle/>
              <a:p>
                <a:endParaRPr lang="ko-KR" altLang="en-US" sz="8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90" name="직사각형 89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499695" y="5392498"/>
              <a:ext cx="20518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범례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91" name="직사각형 90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617943"/>
              <a:ext cx="652423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err="1">
                  <a:solidFill>
                    <a:schemeClr val="tx1"/>
                  </a:solidFill>
                </a:rPr>
                <a:t>화면목록</a:t>
              </a:r>
              <a:r>
                <a:rPr lang="ko-KR" altLang="en-US" sz="800" dirty="0">
                  <a:solidFill>
                    <a:schemeClr val="tx1"/>
                  </a:solidFill>
                </a:rPr>
                <a:t> 항목</a:t>
              </a:r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834434"/>
              <a:ext cx="68929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흐름 참고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93" name="직사각형 92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6052603"/>
              <a:ext cx="72616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탭 등 그룹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</p:grpSp>
      <p:sp>
        <p:nvSpPr>
          <p:cNvPr id="97" name="직사각형 96">
            <a:extLst>
              <a:ext uri="{FF2B5EF4-FFF2-40B4-BE49-F238E27FC236}">
                <a16:creationId xmlns:a16="http://schemas.microsoft.com/office/drawing/2014/main" id="{7C1E8D88-E9A4-C688-7101-A25821FC8D9D}"/>
              </a:ext>
            </a:extLst>
          </p:cNvPr>
          <p:cNvSpPr/>
          <p:nvPr/>
        </p:nvSpPr>
        <p:spPr>
          <a:xfrm>
            <a:off x="749717" y="1026000"/>
            <a:ext cx="1946169" cy="184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200" dirty="0">
                <a:solidFill>
                  <a:schemeClr val="tx1"/>
                </a:solidFill>
              </a:rPr>
              <a:t>1.2.1 </a:t>
            </a:r>
            <a:r>
              <a:rPr lang="ko-KR" altLang="en-US" sz="1200" dirty="0" err="1">
                <a:solidFill>
                  <a:schemeClr val="tx1"/>
                </a:solidFill>
              </a:rPr>
              <a:t>대금상세</a:t>
            </a:r>
            <a:r>
              <a:rPr lang="ko-KR" altLang="en-US" sz="1200" dirty="0">
                <a:solidFill>
                  <a:schemeClr val="tx1"/>
                </a:solidFill>
              </a:rPr>
              <a:t> 정보 조회</a:t>
            </a:r>
          </a:p>
        </p:txBody>
      </p:sp>
      <p:sp>
        <p:nvSpPr>
          <p:cNvPr id="10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64287" y="209922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선금신청서상세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64287" y="2567461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착</a:t>
            </a:r>
            <a:r>
              <a:rPr lang="en-US" altLang="ko-KR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.</a:t>
            </a:r>
            <a:r>
              <a:rPr lang="ko-KR" altLang="en-US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중도금신청서상세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64287" y="351863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대금청구상세</a:t>
            </a:r>
            <a:endParaRPr lang="en-US" altLang="ko-KR" sz="800" dirty="0" smtClean="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algn="ctr"/>
            <a:r>
              <a:rPr lang="en-US" altLang="ko-KR" sz="800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(</a:t>
            </a:r>
            <a:r>
              <a:rPr lang="ko-KR" altLang="en-US" sz="8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중앙조달</a:t>
            </a:r>
            <a:r>
              <a:rPr lang="en-US" altLang="ko-KR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64287" y="3933771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대금청구상세</a:t>
            </a:r>
            <a:endParaRPr lang="en-US" altLang="ko-KR" sz="800" dirty="0" smtClean="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algn="ctr"/>
            <a:r>
              <a:rPr lang="en-US" altLang="ko-KR" sz="800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(</a:t>
            </a:r>
            <a:r>
              <a:rPr lang="ko-KR" altLang="en-US" sz="8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부대조달</a:t>
            </a:r>
            <a:r>
              <a:rPr lang="en-US" altLang="ko-KR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1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64287" y="4352571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대금청구상세</a:t>
            </a:r>
            <a:endParaRPr lang="en-US" altLang="ko-KR" sz="800" dirty="0" smtClean="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algn="ctr"/>
            <a:r>
              <a:rPr lang="en-US" altLang="ko-KR" sz="800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(</a:t>
            </a:r>
            <a:r>
              <a:rPr lang="ko-KR" altLang="en-US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공사</a:t>
            </a:r>
            <a:r>
              <a:rPr lang="en-US" altLang="ko-KR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1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64287" y="4770870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대금청구상세</a:t>
            </a:r>
            <a:endParaRPr lang="en-US" altLang="ko-KR" sz="800" dirty="0" smtClean="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algn="ctr"/>
            <a:r>
              <a:rPr lang="en-US" altLang="ko-KR" sz="800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(</a:t>
            </a:r>
            <a:r>
              <a:rPr lang="ko-KR" altLang="en-US" sz="8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기성대가</a:t>
            </a:r>
            <a:r>
              <a:rPr lang="en-US" altLang="ko-KR" sz="800" dirty="0">
                <a:solidFill>
                  <a:srgbClr val="000000"/>
                </a:solidFill>
                <a:latin typeface="맑은 고딕" panose="020B0503020000020004" pitchFamily="50" charset="-127"/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1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252617" y="3255546"/>
            <a:ext cx="1125417" cy="1868206"/>
          </a:xfrm>
          <a:prstGeom prst="roundRect">
            <a:avLst>
              <a:gd name="adj" fmla="val 5227"/>
            </a:avLst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ko-KR" altLang="en-US" sz="800" b="1" dirty="0" smtClean="0">
                <a:solidFill>
                  <a:schemeClr val="tx1"/>
                </a:solidFill>
              </a:rPr>
              <a:t>계약에 따른 분기</a:t>
            </a:r>
            <a:endParaRPr lang="ko-KR" altLang="en-US" sz="800" b="1" dirty="0">
              <a:solidFill>
                <a:schemeClr val="tx1"/>
              </a:solidFill>
            </a:endParaRPr>
          </a:p>
        </p:txBody>
      </p:sp>
      <p:sp>
        <p:nvSpPr>
          <p:cNvPr id="12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830926" y="1575622"/>
            <a:ext cx="2245596" cy="708908"/>
          </a:xfrm>
          <a:prstGeom prst="roundRect">
            <a:avLst>
              <a:gd name="adj" fmla="val 5227"/>
            </a:avLst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ko-KR" altLang="en-US" sz="800" b="1" dirty="0" smtClean="0">
                <a:solidFill>
                  <a:schemeClr val="tx1"/>
                </a:solidFill>
              </a:rPr>
              <a:t>착</a:t>
            </a:r>
            <a:r>
              <a:rPr lang="en-US" altLang="ko-KR" sz="800" b="1" dirty="0" smtClean="0">
                <a:solidFill>
                  <a:schemeClr val="tx1"/>
                </a:solidFill>
              </a:rPr>
              <a:t>.</a:t>
            </a:r>
            <a:r>
              <a:rPr lang="ko-KR" altLang="en-US" sz="800" b="1" dirty="0" smtClean="0">
                <a:solidFill>
                  <a:schemeClr val="tx1"/>
                </a:solidFill>
              </a:rPr>
              <a:t>중도금신청서상세 탭 목록</a:t>
            </a:r>
            <a:endParaRPr lang="ko-KR" altLang="en-US" sz="800" b="1" dirty="0">
              <a:solidFill>
                <a:schemeClr val="tx1"/>
              </a:solidFill>
            </a:endParaRPr>
          </a:p>
        </p:txBody>
      </p:sp>
      <p:sp>
        <p:nvSpPr>
          <p:cNvPr id="135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954585" y="183634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신청정보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3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049182" y="183634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세부신청내역</a:t>
            </a:r>
          </a:p>
        </p:txBody>
      </p:sp>
      <p:cxnSp>
        <p:nvCxnSpPr>
          <p:cNvPr id="13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04" idx="3"/>
            <a:endCxn id="129" idx="1"/>
          </p:cNvCxnSpPr>
          <p:nvPr/>
        </p:nvCxnSpPr>
        <p:spPr>
          <a:xfrm flipV="1">
            <a:off x="3264287" y="1930076"/>
            <a:ext cx="566639" cy="78138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832781" y="2412826"/>
            <a:ext cx="4373762" cy="710660"/>
          </a:xfrm>
          <a:prstGeom prst="roundRect">
            <a:avLst>
              <a:gd name="adj" fmla="val 5227"/>
            </a:avLst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ko-KR" altLang="en-US" sz="800" b="1" dirty="0">
                <a:solidFill>
                  <a:schemeClr val="tx1"/>
                </a:solidFill>
              </a:rPr>
              <a:t>대금청구상세</a:t>
            </a:r>
            <a:r>
              <a:rPr lang="en-US" altLang="ko-KR" sz="800" b="1" dirty="0">
                <a:solidFill>
                  <a:schemeClr val="tx1"/>
                </a:solidFill>
              </a:rPr>
              <a:t>(</a:t>
            </a:r>
            <a:r>
              <a:rPr lang="ko-KR" altLang="en-US" sz="800" b="1" dirty="0" err="1">
                <a:solidFill>
                  <a:schemeClr val="tx1"/>
                </a:solidFill>
              </a:rPr>
              <a:t>중앙조달</a:t>
            </a:r>
            <a:r>
              <a:rPr lang="en-US" altLang="ko-KR" sz="800" b="1" dirty="0">
                <a:solidFill>
                  <a:schemeClr val="tx1"/>
                </a:solidFill>
              </a:rPr>
              <a:t>)</a:t>
            </a:r>
            <a:r>
              <a:rPr lang="ko-KR" altLang="en-US" sz="800" b="1" dirty="0" smtClean="0">
                <a:solidFill>
                  <a:schemeClr val="tx1"/>
                </a:solidFill>
              </a:rPr>
              <a:t> 탭 목록</a:t>
            </a:r>
            <a:endParaRPr lang="ko-KR" altLang="en-US" sz="800" b="1" dirty="0">
              <a:solidFill>
                <a:schemeClr val="tx1"/>
              </a:solidFill>
            </a:endParaRPr>
          </a:p>
        </p:txBody>
      </p:sp>
      <p:sp>
        <p:nvSpPr>
          <p:cNvPr id="14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956440" y="267355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계약정보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4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051037" y="267355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공급자정보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45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335740" y="183634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선금</a:t>
            </a:r>
            <a:r>
              <a:rPr lang="en-US" altLang="ko-KR" sz="800" dirty="0">
                <a:solidFill>
                  <a:schemeClr val="tx1"/>
                </a:solidFill>
              </a:rPr>
              <a:t>/</a:t>
            </a:r>
            <a:r>
              <a:rPr lang="ko-KR" altLang="en-US" sz="800" dirty="0">
                <a:solidFill>
                  <a:schemeClr val="tx1"/>
                </a:solidFill>
              </a:rPr>
              <a:t>착</a:t>
            </a:r>
            <a:r>
              <a:rPr lang="en-US" altLang="ko-KR" sz="800" dirty="0">
                <a:solidFill>
                  <a:schemeClr val="tx1"/>
                </a:solidFill>
              </a:rPr>
              <a:t>.</a:t>
            </a:r>
            <a:r>
              <a:rPr lang="ko-KR" altLang="en-US" sz="800" dirty="0" smtClean="0">
                <a:solidFill>
                  <a:schemeClr val="tx1"/>
                </a:solidFill>
              </a:rPr>
              <a:t>중도금</a:t>
            </a:r>
            <a:endParaRPr lang="en-US" altLang="ko-KR" sz="800" dirty="0" smtClean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 err="1" smtClean="0">
                <a:solidFill>
                  <a:schemeClr val="tx1"/>
                </a:solidFill>
              </a:rPr>
              <a:t>지급상태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4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29" idx="3"/>
            <a:endCxn id="145" idx="1"/>
          </p:cNvCxnSpPr>
          <p:nvPr/>
        </p:nvCxnSpPr>
        <p:spPr>
          <a:xfrm>
            <a:off x="6076522" y="1930076"/>
            <a:ext cx="1259218" cy="50272"/>
          </a:xfrm>
          <a:prstGeom prst="bentConnector3">
            <a:avLst>
              <a:gd name="adj1" fmla="val 4446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119339" y="267355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대금신청금액</a:t>
            </a:r>
          </a:p>
        </p:txBody>
      </p:sp>
      <p:sp>
        <p:nvSpPr>
          <p:cNvPr id="14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213936" y="267355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세금계산서</a:t>
            </a:r>
          </a:p>
        </p:txBody>
      </p:sp>
      <p:cxnSp>
        <p:nvCxnSpPr>
          <p:cNvPr id="150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07" idx="3"/>
            <a:endCxn id="139" idx="1"/>
          </p:cNvCxnSpPr>
          <p:nvPr/>
        </p:nvCxnSpPr>
        <p:spPr>
          <a:xfrm flipV="1">
            <a:off x="3264287" y="2768156"/>
            <a:ext cx="568494" cy="894483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958383" y="3255546"/>
            <a:ext cx="4373762" cy="703132"/>
          </a:xfrm>
          <a:prstGeom prst="roundRect">
            <a:avLst>
              <a:gd name="adj" fmla="val 5227"/>
            </a:avLst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ko-KR" altLang="en-US" sz="800" b="1" dirty="0">
                <a:solidFill>
                  <a:schemeClr val="tx1"/>
                </a:solidFill>
              </a:rPr>
              <a:t>대금청구상세</a:t>
            </a:r>
            <a:r>
              <a:rPr lang="en-US" altLang="ko-KR" sz="800" b="1" dirty="0">
                <a:solidFill>
                  <a:schemeClr val="tx1"/>
                </a:solidFill>
              </a:rPr>
              <a:t>(</a:t>
            </a:r>
            <a:r>
              <a:rPr lang="ko-KR" altLang="en-US" sz="800" b="1" dirty="0" err="1">
                <a:solidFill>
                  <a:schemeClr val="tx1"/>
                </a:solidFill>
              </a:rPr>
              <a:t>부대조달</a:t>
            </a:r>
            <a:r>
              <a:rPr lang="en-US" altLang="ko-KR" sz="800" b="1" dirty="0" smtClean="0">
                <a:solidFill>
                  <a:schemeClr val="tx1"/>
                </a:solidFill>
              </a:rPr>
              <a:t>) </a:t>
            </a:r>
            <a:r>
              <a:rPr lang="ko-KR" altLang="en-US" sz="800" b="1" dirty="0" smtClean="0">
                <a:solidFill>
                  <a:schemeClr val="tx1"/>
                </a:solidFill>
              </a:rPr>
              <a:t>탭 목록</a:t>
            </a:r>
            <a:endParaRPr lang="ko-KR" altLang="en-US" sz="800" b="1" dirty="0">
              <a:solidFill>
                <a:schemeClr val="tx1"/>
              </a:solidFill>
            </a:endParaRPr>
          </a:p>
        </p:txBody>
      </p:sp>
      <p:sp>
        <p:nvSpPr>
          <p:cNvPr id="15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082042" y="351627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계약정보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5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176639" y="351627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대금신청업체</a:t>
            </a:r>
            <a:endParaRPr lang="en-US" altLang="ko-KR" sz="800" dirty="0" smtClean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정보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5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244941" y="351627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대금신청금액</a:t>
            </a:r>
          </a:p>
        </p:txBody>
      </p:sp>
      <p:sp>
        <p:nvSpPr>
          <p:cNvPr id="15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339538" y="351627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첨부파일</a:t>
            </a:r>
          </a:p>
        </p:txBody>
      </p:sp>
      <p:cxnSp>
        <p:nvCxnSpPr>
          <p:cNvPr id="160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09" idx="3"/>
            <a:endCxn id="151" idx="1"/>
          </p:cNvCxnSpPr>
          <p:nvPr/>
        </p:nvCxnSpPr>
        <p:spPr>
          <a:xfrm flipV="1">
            <a:off x="3264287" y="3607112"/>
            <a:ext cx="694096" cy="47065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832919" y="4088726"/>
            <a:ext cx="3340194" cy="708908"/>
          </a:xfrm>
          <a:prstGeom prst="roundRect">
            <a:avLst>
              <a:gd name="adj" fmla="val 5227"/>
            </a:avLst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ko-KR" altLang="en-US" sz="800" b="1" dirty="0">
                <a:solidFill>
                  <a:schemeClr val="tx1"/>
                </a:solidFill>
              </a:rPr>
              <a:t>대금청구상세</a:t>
            </a:r>
            <a:r>
              <a:rPr lang="en-US" altLang="ko-KR" sz="800" b="1" dirty="0">
                <a:solidFill>
                  <a:schemeClr val="tx1"/>
                </a:solidFill>
              </a:rPr>
              <a:t>(</a:t>
            </a:r>
            <a:r>
              <a:rPr lang="ko-KR" altLang="en-US" sz="800" b="1" dirty="0">
                <a:solidFill>
                  <a:schemeClr val="tx1"/>
                </a:solidFill>
              </a:rPr>
              <a:t>공사</a:t>
            </a:r>
            <a:r>
              <a:rPr lang="en-US" altLang="ko-KR" sz="800" b="1" dirty="0" smtClean="0">
                <a:solidFill>
                  <a:schemeClr val="tx1"/>
                </a:solidFill>
              </a:rPr>
              <a:t>) </a:t>
            </a:r>
            <a:r>
              <a:rPr lang="ko-KR" altLang="en-US" sz="800" b="1" dirty="0" smtClean="0">
                <a:solidFill>
                  <a:schemeClr val="tx1"/>
                </a:solidFill>
              </a:rPr>
              <a:t>탭 목록</a:t>
            </a:r>
            <a:endParaRPr lang="ko-KR" altLang="en-US" sz="800" b="1" dirty="0">
              <a:solidFill>
                <a:schemeClr val="tx1"/>
              </a:solidFill>
            </a:endParaRPr>
          </a:p>
        </p:txBody>
      </p:sp>
      <p:sp>
        <p:nvSpPr>
          <p:cNvPr id="16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956579" y="434945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계약정보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6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051176" y="434945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대가지급업체</a:t>
            </a:r>
          </a:p>
        </p:txBody>
      </p:sp>
      <p:sp>
        <p:nvSpPr>
          <p:cNvPr id="17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145773" y="434945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첨부파일</a:t>
            </a:r>
          </a:p>
        </p:txBody>
      </p:sp>
      <p:cxnSp>
        <p:nvCxnSpPr>
          <p:cNvPr id="172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10" idx="3"/>
            <a:endCxn id="162" idx="1"/>
          </p:cNvCxnSpPr>
          <p:nvPr/>
        </p:nvCxnSpPr>
        <p:spPr>
          <a:xfrm flipV="1">
            <a:off x="3264287" y="4443180"/>
            <a:ext cx="568632" cy="5339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819084" y="4962285"/>
            <a:ext cx="4373762" cy="703132"/>
          </a:xfrm>
          <a:prstGeom prst="roundRect">
            <a:avLst>
              <a:gd name="adj" fmla="val 5227"/>
            </a:avLst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ko-KR" altLang="en-US" sz="800" b="1" dirty="0">
                <a:solidFill>
                  <a:schemeClr val="tx1"/>
                </a:solidFill>
              </a:rPr>
              <a:t>대금청구상세</a:t>
            </a:r>
            <a:r>
              <a:rPr lang="en-US" altLang="ko-KR" sz="800" b="1" dirty="0">
                <a:solidFill>
                  <a:schemeClr val="tx1"/>
                </a:solidFill>
              </a:rPr>
              <a:t>(</a:t>
            </a:r>
            <a:r>
              <a:rPr lang="ko-KR" altLang="en-US" sz="800" b="1" dirty="0" err="1">
                <a:solidFill>
                  <a:schemeClr val="tx1"/>
                </a:solidFill>
              </a:rPr>
              <a:t>기성대가</a:t>
            </a:r>
            <a:r>
              <a:rPr lang="en-US" altLang="ko-KR" sz="800" b="1" dirty="0" smtClean="0">
                <a:solidFill>
                  <a:schemeClr val="tx1"/>
                </a:solidFill>
              </a:rPr>
              <a:t>) </a:t>
            </a:r>
            <a:r>
              <a:rPr lang="ko-KR" altLang="en-US" sz="800" b="1" dirty="0" smtClean="0">
                <a:solidFill>
                  <a:schemeClr val="tx1"/>
                </a:solidFill>
              </a:rPr>
              <a:t>탭 목록</a:t>
            </a:r>
            <a:endParaRPr lang="ko-KR" altLang="en-US" sz="800" b="1" dirty="0">
              <a:solidFill>
                <a:schemeClr val="tx1"/>
              </a:solidFill>
            </a:endParaRPr>
          </a:p>
        </p:txBody>
      </p:sp>
      <p:sp>
        <p:nvSpPr>
          <p:cNvPr id="17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942743" y="5223011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계약정보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7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037340" y="5223011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 smtClean="0">
                <a:solidFill>
                  <a:schemeClr val="tx1"/>
                </a:solidFill>
              </a:rPr>
              <a:t>기성대가</a:t>
            </a:r>
            <a:endParaRPr lang="en-US" altLang="ko-KR" sz="800" dirty="0" smtClean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신청금액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8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105642" y="5223011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세금계산서</a:t>
            </a:r>
          </a:p>
        </p:txBody>
      </p:sp>
      <p:sp>
        <p:nvSpPr>
          <p:cNvPr id="18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200239" y="5223011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첨부파일</a:t>
            </a:r>
          </a:p>
        </p:txBody>
      </p:sp>
      <p:cxnSp>
        <p:nvCxnSpPr>
          <p:cNvPr id="18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12" idx="3"/>
            <a:endCxn id="177" idx="1"/>
          </p:cNvCxnSpPr>
          <p:nvPr/>
        </p:nvCxnSpPr>
        <p:spPr>
          <a:xfrm>
            <a:off x="3264287" y="4914870"/>
            <a:ext cx="554797" cy="39898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6" idx="3"/>
            <a:endCxn id="155" idx="2"/>
          </p:cNvCxnSpPr>
          <p:nvPr/>
        </p:nvCxnSpPr>
        <p:spPr>
          <a:xfrm flipV="1">
            <a:off x="3264287" y="2967524"/>
            <a:ext cx="6179548" cy="2778906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77" idx="3"/>
            <a:endCxn id="155" idx="2"/>
          </p:cNvCxnSpPr>
          <p:nvPr/>
        </p:nvCxnSpPr>
        <p:spPr>
          <a:xfrm flipV="1">
            <a:off x="8192846" y="2967524"/>
            <a:ext cx="1250989" cy="234632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62" idx="3"/>
            <a:endCxn id="155" idx="2"/>
          </p:cNvCxnSpPr>
          <p:nvPr/>
        </p:nvCxnSpPr>
        <p:spPr>
          <a:xfrm flipV="1">
            <a:off x="7173113" y="2967524"/>
            <a:ext cx="2270722" cy="1475656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45" idx="3"/>
            <a:endCxn id="158" idx="0"/>
          </p:cNvCxnSpPr>
          <p:nvPr/>
        </p:nvCxnSpPr>
        <p:spPr>
          <a:xfrm>
            <a:off x="8235740" y="1980348"/>
            <a:ext cx="1208095" cy="656573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40" idx="3"/>
            <a:endCxn id="145" idx="1"/>
          </p:cNvCxnSpPr>
          <p:nvPr/>
        </p:nvCxnSpPr>
        <p:spPr>
          <a:xfrm>
            <a:off x="5946566" y="1092872"/>
            <a:ext cx="1389174" cy="88747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39" idx="3"/>
            <a:endCxn id="158" idx="2"/>
          </p:cNvCxnSpPr>
          <p:nvPr/>
        </p:nvCxnSpPr>
        <p:spPr>
          <a:xfrm flipV="1">
            <a:off x="8206543" y="2726921"/>
            <a:ext cx="1147292" cy="4123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51" idx="3"/>
            <a:endCxn id="155" idx="2"/>
          </p:cNvCxnSpPr>
          <p:nvPr/>
        </p:nvCxnSpPr>
        <p:spPr>
          <a:xfrm flipV="1">
            <a:off x="8332145" y="2967524"/>
            <a:ext cx="1111690" cy="639588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2"/>
            <a:endCxn id="101" idx="1"/>
          </p:cNvCxnSpPr>
          <p:nvPr/>
        </p:nvCxnSpPr>
        <p:spPr>
          <a:xfrm rot="16200000" flipH="1">
            <a:off x="1779977" y="1658912"/>
            <a:ext cx="326258" cy="84236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2"/>
            <a:endCxn id="104" idx="1"/>
          </p:cNvCxnSpPr>
          <p:nvPr/>
        </p:nvCxnSpPr>
        <p:spPr>
          <a:xfrm rot="16200000" flipH="1">
            <a:off x="1545858" y="1893031"/>
            <a:ext cx="794497" cy="84236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80456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1.2. </a:t>
            </a:r>
            <a:r>
              <a:rPr lang="ko-KR" altLang="en-US" dirty="0"/>
              <a:t>화면 흐름도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617D047-5413-1F47-3FD7-CCCD3C0C98ED}"/>
              </a:ext>
            </a:extLst>
          </p:cNvPr>
          <p:cNvSpPr/>
          <p:nvPr/>
        </p:nvSpPr>
        <p:spPr>
          <a:xfrm>
            <a:off x="758775" y="1231161"/>
            <a:ext cx="586699" cy="153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목록</a:t>
            </a:r>
            <a:r>
              <a:rPr lang="en-US" altLang="ko-KR" sz="1000" b="1" dirty="0">
                <a:solidFill>
                  <a:schemeClr val="tx1"/>
                </a:solidFill>
              </a:rPr>
              <a:t> </a:t>
            </a:r>
            <a:r>
              <a:rPr lang="ko-KR" altLang="en-US" sz="1000" b="1" dirty="0">
                <a:solidFill>
                  <a:schemeClr val="tx1"/>
                </a:solidFill>
              </a:rPr>
              <a:t>작성</a:t>
            </a:r>
            <a:r>
              <a:rPr lang="en-US" altLang="ko-KR" sz="1000" b="1" dirty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grpSp>
        <p:nvGrpSpPr>
          <p:cNvPr id="88" name="그룹 87"/>
          <p:cNvGrpSpPr/>
          <p:nvPr/>
        </p:nvGrpSpPr>
        <p:grpSpPr>
          <a:xfrm>
            <a:off x="492190" y="5392498"/>
            <a:ext cx="1063310" cy="783216"/>
            <a:chOff x="492190" y="5392498"/>
            <a:chExt cx="1063310" cy="783216"/>
          </a:xfrm>
        </p:grpSpPr>
        <p:grpSp>
          <p:nvGrpSpPr>
            <p:cNvPr id="89" name="그룹 88"/>
            <p:cNvGrpSpPr/>
            <p:nvPr/>
          </p:nvGrpSpPr>
          <p:grpSpPr>
            <a:xfrm>
              <a:off x="492190" y="5624092"/>
              <a:ext cx="235869" cy="548293"/>
              <a:chOff x="669822" y="4927621"/>
              <a:chExt cx="912149" cy="1378059"/>
            </a:xfrm>
          </p:grpSpPr>
          <p:sp>
            <p:nvSpPr>
              <p:cNvPr id="94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5466998"/>
                <a:ext cx="899998" cy="288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5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4927621"/>
                <a:ext cx="899998" cy="28800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6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81971" y="6006377"/>
                <a:ext cx="900000" cy="299303"/>
              </a:xfrm>
              <a:prstGeom prst="roundRect">
                <a:avLst>
                  <a:gd name="adj" fmla="val 5227"/>
                </a:avLst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t"/>
              <a:lstStyle/>
              <a:p>
                <a:endParaRPr lang="ko-KR" altLang="en-US" sz="8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90" name="직사각형 89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499695" y="5392498"/>
              <a:ext cx="20518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범례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91" name="직사각형 90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617943"/>
              <a:ext cx="652423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err="1">
                  <a:solidFill>
                    <a:schemeClr val="tx1"/>
                  </a:solidFill>
                </a:rPr>
                <a:t>화면목록</a:t>
              </a:r>
              <a:r>
                <a:rPr lang="ko-KR" altLang="en-US" sz="800" dirty="0">
                  <a:solidFill>
                    <a:schemeClr val="tx1"/>
                  </a:solidFill>
                </a:rPr>
                <a:t> 항목</a:t>
              </a:r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834434"/>
              <a:ext cx="68929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흐름 참고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93" name="직사각형 92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6052603"/>
              <a:ext cx="72616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탭 등 그룹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</p:grpSp>
      <p:sp>
        <p:nvSpPr>
          <p:cNvPr id="97" name="직사각형 96">
            <a:extLst>
              <a:ext uri="{FF2B5EF4-FFF2-40B4-BE49-F238E27FC236}">
                <a16:creationId xmlns:a16="http://schemas.microsoft.com/office/drawing/2014/main" id="{7C1E8D88-E9A4-C688-7101-A25821FC8D9D}"/>
              </a:ext>
            </a:extLst>
          </p:cNvPr>
          <p:cNvSpPr/>
          <p:nvPr/>
        </p:nvSpPr>
        <p:spPr>
          <a:xfrm>
            <a:off x="749717" y="1026000"/>
            <a:ext cx="1946169" cy="184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200" dirty="0" smtClean="0">
                <a:solidFill>
                  <a:schemeClr val="tx1"/>
                </a:solidFill>
              </a:rPr>
              <a:t>1.2.2 </a:t>
            </a:r>
            <a:r>
              <a:rPr lang="ko-KR" altLang="en-US" sz="1200" dirty="0" smtClean="0">
                <a:solidFill>
                  <a:schemeClr val="tx1"/>
                </a:solidFill>
              </a:rPr>
              <a:t>대금지불정보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256C95A-5B12-C9E0-F2B5-BC9D5BAB5422}"/>
              </a:ext>
            </a:extLst>
          </p:cNvPr>
          <p:cNvGrpSpPr/>
          <p:nvPr/>
        </p:nvGrpSpPr>
        <p:grpSpPr>
          <a:xfrm>
            <a:off x="2042420" y="2560195"/>
            <a:ext cx="237994" cy="316983"/>
            <a:chOff x="4762389" y="1663914"/>
            <a:chExt cx="237994" cy="316983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65003F43-FF09-9E6F-5743-EDAC953723CE}"/>
                </a:ext>
              </a:extLst>
            </p:cNvPr>
            <p:cNvSpPr/>
            <p:nvPr/>
          </p:nvSpPr>
          <p:spPr>
            <a:xfrm>
              <a:off x="4789249" y="1663914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89742BB0-8FB4-9410-125F-B3304E0DFFA4}"/>
                </a:ext>
              </a:extLst>
            </p:cNvPr>
            <p:cNvSpPr/>
            <p:nvPr/>
          </p:nvSpPr>
          <p:spPr>
            <a:xfrm>
              <a:off x="4762389" y="1857786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시작</a:t>
              </a:r>
            </a:p>
          </p:txBody>
        </p:sp>
      </p:grpSp>
      <p:sp>
        <p:nvSpPr>
          <p:cNvPr id="6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913441" y="250821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대금지불정보</a:t>
            </a:r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>
                <a:solidFill>
                  <a:schemeClr val="tx1"/>
                </a:solidFill>
              </a:rPr>
              <a:t>반납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155" name="직사각형 154">
            <a:extLst>
              <a:ext uri="{FF2B5EF4-FFF2-40B4-BE49-F238E27FC236}">
                <a16:creationId xmlns:a16="http://schemas.microsoft.com/office/drawing/2014/main" id="{4FB9FCCA-B5F3-C0E2-F563-4F0CE0FC24CF}"/>
              </a:ext>
            </a:extLst>
          </p:cNvPr>
          <p:cNvSpPr/>
          <p:nvPr/>
        </p:nvSpPr>
        <p:spPr>
          <a:xfrm>
            <a:off x="7662615" y="3350564"/>
            <a:ext cx="23799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끝</a:t>
            </a:r>
          </a:p>
        </p:txBody>
      </p:sp>
      <p:grpSp>
        <p:nvGrpSpPr>
          <p:cNvPr id="157" name="그룹 156">
            <a:extLst>
              <a:ext uri="{FF2B5EF4-FFF2-40B4-BE49-F238E27FC236}">
                <a16:creationId xmlns:a16="http://schemas.microsoft.com/office/drawing/2014/main" id="{E7279F6C-9434-7961-8F6B-B7AE44CE5FCD}"/>
              </a:ext>
            </a:extLst>
          </p:cNvPr>
          <p:cNvGrpSpPr/>
          <p:nvPr/>
        </p:nvGrpSpPr>
        <p:grpSpPr>
          <a:xfrm>
            <a:off x="7691612" y="3143072"/>
            <a:ext cx="180000" cy="180000"/>
            <a:chOff x="5058274" y="2498299"/>
            <a:chExt cx="180000" cy="180000"/>
          </a:xfrm>
        </p:grpSpPr>
        <p:sp>
          <p:nvSpPr>
            <p:cNvPr id="158" name="타원 157">
              <a:extLst>
                <a:ext uri="{FF2B5EF4-FFF2-40B4-BE49-F238E27FC236}">
                  <a16:creationId xmlns:a16="http://schemas.microsoft.com/office/drawing/2014/main" id="{67DBC56A-CBCC-C3A1-2B65-581D8735D2FA}"/>
                </a:ext>
              </a:extLst>
            </p:cNvPr>
            <p:cNvSpPr/>
            <p:nvPr/>
          </p:nvSpPr>
          <p:spPr>
            <a:xfrm>
              <a:off x="5058274" y="2498299"/>
              <a:ext cx="180000" cy="180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9" name="타원 158">
              <a:extLst>
                <a:ext uri="{FF2B5EF4-FFF2-40B4-BE49-F238E27FC236}">
                  <a16:creationId xmlns:a16="http://schemas.microsoft.com/office/drawing/2014/main" id="{63C46758-AEBC-A78C-E468-C4FFF5E2B33D}"/>
                </a:ext>
              </a:extLst>
            </p:cNvPr>
            <p:cNvSpPr/>
            <p:nvPr/>
          </p:nvSpPr>
          <p:spPr>
            <a:xfrm>
              <a:off x="5094274" y="2534299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73" name="직사각형 172">
            <a:extLst>
              <a:ext uri="{FF2B5EF4-FFF2-40B4-BE49-F238E27FC236}">
                <a16:creationId xmlns:a16="http://schemas.microsoft.com/office/drawing/2014/main" id="{23C86455-E84C-0CEA-5C6B-05BE50ADCEF5}"/>
              </a:ext>
            </a:extLst>
          </p:cNvPr>
          <p:cNvSpPr/>
          <p:nvPr/>
        </p:nvSpPr>
        <p:spPr>
          <a:xfrm>
            <a:off x="2005391" y="2392084"/>
            <a:ext cx="307777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 dirty="0">
                <a:solidFill>
                  <a:schemeClr val="tx1"/>
                </a:solidFill>
              </a:rPr>
              <a:t>사용자</a:t>
            </a:r>
          </a:p>
        </p:txBody>
      </p: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" idx="6"/>
            <a:endCxn id="69" idx="1"/>
          </p:cNvCxnSpPr>
          <p:nvPr/>
        </p:nvCxnSpPr>
        <p:spPr>
          <a:xfrm>
            <a:off x="2249280" y="2650195"/>
            <a:ext cx="1664161" cy="201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913441" y="3558227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  <a:latin typeface="+mn-ea"/>
              </a:rPr>
              <a:t>대금청구진행현황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35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503739" y="250821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 smtClean="0">
                <a:solidFill>
                  <a:schemeClr val="tx1"/>
                </a:solidFill>
              </a:rPr>
              <a:t>검색필터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221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35" idx="0"/>
            <a:endCxn id="69" idx="0"/>
          </p:cNvCxnSpPr>
          <p:nvPr/>
        </p:nvCxnSpPr>
        <p:spPr>
          <a:xfrm rot="16200000" flipV="1">
            <a:off x="5158590" y="1713065"/>
            <a:ext cx="12700" cy="159029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9" idx="6"/>
            <a:endCxn id="101" idx="1"/>
          </p:cNvCxnSpPr>
          <p:nvPr/>
        </p:nvCxnSpPr>
        <p:spPr>
          <a:xfrm>
            <a:off x="2249280" y="2650195"/>
            <a:ext cx="1664161" cy="105203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9" idx="2"/>
            <a:endCxn id="158" idx="2"/>
          </p:cNvCxnSpPr>
          <p:nvPr/>
        </p:nvCxnSpPr>
        <p:spPr>
          <a:xfrm rot="16200000" flipH="1">
            <a:off x="5809097" y="1350557"/>
            <a:ext cx="436858" cy="3328171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69" idx="3"/>
            <a:endCxn id="135" idx="1"/>
          </p:cNvCxnSpPr>
          <p:nvPr/>
        </p:nvCxnSpPr>
        <p:spPr>
          <a:xfrm>
            <a:off x="4813441" y="2652214"/>
            <a:ext cx="690298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01" idx="3"/>
            <a:endCxn id="158" idx="2"/>
          </p:cNvCxnSpPr>
          <p:nvPr/>
        </p:nvCxnSpPr>
        <p:spPr>
          <a:xfrm flipV="1">
            <a:off x="4813441" y="3233072"/>
            <a:ext cx="2878171" cy="46915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25333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001FFA-599C-959F-11FF-54498DB5D01F}"/>
              </a:ext>
            </a:extLst>
          </p:cNvPr>
          <p:cNvSpPr/>
          <p:nvPr/>
        </p:nvSpPr>
        <p:spPr>
          <a:xfrm>
            <a:off x="6266873" y="1283855"/>
            <a:ext cx="27432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DDF51E2-AA54-3898-F986-0D5FDFD8B700}"/>
              </a:ext>
            </a:extLst>
          </p:cNvPr>
          <p:cNvSpPr/>
          <p:nvPr/>
        </p:nvSpPr>
        <p:spPr>
          <a:xfrm>
            <a:off x="895927" y="1283855"/>
            <a:ext cx="51816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화면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10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1.3 </a:t>
            </a:r>
            <a:r>
              <a:rPr lang="ko-KR" altLang="en-US" dirty="0"/>
              <a:t>앱 구성 다이어그램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636459" y="2747194"/>
            <a:ext cx="2281118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 err="1"/>
              <a:t>대금청구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 smtClean="0"/>
              <a:t>PymtClmController</a:t>
            </a:r>
            <a:endParaRPr lang="en-US" altLang="ko-KR" sz="11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DD2481F-89D8-25C0-6E6F-7535C857EB4B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2992582" y="1847958"/>
            <a:ext cx="967509" cy="114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F6B56CB-1ACF-E509-9762-CFE025648775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992582" y="2335492"/>
            <a:ext cx="967509" cy="6546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2992582" y="2824241"/>
            <a:ext cx="967509" cy="165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687291" y="2990174"/>
            <a:ext cx="94916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 Box 73">
            <a:extLst>
              <a:ext uri="{FF2B5EF4-FFF2-40B4-BE49-F238E27FC236}">
                <a16:creationId xmlns:a16="http://schemas.microsoft.com/office/drawing/2014/main" id="{76C9ABC8-A4D3-5907-4020-49C93E468F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694" y="113645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18" idx="3"/>
            <a:endCxn id="9" idx="1"/>
          </p:cNvCxnSpPr>
          <p:nvPr/>
        </p:nvCxnSpPr>
        <p:spPr>
          <a:xfrm flipV="1">
            <a:off x="2992582" y="2990174"/>
            <a:ext cx="967509" cy="2968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2992582" y="2990174"/>
            <a:ext cx="967509" cy="7484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2" idx="3"/>
            <a:endCxn id="9" idx="1"/>
          </p:cNvCxnSpPr>
          <p:nvPr/>
        </p:nvCxnSpPr>
        <p:spPr>
          <a:xfrm flipV="1">
            <a:off x="2992582" y="2990174"/>
            <a:ext cx="967509" cy="11999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7" idx="3"/>
            <a:endCxn id="9" idx="1"/>
          </p:cNvCxnSpPr>
          <p:nvPr/>
        </p:nvCxnSpPr>
        <p:spPr>
          <a:xfrm flipV="1">
            <a:off x="2992582" y="2990174"/>
            <a:ext cx="967509" cy="16514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36975C9-B669-2E0F-A599-7B64FBAF2727}"/>
              </a:ext>
            </a:extLst>
          </p:cNvPr>
          <p:cNvSpPr/>
          <p:nvPr/>
        </p:nvSpPr>
        <p:spPr>
          <a:xfrm>
            <a:off x="749717" y="1026000"/>
            <a:ext cx="1946169" cy="184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200" dirty="0">
                <a:solidFill>
                  <a:schemeClr val="tx1"/>
                </a:solidFill>
              </a:rPr>
              <a:t>1.3.1 </a:t>
            </a:r>
            <a:r>
              <a:rPr lang="ko-KR" altLang="en-US" sz="1200" dirty="0" err="1" smtClean="0">
                <a:solidFill>
                  <a:schemeClr val="tx1"/>
                </a:solidFill>
              </a:rPr>
              <a:t>대금청구및사후</a:t>
            </a:r>
            <a:r>
              <a:rPr lang="ko-KR" altLang="en-US" sz="1200" dirty="0" smtClean="0">
                <a:solidFill>
                  <a:schemeClr val="tx1"/>
                </a:solidFill>
              </a:rPr>
              <a:t> </a:t>
            </a:r>
            <a:r>
              <a:rPr lang="en-US" altLang="ko-KR" sz="1200" dirty="0" smtClean="0">
                <a:solidFill>
                  <a:schemeClr val="tx1"/>
                </a:solidFill>
              </a:rPr>
              <a:t>(1/3)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grpSp>
        <p:nvGrpSpPr>
          <p:cNvPr id="4" name="그룹 3"/>
          <p:cNvGrpSpPr/>
          <p:nvPr/>
        </p:nvGrpSpPr>
        <p:grpSpPr>
          <a:xfrm>
            <a:off x="1265382" y="1644140"/>
            <a:ext cx="1727200" cy="4103754"/>
            <a:chOff x="1265382" y="1644140"/>
            <a:chExt cx="1727200" cy="3759152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3FD7B626-4B5C-AE29-EFB9-628750B32B78}"/>
                </a:ext>
              </a:extLst>
            </p:cNvPr>
            <p:cNvSpPr/>
            <p:nvPr/>
          </p:nvSpPr>
          <p:spPr>
            <a:xfrm>
              <a:off x="1265382" y="1644140"/>
              <a:ext cx="1727200" cy="373406"/>
            </a:xfrm>
            <a:prstGeom prst="rect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>
              <a:normAutofit fontScale="77500" lnSpcReduction="20000"/>
            </a:bodyPr>
            <a:lstStyle/>
            <a:p>
              <a:pPr algn="ctr"/>
              <a:r>
                <a:rPr lang="en-US" altLang="ko-KR" sz="1000" dirty="0">
                  <a:solidFill>
                    <a:schemeClr val="tx1"/>
                  </a:solidFill>
                </a:rPr>
                <a:t>&lt;&lt;App Page&gt;&gt;</a:t>
              </a:r>
            </a:p>
            <a:p>
              <a:pPr algn="ctr"/>
              <a:r>
                <a:rPr lang="ko-KR" altLang="en-US" sz="1000" dirty="0">
                  <a:solidFill>
                    <a:schemeClr val="tx1"/>
                  </a:solidFill>
                </a:rPr>
                <a:t>대금청구통합목록</a:t>
              </a:r>
              <a:endParaRPr lang="en-US" altLang="ko-KR" sz="1000" dirty="0">
                <a:solidFill>
                  <a:schemeClr val="tx1"/>
                </a:solidFill>
              </a:endParaRPr>
            </a:p>
            <a:p>
              <a:pPr algn="ctr"/>
              <a:r>
                <a:rPr lang="en-US" altLang="ko-KR" sz="1000" dirty="0" err="1">
                  <a:solidFill>
                    <a:schemeClr val="tx1"/>
                  </a:solidFill>
                  <a:latin typeface="맑은 고딕" panose="020B0503020000020004" pitchFamily="50" charset="-127"/>
                </a:rPr>
                <a:t>PymtClmIntgListPage</a:t>
              </a:r>
              <a:r>
                <a:rPr lang="en-US" altLang="ko-KR" sz="1000" dirty="0" err="1">
                  <a:solidFill>
                    <a:schemeClr val="tx1"/>
                  </a:solidFill>
                </a:rPr>
                <a:t>.tsx</a:t>
              </a:r>
              <a:r>
                <a:rPr lang="en-US" altLang="ko-KR" sz="1000" b="1" baseline="30000" dirty="0">
                  <a:solidFill>
                    <a:schemeClr val="tx1"/>
                  </a:solidFill>
                  <a:latin typeface="+mn-ea"/>
                </a:rPr>
                <a:t> 1)</a:t>
              </a:r>
              <a:endParaRPr lang="en-US" altLang="ko-KR" sz="1000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04F2CFBC-290B-2E89-63C0-62C22747051D}"/>
                </a:ext>
              </a:extLst>
            </p:cNvPr>
            <p:cNvSpPr/>
            <p:nvPr/>
          </p:nvSpPr>
          <p:spPr>
            <a:xfrm>
              <a:off x="1265382" y="2090735"/>
              <a:ext cx="1727200" cy="373406"/>
            </a:xfrm>
            <a:prstGeom prst="rect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>
              <a:normAutofit fontScale="77500" lnSpcReduction="20000"/>
            </a:bodyPr>
            <a:lstStyle/>
            <a:p>
              <a:pPr algn="ctr"/>
              <a:r>
                <a:rPr lang="en-US" altLang="ko-KR" sz="1000" dirty="0">
                  <a:solidFill>
                    <a:schemeClr val="tx1"/>
                  </a:solidFill>
                </a:rPr>
                <a:t>&lt;&lt;App Page&gt;&gt;</a:t>
              </a:r>
            </a:p>
            <a:p>
              <a:pPr algn="ctr"/>
              <a:r>
                <a:rPr lang="ko-KR" altLang="en-US" sz="1000" dirty="0" err="1">
                  <a:solidFill>
                    <a:schemeClr val="tx1"/>
                  </a:solidFill>
                  <a:latin typeface="+mn-ea"/>
                </a:rPr>
                <a:t>검색필터</a:t>
              </a:r>
              <a:r>
                <a:rPr lang="en-US" altLang="ko-KR" sz="1000" dirty="0">
                  <a:solidFill>
                    <a:schemeClr val="tx1"/>
                  </a:solidFill>
                  <a:latin typeface="+mn-ea"/>
                </a:rPr>
                <a:t>-</a:t>
              </a:r>
              <a:r>
                <a:rPr lang="ko-KR" altLang="en-US" sz="1000" dirty="0" err="1">
                  <a:solidFill>
                    <a:schemeClr val="tx1"/>
                  </a:solidFill>
                  <a:latin typeface="+mn-ea"/>
                </a:rPr>
                <a:t>대금청구</a:t>
              </a:r>
              <a:endParaRPr lang="en-US" altLang="ko-KR" sz="1000" dirty="0">
                <a:solidFill>
                  <a:schemeClr val="tx1"/>
                </a:solidFill>
              </a:endParaRPr>
            </a:p>
            <a:p>
              <a:pPr algn="ctr"/>
              <a:r>
                <a:rPr lang="en-US" altLang="ko-KR" sz="1000" dirty="0" err="1">
                  <a:solidFill>
                    <a:schemeClr val="tx1"/>
                  </a:solidFill>
                  <a:latin typeface="맑은 고딕" panose="020B0503020000020004" pitchFamily="50" charset="-127"/>
                </a:rPr>
                <a:t>PymtClmIntgList_SrchFilter</a:t>
              </a:r>
              <a:r>
                <a:rPr lang="en-US" altLang="ko-KR" sz="1000" dirty="0" err="1" smtClean="0">
                  <a:solidFill>
                    <a:schemeClr val="tx1"/>
                  </a:solidFill>
                </a:rPr>
                <a:t>.tsx</a:t>
              </a:r>
              <a:r>
                <a:rPr lang="en-US" altLang="ko-KR" sz="1000" b="1" baseline="30000" dirty="0" smtClean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ko-KR" sz="1000" b="1" baseline="30000" dirty="0">
                  <a:solidFill>
                    <a:schemeClr val="tx1"/>
                  </a:solidFill>
                  <a:latin typeface="+mn-ea"/>
                </a:rPr>
                <a:t>1)</a:t>
              </a:r>
              <a:endParaRPr lang="en-US" altLang="ko-KR" sz="1000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326CB017-8967-4DC4-0EAD-ADB3B9EAB841}"/>
                </a:ext>
              </a:extLst>
            </p:cNvPr>
            <p:cNvSpPr/>
            <p:nvPr/>
          </p:nvSpPr>
          <p:spPr>
            <a:xfrm>
              <a:off x="1265382" y="2538442"/>
              <a:ext cx="1727200" cy="373406"/>
            </a:xfrm>
            <a:prstGeom prst="rect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>
              <a:normAutofit fontScale="62500" lnSpcReduction="200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ko-KR" sz="1000" dirty="0">
                  <a:solidFill>
                    <a:schemeClr val="tx1"/>
                  </a:solidFill>
                </a:rPr>
                <a:t>&lt;&lt;App Page&gt;&gt;</a:t>
              </a:r>
            </a:p>
            <a:p>
              <a:pPr algn="ctr">
                <a:lnSpc>
                  <a:spcPct val="120000"/>
                </a:lnSpc>
              </a:pPr>
              <a:r>
                <a:rPr lang="ko-KR" altLang="en-US" sz="1000" dirty="0" err="1">
                  <a:solidFill>
                    <a:schemeClr val="tx1"/>
                  </a:solidFill>
                  <a:latin typeface="+mn-ea"/>
                </a:rPr>
                <a:t>선금신청서</a:t>
              </a:r>
              <a:r>
                <a:rPr lang="ko-KR" altLang="en-US" sz="1000" dirty="0">
                  <a:solidFill>
                    <a:schemeClr val="tx1"/>
                  </a:solidFill>
                  <a:latin typeface="+mn-ea"/>
                </a:rPr>
                <a:t> 상세</a:t>
              </a:r>
              <a:endParaRPr lang="en-US" altLang="ko-KR" sz="1000" dirty="0">
                <a:solidFill>
                  <a:schemeClr val="tx1"/>
                </a:solidFill>
              </a:endParaRPr>
            </a:p>
            <a:p>
              <a:pPr algn="ctr">
                <a:lnSpc>
                  <a:spcPct val="120000"/>
                </a:lnSpc>
              </a:pPr>
              <a:r>
                <a:rPr lang="en-US" altLang="ko-KR" sz="1000" dirty="0" err="1">
                  <a:solidFill>
                    <a:schemeClr val="tx1"/>
                  </a:solidFill>
                  <a:latin typeface="맑은 고딕" panose="020B0503020000020004" pitchFamily="50" charset="-127"/>
                </a:rPr>
                <a:t>PrpayApfrDtlPage</a:t>
              </a:r>
              <a:r>
                <a:rPr lang="en-US" altLang="ko-KR" sz="1000" dirty="0" err="1" smtClean="0">
                  <a:solidFill>
                    <a:schemeClr val="tx1"/>
                  </a:solidFill>
                </a:rPr>
                <a:t>.tsx</a:t>
              </a:r>
              <a:r>
                <a:rPr lang="en-US" altLang="ko-KR" sz="1000" b="1" baseline="30000" dirty="0" smtClean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ko-KR" sz="1000" b="1" baseline="30000" dirty="0">
                  <a:solidFill>
                    <a:schemeClr val="tx1"/>
                  </a:solidFill>
                  <a:latin typeface="+mn-ea"/>
                </a:rPr>
                <a:t>1)</a:t>
              </a:r>
              <a:endParaRPr lang="en-US" altLang="ko-KR" sz="1000" dirty="0">
                <a:solidFill>
                  <a:schemeClr val="tx1"/>
                </a:solidFill>
              </a:endParaRPr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326CB017-8967-4DC4-0EAD-ADB3B9EAB841}"/>
                </a:ext>
              </a:extLst>
            </p:cNvPr>
            <p:cNvSpPr/>
            <p:nvPr/>
          </p:nvSpPr>
          <p:spPr>
            <a:xfrm>
              <a:off x="1265382" y="2962386"/>
              <a:ext cx="1727200" cy="373406"/>
            </a:xfrm>
            <a:prstGeom prst="rect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>
              <a:normAutofit fontScale="62500" lnSpcReduction="200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ko-KR" sz="1000" dirty="0">
                  <a:solidFill>
                    <a:schemeClr val="tx1"/>
                  </a:solidFill>
                </a:rPr>
                <a:t>&lt;&lt;App Page&gt;&gt;</a:t>
              </a:r>
            </a:p>
            <a:p>
              <a:pPr algn="ctr">
                <a:lnSpc>
                  <a:spcPct val="120000"/>
                </a:lnSpc>
              </a:pPr>
              <a:r>
                <a:rPr lang="ko-KR" altLang="en-US" sz="1000" dirty="0" err="1">
                  <a:solidFill>
                    <a:schemeClr val="tx1"/>
                  </a:solidFill>
                  <a:latin typeface="+mn-ea"/>
                </a:rPr>
                <a:t>선금신청서</a:t>
              </a:r>
              <a:r>
                <a:rPr lang="ko-KR" altLang="en-US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ko-KR" altLang="en-US" sz="1000" dirty="0" smtClean="0">
                  <a:solidFill>
                    <a:schemeClr val="tx1"/>
                  </a:solidFill>
                  <a:latin typeface="+mn-ea"/>
                </a:rPr>
                <a:t>상세</a:t>
              </a:r>
              <a:r>
                <a:rPr lang="en-US" altLang="ko-KR" sz="1000" dirty="0" smtClean="0">
                  <a:solidFill>
                    <a:schemeClr val="tx1"/>
                  </a:solidFill>
                  <a:latin typeface="+mn-ea"/>
                </a:rPr>
                <a:t>-</a:t>
              </a:r>
              <a:r>
                <a:rPr lang="ko-KR" altLang="en-US" sz="1000" dirty="0" err="1">
                  <a:solidFill>
                    <a:schemeClr val="tx1"/>
                  </a:solidFill>
                  <a:latin typeface="+mn-ea"/>
                </a:rPr>
                <a:t>신청정보</a:t>
              </a:r>
              <a:endParaRPr lang="en-US" altLang="ko-KR" sz="1000" dirty="0">
                <a:solidFill>
                  <a:schemeClr val="tx1"/>
                </a:solidFill>
              </a:endParaRPr>
            </a:p>
            <a:p>
              <a:pPr algn="ctr">
                <a:lnSpc>
                  <a:spcPct val="120000"/>
                </a:lnSpc>
              </a:pPr>
              <a:r>
                <a:rPr lang="en-US" altLang="ko-KR" sz="1000" dirty="0" err="1">
                  <a:solidFill>
                    <a:schemeClr val="tx1"/>
                  </a:solidFill>
                  <a:latin typeface="맑은 고딕" panose="020B0503020000020004" pitchFamily="50" charset="-127"/>
                </a:rPr>
                <a:t>PrpayApfrDtl</a:t>
              </a:r>
              <a:r>
                <a:rPr lang="en-US" altLang="ko-KR" sz="1000" dirty="0" err="1" smtClean="0">
                  <a:solidFill>
                    <a:schemeClr val="tx1"/>
                  </a:solidFill>
                </a:rPr>
                <a:t>.tsx</a:t>
              </a:r>
              <a:r>
                <a:rPr lang="en-US" altLang="ko-KR" sz="1000" b="1" baseline="30000" dirty="0" smtClean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ko-KR" sz="1000" b="1" baseline="30000" dirty="0">
                  <a:solidFill>
                    <a:schemeClr val="tx1"/>
                  </a:solidFill>
                  <a:latin typeface="+mn-ea"/>
                </a:rPr>
                <a:t>1)</a:t>
              </a:r>
              <a:endParaRPr lang="en-US" altLang="ko-KR" sz="1000" dirty="0">
                <a:solidFill>
                  <a:schemeClr val="tx1"/>
                </a:solidFill>
              </a:endParaRP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326CB017-8967-4DC4-0EAD-ADB3B9EAB841}"/>
                </a:ext>
              </a:extLst>
            </p:cNvPr>
            <p:cNvSpPr/>
            <p:nvPr/>
          </p:nvSpPr>
          <p:spPr>
            <a:xfrm>
              <a:off x="1265382" y="3376001"/>
              <a:ext cx="1727200" cy="373406"/>
            </a:xfrm>
            <a:prstGeom prst="rect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>
              <a:normAutofit fontScale="62500" lnSpcReduction="200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ko-KR" sz="1000" dirty="0">
                  <a:solidFill>
                    <a:schemeClr val="tx1"/>
                  </a:solidFill>
                </a:rPr>
                <a:t>&lt;&lt;App Page&gt;&gt;</a:t>
              </a:r>
            </a:p>
            <a:p>
              <a:pPr algn="ctr">
                <a:lnSpc>
                  <a:spcPct val="120000"/>
                </a:lnSpc>
              </a:pPr>
              <a:r>
                <a:rPr lang="ko-KR" altLang="en-US" sz="1000" dirty="0" err="1">
                  <a:solidFill>
                    <a:schemeClr val="tx1"/>
                  </a:solidFill>
                  <a:latin typeface="+mn-ea"/>
                </a:rPr>
                <a:t>선금신청서</a:t>
              </a:r>
              <a:r>
                <a:rPr lang="ko-KR" altLang="en-US" sz="1000" dirty="0">
                  <a:solidFill>
                    <a:schemeClr val="tx1"/>
                  </a:solidFill>
                  <a:latin typeface="+mn-ea"/>
                </a:rPr>
                <a:t> 상세</a:t>
              </a:r>
              <a:r>
                <a:rPr lang="en-US" altLang="ko-KR" sz="1000" dirty="0" smtClean="0">
                  <a:solidFill>
                    <a:schemeClr val="tx1"/>
                  </a:solidFill>
                  <a:latin typeface="+mn-ea"/>
                </a:rPr>
                <a:t>-</a:t>
              </a:r>
              <a:r>
                <a:rPr lang="ko-KR" altLang="en-US" sz="1000" dirty="0">
                  <a:solidFill>
                    <a:schemeClr val="tx1"/>
                  </a:solidFill>
                  <a:latin typeface="+mn-ea"/>
                </a:rPr>
                <a:t> 세부신청내역</a:t>
              </a:r>
              <a:endParaRPr lang="en-US" altLang="ko-KR" sz="1000" dirty="0">
                <a:solidFill>
                  <a:schemeClr val="tx1"/>
                </a:solidFill>
              </a:endParaRPr>
            </a:p>
            <a:p>
              <a:pPr algn="ctr">
                <a:lnSpc>
                  <a:spcPct val="120000"/>
                </a:lnSpc>
              </a:pPr>
              <a:r>
                <a:rPr lang="en-US" altLang="ko-KR" sz="1000" dirty="0" err="1">
                  <a:solidFill>
                    <a:schemeClr val="tx1"/>
                  </a:solidFill>
                  <a:latin typeface="맑은 고딕" panose="020B0503020000020004" pitchFamily="50" charset="-127"/>
                </a:rPr>
                <a:t>PrpayApfrDtl_AplyDtsm</a:t>
              </a:r>
              <a:r>
                <a:rPr lang="en-US" altLang="ko-KR" sz="1000" dirty="0" err="1" smtClean="0">
                  <a:solidFill>
                    <a:schemeClr val="tx1"/>
                  </a:solidFill>
                </a:rPr>
                <a:t>.tsx</a:t>
              </a:r>
              <a:r>
                <a:rPr lang="en-US" altLang="ko-KR" sz="1000" b="1" baseline="30000" dirty="0" smtClean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ko-KR" sz="1000" b="1" baseline="30000" dirty="0">
                  <a:solidFill>
                    <a:schemeClr val="tx1"/>
                  </a:solidFill>
                  <a:latin typeface="+mn-ea"/>
                </a:rPr>
                <a:t>1)</a:t>
              </a:r>
              <a:endParaRPr lang="en-US" altLang="ko-KR" sz="1000" dirty="0">
                <a:solidFill>
                  <a:schemeClr val="tx1"/>
                </a:solidFill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326CB017-8967-4DC4-0EAD-ADB3B9EAB841}"/>
                </a:ext>
              </a:extLst>
            </p:cNvPr>
            <p:cNvSpPr/>
            <p:nvPr/>
          </p:nvSpPr>
          <p:spPr>
            <a:xfrm>
              <a:off x="1265382" y="3789616"/>
              <a:ext cx="1727200" cy="373406"/>
            </a:xfrm>
            <a:prstGeom prst="rect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>
              <a:normAutofit fontScale="62500" lnSpcReduction="200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ko-KR" sz="1000" dirty="0">
                  <a:solidFill>
                    <a:schemeClr val="tx1"/>
                  </a:solidFill>
                </a:rPr>
                <a:t>&lt;&lt;App Page&gt;&gt;</a:t>
              </a:r>
            </a:p>
            <a:p>
              <a:pPr algn="ctr">
                <a:lnSpc>
                  <a:spcPct val="120000"/>
                </a:lnSpc>
              </a:pPr>
              <a:r>
                <a:rPr lang="ko-KR" altLang="en-US" sz="1000" dirty="0">
                  <a:solidFill>
                    <a:schemeClr val="tx1"/>
                  </a:solidFill>
                  <a:latin typeface="+mn-ea"/>
                </a:rPr>
                <a:t>착</a:t>
              </a:r>
              <a:r>
                <a:rPr lang="en-US" altLang="ko-KR" sz="1000" dirty="0">
                  <a:solidFill>
                    <a:schemeClr val="tx1"/>
                  </a:solidFill>
                  <a:latin typeface="+mn-ea"/>
                </a:rPr>
                <a:t>.</a:t>
              </a:r>
              <a:r>
                <a:rPr lang="ko-KR" altLang="en-US" sz="1000" dirty="0">
                  <a:solidFill>
                    <a:schemeClr val="tx1"/>
                  </a:solidFill>
                  <a:latin typeface="+mn-ea"/>
                </a:rPr>
                <a:t>중도금신청서 상세</a:t>
              </a:r>
              <a:endParaRPr lang="en-US" altLang="ko-KR" sz="1000" dirty="0">
                <a:solidFill>
                  <a:schemeClr val="tx1"/>
                </a:solidFill>
              </a:endParaRPr>
            </a:p>
            <a:p>
              <a:pPr algn="ctr">
                <a:lnSpc>
                  <a:spcPct val="120000"/>
                </a:lnSpc>
              </a:pPr>
              <a:r>
                <a:rPr lang="en-US" altLang="ko-KR" sz="1000" dirty="0" err="1">
                  <a:solidFill>
                    <a:schemeClr val="tx1"/>
                  </a:solidFill>
                  <a:latin typeface="맑은 고딕" panose="020B0503020000020004" pitchFamily="50" charset="-127"/>
                </a:rPr>
                <a:t>DpsmnItrpyApfrDtlPage</a:t>
              </a:r>
              <a:r>
                <a:rPr lang="en-US" altLang="ko-KR" sz="1000" dirty="0" err="1" smtClean="0">
                  <a:solidFill>
                    <a:schemeClr val="tx1"/>
                  </a:solidFill>
                </a:rPr>
                <a:t>.tsx</a:t>
              </a:r>
              <a:r>
                <a:rPr lang="en-US" altLang="ko-KR" sz="1000" b="1" baseline="30000" dirty="0" smtClean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ko-KR" sz="1000" b="1" baseline="30000" dirty="0">
                  <a:solidFill>
                    <a:schemeClr val="tx1"/>
                  </a:solidFill>
                  <a:latin typeface="+mn-ea"/>
                </a:rPr>
                <a:t>1)</a:t>
              </a:r>
              <a:endParaRPr lang="en-US" altLang="ko-KR" sz="1000" dirty="0">
                <a:solidFill>
                  <a:schemeClr val="tx1"/>
                </a:solidFill>
              </a:endParaRP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326CB017-8967-4DC4-0EAD-ADB3B9EAB841}"/>
                </a:ext>
              </a:extLst>
            </p:cNvPr>
            <p:cNvSpPr/>
            <p:nvPr/>
          </p:nvSpPr>
          <p:spPr>
            <a:xfrm>
              <a:off x="1265382" y="4203231"/>
              <a:ext cx="1727200" cy="373406"/>
            </a:xfrm>
            <a:prstGeom prst="rect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>
              <a:normAutofit fontScale="62500" lnSpcReduction="200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ko-KR" sz="1000" dirty="0">
                  <a:solidFill>
                    <a:schemeClr val="tx1"/>
                  </a:solidFill>
                </a:rPr>
                <a:t>&lt;&lt;App Page&gt;&gt;</a:t>
              </a:r>
            </a:p>
            <a:p>
              <a:pPr algn="ctr">
                <a:lnSpc>
                  <a:spcPct val="120000"/>
                </a:lnSpc>
              </a:pPr>
              <a:r>
                <a:rPr lang="ko-KR" altLang="en-US" sz="1000" dirty="0">
                  <a:solidFill>
                    <a:schemeClr val="tx1"/>
                  </a:solidFill>
                  <a:latin typeface="+mn-ea"/>
                </a:rPr>
                <a:t>착</a:t>
              </a:r>
              <a:r>
                <a:rPr lang="en-US" altLang="ko-KR" sz="1000" dirty="0">
                  <a:solidFill>
                    <a:schemeClr val="tx1"/>
                  </a:solidFill>
                  <a:latin typeface="+mn-ea"/>
                </a:rPr>
                <a:t>.</a:t>
              </a:r>
              <a:r>
                <a:rPr lang="ko-KR" altLang="en-US" sz="1000" dirty="0">
                  <a:solidFill>
                    <a:schemeClr val="tx1"/>
                  </a:solidFill>
                  <a:latin typeface="+mn-ea"/>
                </a:rPr>
                <a:t>중도금신청서 </a:t>
              </a:r>
              <a:r>
                <a:rPr lang="ko-KR" altLang="en-US" sz="1000" dirty="0" smtClean="0">
                  <a:solidFill>
                    <a:schemeClr val="tx1"/>
                  </a:solidFill>
                  <a:latin typeface="+mn-ea"/>
                </a:rPr>
                <a:t>상세</a:t>
              </a:r>
              <a:r>
                <a:rPr lang="en-US" altLang="ko-KR" sz="1000" dirty="0" smtClean="0">
                  <a:solidFill>
                    <a:schemeClr val="tx1"/>
                  </a:solidFill>
                  <a:latin typeface="+mn-ea"/>
                </a:rPr>
                <a:t>-</a:t>
              </a:r>
              <a:r>
                <a:rPr lang="ko-KR" altLang="en-US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ko-KR" altLang="en-US" sz="1000" dirty="0" err="1">
                  <a:solidFill>
                    <a:schemeClr val="tx1"/>
                  </a:solidFill>
                  <a:latin typeface="+mn-ea"/>
                </a:rPr>
                <a:t>신청정보</a:t>
              </a:r>
              <a:endParaRPr lang="en-US" altLang="ko-KR" sz="1000" dirty="0">
                <a:solidFill>
                  <a:schemeClr val="tx1"/>
                </a:solidFill>
              </a:endParaRPr>
            </a:p>
            <a:p>
              <a:pPr algn="ctr">
                <a:lnSpc>
                  <a:spcPct val="120000"/>
                </a:lnSpc>
              </a:pPr>
              <a:r>
                <a:rPr lang="en-US" altLang="ko-KR" sz="1000" dirty="0" err="1">
                  <a:solidFill>
                    <a:schemeClr val="tx1"/>
                  </a:solidFill>
                  <a:latin typeface="맑은 고딕" panose="020B0503020000020004" pitchFamily="50" charset="-127"/>
                </a:rPr>
                <a:t>DpsmnItrpyApfrDtl</a:t>
              </a:r>
              <a:r>
                <a:rPr lang="en-US" altLang="ko-KR" sz="1000" dirty="0" err="1" smtClean="0">
                  <a:solidFill>
                    <a:schemeClr val="tx1"/>
                  </a:solidFill>
                  <a:latin typeface="맑은 고딕" panose="020B0503020000020004" pitchFamily="50" charset="-127"/>
                </a:rPr>
                <a:t>.</a:t>
              </a:r>
              <a:r>
                <a:rPr lang="en-US" altLang="ko-KR" sz="1000" dirty="0" err="1" smtClean="0">
                  <a:solidFill>
                    <a:schemeClr val="tx1"/>
                  </a:solidFill>
                </a:rPr>
                <a:t>tsx</a:t>
              </a:r>
              <a:r>
                <a:rPr lang="en-US" altLang="ko-KR" sz="1000" b="1" baseline="30000" dirty="0" smtClean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ko-KR" sz="1000" b="1" baseline="30000" dirty="0">
                  <a:solidFill>
                    <a:schemeClr val="tx1"/>
                  </a:solidFill>
                  <a:latin typeface="+mn-ea"/>
                </a:rPr>
                <a:t>1)</a:t>
              </a:r>
              <a:endParaRPr lang="en-US" altLang="ko-KR" sz="1000" dirty="0">
                <a:solidFill>
                  <a:schemeClr val="tx1"/>
                </a:solidFill>
              </a:endParaRP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326CB017-8967-4DC4-0EAD-ADB3B9EAB841}"/>
                </a:ext>
              </a:extLst>
            </p:cNvPr>
            <p:cNvSpPr/>
            <p:nvPr/>
          </p:nvSpPr>
          <p:spPr>
            <a:xfrm>
              <a:off x="1265382" y="4623261"/>
              <a:ext cx="1727200" cy="373406"/>
            </a:xfrm>
            <a:prstGeom prst="rect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>
              <a:normAutofit fontScale="62500" lnSpcReduction="200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ko-KR" sz="1000" dirty="0">
                  <a:solidFill>
                    <a:schemeClr val="tx1"/>
                  </a:solidFill>
                </a:rPr>
                <a:t>&lt;&lt;App Page&gt;&gt;</a:t>
              </a:r>
            </a:p>
            <a:p>
              <a:pPr algn="ctr">
                <a:lnSpc>
                  <a:spcPct val="120000"/>
                </a:lnSpc>
              </a:pPr>
              <a:r>
                <a:rPr lang="ko-KR" altLang="en-US" sz="1000" dirty="0">
                  <a:solidFill>
                    <a:schemeClr val="tx1"/>
                  </a:solidFill>
                  <a:latin typeface="+mn-ea"/>
                </a:rPr>
                <a:t>착</a:t>
              </a:r>
              <a:r>
                <a:rPr lang="en-US" altLang="ko-KR" sz="1000" dirty="0">
                  <a:solidFill>
                    <a:schemeClr val="tx1"/>
                  </a:solidFill>
                  <a:latin typeface="+mn-ea"/>
                </a:rPr>
                <a:t>.</a:t>
              </a:r>
              <a:r>
                <a:rPr lang="ko-KR" altLang="en-US" sz="1000" dirty="0">
                  <a:solidFill>
                    <a:schemeClr val="tx1"/>
                  </a:solidFill>
                  <a:latin typeface="+mn-ea"/>
                </a:rPr>
                <a:t>중도금신청서 </a:t>
              </a:r>
              <a:r>
                <a:rPr lang="ko-KR" altLang="en-US" sz="1000" dirty="0" smtClean="0">
                  <a:solidFill>
                    <a:schemeClr val="tx1"/>
                  </a:solidFill>
                  <a:latin typeface="+mn-ea"/>
                </a:rPr>
                <a:t>상세</a:t>
              </a:r>
              <a:r>
                <a:rPr lang="en-US" altLang="ko-KR" sz="1000" dirty="0" smtClean="0">
                  <a:solidFill>
                    <a:schemeClr val="tx1"/>
                  </a:solidFill>
                  <a:latin typeface="+mn-ea"/>
                </a:rPr>
                <a:t>-</a:t>
              </a:r>
              <a:r>
                <a:rPr lang="ko-KR" altLang="en-US" sz="1000" dirty="0">
                  <a:solidFill>
                    <a:schemeClr val="tx1"/>
                  </a:solidFill>
                  <a:latin typeface="+mn-ea"/>
                </a:rPr>
                <a:t> 세부신청내역</a:t>
              </a:r>
              <a:endParaRPr lang="en-US" altLang="ko-KR" sz="1000" dirty="0">
                <a:solidFill>
                  <a:schemeClr val="tx1"/>
                </a:solidFill>
              </a:endParaRPr>
            </a:p>
            <a:p>
              <a:pPr algn="ctr">
                <a:lnSpc>
                  <a:spcPct val="120000"/>
                </a:lnSpc>
              </a:pPr>
              <a:r>
                <a:rPr lang="en-US" altLang="ko-KR" sz="1000" dirty="0" err="1">
                  <a:solidFill>
                    <a:schemeClr val="tx1"/>
                  </a:solidFill>
                  <a:latin typeface="맑은 고딕" panose="020B0503020000020004" pitchFamily="50" charset="-127"/>
                </a:rPr>
                <a:t>DpsmnItrpyApfrDtl_AplyDtsm</a:t>
              </a:r>
              <a:r>
                <a:rPr lang="en-US" altLang="ko-KR" sz="1000" dirty="0" err="1" smtClean="0">
                  <a:solidFill>
                    <a:schemeClr val="tx1"/>
                  </a:solidFill>
                </a:rPr>
                <a:t>.tsx</a:t>
              </a:r>
              <a:r>
                <a:rPr lang="en-US" altLang="ko-KR" sz="1000" b="1" baseline="30000" dirty="0" smtClean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ko-KR" sz="1000" b="1" baseline="30000" dirty="0">
                  <a:solidFill>
                    <a:schemeClr val="tx1"/>
                  </a:solidFill>
                  <a:latin typeface="+mn-ea"/>
                </a:rPr>
                <a:t>1)</a:t>
              </a:r>
              <a:endParaRPr lang="en-US" altLang="ko-KR" sz="1000" dirty="0">
                <a:solidFill>
                  <a:schemeClr val="tx1"/>
                </a:solidFill>
              </a:endParaRPr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326CB017-8967-4DC4-0EAD-ADB3B9EAB841}"/>
                </a:ext>
              </a:extLst>
            </p:cNvPr>
            <p:cNvSpPr/>
            <p:nvPr/>
          </p:nvSpPr>
          <p:spPr>
            <a:xfrm>
              <a:off x="1265382" y="5029886"/>
              <a:ext cx="1727200" cy="373406"/>
            </a:xfrm>
            <a:prstGeom prst="rect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>
              <a:normAutofit fontScale="62500" lnSpcReduction="200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ko-KR" sz="1000" dirty="0">
                  <a:solidFill>
                    <a:schemeClr val="tx1"/>
                  </a:solidFill>
                </a:rPr>
                <a:t>&lt;&lt;App Page&gt;&gt;</a:t>
              </a:r>
            </a:p>
            <a:p>
              <a:pPr algn="ctr">
                <a:lnSpc>
                  <a:spcPct val="120000"/>
                </a:lnSpc>
              </a:pPr>
              <a:r>
                <a:rPr lang="ko-KR" altLang="en-US" sz="1000" dirty="0">
                  <a:solidFill>
                    <a:schemeClr val="tx1"/>
                  </a:solidFill>
                  <a:latin typeface="+mn-ea"/>
                </a:rPr>
                <a:t>선금</a:t>
              </a:r>
              <a:r>
                <a:rPr lang="en-US" altLang="ko-KR" sz="1000" dirty="0">
                  <a:solidFill>
                    <a:schemeClr val="tx1"/>
                  </a:solidFill>
                  <a:latin typeface="+mn-ea"/>
                </a:rPr>
                <a:t>/</a:t>
              </a:r>
              <a:r>
                <a:rPr lang="ko-KR" altLang="en-US" sz="1000" dirty="0">
                  <a:solidFill>
                    <a:schemeClr val="tx1"/>
                  </a:solidFill>
                  <a:latin typeface="+mn-ea"/>
                </a:rPr>
                <a:t>착</a:t>
              </a:r>
              <a:r>
                <a:rPr lang="en-US" altLang="ko-KR" sz="1000" dirty="0">
                  <a:solidFill>
                    <a:schemeClr val="tx1"/>
                  </a:solidFill>
                  <a:latin typeface="+mn-ea"/>
                </a:rPr>
                <a:t>.</a:t>
              </a:r>
              <a:r>
                <a:rPr lang="ko-KR" altLang="en-US" sz="1000" dirty="0">
                  <a:solidFill>
                    <a:schemeClr val="tx1"/>
                  </a:solidFill>
                  <a:latin typeface="+mn-ea"/>
                </a:rPr>
                <a:t>중도금 지급 상태</a:t>
              </a:r>
              <a:endParaRPr lang="en-US" altLang="ko-KR" sz="1000" dirty="0">
                <a:solidFill>
                  <a:schemeClr val="tx1"/>
                </a:solidFill>
              </a:endParaRPr>
            </a:p>
            <a:p>
              <a:pPr algn="ctr">
                <a:lnSpc>
                  <a:spcPct val="120000"/>
                </a:lnSpc>
              </a:pPr>
              <a:r>
                <a:rPr lang="en-US" altLang="ko-KR" sz="1000" dirty="0" err="1">
                  <a:solidFill>
                    <a:schemeClr val="tx1"/>
                  </a:solidFill>
                  <a:latin typeface="맑은 고딕" panose="020B0503020000020004" pitchFamily="50" charset="-127"/>
                </a:rPr>
                <a:t>PrpayDpsmnItrpyGiveSttsPage</a:t>
              </a:r>
              <a:r>
                <a:rPr lang="en-US" altLang="ko-KR" sz="1000" dirty="0" err="1" smtClean="0">
                  <a:solidFill>
                    <a:schemeClr val="tx1"/>
                  </a:solidFill>
                </a:rPr>
                <a:t>.tsx</a:t>
              </a:r>
              <a:r>
                <a:rPr lang="en-US" altLang="ko-KR" sz="1000" b="1" baseline="30000" dirty="0" smtClean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ko-KR" sz="1000" b="1" baseline="30000" dirty="0">
                  <a:solidFill>
                    <a:schemeClr val="tx1"/>
                  </a:solidFill>
                  <a:latin typeface="+mn-ea"/>
                </a:rPr>
                <a:t>1)</a:t>
              </a:r>
              <a:endParaRPr lang="en-US" altLang="ko-KR" sz="10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0" idx="3"/>
            <a:endCxn id="9" idx="1"/>
          </p:cNvCxnSpPr>
          <p:nvPr/>
        </p:nvCxnSpPr>
        <p:spPr>
          <a:xfrm flipV="1">
            <a:off x="2992582" y="2990174"/>
            <a:ext cx="967509" cy="21100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7" idx="3"/>
            <a:endCxn id="9" idx="1"/>
          </p:cNvCxnSpPr>
          <p:nvPr/>
        </p:nvCxnSpPr>
        <p:spPr>
          <a:xfrm flipV="1">
            <a:off x="2992582" y="2990174"/>
            <a:ext cx="967509" cy="25539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59506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001FFA-599C-959F-11FF-54498DB5D01F}"/>
              </a:ext>
            </a:extLst>
          </p:cNvPr>
          <p:cNvSpPr/>
          <p:nvPr/>
        </p:nvSpPr>
        <p:spPr>
          <a:xfrm>
            <a:off x="6266873" y="1283855"/>
            <a:ext cx="27432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DDF51E2-AA54-3898-F986-0D5FDFD8B700}"/>
              </a:ext>
            </a:extLst>
          </p:cNvPr>
          <p:cNvSpPr/>
          <p:nvPr/>
        </p:nvSpPr>
        <p:spPr>
          <a:xfrm>
            <a:off x="895927" y="1283855"/>
            <a:ext cx="51816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화면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11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1.3 </a:t>
            </a:r>
            <a:r>
              <a:rPr lang="ko-KR" altLang="en-US" dirty="0"/>
              <a:t>앱 구성 다이어그램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636459" y="2747194"/>
            <a:ext cx="2281118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 err="1"/>
              <a:t>대금청구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 smtClean="0"/>
              <a:t>PymtClmController</a:t>
            </a:r>
            <a:endParaRPr lang="en-US" altLang="ko-KR" sz="11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DD2481F-89D8-25C0-6E6F-7535C857EB4B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2992582" y="1830843"/>
            <a:ext cx="967509" cy="11593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F6B56CB-1ACF-E509-9762-CFE025648775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2992582" y="2824241"/>
            <a:ext cx="967509" cy="165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18" idx="3"/>
            <a:endCxn id="9" idx="1"/>
          </p:cNvCxnSpPr>
          <p:nvPr/>
        </p:nvCxnSpPr>
        <p:spPr>
          <a:xfrm flipV="1">
            <a:off x="2992582" y="2990174"/>
            <a:ext cx="967509" cy="2968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687291" y="2990174"/>
            <a:ext cx="94916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 Box 73">
            <a:extLst>
              <a:ext uri="{FF2B5EF4-FFF2-40B4-BE49-F238E27FC236}">
                <a16:creationId xmlns:a16="http://schemas.microsoft.com/office/drawing/2014/main" id="{76C9ABC8-A4D3-5907-4020-49C93E468F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694" y="113645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2992582" y="2990174"/>
            <a:ext cx="967509" cy="7484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2" idx="3"/>
            <a:endCxn id="9" idx="1"/>
          </p:cNvCxnSpPr>
          <p:nvPr/>
        </p:nvCxnSpPr>
        <p:spPr>
          <a:xfrm flipV="1">
            <a:off x="2992582" y="2990174"/>
            <a:ext cx="967509" cy="11999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7" idx="3"/>
            <a:endCxn id="9" idx="1"/>
          </p:cNvCxnSpPr>
          <p:nvPr/>
        </p:nvCxnSpPr>
        <p:spPr>
          <a:xfrm flipV="1">
            <a:off x="2992582" y="2990174"/>
            <a:ext cx="967509" cy="16514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0" idx="3"/>
            <a:endCxn id="9" idx="1"/>
          </p:cNvCxnSpPr>
          <p:nvPr/>
        </p:nvCxnSpPr>
        <p:spPr>
          <a:xfrm flipV="1">
            <a:off x="2992582" y="2990174"/>
            <a:ext cx="967509" cy="21100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36975C9-B669-2E0F-A599-7B64FBAF2727}"/>
              </a:ext>
            </a:extLst>
          </p:cNvPr>
          <p:cNvSpPr/>
          <p:nvPr/>
        </p:nvSpPr>
        <p:spPr>
          <a:xfrm>
            <a:off x="749717" y="1026000"/>
            <a:ext cx="1946169" cy="184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200" dirty="0">
                <a:solidFill>
                  <a:schemeClr val="tx1"/>
                </a:solidFill>
              </a:rPr>
              <a:t>1.3.1 </a:t>
            </a:r>
            <a:r>
              <a:rPr lang="ko-KR" altLang="en-US" sz="1200" dirty="0" err="1" smtClean="0">
                <a:solidFill>
                  <a:schemeClr val="tx1"/>
                </a:solidFill>
              </a:rPr>
              <a:t>대금청구및사후</a:t>
            </a:r>
            <a:r>
              <a:rPr lang="ko-KR" altLang="en-US" sz="1200" dirty="0" smtClean="0">
                <a:solidFill>
                  <a:schemeClr val="tx1"/>
                </a:solidFill>
              </a:rPr>
              <a:t> </a:t>
            </a:r>
            <a:r>
              <a:rPr lang="en-US" altLang="ko-KR" sz="1200" dirty="0" smtClean="0">
                <a:solidFill>
                  <a:schemeClr val="tx1"/>
                </a:solidFill>
              </a:rPr>
              <a:t>(2/3)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7" idx="3"/>
            <a:endCxn id="9" idx="1"/>
          </p:cNvCxnSpPr>
          <p:nvPr/>
        </p:nvCxnSpPr>
        <p:spPr>
          <a:xfrm flipV="1">
            <a:off x="2992582" y="2990174"/>
            <a:ext cx="967509" cy="25539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9" idx="3"/>
            <a:endCxn id="9" idx="1"/>
          </p:cNvCxnSpPr>
          <p:nvPr/>
        </p:nvCxnSpPr>
        <p:spPr>
          <a:xfrm flipV="1">
            <a:off x="2992582" y="2990174"/>
            <a:ext cx="967509" cy="29978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4" name="그룹 3"/>
          <p:cNvGrpSpPr/>
          <p:nvPr/>
        </p:nvGrpSpPr>
        <p:grpSpPr>
          <a:xfrm>
            <a:off x="1265382" y="1644140"/>
            <a:ext cx="1727200" cy="4547654"/>
            <a:chOff x="1265382" y="1644140"/>
            <a:chExt cx="1727200" cy="4165777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3FD7B626-4B5C-AE29-EFB9-628750B32B78}"/>
                </a:ext>
              </a:extLst>
            </p:cNvPr>
            <p:cNvSpPr/>
            <p:nvPr/>
          </p:nvSpPr>
          <p:spPr>
            <a:xfrm>
              <a:off x="1265382" y="1644140"/>
              <a:ext cx="1727200" cy="373406"/>
            </a:xfrm>
            <a:prstGeom prst="rect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>
              <a:normAutofit fontScale="77500" lnSpcReduction="20000"/>
            </a:bodyPr>
            <a:lstStyle/>
            <a:p>
              <a:pPr algn="ctr"/>
              <a:r>
                <a:rPr lang="en-US" altLang="ko-KR" sz="1000" dirty="0">
                  <a:solidFill>
                    <a:schemeClr val="tx1"/>
                  </a:solidFill>
                </a:rPr>
                <a:t>&lt;&lt;App Page&gt;&gt;</a:t>
              </a:r>
            </a:p>
            <a:p>
              <a:pPr algn="ctr"/>
              <a:r>
                <a:rPr lang="ko-KR" altLang="en-US" sz="1000" dirty="0" err="1">
                  <a:solidFill>
                    <a:schemeClr val="tx1"/>
                  </a:solidFill>
                  <a:latin typeface="+mn-ea"/>
                </a:rPr>
                <a:t>대금청구</a:t>
              </a:r>
              <a:r>
                <a:rPr lang="ko-KR" altLang="en-US" sz="1000" dirty="0">
                  <a:solidFill>
                    <a:schemeClr val="tx1"/>
                  </a:solidFill>
                  <a:latin typeface="+mn-ea"/>
                </a:rPr>
                <a:t> 상세</a:t>
              </a:r>
              <a:r>
                <a:rPr lang="en-US" altLang="ko-KR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ko-KR" altLang="en-US" sz="1000" dirty="0" err="1">
                  <a:solidFill>
                    <a:schemeClr val="tx1"/>
                  </a:solidFill>
                  <a:latin typeface="+mn-ea"/>
                </a:rPr>
                <a:t>중앙조달</a:t>
              </a:r>
              <a:r>
                <a:rPr lang="en-US" altLang="ko-KR" sz="10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en-US" altLang="ko-KR" sz="1000" dirty="0">
                <a:solidFill>
                  <a:schemeClr val="tx1"/>
                </a:solidFill>
              </a:endParaRPr>
            </a:p>
            <a:p>
              <a:pPr algn="ctr"/>
              <a:r>
                <a:rPr lang="en-US" altLang="ko-KR" sz="1000" dirty="0" err="1">
                  <a:solidFill>
                    <a:schemeClr val="tx1"/>
                  </a:solidFill>
                  <a:latin typeface="맑은 고딕" panose="020B0503020000020004" pitchFamily="50" charset="-127"/>
                </a:rPr>
                <a:t>CenterPrcmPymtClmDtlPage</a:t>
              </a:r>
              <a:r>
                <a:rPr lang="en-US" altLang="ko-KR" sz="1000" dirty="0" err="1" smtClean="0">
                  <a:solidFill>
                    <a:schemeClr val="tx1"/>
                  </a:solidFill>
                </a:rPr>
                <a:t>.tsx</a:t>
              </a:r>
              <a:r>
                <a:rPr lang="en-US" altLang="ko-KR" sz="1000" b="1" baseline="30000" dirty="0" smtClean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ko-KR" sz="1000" b="1" baseline="30000" dirty="0">
                  <a:solidFill>
                    <a:schemeClr val="tx1"/>
                  </a:solidFill>
                  <a:latin typeface="+mn-ea"/>
                </a:rPr>
                <a:t>1)</a:t>
              </a:r>
              <a:endParaRPr lang="en-US" altLang="ko-KR" sz="1000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04F2CFBC-290B-2E89-63C0-62C22747051D}"/>
                </a:ext>
              </a:extLst>
            </p:cNvPr>
            <p:cNvSpPr/>
            <p:nvPr/>
          </p:nvSpPr>
          <p:spPr>
            <a:xfrm>
              <a:off x="1265382" y="2090735"/>
              <a:ext cx="1727200" cy="373406"/>
            </a:xfrm>
            <a:prstGeom prst="rect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>
              <a:normAutofit fontScale="70000" lnSpcReduction="20000"/>
            </a:bodyPr>
            <a:lstStyle/>
            <a:p>
              <a:pPr algn="ctr"/>
              <a:r>
                <a:rPr lang="en-US" altLang="ko-KR" sz="1000" dirty="0">
                  <a:solidFill>
                    <a:schemeClr val="tx1"/>
                  </a:solidFill>
                </a:rPr>
                <a:t>&lt;&lt;App Page&gt;&gt;</a:t>
              </a:r>
            </a:p>
            <a:p>
              <a:pPr algn="ctr"/>
              <a:r>
                <a:rPr lang="ko-KR" altLang="en-US" sz="1000" dirty="0" err="1">
                  <a:solidFill>
                    <a:schemeClr val="tx1"/>
                  </a:solidFill>
                  <a:latin typeface="+mn-ea"/>
                </a:rPr>
                <a:t>대금청구</a:t>
              </a:r>
              <a:r>
                <a:rPr lang="ko-KR" altLang="en-US" sz="1000" dirty="0">
                  <a:solidFill>
                    <a:schemeClr val="tx1"/>
                  </a:solidFill>
                  <a:latin typeface="+mn-ea"/>
                </a:rPr>
                <a:t> 상세</a:t>
              </a:r>
              <a:r>
                <a:rPr lang="en-US" altLang="ko-KR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ko-KR" altLang="en-US" sz="1000" dirty="0" err="1">
                  <a:solidFill>
                    <a:schemeClr val="tx1"/>
                  </a:solidFill>
                  <a:latin typeface="+mn-ea"/>
                </a:rPr>
                <a:t>중앙조달</a:t>
              </a:r>
              <a:r>
                <a:rPr lang="en-US" altLang="ko-KR" sz="1000" dirty="0" smtClean="0">
                  <a:solidFill>
                    <a:schemeClr val="tx1"/>
                  </a:solidFill>
                  <a:latin typeface="+mn-ea"/>
                </a:rPr>
                <a:t>)-</a:t>
              </a:r>
              <a:r>
                <a:rPr lang="ko-KR" altLang="en-US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ko-KR" altLang="en-US" sz="1000" dirty="0" err="1">
                  <a:solidFill>
                    <a:schemeClr val="tx1"/>
                  </a:solidFill>
                  <a:latin typeface="+mn-ea"/>
                </a:rPr>
                <a:t>계약정보</a:t>
              </a:r>
              <a:endParaRPr lang="en-US" altLang="ko-KR" sz="1000" dirty="0">
                <a:solidFill>
                  <a:schemeClr val="tx1"/>
                </a:solidFill>
              </a:endParaRPr>
            </a:p>
            <a:p>
              <a:pPr algn="ctr"/>
              <a:r>
                <a:rPr lang="en-US" altLang="ko-KR" sz="1000" dirty="0" err="1" smtClean="0">
                  <a:solidFill>
                    <a:schemeClr val="tx1"/>
                  </a:solidFill>
                  <a:latin typeface="맑은 고딕" panose="020B0503020000020004" pitchFamily="50" charset="-127"/>
                </a:rPr>
                <a:t>CenterPrcmPymtClmDtl_Ctrt.</a:t>
              </a:r>
              <a:r>
                <a:rPr lang="en-US" altLang="ko-KR" sz="1000" dirty="0" err="1" smtClean="0">
                  <a:solidFill>
                    <a:schemeClr val="tx1"/>
                  </a:solidFill>
                </a:rPr>
                <a:t>tsx</a:t>
              </a:r>
              <a:r>
                <a:rPr lang="en-US" altLang="ko-KR" sz="1000" b="1" baseline="30000" dirty="0" smtClean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ko-KR" sz="1000" b="1" baseline="30000" dirty="0">
                  <a:solidFill>
                    <a:schemeClr val="tx1"/>
                  </a:solidFill>
                  <a:latin typeface="+mn-ea"/>
                </a:rPr>
                <a:t>1)</a:t>
              </a:r>
              <a:endParaRPr lang="en-US" altLang="ko-KR" sz="1000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326CB017-8967-4DC4-0EAD-ADB3B9EAB841}"/>
                </a:ext>
              </a:extLst>
            </p:cNvPr>
            <p:cNvSpPr/>
            <p:nvPr/>
          </p:nvSpPr>
          <p:spPr>
            <a:xfrm>
              <a:off x="1265382" y="2538442"/>
              <a:ext cx="1727200" cy="373406"/>
            </a:xfrm>
            <a:prstGeom prst="rect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>
              <a:normAutofit fontScale="62500" lnSpcReduction="200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ko-KR" sz="1000" dirty="0">
                  <a:solidFill>
                    <a:schemeClr val="tx1"/>
                  </a:solidFill>
                </a:rPr>
                <a:t>&lt;&lt;App Page&gt;&gt;</a:t>
              </a:r>
            </a:p>
            <a:p>
              <a:pPr algn="ctr">
                <a:lnSpc>
                  <a:spcPct val="120000"/>
                </a:lnSpc>
              </a:pPr>
              <a:r>
                <a:rPr lang="ko-KR" altLang="en-US" sz="1000" dirty="0" err="1">
                  <a:solidFill>
                    <a:schemeClr val="tx1"/>
                  </a:solidFill>
                  <a:latin typeface="+mn-ea"/>
                </a:rPr>
                <a:t>대금청구</a:t>
              </a:r>
              <a:r>
                <a:rPr lang="ko-KR" altLang="en-US" sz="1000" dirty="0">
                  <a:solidFill>
                    <a:schemeClr val="tx1"/>
                  </a:solidFill>
                  <a:latin typeface="+mn-ea"/>
                </a:rPr>
                <a:t> 상세</a:t>
              </a:r>
              <a:r>
                <a:rPr lang="en-US" altLang="ko-KR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ko-KR" altLang="en-US" sz="1000" dirty="0" err="1">
                  <a:solidFill>
                    <a:schemeClr val="tx1"/>
                  </a:solidFill>
                  <a:latin typeface="+mn-ea"/>
                </a:rPr>
                <a:t>중앙조달</a:t>
              </a:r>
              <a:r>
                <a:rPr lang="en-US" altLang="ko-KR" sz="1000" dirty="0">
                  <a:solidFill>
                    <a:schemeClr val="tx1"/>
                  </a:solidFill>
                  <a:latin typeface="+mn-ea"/>
                </a:rPr>
                <a:t>)-</a:t>
              </a:r>
              <a:r>
                <a:rPr lang="ko-KR" altLang="en-US" sz="1000" dirty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ko-KR" altLang="en-US" sz="1000" dirty="0" err="1">
                  <a:solidFill>
                    <a:schemeClr val="tx1"/>
                  </a:solidFill>
                  <a:latin typeface="+mn-ea"/>
                </a:rPr>
                <a:t>공급자정보</a:t>
              </a:r>
              <a:endParaRPr lang="en-US" altLang="ko-KR" sz="1000" dirty="0">
                <a:solidFill>
                  <a:schemeClr val="tx1"/>
                </a:solidFill>
              </a:endParaRPr>
            </a:p>
            <a:p>
              <a:pPr algn="ctr">
                <a:lnSpc>
                  <a:spcPct val="120000"/>
                </a:lnSpc>
              </a:pPr>
              <a:r>
                <a:rPr lang="en-US" altLang="ko-KR" sz="1000" dirty="0" err="1">
                  <a:solidFill>
                    <a:schemeClr val="tx1"/>
                  </a:solidFill>
                  <a:latin typeface="맑은 고딕" panose="020B0503020000020004" pitchFamily="50" charset="-127"/>
                </a:rPr>
                <a:t>CenterPrcmPymtClmDtl_Splr</a:t>
              </a:r>
              <a:r>
                <a:rPr lang="en-US" altLang="ko-KR" sz="1000" dirty="0" err="1" smtClean="0">
                  <a:solidFill>
                    <a:schemeClr val="tx1"/>
                  </a:solidFill>
                </a:rPr>
                <a:t>.tsx</a:t>
              </a:r>
              <a:r>
                <a:rPr lang="en-US" altLang="ko-KR" sz="1000" b="1" baseline="30000" dirty="0" smtClean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ko-KR" sz="1000" b="1" baseline="30000" dirty="0">
                  <a:solidFill>
                    <a:schemeClr val="tx1"/>
                  </a:solidFill>
                  <a:latin typeface="+mn-ea"/>
                </a:rPr>
                <a:t>1)</a:t>
              </a:r>
              <a:endParaRPr lang="en-US" altLang="ko-KR" sz="1000" dirty="0">
                <a:solidFill>
                  <a:schemeClr val="tx1"/>
                </a:solidFill>
              </a:endParaRPr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326CB017-8967-4DC4-0EAD-ADB3B9EAB841}"/>
                </a:ext>
              </a:extLst>
            </p:cNvPr>
            <p:cNvSpPr/>
            <p:nvPr/>
          </p:nvSpPr>
          <p:spPr>
            <a:xfrm>
              <a:off x="1265382" y="2962386"/>
              <a:ext cx="1727200" cy="373406"/>
            </a:xfrm>
            <a:prstGeom prst="rect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>
              <a:normAutofit fontScale="62500" lnSpcReduction="200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ko-KR" sz="1000" dirty="0">
                  <a:solidFill>
                    <a:schemeClr val="tx1"/>
                  </a:solidFill>
                </a:rPr>
                <a:t>&lt;&lt;App Page&gt;&gt;</a:t>
              </a:r>
            </a:p>
            <a:p>
              <a:pPr algn="ctr">
                <a:lnSpc>
                  <a:spcPct val="120000"/>
                </a:lnSpc>
              </a:pPr>
              <a:r>
                <a:rPr lang="ko-KR" altLang="en-US" sz="1000" dirty="0" err="1">
                  <a:solidFill>
                    <a:schemeClr val="tx1"/>
                  </a:solidFill>
                  <a:latin typeface="+mn-ea"/>
                </a:rPr>
                <a:t>대금청구</a:t>
              </a:r>
              <a:r>
                <a:rPr lang="ko-KR" altLang="en-US" sz="1000" dirty="0">
                  <a:solidFill>
                    <a:schemeClr val="tx1"/>
                  </a:solidFill>
                  <a:latin typeface="+mn-ea"/>
                </a:rPr>
                <a:t> 상세</a:t>
              </a:r>
              <a:r>
                <a:rPr lang="en-US" altLang="ko-KR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ko-KR" altLang="en-US" sz="1000" dirty="0" err="1">
                  <a:solidFill>
                    <a:schemeClr val="tx1"/>
                  </a:solidFill>
                  <a:latin typeface="+mn-ea"/>
                </a:rPr>
                <a:t>중앙조달</a:t>
              </a:r>
              <a:r>
                <a:rPr lang="en-US" altLang="ko-KR" sz="1000" dirty="0">
                  <a:solidFill>
                    <a:schemeClr val="tx1"/>
                  </a:solidFill>
                  <a:latin typeface="+mn-ea"/>
                </a:rPr>
                <a:t>)-</a:t>
              </a:r>
              <a:r>
                <a:rPr lang="ko-KR" altLang="en-US" sz="1000" dirty="0">
                  <a:solidFill>
                    <a:schemeClr val="tx1"/>
                  </a:solidFill>
                  <a:latin typeface="+mn-ea"/>
                </a:rPr>
                <a:t> 대금신청금액</a:t>
              </a:r>
              <a:endParaRPr lang="en-US" altLang="ko-KR" sz="1000" dirty="0">
                <a:solidFill>
                  <a:schemeClr val="tx1"/>
                </a:solidFill>
              </a:endParaRPr>
            </a:p>
            <a:p>
              <a:pPr algn="ctr">
                <a:lnSpc>
                  <a:spcPct val="120000"/>
                </a:lnSpc>
              </a:pPr>
              <a:r>
                <a:rPr lang="en-US" altLang="ko-KR" sz="1000" dirty="0" err="1">
                  <a:solidFill>
                    <a:schemeClr val="tx1"/>
                  </a:solidFill>
                  <a:latin typeface="맑은 고딕" panose="020B0503020000020004" pitchFamily="50" charset="-127"/>
                </a:rPr>
                <a:t>CenterPrcmPymtClmDtl_Pymt</a:t>
              </a:r>
              <a:r>
                <a:rPr lang="en-US" altLang="ko-KR" sz="1000" dirty="0" err="1" smtClean="0">
                  <a:solidFill>
                    <a:schemeClr val="tx1"/>
                  </a:solidFill>
                </a:rPr>
                <a:t>.tsx</a:t>
              </a:r>
              <a:r>
                <a:rPr lang="en-US" altLang="ko-KR" sz="1000" b="1" baseline="30000" dirty="0" smtClean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ko-KR" sz="1000" b="1" baseline="30000" dirty="0">
                  <a:solidFill>
                    <a:schemeClr val="tx1"/>
                  </a:solidFill>
                  <a:latin typeface="+mn-ea"/>
                </a:rPr>
                <a:t>1)</a:t>
              </a:r>
              <a:endParaRPr lang="en-US" altLang="ko-KR" sz="1000" dirty="0">
                <a:solidFill>
                  <a:schemeClr val="tx1"/>
                </a:solidFill>
              </a:endParaRP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326CB017-8967-4DC4-0EAD-ADB3B9EAB841}"/>
                </a:ext>
              </a:extLst>
            </p:cNvPr>
            <p:cNvSpPr/>
            <p:nvPr/>
          </p:nvSpPr>
          <p:spPr>
            <a:xfrm>
              <a:off x="1265382" y="3376001"/>
              <a:ext cx="1727200" cy="373406"/>
            </a:xfrm>
            <a:prstGeom prst="rect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>
              <a:normAutofit fontScale="62500" lnSpcReduction="200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ko-KR" sz="1000" dirty="0">
                  <a:solidFill>
                    <a:schemeClr val="tx1"/>
                  </a:solidFill>
                </a:rPr>
                <a:t>&lt;&lt;App Page&gt;&gt;</a:t>
              </a:r>
            </a:p>
            <a:p>
              <a:pPr algn="ctr">
                <a:lnSpc>
                  <a:spcPct val="120000"/>
                </a:lnSpc>
              </a:pPr>
              <a:r>
                <a:rPr lang="ko-KR" altLang="en-US" sz="1000" dirty="0" err="1">
                  <a:solidFill>
                    <a:schemeClr val="tx1"/>
                  </a:solidFill>
                  <a:latin typeface="+mn-ea"/>
                </a:rPr>
                <a:t>대금청구</a:t>
              </a:r>
              <a:r>
                <a:rPr lang="ko-KR" altLang="en-US" sz="1000" dirty="0">
                  <a:solidFill>
                    <a:schemeClr val="tx1"/>
                  </a:solidFill>
                  <a:latin typeface="+mn-ea"/>
                </a:rPr>
                <a:t> 상세</a:t>
              </a:r>
              <a:r>
                <a:rPr lang="en-US" altLang="ko-KR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ko-KR" altLang="en-US" sz="1000" dirty="0" err="1">
                  <a:solidFill>
                    <a:schemeClr val="tx1"/>
                  </a:solidFill>
                  <a:latin typeface="+mn-ea"/>
                </a:rPr>
                <a:t>중앙조달</a:t>
              </a:r>
              <a:r>
                <a:rPr lang="en-US" altLang="ko-KR" sz="1000" dirty="0">
                  <a:solidFill>
                    <a:schemeClr val="tx1"/>
                  </a:solidFill>
                  <a:latin typeface="+mn-ea"/>
                </a:rPr>
                <a:t>)-</a:t>
              </a:r>
              <a:r>
                <a:rPr lang="ko-KR" altLang="en-US" sz="1000" dirty="0">
                  <a:solidFill>
                    <a:schemeClr val="tx1"/>
                  </a:solidFill>
                  <a:latin typeface="+mn-ea"/>
                </a:rPr>
                <a:t> 세금계산서</a:t>
              </a:r>
              <a:endParaRPr lang="en-US" altLang="ko-KR" sz="1000" dirty="0">
                <a:solidFill>
                  <a:schemeClr val="tx1"/>
                </a:solidFill>
              </a:endParaRPr>
            </a:p>
            <a:p>
              <a:pPr algn="ctr">
                <a:lnSpc>
                  <a:spcPct val="120000"/>
                </a:lnSpc>
              </a:pPr>
              <a:r>
                <a:rPr lang="en-US" altLang="ko-KR" sz="1000" dirty="0" err="1">
                  <a:solidFill>
                    <a:schemeClr val="tx1"/>
                  </a:solidFill>
                  <a:latin typeface="맑은 고딕" panose="020B0503020000020004" pitchFamily="50" charset="-127"/>
                </a:rPr>
                <a:t>CenterPrcmPymtClmDtl_Txiv</a:t>
              </a:r>
              <a:r>
                <a:rPr lang="en-US" altLang="ko-KR" sz="1000" dirty="0" err="1" smtClean="0">
                  <a:solidFill>
                    <a:schemeClr val="tx1"/>
                  </a:solidFill>
                </a:rPr>
                <a:t>.tsx</a:t>
              </a:r>
              <a:r>
                <a:rPr lang="en-US" altLang="ko-KR" sz="1000" b="1" baseline="30000" dirty="0" smtClean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ko-KR" sz="1000" b="1" baseline="30000" dirty="0">
                  <a:solidFill>
                    <a:schemeClr val="tx1"/>
                  </a:solidFill>
                  <a:latin typeface="+mn-ea"/>
                </a:rPr>
                <a:t>1)</a:t>
              </a:r>
              <a:endParaRPr lang="en-US" altLang="ko-KR" sz="1000" dirty="0">
                <a:solidFill>
                  <a:schemeClr val="tx1"/>
                </a:solidFill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326CB017-8967-4DC4-0EAD-ADB3B9EAB841}"/>
                </a:ext>
              </a:extLst>
            </p:cNvPr>
            <p:cNvSpPr/>
            <p:nvPr/>
          </p:nvSpPr>
          <p:spPr>
            <a:xfrm>
              <a:off x="1265382" y="3789616"/>
              <a:ext cx="1727200" cy="373406"/>
            </a:xfrm>
            <a:prstGeom prst="rect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>
              <a:normAutofit fontScale="62500" lnSpcReduction="200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ko-KR" sz="1000" dirty="0">
                  <a:solidFill>
                    <a:schemeClr val="tx1"/>
                  </a:solidFill>
                </a:rPr>
                <a:t>&lt;&lt;App Page&gt;&gt;</a:t>
              </a:r>
            </a:p>
            <a:p>
              <a:pPr algn="ctr">
                <a:lnSpc>
                  <a:spcPct val="120000"/>
                </a:lnSpc>
              </a:pPr>
              <a:r>
                <a:rPr lang="ko-KR" altLang="en-US" sz="1000" dirty="0" err="1">
                  <a:solidFill>
                    <a:schemeClr val="tx1"/>
                  </a:solidFill>
                  <a:latin typeface="+mn-ea"/>
                </a:rPr>
                <a:t>대금청구</a:t>
              </a:r>
              <a:r>
                <a:rPr lang="ko-KR" altLang="en-US" sz="1000" dirty="0">
                  <a:solidFill>
                    <a:schemeClr val="tx1"/>
                  </a:solidFill>
                  <a:latin typeface="+mn-ea"/>
                </a:rPr>
                <a:t> 상세</a:t>
              </a:r>
              <a:r>
                <a:rPr lang="en-US" altLang="ko-KR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ko-KR" altLang="en-US" sz="1000" dirty="0" err="1">
                  <a:solidFill>
                    <a:schemeClr val="tx1"/>
                  </a:solidFill>
                  <a:latin typeface="+mn-ea"/>
                </a:rPr>
                <a:t>부대조달</a:t>
              </a:r>
              <a:r>
                <a:rPr lang="en-US" altLang="ko-KR" sz="1000" dirty="0">
                  <a:solidFill>
                    <a:schemeClr val="tx1"/>
                  </a:solidFill>
                  <a:latin typeface="+mn-ea"/>
                </a:rPr>
                <a:t>)</a:t>
              </a:r>
              <a:endParaRPr lang="en-US" altLang="ko-KR" sz="1000" dirty="0">
                <a:solidFill>
                  <a:schemeClr val="tx1"/>
                </a:solidFill>
              </a:endParaRPr>
            </a:p>
            <a:p>
              <a:pPr algn="ctr">
                <a:lnSpc>
                  <a:spcPct val="120000"/>
                </a:lnSpc>
              </a:pPr>
              <a:r>
                <a:rPr lang="en-US" altLang="ko-KR" sz="1000" dirty="0" err="1">
                  <a:solidFill>
                    <a:schemeClr val="tx1"/>
                  </a:solidFill>
                  <a:latin typeface="맑은 고딕" panose="020B0503020000020004" pitchFamily="50" charset="-127"/>
                </a:rPr>
                <a:t>SbsdPrcmPymtClmDtlPage</a:t>
              </a:r>
              <a:r>
                <a:rPr lang="en-US" altLang="ko-KR" sz="1000" dirty="0" err="1" smtClean="0">
                  <a:solidFill>
                    <a:schemeClr val="tx1"/>
                  </a:solidFill>
                </a:rPr>
                <a:t>.tsx</a:t>
              </a:r>
              <a:r>
                <a:rPr lang="en-US" altLang="ko-KR" sz="1000" b="1" baseline="30000" dirty="0" smtClean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ko-KR" sz="1000" b="1" baseline="30000" dirty="0">
                  <a:solidFill>
                    <a:schemeClr val="tx1"/>
                  </a:solidFill>
                  <a:latin typeface="+mn-ea"/>
                </a:rPr>
                <a:t>1)</a:t>
              </a:r>
              <a:endParaRPr lang="en-US" altLang="ko-KR" sz="1000" dirty="0">
                <a:solidFill>
                  <a:schemeClr val="tx1"/>
                </a:solidFill>
              </a:endParaRP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326CB017-8967-4DC4-0EAD-ADB3B9EAB841}"/>
                </a:ext>
              </a:extLst>
            </p:cNvPr>
            <p:cNvSpPr/>
            <p:nvPr/>
          </p:nvSpPr>
          <p:spPr>
            <a:xfrm>
              <a:off x="1265382" y="4203231"/>
              <a:ext cx="1727200" cy="373406"/>
            </a:xfrm>
            <a:prstGeom prst="rect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>
              <a:normAutofit fontScale="62500" lnSpcReduction="200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ko-KR" sz="1000" dirty="0">
                  <a:solidFill>
                    <a:schemeClr val="tx1"/>
                  </a:solidFill>
                </a:rPr>
                <a:t>&lt;&lt;App Page&gt;&gt;</a:t>
              </a:r>
            </a:p>
            <a:p>
              <a:pPr algn="ctr">
                <a:lnSpc>
                  <a:spcPct val="120000"/>
                </a:lnSpc>
              </a:pPr>
              <a:r>
                <a:rPr lang="ko-KR" altLang="en-US" sz="1000" dirty="0" err="1">
                  <a:solidFill>
                    <a:schemeClr val="tx1"/>
                  </a:solidFill>
                  <a:latin typeface="+mn-ea"/>
                </a:rPr>
                <a:t>대금청구</a:t>
              </a:r>
              <a:r>
                <a:rPr lang="ko-KR" altLang="en-US" sz="1000" dirty="0">
                  <a:solidFill>
                    <a:schemeClr val="tx1"/>
                  </a:solidFill>
                  <a:latin typeface="+mn-ea"/>
                </a:rPr>
                <a:t> 상세</a:t>
              </a:r>
              <a:r>
                <a:rPr lang="en-US" altLang="ko-KR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ko-KR" altLang="en-US" sz="1000" dirty="0" err="1">
                  <a:solidFill>
                    <a:schemeClr val="tx1"/>
                  </a:solidFill>
                  <a:latin typeface="+mn-ea"/>
                </a:rPr>
                <a:t>부대조달</a:t>
              </a:r>
              <a:r>
                <a:rPr lang="en-US" altLang="ko-KR" sz="1000" dirty="0" smtClean="0">
                  <a:solidFill>
                    <a:schemeClr val="tx1"/>
                  </a:solidFill>
                  <a:latin typeface="+mn-ea"/>
                </a:rPr>
                <a:t>)-</a:t>
              </a:r>
              <a:r>
                <a:rPr lang="ko-KR" altLang="en-US" sz="1000" dirty="0">
                  <a:solidFill>
                    <a:srgbClr val="000000"/>
                  </a:solidFill>
                  <a:latin typeface="맑은 고딕" panose="020B0503020000020004" pitchFamily="50" charset="-127"/>
                </a:rPr>
                <a:t> </a:t>
              </a:r>
              <a:r>
                <a:rPr lang="ko-KR" altLang="en-US" sz="1000" dirty="0" err="1">
                  <a:solidFill>
                    <a:srgbClr val="000000"/>
                  </a:solidFill>
                  <a:latin typeface="맑은 고딕" panose="020B0503020000020004" pitchFamily="50" charset="-127"/>
                </a:rPr>
                <a:t>계약정보</a:t>
              </a:r>
              <a:endParaRPr lang="en-US" altLang="ko-KR" sz="1000" dirty="0">
                <a:solidFill>
                  <a:schemeClr val="tx1"/>
                </a:solidFill>
              </a:endParaRPr>
            </a:p>
            <a:p>
              <a:pPr algn="ctr">
                <a:lnSpc>
                  <a:spcPct val="120000"/>
                </a:lnSpc>
              </a:pPr>
              <a:r>
                <a:rPr lang="en-US" altLang="ko-KR" sz="1000" dirty="0" err="1">
                  <a:solidFill>
                    <a:schemeClr val="tx1"/>
                  </a:solidFill>
                  <a:latin typeface="맑은 고딕" panose="020B0503020000020004" pitchFamily="50" charset="-127"/>
                </a:rPr>
                <a:t>SbsdPrcmPymtClmDtl_Ctrt</a:t>
              </a:r>
              <a:r>
                <a:rPr lang="en-US" altLang="ko-KR" sz="1000" dirty="0" err="1" smtClean="0">
                  <a:solidFill>
                    <a:schemeClr val="tx1"/>
                  </a:solidFill>
                  <a:latin typeface="맑은 고딕" panose="020B0503020000020004" pitchFamily="50" charset="-127"/>
                </a:rPr>
                <a:t>.</a:t>
              </a:r>
              <a:r>
                <a:rPr lang="en-US" altLang="ko-KR" sz="1000" dirty="0" err="1" smtClean="0">
                  <a:solidFill>
                    <a:schemeClr val="tx1"/>
                  </a:solidFill>
                </a:rPr>
                <a:t>tsx</a:t>
              </a:r>
              <a:r>
                <a:rPr lang="en-US" altLang="ko-KR" sz="1000" b="1" baseline="30000" dirty="0" smtClean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ko-KR" sz="1000" b="1" baseline="30000" dirty="0">
                  <a:solidFill>
                    <a:schemeClr val="tx1"/>
                  </a:solidFill>
                  <a:latin typeface="+mn-ea"/>
                </a:rPr>
                <a:t>1)</a:t>
              </a:r>
              <a:endParaRPr lang="en-US" altLang="ko-KR" sz="1000" dirty="0">
                <a:solidFill>
                  <a:schemeClr val="tx1"/>
                </a:solidFill>
              </a:endParaRP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326CB017-8967-4DC4-0EAD-ADB3B9EAB841}"/>
                </a:ext>
              </a:extLst>
            </p:cNvPr>
            <p:cNvSpPr/>
            <p:nvPr/>
          </p:nvSpPr>
          <p:spPr>
            <a:xfrm>
              <a:off x="1265382" y="4623261"/>
              <a:ext cx="1727200" cy="373406"/>
            </a:xfrm>
            <a:prstGeom prst="rect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>
              <a:normAutofit fontScale="62500" lnSpcReduction="200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ko-KR" sz="1000" dirty="0">
                  <a:solidFill>
                    <a:schemeClr val="tx1"/>
                  </a:solidFill>
                </a:rPr>
                <a:t>&lt;&lt;App Page&gt;&gt;</a:t>
              </a:r>
            </a:p>
            <a:p>
              <a:pPr algn="ctr">
                <a:lnSpc>
                  <a:spcPct val="120000"/>
                </a:lnSpc>
              </a:pPr>
              <a:r>
                <a:rPr lang="ko-KR" altLang="en-US" sz="1000" dirty="0" err="1">
                  <a:solidFill>
                    <a:schemeClr val="tx1"/>
                  </a:solidFill>
                  <a:latin typeface="+mn-ea"/>
                </a:rPr>
                <a:t>대금청구</a:t>
              </a:r>
              <a:r>
                <a:rPr lang="ko-KR" altLang="en-US" sz="1000" dirty="0">
                  <a:solidFill>
                    <a:schemeClr val="tx1"/>
                  </a:solidFill>
                  <a:latin typeface="+mn-ea"/>
                </a:rPr>
                <a:t> 상세</a:t>
              </a:r>
              <a:r>
                <a:rPr lang="en-US" altLang="ko-KR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ko-KR" altLang="en-US" sz="1000" dirty="0" err="1">
                  <a:solidFill>
                    <a:schemeClr val="tx1"/>
                  </a:solidFill>
                  <a:latin typeface="+mn-ea"/>
                </a:rPr>
                <a:t>부대조달</a:t>
              </a:r>
              <a:r>
                <a:rPr lang="en-US" altLang="ko-KR" sz="1000" dirty="0" smtClean="0">
                  <a:solidFill>
                    <a:schemeClr val="tx1"/>
                  </a:solidFill>
                  <a:latin typeface="+mn-ea"/>
                </a:rPr>
                <a:t>)-</a:t>
              </a:r>
              <a:r>
                <a:rPr lang="ko-KR" altLang="en-US" sz="1000" dirty="0">
                  <a:solidFill>
                    <a:srgbClr val="000000"/>
                  </a:solidFill>
                  <a:latin typeface="맑은 고딕" panose="020B0503020000020004" pitchFamily="50" charset="-127"/>
                </a:rPr>
                <a:t> 대금신청업체정보</a:t>
              </a:r>
              <a:endParaRPr lang="en-US" altLang="ko-KR" sz="1000" dirty="0">
                <a:solidFill>
                  <a:schemeClr val="tx1"/>
                </a:solidFill>
              </a:endParaRPr>
            </a:p>
            <a:p>
              <a:pPr algn="ctr">
                <a:lnSpc>
                  <a:spcPct val="120000"/>
                </a:lnSpc>
              </a:pPr>
              <a:r>
                <a:rPr lang="en-US" altLang="ko-KR" sz="1000" dirty="0" err="1">
                  <a:solidFill>
                    <a:schemeClr val="tx1"/>
                  </a:solidFill>
                  <a:latin typeface="맑은 고딕" panose="020B0503020000020004" pitchFamily="50" charset="-127"/>
                </a:rPr>
                <a:t>SbsdPrcmPymtClmDtl_PymtBzenty</a:t>
              </a:r>
              <a:r>
                <a:rPr lang="en-US" altLang="ko-KR" sz="1000" dirty="0" err="1" smtClean="0">
                  <a:solidFill>
                    <a:schemeClr val="tx1"/>
                  </a:solidFill>
                </a:rPr>
                <a:t>.tsx</a:t>
              </a:r>
              <a:r>
                <a:rPr lang="en-US" altLang="ko-KR" sz="1000" b="1" baseline="30000" dirty="0" smtClean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ko-KR" sz="1000" b="1" baseline="30000" dirty="0">
                  <a:solidFill>
                    <a:schemeClr val="tx1"/>
                  </a:solidFill>
                  <a:latin typeface="+mn-ea"/>
                </a:rPr>
                <a:t>1)</a:t>
              </a:r>
              <a:endParaRPr lang="en-US" altLang="ko-KR" sz="1000" dirty="0">
                <a:solidFill>
                  <a:schemeClr val="tx1"/>
                </a:solidFill>
              </a:endParaRPr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326CB017-8967-4DC4-0EAD-ADB3B9EAB841}"/>
                </a:ext>
              </a:extLst>
            </p:cNvPr>
            <p:cNvSpPr/>
            <p:nvPr/>
          </p:nvSpPr>
          <p:spPr>
            <a:xfrm>
              <a:off x="1265382" y="5029886"/>
              <a:ext cx="1727200" cy="373406"/>
            </a:xfrm>
            <a:prstGeom prst="rect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>
              <a:normAutofit fontScale="62500" lnSpcReduction="200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ko-KR" sz="1000" dirty="0">
                  <a:solidFill>
                    <a:schemeClr val="tx1"/>
                  </a:solidFill>
                </a:rPr>
                <a:t>&lt;&lt;App Page&gt;&gt;</a:t>
              </a:r>
            </a:p>
            <a:p>
              <a:pPr algn="ctr">
                <a:lnSpc>
                  <a:spcPct val="120000"/>
                </a:lnSpc>
              </a:pPr>
              <a:r>
                <a:rPr lang="ko-KR" altLang="en-US" sz="1000" dirty="0" err="1">
                  <a:solidFill>
                    <a:schemeClr val="tx1"/>
                  </a:solidFill>
                  <a:latin typeface="+mn-ea"/>
                </a:rPr>
                <a:t>대금청구</a:t>
              </a:r>
              <a:r>
                <a:rPr lang="ko-KR" altLang="en-US" sz="1000" dirty="0">
                  <a:solidFill>
                    <a:schemeClr val="tx1"/>
                  </a:solidFill>
                  <a:latin typeface="+mn-ea"/>
                </a:rPr>
                <a:t> 상세</a:t>
              </a:r>
              <a:r>
                <a:rPr lang="en-US" altLang="ko-KR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ko-KR" altLang="en-US" sz="1000" dirty="0" err="1">
                  <a:solidFill>
                    <a:schemeClr val="tx1"/>
                  </a:solidFill>
                  <a:latin typeface="+mn-ea"/>
                </a:rPr>
                <a:t>부대조달</a:t>
              </a:r>
              <a:r>
                <a:rPr lang="en-US" altLang="ko-KR" sz="1000" dirty="0" smtClean="0">
                  <a:solidFill>
                    <a:schemeClr val="tx1"/>
                  </a:solidFill>
                  <a:latin typeface="+mn-ea"/>
                </a:rPr>
                <a:t>)-</a:t>
              </a:r>
              <a:r>
                <a:rPr lang="ko-KR" altLang="en-US" sz="1000" dirty="0">
                  <a:solidFill>
                    <a:srgbClr val="000000"/>
                  </a:solidFill>
                  <a:latin typeface="맑은 고딕" panose="020B0503020000020004" pitchFamily="50" charset="-127"/>
                </a:rPr>
                <a:t> 대금신청금액</a:t>
              </a:r>
              <a:endParaRPr lang="en-US" altLang="ko-KR" sz="1000" dirty="0">
                <a:solidFill>
                  <a:schemeClr val="tx1"/>
                </a:solidFill>
              </a:endParaRPr>
            </a:p>
            <a:p>
              <a:pPr algn="ctr">
                <a:lnSpc>
                  <a:spcPct val="120000"/>
                </a:lnSpc>
              </a:pPr>
              <a:r>
                <a:rPr lang="en-US" altLang="ko-KR" sz="1000" dirty="0" err="1">
                  <a:solidFill>
                    <a:schemeClr val="tx1"/>
                  </a:solidFill>
                  <a:latin typeface="맑은 고딕" panose="020B0503020000020004" pitchFamily="50" charset="-127"/>
                </a:rPr>
                <a:t>SbsdPrcmPymtClmDtl_PymtAply</a:t>
              </a:r>
              <a:r>
                <a:rPr lang="en-US" altLang="ko-KR" sz="1000" dirty="0" err="1" smtClean="0">
                  <a:solidFill>
                    <a:schemeClr val="tx1"/>
                  </a:solidFill>
                </a:rPr>
                <a:t>.tsx</a:t>
              </a:r>
              <a:r>
                <a:rPr lang="en-US" altLang="ko-KR" sz="1000" b="1" baseline="30000" dirty="0" smtClean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ko-KR" sz="1000" b="1" baseline="30000" dirty="0">
                  <a:solidFill>
                    <a:schemeClr val="tx1"/>
                  </a:solidFill>
                  <a:latin typeface="+mn-ea"/>
                </a:rPr>
                <a:t>1)</a:t>
              </a:r>
              <a:endParaRPr lang="en-US" altLang="ko-KR" sz="1000" dirty="0">
                <a:solidFill>
                  <a:schemeClr val="tx1"/>
                </a:solidFill>
              </a:endParaRPr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326CB017-8967-4DC4-0EAD-ADB3B9EAB841}"/>
                </a:ext>
              </a:extLst>
            </p:cNvPr>
            <p:cNvSpPr/>
            <p:nvPr/>
          </p:nvSpPr>
          <p:spPr>
            <a:xfrm>
              <a:off x="1265382" y="5436511"/>
              <a:ext cx="1727200" cy="373406"/>
            </a:xfrm>
            <a:prstGeom prst="rect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>
              <a:normAutofit fontScale="62500" lnSpcReduction="200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ko-KR" sz="1000" dirty="0">
                  <a:solidFill>
                    <a:schemeClr val="tx1"/>
                  </a:solidFill>
                </a:rPr>
                <a:t>&lt;&lt;App Page&gt;&gt;</a:t>
              </a:r>
            </a:p>
            <a:p>
              <a:pPr algn="ctr">
                <a:lnSpc>
                  <a:spcPct val="120000"/>
                </a:lnSpc>
              </a:pPr>
              <a:r>
                <a:rPr lang="ko-KR" altLang="en-US" sz="1000" dirty="0" err="1">
                  <a:solidFill>
                    <a:schemeClr val="tx1"/>
                  </a:solidFill>
                  <a:latin typeface="+mn-ea"/>
                </a:rPr>
                <a:t>대금청구</a:t>
              </a:r>
              <a:r>
                <a:rPr lang="ko-KR" altLang="en-US" sz="1000" dirty="0">
                  <a:solidFill>
                    <a:schemeClr val="tx1"/>
                  </a:solidFill>
                  <a:latin typeface="+mn-ea"/>
                </a:rPr>
                <a:t> 상세</a:t>
              </a:r>
              <a:r>
                <a:rPr lang="en-US" altLang="ko-KR" sz="1000" dirty="0">
                  <a:solidFill>
                    <a:schemeClr val="tx1"/>
                  </a:solidFill>
                  <a:latin typeface="+mn-ea"/>
                </a:rPr>
                <a:t>(</a:t>
              </a:r>
              <a:r>
                <a:rPr lang="ko-KR" altLang="en-US" sz="1000" dirty="0" err="1">
                  <a:solidFill>
                    <a:schemeClr val="tx1"/>
                  </a:solidFill>
                  <a:latin typeface="+mn-ea"/>
                </a:rPr>
                <a:t>부대조달</a:t>
              </a:r>
              <a:r>
                <a:rPr lang="en-US" altLang="ko-KR" sz="1000" dirty="0" smtClean="0">
                  <a:solidFill>
                    <a:schemeClr val="tx1"/>
                  </a:solidFill>
                  <a:latin typeface="+mn-ea"/>
                </a:rPr>
                <a:t>)-</a:t>
              </a:r>
              <a:r>
                <a:rPr lang="ko-KR" altLang="en-US" sz="1000" dirty="0">
                  <a:solidFill>
                    <a:srgbClr val="000000"/>
                  </a:solidFill>
                  <a:latin typeface="맑은 고딕" panose="020B0503020000020004" pitchFamily="50" charset="-127"/>
                </a:rPr>
                <a:t> 첨부파일</a:t>
              </a:r>
              <a:endParaRPr lang="en-US" altLang="ko-KR" sz="1000" dirty="0">
                <a:solidFill>
                  <a:schemeClr val="tx1"/>
                </a:solidFill>
              </a:endParaRPr>
            </a:p>
            <a:p>
              <a:pPr algn="ctr">
                <a:lnSpc>
                  <a:spcPct val="120000"/>
                </a:lnSpc>
              </a:pPr>
              <a:r>
                <a:rPr lang="en-US" altLang="ko-KR" sz="1000" dirty="0" err="1">
                  <a:solidFill>
                    <a:schemeClr val="tx1"/>
                  </a:solidFill>
                  <a:latin typeface="맑은 고딕" panose="020B0503020000020004" pitchFamily="50" charset="-127"/>
                </a:rPr>
                <a:t>SbsdPrcmPymtClmDtl_Atch</a:t>
              </a:r>
              <a:r>
                <a:rPr lang="en-US" altLang="ko-KR" sz="1000" dirty="0" err="1" smtClean="0">
                  <a:solidFill>
                    <a:schemeClr val="tx1"/>
                  </a:solidFill>
                </a:rPr>
                <a:t>.tsx</a:t>
              </a:r>
              <a:r>
                <a:rPr lang="en-US" altLang="ko-KR" sz="1000" b="1" baseline="30000" dirty="0" smtClean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ko-KR" sz="1000" b="1" baseline="30000" dirty="0">
                  <a:solidFill>
                    <a:schemeClr val="tx1"/>
                  </a:solidFill>
                  <a:latin typeface="+mn-ea"/>
                </a:rPr>
                <a:t>1)</a:t>
              </a:r>
              <a:endParaRPr lang="en-US" altLang="ko-KR" sz="10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8DD2481F-89D8-25C0-6E6F-7535C857EB4B}"/>
              </a:ext>
            </a:extLst>
          </p:cNvPr>
          <p:cNvCxnSpPr>
            <a:stCxn id="7" idx="3"/>
            <a:endCxn id="9" idx="1"/>
          </p:cNvCxnSpPr>
          <p:nvPr/>
        </p:nvCxnSpPr>
        <p:spPr>
          <a:xfrm>
            <a:off x="2992582" y="2335492"/>
            <a:ext cx="967509" cy="6546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7822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001FFA-599C-959F-11FF-54498DB5D01F}"/>
              </a:ext>
            </a:extLst>
          </p:cNvPr>
          <p:cNvSpPr/>
          <p:nvPr/>
        </p:nvSpPr>
        <p:spPr>
          <a:xfrm>
            <a:off x="6266873" y="1283855"/>
            <a:ext cx="27432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DDF51E2-AA54-3898-F986-0D5FDFD8B700}"/>
              </a:ext>
            </a:extLst>
          </p:cNvPr>
          <p:cNvSpPr/>
          <p:nvPr/>
        </p:nvSpPr>
        <p:spPr>
          <a:xfrm>
            <a:off x="895927" y="1283855"/>
            <a:ext cx="51816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화면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12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1.3 </a:t>
            </a:r>
            <a:r>
              <a:rPr lang="ko-KR" altLang="en-US" dirty="0"/>
              <a:t>앱 구성 다이어그램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636459" y="2747194"/>
            <a:ext cx="2281118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 err="1"/>
              <a:t>대금청구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 smtClean="0"/>
              <a:t>PymtClmController</a:t>
            </a:r>
            <a:endParaRPr lang="en-US" altLang="ko-KR" sz="11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DD2481F-89D8-25C0-6E6F-7535C857EB4B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2992582" y="1830843"/>
            <a:ext cx="967509" cy="11593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F6B56CB-1ACF-E509-9762-CFE025648775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2992582" y="2824241"/>
            <a:ext cx="967509" cy="165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18" idx="3"/>
            <a:endCxn id="9" idx="1"/>
          </p:cNvCxnSpPr>
          <p:nvPr/>
        </p:nvCxnSpPr>
        <p:spPr>
          <a:xfrm flipV="1">
            <a:off x="2992582" y="2990174"/>
            <a:ext cx="967509" cy="2968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687291" y="2990174"/>
            <a:ext cx="94916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 Box 73">
            <a:extLst>
              <a:ext uri="{FF2B5EF4-FFF2-40B4-BE49-F238E27FC236}">
                <a16:creationId xmlns:a16="http://schemas.microsoft.com/office/drawing/2014/main" id="{76C9ABC8-A4D3-5907-4020-49C93E468F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694" y="113645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2992582" y="2990174"/>
            <a:ext cx="967509" cy="7484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2" idx="3"/>
            <a:endCxn id="9" idx="1"/>
          </p:cNvCxnSpPr>
          <p:nvPr/>
        </p:nvCxnSpPr>
        <p:spPr>
          <a:xfrm flipV="1">
            <a:off x="2992582" y="2990174"/>
            <a:ext cx="967509" cy="11999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7" idx="3"/>
            <a:endCxn id="9" idx="1"/>
          </p:cNvCxnSpPr>
          <p:nvPr/>
        </p:nvCxnSpPr>
        <p:spPr>
          <a:xfrm flipV="1">
            <a:off x="2992582" y="2990174"/>
            <a:ext cx="967509" cy="16514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0" idx="3"/>
            <a:endCxn id="9" idx="1"/>
          </p:cNvCxnSpPr>
          <p:nvPr/>
        </p:nvCxnSpPr>
        <p:spPr>
          <a:xfrm flipV="1">
            <a:off x="2992582" y="2990174"/>
            <a:ext cx="967509" cy="21100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36975C9-B669-2E0F-A599-7B64FBAF2727}"/>
              </a:ext>
            </a:extLst>
          </p:cNvPr>
          <p:cNvSpPr/>
          <p:nvPr/>
        </p:nvSpPr>
        <p:spPr>
          <a:xfrm>
            <a:off x="749717" y="1026000"/>
            <a:ext cx="1946169" cy="184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200" dirty="0">
                <a:solidFill>
                  <a:schemeClr val="tx1"/>
                </a:solidFill>
              </a:rPr>
              <a:t>1.3.1 </a:t>
            </a:r>
            <a:r>
              <a:rPr lang="ko-KR" altLang="en-US" sz="1200" dirty="0" err="1" smtClean="0">
                <a:solidFill>
                  <a:schemeClr val="tx1"/>
                </a:solidFill>
              </a:rPr>
              <a:t>대금청구및사후</a:t>
            </a:r>
            <a:r>
              <a:rPr lang="ko-KR" altLang="en-US" sz="1200" dirty="0" smtClean="0">
                <a:solidFill>
                  <a:schemeClr val="tx1"/>
                </a:solidFill>
              </a:rPr>
              <a:t> </a:t>
            </a:r>
            <a:r>
              <a:rPr lang="en-US" altLang="ko-KR" sz="1200" dirty="0" smtClean="0">
                <a:solidFill>
                  <a:schemeClr val="tx1"/>
                </a:solidFill>
              </a:rPr>
              <a:t>(3/3)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7" idx="3"/>
            <a:endCxn id="9" idx="1"/>
          </p:cNvCxnSpPr>
          <p:nvPr/>
        </p:nvCxnSpPr>
        <p:spPr>
          <a:xfrm flipV="1">
            <a:off x="2992582" y="2990174"/>
            <a:ext cx="967509" cy="25539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9" idx="3"/>
            <a:endCxn id="9" idx="1"/>
          </p:cNvCxnSpPr>
          <p:nvPr/>
        </p:nvCxnSpPr>
        <p:spPr>
          <a:xfrm flipV="1">
            <a:off x="2992582" y="2990174"/>
            <a:ext cx="967509" cy="29978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D7B626-4B5C-AE29-EFB9-628750B32B78}"/>
              </a:ext>
            </a:extLst>
          </p:cNvPr>
          <p:cNvSpPr/>
          <p:nvPr/>
        </p:nvSpPr>
        <p:spPr>
          <a:xfrm>
            <a:off x="1265382" y="1644140"/>
            <a:ext cx="1727200" cy="40763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75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대금청구</a:t>
            </a: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 상세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(</a:t>
            </a: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공사</a:t>
            </a:r>
            <a:r>
              <a:rPr lang="en-US" altLang="ko-KR" sz="1000" dirty="0" smtClean="0">
                <a:solidFill>
                  <a:schemeClr val="tx1"/>
                </a:solidFill>
                <a:latin typeface="+mn-ea"/>
              </a:rPr>
              <a:t>)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맑은 고딕" panose="020B0503020000020004" pitchFamily="50" charset="-127"/>
              </a:rPr>
              <a:t>CstrnPymtClmDtlPage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F2CFBC-290B-2E89-63C0-62C22747051D}"/>
              </a:ext>
            </a:extLst>
          </p:cNvPr>
          <p:cNvSpPr/>
          <p:nvPr/>
        </p:nvSpPr>
        <p:spPr>
          <a:xfrm>
            <a:off x="1265382" y="2131674"/>
            <a:ext cx="1727200" cy="40763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75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대금청구</a:t>
            </a: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 상세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(</a:t>
            </a: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공사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) </a:t>
            </a:r>
            <a:r>
              <a:rPr lang="en-US" altLang="ko-KR" sz="1000" dirty="0" smtClean="0">
                <a:solidFill>
                  <a:schemeClr val="tx1"/>
                </a:solidFill>
                <a:latin typeface="+mn-ea"/>
              </a:rPr>
              <a:t>-</a:t>
            </a:r>
            <a:r>
              <a:rPr lang="ko-KR" altLang="en-US" sz="1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계약정보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 smtClean="0">
                <a:solidFill>
                  <a:schemeClr val="tx1"/>
                </a:solidFill>
                <a:latin typeface="맑은 고딕" panose="020B0503020000020004" pitchFamily="50" charset="-127"/>
              </a:rPr>
              <a:t>CstrnPymtClmDtl_Ctrt.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620423"/>
            <a:ext cx="1727200" cy="40763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대금청구</a:t>
            </a: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 상세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(</a:t>
            </a: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공사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) </a:t>
            </a:r>
            <a:r>
              <a:rPr lang="en-US" altLang="ko-KR" sz="1000" dirty="0" smtClean="0">
                <a:solidFill>
                  <a:schemeClr val="tx1"/>
                </a:solidFill>
                <a:latin typeface="+mn-ea"/>
              </a:rPr>
              <a:t>-</a:t>
            </a:r>
            <a:r>
              <a:rPr lang="ko-KR" altLang="en-US" sz="1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000" dirty="0">
                <a:solidFill>
                  <a:srgbClr val="000000"/>
                </a:solidFill>
                <a:latin typeface="맑은 고딕" panose="020B0503020000020004" pitchFamily="50" charset="-127"/>
              </a:rPr>
              <a:t>대가지급업체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맑은 고딕" panose="020B0503020000020004" pitchFamily="50" charset="-127"/>
              </a:rPr>
              <a:t>CstrnPymtClmDtl_GiveBzenty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083230"/>
            <a:ext cx="1727200" cy="40763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대금청구</a:t>
            </a: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 상세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(</a:t>
            </a: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공사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) -</a:t>
            </a: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000" dirty="0">
                <a:solidFill>
                  <a:srgbClr val="000000"/>
                </a:solidFill>
                <a:latin typeface="맑은 고딕" panose="020B0503020000020004" pitchFamily="50" charset="-127"/>
              </a:rPr>
              <a:t>첨부파일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맑은 고딕" panose="020B0503020000020004" pitchFamily="50" charset="-127"/>
              </a:rPr>
              <a:t>CstrnPymtClmDtl_Atch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534761"/>
            <a:ext cx="1727200" cy="40763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대금청구</a:t>
            </a: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 상세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(</a:t>
            </a: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기성대가</a:t>
            </a:r>
            <a:r>
              <a:rPr lang="en-US" altLang="ko-KR" sz="1000" dirty="0" smtClean="0">
                <a:solidFill>
                  <a:schemeClr val="tx1"/>
                </a:solidFill>
                <a:latin typeface="+mn-ea"/>
              </a:rPr>
              <a:t>)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맑은 고딕" panose="020B0503020000020004" pitchFamily="50" charset="-127"/>
              </a:rPr>
              <a:t>PxcndCstPymtClmDtlPage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986292"/>
            <a:ext cx="1727200" cy="40763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대금청구</a:t>
            </a: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 상세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(</a:t>
            </a: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기성대가</a:t>
            </a:r>
            <a:r>
              <a:rPr lang="en-US" altLang="ko-KR" sz="1000" dirty="0" smtClean="0">
                <a:solidFill>
                  <a:schemeClr val="tx1"/>
                </a:solidFill>
                <a:latin typeface="+mn-ea"/>
              </a:rPr>
              <a:t>)-</a:t>
            </a:r>
            <a:r>
              <a:rPr lang="ko-KR" altLang="en-US" sz="1000" dirty="0">
                <a:solidFill>
                  <a:srgbClr val="000000"/>
                </a:solidFill>
                <a:latin typeface="맑은 고딕" panose="020B0503020000020004" pitchFamily="50" charset="-127"/>
              </a:rPr>
              <a:t> </a:t>
            </a:r>
            <a:r>
              <a:rPr lang="ko-KR" altLang="en-US" sz="10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계약정보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PxcndCstPymtClmDtl_Ctrt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437823"/>
            <a:ext cx="1727200" cy="40763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대금청구</a:t>
            </a: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 상세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(</a:t>
            </a: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기성대가</a:t>
            </a:r>
            <a:r>
              <a:rPr lang="en-US" altLang="ko-KR" sz="1000" dirty="0" smtClean="0">
                <a:solidFill>
                  <a:schemeClr val="tx1"/>
                </a:solidFill>
                <a:latin typeface="+mn-ea"/>
              </a:rPr>
              <a:t>)-</a:t>
            </a:r>
            <a:r>
              <a:rPr lang="ko-KR" altLang="en-US" sz="1000" dirty="0">
                <a:solidFill>
                  <a:srgbClr val="000000"/>
                </a:solidFill>
                <a:latin typeface="맑은 고딕" panose="020B0503020000020004" pitchFamily="50" charset="-127"/>
              </a:rPr>
              <a:t> 기성대가신청금액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PxcndCstPymtClmDtl_PxcndPymt</a:t>
            </a:r>
            <a:r>
              <a:rPr lang="en-US" altLang="ko-KR" sz="1000" dirty="0" err="1" smtClean="0">
                <a:solidFill>
                  <a:schemeClr val="tx1"/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896357"/>
            <a:ext cx="1727200" cy="40763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대금청구</a:t>
            </a: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 상세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(</a:t>
            </a: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기성대가</a:t>
            </a:r>
            <a:r>
              <a:rPr lang="en-US" altLang="ko-KR" sz="1000" dirty="0" smtClean="0">
                <a:solidFill>
                  <a:schemeClr val="tx1"/>
                </a:solidFill>
                <a:latin typeface="+mn-ea"/>
              </a:rPr>
              <a:t>)-</a:t>
            </a:r>
            <a:r>
              <a:rPr lang="ko-KR" altLang="en-US" sz="1000" dirty="0">
                <a:solidFill>
                  <a:srgbClr val="000000"/>
                </a:solidFill>
                <a:latin typeface="맑은 고딕" panose="020B0503020000020004" pitchFamily="50" charset="-127"/>
              </a:rPr>
              <a:t> 세금계산서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PxcndCstPymtClmDtl_Txiv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340258"/>
            <a:ext cx="1727200" cy="40763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대금청구</a:t>
            </a: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 상세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(</a:t>
            </a: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기성대가</a:t>
            </a:r>
            <a:r>
              <a:rPr lang="en-US" altLang="ko-KR" sz="1000" dirty="0" smtClean="0">
                <a:solidFill>
                  <a:schemeClr val="tx1"/>
                </a:solidFill>
                <a:latin typeface="+mn-ea"/>
              </a:rPr>
              <a:t>)-</a:t>
            </a:r>
            <a:r>
              <a:rPr lang="ko-KR" altLang="en-US" sz="1000" dirty="0">
                <a:solidFill>
                  <a:srgbClr val="000000"/>
                </a:solidFill>
                <a:latin typeface="맑은 고딕" panose="020B0503020000020004" pitchFamily="50" charset="-127"/>
              </a:rPr>
              <a:t> 첨부파일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PxcndCstPymtClmDtl_Atch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784158"/>
            <a:ext cx="1727200" cy="40763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대금청구</a:t>
            </a: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 안내문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맑은 고딕" panose="020B0503020000020004" pitchFamily="50" charset="-127"/>
              </a:rPr>
              <a:t>PymtClmGdntc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8DD2481F-89D8-25C0-6E6F-7535C857EB4B}"/>
              </a:ext>
            </a:extLst>
          </p:cNvPr>
          <p:cNvCxnSpPr>
            <a:stCxn id="7" idx="3"/>
            <a:endCxn id="9" idx="1"/>
          </p:cNvCxnSpPr>
          <p:nvPr/>
        </p:nvCxnSpPr>
        <p:spPr>
          <a:xfrm>
            <a:off x="2992582" y="2335492"/>
            <a:ext cx="967509" cy="6546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" name="그룹 4"/>
          <p:cNvGrpSpPr/>
          <p:nvPr/>
        </p:nvGrpSpPr>
        <p:grpSpPr>
          <a:xfrm>
            <a:off x="3096492" y="5784158"/>
            <a:ext cx="2895006" cy="407636"/>
            <a:chOff x="3096491" y="5784158"/>
            <a:chExt cx="3558309" cy="407636"/>
          </a:xfrm>
        </p:grpSpPr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326CB017-8967-4DC4-0EAD-ADB3B9EAB841}"/>
                </a:ext>
              </a:extLst>
            </p:cNvPr>
            <p:cNvSpPr/>
            <p:nvPr/>
          </p:nvSpPr>
          <p:spPr>
            <a:xfrm>
              <a:off x="3096491" y="5784158"/>
              <a:ext cx="1727200" cy="407636"/>
            </a:xfrm>
            <a:prstGeom prst="rect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>
              <a:normAutofit fontScale="62500" lnSpcReduction="200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ko-KR" sz="1000" dirty="0">
                  <a:solidFill>
                    <a:schemeClr val="tx1"/>
                  </a:solidFill>
                </a:rPr>
                <a:t>&lt;&lt;App Page&gt;&gt;</a:t>
              </a:r>
            </a:p>
            <a:p>
              <a:pPr algn="ctr">
                <a:lnSpc>
                  <a:spcPct val="120000"/>
                </a:lnSpc>
              </a:pPr>
              <a:r>
                <a:rPr lang="ko-KR" altLang="en-US" sz="1000" dirty="0">
                  <a:solidFill>
                    <a:schemeClr val="tx1"/>
                  </a:solidFill>
                  <a:latin typeface="+mn-ea"/>
                </a:rPr>
                <a:t>대금청구진행현황</a:t>
              </a:r>
              <a:endParaRPr lang="en-US" altLang="ko-KR" sz="1000" dirty="0">
                <a:solidFill>
                  <a:schemeClr val="tx1"/>
                </a:solidFill>
              </a:endParaRPr>
            </a:p>
            <a:p>
              <a:pPr algn="ctr">
                <a:lnSpc>
                  <a:spcPct val="120000"/>
                </a:lnSpc>
              </a:pPr>
              <a:r>
                <a:rPr lang="en-US" altLang="ko-KR" sz="1000" dirty="0" err="1">
                  <a:solidFill>
                    <a:schemeClr val="tx1"/>
                  </a:solidFill>
                  <a:latin typeface="맑은 고딕" panose="020B0503020000020004" pitchFamily="50" charset="-127"/>
                </a:rPr>
                <a:t>PymtClmPrgrsPrstPage</a:t>
              </a:r>
              <a:r>
                <a:rPr lang="en-US" altLang="ko-KR" sz="1000" dirty="0" err="1" smtClean="0">
                  <a:solidFill>
                    <a:schemeClr val="tx1"/>
                  </a:solidFill>
                </a:rPr>
                <a:t>.tsx</a:t>
              </a:r>
              <a:r>
                <a:rPr lang="en-US" altLang="ko-KR" sz="1000" b="1" baseline="30000" dirty="0" smtClean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ko-KR" sz="1000" b="1" baseline="30000" dirty="0">
                  <a:solidFill>
                    <a:schemeClr val="tx1"/>
                  </a:solidFill>
                  <a:latin typeface="+mn-ea"/>
                </a:rPr>
                <a:t>1)</a:t>
              </a:r>
              <a:endParaRPr lang="en-US" altLang="ko-KR" sz="1000" dirty="0">
                <a:solidFill>
                  <a:schemeClr val="tx1"/>
                </a:solidFill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326CB017-8967-4DC4-0EAD-ADB3B9EAB841}"/>
                </a:ext>
              </a:extLst>
            </p:cNvPr>
            <p:cNvSpPr/>
            <p:nvPr/>
          </p:nvSpPr>
          <p:spPr>
            <a:xfrm>
              <a:off x="4927600" y="5784158"/>
              <a:ext cx="1727200" cy="407636"/>
            </a:xfrm>
            <a:prstGeom prst="rect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>
              <a:normAutofit fontScale="62500" lnSpcReduction="200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ko-KR" sz="1000" dirty="0">
                  <a:solidFill>
                    <a:schemeClr val="tx1"/>
                  </a:solidFill>
                </a:rPr>
                <a:t>&lt;&lt;App Page&gt;&gt;</a:t>
              </a:r>
            </a:p>
            <a:p>
              <a:pPr algn="ctr">
                <a:lnSpc>
                  <a:spcPct val="120000"/>
                </a:lnSpc>
              </a:pPr>
              <a:r>
                <a:rPr lang="ko-KR" altLang="en-US" sz="1000" dirty="0" err="1">
                  <a:solidFill>
                    <a:schemeClr val="tx1"/>
                  </a:solidFill>
                  <a:latin typeface="+mn-ea"/>
                </a:rPr>
                <a:t>검색필터</a:t>
              </a:r>
              <a:r>
                <a:rPr lang="en-US" altLang="ko-KR" sz="1000" dirty="0">
                  <a:solidFill>
                    <a:schemeClr val="tx1"/>
                  </a:solidFill>
                  <a:latin typeface="+mn-ea"/>
                </a:rPr>
                <a:t>-</a:t>
              </a:r>
              <a:r>
                <a:rPr lang="ko-KR" altLang="en-US" sz="1000" dirty="0">
                  <a:solidFill>
                    <a:schemeClr val="tx1"/>
                  </a:solidFill>
                  <a:latin typeface="+mn-ea"/>
                </a:rPr>
                <a:t>대금지불정보</a:t>
              </a:r>
              <a:endParaRPr lang="en-US" altLang="ko-KR" sz="1000" dirty="0">
                <a:solidFill>
                  <a:schemeClr val="tx1"/>
                </a:solidFill>
              </a:endParaRPr>
            </a:p>
            <a:p>
              <a:pPr algn="ctr">
                <a:lnSpc>
                  <a:spcPct val="120000"/>
                </a:lnSpc>
              </a:pPr>
              <a:r>
                <a:rPr lang="en-US" altLang="ko-KR" sz="1000" dirty="0" err="1">
                  <a:solidFill>
                    <a:schemeClr val="tx1"/>
                  </a:solidFill>
                  <a:latin typeface="맑은 고딕" panose="020B0503020000020004" pitchFamily="50" charset="-127"/>
                </a:rPr>
                <a:t>PymtClmIntgList_SrchFilter</a:t>
              </a:r>
              <a:r>
                <a:rPr lang="en-US" altLang="ko-KR" sz="1000" dirty="0" err="1" smtClean="0">
                  <a:solidFill>
                    <a:schemeClr val="tx1"/>
                  </a:solidFill>
                </a:rPr>
                <a:t>.tsx</a:t>
              </a:r>
              <a:r>
                <a:rPr lang="en-US" altLang="ko-KR" sz="1000" b="1" baseline="30000" dirty="0" smtClean="0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en-US" altLang="ko-KR" sz="1000" b="1" baseline="30000" dirty="0">
                  <a:solidFill>
                    <a:schemeClr val="tx1"/>
                  </a:solidFill>
                  <a:latin typeface="+mn-ea"/>
                </a:rPr>
                <a:t>1)</a:t>
              </a:r>
              <a:endParaRPr lang="en-US" altLang="ko-KR" sz="10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4" idx="0"/>
            <a:endCxn id="9" idx="2"/>
          </p:cNvCxnSpPr>
          <p:nvPr/>
        </p:nvCxnSpPr>
        <p:spPr>
          <a:xfrm flipV="1">
            <a:off x="3799109" y="3810190"/>
            <a:ext cx="1024582" cy="19739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6" idx="0"/>
            <a:endCxn id="9" idx="2"/>
          </p:cNvCxnSpPr>
          <p:nvPr/>
        </p:nvCxnSpPr>
        <p:spPr>
          <a:xfrm flipH="1" flipV="1">
            <a:off x="4823691" y="3810190"/>
            <a:ext cx="465191" cy="19739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42" idx="0"/>
            <a:endCxn id="9" idx="2"/>
          </p:cNvCxnSpPr>
          <p:nvPr/>
        </p:nvCxnSpPr>
        <p:spPr>
          <a:xfrm flipH="1" flipV="1">
            <a:off x="4823691" y="3810190"/>
            <a:ext cx="465190" cy="15300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4586264" y="5340258"/>
            <a:ext cx="1405233" cy="40763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대금지불정보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(</a:t>
            </a: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반납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)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맑은 고딕" panose="020B0503020000020004" pitchFamily="50" charset="-127"/>
              </a:rPr>
              <a:t>RtnPymtDfryInfoPage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35590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대금청구통합목록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대금청구통합목록</a:t>
            </a:r>
            <a:r>
              <a:rPr lang="ko-KR" altLang="en-US" dirty="0"/>
              <a:t>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MUI-WM-01-M01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대금청구통합목록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197695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78206" y="2890210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2890210"/>
            <a:ext cx="505710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37" name="그룹 36"/>
          <p:cNvGrpSpPr/>
          <p:nvPr/>
        </p:nvGrpSpPr>
        <p:grpSpPr>
          <a:xfrm>
            <a:off x="3143548" y="2992033"/>
            <a:ext cx="94010" cy="47005"/>
            <a:chOff x="6812560" y="3297172"/>
            <a:chExt cx="94010" cy="47005"/>
          </a:xfrm>
        </p:grpSpPr>
        <p:cxnSp>
          <p:nvCxnSpPr>
            <p:cNvPr id="42" name="직선 연결선 4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직선 연결선 4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41494"/>
            <a:ext cx="2446613" cy="279492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grpSp>
        <p:nvGrpSpPr>
          <p:cNvPr id="5" name="그룹 4"/>
          <p:cNvGrpSpPr/>
          <p:nvPr/>
        </p:nvGrpSpPr>
        <p:grpSpPr>
          <a:xfrm>
            <a:off x="781461" y="3374704"/>
            <a:ext cx="2473257" cy="960061"/>
            <a:chOff x="781461" y="3087955"/>
            <a:chExt cx="2473257" cy="960061"/>
          </a:xfrm>
        </p:grpSpPr>
        <p:sp>
          <p:nvSpPr>
            <p:cNvPr id="55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3272286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계약번호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2025000000 - 01</a:t>
              </a:r>
            </a:p>
            <a:p>
              <a:r>
                <a:rPr lang="ko-KR" altLang="en-US" sz="900" b="1" dirty="0">
                  <a:solidFill>
                    <a:srgbClr val="0070C0"/>
                  </a:solidFill>
                </a:rPr>
                <a:t>물품</a:t>
              </a:r>
              <a:r>
                <a:rPr lang="ko-KR" altLang="en-US" sz="900" b="1" dirty="0"/>
                <a:t>구매</a:t>
              </a:r>
            </a:p>
          </p:txBody>
        </p:sp>
        <p:sp>
          <p:nvSpPr>
            <p:cNvPr id="56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632518"/>
              <a:ext cx="307777" cy="4154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계약일자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발주기관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계약금액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57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617129"/>
              <a:ext cx="472886" cy="39767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2026-02-10</a:t>
              </a: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제</a:t>
              </a:r>
              <a:r>
                <a:rPr lang="en-US" altLang="ko-KR" sz="600" dirty="0">
                  <a:latin typeface="+mn-ea"/>
                </a:rPr>
                <a:t>8385</a:t>
              </a:r>
              <a:r>
                <a:rPr lang="ko-KR" altLang="en-US" sz="600" dirty="0">
                  <a:latin typeface="+mn-ea"/>
                </a:rPr>
                <a:t>부대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11,616,000 </a:t>
              </a:r>
              <a:r>
                <a:rPr lang="ko-KR" altLang="en-US" sz="600" dirty="0">
                  <a:latin typeface="+mn-ea"/>
                </a:rPr>
                <a:t>원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67" name="모서리가 둥근 직사각형 66"/>
            <p:cNvSpPr/>
            <p:nvPr/>
          </p:nvSpPr>
          <p:spPr>
            <a:xfrm>
              <a:off x="781461" y="3087955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물품</a:t>
              </a:r>
            </a:p>
          </p:txBody>
        </p:sp>
        <p:sp>
          <p:nvSpPr>
            <p:cNvPr id="68" name="모서리가 둥근 직사각형 67"/>
            <p:cNvSpPr/>
            <p:nvPr/>
          </p:nvSpPr>
          <p:spPr>
            <a:xfrm>
              <a:off x="1075655" y="3087955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수의계약</a:t>
              </a:r>
            </a:p>
          </p:txBody>
        </p: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4998818"/>
            <a:ext cx="76863" cy="292489"/>
            <a:chOff x="3750067" y="4683795"/>
            <a:chExt cx="76863" cy="292489"/>
          </a:xfrm>
        </p:grpSpPr>
        <p:sp>
          <p:nvSpPr>
            <p:cNvPr id="70" name="타원 69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2" name="타원 71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437825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82527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1902673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업무도움</a:t>
            </a:r>
            <a:endParaRPr lang="ko-KR" altLang="en-US" sz="700" dirty="0">
              <a:latin typeface="+mn-ea"/>
            </a:endParaRPr>
          </a:p>
        </p:txBody>
      </p:sp>
      <p:sp>
        <p:nvSpPr>
          <p:cNvPr id="129" name="타원 128"/>
          <p:cNvSpPr/>
          <p:nvPr/>
        </p:nvSpPr>
        <p:spPr>
          <a:xfrm>
            <a:off x="783686" y="1934018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0" name="그룹 129"/>
          <p:cNvGrpSpPr/>
          <p:nvPr/>
        </p:nvGrpSpPr>
        <p:grpSpPr>
          <a:xfrm>
            <a:off x="3143548" y="2016004"/>
            <a:ext cx="94010" cy="47005"/>
            <a:chOff x="6812560" y="3297172"/>
            <a:chExt cx="94010" cy="47005"/>
          </a:xfrm>
        </p:grpSpPr>
        <p:cxnSp>
          <p:nvCxnSpPr>
            <p:cNvPr id="131" name="직선 연결선 13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2" name="직선 연결선 13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" name="그룹 2"/>
          <p:cNvGrpSpPr/>
          <p:nvPr/>
        </p:nvGrpSpPr>
        <p:grpSpPr>
          <a:xfrm>
            <a:off x="3004764" y="3105654"/>
            <a:ext cx="776938" cy="1131139"/>
            <a:chOff x="3004764" y="2490533"/>
            <a:chExt cx="776938" cy="1131139"/>
          </a:xfrm>
        </p:grpSpPr>
        <p:sp>
          <p:nvSpPr>
            <p:cNvPr id="59" name="사각형: 둥근 모서리 222">
              <a:extLst>
                <a:ext uri="{FF2B5EF4-FFF2-40B4-BE49-F238E27FC236}">
                  <a16:creationId xmlns:a16="http://schemas.microsoft.com/office/drawing/2014/main" id="{8AF9D577-0373-21E1-F7E1-B17AE839E882}"/>
                </a:ext>
              </a:extLst>
            </p:cNvPr>
            <p:cNvSpPr/>
            <p:nvPr/>
          </p:nvSpPr>
          <p:spPr>
            <a:xfrm>
              <a:off x="3004764" y="2833887"/>
              <a:ext cx="776938" cy="787785"/>
            </a:xfrm>
            <a:prstGeom prst="roundRect">
              <a:avLst>
                <a:gd name="adj" fmla="val 3899"/>
              </a:avLst>
            </a:prstGeom>
            <a:solidFill>
              <a:sysClr val="window" lastClr="FFFFFF"/>
            </a:solidFill>
            <a:ln w="9525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ko-KR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0" name="사각형: 둥근 모서리 224">
              <a:extLst>
                <a:ext uri="{FF2B5EF4-FFF2-40B4-BE49-F238E27FC236}">
                  <a16:creationId xmlns:a16="http://schemas.microsoft.com/office/drawing/2014/main" id="{3EFB2C27-9C6F-8886-4247-7900976F7BD2}"/>
                </a:ext>
              </a:extLst>
            </p:cNvPr>
            <p:cNvSpPr/>
            <p:nvPr/>
          </p:nvSpPr>
          <p:spPr>
            <a:xfrm>
              <a:off x="3004764" y="2490533"/>
              <a:ext cx="775390" cy="343356"/>
            </a:xfrm>
            <a:prstGeom prst="roundRect">
              <a:avLst/>
            </a:prstGeom>
            <a:solidFill>
              <a:sysClr val="window" lastClr="FFFFFF"/>
            </a:solidFill>
            <a:ln w="9525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+mn-ea"/>
                  <a:cs typeface="+mn-cs"/>
                </a:rPr>
                <a:t>10 </a:t>
              </a:r>
              <a:r>
                <a: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+mn-ea"/>
                  <a:cs typeface="+mn-cs"/>
                </a:rPr>
                <a:t>개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61" name="TextBox 226">
              <a:extLst>
                <a:ext uri="{FF2B5EF4-FFF2-40B4-BE49-F238E27FC236}">
                  <a16:creationId xmlns:a16="http://schemas.microsoft.com/office/drawing/2014/main" id="{2D0EB093-7669-C055-4901-B28C987E9EF9}"/>
                </a:ext>
              </a:extLst>
            </p:cNvPr>
            <p:cNvSpPr txBox="1"/>
            <p:nvPr/>
          </p:nvSpPr>
          <p:spPr>
            <a:xfrm>
              <a:off x="3063151" y="2833887"/>
              <a:ext cx="641770" cy="6740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10 </a:t>
              </a:r>
              <a:r>
                <a: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개</a:t>
              </a:r>
              <a:endParaRPr kumimoji="0" lang="en-US" altLang="ko-KR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  <a:p>
              <a:pPr marL="0" marR="0" lvl="0" indent="0" defTabSz="914400" eaLnBrk="1" fontAlgn="auto" latinLnBrk="0" hangingPunct="1">
                <a:lnSpc>
                  <a:spcPct val="1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</a:rPr>
                <a:t>30</a:t>
              </a:r>
              <a:r>
                <a:rPr lang="ko-KR" altLang="en-US" sz="700" kern="0" dirty="0">
                  <a:solidFill>
                    <a:prstClr val="black"/>
                  </a:solidFill>
                </a:rPr>
                <a:t> 개</a:t>
              </a:r>
              <a:endParaRPr lang="en-US" altLang="ko-KR" sz="700" kern="0" dirty="0">
                <a:solidFill>
                  <a:prstClr val="black"/>
                </a:solidFill>
              </a:endParaRPr>
            </a:p>
            <a:p>
              <a:pPr marL="0" marR="0" lvl="0" indent="0" defTabSz="914400" eaLnBrk="1" fontAlgn="auto" latinLnBrk="0" hangingPunct="1">
                <a:lnSpc>
                  <a:spcPct val="1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50 </a:t>
              </a:r>
              <a:r>
                <a: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개</a:t>
              </a:r>
              <a:endParaRPr kumimoji="0" lang="en-US" altLang="ko-KR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grpSp>
          <p:nvGrpSpPr>
            <p:cNvPr id="64" name="그룹 63"/>
            <p:cNvGrpSpPr/>
            <p:nvPr/>
          </p:nvGrpSpPr>
          <p:grpSpPr>
            <a:xfrm flipV="1">
              <a:off x="3584851" y="2638708"/>
              <a:ext cx="94010" cy="47005"/>
              <a:chOff x="6615710" y="3297172"/>
              <a:chExt cx="94010" cy="47005"/>
            </a:xfrm>
          </p:grpSpPr>
          <p:cxnSp>
            <p:nvCxnSpPr>
              <p:cNvPr id="65" name="직선 연결선 64"/>
              <p:cNvCxnSpPr/>
              <p:nvPr/>
            </p:nvCxnSpPr>
            <p:spPr>
              <a:xfrm>
                <a:off x="661571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6" name="직선 연결선 65"/>
              <p:cNvCxnSpPr/>
              <p:nvPr/>
            </p:nvCxnSpPr>
            <p:spPr>
              <a:xfrm flipH="1">
                <a:off x="666271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80" name="모서리가 둥근 직사각형 79"/>
          <p:cNvSpPr/>
          <p:nvPr/>
        </p:nvSpPr>
        <p:spPr>
          <a:xfrm>
            <a:off x="4614060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물품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2184" y="2319361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표시 레이블</a:t>
            </a:r>
          </a:p>
        </p:txBody>
      </p:sp>
      <p:sp>
        <p:nvSpPr>
          <p:cNvPr id="84" name="모서리가 둥근 직사각형 83"/>
          <p:cNvSpPr/>
          <p:nvPr/>
        </p:nvSpPr>
        <p:spPr>
          <a:xfrm>
            <a:off x="4914986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용역</a:t>
            </a:r>
          </a:p>
        </p:txBody>
      </p:sp>
      <p:sp>
        <p:nvSpPr>
          <p:cNvPr id="85" name="모서리가 둥근 직사각형 84"/>
          <p:cNvSpPr/>
          <p:nvPr/>
        </p:nvSpPr>
        <p:spPr>
          <a:xfrm>
            <a:off x="5215975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공사</a:t>
            </a:r>
          </a:p>
        </p:txBody>
      </p:sp>
      <p:sp>
        <p:nvSpPr>
          <p:cNvPr id="86" name="모서리가 둥근 직사각형 85"/>
          <p:cNvSpPr/>
          <p:nvPr/>
        </p:nvSpPr>
        <p:spPr>
          <a:xfrm>
            <a:off x="5519047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국외</a:t>
            </a:r>
          </a:p>
        </p:txBody>
      </p:sp>
      <p:sp>
        <p:nvSpPr>
          <p:cNvPr id="87" name="모서리가 둥근 직사각형 86"/>
          <p:cNvSpPr/>
          <p:nvPr/>
        </p:nvSpPr>
        <p:spPr>
          <a:xfrm>
            <a:off x="4318635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전체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2550467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업무구분</a:t>
            </a:r>
            <a:endParaRPr lang="ko-KR" altLang="en-US" sz="700" dirty="0">
              <a:latin typeface="+mn-ea"/>
            </a:endParaRPr>
          </a:p>
        </p:txBody>
      </p:sp>
      <p:sp>
        <p:nvSpPr>
          <p:cNvPr id="145" name="모서리가 둥근 직사각형 144"/>
          <p:cNvSpPr/>
          <p:nvPr/>
        </p:nvSpPr>
        <p:spPr>
          <a:xfrm>
            <a:off x="4318635" y="3181434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일반경쟁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3187273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계약방법</a:t>
            </a:r>
          </a:p>
        </p:txBody>
      </p:sp>
      <p:sp>
        <p:nvSpPr>
          <p:cNvPr id="147" name="모서리가 둥근 직사각형 146"/>
          <p:cNvSpPr/>
          <p:nvPr/>
        </p:nvSpPr>
        <p:spPr>
          <a:xfrm>
            <a:off x="4776097" y="3181434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지명경쟁</a:t>
            </a:r>
          </a:p>
        </p:txBody>
      </p:sp>
      <p:sp>
        <p:nvSpPr>
          <p:cNvPr id="149" name="모서리가 둥근 직사각형 148"/>
          <p:cNvSpPr/>
          <p:nvPr/>
        </p:nvSpPr>
        <p:spPr>
          <a:xfrm>
            <a:off x="5232765" y="3181434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제한경쟁</a:t>
            </a: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5690227" y="3181434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복수경쟁</a:t>
            </a:r>
            <a:endParaRPr lang="ko-KR" altLang="en-US" sz="600" dirty="0"/>
          </a:p>
        </p:txBody>
      </p:sp>
      <p:sp>
        <p:nvSpPr>
          <p:cNvPr id="151" name="모서리가 둥근 직사각형 150"/>
          <p:cNvSpPr/>
          <p:nvPr/>
        </p:nvSpPr>
        <p:spPr>
          <a:xfrm>
            <a:off x="6147576" y="3181434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수의계약</a:t>
            </a:r>
          </a:p>
        </p:txBody>
      </p:sp>
      <p:sp>
        <p:nvSpPr>
          <p:cNvPr id="152" name="모서리가 둥근 직사각형 151"/>
          <p:cNvSpPr/>
          <p:nvPr/>
        </p:nvSpPr>
        <p:spPr>
          <a:xfrm>
            <a:off x="4318635" y="3353813"/>
            <a:ext cx="834071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협상에의한</a:t>
            </a:r>
            <a:r>
              <a:rPr lang="ko-KR" altLang="en-US" sz="600" dirty="0"/>
              <a:t> 계약</a:t>
            </a:r>
            <a:r>
              <a:rPr lang="en-US" altLang="ko-KR" sz="600" dirty="0"/>
              <a:t>(</a:t>
            </a:r>
            <a:r>
              <a:rPr lang="ko-KR" altLang="en-US" sz="600" dirty="0"/>
              <a:t>서류</a:t>
            </a:r>
            <a:r>
              <a:rPr lang="en-US" altLang="ko-KR" sz="600" dirty="0"/>
              <a:t>)</a:t>
            </a:r>
            <a:endParaRPr lang="ko-KR" altLang="en-US" sz="600" dirty="0"/>
          </a:p>
        </p:txBody>
      </p:sp>
      <p:sp>
        <p:nvSpPr>
          <p:cNvPr id="153" name="모서리가 둥근 직사각형 152"/>
          <p:cNvSpPr/>
          <p:nvPr/>
        </p:nvSpPr>
        <p:spPr>
          <a:xfrm>
            <a:off x="5199541" y="3353813"/>
            <a:ext cx="644591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600" dirty="0"/>
              <a:t>2</a:t>
            </a:r>
            <a:r>
              <a:rPr lang="ko-KR" altLang="en-US" sz="600" dirty="0"/>
              <a:t>단계 경쟁</a:t>
            </a:r>
            <a:r>
              <a:rPr lang="en-US" altLang="ko-KR" sz="600" dirty="0"/>
              <a:t>(</a:t>
            </a:r>
            <a:r>
              <a:rPr lang="ko-KR" altLang="en-US" sz="600" dirty="0"/>
              <a:t>동시</a:t>
            </a:r>
            <a:r>
              <a:rPr lang="en-US" altLang="ko-KR" sz="600" dirty="0"/>
              <a:t>)</a:t>
            </a:r>
            <a:endParaRPr lang="ko-KR" altLang="en-US" sz="600" dirty="0"/>
          </a:p>
        </p:txBody>
      </p:sp>
      <p:sp>
        <p:nvSpPr>
          <p:cNvPr id="154" name="모서리가 둥근 직사각형 153"/>
          <p:cNvSpPr/>
          <p:nvPr/>
        </p:nvSpPr>
        <p:spPr>
          <a:xfrm>
            <a:off x="5885028" y="3353813"/>
            <a:ext cx="644591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600" dirty="0"/>
              <a:t>2</a:t>
            </a:r>
            <a:r>
              <a:rPr lang="ko-KR" altLang="en-US" sz="600" dirty="0"/>
              <a:t>단계 경쟁</a:t>
            </a:r>
            <a:r>
              <a:rPr lang="en-US" altLang="ko-KR" sz="600" dirty="0"/>
              <a:t>(</a:t>
            </a:r>
            <a:r>
              <a:rPr lang="ko-KR" altLang="en-US" sz="600" dirty="0"/>
              <a:t>분리</a:t>
            </a:r>
            <a:r>
              <a:rPr lang="en-US" altLang="ko-KR" sz="600" dirty="0"/>
              <a:t>)</a:t>
            </a:r>
            <a:endParaRPr lang="ko-KR" altLang="en-US" sz="600" dirty="0"/>
          </a:p>
        </p:txBody>
      </p:sp>
      <p:sp>
        <p:nvSpPr>
          <p:cNvPr id="155" name="모서리가 둥근 직사각형 154"/>
          <p:cNvSpPr/>
          <p:nvPr/>
        </p:nvSpPr>
        <p:spPr>
          <a:xfrm>
            <a:off x="4318635" y="3521782"/>
            <a:ext cx="501313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종합낙찰제</a:t>
            </a:r>
            <a:endParaRPr lang="ko-KR" altLang="en-US" sz="600" dirty="0"/>
          </a:p>
        </p:txBody>
      </p:sp>
      <p:sp>
        <p:nvSpPr>
          <p:cNvPr id="157" name="모서리가 둥근 직사각형 156"/>
          <p:cNvSpPr/>
          <p:nvPr/>
        </p:nvSpPr>
        <p:spPr>
          <a:xfrm>
            <a:off x="4876890" y="3521782"/>
            <a:ext cx="834071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협상에의한</a:t>
            </a:r>
            <a:r>
              <a:rPr lang="ko-KR" altLang="en-US" sz="600" dirty="0"/>
              <a:t> 계약</a:t>
            </a:r>
            <a:r>
              <a:rPr lang="en-US" altLang="ko-KR" sz="600" dirty="0"/>
              <a:t>(</a:t>
            </a:r>
            <a:r>
              <a:rPr lang="ko-KR" altLang="en-US" sz="600" dirty="0"/>
              <a:t>전자</a:t>
            </a:r>
            <a:r>
              <a:rPr lang="en-US" altLang="ko-KR" sz="600" dirty="0"/>
              <a:t>)</a:t>
            </a:r>
            <a:endParaRPr lang="ko-KR" altLang="en-US" sz="600" dirty="0"/>
          </a:p>
        </p:txBody>
      </p:sp>
      <p:sp>
        <p:nvSpPr>
          <p:cNvPr id="158" name="모서리가 둥근 직사각형 157"/>
          <p:cNvSpPr/>
          <p:nvPr/>
        </p:nvSpPr>
        <p:spPr>
          <a:xfrm>
            <a:off x="5767485" y="3521782"/>
            <a:ext cx="32323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역경매</a:t>
            </a:r>
            <a:endParaRPr lang="ko-KR" altLang="en-US" sz="600" dirty="0"/>
          </a:p>
        </p:txBody>
      </p:sp>
      <p:sp>
        <p:nvSpPr>
          <p:cNvPr id="180" name="모서리가 둥근 직사각형 179"/>
          <p:cNvSpPr/>
          <p:nvPr/>
        </p:nvSpPr>
        <p:spPr>
          <a:xfrm>
            <a:off x="4318635" y="2877159"/>
            <a:ext cx="325832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총액제</a:t>
            </a:r>
            <a:endParaRPr lang="ko-KR" altLang="en-US" sz="600" dirty="0"/>
          </a:p>
        </p:txBody>
      </p:sp>
      <p:sp>
        <p:nvSpPr>
          <p:cNvPr id="181" name="모서리가 둥근 직사각형 180"/>
          <p:cNvSpPr/>
          <p:nvPr/>
        </p:nvSpPr>
        <p:spPr>
          <a:xfrm>
            <a:off x="4695883" y="2878607"/>
            <a:ext cx="325832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단가제</a:t>
            </a:r>
            <a:endParaRPr lang="ko-KR" altLang="en-US" sz="600" dirty="0"/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2882998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입찰구분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41" name="직선 연결선 14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19808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2894264"/>
            <a:ext cx="1490411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2,010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</a:p>
        </p:txBody>
      </p:sp>
      <p:sp>
        <p:nvSpPr>
          <p:cNvPr id="185" name="타원 184"/>
          <p:cNvSpPr/>
          <p:nvPr/>
        </p:nvSpPr>
        <p:spPr>
          <a:xfrm>
            <a:off x="2741767" y="1580377"/>
            <a:ext cx="108000" cy="108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699587" y="1709526"/>
            <a:ext cx="192360" cy="769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500" dirty="0">
                <a:latin typeface="+mn-ea"/>
              </a:rPr>
              <a:t>안내문</a:t>
            </a:r>
          </a:p>
        </p:txBody>
      </p:sp>
      <p:grpSp>
        <p:nvGrpSpPr>
          <p:cNvPr id="114" name="그룹 113"/>
          <p:cNvGrpSpPr/>
          <p:nvPr/>
        </p:nvGrpSpPr>
        <p:grpSpPr>
          <a:xfrm>
            <a:off x="767702" y="2270279"/>
            <a:ext cx="2527420" cy="477995"/>
            <a:chOff x="786326" y="2270279"/>
            <a:chExt cx="2527420" cy="477995"/>
          </a:xfrm>
        </p:grpSpPr>
        <p:sp>
          <p:nvSpPr>
            <p:cNvPr id="117" name="모서리가 둥근 직사각형 116"/>
            <p:cNvSpPr/>
            <p:nvPr/>
          </p:nvSpPr>
          <p:spPr>
            <a:xfrm>
              <a:off x="786326" y="2481707"/>
              <a:ext cx="2527420" cy="266567"/>
            </a:xfrm>
            <a:prstGeom prst="roundRect">
              <a:avLst>
                <a:gd name="adj" fmla="val 50000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1" name="타원 120"/>
            <p:cNvSpPr/>
            <p:nvPr/>
          </p:nvSpPr>
          <p:spPr>
            <a:xfrm>
              <a:off x="3071451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90013" y="2561129"/>
              <a:ext cx="188636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검색할 내용을 입력하세요</a:t>
              </a:r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.</a:t>
              </a:r>
              <a:endParaRPr lang="ko-KR" altLang="en-US" sz="7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grpSp>
          <p:nvGrpSpPr>
            <p:cNvPr id="124" name="그룹 123"/>
            <p:cNvGrpSpPr/>
            <p:nvPr/>
          </p:nvGrpSpPr>
          <p:grpSpPr>
            <a:xfrm>
              <a:off x="795624" y="2274581"/>
              <a:ext cx="1299303" cy="155984"/>
              <a:chOff x="808107" y="2288229"/>
              <a:chExt cx="1189739" cy="168318"/>
            </a:xfrm>
          </p:grpSpPr>
          <p:sp>
            <p:nvSpPr>
              <p:cNvPr id="182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808107" y="2288229"/>
                <a:ext cx="563494" cy="168318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rgbClr val="0070C0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 err="1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계약명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맑은 고딕"/>
                </a:endParaRPr>
              </a:p>
            </p:txBody>
          </p:sp>
          <p:sp>
            <p:nvSpPr>
              <p:cNvPr id="186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1434352" y="2288229"/>
                <a:ext cx="563494" cy="168318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 err="1">
                    <a:latin typeface="맑은 고딕"/>
                    <a:ea typeface="맑은 고딕" panose="020B0503020000020004" pitchFamily="50" charset="-127"/>
                  </a:rPr>
                  <a:t>계약번호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</p:grpSp>
        <p:sp>
          <p:nvSpPr>
            <p:cNvPr id="126" name="타원 125"/>
            <p:cNvSpPr/>
            <p:nvPr/>
          </p:nvSpPr>
          <p:spPr>
            <a:xfrm>
              <a:off x="814969" y="2290708"/>
              <a:ext cx="108000" cy="108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V</a:t>
              </a:r>
              <a:endParaRPr lang="ko-KR" altLang="en-US" sz="600" dirty="0"/>
            </a:p>
          </p:txBody>
        </p:sp>
        <p:sp>
          <p:nvSpPr>
            <p:cNvPr id="133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2726021" y="2270279"/>
              <a:ext cx="582849" cy="154795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800" kern="0" dirty="0" err="1">
                  <a:latin typeface="맑은 고딕"/>
                  <a:ea typeface="맑은 고딕" panose="020B0503020000020004" pitchFamily="50" charset="-127"/>
                </a:rPr>
                <a:t>검색필터</a:t>
              </a:r>
              <a:endParaRPr kumimoji="1" lang="en-US" sz="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140" name="타원 139"/>
            <p:cNvSpPr/>
            <p:nvPr/>
          </p:nvSpPr>
          <p:spPr>
            <a:xfrm>
              <a:off x="2857726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43" name="그룹 142"/>
            <p:cNvGrpSpPr/>
            <p:nvPr/>
          </p:nvGrpSpPr>
          <p:grpSpPr>
            <a:xfrm>
              <a:off x="2901631" y="2585953"/>
              <a:ext cx="58075" cy="58074"/>
              <a:chOff x="6812560" y="3297172"/>
              <a:chExt cx="94010" cy="94010"/>
            </a:xfrm>
          </p:grpSpPr>
          <p:cxnSp>
            <p:nvCxnSpPr>
              <p:cNvPr id="144" name="직선 연결선 143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" name="직선 연결선 147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20" name="타원 11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5884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1</a:t>
            </a:r>
            <a:endParaRPr lang="ko-KR" altLang="en-US" sz="900" b="1" dirty="0"/>
          </a:p>
        </p:txBody>
      </p:sp>
      <p:sp>
        <p:nvSpPr>
          <p:cNvPr id="136" name="타원 13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90465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  <p:sp>
        <p:nvSpPr>
          <p:cNvPr id="138" name="타원 13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8819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5</a:t>
            </a:r>
            <a:endParaRPr lang="ko-KR" altLang="en-US" sz="900" b="1" dirty="0"/>
          </a:p>
        </p:txBody>
      </p:sp>
      <p:sp>
        <p:nvSpPr>
          <p:cNvPr id="139" name="타원 13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42020" y="22046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 b="1" dirty="0" smtClean="0"/>
              <a:t>4-1</a:t>
            </a:r>
            <a:endParaRPr lang="ko-KR" altLang="en-US" sz="600" b="1" dirty="0"/>
          </a:p>
        </p:txBody>
      </p:sp>
      <p:sp>
        <p:nvSpPr>
          <p:cNvPr id="171" name="타원 1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706935" y="326122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00" b="1" dirty="0" smtClean="0"/>
              <a:t>4-1</a:t>
            </a:r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sz="650" dirty="0"/>
              <a:t>상단 </a:t>
            </a:r>
            <a:r>
              <a:rPr lang="ko-KR" altLang="en-US" sz="650" dirty="0" err="1"/>
              <a:t>업무도움은</a:t>
            </a:r>
            <a:r>
              <a:rPr lang="ko-KR" altLang="en-US" sz="650" dirty="0"/>
              <a:t> 기본 값으로 접힘 상태로 정보 제공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 smtClean="0"/>
              <a:t>- </a:t>
            </a:r>
            <a:r>
              <a:rPr lang="ko-KR" altLang="en-US" sz="650" dirty="0" smtClean="0"/>
              <a:t>페이지 </a:t>
            </a:r>
            <a:r>
              <a:rPr lang="ko-KR" altLang="en-US" sz="650" dirty="0" err="1" smtClean="0"/>
              <a:t>호출시</a:t>
            </a:r>
            <a:r>
              <a:rPr lang="ko-KR" altLang="en-US" sz="650" dirty="0" smtClean="0"/>
              <a:t> </a:t>
            </a:r>
            <a:r>
              <a:rPr lang="en-US" altLang="ko-KR" sz="650" dirty="0" smtClean="0"/>
              <a:t>: </a:t>
            </a:r>
            <a:r>
              <a:rPr lang="ko-KR" altLang="en-US" sz="650" dirty="0" smtClean="0"/>
              <a:t>해당 업체에서 진행중인 모든 </a:t>
            </a:r>
            <a:r>
              <a:rPr lang="ko-KR" altLang="en-US" sz="650" dirty="0" err="1" smtClean="0"/>
              <a:t>계약건이</a:t>
            </a:r>
            <a:r>
              <a:rPr lang="ko-KR" altLang="en-US" sz="650" dirty="0" smtClean="0"/>
              <a:t> 노출됨</a:t>
            </a:r>
            <a:r>
              <a:rPr lang="en-US" altLang="ko-KR" sz="650" dirty="0" smtClean="0"/>
              <a:t/>
            </a:r>
            <a:br>
              <a:rPr lang="en-US" altLang="ko-KR" sz="650" dirty="0" smtClean="0"/>
            </a:br>
            <a:r>
              <a:rPr lang="en-US" altLang="ko-KR" sz="650" dirty="0" smtClean="0"/>
              <a:t>- </a:t>
            </a:r>
            <a:r>
              <a:rPr lang="ko-KR" altLang="en-US" sz="650" dirty="0" smtClean="0"/>
              <a:t>계약일자기준 당일 포함 이전 </a:t>
            </a:r>
            <a:r>
              <a:rPr lang="en-US" altLang="ko-KR" sz="650" dirty="0" smtClean="0"/>
              <a:t>30</a:t>
            </a:r>
            <a:r>
              <a:rPr lang="ko-KR" altLang="en-US" sz="650" dirty="0" smtClean="0"/>
              <a:t>일 동안 신청된 계약 건</a:t>
            </a:r>
            <a:r>
              <a:rPr lang="en-US" altLang="ko-KR" sz="650" dirty="0" smtClean="0"/>
              <a:t/>
            </a:r>
            <a:br>
              <a:rPr lang="en-US" altLang="ko-KR" sz="650" dirty="0" smtClean="0"/>
            </a:br>
            <a:r>
              <a:rPr lang="en-US" altLang="ko-KR" sz="650" dirty="0" smtClean="0"/>
              <a:t>- </a:t>
            </a:r>
            <a:r>
              <a:rPr lang="ko-KR" altLang="en-US" sz="650" dirty="0"/>
              <a:t>기본값 </a:t>
            </a:r>
            <a:r>
              <a:rPr lang="en-US" altLang="ko-KR" sz="650" dirty="0"/>
              <a:t>: </a:t>
            </a:r>
            <a:r>
              <a:rPr lang="ko-KR" altLang="en-US" sz="650" dirty="0"/>
              <a:t>접힘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/>
              <a:t>- </a:t>
            </a:r>
            <a:r>
              <a:rPr lang="ko-KR" altLang="en-US" sz="650" dirty="0"/>
              <a:t>사용자 </a:t>
            </a:r>
            <a:r>
              <a:rPr lang="ko-KR" altLang="en-US" sz="650" dirty="0" err="1"/>
              <a:t>클릭시</a:t>
            </a:r>
            <a:r>
              <a:rPr lang="ko-KR" altLang="en-US" sz="650" dirty="0"/>
              <a:t> 확장하여 정보 표시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/>
              <a:t>- </a:t>
            </a:r>
            <a:r>
              <a:rPr lang="ko-KR" altLang="en-US" sz="650" dirty="0" err="1"/>
              <a:t>업무도움</a:t>
            </a:r>
            <a:r>
              <a:rPr lang="en-US" altLang="ko-KR" sz="650" dirty="0"/>
              <a:t> &gt; </a:t>
            </a:r>
            <a:r>
              <a:rPr lang="ko-KR" altLang="en-US" sz="650" dirty="0"/>
              <a:t>내역이 있는 경우 표시</a:t>
            </a:r>
            <a:r>
              <a:rPr lang="en-US" altLang="ko-KR" sz="650" dirty="0"/>
              <a:t>, </a:t>
            </a:r>
            <a:r>
              <a:rPr lang="ko-KR" altLang="en-US" sz="650" dirty="0"/>
              <a:t>내역이 없으면 항목을 표시하지 않음</a:t>
            </a:r>
            <a:r>
              <a:rPr lang="en-US" altLang="ko-KR" sz="650" dirty="0" smtClean="0"/>
              <a:t>.</a:t>
            </a:r>
            <a:endParaRPr lang="en-US" altLang="ko-KR" sz="650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sz="650" dirty="0" err="1"/>
              <a:t>검색필터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/>
              <a:t>2-1] </a:t>
            </a:r>
            <a:r>
              <a:rPr lang="ko-KR" altLang="en-US" sz="650" dirty="0"/>
              <a:t>통합참조정보</a:t>
            </a:r>
            <a:r>
              <a:rPr lang="en-US" altLang="ko-KR" sz="650" dirty="0"/>
              <a:t>, </a:t>
            </a:r>
            <a:r>
              <a:rPr lang="ko-KR" altLang="en-US" sz="650" dirty="0" err="1"/>
              <a:t>예약번호중</a:t>
            </a:r>
            <a:r>
              <a:rPr lang="ko-KR" altLang="en-US" sz="650" dirty="0"/>
              <a:t> 선택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/>
              <a:t>2-2] </a:t>
            </a:r>
            <a:r>
              <a:rPr lang="ko-KR" altLang="en-US" sz="650" dirty="0" err="1"/>
              <a:t>검색어</a:t>
            </a:r>
            <a:r>
              <a:rPr lang="ko-KR" altLang="en-US" sz="650" dirty="0"/>
              <a:t> 입력</a:t>
            </a:r>
            <a:endParaRPr lang="en-US" altLang="ko-KR" sz="650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sz="650" dirty="0">
                <a:latin typeface="+mn-ea"/>
              </a:rPr>
              <a:t>검색 필터 호출</a:t>
            </a:r>
            <a:r>
              <a:rPr lang="en-US" altLang="ko-KR" sz="650" dirty="0">
                <a:latin typeface="+mn-ea"/>
              </a:rPr>
              <a:t/>
            </a:r>
            <a:br>
              <a:rPr lang="en-US" altLang="ko-KR" sz="650" dirty="0">
                <a:latin typeface="+mn-ea"/>
              </a:rPr>
            </a:br>
            <a:r>
              <a:rPr lang="ko-KR" altLang="en-US" sz="650" dirty="0">
                <a:latin typeface="+mn-ea"/>
              </a:rPr>
              <a:t> </a:t>
            </a:r>
            <a:r>
              <a:rPr lang="en-US" altLang="ko-KR" sz="650" dirty="0">
                <a:latin typeface="+mn-ea"/>
              </a:rPr>
              <a:t>– </a:t>
            </a:r>
            <a:r>
              <a:rPr lang="ko-KR" altLang="en-US" sz="650" dirty="0">
                <a:latin typeface="+mn-ea"/>
              </a:rPr>
              <a:t>계약 페이지 참고</a:t>
            </a:r>
            <a:endParaRPr lang="en-US" altLang="ko-KR" sz="650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sz="650" dirty="0" smtClean="0"/>
              <a:t>표시 </a:t>
            </a:r>
            <a:r>
              <a:rPr lang="ko-KR" altLang="en-US" sz="650" dirty="0"/>
              <a:t>개수 영역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/>
              <a:t>- </a:t>
            </a:r>
            <a:r>
              <a:rPr lang="ko-KR" altLang="en-US" sz="650" dirty="0"/>
              <a:t>총 개수 표시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/>
              <a:t>- </a:t>
            </a:r>
            <a:r>
              <a:rPr lang="ko-KR" altLang="en-US" sz="650" dirty="0"/>
              <a:t>표시 개수 </a:t>
            </a:r>
            <a:r>
              <a:rPr lang="en-US" altLang="ko-KR" sz="650" dirty="0"/>
              <a:t>(</a:t>
            </a:r>
            <a:r>
              <a:rPr lang="ko-KR" altLang="en-US" sz="650" dirty="0"/>
              <a:t>선택한 건수 만큼 보여주고 </a:t>
            </a:r>
            <a:r>
              <a:rPr lang="ko-KR" altLang="en-US" sz="650" dirty="0" err="1"/>
              <a:t>더보기시</a:t>
            </a:r>
            <a:r>
              <a:rPr lang="ko-KR" altLang="en-US" sz="650" dirty="0"/>
              <a:t> 추가로 불러옴</a:t>
            </a:r>
            <a:r>
              <a:rPr lang="en-US" altLang="ko-KR" sz="650" dirty="0"/>
              <a:t>)</a:t>
            </a:r>
            <a:br>
              <a:rPr lang="en-US" altLang="ko-KR" sz="650" dirty="0"/>
            </a:br>
            <a:r>
              <a:rPr lang="ko-KR" altLang="en-US" sz="650" dirty="0"/>
              <a:t>목록 카드 표시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/>
              <a:t>- </a:t>
            </a:r>
            <a:r>
              <a:rPr lang="ko-KR" altLang="en-US" sz="650" dirty="0"/>
              <a:t>카드 </a:t>
            </a:r>
            <a:r>
              <a:rPr lang="ko-KR" altLang="en-US" sz="650" dirty="0" err="1"/>
              <a:t>클릭시</a:t>
            </a:r>
            <a:r>
              <a:rPr lang="ko-KR" altLang="en-US" sz="650" dirty="0"/>
              <a:t> </a:t>
            </a:r>
            <a:r>
              <a:rPr lang="ko-KR" altLang="en-US" sz="650" dirty="0" err="1" smtClean="0"/>
              <a:t>바텀시트</a:t>
            </a:r>
            <a:r>
              <a:rPr lang="ko-KR" altLang="en-US" sz="650" dirty="0" smtClean="0"/>
              <a:t> 호출</a:t>
            </a:r>
            <a:r>
              <a:rPr lang="en-US" altLang="ko-KR" sz="650" dirty="0" smtClean="0"/>
              <a:t>(</a:t>
            </a:r>
            <a:r>
              <a:rPr lang="en-US" altLang="ko-KR" sz="650" dirty="0" smtClean="0">
                <a:latin typeface="+mn-ea"/>
              </a:rPr>
              <a:t>MUI-WM-01-P13)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/>
              <a:t>4-1] </a:t>
            </a:r>
            <a:r>
              <a:rPr lang="ko-KR" altLang="en-US" sz="650" dirty="0" err="1"/>
              <a:t>표시레이블</a:t>
            </a:r>
            <a:r>
              <a:rPr lang="ko-KR" altLang="en-US" sz="650" dirty="0"/>
              <a:t> 영역 </a:t>
            </a:r>
            <a:r>
              <a:rPr lang="ko-KR" altLang="en-US" sz="650" dirty="0" smtClean="0"/>
              <a:t>항목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/>
              <a:t>- </a:t>
            </a:r>
            <a:r>
              <a:rPr lang="ko-KR" altLang="en-US" sz="650" dirty="0"/>
              <a:t>레이블이 화면을 넘치는 경우 드래그하여 확인 가능 </a:t>
            </a:r>
            <a:r>
              <a:rPr lang="en-US" altLang="ko-KR" sz="650" dirty="0"/>
              <a:t>(</a:t>
            </a:r>
            <a:r>
              <a:rPr lang="ko-KR" altLang="en-US" sz="650" dirty="0" err="1"/>
              <a:t>스와이프기능</a:t>
            </a:r>
            <a:r>
              <a:rPr lang="ko-KR" altLang="en-US" sz="650" dirty="0"/>
              <a:t> 반영 필요</a:t>
            </a:r>
            <a:r>
              <a:rPr lang="en-US" altLang="ko-KR" sz="650" dirty="0"/>
              <a:t>)</a:t>
            </a:r>
            <a:br>
              <a:rPr lang="en-US" altLang="ko-KR" sz="650" dirty="0"/>
            </a:br>
            <a:r>
              <a:rPr lang="en-US" altLang="ko-KR" sz="650" dirty="0"/>
              <a:t>- </a:t>
            </a:r>
            <a:r>
              <a:rPr lang="ko-KR" altLang="en-US" sz="650" dirty="0" err="1"/>
              <a:t>업무구분</a:t>
            </a:r>
            <a:r>
              <a:rPr lang="ko-KR" altLang="en-US" sz="650" dirty="0"/>
              <a:t> </a:t>
            </a:r>
            <a:r>
              <a:rPr lang="en-US" altLang="ko-KR" sz="650" dirty="0"/>
              <a:t>:  </a:t>
            </a:r>
            <a:r>
              <a:rPr lang="ko-KR" altLang="en-US" sz="650" dirty="0"/>
              <a:t>전체</a:t>
            </a:r>
            <a:r>
              <a:rPr lang="en-US" altLang="ko-KR" sz="650" dirty="0"/>
              <a:t>, </a:t>
            </a:r>
            <a:r>
              <a:rPr lang="ko-KR" altLang="en-US" sz="650" dirty="0"/>
              <a:t>물품</a:t>
            </a:r>
            <a:r>
              <a:rPr lang="en-US" altLang="ko-KR" sz="650" dirty="0"/>
              <a:t>, </a:t>
            </a:r>
            <a:r>
              <a:rPr lang="ko-KR" altLang="en-US" sz="650" dirty="0"/>
              <a:t>용역</a:t>
            </a:r>
            <a:r>
              <a:rPr lang="en-US" altLang="ko-KR" sz="650" dirty="0"/>
              <a:t>, </a:t>
            </a:r>
            <a:r>
              <a:rPr lang="ko-KR" altLang="en-US" sz="650" dirty="0"/>
              <a:t>공사</a:t>
            </a:r>
            <a:r>
              <a:rPr lang="en-US" altLang="ko-KR" sz="650" dirty="0"/>
              <a:t>, </a:t>
            </a:r>
            <a:r>
              <a:rPr lang="ko-KR" altLang="en-US" sz="650" dirty="0"/>
              <a:t>국외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/>
              <a:t>- </a:t>
            </a:r>
            <a:r>
              <a:rPr lang="ko-KR" altLang="en-US" sz="650" dirty="0" err="1" smtClean="0"/>
              <a:t>입찰구분</a:t>
            </a:r>
            <a:r>
              <a:rPr lang="ko-KR" altLang="en-US" sz="650" dirty="0" smtClean="0"/>
              <a:t> </a:t>
            </a:r>
            <a:r>
              <a:rPr lang="en-US" altLang="ko-KR" sz="650" dirty="0"/>
              <a:t>: </a:t>
            </a:r>
            <a:r>
              <a:rPr lang="ko-KR" altLang="en-US" sz="650" dirty="0" err="1"/>
              <a:t>총액제</a:t>
            </a:r>
            <a:r>
              <a:rPr lang="en-US" altLang="ko-KR" sz="650" dirty="0"/>
              <a:t>, </a:t>
            </a:r>
            <a:r>
              <a:rPr lang="ko-KR" altLang="en-US" sz="650" dirty="0" err="1"/>
              <a:t>단가제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 smtClean="0"/>
              <a:t>- </a:t>
            </a:r>
            <a:r>
              <a:rPr lang="ko-KR" altLang="en-US" sz="650" dirty="0"/>
              <a:t>계약방법 </a:t>
            </a:r>
            <a:r>
              <a:rPr lang="en-US" altLang="ko-KR" sz="650" dirty="0"/>
              <a:t>:  </a:t>
            </a:r>
            <a:r>
              <a:rPr lang="ko-KR" altLang="en-US" sz="650" dirty="0"/>
              <a:t>일반경쟁</a:t>
            </a:r>
            <a:r>
              <a:rPr lang="en-US" altLang="ko-KR" sz="650" dirty="0"/>
              <a:t>, </a:t>
            </a:r>
            <a:r>
              <a:rPr lang="ko-KR" altLang="en-US" sz="650" dirty="0"/>
              <a:t>지명경쟁</a:t>
            </a:r>
            <a:r>
              <a:rPr lang="en-US" altLang="ko-KR" sz="650" dirty="0"/>
              <a:t>,</a:t>
            </a:r>
            <a:r>
              <a:rPr lang="ko-KR" altLang="en-US" sz="650" dirty="0"/>
              <a:t>제한경쟁</a:t>
            </a:r>
            <a:r>
              <a:rPr lang="en-US" altLang="ko-KR" sz="650" dirty="0"/>
              <a:t>,</a:t>
            </a:r>
            <a:r>
              <a:rPr lang="ko-KR" altLang="en-US" sz="650" dirty="0" err="1"/>
              <a:t>복수경쟁</a:t>
            </a:r>
            <a:r>
              <a:rPr lang="en-US" altLang="ko-KR" sz="650" dirty="0"/>
              <a:t>,</a:t>
            </a:r>
            <a:r>
              <a:rPr lang="ko-KR" altLang="en-US" sz="650" dirty="0"/>
              <a:t>수의계약</a:t>
            </a:r>
            <a:r>
              <a:rPr lang="en-US" altLang="ko-KR" sz="650" dirty="0"/>
              <a:t>,</a:t>
            </a:r>
            <a:r>
              <a:rPr lang="ko-KR" altLang="en-US" sz="650" dirty="0" err="1"/>
              <a:t>협상에의한계약</a:t>
            </a:r>
            <a:r>
              <a:rPr lang="en-US" altLang="ko-KR" sz="650" dirty="0"/>
              <a:t>(</a:t>
            </a:r>
            <a:r>
              <a:rPr lang="ko-KR" altLang="en-US" sz="650" dirty="0"/>
              <a:t>서류</a:t>
            </a:r>
            <a:r>
              <a:rPr lang="en-US" altLang="ko-KR" sz="650" dirty="0"/>
              <a:t>),2</a:t>
            </a:r>
            <a:r>
              <a:rPr lang="ko-KR" altLang="en-US" sz="650" dirty="0"/>
              <a:t>단계 경쟁</a:t>
            </a:r>
            <a:r>
              <a:rPr lang="en-US" altLang="ko-KR" sz="650" dirty="0"/>
              <a:t>(</a:t>
            </a:r>
            <a:r>
              <a:rPr lang="ko-KR" altLang="en-US" sz="650" dirty="0"/>
              <a:t>동시</a:t>
            </a:r>
            <a:r>
              <a:rPr lang="en-US" altLang="ko-KR" sz="650" dirty="0"/>
              <a:t>), 2</a:t>
            </a:r>
            <a:r>
              <a:rPr lang="ko-KR" altLang="en-US" sz="650" dirty="0"/>
              <a:t>단계 경쟁</a:t>
            </a:r>
            <a:r>
              <a:rPr lang="en-US" altLang="ko-KR" sz="650" dirty="0"/>
              <a:t>(</a:t>
            </a:r>
            <a:r>
              <a:rPr lang="ko-KR" altLang="en-US" sz="650" dirty="0"/>
              <a:t>분리</a:t>
            </a:r>
            <a:r>
              <a:rPr lang="en-US" altLang="ko-KR" sz="650" dirty="0"/>
              <a:t>), </a:t>
            </a:r>
            <a:r>
              <a:rPr lang="ko-KR" altLang="en-US" sz="650" dirty="0" err="1"/>
              <a:t>종합낙찰제</a:t>
            </a:r>
            <a:r>
              <a:rPr lang="en-US" altLang="ko-KR" sz="650" dirty="0"/>
              <a:t>, </a:t>
            </a:r>
            <a:r>
              <a:rPr lang="ko-KR" altLang="en-US" sz="650" dirty="0" err="1"/>
              <a:t>협상에의한</a:t>
            </a:r>
            <a:r>
              <a:rPr lang="ko-KR" altLang="en-US" sz="650" dirty="0"/>
              <a:t> 계약</a:t>
            </a:r>
            <a:r>
              <a:rPr lang="en-US" altLang="ko-KR" sz="650" dirty="0"/>
              <a:t>(</a:t>
            </a:r>
            <a:r>
              <a:rPr lang="ko-KR" altLang="en-US" sz="650" dirty="0"/>
              <a:t>전자</a:t>
            </a:r>
            <a:r>
              <a:rPr lang="en-US" altLang="ko-KR" sz="650" dirty="0"/>
              <a:t>), </a:t>
            </a:r>
            <a:r>
              <a:rPr lang="ko-KR" altLang="en-US" sz="650" dirty="0" err="1"/>
              <a:t>역경매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 smtClean="0"/>
              <a:t>4-2] </a:t>
            </a:r>
            <a:r>
              <a:rPr lang="ko-KR" altLang="en-US" sz="650" dirty="0"/>
              <a:t>문서 정보 영역 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/>
              <a:t>- </a:t>
            </a:r>
            <a:r>
              <a:rPr lang="ko-KR" altLang="en-US" sz="650" dirty="0" err="1" smtClean="0"/>
              <a:t>계약번호</a:t>
            </a:r>
            <a:r>
              <a:rPr lang="en-US" altLang="ko-KR" sz="650" dirty="0" smtClean="0"/>
              <a:t>+</a:t>
            </a:r>
            <a:r>
              <a:rPr lang="ko-KR" altLang="en-US" sz="650" dirty="0" err="1" smtClean="0"/>
              <a:t>회차노출</a:t>
            </a:r>
            <a:r>
              <a:rPr lang="ko-KR" altLang="en-US" sz="650" dirty="0" smtClean="0"/>
              <a:t> 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/>
              <a:t>- </a:t>
            </a:r>
            <a:r>
              <a:rPr lang="ko-KR" altLang="en-US" sz="650" dirty="0" err="1" smtClean="0"/>
              <a:t>계약번호</a:t>
            </a:r>
            <a:r>
              <a:rPr lang="ko-KR" altLang="en-US" sz="650" dirty="0" smtClean="0"/>
              <a:t> </a:t>
            </a:r>
            <a:r>
              <a:rPr lang="ko-KR" altLang="en-US" sz="650" dirty="0" err="1"/>
              <a:t>노출시</a:t>
            </a:r>
            <a:r>
              <a:rPr lang="ko-KR" altLang="en-US" sz="650" dirty="0"/>
              <a:t> 해당 라인을 넘어가면 </a:t>
            </a:r>
            <a:r>
              <a:rPr lang="en-US" altLang="ko-KR" sz="650" dirty="0"/>
              <a:t>(…) </a:t>
            </a:r>
            <a:r>
              <a:rPr lang="ko-KR" altLang="en-US" sz="650" dirty="0" err="1"/>
              <a:t>말줄임</a:t>
            </a:r>
            <a:r>
              <a:rPr lang="ko-KR" altLang="en-US" sz="650" dirty="0"/>
              <a:t> 표시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/>
              <a:t>- </a:t>
            </a:r>
            <a:r>
              <a:rPr lang="ko-KR" altLang="en-US" sz="650" dirty="0" err="1"/>
              <a:t>계약번호</a:t>
            </a:r>
            <a:r>
              <a:rPr lang="en-US" altLang="ko-KR" sz="650" dirty="0"/>
              <a:t>:</a:t>
            </a:r>
            <a:r>
              <a:rPr lang="ko-KR" altLang="en-US" sz="650" dirty="0"/>
              <a:t> </a:t>
            </a:r>
            <a:r>
              <a:rPr lang="ko-KR" altLang="en-US" sz="650" dirty="0" err="1"/>
              <a:t>계약번호</a:t>
            </a:r>
            <a:r>
              <a:rPr lang="en-US" altLang="ko-KR" sz="650" dirty="0"/>
              <a:t>+</a:t>
            </a:r>
            <a:r>
              <a:rPr lang="ko-KR" altLang="en-US" sz="650" dirty="0"/>
              <a:t>계약번호차수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 smtClean="0"/>
              <a:t>4-3] </a:t>
            </a:r>
            <a:r>
              <a:rPr lang="ko-KR" altLang="en-US" sz="650" dirty="0"/>
              <a:t>문서 제목 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/>
              <a:t>- </a:t>
            </a:r>
            <a:r>
              <a:rPr lang="ko-KR" altLang="en-US" sz="650" dirty="0"/>
              <a:t>제목은 </a:t>
            </a:r>
            <a:r>
              <a:rPr lang="en-US" altLang="ko-KR" sz="650" dirty="0"/>
              <a:t>2</a:t>
            </a:r>
            <a:r>
              <a:rPr lang="ko-KR" altLang="en-US" sz="650" dirty="0"/>
              <a:t>줄 까지 노출 이후</a:t>
            </a:r>
            <a:r>
              <a:rPr lang="en-US" altLang="ko-KR" sz="650" dirty="0"/>
              <a:t>(…) </a:t>
            </a:r>
            <a:r>
              <a:rPr lang="ko-KR" altLang="en-US" sz="650" dirty="0" err="1"/>
              <a:t>말줄임</a:t>
            </a:r>
            <a:r>
              <a:rPr lang="ko-KR" altLang="en-US" sz="650" dirty="0"/>
              <a:t> 표시</a:t>
            </a:r>
            <a:endParaRPr lang="en-US" altLang="ko-KR" sz="650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sz="650" dirty="0" err="1"/>
              <a:t>더보기</a:t>
            </a:r>
            <a:r>
              <a:rPr lang="ko-KR" altLang="en-US" sz="650" dirty="0"/>
              <a:t> 기능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/>
              <a:t>- 3</a:t>
            </a:r>
            <a:r>
              <a:rPr lang="ko-KR" altLang="en-US" sz="650" dirty="0" err="1"/>
              <a:t>번항목</a:t>
            </a:r>
            <a:r>
              <a:rPr lang="ko-KR" altLang="en-US" sz="650" dirty="0"/>
              <a:t> 표시 개수 영역에서 선택한 개수로 증가</a:t>
            </a:r>
            <a:r>
              <a:rPr lang="en-US" altLang="ko-KR" sz="650" dirty="0"/>
              <a:t>.</a:t>
            </a:r>
            <a:br>
              <a:rPr lang="en-US" altLang="ko-KR" sz="650" dirty="0"/>
            </a:br>
            <a:r>
              <a:rPr lang="ko-KR" altLang="en-US" sz="650" dirty="0"/>
              <a:t>예</a:t>
            </a:r>
            <a:r>
              <a:rPr lang="en-US" altLang="ko-KR" sz="650" dirty="0"/>
              <a:t>) 10</a:t>
            </a:r>
            <a:r>
              <a:rPr lang="ko-KR" altLang="en-US" sz="650" dirty="0"/>
              <a:t>개 노출 이후 </a:t>
            </a:r>
            <a:r>
              <a:rPr lang="ko-KR" altLang="en-US" sz="650" dirty="0" err="1"/>
              <a:t>더보기</a:t>
            </a:r>
            <a:r>
              <a:rPr lang="ko-KR" altLang="en-US" sz="650" dirty="0"/>
              <a:t> 버튼 클릭으로 </a:t>
            </a:r>
            <a:r>
              <a:rPr lang="en-US" altLang="ko-KR" sz="650" dirty="0"/>
              <a:t>10</a:t>
            </a:r>
            <a:r>
              <a:rPr lang="ko-KR" altLang="en-US" sz="650" dirty="0"/>
              <a:t>개씩 추가 </a:t>
            </a:r>
            <a:r>
              <a:rPr lang="ko-KR" altLang="en-US" sz="650" dirty="0" smtClean="0"/>
              <a:t>로드</a:t>
            </a:r>
            <a:endParaRPr lang="en-US" altLang="ko-KR" sz="650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sz="650" dirty="0" smtClean="0"/>
              <a:t>대금청구관련 안내문을 호출한다</a:t>
            </a:r>
            <a:r>
              <a:rPr lang="en-US" altLang="ko-KR" sz="650" dirty="0" smtClean="0"/>
              <a:t>.</a:t>
            </a:r>
            <a:r>
              <a:rPr lang="en-US" altLang="ko-KR" sz="650" dirty="0">
                <a:latin typeface="+mn-ea"/>
              </a:rPr>
              <a:t> </a:t>
            </a:r>
            <a:r>
              <a:rPr lang="en-US" altLang="ko-KR" sz="650" dirty="0" smtClean="0">
                <a:latin typeface="+mn-ea"/>
              </a:rPr>
              <a:t>(MUI-WM-01-P09)</a:t>
            </a:r>
            <a:r>
              <a:rPr lang="en-US" altLang="ko-KR" sz="650" dirty="0" smtClean="0"/>
              <a:t/>
            </a:r>
            <a:br>
              <a:rPr lang="en-US" altLang="ko-KR" sz="650" dirty="0" smtClean="0"/>
            </a:br>
            <a:endParaRPr lang="en-US" altLang="ko-KR" sz="650" dirty="0"/>
          </a:p>
        </p:txBody>
      </p:sp>
      <p:sp>
        <p:nvSpPr>
          <p:cNvPr id="178" name="타원 17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52055" y="223388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sp>
        <p:nvSpPr>
          <p:cNvPr id="179" name="타원 17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1463636" y="223388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 b="1" dirty="0" smtClean="0"/>
              <a:t>2-1</a:t>
            </a:r>
            <a:endParaRPr lang="ko-KR" altLang="en-US" sz="600" b="1" dirty="0"/>
          </a:p>
        </p:txBody>
      </p:sp>
      <p:sp>
        <p:nvSpPr>
          <p:cNvPr id="187" name="타원 18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2684573" y="222479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</a:p>
        </p:txBody>
      </p:sp>
      <p:sp>
        <p:nvSpPr>
          <p:cNvPr id="188" name="타원 18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706935" y="250441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 b="1" dirty="0" smtClean="0"/>
              <a:t>2-2</a:t>
            </a:r>
            <a:endParaRPr lang="ko-KR" altLang="en-US" sz="600" b="1" dirty="0"/>
          </a:p>
        </p:txBody>
      </p:sp>
      <p:sp>
        <p:nvSpPr>
          <p:cNvPr id="8" name="직사각형 7"/>
          <p:cNvSpPr/>
          <p:nvPr/>
        </p:nvSpPr>
        <p:spPr>
          <a:xfrm>
            <a:off x="7098114" y="6054072"/>
            <a:ext cx="2305455" cy="214877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500" dirty="0" smtClean="0">
                <a:solidFill>
                  <a:schemeClr val="bg1"/>
                </a:solidFill>
              </a:rPr>
              <a:t>0701]</a:t>
            </a:r>
          </a:p>
          <a:p>
            <a:r>
              <a:rPr lang="ko-KR" altLang="en-US" sz="500" dirty="0" err="1" smtClean="0">
                <a:solidFill>
                  <a:schemeClr val="bg1"/>
                </a:solidFill>
              </a:rPr>
              <a:t>업체명</a:t>
            </a:r>
            <a:r>
              <a:rPr lang="en-US" altLang="ko-KR" sz="500" dirty="0" smtClean="0">
                <a:solidFill>
                  <a:schemeClr val="bg1"/>
                </a:solidFill>
              </a:rPr>
              <a:t>, </a:t>
            </a:r>
            <a:r>
              <a:rPr lang="ko-KR" altLang="en-US" sz="500" dirty="0" smtClean="0">
                <a:solidFill>
                  <a:schemeClr val="bg1"/>
                </a:solidFill>
              </a:rPr>
              <a:t>입찰방법</a:t>
            </a:r>
            <a:r>
              <a:rPr lang="en-US" altLang="ko-KR" sz="500" dirty="0" smtClean="0">
                <a:solidFill>
                  <a:schemeClr val="bg1"/>
                </a:solidFill>
              </a:rPr>
              <a:t>,</a:t>
            </a:r>
            <a:r>
              <a:rPr lang="ko-KR" altLang="en-US" sz="500" dirty="0" err="1" smtClean="0">
                <a:solidFill>
                  <a:schemeClr val="bg1"/>
                </a:solidFill>
              </a:rPr>
              <a:t>계약종류</a:t>
            </a:r>
            <a:r>
              <a:rPr lang="en-US" altLang="ko-KR" sz="500" dirty="0" smtClean="0">
                <a:solidFill>
                  <a:schemeClr val="bg1"/>
                </a:solidFill>
              </a:rPr>
              <a:t>,</a:t>
            </a:r>
            <a:r>
              <a:rPr lang="ko-KR" altLang="en-US" sz="500" dirty="0" err="1" smtClean="0">
                <a:solidFill>
                  <a:schemeClr val="bg1"/>
                </a:solidFill>
              </a:rPr>
              <a:t>계약일자</a:t>
            </a:r>
            <a:r>
              <a:rPr lang="en-US" altLang="ko-KR" sz="500" dirty="0">
                <a:solidFill>
                  <a:schemeClr val="bg1"/>
                </a:solidFill>
              </a:rPr>
              <a:t> </a:t>
            </a:r>
            <a:r>
              <a:rPr lang="ko-KR" altLang="en-US" sz="500" dirty="0" smtClean="0">
                <a:solidFill>
                  <a:schemeClr val="bg1"/>
                </a:solidFill>
              </a:rPr>
              <a:t>누락</a:t>
            </a:r>
            <a:endParaRPr lang="ko-KR" altLang="en-US" sz="500" dirty="0">
              <a:solidFill>
                <a:schemeClr val="bg1"/>
              </a:solidFill>
            </a:endParaRPr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2650531" y="146183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6</a:t>
            </a:r>
            <a:endParaRPr lang="ko-KR" altLang="en-US" sz="900" b="1" dirty="0"/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706935" y="350959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00" b="1" dirty="0" smtClean="0"/>
              <a:t>4-2</a:t>
            </a:r>
          </a:p>
        </p:txBody>
      </p:sp>
      <p:sp>
        <p:nvSpPr>
          <p:cNvPr id="137" name="타원 13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706935" y="374701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00" b="1" dirty="0" smtClean="0"/>
              <a:t>4-3</a:t>
            </a:r>
          </a:p>
        </p:txBody>
      </p:sp>
    </p:spTree>
    <p:extLst>
      <p:ext uri="{BB962C8B-B14F-4D97-AF65-F5344CB8AC3E}">
        <p14:creationId xmlns:p14="http://schemas.microsoft.com/office/powerpoint/2010/main" val="5405389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대금청구통합목록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대금청구통합목록</a:t>
            </a:r>
            <a:r>
              <a:rPr lang="ko-KR" altLang="en-US" dirty="0"/>
              <a:t>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MUI-WM-01-M01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대금청구통합목록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197695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78206" y="2890210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2890210"/>
            <a:ext cx="505710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37" name="그룹 36"/>
          <p:cNvGrpSpPr/>
          <p:nvPr/>
        </p:nvGrpSpPr>
        <p:grpSpPr>
          <a:xfrm>
            <a:off x="3143548" y="2992033"/>
            <a:ext cx="94010" cy="47005"/>
            <a:chOff x="6812560" y="3297172"/>
            <a:chExt cx="94010" cy="47005"/>
          </a:xfrm>
        </p:grpSpPr>
        <p:cxnSp>
          <p:nvCxnSpPr>
            <p:cNvPr id="42" name="직선 연결선 4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직선 연결선 4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41494"/>
            <a:ext cx="2446613" cy="279492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grpSp>
        <p:nvGrpSpPr>
          <p:cNvPr id="5" name="그룹 4"/>
          <p:cNvGrpSpPr/>
          <p:nvPr/>
        </p:nvGrpSpPr>
        <p:grpSpPr>
          <a:xfrm>
            <a:off x="781461" y="3374704"/>
            <a:ext cx="2473257" cy="960061"/>
            <a:chOff x="781461" y="3087955"/>
            <a:chExt cx="2473257" cy="960061"/>
          </a:xfrm>
        </p:grpSpPr>
        <p:sp>
          <p:nvSpPr>
            <p:cNvPr id="55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3272286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계약번호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2025000000 - 01</a:t>
              </a:r>
            </a:p>
            <a:p>
              <a:r>
                <a:rPr lang="ko-KR" altLang="en-US" sz="900" b="1" dirty="0">
                  <a:solidFill>
                    <a:srgbClr val="0070C0"/>
                  </a:solidFill>
                </a:rPr>
                <a:t>물품</a:t>
              </a:r>
              <a:r>
                <a:rPr lang="ko-KR" altLang="en-US" sz="900" b="1" dirty="0"/>
                <a:t>구매</a:t>
              </a:r>
            </a:p>
          </p:txBody>
        </p:sp>
        <p:sp>
          <p:nvSpPr>
            <p:cNvPr id="56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632518"/>
              <a:ext cx="307777" cy="4154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계약일자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발주기관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계약금액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57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617129"/>
              <a:ext cx="472886" cy="39767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2026-02-10</a:t>
              </a: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제</a:t>
              </a:r>
              <a:r>
                <a:rPr lang="en-US" altLang="ko-KR" sz="600" dirty="0">
                  <a:latin typeface="+mn-ea"/>
                </a:rPr>
                <a:t>8385</a:t>
              </a:r>
              <a:r>
                <a:rPr lang="ko-KR" altLang="en-US" sz="600" dirty="0">
                  <a:latin typeface="+mn-ea"/>
                </a:rPr>
                <a:t>부대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11,616,000 </a:t>
              </a:r>
              <a:r>
                <a:rPr lang="ko-KR" altLang="en-US" sz="600" dirty="0">
                  <a:latin typeface="+mn-ea"/>
                </a:rPr>
                <a:t>원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67" name="모서리가 둥근 직사각형 66"/>
            <p:cNvSpPr/>
            <p:nvPr/>
          </p:nvSpPr>
          <p:spPr>
            <a:xfrm>
              <a:off x="781461" y="3087955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물품</a:t>
              </a:r>
            </a:p>
          </p:txBody>
        </p:sp>
        <p:sp>
          <p:nvSpPr>
            <p:cNvPr id="68" name="모서리가 둥근 직사각형 67"/>
            <p:cNvSpPr/>
            <p:nvPr/>
          </p:nvSpPr>
          <p:spPr>
            <a:xfrm>
              <a:off x="1075655" y="3087955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수의계약</a:t>
              </a:r>
            </a:p>
          </p:txBody>
        </p:sp>
      </p:grp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437825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82527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1902673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업무도움</a:t>
            </a:r>
            <a:endParaRPr lang="ko-KR" altLang="en-US" sz="700" dirty="0">
              <a:latin typeface="+mn-ea"/>
            </a:endParaRPr>
          </a:p>
        </p:txBody>
      </p:sp>
      <p:sp>
        <p:nvSpPr>
          <p:cNvPr id="129" name="타원 128"/>
          <p:cNvSpPr/>
          <p:nvPr/>
        </p:nvSpPr>
        <p:spPr>
          <a:xfrm>
            <a:off x="783686" y="1934018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0" name="그룹 129"/>
          <p:cNvGrpSpPr/>
          <p:nvPr/>
        </p:nvGrpSpPr>
        <p:grpSpPr>
          <a:xfrm>
            <a:off x="3143548" y="2016004"/>
            <a:ext cx="94010" cy="47005"/>
            <a:chOff x="6812560" y="3297172"/>
            <a:chExt cx="94010" cy="47005"/>
          </a:xfrm>
        </p:grpSpPr>
        <p:cxnSp>
          <p:nvCxnSpPr>
            <p:cNvPr id="131" name="직선 연결선 13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2" name="직선 연결선 13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41" name="직선 연결선 14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19808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2894264"/>
            <a:ext cx="1490411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2,010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</a:p>
        </p:txBody>
      </p:sp>
      <p:sp>
        <p:nvSpPr>
          <p:cNvPr id="185" name="타원 184"/>
          <p:cNvSpPr/>
          <p:nvPr/>
        </p:nvSpPr>
        <p:spPr>
          <a:xfrm>
            <a:off x="2741767" y="1580377"/>
            <a:ext cx="108000" cy="108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699587" y="1709526"/>
            <a:ext cx="192360" cy="769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500" dirty="0">
                <a:latin typeface="+mn-ea"/>
              </a:rPr>
              <a:t>안내문</a:t>
            </a:r>
          </a:p>
        </p:txBody>
      </p:sp>
      <p:grpSp>
        <p:nvGrpSpPr>
          <p:cNvPr id="114" name="그룹 113"/>
          <p:cNvGrpSpPr/>
          <p:nvPr/>
        </p:nvGrpSpPr>
        <p:grpSpPr>
          <a:xfrm>
            <a:off x="767702" y="2270279"/>
            <a:ext cx="2527420" cy="477995"/>
            <a:chOff x="786326" y="2270279"/>
            <a:chExt cx="2527420" cy="477995"/>
          </a:xfrm>
        </p:grpSpPr>
        <p:sp>
          <p:nvSpPr>
            <p:cNvPr id="117" name="모서리가 둥근 직사각형 116"/>
            <p:cNvSpPr/>
            <p:nvPr/>
          </p:nvSpPr>
          <p:spPr>
            <a:xfrm>
              <a:off x="786326" y="2481707"/>
              <a:ext cx="2527420" cy="266567"/>
            </a:xfrm>
            <a:prstGeom prst="roundRect">
              <a:avLst>
                <a:gd name="adj" fmla="val 50000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1" name="타원 120"/>
            <p:cNvSpPr/>
            <p:nvPr/>
          </p:nvSpPr>
          <p:spPr>
            <a:xfrm>
              <a:off x="3071451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90013" y="2561129"/>
              <a:ext cx="188636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검색할 내용을 입력하세요</a:t>
              </a:r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.</a:t>
              </a:r>
              <a:endParaRPr lang="ko-KR" altLang="en-US" sz="7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grpSp>
          <p:nvGrpSpPr>
            <p:cNvPr id="124" name="그룹 123"/>
            <p:cNvGrpSpPr/>
            <p:nvPr/>
          </p:nvGrpSpPr>
          <p:grpSpPr>
            <a:xfrm>
              <a:off x="795624" y="2274581"/>
              <a:ext cx="1299303" cy="155984"/>
              <a:chOff x="808107" y="2288229"/>
              <a:chExt cx="1189739" cy="168318"/>
            </a:xfrm>
          </p:grpSpPr>
          <p:sp>
            <p:nvSpPr>
              <p:cNvPr id="182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808107" y="2288229"/>
                <a:ext cx="563494" cy="168318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rgbClr val="0070C0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 err="1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계약명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맑은 고딕"/>
                </a:endParaRPr>
              </a:p>
            </p:txBody>
          </p:sp>
          <p:sp>
            <p:nvSpPr>
              <p:cNvPr id="186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1434352" y="2288229"/>
                <a:ext cx="563494" cy="168318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 err="1">
                    <a:latin typeface="맑은 고딕"/>
                    <a:ea typeface="맑은 고딕" panose="020B0503020000020004" pitchFamily="50" charset="-127"/>
                  </a:rPr>
                  <a:t>계약번호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</p:grpSp>
        <p:sp>
          <p:nvSpPr>
            <p:cNvPr id="126" name="타원 125"/>
            <p:cNvSpPr/>
            <p:nvPr/>
          </p:nvSpPr>
          <p:spPr>
            <a:xfrm>
              <a:off x="814969" y="2290708"/>
              <a:ext cx="108000" cy="108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V</a:t>
              </a:r>
              <a:endParaRPr lang="ko-KR" altLang="en-US" sz="600" dirty="0"/>
            </a:p>
          </p:txBody>
        </p:sp>
        <p:sp>
          <p:nvSpPr>
            <p:cNvPr id="133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2726021" y="2270279"/>
              <a:ext cx="582849" cy="154795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800" kern="0" dirty="0" err="1">
                  <a:latin typeface="맑은 고딕"/>
                  <a:ea typeface="맑은 고딕" panose="020B0503020000020004" pitchFamily="50" charset="-127"/>
                </a:rPr>
                <a:t>검색필터</a:t>
              </a:r>
              <a:endParaRPr kumimoji="1" lang="en-US" sz="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140" name="타원 139"/>
            <p:cNvSpPr/>
            <p:nvPr/>
          </p:nvSpPr>
          <p:spPr>
            <a:xfrm>
              <a:off x="2857726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43" name="그룹 142"/>
            <p:cNvGrpSpPr/>
            <p:nvPr/>
          </p:nvGrpSpPr>
          <p:grpSpPr>
            <a:xfrm>
              <a:off x="2901631" y="2585953"/>
              <a:ext cx="58075" cy="58074"/>
              <a:chOff x="6812560" y="3297172"/>
              <a:chExt cx="94010" cy="94010"/>
            </a:xfrm>
          </p:grpSpPr>
          <p:cxnSp>
            <p:nvCxnSpPr>
              <p:cNvPr id="144" name="직선 연결선 143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" name="직선 연결선 147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20" name="타원 11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455540" y="358908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b="1" dirty="0"/>
              <a:t>２</a:t>
            </a:r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sz="800" dirty="0" smtClean="0"/>
              <a:t>선택한 </a:t>
            </a:r>
            <a:r>
              <a:rPr lang="ko-KR" altLang="en-US" sz="800" dirty="0" err="1" smtClean="0"/>
              <a:t>계약건에</a:t>
            </a:r>
            <a:r>
              <a:rPr lang="ko-KR" altLang="en-US" sz="800" dirty="0" smtClean="0"/>
              <a:t> 진행중인 대금 청구가 </a:t>
            </a:r>
            <a:r>
              <a:rPr lang="ko-KR" altLang="en-US" sz="800" dirty="0" err="1" smtClean="0"/>
              <a:t>없는경우</a:t>
            </a:r>
            <a:r>
              <a:rPr lang="ko-KR" altLang="en-US" sz="800" dirty="0" smtClean="0"/>
              <a:t> 토스트 노출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en-US" altLang="ko-KR" sz="800" dirty="0" smtClean="0"/>
              <a:t>- “</a:t>
            </a:r>
            <a:r>
              <a:rPr lang="ko-KR" altLang="en-US" sz="800" dirty="0" smtClean="0"/>
              <a:t>진행중인 대금청구건이 없는 계약입니다</a:t>
            </a:r>
            <a:r>
              <a:rPr lang="en-US" altLang="ko-KR" sz="800" dirty="0" smtClean="0"/>
              <a:t>“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sz="800" dirty="0" smtClean="0"/>
              <a:t>선택한 </a:t>
            </a:r>
            <a:r>
              <a:rPr lang="ko-KR" altLang="en-US" sz="800" dirty="0" err="1" smtClean="0"/>
              <a:t>계약건에</a:t>
            </a:r>
            <a:r>
              <a:rPr lang="ko-KR" altLang="en-US" sz="800" dirty="0" smtClean="0"/>
              <a:t> 진행중인 대금 청구가 있는 경우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en-US" altLang="ko-KR" sz="800" dirty="0" smtClean="0"/>
              <a:t>- </a:t>
            </a:r>
            <a:r>
              <a:rPr lang="ko-KR" altLang="en-US" sz="800" dirty="0" err="1" smtClean="0"/>
              <a:t>바텀시트</a:t>
            </a:r>
            <a:r>
              <a:rPr lang="ko-KR" altLang="en-US" sz="800" dirty="0" smtClean="0"/>
              <a:t> 노출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en-US" altLang="ko-KR" sz="800" dirty="0" smtClean="0"/>
              <a:t>- </a:t>
            </a:r>
            <a:r>
              <a:rPr lang="ko-KR" altLang="en-US" sz="800" dirty="0" smtClean="0"/>
              <a:t>보유중인 신청 목록 노출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endParaRPr lang="en-US" altLang="ko-KR" sz="800" dirty="0"/>
          </a:p>
        </p:txBody>
      </p:sp>
      <p:sp>
        <p:nvSpPr>
          <p:cNvPr id="4" name="직사각형 3"/>
          <p:cNvSpPr/>
          <p:nvPr/>
        </p:nvSpPr>
        <p:spPr>
          <a:xfrm>
            <a:off x="674315" y="3236053"/>
            <a:ext cx="2713111" cy="1234633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118010" y="5196138"/>
            <a:ext cx="1890323" cy="186790"/>
          </a:xfrm>
          <a:prstGeom prst="roundRect">
            <a:avLst>
              <a:gd name="adj" fmla="val 50000"/>
            </a:avLst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b="0" i="0" u="none" strike="noStrike" kern="0" cap="none" spc="0" normalizeH="0" baseline="0" noProof="0" dirty="0" smtClean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</a:rPr>
              <a:t>진행중인 </a:t>
            </a:r>
            <a:r>
              <a:rPr kumimoji="1" lang="ko-KR" altLang="en-US" sz="700" b="0" i="0" u="none" strike="noStrike" kern="0" cap="none" spc="0" normalizeH="0" baseline="0" noProof="0" dirty="0" err="1" smtClean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</a:rPr>
              <a:t>대금청구가</a:t>
            </a:r>
            <a:r>
              <a:rPr kumimoji="1" lang="ko-KR" altLang="en-US" sz="700" b="0" i="0" u="none" strike="noStrike" kern="0" cap="none" spc="0" normalizeH="0" baseline="0" noProof="0" dirty="0" smtClean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</a:rPr>
              <a:t> 없는 계약 입니다</a:t>
            </a:r>
            <a:r>
              <a:rPr kumimoji="1" lang="en-US" altLang="ko-KR" sz="700" b="0" i="0" u="none" strike="noStrike" kern="0" cap="none" spc="0" normalizeH="0" baseline="0" noProof="0" dirty="0" smtClean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70" name="직사각형 16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868868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29541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대금청구통합목록</a:t>
            </a:r>
          </a:p>
        </p:txBody>
      </p:sp>
      <p:cxnSp>
        <p:nvCxnSpPr>
          <p:cNvPr id="173" name="직선 연결선 17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74039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4" name="그룹 173"/>
          <p:cNvGrpSpPr/>
          <p:nvPr/>
        </p:nvGrpSpPr>
        <p:grpSpPr>
          <a:xfrm rot="5400000">
            <a:off x="3948482" y="1640499"/>
            <a:ext cx="94010" cy="47005"/>
            <a:chOff x="6812560" y="3297172"/>
            <a:chExt cx="94010" cy="47005"/>
          </a:xfrm>
        </p:grpSpPr>
        <p:cxnSp>
          <p:nvCxnSpPr>
            <p:cNvPr id="175" name="직선 연결선 17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6" name="직선 연결선 17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7" name="타원 176"/>
          <p:cNvSpPr/>
          <p:nvPr/>
        </p:nvSpPr>
        <p:spPr>
          <a:xfrm>
            <a:off x="6238006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양쪽 모서리가 둥근 사각형 188"/>
          <p:cNvSpPr/>
          <p:nvPr/>
        </p:nvSpPr>
        <p:spPr>
          <a:xfrm>
            <a:off x="3868868" y="1914401"/>
            <a:ext cx="2712027" cy="4317897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0" name="모서리가 둥근 직사각형 189"/>
          <p:cNvSpPr/>
          <p:nvPr/>
        </p:nvSpPr>
        <p:spPr>
          <a:xfrm>
            <a:off x="4954881" y="1951029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91" name="그룹 190"/>
          <p:cNvGrpSpPr/>
          <p:nvPr/>
        </p:nvGrpSpPr>
        <p:grpSpPr>
          <a:xfrm>
            <a:off x="6357807" y="2085445"/>
            <a:ext cx="94010" cy="94010"/>
            <a:chOff x="6812560" y="3297172"/>
            <a:chExt cx="94010" cy="94010"/>
          </a:xfrm>
        </p:grpSpPr>
        <p:cxnSp>
          <p:nvCxnSpPr>
            <p:cNvPr id="192" name="직선 연결선 19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3" name="직선 연결선 192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94" name="TextBox 19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7945" y="2066124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 smtClean="0">
                <a:latin typeface="+mn-ea"/>
              </a:rPr>
              <a:t>대금청구</a:t>
            </a:r>
            <a:r>
              <a:rPr lang="ko-KR" altLang="en-US" sz="900" dirty="0" smtClean="0">
                <a:latin typeface="+mn-ea"/>
              </a:rPr>
              <a:t> </a:t>
            </a:r>
            <a:r>
              <a:rPr lang="ko-KR" altLang="en-US" sz="900" dirty="0" err="1" smtClean="0">
                <a:latin typeface="+mn-ea"/>
              </a:rPr>
              <a:t>신청목록</a:t>
            </a:r>
            <a:endParaRPr lang="ko-KR" altLang="en-US" sz="900" dirty="0">
              <a:latin typeface="+mn-ea"/>
            </a:endParaRPr>
          </a:p>
        </p:txBody>
      </p:sp>
      <p:cxnSp>
        <p:nvCxnSpPr>
          <p:cNvPr id="195" name="직선 연결선 19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68868" y="232752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96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4001575" y="5813061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grpSp>
        <p:nvGrpSpPr>
          <p:cNvPr id="197" name="그룹 196"/>
          <p:cNvGrpSpPr/>
          <p:nvPr/>
        </p:nvGrpSpPr>
        <p:grpSpPr>
          <a:xfrm>
            <a:off x="3971985" y="3199121"/>
            <a:ext cx="2476202" cy="1171825"/>
            <a:chOff x="778516" y="2610063"/>
            <a:chExt cx="2476202" cy="1171825"/>
          </a:xfrm>
        </p:grpSpPr>
        <p:sp>
          <p:nvSpPr>
            <p:cNvPr id="198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6161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dirty="0" err="1"/>
                <a:t>청구번호</a:t>
              </a:r>
              <a:r>
                <a:rPr lang="ko-KR" altLang="en-US" sz="800" dirty="0"/>
                <a:t> </a:t>
              </a:r>
              <a:r>
                <a:rPr lang="en-US" altLang="ko-KR" sz="800" dirty="0"/>
                <a:t>12315 - </a:t>
              </a:r>
              <a:r>
                <a:rPr lang="en-US" altLang="ko-KR" sz="800" dirty="0" smtClean="0"/>
                <a:t>42</a:t>
              </a:r>
            </a:p>
            <a:p>
              <a:r>
                <a:rPr lang="ko-KR" altLang="en-US" sz="900" b="1" dirty="0" err="1" smtClean="0"/>
                <a:t>대금청구서</a:t>
              </a:r>
              <a:endParaRPr lang="ko-KR" altLang="en-US" sz="1050" b="1" dirty="0"/>
            </a:p>
          </p:txBody>
        </p:sp>
        <p:sp>
          <p:nvSpPr>
            <p:cNvPr id="199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089391"/>
              <a:ext cx="307777" cy="69249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smtClean="0">
                  <a:latin typeface="+mn-ea"/>
                </a:rPr>
                <a:t>청구금액</a:t>
              </a:r>
              <a:endParaRPr lang="en-US" altLang="ko-KR" sz="600" dirty="0" smtClean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 smtClean="0">
                  <a:latin typeface="+mn-ea"/>
                </a:rPr>
                <a:t>확정구분</a:t>
              </a:r>
              <a:endParaRPr lang="en-US" altLang="ko-KR" sz="600" dirty="0" smtClean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 smtClean="0">
                  <a:latin typeface="+mn-ea"/>
                </a:rPr>
                <a:t>세액여부</a:t>
              </a:r>
              <a:endParaRPr lang="en-US" altLang="ko-KR" sz="600" dirty="0" smtClean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smtClean="0">
                  <a:latin typeface="+mn-ea"/>
                </a:rPr>
                <a:t>작성일자</a:t>
              </a:r>
              <a:endParaRPr lang="en-US" altLang="ko-KR" sz="600" dirty="0" smtClean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 smtClean="0">
                  <a:latin typeface="+mn-ea"/>
                </a:rPr>
                <a:t>청구일자</a:t>
              </a:r>
              <a:endParaRPr lang="en-US" altLang="ko-KR" sz="600" dirty="0" smtClean="0">
                <a:latin typeface="+mn-ea"/>
              </a:endParaRPr>
            </a:p>
          </p:txBody>
        </p:sp>
        <p:sp>
          <p:nvSpPr>
            <p:cNvPr id="200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4574" y="3082030"/>
              <a:ext cx="657231" cy="69249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000,000,000,000 </a:t>
              </a:r>
              <a:r>
                <a:rPr lang="ko-KR" altLang="en-US" sz="600" dirty="0">
                  <a:latin typeface="+mn-ea"/>
                </a:rPr>
                <a:t>원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600" dirty="0" smtClean="0">
                  <a:latin typeface="+mn-ea"/>
                </a:rPr>
                <a:t>-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600" dirty="0" smtClean="0">
                  <a:latin typeface="+mn-ea"/>
                </a:rPr>
                <a:t>000,000,000,000 </a:t>
              </a:r>
              <a:r>
                <a:rPr lang="ko-KR" altLang="en-US" sz="600" dirty="0">
                  <a:latin typeface="+mn-ea"/>
                </a:rPr>
                <a:t>원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600" dirty="0" smtClean="0">
                  <a:latin typeface="+mn-ea"/>
                </a:rPr>
                <a:t>2025-10-15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600" dirty="0" smtClean="0">
                  <a:latin typeface="+mn-ea"/>
                </a:rPr>
                <a:t>2025-11-20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201" name="모서리가 둥근 직사각형 200"/>
            <p:cNvSpPr/>
            <p:nvPr/>
          </p:nvSpPr>
          <p:spPr>
            <a:xfrm>
              <a:off x="778516" y="2610063"/>
              <a:ext cx="480073" cy="12997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 smtClean="0">
                  <a:solidFill>
                    <a:schemeClr val="dk1"/>
                  </a:solidFill>
                </a:rPr>
                <a:t>진행중</a:t>
              </a:r>
              <a:endParaRPr lang="ko-KR" altLang="en-US" sz="600" dirty="0">
                <a:solidFill>
                  <a:schemeClr val="dk1"/>
                </a:solidFill>
              </a:endParaRPr>
            </a:p>
          </p:txBody>
        </p:sp>
      </p:grpSp>
      <p:cxnSp>
        <p:nvCxnSpPr>
          <p:cNvPr id="206" name="직선 연결선 20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913959" y="4438935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07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3974930" y="2446715"/>
            <a:ext cx="247325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 err="1" smtClean="0"/>
              <a:t>계약번호</a:t>
            </a:r>
            <a:r>
              <a:rPr lang="ko-KR" altLang="en-US" sz="700" dirty="0" smtClean="0"/>
              <a:t> </a:t>
            </a:r>
            <a:r>
              <a:rPr lang="en-US" altLang="ko-KR" sz="700" dirty="0" smtClean="0"/>
              <a:t>2025 000 000 - 01</a:t>
            </a:r>
          </a:p>
          <a:p>
            <a:r>
              <a:rPr lang="ko-KR" altLang="en-US" sz="900" b="1" dirty="0" smtClean="0"/>
              <a:t>변속기 부품 계약의 건</a:t>
            </a:r>
            <a:endParaRPr lang="ko-KR" altLang="en-US" sz="900" b="1" dirty="0"/>
          </a:p>
        </p:txBody>
      </p:sp>
      <p:cxnSp>
        <p:nvCxnSpPr>
          <p:cNvPr id="208" name="직선 연결선 20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68868" y="275932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9" name="직선 연결선 20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68868" y="304507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55615" y="2771812"/>
            <a:ext cx="42578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 smtClean="0">
                <a:solidFill>
                  <a:srgbClr val="0070C0"/>
                </a:solidFill>
                <a:latin typeface="+mn-ea"/>
              </a:rPr>
              <a:t>3</a:t>
            </a:r>
            <a:r>
              <a:rPr lang="ko-KR" altLang="en-US" sz="700" dirty="0" smtClean="0">
                <a:latin typeface="+mn-ea"/>
              </a:rPr>
              <a:t>건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9" name="직선 화살표 연결선 8"/>
          <p:cNvCxnSpPr>
            <a:endCxn id="99" idx="0"/>
          </p:cNvCxnSpPr>
          <p:nvPr/>
        </p:nvCxnSpPr>
        <p:spPr>
          <a:xfrm flipH="1">
            <a:off x="2063172" y="4562778"/>
            <a:ext cx="1" cy="633360"/>
          </a:xfrm>
          <a:prstGeom prst="straightConnector1">
            <a:avLst/>
          </a:prstGeom>
          <a:ln w="19050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/>
          <p:cNvCxnSpPr/>
          <p:nvPr/>
        </p:nvCxnSpPr>
        <p:spPr>
          <a:xfrm>
            <a:off x="3411164" y="3851307"/>
            <a:ext cx="317308" cy="0"/>
          </a:xfrm>
          <a:prstGeom prst="straightConnector1">
            <a:avLst/>
          </a:prstGeom>
          <a:ln w="19050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타원 21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2106076" y="473757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1</a:t>
            </a:r>
            <a:endParaRPr lang="ko-KR" altLang="en-US" sz="900" b="1" dirty="0"/>
          </a:p>
        </p:txBody>
      </p:sp>
      <p:grpSp>
        <p:nvGrpSpPr>
          <p:cNvPr id="215" name="그룹 214"/>
          <p:cNvGrpSpPr/>
          <p:nvPr/>
        </p:nvGrpSpPr>
        <p:grpSpPr>
          <a:xfrm>
            <a:off x="3971985" y="4572651"/>
            <a:ext cx="2476202" cy="1171825"/>
            <a:chOff x="778516" y="2610063"/>
            <a:chExt cx="2476202" cy="1171825"/>
          </a:xfrm>
        </p:grpSpPr>
        <p:sp>
          <p:nvSpPr>
            <p:cNvPr id="216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6161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800" dirty="0" err="1">
                  <a:solidFill>
                    <a:prstClr val="black"/>
                  </a:solidFill>
                </a:rPr>
                <a:t>청구번호</a:t>
              </a:r>
              <a:r>
                <a:rPr lang="ko-KR" altLang="en-US" sz="800" dirty="0">
                  <a:solidFill>
                    <a:prstClr val="black"/>
                  </a:solidFill>
                </a:rPr>
                <a:t> </a:t>
              </a:r>
              <a:r>
                <a:rPr lang="en-US" altLang="ko-KR" sz="800" dirty="0">
                  <a:solidFill>
                    <a:prstClr val="black"/>
                  </a:solidFill>
                </a:rPr>
                <a:t>12315 - 42</a:t>
              </a:r>
            </a:p>
            <a:p>
              <a:r>
                <a:rPr lang="ko-KR" altLang="en-US" sz="900" b="1" dirty="0" err="1" smtClean="0"/>
                <a:t>선금신청서</a:t>
              </a:r>
              <a:r>
                <a:rPr lang="ko-KR" altLang="en-US" sz="900" b="1" dirty="0" smtClean="0"/>
                <a:t> </a:t>
              </a:r>
              <a:endParaRPr lang="ko-KR" altLang="en-US" sz="1050" b="1" dirty="0"/>
            </a:p>
          </p:txBody>
        </p:sp>
        <p:sp>
          <p:nvSpPr>
            <p:cNvPr id="217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089391"/>
              <a:ext cx="307777" cy="69249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smtClean="0">
                  <a:latin typeface="+mn-ea"/>
                </a:rPr>
                <a:t>청구금액</a:t>
              </a:r>
              <a:endParaRPr lang="en-US" altLang="ko-KR" sz="600" dirty="0" smtClean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 smtClean="0">
                  <a:latin typeface="+mn-ea"/>
                </a:rPr>
                <a:t>확정구분</a:t>
              </a:r>
              <a:endParaRPr lang="en-US" altLang="ko-KR" sz="600" dirty="0" smtClean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 smtClean="0">
                  <a:latin typeface="+mn-ea"/>
                </a:rPr>
                <a:t>세액여부</a:t>
              </a:r>
              <a:endParaRPr lang="en-US" altLang="ko-KR" sz="600" dirty="0" smtClean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smtClean="0">
                  <a:latin typeface="+mn-ea"/>
                </a:rPr>
                <a:t>작성일자</a:t>
              </a:r>
              <a:endParaRPr lang="en-US" altLang="ko-KR" sz="600" dirty="0" smtClean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 smtClean="0">
                  <a:latin typeface="+mn-ea"/>
                </a:rPr>
                <a:t>청구일자</a:t>
              </a:r>
              <a:endParaRPr lang="en-US" altLang="ko-KR" sz="600" dirty="0" smtClean="0">
                <a:latin typeface="+mn-ea"/>
              </a:endParaRPr>
            </a:p>
          </p:txBody>
        </p:sp>
        <p:sp>
          <p:nvSpPr>
            <p:cNvPr id="218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4574" y="3082030"/>
              <a:ext cx="657231" cy="69249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000,000,000,000 </a:t>
              </a:r>
              <a:r>
                <a:rPr lang="ko-KR" altLang="en-US" sz="600" dirty="0">
                  <a:latin typeface="+mn-ea"/>
                </a:rPr>
                <a:t>원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600" dirty="0" smtClean="0">
                  <a:latin typeface="+mn-ea"/>
                </a:rPr>
                <a:t>-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600" dirty="0" smtClean="0">
                  <a:latin typeface="+mn-ea"/>
                </a:rPr>
                <a:t>000,000,000,000 </a:t>
              </a:r>
              <a:r>
                <a:rPr lang="ko-KR" altLang="en-US" sz="600" dirty="0">
                  <a:latin typeface="+mn-ea"/>
                </a:rPr>
                <a:t>원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600" dirty="0" smtClean="0">
                  <a:latin typeface="+mn-ea"/>
                </a:rPr>
                <a:t>2025-10-15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600" dirty="0" smtClean="0">
                  <a:latin typeface="+mn-ea"/>
                </a:rPr>
                <a:t>2025-11-20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219" name="모서리가 둥근 직사각형 218"/>
            <p:cNvSpPr/>
            <p:nvPr/>
          </p:nvSpPr>
          <p:spPr>
            <a:xfrm>
              <a:off x="778516" y="2610063"/>
              <a:ext cx="480073" cy="12997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 err="1" smtClean="0">
                  <a:solidFill>
                    <a:schemeClr val="dk1"/>
                  </a:solidFill>
                </a:rPr>
                <a:t>진행완료</a:t>
              </a:r>
              <a:endParaRPr lang="ko-KR" altLang="en-US" sz="600" dirty="0">
                <a:solidFill>
                  <a:schemeClr val="dk1"/>
                </a:solidFill>
              </a:endParaRPr>
            </a:p>
          </p:txBody>
        </p:sp>
      </p:grpSp>
      <p:cxnSp>
        <p:nvCxnSpPr>
          <p:cNvPr id="220" name="직선 연결선 21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913959" y="5812465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333909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직사각형 1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69852" y="1501912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sz="800" dirty="0" err="1"/>
              <a:t>검색필터</a:t>
            </a:r>
            <a:r>
              <a:rPr lang="ko-KR" altLang="en-US" sz="800" dirty="0"/>
              <a:t> 페이지 타이틀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1-1] </a:t>
            </a:r>
            <a:r>
              <a:rPr lang="ko-KR" altLang="en-US" sz="800" dirty="0"/>
              <a:t>초기화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1-2] </a:t>
            </a:r>
            <a:r>
              <a:rPr lang="ko-KR" altLang="en-US" sz="800" dirty="0"/>
              <a:t>창 닫기 버튼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ko-KR" altLang="en-US" sz="800" dirty="0"/>
              <a:t>각 </a:t>
            </a:r>
            <a:r>
              <a:rPr lang="ko-KR" altLang="en-US" sz="800" dirty="0" err="1"/>
              <a:t>섹션명</a:t>
            </a:r>
            <a:r>
              <a:rPr lang="ko-KR" altLang="en-US" sz="800" dirty="0"/>
              <a:t> 클릭 시 아코디언 동작</a:t>
            </a:r>
            <a:endParaRPr lang="en-US" altLang="ko-KR" sz="800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sz="800" dirty="0" smtClean="0"/>
              <a:t>업무 </a:t>
            </a:r>
            <a:r>
              <a:rPr lang="ko-KR" altLang="en-US" sz="800" dirty="0"/>
              <a:t>구분</a:t>
            </a:r>
            <a:r>
              <a:rPr lang="en-US" altLang="ko-KR" sz="800" dirty="0"/>
              <a:t>(</a:t>
            </a:r>
            <a:r>
              <a:rPr lang="ko-KR" altLang="en-US" sz="800" dirty="0" err="1"/>
              <a:t>필수값</a:t>
            </a:r>
            <a:r>
              <a:rPr lang="en-US" altLang="ko-KR" sz="800" dirty="0"/>
              <a:t>)</a:t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/>
              <a:t>항목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ko-KR" altLang="en-US" sz="800" dirty="0"/>
              <a:t>전체</a:t>
            </a:r>
            <a:r>
              <a:rPr lang="en-US" altLang="ko-KR" sz="800" dirty="0"/>
              <a:t>, </a:t>
            </a:r>
            <a:r>
              <a:rPr lang="ko-KR" altLang="en-US" sz="800" dirty="0"/>
              <a:t>물품</a:t>
            </a:r>
            <a:r>
              <a:rPr lang="en-US" altLang="ko-KR" sz="800" dirty="0"/>
              <a:t>,</a:t>
            </a:r>
            <a:r>
              <a:rPr lang="ko-KR" altLang="en-US" sz="800" dirty="0"/>
              <a:t>용역</a:t>
            </a:r>
            <a:r>
              <a:rPr lang="en-US" altLang="ko-KR" sz="800" dirty="0"/>
              <a:t>,</a:t>
            </a:r>
            <a:r>
              <a:rPr lang="ko-KR" altLang="en-US" sz="800" dirty="0"/>
              <a:t>공사</a:t>
            </a:r>
            <a:r>
              <a:rPr lang="en-US" altLang="ko-KR" sz="800" dirty="0"/>
              <a:t>,</a:t>
            </a:r>
            <a:r>
              <a:rPr lang="ko-KR" altLang="en-US" sz="800" dirty="0"/>
              <a:t>국외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default) </a:t>
            </a:r>
            <a:r>
              <a:rPr lang="ko-KR" altLang="en-US" sz="800" dirty="0"/>
              <a:t>전체</a:t>
            </a:r>
            <a:endParaRPr lang="en-US" altLang="ko-KR" sz="800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sz="800" dirty="0"/>
              <a:t>검색 설정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 err="1"/>
              <a:t>서류요청</a:t>
            </a:r>
            <a:r>
              <a:rPr lang="ko-KR" altLang="en-US" sz="800" dirty="0"/>
              <a:t> </a:t>
            </a:r>
            <a:r>
              <a:rPr lang="ko-KR" altLang="en-US" sz="800" dirty="0" err="1"/>
              <a:t>수신일자</a:t>
            </a:r>
            <a:r>
              <a:rPr lang="ko-KR" altLang="en-US" sz="800" dirty="0"/>
              <a:t> </a:t>
            </a:r>
            <a:r>
              <a:rPr lang="en-US" altLang="ko-KR" sz="800" dirty="0"/>
              <a:t>/ </a:t>
            </a:r>
            <a:r>
              <a:rPr lang="ko-KR" altLang="en-US" sz="800" dirty="0" err="1"/>
              <a:t>계약일자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default) </a:t>
            </a:r>
            <a:r>
              <a:rPr lang="ko-KR" altLang="en-US" sz="800" dirty="0"/>
              <a:t>당일 포함 과거 </a:t>
            </a:r>
            <a:r>
              <a:rPr lang="en-US" altLang="ko-KR" sz="800" dirty="0"/>
              <a:t>7</a:t>
            </a:r>
            <a:r>
              <a:rPr lang="ko-KR" altLang="en-US" sz="800" dirty="0"/>
              <a:t>일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>
                <a:sym typeface="Wingdings" panose="05000000000000000000" pitchFamily="2" charset="2"/>
              </a:rPr>
              <a:t>- </a:t>
            </a:r>
            <a:r>
              <a:rPr lang="ko-KR" altLang="en-US" sz="800" dirty="0">
                <a:sym typeface="Wingdings" panose="05000000000000000000" pitchFamily="2" charset="2"/>
              </a:rPr>
              <a:t>선택 날짜 즉시 업데이트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en-US" altLang="ko-KR" sz="800" dirty="0" smtClean="0"/>
              <a:t>3-1</a:t>
            </a:r>
            <a:r>
              <a:rPr lang="en-US" altLang="ko-KR" sz="800" dirty="0"/>
              <a:t>)</a:t>
            </a:r>
            <a:r>
              <a:rPr lang="ko-KR" altLang="en-US" sz="800" dirty="0"/>
              <a:t>직접 입력 가능 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/>
              <a:t>좌</a:t>
            </a:r>
            <a:r>
              <a:rPr lang="en-US" altLang="ko-KR" sz="800" dirty="0"/>
              <a:t>)</a:t>
            </a:r>
            <a:r>
              <a:rPr lang="ko-KR" altLang="en-US" sz="800" dirty="0"/>
              <a:t>과거 우</a:t>
            </a:r>
            <a:r>
              <a:rPr lang="en-US" altLang="ko-KR" sz="800" dirty="0"/>
              <a:t>)</a:t>
            </a:r>
            <a:r>
              <a:rPr lang="ko-KR" altLang="en-US" sz="800" dirty="0" err="1"/>
              <a:t>현재로한다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/>
              <a:t>우</a:t>
            </a:r>
            <a:r>
              <a:rPr lang="en-US" altLang="ko-KR" sz="800" dirty="0"/>
              <a:t>)</a:t>
            </a:r>
            <a:r>
              <a:rPr lang="ko-KR" altLang="en-US" sz="800" dirty="0"/>
              <a:t> 값은 미래를 선택</a:t>
            </a:r>
            <a:r>
              <a:rPr lang="en-US" altLang="ko-KR" sz="800" dirty="0"/>
              <a:t>,</a:t>
            </a:r>
            <a:r>
              <a:rPr lang="ko-KR" altLang="en-US" sz="800" dirty="0"/>
              <a:t>입력 할 </a:t>
            </a:r>
            <a:r>
              <a:rPr lang="ko-KR" altLang="en-US" sz="800" dirty="0" err="1"/>
              <a:t>수없다</a:t>
            </a:r>
            <a:r>
              <a:rPr lang="en-US" altLang="ko-KR" sz="800" dirty="0"/>
              <a:t>.</a:t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/>
              <a:t>우</a:t>
            </a:r>
            <a:r>
              <a:rPr lang="en-US" altLang="ko-KR" sz="800" dirty="0"/>
              <a:t>) </a:t>
            </a:r>
            <a:r>
              <a:rPr lang="ko-KR" altLang="en-US" sz="800" dirty="0"/>
              <a:t>값이 미래를 입력한 경우 오늘로 자동 변경</a:t>
            </a:r>
            <a:r>
              <a:rPr lang="en-US" altLang="ko-KR" sz="800" dirty="0"/>
              <a:t>.</a:t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/>
              <a:t>당일 기준 최대 </a:t>
            </a:r>
            <a:r>
              <a:rPr lang="en-US" altLang="ko-KR" sz="800" dirty="0"/>
              <a:t>1</a:t>
            </a:r>
            <a:r>
              <a:rPr lang="ko-KR" altLang="en-US" sz="800" dirty="0"/>
              <a:t>년</a:t>
            </a:r>
            <a:r>
              <a:rPr lang="en-US" altLang="ko-KR" sz="800" dirty="0"/>
              <a:t>(365</a:t>
            </a:r>
            <a:r>
              <a:rPr lang="ko-KR" altLang="en-US" sz="800" dirty="0"/>
              <a:t>일</a:t>
            </a:r>
            <a:r>
              <a:rPr lang="en-US" altLang="ko-KR" sz="800" dirty="0"/>
              <a:t>)</a:t>
            </a:r>
            <a:r>
              <a:rPr lang="ko-KR" altLang="en-US" sz="800" dirty="0"/>
              <a:t>까지 조회 가능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en-US" altLang="ko-KR" sz="800" dirty="0" smtClean="0"/>
              <a:t>3-2</a:t>
            </a:r>
            <a:r>
              <a:rPr lang="en-US" altLang="ko-KR" sz="800" dirty="0"/>
              <a:t>) </a:t>
            </a:r>
            <a:r>
              <a:rPr lang="ko-KR" altLang="en-US" sz="800" dirty="0"/>
              <a:t>아이콘 </a:t>
            </a:r>
            <a:r>
              <a:rPr lang="en-US" altLang="ko-KR" sz="800" dirty="0">
                <a:sym typeface="Wingdings" panose="05000000000000000000" pitchFamily="2" charset="2"/>
              </a:rPr>
              <a:t> </a:t>
            </a:r>
            <a:r>
              <a:rPr lang="ko-KR" altLang="en-US" sz="800" dirty="0">
                <a:sym typeface="Wingdings" panose="05000000000000000000" pitchFamily="2" charset="2"/>
              </a:rPr>
              <a:t>데이트 </a:t>
            </a:r>
            <a:r>
              <a:rPr lang="ko-KR" altLang="en-US" sz="800" dirty="0" err="1">
                <a:sym typeface="Wingdings" panose="05000000000000000000" pitchFamily="2" charset="2"/>
              </a:rPr>
              <a:t>피커</a:t>
            </a:r>
            <a:r>
              <a:rPr lang="ko-KR" altLang="en-US" sz="800" dirty="0">
                <a:sym typeface="Wingdings" panose="05000000000000000000" pitchFamily="2" charset="2"/>
              </a:rPr>
              <a:t> 호출</a:t>
            </a:r>
            <a:r>
              <a:rPr lang="en-US" altLang="ko-KR" sz="800" dirty="0">
                <a:sym typeface="Wingdings" panose="05000000000000000000" pitchFamily="2" charset="2"/>
              </a:rPr>
              <a:t>( </a:t>
            </a:r>
            <a:r>
              <a:rPr lang="ko-KR" altLang="en-US" sz="800" dirty="0" err="1">
                <a:sym typeface="Wingdings" panose="05000000000000000000" pitchFamily="2" charset="2"/>
              </a:rPr>
              <a:t>미래불가</a:t>
            </a:r>
            <a:r>
              <a:rPr lang="en-US" altLang="ko-KR" sz="800" dirty="0">
                <a:sym typeface="Wingdings" panose="05000000000000000000" pitchFamily="2" charset="2"/>
              </a:rPr>
              <a:t>)</a:t>
            </a:r>
            <a:br>
              <a:rPr lang="en-US" altLang="ko-KR" sz="800" dirty="0">
                <a:sym typeface="Wingdings" panose="05000000000000000000" pitchFamily="2" charset="2"/>
              </a:rPr>
            </a:br>
            <a:r>
              <a:rPr lang="en-US" altLang="ko-KR" sz="800" dirty="0">
                <a:sym typeface="Wingdings" panose="05000000000000000000" pitchFamily="2" charset="2"/>
              </a:rPr>
              <a:t>- </a:t>
            </a:r>
            <a:r>
              <a:rPr lang="en-US" altLang="ko-KR" sz="800" dirty="0" smtClean="0">
                <a:sym typeface="Wingdings" panose="05000000000000000000" pitchFamily="2" charset="2"/>
              </a:rPr>
              <a:t>3-3</a:t>
            </a:r>
            <a:r>
              <a:rPr lang="en-US" altLang="ko-KR" sz="800" dirty="0">
                <a:sym typeface="Wingdings" panose="05000000000000000000" pitchFamily="2" charset="2"/>
              </a:rPr>
              <a:t>) </a:t>
            </a:r>
            <a:r>
              <a:rPr lang="ko-KR" altLang="en-US" sz="800" dirty="0">
                <a:sym typeface="Wingdings" panose="05000000000000000000" pitchFamily="2" charset="2"/>
              </a:rPr>
              <a:t>최근</a:t>
            </a:r>
            <a:r>
              <a:rPr lang="en-US" altLang="ko-KR" sz="800" dirty="0">
                <a:sym typeface="Wingdings" panose="05000000000000000000" pitchFamily="2" charset="2"/>
              </a:rPr>
              <a:t>1,3,6</a:t>
            </a:r>
            <a:r>
              <a:rPr lang="ko-KR" altLang="en-US" sz="800" dirty="0">
                <a:sym typeface="Wingdings" panose="05000000000000000000" pitchFamily="2" charset="2"/>
              </a:rPr>
              <a:t>개월 버튼으로 당일 포함하여 </a:t>
            </a:r>
            <a:r>
              <a:rPr lang="en-US" altLang="ko-KR" sz="800" dirty="0">
                <a:sym typeface="Wingdings" panose="05000000000000000000" pitchFamily="2" charset="2"/>
              </a:rPr>
              <a:t>30</a:t>
            </a:r>
            <a:r>
              <a:rPr lang="ko-KR" altLang="en-US" sz="800" dirty="0">
                <a:sym typeface="Wingdings" panose="05000000000000000000" pitchFamily="2" charset="2"/>
              </a:rPr>
              <a:t>일</a:t>
            </a:r>
            <a:r>
              <a:rPr lang="en-US" altLang="ko-KR" sz="800" dirty="0">
                <a:sym typeface="Wingdings" panose="05000000000000000000" pitchFamily="2" charset="2"/>
              </a:rPr>
              <a:t>, 90</a:t>
            </a:r>
            <a:r>
              <a:rPr lang="ko-KR" altLang="en-US" sz="800" dirty="0">
                <a:sym typeface="Wingdings" panose="05000000000000000000" pitchFamily="2" charset="2"/>
              </a:rPr>
              <a:t>일</a:t>
            </a:r>
            <a:r>
              <a:rPr lang="en-US" altLang="ko-KR" sz="800" dirty="0">
                <a:sym typeface="Wingdings" panose="05000000000000000000" pitchFamily="2" charset="2"/>
              </a:rPr>
              <a:t>,180</a:t>
            </a:r>
            <a:r>
              <a:rPr lang="ko-KR" altLang="en-US" sz="800" dirty="0">
                <a:sym typeface="Wingdings" panose="05000000000000000000" pitchFamily="2" charset="2"/>
              </a:rPr>
              <a:t>일 이전 값을 표시</a:t>
            </a:r>
            <a:r>
              <a:rPr lang="en-US" altLang="ko-KR" sz="800" dirty="0">
                <a:sym typeface="Wingdings" panose="05000000000000000000" pitchFamily="2" charset="2"/>
              </a:rPr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sz="800" dirty="0" err="1">
                <a:sym typeface="Wingdings" panose="05000000000000000000" pitchFamily="2" charset="2"/>
              </a:rPr>
              <a:t>검색어</a:t>
            </a:r>
            <a:r>
              <a:rPr lang="ko-KR" altLang="en-US" sz="800" dirty="0">
                <a:sym typeface="Wingdings" panose="05000000000000000000" pitchFamily="2" charset="2"/>
              </a:rPr>
              <a:t> 영역</a:t>
            </a:r>
            <a:r>
              <a:rPr lang="en-US" altLang="ko-KR" sz="800" dirty="0">
                <a:sym typeface="Wingdings" panose="05000000000000000000" pitchFamily="2" charset="2"/>
              </a:rPr>
              <a:t/>
            </a:r>
            <a:br>
              <a:rPr lang="en-US" altLang="ko-KR" sz="800" dirty="0">
                <a:sym typeface="Wingdings" panose="05000000000000000000" pitchFamily="2" charset="2"/>
              </a:rPr>
            </a:br>
            <a:r>
              <a:rPr lang="en-US" altLang="ko-KR" sz="800" dirty="0">
                <a:sym typeface="Wingdings" panose="05000000000000000000" pitchFamily="2" charset="2"/>
              </a:rPr>
              <a:t>- </a:t>
            </a:r>
            <a:r>
              <a:rPr lang="ko-KR" altLang="en-US" sz="800" dirty="0">
                <a:sym typeface="Wingdings" panose="05000000000000000000" pitchFamily="2" charset="2"/>
              </a:rPr>
              <a:t>사용자가 입력하고자 하는 내역만 입력 후 검색 가능</a:t>
            </a:r>
            <a:r>
              <a:rPr lang="en-US" altLang="ko-KR" sz="800" dirty="0">
                <a:sym typeface="Wingdings" panose="05000000000000000000" pitchFamily="2" charset="2"/>
              </a:rPr>
              <a:t/>
            </a:r>
            <a:br>
              <a:rPr lang="en-US" altLang="ko-KR" sz="800" dirty="0">
                <a:sym typeface="Wingdings" panose="05000000000000000000" pitchFamily="2" charset="2"/>
              </a:rPr>
            </a:br>
            <a:r>
              <a:rPr lang="en-US" altLang="ko-KR" sz="800" dirty="0">
                <a:sym typeface="Wingdings" panose="05000000000000000000" pitchFamily="2" charset="2"/>
              </a:rPr>
              <a:t>- </a:t>
            </a:r>
            <a:r>
              <a:rPr lang="ko-KR" altLang="en-US" sz="800" dirty="0" err="1">
                <a:sym typeface="Wingdings" panose="05000000000000000000" pitchFamily="2" charset="2"/>
              </a:rPr>
              <a:t>계약건명</a:t>
            </a:r>
            <a:r>
              <a:rPr lang="en-US" altLang="ko-KR" sz="800" dirty="0" smtClean="0">
                <a:sym typeface="Wingdings" panose="05000000000000000000" pitchFamily="2" charset="2"/>
              </a:rPr>
              <a:t>, </a:t>
            </a:r>
            <a:r>
              <a:rPr lang="ko-KR" altLang="en-US" sz="800" dirty="0" err="1">
                <a:sym typeface="Wingdings" panose="05000000000000000000" pitchFamily="2" charset="2"/>
              </a:rPr>
              <a:t>계약번호</a:t>
            </a:r>
            <a:r>
              <a:rPr lang="en-US" altLang="ko-KR" sz="800" dirty="0">
                <a:sym typeface="Wingdings" panose="05000000000000000000" pitchFamily="2" charset="2"/>
              </a:rPr>
              <a:t>, </a:t>
            </a:r>
            <a:r>
              <a:rPr lang="en-US" altLang="ko-KR" sz="800" dirty="0" smtClean="0">
                <a:sym typeface="Wingdings" panose="05000000000000000000" pitchFamily="2" charset="2"/>
              </a:rPr>
              <a:t/>
            </a:r>
            <a:br>
              <a:rPr lang="en-US" altLang="ko-KR" sz="800" dirty="0" smtClean="0">
                <a:sym typeface="Wingdings" panose="05000000000000000000" pitchFamily="2" charset="2"/>
              </a:rPr>
            </a:br>
            <a:r>
              <a:rPr lang="en-US" altLang="ko-KR" sz="800" dirty="0" smtClean="0">
                <a:sym typeface="Wingdings" panose="05000000000000000000" pitchFamily="2" charset="2"/>
              </a:rPr>
              <a:t>- </a:t>
            </a:r>
            <a:r>
              <a:rPr lang="ko-KR" altLang="en-US" sz="800" dirty="0" err="1">
                <a:sym typeface="Wingdings" panose="05000000000000000000" pitchFamily="2" charset="2"/>
              </a:rPr>
              <a:t>글자검색</a:t>
            </a:r>
            <a:r>
              <a:rPr lang="en-US" altLang="ko-KR" sz="800" dirty="0">
                <a:sym typeface="Wingdings" panose="05000000000000000000" pitchFamily="2" charset="2"/>
              </a:rPr>
              <a:t>: </a:t>
            </a:r>
            <a:r>
              <a:rPr lang="ko-KR" altLang="en-US" sz="800" dirty="0" err="1" smtClean="0">
                <a:sym typeface="Wingdings" panose="05000000000000000000" pitchFamily="2" charset="2"/>
              </a:rPr>
              <a:t>계약건명</a:t>
            </a:r>
            <a:r>
              <a:rPr lang="en-US" altLang="ko-KR" sz="800" dirty="0">
                <a:sym typeface="Wingdings" panose="05000000000000000000" pitchFamily="2" charset="2"/>
              </a:rPr>
              <a:t/>
            </a:r>
            <a:br>
              <a:rPr lang="en-US" altLang="ko-KR" sz="800" dirty="0">
                <a:sym typeface="Wingdings" panose="05000000000000000000" pitchFamily="2" charset="2"/>
              </a:rPr>
            </a:br>
            <a:r>
              <a:rPr lang="en-US" altLang="ko-KR" sz="800" dirty="0">
                <a:sym typeface="Wingdings" panose="05000000000000000000" pitchFamily="2" charset="2"/>
              </a:rPr>
              <a:t>- </a:t>
            </a:r>
            <a:r>
              <a:rPr lang="ko-KR" altLang="en-US" sz="800" dirty="0" err="1">
                <a:sym typeface="Wingdings" panose="05000000000000000000" pitchFamily="2" charset="2"/>
              </a:rPr>
              <a:t>숫자검색</a:t>
            </a:r>
            <a:r>
              <a:rPr lang="en-US" altLang="ko-KR" sz="800" dirty="0" smtClean="0">
                <a:sym typeface="Wingdings" panose="05000000000000000000" pitchFamily="2" charset="2"/>
              </a:rPr>
              <a:t>: </a:t>
            </a:r>
            <a:r>
              <a:rPr lang="ko-KR" altLang="en-US" sz="800" dirty="0">
                <a:sym typeface="Wingdings" panose="05000000000000000000" pitchFamily="2" charset="2"/>
              </a:rPr>
              <a:t>계약 </a:t>
            </a:r>
            <a:r>
              <a:rPr lang="ko-KR" altLang="en-US" sz="800" dirty="0" smtClean="0">
                <a:sym typeface="Wingdings" panose="05000000000000000000" pitchFamily="2" charset="2"/>
              </a:rPr>
              <a:t>번호</a:t>
            </a:r>
            <a:endParaRPr lang="en-US" altLang="ko-KR" sz="800" dirty="0">
              <a:sym typeface="Wingdings" panose="05000000000000000000" pitchFamily="2" charset="2"/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sz="800" dirty="0" smtClean="0">
                <a:sym typeface="Wingdings" panose="05000000000000000000" pitchFamily="2" charset="2"/>
              </a:rPr>
              <a:t>검색 </a:t>
            </a:r>
            <a:r>
              <a:rPr lang="ko-KR" altLang="en-US" sz="800" dirty="0">
                <a:sym typeface="Wingdings" panose="05000000000000000000" pitchFamily="2" charset="2"/>
              </a:rPr>
              <a:t>버튼 영역은 화면 하단 </a:t>
            </a:r>
            <a:r>
              <a:rPr lang="ko-KR" altLang="en-US" sz="800" dirty="0" err="1">
                <a:sym typeface="Wingdings" panose="05000000000000000000" pitchFamily="2" charset="2"/>
              </a:rPr>
              <a:t>플로팅</a:t>
            </a:r>
            <a:r>
              <a:rPr lang="ko-KR" altLang="en-US" sz="800" dirty="0">
                <a:sym typeface="Wingdings" panose="05000000000000000000" pitchFamily="2" charset="2"/>
              </a:rPr>
              <a:t> </a:t>
            </a:r>
            <a:r>
              <a:rPr lang="ko-KR" altLang="en-US" sz="800" dirty="0" smtClean="0">
                <a:sym typeface="Wingdings" panose="05000000000000000000" pitchFamily="2" charset="2"/>
              </a:rPr>
              <a:t>처리</a:t>
            </a:r>
            <a:endParaRPr lang="en-US" altLang="ko-KR" sz="800" dirty="0" smtClean="0">
              <a:sym typeface="Wingdings" panose="05000000000000000000" pitchFamily="2" charset="2"/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sz="800" dirty="0" smtClean="0">
                <a:sym typeface="Wingdings" panose="05000000000000000000" pitchFamily="2" charset="2"/>
              </a:rPr>
              <a:t>대금청구구분</a:t>
            </a:r>
            <a:r>
              <a:rPr lang="en-US" altLang="ko-KR" sz="800" dirty="0" smtClean="0">
                <a:sym typeface="Wingdings" panose="05000000000000000000" pitchFamily="2" charset="2"/>
              </a:rPr>
              <a:t/>
            </a:r>
            <a:br>
              <a:rPr lang="en-US" altLang="ko-KR" sz="800" dirty="0" smtClean="0">
                <a:sym typeface="Wingdings" panose="05000000000000000000" pitchFamily="2" charset="2"/>
              </a:rPr>
            </a:br>
            <a:r>
              <a:rPr lang="en-US" altLang="ko-KR" sz="800" dirty="0" smtClean="0">
                <a:sym typeface="Wingdings" panose="05000000000000000000" pitchFamily="2" charset="2"/>
              </a:rPr>
              <a:t>- </a:t>
            </a:r>
            <a:r>
              <a:rPr lang="ko-KR" altLang="en-US" sz="800" dirty="0" smtClean="0">
                <a:sym typeface="Wingdings" panose="05000000000000000000" pitchFamily="2" charset="2"/>
              </a:rPr>
              <a:t>전체</a:t>
            </a:r>
            <a:r>
              <a:rPr lang="en-US" altLang="ko-KR" sz="800" dirty="0" smtClean="0">
                <a:sym typeface="Wingdings" panose="05000000000000000000" pitchFamily="2" charset="2"/>
              </a:rPr>
              <a:t>, </a:t>
            </a:r>
            <a:r>
              <a:rPr lang="ko-KR" altLang="en-US" sz="800" dirty="0" err="1" smtClean="0">
                <a:sym typeface="Wingdings" panose="05000000000000000000" pitchFamily="2" charset="2"/>
              </a:rPr>
              <a:t>선금신청</a:t>
            </a:r>
            <a:r>
              <a:rPr lang="en-US" altLang="ko-KR" sz="800" dirty="0" smtClean="0">
                <a:sym typeface="Wingdings" panose="05000000000000000000" pitchFamily="2" charset="2"/>
              </a:rPr>
              <a:t>, </a:t>
            </a:r>
            <a:r>
              <a:rPr lang="ko-KR" altLang="en-US" sz="800" dirty="0" err="1" smtClean="0">
                <a:sym typeface="Wingdings" panose="05000000000000000000" pitchFamily="2" charset="2"/>
              </a:rPr>
              <a:t>착중도금신청</a:t>
            </a:r>
            <a:r>
              <a:rPr lang="en-US" altLang="ko-KR" sz="800" dirty="0" smtClean="0">
                <a:sym typeface="Wingdings" panose="05000000000000000000" pitchFamily="2" charset="2"/>
              </a:rPr>
              <a:t>,</a:t>
            </a:r>
            <a:r>
              <a:rPr lang="ko-KR" altLang="en-US" sz="800" dirty="0" smtClean="0">
                <a:sym typeface="Wingdings" panose="05000000000000000000" pitchFamily="2" charset="2"/>
              </a:rPr>
              <a:t>대금청구신청</a:t>
            </a:r>
            <a:r>
              <a:rPr lang="en-US" altLang="ko-KR" sz="800" dirty="0" smtClean="0">
                <a:sym typeface="Wingdings" panose="05000000000000000000" pitchFamily="2" charset="2"/>
              </a:rPr>
              <a:t>,</a:t>
            </a:r>
            <a:r>
              <a:rPr lang="ko-KR" altLang="en-US" sz="800" dirty="0" smtClean="0">
                <a:sym typeface="Wingdings" panose="05000000000000000000" pitchFamily="2" charset="2"/>
              </a:rPr>
              <a:t>사후정산청구서 </a:t>
            </a:r>
            <a:r>
              <a:rPr lang="en-US" altLang="ko-KR" sz="800" dirty="0">
                <a:sym typeface="Wingdings" panose="05000000000000000000" pitchFamily="2" charset="2"/>
              </a:rPr>
              <a:t/>
            </a:r>
            <a:br>
              <a:rPr lang="en-US" altLang="ko-KR" sz="800" dirty="0">
                <a:sym typeface="Wingdings" panose="05000000000000000000" pitchFamily="2" charset="2"/>
              </a:rPr>
            </a:br>
            <a:endParaRPr lang="en-US" altLang="ko-KR" sz="8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altLang="ko-KR" sz="800" dirty="0"/>
          </a:p>
          <a:p>
            <a:pPr marL="228600" indent="-228600">
              <a:buFont typeface="+mj-lt"/>
              <a:buAutoNum type="arabicPeriod"/>
            </a:pPr>
            <a:endParaRPr lang="en-US" altLang="ko-KR" sz="800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검색 필터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계약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상세 검색을 위한 검색 필터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/>
              <a:t>계약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검색 필터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MUI-WM-01-M01</a:t>
            </a:r>
            <a:endParaRPr lang="ko-KR" altLang="en-US" dirty="0"/>
          </a:p>
        </p:txBody>
      </p:sp>
      <p:sp>
        <p:nvSpPr>
          <p:cNvPr id="116" name="타원 11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8770" y="432059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cxnSp>
        <p:nvCxnSpPr>
          <p:cNvPr id="103" name="직선 연결선 10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18" name="그룹 117"/>
          <p:cNvGrpSpPr/>
          <p:nvPr/>
        </p:nvGrpSpPr>
        <p:grpSpPr>
          <a:xfrm>
            <a:off x="3138377" y="1650089"/>
            <a:ext cx="94010" cy="94010"/>
            <a:chOff x="6812560" y="3297172"/>
            <a:chExt cx="94010" cy="94010"/>
          </a:xfrm>
        </p:grpSpPr>
        <p:cxnSp>
          <p:nvCxnSpPr>
            <p:cNvPr id="119" name="직선 연결선 11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3" name="직선 연결선 122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27" name="타원 126"/>
          <p:cNvSpPr/>
          <p:nvPr/>
        </p:nvSpPr>
        <p:spPr>
          <a:xfrm>
            <a:off x="2773099" y="160603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검색필터</a:t>
            </a:r>
            <a:endParaRPr lang="ko-KR" altLang="en-US" sz="900" dirty="0">
              <a:latin typeface="+mn-ea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47457" y="1646156"/>
            <a:ext cx="28505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초기화</a:t>
            </a: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8770" y="159227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221" name="그룹 220"/>
          <p:cNvGrpSpPr/>
          <p:nvPr/>
        </p:nvGrpSpPr>
        <p:grpSpPr>
          <a:xfrm>
            <a:off x="675399" y="5678278"/>
            <a:ext cx="2712027" cy="617588"/>
            <a:chOff x="675399" y="5614711"/>
            <a:chExt cx="2712027" cy="617588"/>
          </a:xfrm>
        </p:grpSpPr>
        <p:sp>
          <p:nvSpPr>
            <p:cNvPr id="222" name="직사각형 221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3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검색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224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6" name="그룹 5"/>
          <p:cNvGrpSpPr/>
          <p:nvPr/>
        </p:nvGrpSpPr>
        <p:grpSpPr>
          <a:xfrm>
            <a:off x="793320" y="4306300"/>
            <a:ext cx="2516607" cy="883322"/>
            <a:chOff x="778515" y="4388257"/>
            <a:chExt cx="2516607" cy="883322"/>
          </a:xfrm>
        </p:grpSpPr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388257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 err="1">
                  <a:latin typeface="+mn-ea"/>
                </a:rPr>
                <a:t>검색어</a:t>
              </a:r>
              <a:r>
                <a:rPr lang="ko-KR" altLang="en-US" sz="700" b="1" dirty="0">
                  <a:latin typeface="+mn-ea"/>
                </a:rPr>
                <a:t> </a:t>
              </a:r>
              <a:r>
                <a:rPr lang="en-US" altLang="ko-KR" sz="700" b="1" dirty="0">
                  <a:latin typeface="+mn-ea"/>
                </a:rPr>
                <a:t>(</a:t>
              </a:r>
              <a:r>
                <a:rPr lang="ko-KR" altLang="en-US" sz="700" b="1" dirty="0">
                  <a:latin typeface="+mn-ea"/>
                </a:rPr>
                <a:t>일부 입력 가능</a:t>
              </a:r>
              <a:r>
                <a:rPr lang="en-US" altLang="ko-KR" sz="700" b="1" dirty="0">
                  <a:latin typeface="+mn-ea"/>
                </a:rPr>
                <a:t>)</a:t>
              </a:r>
              <a:endParaRPr lang="ko-KR" altLang="en-US" sz="700" b="1" dirty="0">
                <a:latin typeface="+mn-ea"/>
              </a:endParaRPr>
            </a:p>
          </p:txBody>
        </p:sp>
        <p:grpSp>
          <p:nvGrpSpPr>
            <p:cNvPr id="201" name="그룹 200"/>
            <p:cNvGrpSpPr/>
            <p:nvPr/>
          </p:nvGrpSpPr>
          <p:grpSpPr>
            <a:xfrm flipV="1">
              <a:off x="3140949" y="4485947"/>
              <a:ext cx="91438" cy="45719"/>
              <a:chOff x="6812560" y="3297172"/>
              <a:chExt cx="94010" cy="47005"/>
            </a:xfrm>
          </p:grpSpPr>
          <p:cxnSp>
            <p:nvCxnSpPr>
              <p:cNvPr id="202" name="직선 연결선 20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3" name="직선 연결선 20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04" name="모서리가 둥근 직사각형 203"/>
            <p:cNvSpPr/>
            <p:nvPr/>
          </p:nvSpPr>
          <p:spPr>
            <a:xfrm>
              <a:off x="1449284" y="4668748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 err="1">
                  <a:solidFill>
                    <a:schemeClr val="bg1">
                      <a:lumMod val="65000"/>
                    </a:schemeClr>
                  </a:solidFill>
                </a:rPr>
                <a:t>계약건명을</a:t>
              </a:r>
              <a:r>
                <a:rPr lang="ko-KR" altLang="en-US" sz="700" dirty="0">
                  <a:solidFill>
                    <a:schemeClr val="bg1">
                      <a:lumMod val="65000"/>
                    </a:schemeClr>
                  </a:solidFill>
                </a:rPr>
                <a:t> 입력하세요</a:t>
              </a:r>
              <a:r>
                <a:rPr lang="en-US" altLang="ko-KR" sz="700" dirty="0">
                  <a:solidFill>
                    <a:schemeClr val="bg1">
                      <a:lumMod val="65000"/>
                    </a:schemeClr>
                  </a:solidFill>
                </a:rPr>
                <a:t>.</a:t>
              </a:r>
              <a:endParaRPr lang="ko-KR" altLang="en-US" sz="7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625248"/>
              <a:ext cx="670770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</p:txBody>
        </p:sp>
        <p:sp>
          <p:nvSpPr>
            <p:cNvPr id="207" name="모서리가 둥근 직사각형 206"/>
            <p:cNvSpPr/>
            <p:nvPr/>
          </p:nvSpPr>
          <p:spPr>
            <a:xfrm>
              <a:off x="1449284" y="4890305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65000"/>
                    </a:schemeClr>
                  </a:solidFill>
                </a:rPr>
                <a:t>번호를 입력하세요</a:t>
              </a:r>
              <a:r>
                <a:rPr lang="en-US" altLang="ko-KR" sz="700" dirty="0">
                  <a:solidFill>
                    <a:schemeClr val="bg1">
                      <a:lumMod val="65000"/>
                    </a:schemeClr>
                  </a:solidFill>
                </a:rPr>
                <a:t>.</a:t>
              </a:r>
              <a:endParaRPr lang="ko-KR" altLang="en-US" sz="7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sp>
        <p:nvSpPr>
          <p:cNvPr id="120" name="타원 11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8770" y="581494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6</a:t>
            </a:r>
            <a:endParaRPr lang="ko-KR" altLang="en-US" sz="900" b="1" dirty="0"/>
          </a:p>
        </p:txBody>
      </p:sp>
      <p:grpSp>
        <p:nvGrpSpPr>
          <p:cNvPr id="134" name="그룹 133"/>
          <p:cNvGrpSpPr/>
          <p:nvPr/>
        </p:nvGrpSpPr>
        <p:grpSpPr>
          <a:xfrm flipV="1">
            <a:off x="3140949" y="2075438"/>
            <a:ext cx="91438" cy="45719"/>
            <a:chOff x="6812560" y="3297172"/>
            <a:chExt cx="94010" cy="47005"/>
          </a:xfrm>
        </p:grpSpPr>
        <p:cxnSp>
          <p:nvCxnSpPr>
            <p:cNvPr id="135" name="직선 연결선 13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직선 연결선 13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43" name="직선 연결선 14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38087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3472364"/>
            <a:ext cx="230514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검색 설정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3694902"/>
            <a:ext cx="670770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계약일자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빠른 설정</a:t>
            </a:r>
            <a:endParaRPr lang="en-US" altLang="ko-KR" sz="700" dirty="0">
              <a:latin typeface="+mn-ea"/>
            </a:endParaRPr>
          </a:p>
        </p:txBody>
      </p:sp>
      <p:grpSp>
        <p:nvGrpSpPr>
          <p:cNvPr id="159" name="그룹 158"/>
          <p:cNvGrpSpPr/>
          <p:nvPr/>
        </p:nvGrpSpPr>
        <p:grpSpPr>
          <a:xfrm flipV="1">
            <a:off x="3140949" y="3570054"/>
            <a:ext cx="91438" cy="45719"/>
            <a:chOff x="6812560" y="3297172"/>
            <a:chExt cx="94010" cy="47005"/>
          </a:xfrm>
        </p:grpSpPr>
        <p:cxnSp>
          <p:nvCxnSpPr>
            <p:cNvPr id="160" name="직선 연결선 159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1" name="직선 연결선 16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8F2F56C4-B606-212C-F131-A4A30AE19BC8}"/>
              </a:ext>
            </a:extLst>
          </p:cNvPr>
          <p:cNvGrpSpPr/>
          <p:nvPr/>
        </p:nvGrpSpPr>
        <p:grpSpPr>
          <a:xfrm>
            <a:off x="1464781" y="3722533"/>
            <a:ext cx="859319" cy="188244"/>
            <a:chOff x="5613534" y="2854836"/>
            <a:chExt cx="804671" cy="188244"/>
          </a:xfrm>
        </p:grpSpPr>
        <p:sp>
          <p:nvSpPr>
            <p:cNvPr id="181" name="사각형: 둥근 모서리 86">
              <a:extLst>
                <a:ext uri="{FF2B5EF4-FFF2-40B4-BE49-F238E27FC236}">
                  <a16:creationId xmlns:a16="http://schemas.microsoft.com/office/drawing/2014/main" id="{C84908FA-11D4-E687-3603-3EA5852F6FAE}"/>
                </a:ext>
              </a:extLst>
            </p:cNvPr>
            <p:cNvSpPr/>
            <p:nvPr/>
          </p:nvSpPr>
          <p:spPr>
            <a:xfrm>
              <a:off x="5613534" y="2854836"/>
              <a:ext cx="804671" cy="188244"/>
            </a:xfrm>
            <a:prstGeom prst="roundRect">
              <a:avLst>
                <a:gd name="adj" fmla="val 18659"/>
              </a:avLst>
            </a:prstGeom>
            <a:solidFill>
              <a:sysClr val="window" lastClr="FFFFFF"/>
            </a:solidFill>
            <a:ln w="9525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700" kern="0" dirty="0">
                  <a:latin typeface="맑은 고딕"/>
                </a:rPr>
                <a:t>2025-10-15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pic>
          <p:nvPicPr>
            <p:cNvPr id="182" name="그림 181">
              <a:extLst>
                <a:ext uri="{FF2B5EF4-FFF2-40B4-BE49-F238E27FC236}">
                  <a16:creationId xmlns:a16="http://schemas.microsoft.com/office/drawing/2014/main" id="{B217D5BC-8335-EED4-D47A-F3F4110845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65649" y="2876004"/>
              <a:ext cx="126296" cy="137278"/>
            </a:xfrm>
            <a:prstGeom prst="rect">
              <a:avLst/>
            </a:prstGeom>
          </p:spPr>
        </p:pic>
      </p:grpSp>
      <p:sp>
        <p:nvSpPr>
          <p:cNvPr id="178" name="TextBox 91">
            <a:extLst>
              <a:ext uri="{FF2B5EF4-FFF2-40B4-BE49-F238E27FC236}">
                <a16:creationId xmlns:a16="http://schemas.microsoft.com/office/drawing/2014/main" id="{02490888-B81F-0F94-5D5F-078AEEB39DDB}"/>
              </a:ext>
            </a:extLst>
          </p:cNvPr>
          <p:cNvSpPr txBox="1"/>
          <p:nvPr/>
        </p:nvSpPr>
        <p:spPr>
          <a:xfrm>
            <a:off x="2347279" y="3742480"/>
            <a:ext cx="80150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900" dirty="0">
                <a:solidFill>
                  <a:prstClr val="black"/>
                </a:solidFill>
                <a:cs typeface="Pretendard Medium" panose="02000603000000020004" pitchFamily="50" charset="-127"/>
              </a:rPr>
              <a:t>~</a:t>
            </a:r>
            <a:endParaRPr lang="ko-KR" altLang="en-US" sz="900" dirty="0">
              <a:solidFill>
                <a:prstClr val="black"/>
              </a:solidFill>
              <a:cs typeface="Pretendard Medium" panose="02000603000000020004" pitchFamily="50" charset="-127"/>
            </a:endParaRPr>
          </a:p>
        </p:txBody>
      </p:sp>
      <p:grpSp>
        <p:nvGrpSpPr>
          <p:cNvPr id="3" name="그룹 2"/>
          <p:cNvGrpSpPr/>
          <p:nvPr/>
        </p:nvGrpSpPr>
        <p:grpSpPr>
          <a:xfrm>
            <a:off x="1464781" y="3953202"/>
            <a:ext cx="1845146" cy="188135"/>
            <a:chOff x="1430277" y="4057651"/>
            <a:chExt cx="1845146" cy="188135"/>
          </a:xfrm>
        </p:grpSpPr>
        <p:sp>
          <p:nvSpPr>
            <p:cNvPr id="189" name="사각형: 둥근 모서리 169">
              <a:extLst>
                <a:ext uri="{FF2B5EF4-FFF2-40B4-BE49-F238E27FC236}">
                  <a16:creationId xmlns:a16="http://schemas.microsoft.com/office/drawing/2014/main" id="{A28DD831-0E4B-31EE-CB08-9E188754698D}"/>
                </a:ext>
              </a:extLst>
            </p:cNvPr>
            <p:cNvSpPr/>
            <p:nvPr/>
          </p:nvSpPr>
          <p:spPr>
            <a:xfrm>
              <a:off x="1430277" y="4057651"/>
              <a:ext cx="582017" cy="188135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fontAlgn="base" latinLnBrk="0">
                <a:spcBef>
                  <a:spcPct val="0"/>
                </a:spcBef>
                <a:spcAft>
                  <a:spcPct val="0"/>
                </a:spcAft>
              </a:pPr>
              <a:r>
                <a:rPr kumimoji="1" lang="ko-KR" altLang="en-US" sz="7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최근 </a:t>
              </a:r>
              <a:r>
                <a:rPr kumimoji="1" lang="en-US" altLang="ko-KR" sz="7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1</a:t>
              </a:r>
              <a:r>
                <a:rPr kumimoji="1" lang="ko-KR" altLang="en-US" sz="7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개월</a:t>
              </a:r>
              <a:endParaRPr kumimoji="1" lang="en-US" sz="7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endParaRPr>
            </a:p>
          </p:txBody>
        </p:sp>
        <p:sp>
          <p:nvSpPr>
            <p:cNvPr id="190" name="사각형: 둥근 모서리 171">
              <a:extLst>
                <a:ext uri="{FF2B5EF4-FFF2-40B4-BE49-F238E27FC236}">
                  <a16:creationId xmlns:a16="http://schemas.microsoft.com/office/drawing/2014/main" id="{75BECEC6-4045-95B1-98C2-242CA0FC5A06}"/>
                </a:ext>
              </a:extLst>
            </p:cNvPr>
            <p:cNvSpPr/>
            <p:nvPr/>
          </p:nvSpPr>
          <p:spPr>
            <a:xfrm>
              <a:off x="2061841" y="4057651"/>
              <a:ext cx="582017" cy="188135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fontAlgn="base" latinLnBrk="0">
                <a:spcBef>
                  <a:spcPct val="0"/>
                </a:spcBef>
                <a:spcAft>
                  <a:spcPct val="0"/>
                </a:spcAft>
              </a:pPr>
              <a:r>
                <a:rPr kumimoji="1" lang="ko-KR" altLang="en-US" sz="700" kern="0" dirty="0">
                  <a:latin typeface="+mn-ea"/>
                </a:rPr>
                <a:t>최근 </a:t>
              </a:r>
              <a:r>
                <a:rPr kumimoji="1" lang="en-US" altLang="ko-KR" sz="700" kern="0" dirty="0">
                  <a:latin typeface="+mn-ea"/>
                </a:rPr>
                <a:t>3</a:t>
              </a:r>
              <a:r>
                <a:rPr kumimoji="1" lang="ko-KR" altLang="en-US" sz="700" kern="0" dirty="0">
                  <a:latin typeface="+mn-ea"/>
                </a:rPr>
                <a:t>개월</a:t>
              </a:r>
              <a:endParaRPr kumimoji="1" lang="en-US" altLang="ko-KR" sz="700" kern="0" dirty="0">
                <a:latin typeface="+mn-ea"/>
              </a:endParaRPr>
            </a:p>
          </p:txBody>
        </p:sp>
        <p:sp>
          <p:nvSpPr>
            <p:cNvPr id="191" name="사각형: 둥근 모서리 172">
              <a:extLst>
                <a:ext uri="{FF2B5EF4-FFF2-40B4-BE49-F238E27FC236}">
                  <a16:creationId xmlns:a16="http://schemas.microsoft.com/office/drawing/2014/main" id="{7F182F00-C81F-5F02-6A1E-826222B231A9}"/>
                </a:ext>
              </a:extLst>
            </p:cNvPr>
            <p:cNvSpPr/>
            <p:nvPr/>
          </p:nvSpPr>
          <p:spPr>
            <a:xfrm>
              <a:off x="2693406" y="4057651"/>
              <a:ext cx="582017" cy="188135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lvl="0" algn="ctr" fontAlgn="base" latinLnBrk="0">
                <a:spcBef>
                  <a:spcPct val="0"/>
                </a:spcBef>
                <a:spcAft>
                  <a:spcPct val="0"/>
                </a:spcAft>
              </a:pPr>
              <a:r>
                <a:rPr kumimoji="1" lang="ko-KR" altLang="en-US" sz="700" kern="0" dirty="0">
                  <a:solidFill>
                    <a:prstClr val="black"/>
                  </a:solidFill>
                  <a:latin typeface="+mn-ea"/>
                </a:rPr>
                <a:t>최근 </a:t>
              </a:r>
              <a:r>
                <a:rPr kumimoji="1" lang="en-US" altLang="ko-KR" sz="700" kern="0" dirty="0">
                  <a:solidFill>
                    <a:prstClr val="black"/>
                  </a:solidFill>
                  <a:latin typeface="+mn-ea"/>
                </a:rPr>
                <a:t>6</a:t>
              </a:r>
              <a:r>
                <a:rPr kumimoji="1" lang="ko-KR" altLang="en-US" sz="700" kern="0" dirty="0">
                  <a:solidFill>
                    <a:prstClr val="black"/>
                  </a:solidFill>
                  <a:latin typeface="+mn-ea"/>
                </a:rPr>
                <a:t>개월</a:t>
              </a:r>
              <a:endParaRPr kumimoji="1" lang="en-US" altLang="ko-KR" sz="700" kern="0" dirty="0">
                <a:solidFill>
                  <a:prstClr val="black"/>
                </a:solidFill>
                <a:latin typeface="+mn-ea"/>
              </a:endParaRPr>
            </a:p>
          </p:txBody>
        </p:sp>
      </p:grpSp>
      <p:grpSp>
        <p:nvGrpSpPr>
          <p:cNvPr id="195" name="그룹 194">
            <a:extLst>
              <a:ext uri="{FF2B5EF4-FFF2-40B4-BE49-F238E27FC236}">
                <a16:creationId xmlns:a16="http://schemas.microsoft.com/office/drawing/2014/main" id="{8F2F56C4-B606-212C-F131-A4A30AE19BC8}"/>
              </a:ext>
            </a:extLst>
          </p:cNvPr>
          <p:cNvGrpSpPr/>
          <p:nvPr/>
        </p:nvGrpSpPr>
        <p:grpSpPr>
          <a:xfrm>
            <a:off x="2450608" y="3722533"/>
            <a:ext cx="859319" cy="188244"/>
            <a:chOff x="5613534" y="2854836"/>
            <a:chExt cx="804671" cy="188244"/>
          </a:xfrm>
        </p:grpSpPr>
        <p:sp>
          <p:nvSpPr>
            <p:cNvPr id="196" name="사각형: 둥근 모서리 86">
              <a:extLst>
                <a:ext uri="{FF2B5EF4-FFF2-40B4-BE49-F238E27FC236}">
                  <a16:creationId xmlns:a16="http://schemas.microsoft.com/office/drawing/2014/main" id="{C84908FA-11D4-E687-3603-3EA5852F6FAE}"/>
                </a:ext>
              </a:extLst>
            </p:cNvPr>
            <p:cNvSpPr/>
            <p:nvPr/>
          </p:nvSpPr>
          <p:spPr>
            <a:xfrm>
              <a:off x="5613534" y="2854836"/>
              <a:ext cx="804671" cy="188244"/>
            </a:xfrm>
            <a:prstGeom prst="roundRect">
              <a:avLst>
                <a:gd name="adj" fmla="val 18659"/>
              </a:avLst>
            </a:prstGeom>
            <a:solidFill>
              <a:sysClr val="window" lastClr="FFFFFF"/>
            </a:solidFill>
            <a:ln w="9525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700" kern="0" dirty="0">
                  <a:latin typeface="맑은 고딕"/>
                </a:rPr>
                <a:t>2026-01-16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pic>
          <p:nvPicPr>
            <p:cNvPr id="197" name="그림 196">
              <a:extLst>
                <a:ext uri="{FF2B5EF4-FFF2-40B4-BE49-F238E27FC236}">
                  <a16:creationId xmlns:a16="http://schemas.microsoft.com/office/drawing/2014/main" id="{B217D5BC-8335-EED4-D47A-F3F4110845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65649" y="2876004"/>
              <a:ext cx="126296" cy="137278"/>
            </a:xfrm>
            <a:prstGeom prst="rect">
              <a:avLst/>
            </a:prstGeom>
          </p:spPr>
        </p:pic>
      </p:grpSp>
      <p:sp>
        <p:nvSpPr>
          <p:cNvPr id="151" name="TextBox 15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1974060"/>
            <a:ext cx="230514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 err="1">
                <a:latin typeface="+mn-ea"/>
              </a:rPr>
              <a:t>업무구분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41620" y="2204218"/>
            <a:ext cx="2305144" cy="10772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전체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물품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용역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공사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국외</a:t>
            </a:r>
            <a:endParaRPr lang="en-US" altLang="ko-KR" sz="700" dirty="0">
              <a:latin typeface="+mn-ea"/>
            </a:endParaRPr>
          </a:p>
        </p:txBody>
      </p:sp>
      <p:sp>
        <p:nvSpPr>
          <p:cNvPr id="162" name="직사각형 161"/>
          <p:cNvSpPr/>
          <p:nvPr/>
        </p:nvSpPr>
        <p:spPr>
          <a:xfrm>
            <a:off x="772169" y="2270530"/>
            <a:ext cx="107950" cy="10795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직사각형 162"/>
          <p:cNvSpPr/>
          <p:nvPr/>
        </p:nvSpPr>
        <p:spPr>
          <a:xfrm>
            <a:off x="772169" y="2487756"/>
            <a:ext cx="107950" cy="10795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8" name="직사각형 167"/>
          <p:cNvSpPr/>
          <p:nvPr/>
        </p:nvSpPr>
        <p:spPr>
          <a:xfrm>
            <a:off x="772169" y="2684846"/>
            <a:ext cx="107950" cy="10795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직사각형 170"/>
          <p:cNvSpPr/>
          <p:nvPr/>
        </p:nvSpPr>
        <p:spPr>
          <a:xfrm>
            <a:off x="772169" y="2899507"/>
            <a:ext cx="107950" cy="10795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2" name="직사각형 171"/>
          <p:cNvSpPr/>
          <p:nvPr/>
        </p:nvSpPr>
        <p:spPr>
          <a:xfrm>
            <a:off x="772169" y="3111473"/>
            <a:ext cx="107950" cy="10795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712771" y="2449398"/>
            <a:ext cx="22153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dirty="0">
                <a:solidFill>
                  <a:schemeClr val="bg1"/>
                </a:solidFill>
              </a:rPr>
              <a:t>v</a:t>
            </a:r>
            <a:endParaRPr lang="ko-KR" altLang="en-US" sz="600" dirty="0">
              <a:solidFill>
                <a:schemeClr val="bg1"/>
              </a:solidFill>
            </a:endParaRPr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8770" y="340678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sp>
        <p:nvSpPr>
          <p:cNvPr id="115" name="타원 11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1408364" y="369896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00" b="1" dirty="0" smtClean="0"/>
              <a:t>3-1</a:t>
            </a:r>
            <a:endParaRPr lang="ko-KR" altLang="en-US" sz="500" b="1" dirty="0"/>
          </a:p>
        </p:txBody>
      </p:sp>
      <p:sp>
        <p:nvSpPr>
          <p:cNvPr id="121" name="타원 12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2219722" y="369896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00" b="1" dirty="0" smtClean="0"/>
              <a:t>3-2</a:t>
            </a:r>
            <a:endParaRPr lang="ko-KR" altLang="en-US" sz="500" b="1" dirty="0"/>
          </a:p>
        </p:txBody>
      </p:sp>
      <p:sp>
        <p:nvSpPr>
          <p:cNvPr id="122" name="타원 12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1408364" y="396605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00" b="1" dirty="0"/>
              <a:t>3</a:t>
            </a:r>
            <a:r>
              <a:rPr lang="en-US" altLang="ko-KR" sz="500" b="1" dirty="0" smtClean="0"/>
              <a:t>-3</a:t>
            </a:r>
            <a:endParaRPr lang="ko-KR" altLang="en-US" sz="500" b="1" dirty="0"/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23476" y="192242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cxnSp>
        <p:nvCxnSpPr>
          <p:cNvPr id="112" name="직선 연결선 11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424318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871181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세금계산서목록 데이터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세금계산서 </a:t>
            </a:r>
            <a:r>
              <a:rPr lang="ko-KR" altLang="en-US" dirty="0" err="1"/>
              <a:t>여러건이</a:t>
            </a:r>
            <a:r>
              <a:rPr lang="ko-KR" altLang="en-US" dirty="0"/>
              <a:t> 물려있는 경우 팝업에서 목록을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세부 목록 선택 시 상세 페이지 이동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smtClean="0">
                <a:latin typeface="+mn-ea"/>
              </a:rPr>
              <a:t>대금청구신청목록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smtClean="0">
                <a:latin typeface="+mn-ea"/>
              </a:rPr>
              <a:t>대금청구신청목록</a:t>
            </a:r>
            <a:r>
              <a:rPr lang="ko-KR" altLang="en-US" dirty="0" smtClean="0"/>
              <a:t> </a:t>
            </a:r>
            <a:r>
              <a:rPr lang="ko-KR" altLang="en-US" dirty="0"/>
              <a:t>팝업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 smtClean="0">
                <a:latin typeface="+mn-ea"/>
              </a:rPr>
              <a:t>사후 </a:t>
            </a:r>
            <a:r>
              <a:rPr lang="en-US" altLang="ko-KR" dirty="0" smtClean="0">
                <a:latin typeface="+mn-ea"/>
              </a:rPr>
              <a:t>&gt; </a:t>
            </a:r>
            <a:r>
              <a:rPr lang="ko-KR" altLang="en-US" dirty="0" smtClean="0">
                <a:latin typeface="+mn-ea"/>
              </a:rPr>
              <a:t>대금청구신청목록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MUI-WM-01-P13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대금청구통합목록</a:t>
            </a: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6" name="양쪽 모서리가 둥근 사각형 165"/>
          <p:cNvSpPr/>
          <p:nvPr/>
        </p:nvSpPr>
        <p:spPr>
          <a:xfrm>
            <a:off x="675399" y="1914401"/>
            <a:ext cx="2712027" cy="4317897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67" name="모서리가 둥근 직사각형 166"/>
          <p:cNvSpPr/>
          <p:nvPr/>
        </p:nvSpPr>
        <p:spPr>
          <a:xfrm>
            <a:off x="1761412" y="1951029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68" name="그룹 167"/>
          <p:cNvGrpSpPr/>
          <p:nvPr/>
        </p:nvGrpSpPr>
        <p:grpSpPr>
          <a:xfrm>
            <a:off x="3164338" y="2085445"/>
            <a:ext cx="94010" cy="94010"/>
            <a:chOff x="6812560" y="3297172"/>
            <a:chExt cx="94010" cy="94010"/>
          </a:xfrm>
        </p:grpSpPr>
        <p:cxnSp>
          <p:nvCxnSpPr>
            <p:cNvPr id="169" name="직선 연결선 16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0" name="직선 연결선 169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2" name="TextBox 17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2066124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 smtClean="0">
                <a:latin typeface="+mn-ea"/>
              </a:rPr>
              <a:t>대금청구</a:t>
            </a:r>
            <a:r>
              <a:rPr lang="ko-KR" altLang="en-US" sz="900" dirty="0" smtClean="0">
                <a:latin typeface="+mn-ea"/>
              </a:rPr>
              <a:t> </a:t>
            </a:r>
            <a:r>
              <a:rPr lang="ko-KR" altLang="en-US" sz="900" dirty="0" err="1" smtClean="0">
                <a:latin typeface="+mn-ea"/>
              </a:rPr>
              <a:t>신청목록</a:t>
            </a:r>
            <a:endParaRPr lang="ko-KR" altLang="en-US" sz="900" dirty="0">
              <a:latin typeface="+mn-ea"/>
            </a:endParaRPr>
          </a:p>
        </p:txBody>
      </p:sp>
      <p:cxnSp>
        <p:nvCxnSpPr>
          <p:cNvPr id="173" name="직선 연결선 17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32752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90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13061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grpSp>
        <p:nvGrpSpPr>
          <p:cNvPr id="191" name="그룹 190"/>
          <p:cNvGrpSpPr/>
          <p:nvPr/>
        </p:nvGrpSpPr>
        <p:grpSpPr>
          <a:xfrm>
            <a:off x="778516" y="3199121"/>
            <a:ext cx="2476202" cy="1171825"/>
            <a:chOff x="778516" y="2610063"/>
            <a:chExt cx="2476202" cy="1171825"/>
          </a:xfrm>
        </p:grpSpPr>
        <p:sp>
          <p:nvSpPr>
            <p:cNvPr id="192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6161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800" dirty="0" err="1">
                  <a:solidFill>
                    <a:prstClr val="black"/>
                  </a:solidFill>
                </a:rPr>
                <a:t>청구번호</a:t>
              </a:r>
              <a:r>
                <a:rPr lang="ko-KR" altLang="en-US" sz="800" dirty="0">
                  <a:solidFill>
                    <a:prstClr val="black"/>
                  </a:solidFill>
                </a:rPr>
                <a:t> </a:t>
              </a:r>
              <a:r>
                <a:rPr lang="en-US" altLang="ko-KR" sz="800" dirty="0">
                  <a:solidFill>
                    <a:prstClr val="black"/>
                  </a:solidFill>
                </a:rPr>
                <a:t>12315 - 42</a:t>
              </a:r>
            </a:p>
            <a:p>
              <a:pPr lvl="0"/>
              <a:r>
                <a:rPr lang="ko-KR" altLang="en-US" sz="900" b="1" dirty="0" err="1">
                  <a:solidFill>
                    <a:prstClr val="black"/>
                  </a:solidFill>
                </a:rPr>
                <a:t>대금청구서</a:t>
              </a:r>
              <a:endParaRPr lang="ko-KR" altLang="en-US" sz="1050" b="1" dirty="0">
                <a:solidFill>
                  <a:prstClr val="black"/>
                </a:solidFill>
              </a:endParaRPr>
            </a:p>
          </p:txBody>
        </p:sp>
        <p:sp>
          <p:nvSpPr>
            <p:cNvPr id="193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089391"/>
              <a:ext cx="307777" cy="69249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smtClean="0">
                  <a:latin typeface="+mn-ea"/>
                </a:rPr>
                <a:t>청구금액</a:t>
              </a:r>
              <a:endParaRPr lang="en-US" altLang="ko-KR" sz="600" dirty="0" smtClean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 smtClean="0">
                  <a:latin typeface="+mn-ea"/>
                </a:rPr>
                <a:t>확정구분</a:t>
              </a:r>
              <a:endParaRPr lang="en-US" altLang="ko-KR" sz="600" dirty="0" smtClean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 smtClean="0">
                  <a:latin typeface="+mn-ea"/>
                </a:rPr>
                <a:t>세액여부</a:t>
              </a:r>
              <a:endParaRPr lang="en-US" altLang="ko-KR" sz="600" dirty="0" smtClean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smtClean="0">
                  <a:latin typeface="+mn-ea"/>
                </a:rPr>
                <a:t>작성일자</a:t>
              </a:r>
              <a:endParaRPr lang="en-US" altLang="ko-KR" sz="600" dirty="0" smtClean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 smtClean="0">
                  <a:latin typeface="+mn-ea"/>
                </a:rPr>
                <a:t>청구일자</a:t>
              </a:r>
              <a:endParaRPr lang="en-US" altLang="ko-KR" sz="600" dirty="0" smtClean="0">
                <a:latin typeface="+mn-ea"/>
              </a:endParaRPr>
            </a:p>
          </p:txBody>
        </p:sp>
        <p:sp>
          <p:nvSpPr>
            <p:cNvPr id="194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4574" y="3082030"/>
              <a:ext cx="657231" cy="69249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000,000,000,000 </a:t>
              </a:r>
              <a:r>
                <a:rPr lang="ko-KR" altLang="en-US" sz="600" dirty="0">
                  <a:latin typeface="+mn-ea"/>
                </a:rPr>
                <a:t>원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600" dirty="0" smtClean="0">
                  <a:latin typeface="+mn-ea"/>
                </a:rPr>
                <a:t>-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600" dirty="0" smtClean="0">
                  <a:latin typeface="+mn-ea"/>
                </a:rPr>
                <a:t>000,000,000,000 </a:t>
              </a:r>
              <a:r>
                <a:rPr lang="ko-KR" altLang="en-US" sz="600" dirty="0">
                  <a:latin typeface="+mn-ea"/>
                </a:rPr>
                <a:t>원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600" dirty="0" smtClean="0">
                  <a:latin typeface="+mn-ea"/>
                </a:rPr>
                <a:t>2025-10-15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600" dirty="0" smtClean="0">
                  <a:latin typeface="+mn-ea"/>
                </a:rPr>
                <a:t>2025-11-20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195" name="모서리가 둥근 직사각형 194"/>
            <p:cNvSpPr/>
            <p:nvPr/>
          </p:nvSpPr>
          <p:spPr>
            <a:xfrm>
              <a:off x="778516" y="2610063"/>
              <a:ext cx="480073" cy="12997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 smtClean="0">
                  <a:solidFill>
                    <a:schemeClr val="dk1"/>
                  </a:solidFill>
                </a:rPr>
                <a:t>진행중</a:t>
              </a:r>
              <a:endParaRPr lang="ko-KR" altLang="en-US" sz="600" dirty="0">
                <a:solidFill>
                  <a:schemeClr val="dk1"/>
                </a:solidFill>
              </a:endParaRPr>
            </a:p>
          </p:txBody>
        </p:sp>
      </p:grpSp>
      <p:grpSp>
        <p:nvGrpSpPr>
          <p:cNvPr id="197" name="그룹 196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314962"/>
            <a:ext cx="76863" cy="292489"/>
            <a:chOff x="3750067" y="4683795"/>
            <a:chExt cx="76863" cy="292489"/>
          </a:xfrm>
        </p:grpSpPr>
        <p:sp>
          <p:nvSpPr>
            <p:cNvPr id="198" name="타원 197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99" name="타원 198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00" name="타원 199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cxnSp>
        <p:nvCxnSpPr>
          <p:cNvPr id="207" name="직선 연결선 20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438935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09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81461" y="2446715"/>
            <a:ext cx="247325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 err="1" smtClean="0"/>
              <a:t>계약번호</a:t>
            </a:r>
            <a:r>
              <a:rPr lang="ko-KR" altLang="en-US" sz="700" dirty="0" smtClean="0"/>
              <a:t> </a:t>
            </a:r>
            <a:r>
              <a:rPr lang="en-US" altLang="ko-KR" sz="700" dirty="0" smtClean="0"/>
              <a:t>2025 000 000 - 01</a:t>
            </a:r>
          </a:p>
          <a:p>
            <a:r>
              <a:rPr lang="ko-KR" altLang="en-US" sz="900" b="1" dirty="0" smtClean="0"/>
              <a:t>변속기 부품 계약의 건</a:t>
            </a:r>
            <a:endParaRPr lang="ko-KR" altLang="en-US" sz="900" b="1" dirty="0"/>
          </a:p>
        </p:txBody>
      </p:sp>
      <p:cxnSp>
        <p:nvCxnSpPr>
          <p:cNvPr id="210" name="직선 연결선 20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75932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7" name="직선 연결선 21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04507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8" name="TextBox 21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2771812"/>
            <a:ext cx="42578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 smtClean="0">
                <a:solidFill>
                  <a:srgbClr val="0070C0"/>
                </a:solidFill>
                <a:latin typeface="+mn-ea"/>
              </a:rPr>
              <a:t>3</a:t>
            </a:r>
            <a:r>
              <a:rPr lang="ko-KR" altLang="en-US" sz="700" dirty="0" smtClean="0">
                <a:latin typeface="+mn-ea"/>
              </a:rPr>
              <a:t>건</a:t>
            </a:r>
            <a:endParaRPr lang="ko-KR" altLang="en-US" sz="700" dirty="0">
              <a:latin typeface="+mn-ea"/>
            </a:endParaRP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2550467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구분</a:t>
            </a:r>
          </a:p>
        </p:txBody>
      </p:sp>
      <p:sp>
        <p:nvSpPr>
          <p:cNvPr id="222" name="모서리가 둥근 직사각형 221"/>
          <p:cNvSpPr/>
          <p:nvPr/>
        </p:nvSpPr>
        <p:spPr>
          <a:xfrm>
            <a:off x="4608594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수정</a:t>
            </a:r>
          </a:p>
        </p:txBody>
      </p:sp>
      <p:sp>
        <p:nvSpPr>
          <p:cNvPr id="226" name="모서리가 둥근 직사각형 225"/>
          <p:cNvSpPr/>
          <p:nvPr/>
        </p:nvSpPr>
        <p:spPr>
          <a:xfrm>
            <a:off x="4313169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600" dirty="0"/>
              <a:t>일반</a:t>
            </a:r>
            <a:endParaRPr lang="ko-KR" altLang="en-US" sz="600" dirty="0">
              <a:solidFill>
                <a:schemeClr val="dk1"/>
              </a:solidFill>
            </a:endParaRP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18635" y="2025433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표시 레이블</a:t>
            </a:r>
          </a:p>
        </p:txBody>
      </p:sp>
      <p:sp>
        <p:nvSpPr>
          <p:cNvPr id="228" name="모서리가 둥근 직사각형 227"/>
          <p:cNvSpPr/>
          <p:nvPr/>
        </p:nvSpPr>
        <p:spPr>
          <a:xfrm>
            <a:off x="4318634" y="2877159"/>
            <a:ext cx="475615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/>
              <a:t>국세청승인</a:t>
            </a:r>
            <a:endParaRPr lang="ko-KR" altLang="en-US" sz="600" dirty="0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2882998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진행상태</a:t>
            </a:r>
          </a:p>
        </p:txBody>
      </p:sp>
      <p:sp>
        <p:nvSpPr>
          <p:cNvPr id="230" name="모서리가 둥근 직사각형 229"/>
          <p:cNvSpPr/>
          <p:nvPr/>
        </p:nvSpPr>
        <p:spPr>
          <a:xfrm>
            <a:off x="4840814" y="2877159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/>
              <a:t>작성</a:t>
            </a:r>
            <a:endParaRPr lang="ko-KR" altLang="en-US" sz="600" dirty="0"/>
          </a:p>
        </p:txBody>
      </p:sp>
      <p:sp>
        <p:nvSpPr>
          <p:cNvPr id="231" name="모서리가 둥근 직사각형 230"/>
          <p:cNvSpPr/>
          <p:nvPr/>
        </p:nvSpPr>
        <p:spPr>
          <a:xfrm>
            <a:off x="5130857" y="2877159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저장</a:t>
            </a:r>
          </a:p>
        </p:txBody>
      </p:sp>
      <p:sp>
        <p:nvSpPr>
          <p:cNvPr id="232" name="모서리가 둥근 직사각형 231"/>
          <p:cNvSpPr/>
          <p:nvPr/>
        </p:nvSpPr>
        <p:spPr>
          <a:xfrm>
            <a:off x="5099260" y="3209690"/>
            <a:ext cx="572877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공급가액 변동</a:t>
            </a:r>
          </a:p>
        </p:txBody>
      </p:sp>
      <p:sp>
        <p:nvSpPr>
          <p:cNvPr id="233" name="모서리가 둥근 직사각형 232"/>
          <p:cNvSpPr/>
          <p:nvPr/>
        </p:nvSpPr>
        <p:spPr>
          <a:xfrm>
            <a:off x="4318635" y="3209690"/>
            <a:ext cx="726440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기재사항 </a:t>
            </a:r>
            <a:r>
              <a:rPr lang="ko-KR" altLang="en-US" sz="600" dirty="0" err="1"/>
              <a:t>착오정정</a:t>
            </a:r>
            <a:endParaRPr lang="ko-KR" altLang="en-US" sz="600" dirty="0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3215529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수정사유</a:t>
            </a:r>
            <a:endParaRPr lang="ko-KR" altLang="en-US" sz="700" dirty="0">
              <a:latin typeface="+mn-ea"/>
            </a:endParaRPr>
          </a:p>
        </p:txBody>
      </p:sp>
      <p:sp>
        <p:nvSpPr>
          <p:cNvPr id="235" name="모서리가 둥근 직사각형 234"/>
          <p:cNvSpPr/>
          <p:nvPr/>
        </p:nvSpPr>
        <p:spPr>
          <a:xfrm>
            <a:off x="6023985" y="3209690"/>
            <a:ext cx="512292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계약의 해제</a:t>
            </a:r>
          </a:p>
        </p:txBody>
      </p:sp>
      <p:sp>
        <p:nvSpPr>
          <p:cNvPr id="236" name="모서리가 둥근 직사각형 235"/>
          <p:cNvSpPr/>
          <p:nvPr/>
        </p:nvSpPr>
        <p:spPr>
          <a:xfrm>
            <a:off x="5726322" y="3209690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kumimoji="1" lang="ko-KR" altLang="en-US" sz="600" spc="-60" dirty="0">
                <a:solidFill>
                  <a:schemeClr val="tx1"/>
                </a:solidFill>
                <a:latin typeface="Verdana" panose="020B0604030504040204" pitchFamily="34" charset="0"/>
              </a:rPr>
              <a:t>환입</a:t>
            </a:r>
            <a:endParaRPr lang="ko-KR" altLang="en-US" sz="600" dirty="0"/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45425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57" name="TextBox 59">
            <a:extLst>
              <a:ext uri="{FF2B5EF4-FFF2-40B4-BE49-F238E27FC236}">
                <a16:creationId xmlns:a16="http://schemas.microsoft.com/office/drawing/2014/main" id="{F77C802D-3BC8-270F-87FC-5F442BD8054D}"/>
              </a:ext>
            </a:extLst>
          </p:cNvPr>
          <p:cNvSpPr txBox="1"/>
          <p:nvPr/>
        </p:nvSpPr>
        <p:spPr>
          <a:xfrm>
            <a:off x="3913209" y="3646309"/>
            <a:ext cx="307777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sz="600" dirty="0" err="1" smtClean="0">
                <a:latin typeface="+mn-ea"/>
              </a:rPr>
              <a:t>통지번호</a:t>
            </a:r>
            <a:endParaRPr lang="en-US" altLang="ko-KR" sz="600" dirty="0" smtClean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 err="1" smtClean="0">
                <a:latin typeface="+mn-ea"/>
              </a:rPr>
              <a:t>합격일자</a:t>
            </a:r>
            <a:endParaRPr lang="en-US" altLang="ko-KR" sz="600" dirty="0" smtClean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 err="1" smtClean="0">
                <a:latin typeface="+mn-ea"/>
              </a:rPr>
              <a:t>납품일자</a:t>
            </a:r>
            <a:endParaRPr lang="en-US" altLang="ko-KR" sz="600" dirty="0" smtClean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 err="1" smtClean="0">
                <a:latin typeface="+mn-ea"/>
              </a:rPr>
              <a:t>납품금액</a:t>
            </a:r>
            <a:endParaRPr lang="en-US" altLang="ko-KR" sz="600" dirty="0" smtClean="0">
              <a:latin typeface="+mn-ea"/>
            </a:endParaRPr>
          </a:p>
        </p:txBody>
      </p:sp>
      <p:sp>
        <p:nvSpPr>
          <p:cNvPr id="58" name="TextBox 60">
            <a:extLst>
              <a:ext uri="{FF2B5EF4-FFF2-40B4-BE49-F238E27FC236}">
                <a16:creationId xmlns:a16="http://schemas.microsoft.com/office/drawing/2014/main" id="{8F5E3227-69E6-C89F-B8C5-534226E95EA8}"/>
              </a:ext>
            </a:extLst>
          </p:cNvPr>
          <p:cNvSpPr txBox="1"/>
          <p:nvPr/>
        </p:nvSpPr>
        <p:spPr>
          <a:xfrm>
            <a:off x="4471311" y="3638948"/>
            <a:ext cx="657231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000,000,000,000 </a:t>
            </a:r>
            <a:r>
              <a:rPr lang="ko-KR" altLang="en-US" sz="600" dirty="0">
                <a:latin typeface="+mn-ea"/>
              </a:rPr>
              <a:t>원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2025-10-15</a:t>
            </a:r>
          </a:p>
          <a:p>
            <a:pPr>
              <a:lnSpc>
                <a:spcPct val="150000"/>
              </a:lnSpc>
            </a:pPr>
            <a:r>
              <a:rPr lang="en-US" altLang="ko-KR" sz="600" dirty="0" smtClean="0">
                <a:latin typeface="+mn-ea"/>
              </a:rPr>
              <a:t>2025-11-20</a:t>
            </a:r>
          </a:p>
          <a:p>
            <a:pPr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000,000,000,000 </a:t>
            </a:r>
            <a:r>
              <a:rPr lang="ko-KR" altLang="en-US" sz="600" dirty="0" smtClean="0">
                <a:latin typeface="+mn-ea"/>
              </a:rPr>
              <a:t>원</a:t>
            </a:r>
            <a:endParaRPr lang="ko-KR" altLang="en-US" sz="6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546281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17</a:t>
            </a:fld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B257CD-DFF9-C20A-42B1-86A5BD32A09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947F42-24A6-AC12-410B-185FD576E1C3}"/>
              </a:ext>
            </a:extLst>
          </p:cNvPr>
          <p:cNvSpPr txBox="1"/>
          <p:nvPr/>
        </p:nvSpPr>
        <p:spPr>
          <a:xfrm>
            <a:off x="458117" y="803113"/>
            <a:ext cx="3084746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대금청구통합목록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dmt_PymtClmIntgSrch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271CA1-8B7B-01B8-8587-605BE3417C65}"/>
              </a:ext>
            </a:extLst>
          </p:cNvPr>
          <p:cNvSpPr txBox="1"/>
          <p:nvPr/>
        </p:nvSpPr>
        <p:spPr>
          <a:xfrm>
            <a:off x="458117" y="2078900"/>
            <a:ext cx="266475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대금청구목록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dlt_pymtClmList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0D7D7297-5C46-7078-D2CB-A9F2A55503A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1091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ctrtBgngYmd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ctrtEndYmd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계약일자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-mm-dd((From-To))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ctrtNo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계약번호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계약번호검색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공통팝업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347732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</a:rPr>
                        <a:t>계약명</a:t>
                      </a:r>
                      <a:r>
                        <a:rPr lang="ko-KR" altLang="en-US" sz="800" dirty="0">
                          <a:latin typeface="+mn-ea"/>
                        </a:rPr>
                        <a:t>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taskSeCd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업무구분을 선택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물품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용역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</a:tbl>
          </a:graphicData>
        </a:graphic>
      </p:graphicFrame>
      <p:graphicFrame>
        <p:nvGraphicFramePr>
          <p:cNvPr id="29" name="표 28">
            <a:extLst>
              <a:ext uri="{FF2B5EF4-FFF2-40B4-BE49-F238E27FC236}">
                <a16:creationId xmlns:a16="http://schemas.microsoft.com/office/drawing/2014/main" id="{FC692424-6A27-FF04-83B1-DBDD428A58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02136"/>
              </p:ext>
            </p:extLst>
          </p:nvPr>
        </p:nvGraphicFramePr>
        <p:xfrm>
          <a:off x="452999" y="2301691"/>
          <a:ext cx="8994883" cy="1939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b="0" dirty="0"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조회결과 자료 순번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N/A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그리드 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rownum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b="0" dirty="0">
                          <a:latin typeface="+mn-ea"/>
                          <a:ea typeface="+mn-ea"/>
                        </a:rPr>
                        <a:t>업무구분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taskSeCd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업무구분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물품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용역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9965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b="0" dirty="0">
                          <a:latin typeface="+mn-ea"/>
                          <a:ea typeface="+mn-ea"/>
                        </a:rPr>
                        <a:t>계약번호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계약번호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83255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b="0" dirty="0" err="1">
                          <a:latin typeface="+mn-ea"/>
                          <a:ea typeface="+mn-ea"/>
                        </a:rPr>
                        <a:t>계약명</a:t>
                      </a:r>
                      <a:endParaRPr lang="ko-KR" altLang="en-US" sz="800" b="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</a:rPr>
                        <a:t>계약명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03160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bzentyNm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업체명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28815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입찰방법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bidMthdNm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입찰방법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:BDTC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523475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계약종류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jntCtrtCdNm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계약종류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N/A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공동계약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주계약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19156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계약일자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-mm-dd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b="0" dirty="0">
                          <a:latin typeface="+mn-ea"/>
                          <a:ea typeface="+mn-ea"/>
                        </a:rPr>
                        <a:t>계약금액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ADB6E65A-2A9E-428A-5B6F-2D9A70A8AC9B}"/>
              </a:ext>
            </a:extLst>
          </p:cNvPr>
          <p:cNvSpPr txBox="1"/>
          <p:nvPr/>
        </p:nvSpPr>
        <p:spPr>
          <a:xfrm>
            <a:off x="458117" y="4308312"/>
            <a:ext cx="3229016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대금청구 신청목록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dlt_pymtClmAplyList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2AFEE4E0-F73E-BA2F-1662-ED68211F1857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4541300"/>
          <a:ext cx="8994883" cy="1939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조회결과 자료 순번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N/A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그리드 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rownum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taskSeCd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업무구분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물품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용역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49216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계약번호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13302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</a:rPr>
                        <a:t>계약명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00533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bzentyNm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업체명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38075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입찰방법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bidMthdNm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입찰방법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:BDTC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41825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계약종류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jntCtrtCdNm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계약종류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N/A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공동계약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주계약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347732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계약일자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-mm-dd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AC6556DB-F5FC-C865-D984-44E8158CA0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876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314345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18</a:t>
            </a:fld>
            <a:endParaRPr lang="ko-KR" altLang="en-US" dirty="0"/>
          </a:p>
        </p:txBody>
      </p:sp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89E1827E-1988-380A-F9F3-3955A79B0F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3848977"/>
              </p:ext>
            </p:extLst>
          </p:nvPr>
        </p:nvGraphicFramePr>
        <p:xfrm>
          <a:off x="453000" y="1041145"/>
          <a:ext cx="8995591" cy="17011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3103963203"/>
                    </a:ext>
                  </a:extLst>
                </a:gridCol>
                <a:gridCol w="37029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4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공통코드정보를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페이지 로딩 시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계약일자를 현재일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– M,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현재일로 기본 값 설정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업무구분은 전체로 설정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검색 클릭 이벤트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scwin.btn_search_onclick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조회조건에 해당하는 결과를 대금청구목록 그리드에 출력한다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101832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대금청구안내문 클릭 이벤트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scwin.btn_pymtClmGdntc_onclick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대금청구 안내문을 팝업으로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(UI-WM-01-P22)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대금청구안내문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3625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 err="1"/>
                        <a:t>대금청구서</a:t>
                      </a:r>
                      <a:r>
                        <a:rPr lang="ko-KR" altLang="en-US" sz="800" dirty="0"/>
                        <a:t> 클릭 이벤트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scwin.btn_pymtClmMdfcnSbmsn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대금청구 상세화면을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(UI-WM-01-M17)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대금청구상세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중앙조달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 (UI-WM-01-M18)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대금청구상세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부대조달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 (UI-WM-01-M19)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대금청구상세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 (UI-WM-01-M20)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대금청구상세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기성대가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),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(UI-WM-01-M72)</a:t>
                      </a: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대금청구서상세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275598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78B7293-4AE2-DAA5-5A01-3613EC5D2D28}"/>
              </a:ext>
            </a:extLst>
          </p:cNvPr>
          <p:cNvSpPr txBox="1"/>
          <p:nvPr/>
        </p:nvSpPr>
        <p:spPr>
          <a:xfrm>
            <a:off x="458117" y="760911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9" name="Text Box 73">
            <a:extLst>
              <a:ext uri="{FF2B5EF4-FFF2-40B4-BE49-F238E27FC236}">
                <a16:creationId xmlns:a16="http://schemas.microsoft.com/office/drawing/2014/main" id="{6C2B2374-305A-4B28-5E32-57F40AE400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82802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5637455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sz="800" dirty="0"/>
              <a:t>타이틀 영역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1-1] </a:t>
            </a:r>
            <a:r>
              <a:rPr lang="ko-KR" altLang="en-US" sz="800" dirty="0"/>
              <a:t>레이블이 화면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/>
              <a:t>화면 넘치는 경우 드래그하여 확인 가능 </a:t>
            </a:r>
            <a:r>
              <a:rPr lang="en-US" altLang="ko-KR" sz="800" dirty="0"/>
              <a:t>(</a:t>
            </a:r>
            <a:r>
              <a:rPr lang="ko-KR" altLang="en-US" sz="800" dirty="0" err="1"/>
              <a:t>스와이프기능</a:t>
            </a:r>
            <a:r>
              <a:rPr lang="ko-KR" altLang="en-US" sz="800" dirty="0"/>
              <a:t> 반영 필요</a:t>
            </a:r>
            <a:r>
              <a:rPr lang="en-US" altLang="ko-KR" sz="800" dirty="0"/>
              <a:t>)</a:t>
            </a:r>
            <a:br>
              <a:rPr lang="en-US" altLang="ko-KR" sz="800" dirty="0"/>
            </a:br>
            <a:r>
              <a:rPr lang="en-US" altLang="ko-KR" sz="800" dirty="0"/>
              <a:t>1-2] </a:t>
            </a:r>
            <a:r>
              <a:rPr lang="ko-KR" altLang="en-US" sz="800" dirty="0"/>
              <a:t>문서 정보 영역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 err="1"/>
              <a:t>판단번호</a:t>
            </a:r>
            <a:r>
              <a:rPr lang="ko-KR" altLang="en-US" sz="800" dirty="0"/>
              <a:t> </a:t>
            </a:r>
            <a:r>
              <a:rPr lang="en-US" altLang="ko-KR" sz="800" dirty="0"/>
              <a:t>,  </a:t>
            </a:r>
            <a:r>
              <a:rPr lang="ko-KR" altLang="en-US" sz="800" dirty="0" err="1"/>
              <a:t>계약번호</a:t>
            </a:r>
            <a:r>
              <a:rPr lang="ko-KR" altLang="en-US" sz="800" dirty="0"/>
              <a:t> 노출 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 err="1"/>
              <a:t>판단번호</a:t>
            </a:r>
            <a:r>
              <a:rPr lang="ko-KR" altLang="en-US" sz="800" dirty="0"/>
              <a:t> </a:t>
            </a:r>
            <a:r>
              <a:rPr lang="ko-KR" altLang="en-US" sz="800" dirty="0" err="1"/>
              <a:t>전체노출</a:t>
            </a:r>
            <a:r>
              <a:rPr lang="ko-KR" altLang="en-US" sz="800" dirty="0"/>
              <a:t> </a:t>
            </a:r>
            <a:r>
              <a:rPr lang="en-US" altLang="ko-KR" sz="800" dirty="0"/>
              <a:t>/ </a:t>
            </a:r>
            <a:r>
              <a:rPr lang="ko-KR" altLang="en-US" sz="800" dirty="0" err="1"/>
              <a:t>계약번호</a:t>
            </a:r>
            <a:r>
              <a:rPr lang="ko-KR" altLang="en-US" sz="800" dirty="0"/>
              <a:t> </a:t>
            </a:r>
            <a:r>
              <a:rPr lang="ko-KR" altLang="en-US" sz="800" dirty="0" err="1"/>
              <a:t>노출시</a:t>
            </a:r>
            <a:r>
              <a:rPr lang="ko-KR" altLang="en-US" sz="800" dirty="0"/>
              <a:t> 해당 라인을 넘어가면 </a:t>
            </a:r>
            <a:r>
              <a:rPr lang="en-US" altLang="ko-KR" sz="800" dirty="0"/>
              <a:t>(…) </a:t>
            </a:r>
            <a:r>
              <a:rPr lang="ko-KR" altLang="en-US" sz="800" dirty="0" err="1"/>
              <a:t>말줄임</a:t>
            </a:r>
            <a:r>
              <a:rPr lang="ko-KR" altLang="en-US" sz="800" dirty="0"/>
              <a:t> 표시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1-3] </a:t>
            </a:r>
            <a:r>
              <a:rPr lang="ko-KR" altLang="en-US" sz="800" dirty="0"/>
              <a:t>문서 제목 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/>
              <a:t>제목은 </a:t>
            </a:r>
            <a:r>
              <a:rPr lang="en-US" altLang="ko-KR" sz="800" dirty="0"/>
              <a:t>2</a:t>
            </a:r>
            <a:r>
              <a:rPr lang="ko-KR" altLang="en-US" sz="800" dirty="0"/>
              <a:t>줄 까지 노출 이후</a:t>
            </a:r>
            <a:r>
              <a:rPr lang="en-US" altLang="ko-KR" sz="800" dirty="0"/>
              <a:t>(…) </a:t>
            </a:r>
            <a:r>
              <a:rPr lang="ko-KR" altLang="en-US" sz="800" dirty="0" err="1"/>
              <a:t>말줄임</a:t>
            </a:r>
            <a:r>
              <a:rPr lang="ko-KR" altLang="en-US" sz="800" dirty="0"/>
              <a:t> 표시</a:t>
            </a:r>
            <a:endParaRPr lang="en-US" altLang="ko-KR" sz="800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sz="800" dirty="0" err="1"/>
              <a:t>업무도움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/>
              <a:t>기본값 </a:t>
            </a:r>
            <a:r>
              <a:rPr lang="en-US" altLang="ko-KR" sz="800" dirty="0"/>
              <a:t>: </a:t>
            </a:r>
            <a:r>
              <a:rPr lang="ko-KR" altLang="en-US" sz="800" dirty="0"/>
              <a:t>접힘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 err="1"/>
              <a:t>클릭시</a:t>
            </a:r>
            <a:r>
              <a:rPr lang="ko-KR" altLang="en-US" sz="800" dirty="0"/>
              <a:t> 확장하여 정보 표시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</a:t>
            </a:r>
            <a:r>
              <a:rPr lang="ko-KR" altLang="en-US" sz="800" dirty="0" err="1"/>
              <a:t>업무도움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&gt; </a:t>
            </a:r>
            <a:r>
              <a:rPr lang="ko-KR" altLang="en-US" sz="800" dirty="0"/>
              <a:t>내역이 있는 경우 만 표시</a:t>
            </a:r>
            <a:endParaRPr lang="en-US" altLang="ko-KR" sz="800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sz="800" dirty="0"/>
              <a:t>탭 영역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 err="1" smtClean="0"/>
              <a:t>신청정보</a:t>
            </a:r>
            <a:r>
              <a:rPr lang="ko-KR" altLang="en-US" sz="800" dirty="0" smtClean="0"/>
              <a:t> </a:t>
            </a:r>
            <a:r>
              <a:rPr lang="en-US" altLang="ko-KR" sz="800" dirty="0"/>
              <a:t>Tab</a:t>
            </a:r>
            <a:r>
              <a:rPr lang="ko-KR" altLang="en-US" sz="800" dirty="0"/>
              <a:t>은 진입 시 고정 노출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/>
              <a:t>탭 내용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ko-KR" altLang="en-US" sz="800" dirty="0" err="1" smtClean="0"/>
              <a:t>신청정보</a:t>
            </a:r>
            <a:r>
              <a:rPr lang="en-US" altLang="ko-KR" sz="800" dirty="0" smtClean="0"/>
              <a:t>, </a:t>
            </a:r>
            <a:r>
              <a:rPr lang="ko-KR" altLang="en-US" sz="800" dirty="0" smtClean="0"/>
              <a:t>세부 </a:t>
            </a:r>
            <a:r>
              <a:rPr lang="ko-KR" altLang="en-US" sz="800" dirty="0" err="1" smtClean="0"/>
              <a:t>신청내역</a:t>
            </a:r>
            <a:r>
              <a:rPr lang="en-US" altLang="ko-KR" sz="800" dirty="0" smtClean="0"/>
              <a:t>, </a:t>
            </a:r>
            <a:r>
              <a:rPr lang="ko-KR" altLang="en-US" sz="800" dirty="0" smtClean="0"/>
              <a:t>진행상태 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&gt; </a:t>
            </a:r>
            <a:r>
              <a:rPr lang="ko-KR" altLang="en-US" sz="800" dirty="0"/>
              <a:t>로그인 필요 서비스 안내 표시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/>
              <a:t>화면을 </a:t>
            </a:r>
            <a:r>
              <a:rPr lang="ko-KR" altLang="en-US" sz="800" dirty="0" err="1"/>
              <a:t>넘치는경우</a:t>
            </a:r>
            <a:r>
              <a:rPr lang="ko-KR" altLang="en-US" sz="800" dirty="0"/>
              <a:t> 드래그하여 확인</a:t>
            </a:r>
            <a:r>
              <a:rPr lang="en-US" altLang="ko-KR" sz="800" dirty="0"/>
              <a:t>(</a:t>
            </a:r>
            <a:r>
              <a:rPr lang="ko-KR" altLang="en-US" sz="800" dirty="0" err="1"/>
              <a:t>스와이프기능</a:t>
            </a:r>
            <a:r>
              <a:rPr lang="ko-KR" altLang="en-US" sz="800" dirty="0"/>
              <a:t> 반영 필요</a:t>
            </a:r>
            <a:r>
              <a:rPr lang="en-US" altLang="ko-KR" sz="800" dirty="0"/>
              <a:t>)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sz="800" dirty="0" smtClean="0"/>
              <a:t>신청 </a:t>
            </a:r>
            <a:r>
              <a:rPr lang="ko-KR" altLang="en-US" sz="800" dirty="0"/>
              <a:t>정보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/>
              <a:t>각 공고에 맞춰 폼 변화에 유의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 err="1"/>
              <a:t>상세내용에</a:t>
            </a:r>
            <a:r>
              <a:rPr lang="ko-KR" altLang="en-US" sz="800" dirty="0"/>
              <a:t> 포함된 정보 표시</a:t>
            </a:r>
            <a:endParaRPr lang="en-US" altLang="ko-KR" sz="800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sz="800" dirty="0"/>
              <a:t>기본값은 상단 이동 버튼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ko-KR" altLang="en-US" sz="800" dirty="0"/>
              <a:t>현 상세내용 탭에서는 </a:t>
            </a:r>
            <a:endParaRPr lang="en-US" altLang="ko-KR" sz="800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선금신청서</a:t>
            </a:r>
            <a:r>
              <a:rPr lang="ko-KR" altLang="en-US" dirty="0">
                <a:latin typeface="+mn-ea"/>
              </a:rPr>
              <a:t> 상세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대금</a:t>
            </a:r>
            <a:r>
              <a:rPr lang="en-US" altLang="ko-KR" dirty="0"/>
              <a:t>/</a:t>
            </a:r>
            <a:r>
              <a:rPr lang="ko-KR" altLang="en-US" dirty="0"/>
              <a:t>사후 상세 </a:t>
            </a:r>
            <a:r>
              <a:rPr lang="en-US" altLang="ko-KR" dirty="0"/>
              <a:t>- </a:t>
            </a:r>
            <a:r>
              <a:rPr lang="ko-KR" altLang="en-US" dirty="0" err="1"/>
              <a:t>선금신청서</a:t>
            </a:r>
            <a:r>
              <a:rPr lang="ko-KR" altLang="en-US" dirty="0"/>
              <a:t> 상세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선금신청서</a:t>
            </a:r>
            <a:r>
              <a:rPr lang="ko-KR" altLang="en-US" dirty="0">
                <a:latin typeface="+mn-ea"/>
              </a:rPr>
              <a:t> 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MUI-WM-01-M02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err="1">
                <a:latin typeface="+mn-ea"/>
              </a:rPr>
              <a:t>대금청구</a:t>
            </a:r>
            <a:r>
              <a:rPr lang="ko-KR" altLang="en-US" sz="800" dirty="0">
                <a:latin typeface="+mn-ea"/>
              </a:rPr>
              <a:t> </a:t>
            </a:r>
            <a:r>
              <a:rPr lang="ko-KR" altLang="en-US" sz="800" dirty="0" err="1">
                <a:latin typeface="+mn-ea"/>
              </a:rPr>
              <a:t>상세조회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81461" y="2462389"/>
            <a:ext cx="247325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 err="1"/>
              <a:t>계약번호</a:t>
            </a:r>
            <a:r>
              <a:rPr lang="ko-KR" altLang="en-US" sz="700" dirty="0"/>
              <a:t> </a:t>
            </a:r>
            <a:r>
              <a:rPr lang="en-US" altLang="ko-KR" sz="700" dirty="0"/>
              <a:t>2025000000 - 01</a:t>
            </a:r>
          </a:p>
          <a:p>
            <a:r>
              <a:rPr lang="ko-KR" altLang="en-US" sz="900" b="1" dirty="0"/>
              <a:t>물품구매</a:t>
            </a:r>
          </a:p>
        </p:txBody>
      </p:sp>
      <p:sp>
        <p:nvSpPr>
          <p:cNvPr id="56" name="TextBox 59">
            <a:extLst>
              <a:ext uri="{FF2B5EF4-FFF2-40B4-BE49-F238E27FC236}">
                <a16:creationId xmlns:a16="http://schemas.microsoft.com/office/drawing/2014/main" id="{F77C802D-3BC8-270F-87FC-5F442BD8054D}"/>
              </a:ext>
            </a:extLst>
          </p:cNvPr>
          <p:cNvSpPr txBox="1"/>
          <p:nvPr/>
        </p:nvSpPr>
        <p:spPr>
          <a:xfrm>
            <a:off x="781461" y="2797454"/>
            <a:ext cx="307777" cy="39767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sz="600" dirty="0" err="1">
                <a:latin typeface="+mn-ea"/>
              </a:rPr>
              <a:t>계약일자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발주기관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계약금액</a:t>
            </a:r>
            <a:endParaRPr lang="en-US" altLang="ko-KR" sz="600" dirty="0">
              <a:latin typeface="+mn-ea"/>
            </a:endParaRPr>
          </a:p>
        </p:txBody>
      </p:sp>
      <p:sp>
        <p:nvSpPr>
          <p:cNvPr id="57" name="TextBox 60">
            <a:extLst>
              <a:ext uri="{FF2B5EF4-FFF2-40B4-BE49-F238E27FC236}">
                <a16:creationId xmlns:a16="http://schemas.microsoft.com/office/drawing/2014/main" id="{8F5E3227-69E6-C89F-B8C5-534226E95EA8}"/>
              </a:ext>
            </a:extLst>
          </p:cNvPr>
          <p:cNvSpPr txBox="1"/>
          <p:nvPr/>
        </p:nvSpPr>
        <p:spPr>
          <a:xfrm>
            <a:off x="2596303" y="2782065"/>
            <a:ext cx="472886" cy="39767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2026-02-10</a:t>
            </a:r>
          </a:p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제</a:t>
            </a:r>
            <a:r>
              <a:rPr lang="en-US" altLang="ko-KR" sz="600" dirty="0">
                <a:latin typeface="+mn-ea"/>
              </a:rPr>
              <a:t>8385</a:t>
            </a:r>
            <a:r>
              <a:rPr lang="ko-KR" altLang="en-US" sz="600" dirty="0">
                <a:latin typeface="+mn-ea"/>
              </a:rPr>
              <a:t>부대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11,616,000 </a:t>
            </a:r>
            <a:r>
              <a:rPr lang="ko-KR" altLang="en-US" sz="600" dirty="0">
                <a:latin typeface="+mn-ea"/>
              </a:rPr>
              <a:t>원</a:t>
            </a:r>
            <a:endParaRPr lang="en-US" altLang="ko-KR" sz="600" dirty="0">
              <a:latin typeface="+mn-ea"/>
            </a:endParaRPr>
          </a:p>
        </p:txBody>
      </p:sp>
      <p:sp>
        <p:nvSpPr>
          <p:cNvPr id="67" name="모서리가 둥근 직사각형 66"/>
          <p:cNvSpPr/>
          <p:nvPr/>
        </p:nvSpPr>
        <p:spPr>
          <a:xfrm>
            <a:off x="781461" y="227805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물품</a:t>
            </a:r>
          </a:p>
        </p:txBody>
      </p:sp>
      <p:sp>
        <p:nvSpPr>
          <p:cNvPr id="68" name="모서리가 둥근 직사각형 67"/>
          <p:cNvSpPr/>
          <p:nvPr/>
        </p:nvSpPr>
        <p:spPr>
          <a:xfrm>
            <a:off x="1075655" y="2278058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수의계약</a:t>
            </a:r>
          </a:p>
        </p:txBody>
      </p: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66319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00442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3696944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smtClean="0">
                <a:latin typeface="+mn-ea"/>
              </a:rPr>
              <a:t>업무도움</a:t>
            </a:r>
            <a:endParaRPr lang="ko-KR" altLang="en-US" sz="700" dirty="0">
              <a:latin typeface="+mn-ea"/>
            </a:endParaRPr>
          </a:p>
        </p:txBody>
      </p:sp>
      <p:sp>
        <p:nvSpPr>
          <p:cNvPr id="129" name="타원 128"/>
          <p:cNvSpPr/>
          <p:nvPr/>
        </p:nvSpPr>
        <p:spPr>
          <a:xfrm>
            <a:off x="783686" y="3728289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0" name="그룹 129"/>
          <p:cNvGrpSpPr/>
          <p:nvPr/>
        </p:nvGrpSpPr>
        <p:grpSpPr>
          <a:xfrm>
            <a:off x="3143548" y="3810275"/>
            <a:ext cx="94010" cy="47005"/>
            <a:chOff x="6812560" y="3297172"/>
            <a:chExt cx="94010" cy="47005"/>
          </a:xfrm>
        </p:grpSpPr>
        <p:cxnSp>
          <p:nvCxnSpPr>
            <p:cNvPr id="131" name="직선 연결선 13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2" name="직선 연결선 13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35884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4142235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545" y="4142235"/>
            <a:ext cx="58899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세부 </a:t>
            </a:r>
            <a:r>
              <a:rPr lang="ko-KR" altLang="en-US" sz="700" dirty="0" err="1">
                <a:latin typeface="+mn-ea"/>
              </a:rPr>
              <a:t>신청내역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358842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" name="그룹 6"/>
          <p:cNvGrpSpPr/>
          <p:nvPr/>
        </p:nvGrpSpPr>
        <p:grpSpPr>
          <a:xfrm>
            <a:off x="2924086" y="4104112"/>
            <a:ext cx="422853" cy="187961"/>
            <a:chOff x="3641308" y="2234886"/>
            <a:chExt cx="422853" cy="187961"/>
          </a:xfrm>
        </p:grpSpPr>
        <p:sp>
          <p:nvSpPr>
            <p:cNvPr id="88" name="타원 87"/>
            <p:cNvSpPr/>
            <p:nvPr/>
          </p:nvSpPr>
          <p:spPr>
            <a:xfrm flipH="1">
              <a:off x="3641308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3" name="그룹 92"/>
            <p:cNvGrpSpPr/>
            <p:nvPr/>
          </p:nvGrpSpPr>
          <p:grpSpPr>
            <a:xfrm rot="5400000" flipH="1">
              <a:off x="3679895" y="2305364"/>
              <a:ext cx="94010" cy="47005"/>
              <a:chOff x="6812560" y="3297172"/>
              <a:chExt cx="94010" cy="47005"/>
            </a:xfrm>
          </p:grpSpPr>
          <p:cxnSp>
            <p:nvCxnSpPr>
              <p:cNvPr id="94" name="직선 연결선 9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직선 연결선 9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7" name="타원 96"/>
            <p:cNvSpPr/>
            <p:nvPr/>
          </p:nvSpPr>
          <p:spPr>
            <a:xfrm>
              <a:off x="3876200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8" name="그룹 97"/>
            <p:cNvGrpSpPr/>
            <p:nvPr/>
          </p:nvGrpSpPr>
          <p:grpSpPr>
            <a:xfrm rot="16200000">
              <a:off x="3931564" y="2305364"/>
              <a:ext cx="94010" cy="47005"/>
              <a:chOff x="6812560" y="3297172"/>
              <a:chExt cx="94010" cy="47005"/>
            </a:xfrm>
          </p:grpSpPr>
          <p:cxnSp>
            <p:nvCxnSpPr>
              <p:cNvPr id="99" name="직선 연결선 9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직선 연결선 9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8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3884993" y="1786672"/>
            <a:ext cx="247325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 err="1"/>
              <a:t>계약번호</a:t>
            </a:r>
            <a:r>
              <a:rPr lang="ko-KR" altLang="en-US" sz="700" dirty="0"/>
              <a:t> </a:t>
            </a:r>
            <a:r>
              <a:rPr lang="en-US" altLang="ko-KR" sz="700" dirty="0"/>
              <a:t>2025000000 - 01</a:t>
            </a:r>
          </a:p>
          <a:p>
            <a:r>
              <a:rPr lang="ko-KR" altLang="en-US" sz="900" b="1" dirty="0"/>
              <a:t>물품구매</a:t>
            </a:r>
          </a:p>
        </p:txBody>
      </p:sp>
      <p:sp>
        <p:nvSpPr>
          <p:cNvPr id="191" name="모서리가 둥근 직사각형 190"/>
          <p:cNvSpPr/>
          <p:nvPr/>
        </p:nvSpPr>
        <p:spPr>
          <a:xfrm>
            <a:off x="3884993" y="1602341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물품</a:t>
            </a:r>
          </a:p>
        </p:txBody>
      </p:sp>
      <p:sp>
        <p:nvSpPr>
          <p:cNvPr id="192" name="모서리가 둥근 직사각형 191"/>
          <p:cNvSpPr/>
          <p:nvPr/>
        </p:nvSpPr>
        <p:spPr>
          <a:xfrm>
            <a:off x="4179187" y="1602341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수의계약</a:t>
            </a:r>
          </a:p>
        </p:txBody>
      </p:sp>
      <p:cxnSp>
        <p:nvCxnSpPr>
          <p:cNvPr id="193" name="직선 연결선 19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211123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3" name="직선 연결선 20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4022" y="246721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04" name="TextBox 20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67701" y="2250612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2077" y="2250612"/>
            <a:ext cx="590461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세부 </a:t>
            </a:r>
            <a:r>
              <a:rPr lang="ko-KR" altLang="en-US" sz="700" dirty="0" err="1">
                <a:latin typeface="+mn-ea"/>
              </a:rPr>
              <a:t>신청내역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208" name="직선 연결선 20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4022" y="2467219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09" name="그룹 208"/>
          <p:cNvGrpSpPr/>
          <p:nvPr/>
        </p:nvGrpSpPr>
        <p:grpSpPr>
          <a:xfrm>
            <a:off x="6027618" y="2212489"/>
            <a:ext cx="422853" cy="187961"/>
            <a:chOff x="3641308" y="2234886"/>
            <a:chExt cx="422853" cy="187961"/>
          </a:xfrm>
        </p:grpSpPr>
        <p:sp>
          <p:nvSpPr>
            <p:cNvPr id="210" name="타원 209"/>
            <p:cNvSpPr/>
            <p:nvPr/>
          </p:nvSpPr>
          <p:spPr>
            <a:xfrm flipH="1">
              <a:off x="3641308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11" name="그룹 210"/>
            <p:cNvGrpSpPr/>
            <p:nvPr/>
          </p:nvGrpSpPr>
          <p:grpSpPr>
            <a:xfrm rot="5400000" flipH="1">
              <a:off x="3679895" y="2305364"/>
              <a:ext cx="94010" cy="47005"/>
              <a:chOff x="6812560" y="3297172"/>
              <a:chExt cx="94010" cy="47005"/>
            </a:xfrm>
          </p:grpSpPr>
          <p:cxnSp>
            <p:nvCxnSpPr>
              <p:cNvPr id="216" name="직선 연결선 215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7" name="직선 연결선 216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12" name="타원 211"/>
            <p:cNvSpPr/>
            <p:nvPr/>
          </p:nvSpPr>
          <p:spPr>
            <a:xfrm>
              <a:off x="3876200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13" name="그룹 212"/>
            <p:cNvGrpSpPr/>
            <p:nvPr/>
          </p:nvGrpSpPr>
          <p:grpSpPr>
            <a:xfrm rot="16200000">
              <a:off x="3931564" y="2305364"/>
              <a:ext cx="94010" cy="47005"/>
              <a:chOff x="6812560" y="3297172"/>
              <a:chExt cx="94010" cy="47005"/>
            </a:xfrm>
          </p:grpSpPr>
          <p:cxnSp>
            <p:nvCxnSpPr>
              <p:cNvPr id="214" name="직선 연결선 21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5" name="직선 연결선 21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94" name="타원 29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715370" y="504490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  <p:cxnSp>
        <p:nvCxnSpPr>
          <p:cNvPr id="295" name="직선 연결선 29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30551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1" name="모서리가 둥근 직사각형 250"/>
          <p:cNvSpPr/>
          <p:nvPr/>
        </p:nvSpPr>
        <p:spPr>
          <a:xfrm>
            <a:off x="1516736" y="2278058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선금신청</a:t>
            </a:r>
            <a:endParaRPr lang="ko-KR" altLang="en-US" sz="600" dirty="0"/>
          </a:p>
        </p:txBody>
      </p:sp>
      <p:grpSp>
        <p:nvGrpSpPr>
          <p:cNvPr id="9" name="그룹 8"/>
          <p:cNvGrpSpPr/>
          <p:nvPr/>
        </p:nvGrpSpPr>
        <p:grpSpPr>
          <a:xfrm>
            <a:off x="3796091" y="4161857"/>
            <a:ext cx="2712027" cy="830059"/>
            <a:chOff x="3796091" y="4161857"/>
            <a:chExt cx="2712027" cy="830059"/>
          </a:xfrm>
        </p:grpSpPr>
        <p:cxnSp>
          <p:nvCxnSpPr>
            <p:cNvPr id="302" name="직선 연결선 30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6091" y="416185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03" name="TextBox 30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02153" y="4193387"/>
              <a:ext cx="84376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공급자 정보</a:t>
              </a:r>
            </a:p>
          </p:txBody>
        </p:sp>
        <p:grpSp>
          <p:nvGrpSpPr>
            <p:cNvPr id="304" name="그룹 303"/>
            <p:cNvGrpSpPr/>
            <p:nvPr/>
          </p:nvGrpSpPr>
          <p:grpSpPr>
            <a:xfrm flipV="1">
              <a:off x="6264240" y="4306718"/>
              <a:ext cx="94010" cy="47005"/>
              <a:chOff x="6812560" y="3297172"/>
              <a:chExt cx="94010" cy="47005"/>
            </a:xfrm>
          </p:grpSpPr>
          <p:cxnSp>
            <p:nvCxnSpPr>
              <p:cNvPr id="305" name="직선 연결선 30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6" name="직선 연결선 30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07" name="TextBox 30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63885" y="4524104"/>
              <a:ext cx="493904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6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작성자명</a:t>
              </a:r>
              <a:r>
                <a:rPr lang="en-US" altLang="ko-KR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/</a:t>
              </a:r>
              <a:r>
                <a:rPr lang="ko-KR" altLang="en-US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직책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309" name="TextBox 30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159018" y="4524104"/>
              <a:ext cx="493904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휴대폰번호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311" name="모서리가 둥근 직사각형 310"/>
            <p:cNvSpPr/>
            <p:nvPr/>
          </p:nvSpPr>
          <p:spPr>
            <a:xfrm>
              <a:off x="3831550" y="4647106"/>
              <a:ext cx="2652743" cy="344810"/>
            </a:xfrm>
            <a:prstGeom prst="roundRect">
              <a:avLst>
                <a:gd name="adj" fmla="val 9062"/>
              </a:avLst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2" name="TextBox 31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63885" y="4765650"/>
              <a:ext cx="49390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홍길동 대리</a:t>
              </a:r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159018" y="4765650"/>
              <a:ext cx="64751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010-1234-5678</a:t>
              </a:r>
            </a:p>
          </p:txBody>
        </p:sp>
      </p:grpSp>
      <p:sp>
        <p:nvSpPr>
          <p:cNvPr id="337" name="모서리가 둥근 직사각형 336"/>
          <p:cNvSpPr/>
          <p:nvPr/>
        </p:nvSpPr>
        <p:spPr>
          <a:xfrm>
            <a:off x="781461" y="1944348"/>
            <a:ext cx="243478" cy="119400"/>
          </a:xfrm>
          <a:prstGeom prst="roundRect">
            <a:avLst>
              <a:gd name="adj" fmla="val 23409"/>
            </a:avLst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>
                <a:solidFill>
                  <a:srgbClr val="FF0000"/>
                </a:solidFill>
              </a:rPr>
              <a:t>중요</a:t>
            </a:r>
            <a:endParaRPr lang="ko-KR" altLang="en-US" sz="600" dirty="0">
              <a:solidFill>
                <a:srgbClr val="FF0000"/>
              </a:solidFill>
            </a:endParaRPr>
          </a:p>
        </p:txBody>
      </p:sp>
      <p:sp>
        <p:nvSpPr>
          <p:cNvPr id="338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1082843" y="1950187"/>
            <a:ext cx="220200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700" dirty="0">
                <a:solidFill>
                  <a:prstClr val="black"/>
                </a:solidFill>
              </a:rPr>
              <a:t>대금 신청</a:t>
            </a:r>
            <a:r>
              <a:rPr lang="en-US" altLang="ko-KR" sz="700" dirty="0">
                <a:solidFill>
                  <a:prstClr val="black"/>
                </a:solidFill>
              </a:rPr>
              <a:t>, </a:t>
            </a:r>
            <a:r>
              <a:rPr lang="ko-KR" altLang="en-US" sz="700" dirty="0">
                <a:solidFill>
                  <a:prstClr val="black"/>
                </a:solidFill>
              </a:rPr>
              <a:t>청구는 </a:t>
            </a:r>
            <a:r>
              <a:rPr lang="en-US" altLang="ko-KR" sz="700" dirty="0">
                <a:solidFill>
                  <a:prstClr val="black"/>
                </a:solidFill>
              </a:rPr>
              <a:t>PC </a:t>
            </a:r>
            <a:r>
              <a:rPr lang="ko-KR" altLang="en-US" sz="700" dirty="0">
                <a:solidFill>
                  <a:prstClr val="black"/>
                </a:solidFill>
              </a:rPr>
              <a:t>버전에서 가능합니다</a:t>
            </a:r>
            <a:r>
              <a:rPr lang="en-US" altLang="ko-KR" sz="700" dirty="0">
                <a:solidFill>
                  <a:prstClr val="black"/>
                </a:solidFill>
              </a:rPr>
              <a:t>.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cxnSp>
        <p:nvCxnSpPr>
          <p:cNvPr id="340" name="직선 연결선 33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15091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모서리가 둥근 직사각형 155"/>
          <p:cNvSpPr/>
          <p:nvPr/>
        </p:nvSpPr>
        <p:spPr>
          <a:xfrm>
            <a:off x="4626322" y="1602341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선금신청</a:t>
            </a:r>
            <a:endParaRPr lang="ko-KR" altLang="en-US" sz="600" dirty="0"/>
          </a:p>
        </p:txBody>
      </p:sp>
      <p:grpSp>
        <p:nvGrpSpPr>
          <p:cNvPr id="6" name="그룹 5"/>
          <p:cNvGrpSpPr/>
          <p:nvPr/>
        </p:nvGrpSpPr>
        <p:grpSpPr>
          <a:xfrm>
            <a:off x="3836701" y="2540391"/>
            <a:ext cx="2630093" cy="1551225"/>
            <a:chOff x="3836701" y="2575831"/>
            <a:chExt cx="2630093" cy="1551225"/>
          </a:xfrm>
        </p:grpSpPr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7672" y="2575831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계약내용</a:t>
              </a:r>
            </a:p>
          </p:txBody>
        </p:sp>
        <p:sp>
          <p:nvSpPr>
            <p:cNvPr id="253" name="직사각형 252"/>
            <p:cNvSpPr/>
            <p:nvPr/>
          </p:nvSpPr>
          <p:spPr>
            <a:xfrm>
              <a:off x="3838794" y="2827415"/>
              <a:ext cx="792000" cy="129964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55" name="직선 연결선 25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1" y="2827416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2827416"/>
              <a:ext cx="670770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납기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비고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82706" y="2827416"/>
              <a:ext cx="1775839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2025-11-23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20257135021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배추김치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2026-01-01 ~ 2026-12~31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</p:txBody>
        </p:sp>
        <p:cxnSp>
          <p:nvCxnSpPr>
            <p:cNvPr id="262" name="직선 연결선 2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0585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3" name="직선 연결선 2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27222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4" name="직선 연결선 2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4859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5" name="직선 연결선 2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69964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6" name="직선 연결선 2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91334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8" name="직선 연결선 2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12705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59" name="그룹 158"/>
            <p:cNvGrpSpPr/>
            <p:nvPr/>
          </p:nvGrpSpPr>
          <p:grpSpPr>
            <a:xfrm flipV="1">
              <a:off x="6259759" y="2635184"/>
              <a:ext cx="94010" cy="47005"/>
              <a:chOff x="6812560" y="3297172"/>
              <a:chExt cx="94010" cy="47005"/>
            </a:xfrm>
          </p:grpSpPr>
          <p:cxnSp>
            <p:nvCxnSpPr>
              <p:cNvPr id="160" name="직선 연결선 15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" name="직선 연결선 16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8" name="그룹 7"/>
          <p:cNvGrpSpPr/>
          <p:nvPr/>
        </p:nvGrpSpPr>
        <p:grpSpPr>
          <a:xfrm>
            <a:off x="720490" y="4465173"/>
            <a:ext cx="2630093" cy="1600147"/>
            <a:chOff x="720490" y="4465173"/>
            <a:chExt cx="2630093" cy="1600147"/>
          </a:xfrm>
        </p:grpSpPr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07" name="그룹 106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108" name="직선 연결선 10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9" name="직선 연결선 10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" name="직사각형 15"/>
            <p:cNvSpPr/>
            <p:nvPr/>
          </p:nvSpPr>
          <p:spPr>
            <a:xfrm>
              <a:off x="722583" y="4772658"/>
              <a:ext cx="792000" cy="12808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670770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차수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수신자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지출원인금액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2025 0000 00 - 01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방위사업청</a:t>
              </a:r>
              <a:r>
                <a:rPr lang="ko-KR" altLang="en-US" sz="700" dirty="0">
                  <a:latin typeface="+mn-ea"/>
                </a:rPr>
                <a:t> 계약관리본부 재무관 귀하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2026-01-30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\ </a:t>
              </a:r>
              <a:r>
                <a:rPr lang="ko-KR" altLang="en-US" sz="700" dirty="0">
                  <a:latin typeface="+mn-ea"/>
                </a:rPr>
                <a:t>일백만 원정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15" name="직선 연결선 1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6" name="직선 연결선 11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7" name="직선 연결선 11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0" name="직선 연결선 16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1" name="직선 연결선 17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397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534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grpSp>
        <p:nvGrpSpPr>
          <p:cNvPr id="5" name="그룹 4"/>
          <p:cNvGrpSpPr/>
          <p:nvPr/>
        </p:nvGrpSpPr>
        <p:grpSpPr>
          <a:xfrm>
            <a:off x="747925" y="3401909"/>
            <a:ext cx="2599014" cy="187961"/>
            <a:chOff x="747925" y="3393200"/>
            <a:chExt cx="2599014" cy="187961"/>
          </a:xfrm>
        </p:grpSpPr>
        <p:grpSp>
          <p:nvGrpSpPr>
            <p:cNvPr id="151" name="그룹 150"/>
            <p:cNvGrpSpPr/>
            <p:nvPr/>
          </p:nvGrpSpPr>
          <p:grpSpPr>
            <a:xfrm rot="16200000">
              <a:off x="1250697" y="3463679"/>
              <a:ext cx="94010" cy="47005"/>
              <a:chOff x="6812560" y="3297172"/>
              <a:chExt cx="94010" cy="47005"/>
            </a:xfrm>
          </p:grpSpPr>
          <p:cxnSp>
            <p:nvCxnSpPr>
              <p:cNvPr id="152" name="직선 연결선 15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3" name="직선 연결선 15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604170" y="3433319"/>
              <a:ext cx="40086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계약</a:t>
              </a:r>
            </a:p>
          </p:txBody>
        </p:sp>
        <p:sp>
          <p:nvSpPr>
            <p:cNvPr id="155" name="타원 154"/>
            <p:cNvSpPr/>
            <p:nvPr/>
          </p:nvSpPr>
          <p:spPr>
            <a:xfrm>
              <a:off x="1404035" y="3393200"/>
              <a:ext cx="187961" cy="18796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459092" y="3433319"/>
              <a:ext cx="7784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latin typeface="+mn-ea"/>
                </a:rPr>
                <a:t>3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58" name="그룹 157"/>
            <p:cNvGrpSpPr/>
            <p:nvPr/>
          </p:nvGrpSpPr>
          <p:grpSpPr>
            <a:xfrm rot="16200000">
              <a:off x="1906808" y="3463679"/>
              <a:ext cx="94010" cy="47005"/>
              <a:chOff x="6812560" y="3297172"/>
              <a:chExt cx="94010" cy="47005"/>
            </a:xfrm>
          </p:grpSpPr>
          <p:cxnSp>
            <p:nvCxnSpPr>
              <p:cNvPr id="162" name="직선 연결선 16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3" name="직선 연결선 16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64" name="그룹 163"/>
            <p:cNvGrpSpPr/>
            <p:nvPr/>
          </p:nvGrpSpPr>
          <p:grpSpPr>
            <a:xfrm rot="16200000">
              <a:off x="2562920" y="3463679"/>
              <a:ext cx="94010" cy="47005"/>
              <a:chOff x="6812560" y="3297172"/>
              <a:chExt cx="94010" cy="47005"/>
            </a:xfrm>
          </p:grpSpPr>
          <p:cxnSp>
            <p:nvCxnSpPr>
              <p:cNvPr id="165" name="직선 연결선 16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6" name="직선 연결선 16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7" name="타원 166"/>
            <p:cNvSpPr/>
            <p:nvPr/>
          </p:nvSpPr>
          <p:spPr>
            <a:xfrm>
              <a:off x="747925" y="3393200"/>
              <a:ext cx="187961" cy="18796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2982" y="3433319"/>
              <a:ext cx="7784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latin typeface="+mn-ea"/>
                </a:rPr>
                <a:t>2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51350" y="3433319"/>
              <a:ext cx="397576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입찰</a:t>
              </a:r>
            </a:p>
          </p:txBody>
        </p:sp>
        <p:sp>
          <p:nvSpPr>
            <p:cNvPr id="173" name="타원 172"/>
            <p:cNvSpPr/>
            <p:nvPr/>
          </p:nvSpPr>
          <p:spPr>
            <a:xfrm>
              <a:off x="2058749" y="3393200"/>
              <a:ext cx="187961" cy="18796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113806" y="3433319"/>
              <a:ext cx="7784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latin typeface="+mn-ea"/>
                </a:rPr>
                <a:t>4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263899" y="3433319"/>
              <a:ext cx="39864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이행</a:t>
              </a:r>
            </a:p>
          </p:txBody>
        </p:sp>
        <p:sp>
          <p:nvSpPr>
            <p:cNvPr id="177" name="타원 176"/>
            <p:cNvSpPr/>
            <p:nvPr/>
          </p:nvSpPr>
          <p:spPr>
            <a:xfrm>
              <a:off x="2714860" y="3393200"/>
              <a:ext cx="187961" cy="187961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769917" y="3433319"/>
              <a:ext cx="7784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solidFill>
                    <a:schemeClr val="bg1"/>
                  </a:solidFill>
                  <a:latin typeface="+mn-ea"/>
                </a:rPr>
                <a:t>5</a:t>
              </a:r>
              <a:endParaRPr lang="ko-KR" altLang="en-US" sz="7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920010" y="3433319"/>
              <a:ext cx="39864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대금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사후</a:t>
              </a:r>
            </a:p>
          </p:txBody>
        </p:sp>
        <p:grpSp>
          <p:nvGrpSpPr>
            <p:cNvPr id="180" name="그룹 179"/>
            <p:cNvGrpSpPr/>
            <p:nvPr/>
          </p:nvGrpSpPr>
          <p:grpSpPr>
            <a:xfrm rot="5400000">
              <a:off x="3158978" y="3393200"/>
              <a:ext cx="187961" cy="187961"/>
              <a:chOff x="3876200" y="2234886"/>
              <a:chExt cx="187961" cy="187961"/>
            </a:xfrm>
          </p:grpSpPr>
          <p:sp>
            <p:nvSpPr>
              <p:cNvPr id="181" name="타원 180"/>
              <p:cNvSpPr/>
              <p:nvPr/>
            </p:nvSpPr>
            <p:spPr>
              <a:xfrm>
                <a:off x="3876200" y="2234886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85" name="그룹 184"/>
              <p:cNvGrpSpPr/>
              <p:nvPr/>
            </p:nvGrpSpPr>
            <p:grpSpPr>
              <a:xfrm rot="16200000">
                <a:off x="3931564" y="2305364"/>
                <a:ext cx="94010" cy="47005"/>
                <a:chOff x="6812560" y="3297172"/>
                <a:chExt cx="94010" cy="47005"/>
              </a:xfrm>
            </p:grpSpPr>
            <p:cxnSp>
              <p:nvCxnSpPr>
                <p:cNvPr id="187" name="직선 연결선 186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직선 연결선 205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182" name="직사각형 181"/>
          <p:cNvSpPr/>
          <p:nvPr/>
        </p:nvSpPr>
        <p:spPr>
          <a:xfrm>
            <a:off x="7053988" y="5956663"/>
            <a:ext cx="2349581" cy="259128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500" dirty="0" smtClean="0">
                <a:solidFill>
                  <a:schemeClr val="bg1"/>
                </a:solidFill>
              </a:rPr>
              <a:t>0701]</a:t>
            </a:r>
          </a:p>
          <a:p>
            <a:r>
              <a:rPr lang="ko-KR" altLang="en-US" sz="500" dirty="0" smtClean="0">
                <a:solidFill>
                  <a:schemeClr val="bg1"/>
                </a:solidFill>
              </a:rPr>
              <a:t>일금 누락</a:t>
            </a:r>
            <a:endParaRPr lang="en-US" altLang="ko-KR" sz="500" dirty="0" smtClean="0">
              <a:solidFill>
                <a:schemeClr val="bg1"/>
              </a:solidFill>
            </a:endParaRPr>
          </a:p>
        </p:txBody>
      </p:sp>
      <p:sp>
        <p:nvSpPr>
          <p:cNvPr id="200" name="타원 19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688" y="204634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1</a:t>
            </a:r>
            <a:endParaRPr lang="ko-KR" altLang="en-US" sz="900" b="1" dirty="0"/>
          </a:p>
        </p:txBody>
      </p:sp>
      <p:sp>
        <p:nvSpPr>
          <p:cNvPr id="201" name="타원 2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72828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sp>
        <p:nvSpPr>
          <p:cNvPr id="202" name="타원 20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10603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sp>
        <p:nvSpPr>
          <p:cNvPr id="207" name="타원 20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49583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  <p:sp>
        <p:nvSpPr>
          <p:cNvPr id="218" name="타원 21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96143" y="223285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 b="1" dirty="0" smtClean="0"/>
              <a:t>1-1</a:t>
            </a:r>
            <a:endParaRPr lang="ko-KR" altLang="en-US" sz="600" b="1" dirty="0"/>
          </a:p>
        </p:txBody>
      </p:sp>
      <p:sp>
        <p:nvSpPr>
          <p:cNvPr id="219" name="타원 21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1758181" y="237965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 b="1" dirty="0" smtClean="0"/>
              <a:t>1-2</a:t>
            </a:r>
            <a:endParaRPr lang="ko-KR" altLang="en-US" sz="600" b="1" dirty="0"/>
          </a:p>
        </p:txBody>
      </p:sp>
      <p:sp>
        <p:nvSpPr>
          <p:cNvPr id="220" name="타원 21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95669" y="260009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 b="1" dirty="0" smtClean="0"/>
              <a:t>1-3</a:t>
            </a:r>
            <a:endParaRPr lang="ko-KR" altLang="en-US" sz="600" b="1" dirty="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801660" y="4142235"/>
            <a:ext cx="58899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 smtClean="0">
                <a:latin typeface="+mn-ea"/>
              </a:rPr>
              <a:t>지급상태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918716" y="2249927"/>
            <a:ext cx="58899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 smtClean="0">
                <a:latin typeface="+mn-ea"/>
              </a:rPr>
              <a:t>지급상태</a:t>
            </a:r>
            <a:endParaRPr lang="ko-KR" altLang="en-US" sz="7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5824641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선금신청서</a:t>
            </a:r>
            <a:r>
              <a:rPr lang="ko-KR" altLang="en-US" dirty="0"/>
              <a:t> 차수 데이터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>신청금액 데이터 영역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계약내용 데이터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공급자 정보 데이터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선금신청서</a:t>
            </a:r>
            <a:r>
              <a:rPr lang="ko-KR" altLang="en-US" dirty="0">
                <a:latin typeface="+mn-ea"/>
              </a:rPr>
              <a:t> 상세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신청정보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대금</a:t>
            </a:r>
            <a:r>
              <a:rPr lang="en-US" altLang="ko-KR" dirty="0"/>
              <a:t>/</a:t>
            </a:r>
            <a:r>
              <a:rPr lang="ko-KR" altLang="en-US" dirty="0"/>
              <a:t>사후 상세 </a:t>
            </a:r>
            <a:r>
              <a:rPr lang="en-US" altLang="ko-KR" dirty="0"/>
              <a:t>- </a:t>
            </a:r>
            <a:r>
              <a:rPr lang="ko-KR" altLang="en-US" dirty="0" err="1"/>
              <a:t>선금신청서</a:t>
            </a:r>
            <a:r>
              <a:rPr lang="ko-KR" altLang="en-US" dirty="0"/>
              <a:t> 상세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선금신청서</a:t>
            </a:r>
            <a:r>
              <a:rPr lang="ko-KR" altLang="en-US" dirty="0">
                <a:latin typeface="+mn-ea"/>
              </a:rPr>
              <a:t> 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MUI-WM-01-M02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grpSp>
        <p:nvGrpSpPr>
          <p:cNvPr id="99" name="그룹 98"/>
          <p:cNvGrpSpPr/>
          <p:nvPr/>
        </p:nvGrpSpPr>
        <p:grpSpPr>
          <a:xfrm>
            <a:off x="675399" y="4899940"/>
            <a:ext cx="2712027" cy="830059"/>
            <a:chOff x="3796091" y="4161857"/>
            <a:chExt cx="2712027" cy="830059"/>
          </a:xfrm>
        </p:grpSpPr>
        <p:cxnSp>
          <p:nvCxnSpPr>
            <p:cNvPr id="100" name="직선 연결선 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6091" y="416185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02153" y="4193387"/>
              <a:ext cx="84376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공급자 정보</a:t>
              </a:r>
            </a:p>
          </p:txBody>
        </p:sp>
        <p:grpSp>
          <p:nvGrpSpPr>
            <p:cNvPr id="102" name="그룹 101"/>
            <p:cNvGrpSpPr/>
            <p:nvPr/>
          </p:nvGrpSpPr>
          <p:grpSpPr>
            <a:xfrm flipV="1">
              <a:off x="6264240" y="4306718"/>
              <a:ext cx="94010" cy="47005"/>
              <a:chOff x="6812560" y="3297172"/>
              <a:chExt cx="94010" cy="47005"/>
            </a:xfrm>
          </p:grpSpPr>
          <p:cxnSp>
            <p:nvCxnSpPr>
              <p:cNvPr id="108" name="직선 연결선 10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9" name="직선 연결선 10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63885" y="4524104"/>
              <a:ext cx="493904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6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작성자명</a:t>
              </a:r>
              <a:r>
                <a:rPr lang="en-US" altLang="ko-KR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/</a:t>
              </a:r>
              <a:r>
                <a:rPr lang="ko-KR" altLang="en-US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직책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159018" y="4524104"/>
              <a:ext cx="493904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휴대폰번호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105" name="모서리가 둥근 직사각형 104"/>
            <p:cNvSpPr/>
            <p:nvPr/>
          </p:nvSpPr>
          <p:spPr>
            <a:xfrm>
              <a:off x="3831550" y="4647106"/>
              <a:ext cx="2652743" cy="344810"/>
            </a:xfrm>
            <a:prstGeom prst="roundRect">
              <a:avLst>
                <a:gd name="adj" fmla="val 9062"/>
              </a:avLst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63885" y="4765650"/>
              <a:ext cx="49390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홍길동 대리</a:t>
              </a:r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159018" y="4765650"/>
              <a:ext cx="64751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010-1234-5678</a:t>
              </a:r>
            </a:p>
          </p:txBody>
        </p:sp>
      </p:grpSp>
      <p:grpSp>
        <p:nvGrpSpPr>
          <p:cNvPr id="118" name="그룹 117"/>
          <p:cNvGrpSpPr/>
          <p:nvPr/>
        </p:nvGrpSpPr>
        <p:grpSpPr>
          <a:xfrm>
            <a:off x="716366" y="3243034"/>
            <a:ext cx="2630093" cy="1586665"/>
            <a:chOff x="3836701" y="2540391"/>
            <a:chExt cx="2630093" cy="1586665"/>
          </a:xfrm>
        </p:grpSpPr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7671" y="2540391"/>
              <a:ext cx="1391705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계약내용</a:t>
              </a:r>
            </a:p>
          </p:txBody>
        </p:sp>
        <p:sp>
          <p:nvSpPr>
            <p:cNvPr id="120" name="직사각형 119"/>
            <p:cNvSpPr/>
            <p:nvPr/>
          </p:nvSpPr>
          <p:spPr>
            <a:xfrm>
              <a:off x="3838794" y="2827415"/>
              <a:ext cx="792000" cy="129964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21" name="직선 연결선 12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1" y="2827416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2827416"/>
              <a:ext cx="670770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납기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비고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82706" y="2827416"/>
              <a:ext cx="1775839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2025-11-23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20257135021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배추김치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2026-01-01 ~ 2026-12~31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</p:txBody>
        </p:sp>
        <p:cxnSp>
          <p:nvCxnSpPr>
            <p:cNvPr id="124" name="직선 연결선 12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0585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5" name="직선 연결선 12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27222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6" name="직선 연결선 12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4859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7" name="직선 연결선 12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69964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8" name="직선 연결선 12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91334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9" name="직선 연결선 12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12705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30" name="그룹 129"/>
            <p:cNvGrpSpPr/>
            <p:nvPr/>
          </p:nvGrpSpPr>
          <p:grpSpPr>
            <a:xfrm flipV="1">
              <a:off x="6259759" y="2635184"/>
              <a:ext cx="94010" cy="47005"/>
              <a:chOff x="6812560" y="3297172"/>
              <a:chExt cx="94010" cy="47005"/>
            </a:xfrm>
          </p:grpSpPr>
          <p:cxnSp>
            <p:nvCxnSpPr>
              <p:cNvPr id="131" name="직선 연결선 13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2" name="직선 연결선 13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33" name="그룹 132"/>
          <p:cNvGrpSpPr/>
          <p:nvPr/>
        </p:nvGrpSpPr>
        <p:grpSpPr>
          <a:xfrm>
            <a:off x="716366" y="1528651"/>
            <a:ext cx="2630093" cy="1600147"/>
            <a:chOff x="720490" y="4465173"/>
            <a:chExt cx="2630093" cy="1600147"/>
          </a:xfrm>
        </p:grpSpPr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35" name="그룹 134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147" name="직선 연결선 14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" name="직선 연결선 14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36" name="직사각형 135"/>
            <p:cNvSpPr/>
            <p:nvPr/>
          </p:nvSpPr>
          <p:spPr>
            <a:xfrm>
              <a:off x="722583" y="4772658"/>
              <a:ext cx="792000" cy="12808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37" name="직선 연결선 13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670770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차수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수신자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지출원인금액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2025 0000 00 - 01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방위사업청</a:t>
              </a:r>
              <a:r>
                <a:rPr lang="ko-KR" altLang="en-US" sz="700" dirty="0">
                  <a:latin typeface="+mn-ea"/>
                </a:rPr>
                <a:t> 계약관리본부 재무관 귀하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2026-01-30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\ </a:t>
              </a:r>
              <a:r>
                <a:rPr lang="ko-KR" altLang="en-US" sz="700" dirty="0">
                  <a:latin typeface="+mn-ea"/>
                </a:rPr>
                <a:t>일백만 원정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41" name="직선 연결선 14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2" name="직선 연결선 14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3" name="직선 연결선 14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4" name="직선 연결선 1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5" name="직선 연결선 14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397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6" name="직선 연결선 14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534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20227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5" name="타원 15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31977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76" name="타원 17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96603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12548123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신청내역</a:t>
            </a:r>
            <a:r>
              <a:rPr lang="ko-KR" altLang="en-US" dirty="0"/>
              <a:t> 데이터 영역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선금신청서</a:t>
            </a:r>
            <a:r>
              <a:rPr lang="ko-KR" altLang="en-US" dirty="0">
                <a:latin typeface="+mn-ea"/>
              </a:rPr>
              <a:t> 상세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세부 </a:t>
            </a:r>
            <a:r>
              <a:rPr lang="ko-KR" altLang="en-US" dirty="0" err="1">
                <a:latin typeface="+mn-ea"/>
              </a:rPr>
              <a:t>신청내역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대금</a:t>
            </a:r>
            <a:r>
              <a:rPr lang="en-US" altLang="ko-KR" dirty="0"/>
              <a:t>/</a:t>
            </a:r>
            <a:r>
              <a:rPr lang="ko-KR" altLang="en-US" dirty="0"/>
              <a:t>사후 상세 </a:t>
            </a:r>
            <a:r>
              <a:rPr lang="en-US" altLang="ko-KR" dirty="0"/>
              <a:t>- </a:t>
            </a:r>
            <a:r>
              <a:rPr lang="ko-KR" altLang="en-US" dirty="0" err="1"/>
              <a:t>선금신청서</a:t>
            </a:r>
            <a:r>
              <a:rPr lang="ko-KR" altLang="en-US" dirty="0"/>
              <a:t> 상세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선금신청서</a:t>
            </a:r>
            <a:r>
              <a:rPr lang="ko-KR" altLang="en-US" dirty="0">
                <a:latin typeface="+mn-ea"/>
              </a:rPr>
              <a:t> 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MUI-WM-01-M02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5" name="그룹 4"/>
          <p:cNvGrpSpPr/>
          <p:nvPr/>
        </p:nvGrpSpPr>
        <p:grpSpPr>
          <a:xfrm>
            <a:off x="803364" y="1527996"/>
            <a:ext cx="2456097" cy="181140"/>
            <a:chOff x="763157" y="1527996"/>
            <a:chExt cx="2456097" cy="181140"/>
          </a:xfrm>
        </p:grpSpPr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3157" y="1527996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세부신청내역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29" name="그룹 128"/>
            <p:cNvGrpSpPr/>
            <p:nvPr/>
          </p:nvGrpSpPr>
          <p:grpSpPr>
            <a:xfrm flipV="1">
              <a:off x="3125244" y="1641327"/>
              <a:ext cx="94010" cy="47005"/>
              <a:chOff x="6812560" y="3297172"/>
              <a:chExt cx="94010" cy="47005"/>
            </a:xfrm>
          </p:grpSpPr>
          <p:cxnSp>
            <p:nvCxnSpPr>
              <p:cNvPr id="131" name="직선 연결선 13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8" name="직선 연결선 13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1" name="그룹 140"/>
          <p:cNvGrpSpPr/>
          <p:nvPr/>
        </p:nvGrpSpPr>
        <p:grpSpPr>
          <a:xfrm>
            <a:off x="716366" y="2038797"/>
            <a:ext cx="2630093" cy="1292663"/>
            <a:chOff x="3865118" y="2946203"/>
            <a:chExt cx="2630093" cy="1292663"/>
          </a:xfrm>
        </p:grpSpPr>
        <p:sp>
          <p:nvSpPr>
            <p:cNvPr id="142" name="직사각형 141"/>
            <p:cNvSpPr/>
            <p:nvPr/>
          </p:nvSpPr>
          <p:spPr>
            <a:xfrm>
              <a:off x="3867211" y="2946203"/>
              <a:ext cx="792000" cy="128939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5" name="직선 연결선 15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5118" y="294620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54275" y="2946204"/>
              <a:ext cx="670770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대상금액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 err="1">
                  <a:latin typeface="+mn-ea"/>
                </a:rPr>
                <a:t>기사용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 err="1">
                  <a:latin typeface="+mn-ea"/>
                </a:rPr>
                <a:t>사용예정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신청금액의</a:t>
              </a:r>
              <a:r>
                <a:rPr lang="ko-KR" altLang="en-US" sz="700" dirty="0">
                  <a:latin typeface="+mn-ea"/>
                </a:rPr>
                <a:t> 비율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11123" y="2946204"/>
              <a:ext cx="1775839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00 %</a:t>
              </a:r>
            </a:p>
          </p:txBody>
        </p: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17730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3" name="직선 연결선 1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39101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4" name="직선 연결선 1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604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80818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02189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7" name="직선 연결선 16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23559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3363" y="1782724"/>
            <a:ext cx="1308971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- </a:t>
            </a:r>
            <a:r>
              <a:rPr lang="ko-KR" altLang="en-US" sz="700" dirty="0">
                <a:latin typeface="+mn-ea"/>
              </a:rPr>
              <a:t>재료비 </a:t>
            </a:r>
            <a:r>
              <a:rPr lang="en-US" altLang="ko-KR" sz="700" dirty="0">
                <a:latin typeface="+mn-ea"/>
              </a:rPr>
              <a:t>- </a:t>
            </a:r>
            <a:r>
              <a:rPr lang="ko-KR" altLang="en-US" sz="700" dirty="0">
                <a:latin typeface="+mn-ea"/>
              </a:rPr>
              <a:t>수입 재료비</a:t>
            </a:r>
          </a:p>
        </p:txBody>
      </p:sp>
      <p:grpSp>
        <p:nvGrpSpPr>
          <p:cNvPr id="6" name="그룹 5"/>
          <p:cNvGrpSpPr/>
          <p:nvPr/>
        </p:nvGrpSpPr>
        <p:grpSpPr>
          <a:xfrm>
            <a:off x="716366" y="3413051"/>
            <a:ext cx="2630093" cy="1548736"/>
            <a:chOff x="716366" y="3441403"/>
            <a:chExt cx="2630093" cy="1548736"/>
          </a:xfrm>
        </p:grpSpPr>
        <p:grpSp>
          <p:nvGrpSpPr>
            <p:cNvPr id="53" name="그룹 52"/>
            <p:cNvGrpSpPr/>
            <p:nvPr/>
          </p:nvGrpSpPr>
          <p:grpSpPr>
            <a:xfrm>
              <a:off x="716366" y="3697476"/>
              <a:ext cx="2630093" cy="1292663"/>
              <a:chOff x="3865118" y="2946203"/>
              <a:chExt cx="2630093" cy="1292663"/>
            </a:xfrm>
          </p:grpSpPr>
          <p:sp>
            <p:nvSpPr>
              <p:cNvPr id="54" name="직사각형 53"/>
              <p:cNvSpPr/>
              <p:nvPr/>
            </p:nvSpPr>
            <p:spPr>
              <a:xfrm>
                <a:off x="3867211" y="2946203"/>
                <a:ext cx="792000" cy="128939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55" name="직선 연결선 54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5118" y="2946204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954275" y="2946204"/>
                <a:ext cx="670770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대상금액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>
                    <a:latin typeface="+mn-ea"/>
                  </a:rPr>
                  <a:t>신청금액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기사용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사용예정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>
                    <a:latin typeface="+mn-ea"/>
                  </a:rPr>
                  <a:t>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신청금액의</a:t>
                </a:r>
                <a:r>
                  <a:rPr lang="ko-KR" altLang="en-US" sz="700" dirty="0">
                    <a:latin typeface="+mn-ea"/>
                  </a:rPr>
                  <a:t> 비율</a:t>
                </a:r>
                <a:endParaRPr lang="en-US" altLang="ko-KR" sz="700" dirty="0">
                  <a:latin typeface="+mn-ea"/>
                </a:endParaRP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711123" y="2946204"/>
                <a:ext cx="1775839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00 %</a:t>
                </a:r>
              </a:p>
            </p:txBody>
          </p:sp>
          <p:cxnSp>
            <p:nvCxnSpPr>
              <p:cNvPr id="58" name="직선 연결선 5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177309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59" name="직선 연결선 5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391016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0" name="직선 연결선 59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604723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1" name="직선 연결선 60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808184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2" name="직선 연결선 61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02189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3" name="직선 연결선 6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235598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3363" y="3441403"/>
              <a:ext cx="1308971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재료비 </a:t>
              </a: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국내 재료비</a:t>
              </a:r>
            </a:p>
          </p:txBody>
        </p:sp>
      </p:grpSp>
      <p:grpSp>
        <p:nvGrpSpPr>
          <p:cNvPr id="3" name="그룹 2"/>
          <p:cNvGrpSpPr/>
          <p:nvPr/>
        </p:nvGrpSpPr>
        <p:grpSpPr>
          <a:xfrm>
            <a:off x="3836701" y="1527996"/>
            <a:ext cx="2630093" cy="1548736"/>
            <a:chOff x="3795734" y="3441403"/>
            <a:chExt cx="2630093" cy="1548736"/>
          </a:xfrm>
        </p:grpSpPr>
        <p:grpSp>
          <p:nvGrpSpPr>
            <p:cNvPr id="67" name="그룹 66"/>
            <p:cNvGrpSpPr/>
            <p:nvPr/>
          </p:nvGrpSpPr>
          <p:grpSpPr>
            <a:xfrm>
              <a:off x="3795734" y="3697476"/>
              <a:ext cx="2630093" cy="1292663"/>
              <a:chOff x="3865118" y="2946203"/>
              <a:chExt cx="2630093" cy="1292663"/>
            </a:xfrm>
          </p:grpSpPr>
          <p:sp>
            <p:nvSpPr>
              <p:cNvPr id="68" name="직사각형 67"/>
              <p:cNvSpPr/>
              <p:nvPr/>
            </p:nvSpPr>
            <p:spPr>
              <a:xfrm>
                <a:off x="3867211" y="2946203"/>
                <a:ext cx="792000" cy="128939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69" name="직선 연결선 6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5118" y="2946204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954275" y="2946204"/>
                <a:ext cx="670770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대상금액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>
                    <a:latin typeface="+mn-ea"/>
                  </a:rPr>
                  <a:t>신청금액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기사용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사용예정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>
                    <a:latin typeface="+mn-ea"/>
                  </a:rPr>
                  <a:t>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신청금액의</a:t>
                </a:r>
                <a:r>
                  <a:rPr lang="ko-KR" altLang="en-US" sz="700" dirty="0">
                    <a:latin typeface="+mn-ea"/>
                  </a:rPr>
                  <a:t> 비율</a:t>
                </a:r>
                <a:endParaRPr lang="en-US" altLang="ko-KR" sz="700" dirty="0">
                  <a:latin typeface="+mn-ea"/>
                </a:endParaRPr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711123" y="2946204"/>
                <a:ext cx="1775839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00 %</a:t>
                </a:r>
              </a:p>
            </p:txBody>
          </p:sp>
          <p:cxnSp>
            <p:nvCxnSpPr>
              <p:cNvPr id="72" name="직선 연결선 71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177309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3" name="직선 연결선 7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391016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4" name="직선 연결선 73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604723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5" name="직선 연결선 74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808184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6" name="직선 연결선 7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02189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7" name="직선 연결선 7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235598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82731" y="3441403"/>
              <a:ext cx="1308971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재료비 </a:t>
              </a: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간접 재료비</a:t>
              </a:r>
            </a:p>
          </p:txBody>
        </p:sp>
      </p:grpSp>
      <p:grpSp>
        <p:nvGrpSpPr>
          <p:cNvPr id="79" name="그룹 78"/>
          <p:cNvGrpSpPr/>
          <p:nvPr/>
        </p:nvGrpSpPr>
        <p:grpSpPr>
          <a:xfrm>
            <a:off x="3836701" y="3154214"/>
            <a:ext cx="2630093" cy="1548736"/>
            <a:chOff x="3795734" y="3441403"/>
            <a:chExt cx="2630093" cy="1548736"/>
          </a:xfrm>
        </p:grpSpPr>
        <p:grpSp>
          <p:nvGrpSpPr>
            <p:cNvPr id="80" name="그룹 79"/>
            <p:cNvGrpSpPr/>
            <p:nvPr/>
          </p:nvGrpSpPr>
          <p:grpSpPr>
            <a:xfrm>
              <a:off x="3795734" y="3697476"/>
              <a:ext cx="2630093" cy="1292663"/>
              <a:chOff x="3865118" y="2946203"/>
              <a:chExt cx="2630093" cy="1292663"/>
            </a:xfrm>
          </p:grpSpPr>
          <p:sp>
            <p:nvSpPr>
              <p:cNvPr id="82" name="직사각형 81"/>
              <p:cNvSpPr/>
              <p:nvPr/>
            </p:nvSpPr>
            <p:spPr>
              <a:xfrm>
                <a:off x="3867211" y="2946203"/>
                <a:ext cx="792000" cy="128939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83" name="직선 연결선 8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5118" y="2946204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954275" y="2946204"/>
                <a:ext cx="670770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대상금액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>
                    <a:latin typeface="+mn-ea"/>
                  </a:rPr>
                  <a:t>신청금액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기사용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사용예정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>
                    <a:latin typeface="+mn-ea"/>
                  </a:rPr>
                  <a:t>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신청금액의</a:t>
                </a:r>
                <a:r>
                  <a:rPr lang="ko-KR" altLang="en-US" sz="700" dirty="0">
                    <a:latin typeface="+mn-ea"/>
                  </a:rPr>
                  <a:t> 비율</a:t>
                </a:r>
                <a:endParaRPr lang="en-US" altLang="ko-KR" sz="700" dirty="0">
                  <a:latin typeface="+mn-ea"/>
                </a:endParaRPr>
              </a:p>
            </p:txBody>
          </p: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711123" y="2946204"/>
                <a:ext cx="1775839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00 %</a:t>
                </a:r>
              </a:p>
            </p:txBody>
          </p:sp>
          <p:cxnSp>
            <p:nvCxnSpPr>
              <p:cNvPr id="86" name="직선 연결선 8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177309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87" name="직선 연결선 8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391016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88" name="직선 연결선 8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604723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89" name="직선 연결선 8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808184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0" name="직선 연결선 89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02189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1" name="직선 연결선 90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235598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82731" y="3441403"/>
              <a:ext cx="1308971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 err="1">
                  <a:latin typeface="+mn-ea"/>
                </a:rPr>
                <a:t>노무비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– </a:t>
              </a:r>
              <a:r>
                <a:rPr lang="ko-KR" altLang="en-US" sz="700" dirty="0">
                  <a:latin typeface="+mn-ea"/>
                </a:rPr>
                <a:t>직접 </a:t>
              </a:r>
              <a:r>
                <a:rPr lang="ko-KR" altLang="en-US" sz="700" dirty="0" err="1">
                  <a:latin typeface="+mn-ea"/>
                </a:rPr>
                <a:t>노무비</a:t>
              </a:r>
              <a:endParaRPr lang="ko-KR" altLang="en-US" sz="700" dirty="0">
                <a:latin typeface="+mn-ea"/>
              </a:endParaRPr>
            </a:p>
          </p:txBody>
        </p:sp>
      </p:grpSp>
      <p:grpSp>
        <p:nvGrpSpPr>
          <p:cNvPr id="92" name="그룹 91"/>
          <p:cNvGrpSpPr/>
          <p:nvPr/>
        </p:nvGrpSpPr>
        <p:grpSpPr>
          <a:xfrm>
            <a:off x="3836701" y="4784969"/>
            <a:ext cx="2630093" cy="1548736"/>
            <a:chOff x="3795734" y="3441403"/>
            <a:chExt cx="2630093" cy="1548736"/>
          </a:xfrm>
        </p:grpSpPr>
        <p:grpSp>
          <p:nvGrpSpPr>
            <p:cNvPr id="93" name="그룹 92"/>
            <p:cNvGrpSpPr/>
            <p:nvPr/>
          </p:nvGrpSpPr>
          <p:grpSpPr>
            <a:xfrm>
              <a:off x="3795734" y="3697476"/>
              <a:ext cx="2630093" cy="1292663"/>
              <a:chOff x="3865118" y="2946203"/>
              <a:chExt cx="2630093" cy="1292663"/>
            </a:xfrm>
          </p:grpSpPr>
          <p:sp>
            <p:nvSpPr>
              <p:cNvPr id="95" name="직사각형 94"/>
              <p:cNvSpPr/>
              <p:nvPr/>
            </p:nvSpPr>
            <p:spPr>
              <a:xfrm>
                <a:off x="3867211" y="2946203"/>
                <a:ext cx="792000" cy="128939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96" name="직선 연결선 9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5118" y="2946204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954275" y="2946204"/>
                <a:ext cx="670770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대상금액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>
                    <a:latin typeface="+mn-ea"/>
                  </a:rPr>
                  <a:t>신청금액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기사용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사용예정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>
                    <a:latin typeface="+mn-ea"/>
                  </a:rPr>
                  <a:t>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신청금액의</a:t>
                </a:r>
                <a:r>
                  <a:rPr lang="ko-KR" altLang="en-US" sz="700" dirty="0">
                    <a:latin typeface="+mn-ea"/>
                  </a:rPr>
                  <a:t> 비율</a:t>
                </a:r>
                <a:endParaRPr lang="en-US" altLang="ko-KR" sz="700" dirty="0">
                  <a:latin typeface="+mn-ea"/>
                </a:endParaRPr>
              </a:p>
            </p:txBody>
          </p:sp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711123" y="2946204"/>
                <a:ext cx="1775839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00 %</a:t>
                </a:r>
              </a:p>
            </p:txBody>
          </p:sp>
          <p:cxnSp>
            <p:nvCxnSpPr>
              <p:cNvPr id="99" name="직선 연결선 9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177309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0" name="직선 연결선 99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391016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604723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2" name="직선 연결선 101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808184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02189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" name="직선 연결선 103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235598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82731" y="3441403"/>
              <a:ext cx="1308971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 err="1">
                  <a:latin typeface="+mn-ea"/>
                </a:rPr>
                <a:t>노무비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– </a:t>
              </a:r>
              <a:r>
                <a:rPr lang="ko-KR" altLang="en-US" sz="700" dirty="0">
                  <a:latin typeface="+mn-ea"/>
                </a:rPr>
                <a:t>간접 </a:t>
              </a:r>
              <a:r>
                <a:rPr lang="ko-KR" altLang="en-US" sz="700" dirty="0" err="1">
                  <a:latin typeface="+mn-ea"/>
                </a:rPr>
                <a:t>노무비</a:t>
              </a:r>
              <a:endParaRPr lang="ko-KR" altLang="en-US" sz="700" dirty="0"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635254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신청내역</a:t>
            </a:r>
            <a:r>
              <a:rPr lang="ko-KR" altLang="en-US" dirty="0"/>
              <a:t> 데이터 영역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선금신청서</a:t>
            </a:r>
            <a:r>
              <a:rPr lang="ko-KR" altLang="en-US" dirty="0">
                <a:latin typeface="+mn-ea"/>
              </a:rPr>
              <a:t> 상세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세부 </a:t>
            </a:r>
            <a:r>
              <a:rPr lang="ko-KR" altLang="en-US" dirty="0" err="1">
                <a:latin typeface="+mn-ea"/>
              </a:rPr>
              <a:t>신청내역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대금</a:t>
            </a:r>
            <a:r>
              <a:rPr lang="en-US" altLang="ko-KR" dirty="0"/>
              <a:t>/</a:t>
            </a:r>
            <a:r>
              <a:rPr lang="ko-KR" altLang="en-US" dirty="0"/>
              <a:t>사후 상세 </a:t>
            </a:r>
            <a:r>
              <a:rPr lang="en-US" altLang="ko-KR" dirty="0"/>
              <a:t>- </a:t>
            </a:r>
            <a:r>
              <a:rPr lang="ko-KR" altLang="en-US" dirty="0" err="1"/>
              <a:t>선금신청서</a:t>
            </a:r>
            <a:r>
              <a:rPr lang="ko-KR" altLang="en-US" dirty="0"/>
              <a:t> 상세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선금신청서</a:t>
            </a:r>
            <a:r>
              <a:rPr lang="ko-KR" altLang="en-US" dirty="0">
                <a:latin typeface="+mn-ea"/>
              </a:rPr>
              <a:t> 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MUI-WM-01-M02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3" name="그룹 2"/>
          <p:cNvGrpSpPr/>
          <p:nvPr/>
        </p:nvGrpSpPr>
        <p:grpSpPr>
          <a:xfrm>
            <a:off x="3836701" y="1527996"/>
            <a:ext cx="2630093" cy="1548736"/>
            <a:chOff x="3795734" y="3441403"/>
            <a:chExt cx="2630093" cy="1548736"/>
          </a:xfrm>
        </p:grpSpPr>
        <p:grpSp>
          <p:nvGrpSpPr>
            <p:cNvPr id="67" name="그룹 66"/>
            <p:cNvGrpSpPr/>
            <p:nvPr/>
          </p:nvGrpSpPr>
          <p:grpSpPr>
            <a:xfrm>
              <a:off x="3795734" y="3697476"/>
              <a:ext cx="2630093" cy="1292663"/>
              <a:chOff x="3865118" y="2946203"/>
              <a:chExt cx="2630093" cy="1292663"/>
            </a:xfrm>
          </p:grpSpPr>
          <p:sp>
            <p:nvSpPr>
              <p:cNvPr id="68" name="직사각형 67"/>
              <p:cNvSpPr/>
              <p:nvPr/>
            </p:nvSpPr>
            <p:spPr>
              <a:xfrm>
                <a:off x="3867211" y="2946203"/>
                <a:ext cx="792000" cy="128939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69" name="직선 연결선 6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5118" y="2946204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954275" y="2946204"/>
                <a:ext cx="670770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대상금액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>
                    <a:latin typeface="+mn-ea"/>
                  </a:rPr>
                  <a:t>신청금액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기사용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사용예정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>
                    <a:latin typeface="+mn-ea"/>
                  </a:rPr>
                  <a:t>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신청금액의</a:t>
                </a:r>
                <a:r>
                  <a:rPr lang="ko-KR" altLang="en-US" sz="700" dirty="0">
                    <a:latin typeface="+mn-ea"/>
                  </a:rPr>
                  <a:t> 비율</a:t>
                </a:r>
                <a:endParaRPr lang="en-US" altLang="ko-KR" sz="700" dirty="0">
                  <a:latin typeface="+mn-ea"/>
                </a:endParaRPr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711123" y="2946204"/>
                <a:ext cx="1775839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00 %</a:t>
                </a:r>
              </a:p>
            </p:txBody>
          </p:sp>
          <p:cxnSp>
            <p:nvCxnSpPr>
              <p:cNvPr id="72" name="직선 연결선 71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177309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3" name="직선 연결선 7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391016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4" name="직선 연결선 73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604723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5" name="직선 연결선 74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808184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6" name="직선 연결선 7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02189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7" name="직선 연결선 7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235598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82731" y="3441403"/>
              <a:ext cx="1308971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기타</a:t>
              </a:r>
            </a:p>
          </p:txBody>
        </p:sp>
      </p:grpSp>
      <p:grpSp>
        <p:nvGrpSpPr>
          <p:cNvPr id="79" name="그룹 78"/>
          <p:cNvGrpSpPr/>
          <p:nvPr/>
        </p:nvGrpSpPr>
        <p:grpSpPr>
          <a:xfrm>
            <a:off x="3836701" y="3154214"/>
            <a:ext cx="2630093" cy="1548736"/>
            <a:chOff x="3795734" y="3441403"/>
            <a:chExt cx="2630093" cy="1548736"/>
          </a:xfrm>
        </p:grpSpPr>
        <p:grpSp>
          <p:nvGrpSpPr>
            <p:cNvPr id="80" name="그룹 79"/>
            <p:cNvGrpSpPr/>
            <p:nvPr/>
          </p:nvGrpSpPr>
          <p:grpSpPr>
            <a:xfrm>
              <a:off x="3795734" y="3697476"/>
              <a:ext cx="2630093" cy="1292663"/>
              <a:chOff x="3865118" y="2946203"/>
              <a:chExt cx="2630093" cy="1292663"/>
            </a:xfrm>
          </p:grpSpPr>
          <p:sp>
            <p:nvSpPr>
              <p:cNvPr id="82" name="직사각형 81"/>
              <p:cNvSpPr/>
              <p:nvPr/>
            </p:nvSpPr>
            <p:spPr>
              <a:xfrm>
                <a:off x="3867211" y="2946203"/>
                <a:ext cx="792000" cy="128939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83" name="직선 연결선 8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5118" y="2946204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954275" y="2946204"/>
                <a:ext cx="670770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대상금액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>
                    <a:latin typeface="+mn-ea"/>
                  </a:rPr>
                  <a:t>신청금액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기사용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사용예정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>
                    <a:latin typeface="+mn-ea"/>
                  </a:rPr>
                  <a:t>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신청금액의</a:t>
                </a:r>
                <a:r>
                  <a:rPr lang="ko-KR" altLang="en-US" sz="700" dirty="0">
                    <a:latin typeface="+mn-ea"/>
                  </a:rPr>
                  <a:t> 비율</a:t>
                </a:r>
                <a:endParaRPr lang="en-US" altLang="ko-KR" sz="700" dirty="0">
                  <a:latin typeface="+mn-ea"/>
                </a:endParaRPr>
              </a:p>
            </p:txBody>
          </p: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711123" y="2946204"/>
                <a:ext cx="1775839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00 %</a:t>
                </a:r>
              </a:p>
            </p:txBody>
          </p:sp>
          <p:cxnSp>
            <p:nvCxnSpPr>
              <p:cNvPr id="86" name="직선 연결선 8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177309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87" name="직선 연결선 8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391016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88" name="직선 연결선 8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604723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89" name="직선 연결선 8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808184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0" name="직선 연결선 89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02189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1" name="직선 연결선 90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235598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82731" y="3441403"/>
              <a:ext cx="1308971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합계</a:t>
              </a:r>
            </a:p>
          </p:txBody>
        </p:sp>
      </p:grpSp>
      <p:grpSp>
        <p:nvGrpSpPr>
          <p:cNvPr id="105" name="그룹 104"/>
          <p:cNvGrpSpPr/>
          <p:nvPr/>
        </p:nvGrpSpPr>
        <p:grpSpPr>
          <a:xfrm>
            <a:off x="716366" y="1527996"/>
            <a:ext cx="2630093" cy="1548736"/>
            <a:chOff x="3795734" y="3441403"/>
            <a:chExt cx="2630093" cy="1548736"/>
          </a:xfrm>
        </p:grpSpPr>
        <p:grpSp>
          <p:nvGrpSpPr>
            <p:cNvPr id="106" name="그룹 105"/>
            <p:cNvGrpSpPr/>
            <p:nvPr/>
          </p:nvGrpSpPr>
          <p:grpSpPr>
            <a:xfrm>
              <a:off x="3795734" y="3697476"/>
              <a:ext cx="2630093" cy="1292663"/>
              <a:chOff x="3865118" y="2946203"/>
              <a:chExt cx="2630093" cy="1292663"/>
            </a:xfrm>
          </p:grpSpPr>
          <p:sp>
            <p:nvSpPr>
              <p:cNvPr id="108" name="직사각형 107"/>
              <p:cNvSpPr/>
              <p:nvPr/>
            </p:nvSpPr>
            <p:spPr>
              <a:xfrm>
                <a:off x="3867211" y="2946203"/>
                <a:ext cx="792000" cy="128939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109" name="직선 연결선 10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5118" y="2946204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954275" y="2946204"/>
                <a:ext cx="670770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대상금액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>
                    <a:latin typeface="+mn-ea"/>
                  </a:rPr>
                  <a:t>신청금액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기사용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사용예정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>
                    <a:latin typeface="+mn-ea"/>
                  </a:rPr>
                  <a:t>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신청금액의</a:t>
                </a:r>
                <a:r>
                  <a:rPr lang="ko-KR" altLang="en-US" sz="700" dirty="0">
                    <a:latin typeface="+mn-ea"/>
                  </a:rPr>
                  <a:t> 비율</a:t>
                </a:r>
                <a:endParaRPr lang="en-US" altLang="ko-KR" sz="700" dirty="0">
                  <a:latin typeface="+mn-ea"/>
                </a:endParaRPr>
              </a:p>
            </p:txBody>
          </p:sp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711123" y="2946204"/>
                <a:ext cx="1775839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00 %</a:t>
                </a:r>
              </a:p>
            </p:txBody>
          </p:sp>
          <p:cxnSp>
            <p:nvCxnSpPr>
              <p:cNvPr id="112" name="직선 연결선 111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177309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4" name="직선 연결선 113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391016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604723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808184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7" name="직선 연결선 11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02189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8" name="직선 연결선 11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235598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82731" y="3441403"/>
              <a:ext cx="1308971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경비 </a:t>
              </a: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직접 경비</a:t>
              </a:r>
            </a:p>
          </p:txBody>
        </p:sp>
      </p:grpSp>
      <p:grpSp>
        <p:nvGrpSpPr>
          <p:cNvPr id="119" name="그룹 118"/>
          <p:cNvGrpSpPr/>
          <p:nvPr/>
        </p:nvGrpSpPr>
        <p:grpSpPr>
          <a:xfrm>
            <a:off x="716366" y="3154214"/>
            <a:ext cx="2630093" cy="1548736"/>
            <a:chOff x="3795734" y="3441403"/>
            <a:chExt cx="2630093" cy="1548736"/>
          </a:xfrm>
        </p:grpSpPr>
        <p:grpSp>
          <p:nvGrpSpPr>
            <p:cNvPr id="120" name="그룹 119"/>
            <p:cNvGrpSpPr/>
            <p:nvPr/>
          </p:nvGrpSpPr>
          <p:grpSpPr>
            <a:xfrm>
              <a:off x="3795734" y="3697476"/>
              <a:ext cx="2630093" cy="1292663"/>
              <a:chOff x="3865118" y="2946203"/>
              <a:chExt cx="2630093" cy="1292663"/>
            </a:xfrm>
          </p:grpSpPr>
          <p:sp>
            <p:nvSpPr>
              <p:cNvPr id="122" name="직사각형 121"/>
              <p:cNvSpPr/>
              <p:nvPr/>
            </p:nvSpPr>
            <p:spPr>
              <a:xfrm>
                <a:off x="3867211" y="2946203"/>
                <a:ext cx="792000" cy="128939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123" name="직선 연결선 12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5118" y="2946204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954275" y="2946204"/>
                <a:ext cx="670770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대상금액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>
                    <a:latin typeface="+mn-ea"/>
                  </a:rPr>
                  <a:t>신청금액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기사용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사용예정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>
                    <a:latin typeface="+mn-ea"/>
                  </a:rPr>
                  <a:t>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신청금액의</a:t>
                </a:r>
                <a:r>
                  <a:rPr lang="ko-KR" altLang="en-US" sz="700" dirty="0">
                    <a:latin typeface="+mn-ea"/>
                  </a:rPr>
                  <a:t> 비율</a:t>
                </a:r>
                <a:endParaRPr lang="en-US" altLang="ko-KR" sz="700" dirty="0">
                  <a:latin typeface="+mn-ea"/>
                </a:endParaRPr>
              </a:p>
            </p:txBody>
          </p:sp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711123" y="2946204"/>
                <a:ext cx="1775839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00 %</a:t>
                </a:r>
              </a:p>
            </p:txBody>
          </p:sp>
          <p:cxnSp>
            <p:nvCxnSpPr>
              <p:cNvPr id="126" name="직선 연결선 12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177309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27" name="직선 연결선 12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391016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28" name="직선 연결선 12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604723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30" name="직선 연결선 129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808184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32" name="직선 연결선 131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02189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33" name="직선 연결선 13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235598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82731" y="3441403"/>
              <a:ext cx="1308971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경비 </a:t>
              </a: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간접 경비</a:t>
              </a:r>
            </a:p>
          </p:txBody>
        </p:sp>
      </p:grpSp>
      <p:grpSp>
        <p:nvGrpSpPr>
          <p:cNvPr id="134" name="그룹 133"/>
          <p:cNvGrpSpPr/>
          <p:nvPr/>
        </p:nvGrpSpPr>
        <p:grpSpPr>
          <a:xfrm>
            <a:off x="716366" y="4784969"/>
            <a:ext cx="2630093" cy="1548736"/>
            <a:chOff x="3795734" y="3441403"/>
            <a:chExt cx="2630093" cy="1548736"/>
          </a:xfrm>
        </p:grpSpPr>
        <p:grpSp>
          <p:nvGrpSpPr>
            <p:cNvPr id="135" name="그룹 134"/>
            <p:cNvGrpSpPr/>
            <p:nvPr/>
          </p:nvGrpSpPr>
          <p:grpSpPr>
            <a:xfrm>
              <a:off x="3795734" y="3697476"/>
              <a:ext cx="2630093" cy="1292663"/>
              <a:chOff x="3865118" y="2946203"/>
              <a:chExt cx="2630093" cy="1292663"/>
            </a:xfrm>
          </p:grpSpPr>
          <p:sp>
            <p:nvSpPr>
              <p:cNvPr id="137" name="직사각형 136"/>
              <p:cNvSpPr/>
              <p:nvPr/>
            </p:nvSpPr>
            <p:spPr>
              <a:xfrm>
                <a:off x="3867211" y="2946203"/>
                <a:ext cx="792000" cy="128939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140" name="직선 연결선 139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5118" y="2946204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954275" y="2946204"/>
                <a:ext cx="670770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대상금액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>
                    <a:latin typeface="+mn-ea"/>
                  </a:rPr>
                  <a:t>신청금액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기사용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사용예정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>
                    <a:latin typeface="+mn-ea"/>
                  </a:rPr>
                  <a:t>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신청금액의</a:t>
                </a:r>
                <a:r>
                  <a:rPr lang="ko-KR" altLang="en-US" sz="700" dirty="0">
                    <a:latin typeface="+mn-ea"/>
                  </a:rPr>
                  <a:t> 비율</a:t>
                </a:r>
                <a:endParaRPr lang="en-US" altLang="ko-KR" sz="700" dirty="0">
                  <a:latin typeface="+mn-ea"/>
                </a:endParaRPr>
              </a:p>
            </p:txBody>
          </p:sp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711123" y="2946204"/>
                <a:ext cx="1775839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00 %</a:t>
                </a:r>
              </a:p>
            </p:txBody>
          </p:sp>
          <p:cxnSp>
            <p:nvCxnSpPr>
              <p:cNvPr id="145" name="직선 연결선 144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177309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46" name="직선 연결선 14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391016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47" name="직선 연결선 14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604723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48" name="직선 연결선 14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808184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49" name="직선 연결선 14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02189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0" name="직선 연결선 149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235598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82731" y="3441403"/>
              <a:ext cx="1308971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일반 관리비</a:t>
              </a:r>
            </a:p>
          </p:txBody>
        </p: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1263273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 smtClean="0"/>
              <a:t>선금신청서</a:t>
            </a:r>
            <a:r>
              <a:rPr lang="ko-KR" altLang="en-US" dirty="0" smtClean="0"/>
              <a:t> 진행상태 조회하면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선금신청서</a:t>
            </a:r>
            <a:r>
              <a:rPr lang="ko-KR" altLang="en-US" dirty="0">
                <a:latin typeface="+mn-ea"/>
              </a:rPr>
              <a:t> 상세 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sz="800" dirty="0" err="1">
                <a:latin typeface="+mn-ea"/>
              </a:rPr>
              <a:t>지급상태</a:t>
            </a:r>
            <a:endParaRPr lang="ko-KR" altLang="en-US" sz="800" dirty="0">
              <a:latin typeface="+mn-ea"/>
            </a:endParaRPr>
          </a:p>
          <a:p>
            <a:r>
              <a:rPr lang="ko-KR" altLang="en-US" dirty="0" smtClean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smtClean="0"/>
              <a:t>대금</a:t>
            </a:r>
            <a:r>
              <a:rPr lang="en-US" altLang="ko-KR" dirty="0" smtClean="0"/>
              <a:t>/</a:t>
            </a:r>
            <a:r>
              <a:rPr lang="ko-KR" altLang="en-US" dirty="0" smtClean="0"/>
              <a:t>사후 상세 </a:t>
            </a:r>
            <a:r>
              <a:rPr lang="en-US" altLang="ko-KR" dirty="0" smtClean="0"/>
              <a:t>- </a:t>
            </a:r>
            <a:r>
              <a:rPr lang="ko-KR" altLang="en-US" dirty="0" err="1"/>
              <a:t>선금신청서</a:t>
            </a:r>
            <a:r>
              <a:rPr lang="ko-KR" altLang="en-US" dirty="0"/>
              <a:t> </a:t>
            </a:r>
            <a:r>
              <a:rPr lang="ko-KR" altLang="en-US" dirty="0" err="1" smtClean="0"/>
              <a:t>지급상태</a:t>
            </a:r>
            <a:r>
              <a:rPr lang="ko-KR" altLang="en-US" dirty="0" smtClean="0"/>
              <a:t> 조회 화면</a:t>
            </a:r>
            <a:endParaRPr lang="ko-KR" altLang="en-US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선금신청서</a:t>
            </a:r>
            <a:r>
              <a:rPr lang="ko-KR" altLang="en-US" dirty="0">
                <a:latin typeface="+mn-ea"/>
              </a:rPr>
              <a:t> 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MUI-WM-01-M02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105" name="그룹 104"/>
          <p:cNvGrpSpPr/>
          <p:nvPr/>
        </p:nvGrpSpPr>
        <p:grpSpPr>
          <a:xfrm>
            <a:off x="716366" y="1527996"/>
            <a:ext cx="2630093" cy="1625814"/>
            <a:chOff x="3795734" y="3441403"/>
            <a:chExt cx="2630093" cy="1625814"/>
          </a:xfrm>
        </p:grpSpPr>
        <p:grpSp>
          <p:nvGrpSpPr>
            <p:cNvPr id="106" name="그룹 105"/>
            <p:cNvGrpSpPr/>
            <p:nvPr/>
          </p:nvGrpSpPr>
          <p:grpSpPr>
            <a:xfrm>
              <a:off x="3795734" y="3697476"/>
              <a:ext cx="2630093" cy="1369741"/>
              <a:chOff x="3865118" y="2946203"/>
              <a:chExt cx="2630093" cy="1369741"/>
            </a:xfrm>
          </p:grpSpPr>
          <p:sp>
            <p:nvSpPr>
              <p:cNvPr id="108" name="직사각형 107"/>
              <p:cNvSpPr/>
              <p:nvPr/>
            </p:nvSpPr>
            <p:spPr>
              <a:xfrm>
                <a:off x="3867211" y="2946203"/>
                <a:ext cx="792000" cy="128939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109" name="직선 연결선 10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5118" y="2946204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954275" y="2946204"/>
                <a:ext cx="670770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700" dirty="0" smtClean="0">
                    <a:latin typeface="+mn-ea"/>
                  </a:rPr>
                  <a:t>구분</a:t>
                </a:r>
                <a:endParaRPr lang="en-US" altLang="ko-KR" sz="700" dirty="0" smtClean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 err="1" smtClean="0">
                    <a:latin typeface="+mn-ea"/>
                  </a:rPr>
                  <a:t>신청년도</a:t>
                </a:r>
                <a:endParaRPr lang="en-US" altLang="ko-KR" sz="700" dirty="0" smtClean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 err="1" smtClean="0">
                    <a:latin typeface="+mn-ea"/>
                  </a:rPr>
                  <a:t>계약번호</a:t>
                </a:r>
                <a:endParaRPr lang="en-US" altLang="ko-KR" sz="700" dirty="0" smtClean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 err="1" smtClean="0">
                    <a:latin typeface="+mn-ea"/>
                  </a:rPr>
                  <a:t>신청차수</a:t>
                </a:r>
                <a:endParaRPr lang="en-US" altLang="ko-KR" sz="700" dirty="0" smtClean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 smtClean="0">
                    <a:latin typeface="+mn-ea"/>
                  </a:rPr>
                  <a:t>신청금액</a:t>
                </a:r>
                <a:endParaRPr lang="en-US" altLang="ko-KR" sz="700" dirty="0" smtClean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 smtClean="0">
                    <a:latin typeface="+mn-ea"/>
                  </a:rPr>
                  <a:t>진행상태</a:t>
                </a:r>
                <a:endParaRPr lang="en-US" altLang="ko-KR" sz="700" dirty="0" smtClean="0">
                  <a:latin typeface="+mn-ea"/>
                </a:endParaRPr>
              </a:p>
            </p:txBody>
          </p:sp>
          <p:cxnSp>
            <p:nvCxnSpPr>
              <p:cNvPr id="112" name="직선 연결선 111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177309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4" name="직선 연결선 113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391016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604723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808184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7" name="직선 연결선 11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02189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8" name="직선 연결선 11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235598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5741480" y="3023282"/>
                <a:ext cx="691998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/>
                <a:r>
                  <a:rPr lang="en-US" altLang="ko-KR" sz="700" dirty="0" smtClean="0">
                    <a:latin typeface="+mn-ea"/>
                  </a:rPr>
                  <a:t>1</a:t>
                </a:r>
              </a:p>
              <a:p>
                <a:pPr algn="r"/>
                <a:endParaRPr lang="en-US" altLang="ko-KR" sz="700" dirty="0" smtClean="0">
                  <a:latin typeface="+mn-ea"/>
                </a:endParaRPr>
              </a:p>
              <a:p>
                <a:pPr algn="r"/>
                <a:r>
                  <a:rPr lang="en-US" altLang="ko-KR" sz="700" dirty="0" smtClean="0">
                    <a:latin typeface="+mn-ea"/>
                  </a:rPr>
                  <a:t>2026</a:t>
                </a:r>
              </a:p>
              <a:p>
                <a:pPr algn="r"/>
                <a:endParaRPr lang="en-US" altLang="ko-KR" sz="700" dirty="0" smtClean="0"/>
              </a:p>
              <a:p>
                <a:pPr algn="r"/>
                <a:r>
                  <a:rPr lang="en-US" altLang="ko-KR" sz="700" dirty="0" smtClean="0"/>
                  <a:t>2025000000</a:t>
                </a:r>
              </a:p>
              <a:p>
                <a:pPr algn="r"/>
                <a:endParaRPr lang="en-US" altLang="ko-KR" sz="700" dirty="0" smtClean="0"/>
              </a:p>
              <a:p>
                <a:pPr algn="r"/>
                <a:r>
                  <a:rPr lang="en-US" altLang="ko-KR" sz="700" dirty="0" smtClean="0"/>
                  <a:t>01</a:t>
                </a:r>
              </a:p>
              <a:p>
                <a:pPr algn="r"/>
                <a:endParaRPr lang="en-US" altLang="ko-KR" sz="700" dirty="0" smtClean="0"/>
              </a:p>
              <a:p>
                <a:pPr algn="r"/>
                <a:r>
                  <a:rPr lang="en-US" altLang="ko-KR" sz="700" dirty="0" smtClean="0"/>
                  <a:t>10,000,000</a:t>
                </a:r>
              </a:p>
              <a:p>
                <a:pPr algn="r"/>
                <a:endParaRPr lang="en-US" altLang="ko-KR" sz="700" dirty="0" smtClean="0"/>
              </a:p>
              <a:p>
                <a:pPr algn="r"/>
                <a:r>
                  <a:rPr lang="ko-KR" altLang="en-US" sz="700" dirty="0" smtClean="0"/>
                  <a:t>진행중</a:t>
                </a:r>
                <a:endParaRPr lang="en-US" altLang="ko-KR" sz="700" dirty="0"/>
              </a:p>
              <a:p>
                <a:pPr algn="r"/>
                <a:endParaRPr lang="en-US" altLang="ko-KR" sz="700" dirty="0" smtClean="0">
                  <a:latin typeface="+mn-ea"/>
                </a:endParaRPr>
              </a:p>
            </p:txBody>
          </p:sp>
        </p:grp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82731" y="3441403"/>
              <a:ext cx="1308971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 smtClean="0">
                  <a:latin typeface="+mn-ea"/>
                </a:rPr>
                <a:t>지급상태</a:t>
              </a:r>
              <a:endParaRPr lang="ko-KR" altLang="en-US" sz="700" dirty="0">
                <a:latin typeface="+mn-ea"/>
              </a:endParaRPr>
            </a:p>
          </p:txBody>
        </p: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0683279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24</a:t>
            </a:fld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B257CD-DFF9-C20A-42B1-86A5BD32A090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(1/2)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947F42-24A6-AC12-410B-185FD576E1C3}"/>
              </a:ext>
            </a:extLst>
          </p:cNvPr>
          <p:cNvSpPr txBox="1"/>
          <p:nvPr/>
        </p:nvSpPr>
        <p:spPr>
          <a:xfrm>
            <a:off x="458117" y="803113"/>
            <a:ext cx="320978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선금신청서 차수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dmt_prpayApfrCyclInfo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271CA1-8B7B-01B8-8587-605BE3417C65}"/>
              </a:ext>
            </a:extLst>
          </p:cNvPr>
          <p:cNvSpPr txBox="1"/>
          <p:nvPr/>
        </p:nvSpPr>
        <p:spPr>
          <a:xfrm>
            <a:off x="458117" y="1817648"/>
            <a:ext cx="239705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계약내용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dmt_ctrtCnInfo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0D7D7297-5C46-7078-D2CB-A9F2A55503A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차수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ctrtCycl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계약번호</a:t>
                      </a:r>
                      <a:r>
                        <a:rPr lang="en-US" altLang="ko-KR" sz="800" dirty="0">
                          <a:latin typeface="+mn-ea"/>
                        </a:rPr>
                        <a:t>-</a:t>
                      </a:r>
                      <a:r>
                        <a:rPr lang="ko-KR" altLang="en-US" sz="800" dirty="0" err="1">
                          <a:latin typeface="+mn-ea"/>
                        </a:rPr>
                        <a:t>신청차수</a:t>
                      </a:r>
                      <a:r>
                        <a:rPr lang="ko-KR" altLang="en-US" sz="800" dirty="0">
                          <a:latin typeface="+mn-ea"/>
                        </a:rPr>
                        <a:t>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</a:rPr>
                        <a:t>계약번호</a:t>
                      </a:r>
                      <a:r>
                        <a:rPr lang="en-US" altLang="ko-KR" sz="800" dirty="0">
                          <a:latin typeface="+mn-ea"/>
                        </a:rPr>
                        <a:t>-</a:t>
                      </a:r>
                      <a:r>
                        <a:rPr lang="ko-KR" altLang="en-US" sz="800" dirty="0" err="1">
                          <a:latin typeface="+mn-ea"/>
                        </a:rPr>
                        <a:t>신청차수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수신자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rcptnOgnzCd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수신자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:RIC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dmndDt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신청일자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-mm-dd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</a:tbl>
          </a:graphicData>
        </a:graphic>
      </p:graphicFrame>
      <p:graphicFrame>
        <p:nvGraphicFramePr>
          <p:cNvPr id="29" name="표 28">
            <a:extLst>
              <a:ext uri="{FF2B5EF4-FFF2-40B4-BE49-F238E27FC236}">
                <a16:creationId xmlns:a16="http://schemas.microsoft.com/office/drawing/2014/main" id="{FC692424-6A27-FF04-83B1-DBDD428A5857}"/>
              </a:ext>
            </a:extLst>
          </p:cNvPr>
          <p:cNvGraphicFramePr>
            <a:graphicFrameLocks noGrp="1"/>
          </p:cNvGraphicFramePr>
          <p:nvPr/>
        </p:nvGraphicFramePr>
        <p:xfrm>
          <a:off x="461466" y="2049148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계약일자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-mm-dd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ctrtNo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계약번호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02719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</a:rPr>
                        <a:t>계약명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60920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계약금액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83692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dlvgdsYmd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납기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-mm-dd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mainBizCn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DCD4A05-B1B2-6704-0345-7056CB08D3D5}"/>
              </a:ext>
            </a:extLst>
          </p:cNvPr>
          <p:cNvSpPr txBox="1"/>
          <p:nvPr/>
        </p:nvSpPr>
        <p:spPr>
          <a:xfrm>
            <a:off x="458117" y="3466653"/>
            <a:ext cx="2525298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신청금액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dmt_aplyAmtInfo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7F33B436-336A-B501-0BE2-1B19942B1F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8344850"/>
              </p:ext>
            </p:extLst>
          </p:nvPr>
        </p:nvGraphicFramePr>
        <p:xfrm>
          <a:off x="452999" y="3698153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일금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aplyAmt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신청금액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지출원인금액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aplyAmt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지출원인금액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수정화면에서만 출력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027192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F6F026C-B651-7520-0A7A-01E73FC938FC}"/>
              </a:ext>
            </a:extLst>
          </p:cNvPr>
          <p:cNvSpPr txBox="1"/>
          <p:nvPr/>
        </p:nvSpPr>
        <p:spPr>
          <a:xfrm>
            <a:off x="458117" y="4326026"/>
            <a:ext cx="260384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1.4. </a:t>
            </a:r>
            <a:r>
              <a:rPr lang="ko-KR" altLang="en-US" sz="900" b="1" dirty="0">
                <a:solidFill>
                  <a:prstClr val="black"/>
                </a:solidFill>
              </a:rPr>
              <a:t>신청내역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dmt_aplyDsctnInfo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B7EE4C8C-1596-E135-E8B4-EB82C0699BF4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4557526"/>
          <a:ext cx="8994883" cy="1601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prpayAplyDsctnAmtSeNm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재료비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노무비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경비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일반관리비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기타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합계 구분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N/A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금액구분명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컬럼별로 분리되어 있음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대상금액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trgtAmt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재료비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노무비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경비 일반관리비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기타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합계의 대상금액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98951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spc="0" dirty="0">
                          <a:latin typeface="+mn-ea"/>
                          <a:ea typeface="+mn-ea"/>
                        </a:rPr>
                        <a:t>신청금액 </a:t>
                      </a:r>
                      <a:r>
                        <a:rPr lang="ko-KR" altLang="en-US" sz="800" spc="0" dirty="0" err="1">
                          <a:latin typeface="+mn-ea"/>
                          <a:ea typeface="+mn-ea"/>
                        </a:rPr>
                        <a:t>기사용</a:t>
                      </a:r>
                      <a:endParaRPr lang="ko-KR" altLang="en-US" sz="800" spc="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arusAplyAmt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재료비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노무비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경비 일반관리비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기타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합계의 </a:t>
                      </a:r>
                      <a:r>
                        <a:rPr lang="ko-KR" altLang="en-US" sz="800" dirty="0" err="1">
                          <a:latin typeface="+mn-ea"/>
                        </a:rPr>
                        <a:t>기사용</a:t>
                      </a:r>
                      <a:r>
                        <a:rPr lang="ko-KR" altLang="en-US" sz="800" dirty="0">
                          <a:latin typeface="+mn-ea"/>
                        </a:rPr>
                        <a:t> 금액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35504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신청금액 사용예정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usePrnmntAplyAmt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재료비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노무비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경비 일반관리비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기타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합계의 사용예정 금액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8657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spc="0" dirty="0">
                          <a:latin typeface="+mn-ea"/>
                          <a:ea typeface="+mn-ea"/>
                        </a:rPr>
                        <a:t>신청금액 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aplySumAmt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재료비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노무비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경비 일반관리비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기타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합계의 </a:t>
                      </a:r>
                      <a:r>
                        <a:rPr lang="ko-KR" altLang="en-US" sz="800" dirty="0" err="1">
                          <a:latin typeface="+mn-ea"/>
                        </a:rPr>
                        <a:t>기사용</a:t>
                      </a:r>
                      <a:r>
                        <a:rPr lang="ko-KR" altLang="en-US" sz="800" dirty="0">
                          <a:latin typeface="+mn-ea"/>
                        </a:rPr>
                        <a:t> 신청금액과 사용예정 신청금액의 합계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02719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spc="0" dirty="0">
                          <a:latin typeface="+mn-ea"/>
                          <a:ea typeface="+mn-ea"/>
                        </a:rPr>
                        <a:t>신청금액의 비율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aplyAmtRt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재료비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노무비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경비 일반관리비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기타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합계의 신청금액의 비율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N/A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신청금액계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대상금액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*100(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화면에서 계산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3449522"/>
                  </a:ext>
                </a:extLst>
              </a:tr>
            </a:tbl>
          </a:graphicData>
        </a:graphic>
      </p:graphicFrame>
      <p:sp>
        <p:nvSpPr>
          <p:cNvPr id="10" name="Text Box 73">
            <a:extLst>
              <a:ext uri="{FF2B5EF4-FFF2-40B4-BE49-F238E27FC236}">
                <a16:creationId xmlns:a16="http://schemas.microsoft.com/office/drawing/2014/main" id="{5FFE7C35-2362-9481-0F6A-DA2217795C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876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096333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25</a:t>
            </a:fld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947F42-24A6-AC12-410B-185FD576E1C3}"/>
              </a:ext>
            </a:extLst>
          </p:cNvPr>
          <p:cNvSpPr txBox="1"/>
          <p:nvPr/>
        </p:nvSpPr>
        <p:spPr>
          <a:xfrm>
            <a:off x="458117" y="803113"/>
            <a:ext cx="241469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1.5. </a:t>
            </a:r>
            <a:r>
              <a:rPr lang="ko-KR" altLang="en-US" sz="900" b="1" dirty="0">
                <a:solidFill>
                  <a:prstClr val="black"/>
                </a:solidFill>
              </a:rPr>
              <a:t>공급자 정보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dmt_splrInfo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0D7D7297-5C46-7078-D2CB-A9F2A55503A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wrtrNm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직책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wrtrJbttlNm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직책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휴대폰번호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wrtrEnmtno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휴대폰번호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64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암호화휴대전화번호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DEF13B1B-9846-067B-08DD-AB98FCEB3C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876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3C33E4-E4DC-F17B-082F-B9C39DF76C95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(2/2)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52558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26</a:t>
            </a:fld>
            <a:endParaRPr lang="ko-KR" altLang="en-US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1F0E94EC-9BAC-208C-9C16-356647B1F8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8512735"/>
              </p:ext>
            </p:extLst>
          </p:nvPr>
        </p:nvGraphicFramePr>
        <p:xfrm>
          <a:off x="453000" y="1049851"/>
          <a:ext cx="8995591" cy="1141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3103963203"/>
                    </a:ext>
                  </a:extLst>
                </a:gridCol>
                <a:gridCol w="37029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4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공통코드정보를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페이지 로딩 시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차수정보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계약정보 를 조회한다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전자서명 검증 클릭 이벤트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scwin.btn_elsgnVrfc_onclick</a:t>
                      </a:r>
                      <a:endParaRPr lang="en-US" altLang="ko-KR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전자서명 검증 팝업을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인쇄 클릭 이벤트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scwin.btn_print_onclick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증명서 출력 팝업을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(UI-WM-01-P30)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증명서출력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547104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CE4A288-7AB3-FB2A-21DF-A951B1303538}"/>
              </a:ext>
            </a:extLst>
          </p:cNvPr>
          <p:cNvSpPr txBox="1"/>
          <p:nvPr/>
        </p:nvSpPr>
        <p:spPr>
          <a:xfrm>
            <a:off x="458117" y="760911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6" name="Text Box 73">
            <a:extLst>
              <a:ext uri="{FF2B5EF4-FFF2-40B4-BE49-F238E27FC236}">
                <a16:creationId xmlns:a16="http://schemas.microsoft.com/office/drawing/2014/main" id="{BC2CA564-7302-5E8B-9DF2-1E1715C112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82802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443920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착</a:t>
            </a:r>
            <a:r>
              <a:rPr lang="en-US" altLang="ko-KR" dirty="0">
                <a:latin typeface="+mn-ea"/>
              </a:rPr>
              <a:t>.</a:t>
            </a:r>
            <a:r>
              <a:rPr lang="ko-KR" altLang="en-US" dirty="0">
                <a:latin typeface="+mn-ea"/>
              </a:rPr>
              <a:t>중도금신청서 상세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대금</a:t>
            </a:r>
            <a:r>
              <a:rPr lang="en-US" altLang="ko-KR" dirty="0"/>
              <a:t>/</a:t>
            </a:r>
            <a:r>
              <a:rPr lang="ko-KR" altLang="en-US" dirty="0"/>
              <a:t>사후 상세 </a:t>
            </a:r>
            <a:r>
              <a:rPr lang="en-US" altLang="ko-KR" dirty="0"/>
              <a:t>- </a:t>
            </a:r>
            <a:r>
              <a:rPr lang="ko-KR" altLang="en-US" dirty="0">
                <a:latin typeface="+mn-ea"/>
              </a:rPr>
              <a:t>착</a:t>
            </a:r>
            <a:r>
              <a:rPr lang="en-US" altLang="ko-KR" dirty="0">
                <a:latin typeface="+mn-ea"/>
              </a:rPr>
              <a:t>.</a:t>
            </a:r>
            <a:r>
              <a:rPr lang="ko-KR" altLang="en-US" dirty="0">
                <a:latin typeface="+mn-ea"/>
              </a:rPr>
              <a:t>중도금신청서</a:t>
            </a:r>
            <a:r>
              <a:rPr lang="ko-KR" altLang="en-US" dirty="0"/>
              <a:t> 상세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착</a:t>
            </a:r>
            <a:r>
              <a:rPr lang="en-US" altLang="ko-KR" dirty="0">
                <a:latin typeface="+mn-ea"/>
              </a:rPr>
              <a:t>.</a:t>
            </a:r>
            <a:r>
              <a:rPr lang="ko-KR" altLang="en-US" dirty="0">
                <a:latin typeface="+mn-ea"/>
              </a:rPr>
              <a:t>중도금신청서 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MUI-WM-01-M03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err="1">
                <a:latin typeface="+mn-ea"/>
              </a:rPr>
              <a:t>대금청구</a:t>
            </a:r>
            <a:r>
              <a:rPr lang="ko-KR" altLang="en-US" sz="800" dirty="0">
                <a:latin typeface="+mn-ea"/>
              </a:rPr>
              <a:t> </a:t>
            </a:r>
            <a:r>
              <a:rPr lang="ko-KR" altLang="en-US" sz="800" dirty="0" err="1">
                <a:latin typeface="+mn-ea"/>
              </a:rPr>
              <a:t>상세조회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81461" y="2462389"/>
            <a:ext cx="247325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 err="1"/>
              <a:t>계약번호</a:t>
            </a:r>
            <a:r>
              <a:rPr lang="ko-KR" altLang="en-US" sz="700" dirty="0"/>
              <a:t> </a:t>
            </a:r>
            <a:r>
              <a:rPr lang="en-US" altLang="ko-KR" sz="700" dirty="0"/>
              <a:t>2025000000 - 01</a:t>
            </a:r>
          </a:p>
          <a:p>
            <a:r>
              <a:rPr lang="ko-KR" altLang="en-US" sz="900" b="1" dirty="0"/>
              <a:t>물품구매</a:t>
            </a:r>
          </a:p>
        </p:txBody>
      </p:sp>
      <p:sp>
        <p:nvSpPr>
          <p:cNvPr id="56" name="TextBox 59">
            <a:extLst>
              <a:ext uri="{FF2B5EF4-FFF2-40B4-BE49-F238E27FC236}">
                <a16:creationId xmlns:a16="http://schemas.microsoft.com/office/drawing/2014/main" id="{F77C802D-3BC8-270F-87FC-5F442BD8054D}"/>
              </a:ext>
            </a:extLst>
          </p:cNvPr>
          <p:cNvSpPr txBox="1"/>
          <p:nvPr/>
        </p:nvSpPr>
        <p:spPr>
          <a:xfrm>
            <a:off x="781461" y="2797454"/>
            <a:ext cx="307777" cy="39767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sz="600" dirty="0" err="1">
                <a:latin typeface="+mn-ea"/>
              </a:rPr>
              <a:t>계약일자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발주기관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계약금액</a:t>
            </a:r>
            <a:endParaRPr lang="en-US" altLang="ko-KR" sz="600" dirty="0">
              <a:latin typeface="+mn-ea"/>
            </a:endParaRPr>
          </a:p>
        </p:txBody>
      </p:sp>
      <p:sp>
        <p:nvSpPr>
          <p:cNvPr id="57" name="TextBox 60">
            <a:extLst>
              <a:ext uri="{FF2B5EF4-FFF2-40B4-BE49-F238E27FC236}">
                <a16:creationId xmlns:a16="http://schemas.microsoft.com/office/drawing/2014/main" id="{8F5E3227-69E6-C89F-B8C5-534226E95EA8}"/>
              </a:ext>
            </a:extLst>
          </p:cNvPr>
          <p:cNvSpPr txBox="1"/>
          <p:nvPr/>
        </p:nvSpPr>
        <p:spPr>
          <a:xfrm>
            <a:off x="2596303" y="2782065"/>
            <a:ext cx="472886" cy="39767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2026-02-10</a:t>
            </a:r>
          </a:p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제</a:t>
            </a:r>
            <a:r>
              <a:rPr lang="en-US" altLang="ko-KR" sz="600" dirty="0">
                <a:latin typeface="+mn-ea"/>
              </a:rPr>
              <a:t>8385</a:t>
            </a:r>
            <a:r>
              <a:rPr lang="ko-KR" altLang="en-US" sz="600" dirty="0">
                <a:latin typeface="+mn-ea"/>
              </a:rPr>
              <a:t>부대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11,616,000 </a:t>
            </a:r>
            <a:r>
              <a:rPr lang="ko-KR" altLang="en-US" sz="600" dirty="0">
                <a:latin typeface="+mn-ea"/>
              </a:rPr>
              <a:t>원</a:t>
            </a:r>
            <a:endParaRPr lang="en-US" altLang="ko-KR" sz="600" dirty="0">
              <a:latin typeface="+mn-ea"/>
            </a:endParaRPr>
          </a:p>
        </p:txBody>
      </p:sp>
      <p:sp>
        <p:nvSpPr>
          <p:cNvPr id="67" name="모서리가 둥근 직사각형 66"/>
          <p:cNvSpPr/>
          <p:nvPr/>
        </p:nvSpPr>
        <p:spPr>
          <a:xfrm>
            <a:off x="781461" y="227805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물품</a:t>
            </a:r>
          </a:p>
        </p:txBody>
      </p:sp>
      <p:sp>
        <p:nvSpPr>
          <p:cNvPr id="68" name="모서리가 둥근 직사각형 67"/>
          <p:cNvSpPr/>
          <p:nvPr/>
        </p:nvSpPr>
        <p:spPr>
          <a:xfrm>
            <a:off x="1075655" y="2278058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수의계약</a:t>
            </a:r>
          </a:p>
        </p:txBody>
      </p: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66319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00442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3696944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 smtClean="0">
                <a:latin typeface="+mn-ea"/>
              </a:rPr>
              <a:t>업무도움</a:t>
            </a:r>
            <a:endParaRPr lang="ko-KR" altLang="en-US" sz="700" dirty="0">
              <a:latin typeface="+mn-ea"/>
            </a:endParaRPr>
          </a:p>
        </p:txBody>
      </p:sp>
      <p:sp>
        <p:nvSpPr>
          <p:cNvPr id="129" name="타원 128"/>
          <p:cNvSpPr/>
          <p:nvPr/>
        </p:nvSpPr>
        <p:spPr>
          <a:xfrm>
            <a:off x="783686" y="3728289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0" name="그룹 129"/>
          <p:cNvGrpSpPr/>
          <p:nvPr/>
        </p:nvGrpSpPr>
        <p:grpSpPr>
          <a:xfrm>
            <a:off x="3143548" y="3810275"/>
            <a:ext cx="94010" cy="47005"/>
            <a:chOff x="6812560" y="3297172"/>
            <a:chExt cx="94010" cy="47005"/>
          </a:xfrm>
        </p:grpSpPr>
        <p:cxnSp>
          <p:nvCxnSpPr>
            <p:cNvPr id="131" name="직선 연결선 13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2" name="직선 연결선 13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35884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4142235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545" y="4142235"/>
            <a:ext cx="58899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세부 </a:t>
            </a:r>
            <a:r>
              <a:rPr lang="ko-KR" altLang="en-US" sz="700" dirty="0" err="1">
                <a:latin typeface="+mn-ea"/>
              </a:rPr>
              <a:t>신청내역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358842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" name="그룹 6"/>
          <p:cNvGrpSpPr/>
          <p:nvPr/>
        </p:nvGrpSpPr>
        <p:grpSpPr>
          <a:xfrm>
            <a:off x="2924086" y="4104112"/>
            <a:ext cx="422853" cy="187961"/>
            <a:chOff x="3641308" y="2234886"/>
            <a:chExt cx="422853" cy="187961"/>
          </a:xfrm>
        </p:grpSpPr>
        <p:sp>
          <p:nvSpPr>
            <p:cNvPr id="88" name="타원 87"/>
            <p:cNvSpPr/>
            <p:nvPr/>
          </p:nvSpPr>
          <p:spPr>
            <a:xfrm flipH="1">
              <a:off x="3641308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3" name="그룹 92"/>
            <p:cNvGrpSpPr/>
            <p:nvPr/>
          </p:nvGrpSpPr>
          <p:grpSpPr>
            <a:xfrm rot="5400000" flipH="1">
              <a:off x="3679895" y="2305364"/>
              <a:ext cx="94010" cy="47005"/>
              <a:chOff x="6812560" y="3297172"/>
              <a:chExt cx="94010" cy="47005"/>
            </a:xfrm>
          </p:grpSpPr>
          <p:cxnSp>
            <p:nvCxnSpPr>
              <p:cNvPr id="94" name="직선 연결선 9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직선 연결선 9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7" name="타원 96"/>
            <p:cNvSpPr/>
            <p:nvPr/>
          </p:nvSpPr>
          <p:spPr>
            <a:xfrm>
              <a:off x="3876200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8" name="그룹 97"/>
            <p:cNvGrpSpPr/>
            <p:nvPr/>
          </p:nvGrpSpPr>
          <p:grpSpPr>
            <a:xfrm rot="16200000">
              <a:off x="3931564" y="2305364"/>
              <a:ext cx="94010" cy="47005"/>
              <a:chOff x="6812560" y="3297172"/>
              <a:chExt cx="94010" cy="47005"/>
            </a:xfrm>
          </p:grpSpPr>
          <p:cxnSp>
            <p:nvCxnSpPr>
              <p:cNvPr id="99" name="직선 연결선 9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직선 연결선 9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8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3884993" y="1786672"/>
            <a:ext cx="247325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 err="1"/>
              <a:t>계약번호</a:t>
            </a:r>
            <a:r>
              <a:rPr lang="ko-KR" altLang="en-US" sz="700" dirty="0"/>
              <a:t> </a:t>
            </a:r>
            <a:r>
              <a:rPr lang="en-US" altLang="ko-KR" sz="700" dirty="0"/>
              <a:t>2025000000 - 01</a:t>
            </a:r>
          </a:p>
          <a:p>
            <a:r>
              <a:rPr lang="ko-KR" altLang="en-US" sz="900" b="1" dirty="0"/>
              <a:t>물품구매</a:t>
            </a:r>
          </a:p>
        </p:txBody>
      </p:sp>
      <p:sp>
        <p:nvSpPr>
          <p:cNvPr id="191" name="모서리가 둥근 직사각형 190"/>
          <p:cNvSpPr/>
          <p:nvPr/>
        </p:nvSpPr>
        <p:spPr>
          <a:xfrm>
            <a:off x="3884993" y="1602341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물품</a:t>
            </a:r>
          </a:p>
        </p:txBody>
      </p:sp>
      <p:sp>
        <p:nvSpPr>
          <p:cNvPr id="192" name="모서리가 둥근 직사각형 191"/>
          <p:cNvSpPr/>
          <p:nvPr/>
        </p:nvSpPr>
        <p:spPr>
          <a:xfrm>
            <a:off x="4179187" y="1602341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수의계약</a:t>
            </a:r>
          </a:p>
        </p:txBody>
      </p:sp>
      <p:cxnSp>
        <p:nvCxnSpPr>
          <p:cNvPr id="193" name="직선 연결선 19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211123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3" name="직선 연결선 20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4022" y="246721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04" name="TextBox 20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67701" y="2250612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2077" y="2250612"/>
            <a:ext cx="590461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세부 </a:t>
            </a:r>
            <a:r>
              <a:rPr lang="ko-KR" altLang="en-US" sz="700" dirty="0" err="1">
                <a:latin typeface="+mn-ea"/>
              </a:rPr>
              <a:t>신청내역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208" name="직선 연결선 20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4022" y="2467219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09" name="그룹 208"/>
          <p:cNvGrpSpPr/>
          <p:nvPr/>
        </p:nvGrpSpPr>
        <p:grpSpPr>
          <a:xfrm>
            <a:off x="6027618" y="2212489"/>
            <a:ext cx="422853" cy="187961"/>
            <a:chOff x="3641308" y="2234886"/>
            <a:chExt cx="422853" cy="187961"/>
          </a:xfrm>
        </p:grpSpPr>
        <p:sp>
          <p:nvSpPr>
            <p:cNvPr id="210" name="타원 209"/>
            <p:cNvSpPr/>
            <p:nvPr/>
          </p:nvSpPr>
          <p:spPr>
            <a:xfrm flipH="1">
              <a:off x="3641308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11" name="그룹 210"/>
            <p:cNvGrpSpPr/>
            <p:nvPr/>
          </p:nvGrpSpPr>
          <p:grpSpPr>
            <a:xfrm rot="5400000" flipH="1">
              <a:off x="3679895" y="2305364"/>
              <a:ext cx="94010" cy="47005"/>
              <a:chOff x="6812560" y="3297172"/>
              <a:chExt cx="94010" cy="47005"/>
            </a:xfrm>
          </p:grpSpPr>
          <p:cxnSp>
            <p:nvCxnSpPr>
              <p:cNvPr id="216" name="직선 연결선 215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7" name="직선 연결선 216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12" name="타원 211"/>
            <p:cNvSpPr/>
            <p:nvPr/>
          </p:nvSpPr>
          <p:spPr>
            <a:xfrm>
              <a:off x="3876200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13" name="그룹 212"/>
            <p:cNvGrpSpPr/>
            <p:nvPr/>
          </p:nvGrpSpPr>
          <p:grpSpPr>
            <a:xfrm rot="16200000">
              <a:off x="3931564" y="2305364"/>
              <a:ext cx="94010" cy="47005"/>
              <a:chOff x="6812560" y="3297172"/>
              <a:chExt cx="94010" cy="47005"/>
            </a:xfrm>
          </p:grpSpPr>
          <p:cxnSp>
            <p:nvCxnSpPr>
              <p:cNvPr id="214" name="직선 연결선 21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5" name="직선 연결선 21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84" name="타원 283"/>
          <p:cNvSpPr/>
          <p:nvPr/>
        </p:nvSpPr>
        <p:spPr>
          <a:xfrm>
            <a:off x="6596790" y="564023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8" name="그룹 27"/>
          <p:cNvGrpSpPr/>
          <p:nvPr/>
        </p:nvGrpSpPr>
        <p:grpSpPr>
          <a:xfrm>
            <a:off x="6726257" y="5769705"/>
            <a:ext cx="124144" cy="124144"/>
            <a:chOff x="162544" y="5299917"/>
            <a:chExt cx="124144" cy="124144"/>
          </a:xfrm>
        </p:grpSpPr>
        <p:cxnSp>
          <p:nvCxnSpPr>
            <p:cNvPr id="288" name="직선 연결선 287"/>
            <p:cNvCxnSpPr/>
            <p:nvPr/>
          </p:nvCxnSpPr>
          <p:spPr>
            <a:xfrm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9" name="직선 연결선 288"/>
            <p:cNvCxnSpPr/>
            <p:nvPr/>
          </p:nvCxnSpPr>
          <p:spPr>
            <a:xfrm rot="16200000"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95" name="직선 연결선 29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30551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9" name="그룹 8"/>
          <p:cNvGrpSpPr/>
          <p:nvPr/>
        </p:nvGrpSpPr>
        <p:grpSpPr>
          <a:xfrm>
            <a:off x="3796091" y="4161857"/>
            <a:ext cx="2712027" cy="830059"/>
            <a:chOff x="3796091" y="4161857"/>
            <a:chExt cx="2712027" cy="830059"/>
          </a:xfrm>
        </p:grpSpPr>
        <p:cxnSp>
          <p:nvCxnSpPr>
            <p:cNvPr id="302" name="직선 연결선 30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6091" y="416185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03" name="TextBox 30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02153" y="4193387"/>
              <a:ext cx="84376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공급자 정보</a:t>
              </a:r>
            </a:p>
          </p:txBody>
        </p:sp>
        <p:grpSp>
          <p:nvGrpSpPr>
            <p:cNvPr id="304" name="그룹 303"/>
            <p:cNvGrpSpPr/>
            <p:nvPr/>
          </p:nvGrpSpPr>
          <p:grpSpPr>
            <a:xfrm flipV="1">
              <a:off x="6264240" y="4306718"/>
              <a:ext cx="94010" cy="47005"/>
              <a:chOff x="6812560" y="3297172"/>
              <a:chExt cx="94010" cy="47005"/>
            </a:xfrm>
          </p:grpSpPr>
          <p:cxnSp>
            <p:nvCxnSpPr>
              <p:cNvPr id="305" name="직선 연결선 30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6" name="직선 연결선 30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07" name="TextBox 30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63885" y="4524104"/>
              <a:ext cx="493904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6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작성자명</a:t>
              </a:r>
              <a:r>
                <a:rPr lang="en-US" altLang="ko-KR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/</a:t>
              </a:r>
              <a:r>
                <a:rPr lang="ko-KR" altLang="en-US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직책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309" name="TextBox 30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159018" y="4524104"/>
              <a:ext cx="493904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휴대폰번호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311" name="모서리가 둥근 직사각형 310"/>
            <p:cNvSpPr/>
            <p:nvPr/>
          </p:nvSpPr>
          <p:spPr>
            <a:xfrm>
              <a:off x="3831550" y="4647106"/>
              <a:ext cx="2652743" cy="344810"/>
            </a:xfrm>
            <a:prstGeom prst="roundRect">
              <a:avLst>
                <a:gd name="adj" fmla="val 9062"/>
              </a:avLst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2" name="TextBox 31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63885" y="4765650"/>
              <a:ext cx="49390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홍길동 대리</a:t>
              </a:r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159018" y="4765650"/>
              <a:ext cx="64751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010-1234-5678</a:t>
              </a:r>
            </a:p>
          </p:txBody>
        </p:sp>
      </p:grpSp>
      <p:sp>
        <p:nvSpPr>
          <p:cNvPr id="337" name="모서리가 둥근 직사각형 336"/>
          <p:cNvSpPr/>
          <p:nvPr/>
        </p:nvSpPr>
        <p:spPr>
          <a:xfrm>
            <a:off x="781461" y="1944348"/>
            <a:ext cx="243478" cy="119400"/>
          </a:xfrm>
          <a:prstGeom prst="roundRect">
            <a:avLst>
              <a:gd name="adj" fmla="val 23409"/>
            </a:avLst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>
                <a:solidFill>
                  <a:srgbClr val="FF0000"/>
                </a:solidFill>
              </a:rPr>
              <a:t>중요</a:t>
            </a:r>
            <a:endParaRPr lang="ko-KR" altLang="en-US" sz="600" dirty="0">
              <a:solidFill>
                <a:srgbClr val="FF0000"/>
              </a:solidFill>
            </a:endParaRPr>
          </a:p>
        </p:txBody>
      </p:sp>
      <p:sp>
        <p:nvSpPr>
          <p:cNvPr id="338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1082843" y="1950187"/>
            <a:ext cx="220200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700" dirty="0">
                <a:solidFill>
                  <a:prstClr val="black"/>
                </a:solidFill>
              </a:rPr>
              <a:t>대금 신청</a:t>
            </a:r>
            <a:r>
              <a:rPr lang="en-US" altLang="ko-KR" sz="700" dirty="0">
                <a:solidFill>
                  <a:prstClr val="black"/>
                </a:solidFill>
              </a:rPr>
              <a:t>, </a:t>
            </a:r>
            <a:r>
              <a:rPr lang="ko-KR" altLang="en-US" sz="700" dirty="0">
                <a:solidFill>
                  <a:prstClr val="black"/>
                </a:solidFill>
              </a:rPr>
              <a:t>청구는 </a:t>
            </a:r>
            <a:r>
              <a:rPr lang="en-US" altLang="ko-KR" sz="700" dirty="0">
                <a:solidFill>
                  <a:prstClr val="black"/>
                </a:solidFill>
              </a:rPr>
              <a:t>PC </a:t>
            </a:r>
            <a:r>
              <a:rPr lang="ko-KR" altLang="en-US" sz="700" dirty="0">
                <a:solidFill>
                  <a:prstClr val="black"/>
                </a:solidFill>
              </a:rPr>
              <a:t>버전에서 가능합니다</a:t>
            </a:r>
            <a:r>
              <a:rPr lang="en-US" altLang="ko-KR" sz="700" dirty="0">
                <a:solidFill>
                  <a:prstClr val="black"/>
                </a:solidFill>
              </a:rPr>
              <a:t>.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cxnSp>
        <p:nvCxnSpPr>
          <p:cNvPr id="340" name="직선 연결선 33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15091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6" name="그룹 5"/>
          <p:cNvGrpSpPr/>
          <p:nvPr/>
        </p:nvGrpSpPr>
        <p:grpSpPr>
          <a:xfrm>
            <a:off x="3836701" y="2540391"/>
            <a:ext cx="2630093" cy="1551225"/>
            <a:chOff x="3836701" y="2575831"/>
            <a:chExt cx="2630093" cy="1551225"/>
          </a:xfrm>
        </p:grpSpPr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7672" y="2575831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계약내용</a:t>
              </a:r>
            </a:p>
          </p:txBody>
        </p:sp>
        <p:sp>
          <p:nvSpPr>
            <p:cNvPr id="253" name="직사각형 252"/>
            <p:cNvSpPr/>
            <p:nvPr/>
          </p:nvSpPr>
          <p:spPr>
            <a:xfrm>
              <a:off x="3838794" y="2827415"/>
              <a:ext cx="792000" cy="129964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55" name="직선 연결선 25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1" y="2827416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2827416"/>
              <a:ext cx="670770" cy="126188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600" dirty="0">
                  <a:latin typeface="+mn-ea"/>
                </a:rPr>
                <a:t>계약금액</a:t>
              </a:r>
              <a:r>
                <a:rPr lang="en-US" altLang="ko-KR" sz="600" dirty="0">
                  <a:latin typeface="+mn-ea"/>
                </a:rPr>
                <a:t>(</a:t>
              </a:r>
              <a:r>
                <a:rPr lang="ko-KR" altLang="en-US" sz="600" dirty="0" err="1">
                  <a:latin typeface="+mn-ea"/>
                </a:rPr>
                <a:t>대상금액</a:t>
              </a:r>
              <a:r>
                <a:rPr lang="en-US" altLang="ko-KR" sz="600" dirty="0">
                  <a:latin typeface="+mn-ea"/>
                </a:rPr>
                <a:t>)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납기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최종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비고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82706" y="2827416"/>
              <a:ext cx="1775839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2025-11-23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20257135021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배추김치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2026-01-01 ~ 2026-12~31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</p:txBody>
        </p:sp>
        <p:cxnSp>
          <p:nvCxnSpPr>
            <p:cNvPr id="262" name="직선 연결선 2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0585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3" name="직선 연결선 2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27222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4" name="직선 연결선 2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4859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5" name="직선 연결선 2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69964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6" name="직선 연결선 2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91334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8" name="직선 연결선 2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12705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59" name="그룹 158"/>
            <p:cNvGrpSpPr/>
            <p:nvPr/>
          </p:nvGrpSpPr>
          <p:grpSpPr>
            <a:xfrm flipV="1">
              <a:off x="6259759" y="2635184"/>
              <a:ext cx="94010" cy="47005"/>
              <a:chOff x="6812560" y="3297172"/>
              <a:chExt cx="94010" cy="47005"/>
            </a:xfrm>
          </p:grpSpPr>
          <p:cxnSp>
            <p:nvCxnSpPr>
              <p:cNvPr id="160" name="직선 연결선 15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" name="직선 연결선 16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8" name="그룹 7"/>
          <p:cNvGrpSpPr/>
          <p:nvPr/>
        </p:nvGrpSpPr>
        <p:grpSpPr>
          <a:xfrm>
            <a:off x="720490" y="4465173"/>
            <a:ext cx="2630093" cy="1600369"/>
            <a:chOff x="720490" y="4465173"/>
            <a:chExt cx="2630093" cy="1600369"/>
          </a:xfrm>
        </p:grpSpPr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07" name="그룹 106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108" name="직선 연결선 10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9" name="직선 연결선 10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" name="직사각형 15"/>
            <p:cNvSpPr/>
            <p:nvPr/>
          </p:nvSpPr>
          <p:spPr>
            <a:xfrm>
              <a:off x="722583" y="4772658"/>
              <a:ext cx="792000" cy="12926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670770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차수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수신자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신청구분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2025 0000 00 - 01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방위사업청</a:t>
              </a:r>
              <a:r>
                <a:rPr lang="ko-KR" altLang="en-US" sz="700" dirty="0">
                  <a:latin typeface="+mn-ea"/>
                </a:rPr>
                <a:t> 계약관리본부 재무관 귀하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2026-01-30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\ </a:t>
              </a:r>
              <a:r>
                <a:rPr lang="ko-KR" altLang="en-US" sz="700" dirty="0">
                  <a:latin typeface="+mn-ea"/>
                </a:rPr>
                <a:t>일백만 </a:t>
              </a:r>
              <a:r>
                <a:rPr lang="ko-KR" altLang="en-US" sz="700" dirty="0" smtClean="0">
                  <a:latin typeface="+mn-ea"/>
                </a:rPr>
                <a:t>원정</a:t>
              </a:r>
              <a:endParaRPr lang="en-US" altLang="ko-KR" sz="700" dirty="0" smtClean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착수금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15" name="직선 연결선 1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6" name="직선 연결선 11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7" name="직선 연결선 11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0" name="직선 연결선 16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1" name="직선 연결선 17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397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3" name="직선 연결선 15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6554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151" name="모서리가 둥근 직사각형 150"/>
          <p:cNvSpPr/>
          <p:nvPr/>
        </p:nvSpPr>
        <p:spPr>
          <a:xfrm>
            <a:off x="1513040" y="2278058"/>
            <a:ext cx="555911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착중도금신청</a:t>
            </a:r>
            <a:endParaRPr lang="ko-KR" altLang="en-US" sz="600" dirty="0"/>
          </a:p>
        </p:txBody>
      </p:sp>
      <p:sp>
        <p:nvSpPr>
          <p:cNvPr id="152" name="모서리가 둥근 직사각형 151"/>
          <p:cNvSpPr/>
          <p:nvPr/>
        </p:nvSpPr>
        <p:spPr>
          <a:xfrm>
            <a:off x="4623744" y="1602341"/>
            <a:ext cx="555911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착중도금신청</a:t>
            </a:r>
            <a:endParaRPr lang="ko-KR" altLang="en-US" sz="600" dirty="0"/>
          </a:p>
        </p:txBody>
      </p:sp>
      <p:grpSp>
        <p:nvGrpSpPr>
          <p:cNvPr id="156" name="그룹 155"/>
          <p:cNvGrpSpPr/>
          <p:nvPr/>
        </p:nvGrpSpPr>
        <p:grpSpPr>
          <a:xfrm>
            <a:off x="747925" y="3401909"/>
            <a:ext cx="2599014" cy="187961"/>
            <a:chOff x="747925" y="3393200"/>
            <a:chExt cx="2599014" cy="187961"/>
          </a:xfrm>
        </p:grpSpPr>
        <p:grpSp>
          <p:nvGrpSpPr>
            <p:cNvPr id="163" name="그룹 162"/>
            <p:cNvGrpSpPr/>
            <p:nvPr/>
          </p:nvGrpSpPr>
          <p:grpSpPr>
            <a:xfrm rot="16200000">
              <a:off x="1250697" y="3463679"/>
              <a:ext cx="94010" cy="47005"/>
              <a:chOff x="6812560" y="3297172"/>
              <a:chExt cx="94010" cy="47005"/>
            </a:xfrm>
          </p:grpSpPr>
          <p:cxnSp>
            <p:nvCxnSpPr>
              <p:cNvPr id="222" name="직선 연결선 22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3" name="직선 연결선 22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604170" y="3433319"/>
              <a:ext cx="40086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계약</a:t>
              </a:r>
            </a:p>
          </p:txBody>
        </p:sp>
        <p:sp>
          <p:nvSpPr>
            <p:cNvPr id="165" name="타원 164"/>
            <p:cNvSpPr/>
            <p:nvPr/>
          </p:nvSpPr>
          <p:spPr>
            <a:xfrm>
              <a:off x="1404035" y="3393200"/>
              <a:ext cx="187961" cy="18796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459092" y="3433319"/>
              <a:ext cx="7784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latin typeface="+mn-ea"/>
                </a:rPr>
                <a:t>3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67" name="그룹 166"/>
            <p:cNvGrpSpPr/>
            <p:nvPr/>
          </p:nvGrpSpPr>
          <p:grpSpPr>
            <a:xfrm rot="16200000">
              <a:off x="1906808" y="3463679"/>
              <a:ext cx="94010" cy="47005"/>
              <a:chOff x="6812560" y="3297172"/>
              <a:chExt cx="94010" cy="47005"/>
            </a:xfrm>
          </p:grpSpPr>
          <p:cxnSp>
            <p:nvCxnSpPr>
              <p:cNvPr id="220" name="직선 연결선 21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1" name="직선 연결선 22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68" name="그룹 167"/>
            <p:cNvGrpSpPr/>
            <p:nvPr/>
          </p:nvGrpSpPr>
          <p:grpSpPr>
            <a:xfrm rot="16200000">
              <a:off x="2562920" y="3463679"/>
              <a:ext cx="94010" cy="47005"/>
              <a:chOff x="6812560" y="3297172"/>
              <a:chExt cx="94010" cy="47005"/>
            </a:xfrm>
          </p:grpSpPr>
          <p:cxnSp>
            <p:nvCxnSpPr>
              <p:cNvPr id="218" name="직선 연결선 21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9" name="직선 연결선 21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9" name="타원 168"/>
            <p:cNvSpPr/>
            <p:nvPr/>
          </p:nvSpPr>
          <p:spPr>
            <a:xfrm>
              <a:off x="747925" y="3393200"/>
              <a:ext cx="187961" cy="18796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2982" y="3433319"/>
              <a:ext cx="7784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latin typeface="+mn-ea"/>
                </a:rPr>
                <a:t>2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51350" y="3433319"/>
              <a:ext cx="397576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입찰</a:t>
              </a:r>
            </a:p>
          </p:txBody>
        </p:sp>
        <p:sp>
          <p:nvSpPr>
            <p:cNvPr id="174" name="타원 173"/>
            <p:cNvSpPr/>
            <p:nvPr/>
          </p:nvSpPr>
          <p:spPr>
            <a:xfrm>
              <a:off x="2058749" y="3393200"/>
              <a:ext cx="187961" cy="18796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113806" y="3433319"/>
              <a:ext cx="7784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latin typeface="+mn-ea"/>
                </a:rPr>
                <a:t>4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263899" y="3433319"/>
              <a:ext cx="39864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이행</a:t>
              </a:r>
            </a:p>
          </p:txBody>
        </p:sp>
        <p:sp>
          <p:nvSpPr>
            <p:cNvPr id="178" name="타원 177"/>
            <p:cNvSpPr/>
            <p:nvPr/>
          </p:nvSpPr>
          <p:spPr>
            <a:xfrm>
              <a:off x="2714860" y="3393200"/>
              <a:ext cx="187961" cy="187961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769917" y="3433319"/>
              <a:ext cx="7784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solidFill>
                    <a:schemeClr val="bg1"/>
                  </a:solidFill>
                  <a:latin typeface="+mn-ea"/>
                </a:rPr>
                <a:t>5</a:t>
              </a:r>
              <a:endParaRPr lang="ko-KR" altLang="en-US" sz="7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920010" y="3433319"/>
              <a:ext cx="39864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대금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사후</a:t>
              </a:r>
            </a:p>
          </p:txBody>
        </p:sp>
        <p:grpSp>
          <p:nvGrpSpPr>
            <p:cNvPr id="181" name="그룹 180"/>
            <p:cNvGrpSpPr/>
            <p:nvPr/>
          </p:nvGrpSpPr>
          <p:grpSpPr>
            <a:xfrm rot="5400000">
              <a:off x="3158978" y="3393200"/>
              <a:ext cx="187961" cy="187961"/>
              <a:chOff x="3876200" y="2234886"/>
              <a:chExt cx="187961" cy="187961"/>
            </a:xfrm>
          </p:grpSpPr>
          <p:sp>
            <p:nvSpPr>
              <p:cNvPr id="185" name="타원 184"/>
              <p:cNvSpPr/>
              <p:nvPr/>
            </p:nvSpPr>
            <p:spPr>
              <a:xfrm>
                <a:off x="3876200" y="2234886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87" name="그룹 186"/>
              <p:cNvGrpSpPr/>
              <p:nvPr/>
            </p:nvGrpSpPr>
            <p:grpSpPr>
              <a:xfrm rot="16200000">
                <a:off x="3931564" y="2305364"/>
                <a:ext cx="94010" cy="47005"/>
                <a:chOff x="6812560" y="3297172"/>
                <a:chExt cx="94010" cy="47005"/>
              </a:xfrm>
            </p:grpSpPr>
            <p:cxnSp>
              <p:nvCxnSpPr>
                <p:cNvPr id="206" name="직선 연결선 205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직선 연결선 206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182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 txBox="1">
            <a:spLocks/>
          </p:cNvSpPr>
          <p:nvPr/>
        </p:nvSpPr>
        <p:spPr>
          <a:xfrm>
            <a:off x="7068023" y="1513670"/>
            <a:ext cx="2300284" cy="4981517"/>
          </a:xfrm>
          <a:prstGeom prst="rect">
            <a:avLst/>
          </a:prstGeom>
        </p:spPr>
        <p:txBody>
          <a:bodyPr/>
          <a:lstStyle>
            <a:lvl1pPr marL="87313" indent="-87313" algn="l" defTabSz="914400" rtl="0" eaLnBrk="1" latinLnBrk="1" hangingPunct="1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Char char="•"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indent="-228600">
              <a:buFont typeface="+mj-lt"/>
              <a:buAutoNum type="arabicPeriod"/>
            </a:pPr>
            <a:r>
              <a:rPr lang="ko-KR" altLang="en-US" sz="800" dirty="0" smtClean="0"/>
              <a:t>타이틀 영역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en-US" altLang="ko-KR" sz="800" dirty="0" smtClean="0"/>
              <a:t>1-1] </a:t>
            </a:r>
            <a:r>
              <a:rPr lang="ko-KR" altLang="en-US" sz="800" dirty="0" smtClean="0"/>
              <a:t>레이블이 화면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en-US" altLang="ko-KR" sz="800" dirty="0" smtClean="0"/>
              <a:t>- </a:t>
            </a:r>
            <a:r>
              <a:rPr lang="ko-KR" altLang="en-US" sz="800" dirty="0" smtClean="0"/>
              <a:t>화면 넘치는 경우 드래그하여 확인 가능 </a:t>
            </a:r>
            <a:r>
              <a:rPr lang="en-US" altLang="ko-KR" sz="800" dirty="0" smtClean="0"/>
              <a:t>(</a:t>
            </a:r>
            <a:r>
              <a:rPr lang="ko-KR" altLang="en-US" sz="800" dirty="0" err="1" smtClean="0"/>
              <a:t>스와이프기능</a:t>
            </a:r>
            <a:r>
              <a:rPr lang="ko-KR" altLang="en-US" sz="800" dirty="0" smtClean="0"/>
              <a:t> 반영 필요</a:t>
            </a:r>
            <a:r>
              <a:rPr lang="en-US" altLang="ko-KR" sz="800" dirty="0" smtClean="0"/>
              <a:t>)</a:t>
            </a:r>
            <a:br>
              <a:rPr lang="en-US" altLang="ko-KR" sz="800" dirty="0" smtClean="0"/>
            </a:br>
            <a:r>
              <a:rPr lang="en-US" altLang="ko-KR" sz="800" dirty="0" smtClean="0"/>
              <a:t>1-2] </a:t>
            </a:r>
            <a:r>
              <a:rPr lang="ko-KR" altLang="en-US" sz="800" dirty="0" smtClean="0"/>
              <a:t>문서 정보 영역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en-US" altLang="ko-KR" sz="800" dirty="0" smtClean="0"/>
              <a:t>- </a:t>
            </a:r>
            <a:r>
              <a:rPr lang="ko-KR" altLang="en-US" sz="800" dirty="0" err="1" smtClean="0"/>
              <a:t>판단번호</a:t>
            </a:r>
            <a:r>
              <a:rPr lang="ko-KR" altLang="en-US" sz="800" dirty="0" smtClean="0"/>
              <a:t> </a:t>
            </a:r>
            <a:r>
              <a:rPr lang="en-US" altLang="ko-KR" sz="800" dirty="0" smtClean="0"/>
              <a:t>,  </a:t>
            </a:r>
            <a:r>
              <a:rPr lang="ko-KR" altLang="en-US" sz="800" dirty="0" err="1" smtClean="0"/>
              <a:t>계약번호</a:t>
            </a:r>
            <a:r>
              <a:rPr lang="ko-KR" altLang="en-US" sz="800" dirty="0" smtClean="0"/>
              <a:t> 노출 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en-US" altLang="ko-KR" sz="800" dirty="0" smtClean="0"/>
              <a:t>- </a:t>
            </a:r>
            <a:r>
              <a:rPr lang="ko-KR" altLang="en-US" sz="800" dirty="0" err="1" smtClean="0"/>
              <a:t>판단번호</a:t>
            </a:r>
            <a:r>
              <a:rPr lang="ko-KR" altLang="en-US" sz="800" dirty="0" smtClean="0"/>
              <a:t> </a:t>
            </a:r>
            <a:r>
              <a:rPr lang="ko-KR" altLang="en-US" sz="800" dirty="0" err="1" smtClean="0"/>
              <a:t>전체노출</a:t>
            </a:r>
            <a:r>
              <a:rPr lang="ko-KR" altLang="en-US" sz="800" dirty="0" smtClean="0"/>
              <a:t> </a:t>
            </a:r>
            <a:r>
              <a:rPr lang="en-US" altLang="ko-KR" sz="800" dirty="0" smtClean="0"/>
              <a:t>/ </a:t>
            </a:r>
            <a:r>
              <a:rPr lang="ko-KR" altLang="en-US" sz="800" dirty="0" err="1" smtClean="0"/>
              <a:t>계약번호</a:t>
            </a:r>
            <a:r>
              <a:rPr lang="ko-KR" altLang="en-US" sz="800" dirty="0" smtClean="0"/>
              <a:t> </a:t>
            </a:r>
            <a:r>
              <a:rPr lang="ko-KR" altLang="en-US" sz="800" dirty="0" err="1" smtClean="0"/>
              <a:t>노출시</a:t>
            </a:r>
            <a:r>
              <a:rPr lang="ko-KR" altLang="en-US" sz="800" dirty="0" smtClean="0"/>
              <a:t> 해당 라인을 넘어가면 </a:t>
            </a:r>
            <a:r>
              <a:rPr lang="en-US" altLang="ko-KR" sz="800" dirty="0" smtClean="0"/>
              <a:t>(…) </a:t>
            </a:r>
            <a:r>
              <a:rPr lang="ko-KR" altLang="en-US" sz="800" dirty="0" err="1" smtClean="0"/>
              <a:t>말줄임</a:t>
            </a:r>
            <a:r>
              <a:rPr lang="ko-KR" altLang="en-US" sz="800" dirty="0" smtClean="0"/>
              <a:t> 표시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en-US" altLang="ko-KR" sz="800" dirty="0" smtClean="0"/>
              <a:t>1-3] </a:t>
            </a:r>
            <a:r>
              <a:rPr lang="ko-KR" altLang="en-US" sz="800" dirty="0" smtClean="0"/>
              <a:t>문서 제목 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en-US" altLang="ko-KR" sz="800" dirty="0" smtClean="0"/>
              <a:t>- </a:t>
            </a:r>
            <a:r>
              <a:rPr lang="ko-KR" altLang="en-US" sz="800" dirty="0" smtClean="0"/>
              <a:t>제목은 </a:t>
            </a:r>
            <a:r>
              <a:rPr lang="en-US" altLang="ko-KR" sz="800" dirty="0" smtClean="0"/>
              <a:t>2</a:t>
            </a:r>
            <a:r>
              <a:rPr lang="ko-KR" altLang="en-US" sz="800" dirty="0" smtClean="0"/>
              <a:t>줄 까지 노출 이후</a:t>
            </a:r>
            <a:r>
              <a:rPr lang="en-US" altLang="ko-KR" sz="800" dirty="0" smtClean="0"/>
              <a:t>(…) </a:t>
            </a:r>
            <a:r>
              <a:rPr lang="ko-KR" altLang="en-US" sz="800" dirty="0" err="1" smtClean="0"/>
              <a:t>말줄임</a:t>
            </a:r>
            <a:r>
              <a:rPr lang="ko-KR" altLang="en-US" sz="800" dirty="0" smtClean="0"/>
              <a:t> 표시</a:t>
            </a:r>
            <a:endParaRPr lang="en-US" altLang="ko-KR" sz="800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sz="800" dirty="0" err="1" smtClean="0"/>
              <a:t>업무도움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en-US" altLang="ko-KR" sz="800" dirty="0" smtClean="0"/>
              <a:t>- </a:t>
            </a:r>
            <a:r>
              <a:rPr lang="ko-KR" altLang="en-US" sz="800" dirty="0" smtClean="0"/>
              <a:t>기본값 </a:t>
            </a:r>
            <a:r>
              <a:rPr lang="en-US" altLang="ko-KR" sz="800" dirty="0" smtClean="0"/>
              <a:t>: </a:t>
            </a:r>
            <a:r>
              <a:rPr lang="ko-KR" altLang="en-US" sz="800" dirty="0" smtClean="0"/>
              <a:t>접힘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en-US" altLang="ko-KR" sz="800" dirty="0" smtClean="0"/>
              <a:t>- </a:t>
            </a:r>
            <a:r>
              <a:rPr lang="ko-KR" altLang="en-US" sz="800" dirty="0" err="1" smtClean="0"/>
              <a:t>클릭시</a:t>
            </a:r>
            <a:r>
              <a:rPr lang="ko-KR" altLang="en-US" sz="800" dirty="0" smtClean="0"/>
              <a:t> 확장하여 정보 표시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en-US" altLang="ko-KR" sz="800" dirty="0" smtClean="0"/>
              <a:t>-</a:t>
            </a:r>
            <a:r>
              <a:rPr lang="ko-KR" altLang="en-US" sz="800" dirty="0" err="1" smtClean="0"/>
              <a:t>업무도움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en-US" altLang="ko-KR" sz="800" dirty="0" smtClean="0"/>
              <a:t>&gt; </a:t>
            </a:r>
            <a:r>
              <a:rPr lang="ko-KR" altLang="en-US" sz="800" dirty="0" smtClean="0"/>
              <a:t>내역이 있는 경우 만 표시</a:t>
            </a:r>
            <a:endParaRPr lang="en-US" altLang="ko-KR" sz="800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sz="800" dirty="0" smtClean="0"/>
              <a:t>탭 영역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en-US" altLang="ko-KR" sz="800" dirty="0" smtClean="0"/>
              <a:t>- </a:t>
            </a:r>
            <a:r>
              <a:rPr lang="ko-KR" altLang="en-US" sz="800" dirty="0" err="1" smtClean="0"/>
              <a:t>신청정보</a:t>
            </a:r>
            <a:r>
              <a:rPr lang="ko-KR" altLang="en-US" sz="800" dirty="0" smtClean="0"/>
              <a:t> </a:t>
            </a:r>
            <a:r>
              <a:rPr lang="en-US" altLang="ko-KR" sz="800" dirty="0" smtClean="0"/>
              <a:t>Tab</a:t>
            </a:r>
            <a:r>
              <a:rPr lang="ko-KR" altLang="en-US" sz="800" dirty="0" smtClean="0"/>
              <a:t>은 진입 시 고정 노출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en-US" altLang="ko-KR" sz="800" dirty="0" smtClean="0"/>
              <a:t>- </a:t>
            </a:r>
            <a:r>
              <a:rPr lang="ko-KR" altLang="en-US" sz="800" dirty="0" smtClean="0"/>
              <a:t>탭 내용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ko-KR" altLang="en-US" sz="800" dirty="0" err="1" smtClean="0"/>
              <a:t>신청정보</a:t>
            </a:r>
            <a:r>
              <a:rPr lang="en-US" altLang="ko-KR" sz="800" dirty="0" smtClean="0"/>
              <a:t>, </a:t>
            </a:r>
            <a:r>
              <a:rPr lang="ko-KR" altLang="en-US" sz="800" dirty="0" smtClean="0"/>
              <a:t>세부 </a:t>
            </a:r>
            <a:r>
              <a:rPr lang="ko-KR" altLang="en-US" sz="800" dirty="0" err="1" smtClean="0"/>
              <a:t>신청내역</a:t>
            </a:r>
            <a:r>
              <a:rPr lang="en-US" altLang="ko-KR" sz="800" dirty="0" smtClean="0"/>
              <a:t>, </a:t>
            </a:r>
            <a:r>
              <a:rPr lang="ko-KR" altLang="en-US" sz="800" dirty="0" err="1" smtClean="0"/>
              <a:t>지급상태</a:t>
            </a:r>
            <a:r>
              <a:rPr lang="ko-KR" altLang="en-US" sz="800" dirty="0" smtClean="0"/>
              <a:t> 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en-US" altLang="ko-KR" sz="800" dirty="0" smtClean="0"/>
              <a:t>&gt; </a:t>
            </a:r>
            <a:r>
              <a:rPr lang="ko-KR" altLang="en-US" sz="800" dirty="0" smtClean="0"/>
              <a:t>로그인 필요 서비스 안내 표시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en-US" altLang="ko-KR" sz="800" dirty="0" smtClean="0"/>
              <a:t>- </a:t>
            </a:r>
            <a:r>
              <a:rPr lang="ko-KR" altLang="en-US" sz="800" dirty="0" smtClean="0"/>
              <a:t>화면을 </a:t>
            </a:r>
            <a:r>
              <a:rPr lang="ko-KR" altLang="en-US" sz="800" dirty="0" err="1" smtClean="0"/>
              <a:t>넘치는경우</a:t>
            </a:r>
            <a:r>
              <a:rPr lang="ko-KR" altLang="en-US" sz="800" dirty="0" smtClean="0"/>
              <a:t> 드래그하여 확인</a:t>
            </a:r>
            <a:r>
              <a:rPr lang="en-US" altLang="ko-KR" sz="800" dirty="0" smtClean="0"/>
              <a:t>(</a:t>
            </a:r>
            <a:r>
              <a:rPr lang="ko-KR" altLang="en-US" sz="800" dirty="0" err="1" smtClean="0"/>
              <a:t>스와이프기능</a:t>
            </a:r>
            <a:r>
              <a:rPr lang="ko-KR" altLang="en-US" sz="800" dirty="0" smtClean="0"/>
              <a:t> 반영 필요</a:t>
            </a:r>
            <a:r>
              <a:rPr lang="en-US" altLang="ko-KR" sz="800" dirty="0" smtClean="0"/>
              <a:t>)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sz="800" dirty="0" smtClean="0"/>
              <a:t>신청 정보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en-US" altLang="ko-KR" sz="800" dirty="0" smtClean="0"/>
              <a:t>- </a:t>
            </a:r>
            <a:r>
              <a:rPr lang="ko-KR" altLang="en-US" sz="800" dirty="0" smtClean="0"/>
              <a:t>각 공고에 맞춰 폼 변화에 유의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en-US" altLang="ko-KR" sz="800" dirty="0" smtClean="0"/>
              <a:t>- </a:t>
            </a:r>
            <a:r>
              <a:rPr lang="ko-KR" altLang="en-US" sz="800" dirty="0" err="1" smtClean="0"/>
              <a:t>상세내용에</a:t>
            </a:r>
            <a:r>
              <a:rPr lang="ko-KR" altLang="en-US" sz="800" dirty="0" smtClean="0"/>
              <a:t> 포함된 정보 표시</a:t>
            </a:r>
            <a:endParaRPr lang="en-US" altLang="ko-KR" sz="800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sz="800" dirty="0" smtClean="0"/>
              <a:t>기본값은 상단 이동 버튼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ko-KR" altLang="en-US" sz="800" dirty="0" smtClean="0"/>
              <a:t>현 상세내용 탭에서는 </a:t>
            </a:r>
            <a:endParaRPr lang="en-US" altLang="ko-KR" sz="800" dirty="0"/>
          </a:p>
        </p:txBody>
      </p:sp>
      <p:sp>
        <p:nvSpPr>
          <p:cNvPr id="183" name="타원 18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715370" y="504490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  <p:sp>
        <p:nvSpPr>
          <p:cNvPr id="184" name="타원 18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688" y="204634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1</a:t>
            </a:r>
            <a:endParaRPr lang="ko-KR" altLang="en-US" sz="900" b="1" dirty="0"/>
          </a:p>
        </p:txBody>
      </p:sp>
      <p:sp>
        <p:nvSpPr>
          <p:cNvPr id="186" name="타원 18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72828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sp>
        <p:nvSpPr>
          <p:cNvPr id="189" name="타원 18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10603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sp>
        <p:nvSpPr>
          <p:cNvPr id="190" name="타원 18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49583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  <p:sp>
        <p:nvSpPr>
          <p:cNvPr id="194" name="타원 19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96143" y="223285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 b="1" dirty="0" smtClean="0"/>
              <a:t>1-1</a:t>
            </a:r>
            <a:endParaRPr lang="ko-KR" altLang="en-US" sz="600" b="1" dirty="0"/>
          </a:p>
        </p:txBody>
      </p:sp>
      <p:sp>
        <p:nvSpPr>
          <p:cNvPr id="195" name="타원 19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1758181" y="237965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 b="1" dirty="0" smtClean="0"/>
              <a:t>1-2</a:t>
            </a:r>
            <a:endParaRPr lang="ko-KR" altLang="en-US" sz="600" b="1" dirty="0"/>
          </a:p>
        </p:txBody>
      </p:sp>
      <p:sp>
        <p:nvSpPr>
          <p:cNvPr id="196" name="타원 19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95669" y="260009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 b="1" dirty="0" smtClean="0"/>
              <a:t>1-3</a:t>
            </a:r>
            <a:endParaRPr lang="ko-KR" altLang="en-US" sz="600" b="1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801660" y="4142235"/>
            <a:ext cx="58899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 smtClean="0">
                <a:latin typeface="+mn-ea"/>
              </a:rPr>
              <a:t>지급상태</a:t>
            </a:r>
            <a:endParaRPr lang="ko-KR" altLang="en-US" sz="700" dirty="0">
              <a:latin typeface="+mn-ea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67666" y="5831775"/>
            <a:ext cx="2323463" cy="16727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500" dirty="0" smtClean="0"/>
              <a:t>0703) </a:t>
            </a:r>
            <a:r>
              <a:rPr lang="ko-KR" altLang="en-US" sz="500" dirty="0" smtClean="0"/>
              <a:t>품명</a:t>
            </a:r>
            <a:r>
              <a:rPr lang="en-US" altLang="ko-KR" sz="500" dirty="0" smtClean="0"/>
              <a:t>,</a:t>
            </a:r>
            <a:r>
              <a:rPr lang="ko-KR" altLang="en-US" sz="500" dirty="0" smtClean="0"/>
              <a:t>일금 </a:t>
            </a:r>
            <a:r>
              <a:rPr lang="en-US" altLang="ko-KR" sz="500" dirty="0" smtClean="0"/>
              <a:t>,</a:t>
            </a:r>
            <a:r>
              <a:rPr lang="ko-KR" altLang="en-US" sz="500" dirty="0" smtClean="0"/>
              <a:t>구분</a:t>
            </a:r>
            <a:r>
              <a:rPr lang="en-US" altLang="ko-KR" sz="500" dirty="0" smtClean="0"/>
              <a:t>,</a:t>
            </a:r>
            <a:r>
              <a:rPr lang="ko-KR" altLang="en-US" sz="500" dirty="0">
                <a:latin typeface="+mn-ea"/>
              </a:rPr>
              <a:t> 승인된 전 차수 </a:t>
            </a:r>
            <a:r>
              <a:rPr lang="ko-KR" altLang="en-US" sz="500" dirty="0" err="1">
                <a:latin typeface="+mn-ea"/>
              </a:rPr>
              <a:t>수령금액의</a:t>
            </a:r>
            <a:r>
              <a:rPr lang="ko-KR" altLang="en-US" sz="500" dirty="0">
                <a:latin typeface="+mn-ea"/>
              </a:rPr>
              <a:t> </a:t>
            </a:r>
            <a:r>
              <a:rPr lang="ko-KR" altLang="en-US" sz="500" dirty="0" smtClean="0">
                <a:latin typeface="+mn-ea"/>
              </a:rPr>
              <a:t>합계</a:t>
            </a:r>
            <a:r>
              <a:rPr lang="en-US" altLang="ko-KR" sz="500" dirty="0" smtClean="0">
                <a:latin typeface="+mn-ea"/>
              </a:rPr>
              <a:t>,</a:t>
            </a:r>
            <a:r>
              <a:rPr lang="ko-KR" altLang="en-US" sz="500" dirty="0">
                <a:latin typeface="+mn-ea"/>
              </a:rPr>
              <a:t> </a:t>
            </a:r>
            <a:r>
              <a:rPr lang="ko-KR" altLang="en-US" sz="500" dirty="0" err="1">
                <a:latin typeface="+mn-ea"/>
              </a:rPr>
              <a:t>신청금액의</a:t>
            </a:r>
            <a:r>
              <a:rPr lang="ko-KR" altLang="en-US" sz="500" dirty="0">
                <a:latin typeface="+mn-ea"/>
              </a:rPr>
              <a:t> </a:t>
            </a:r>
            <a:r>
              <a:rPr lang="ko-KR" altLang="en-US" sz="500" dirty="0" smtClean="0">
                <a:latin typeface="+mn-ea"/>
              </a:rPr>
              <a:t>비율</a:t>
            </a:r>
            <a:r>
              <a:rPr lang="en-US" altLang="ko-KR" sz="500" dirty="0" smtClean="0"/>
              <a:t> </a:t>
            </a:r>
            <a:endParaRPr lang="ko-KR" altLang="en-US" sz="500" dirty="0"/>
          </a:p>
        </p:txBody>
      </p:sp>
      <p:sp>
        <p:nvSpPr>
          <p:cNvPr id="154" name="직사각형 153"/>
          <p:cNvSpPr/>
          <p:nvPr/>
        </p:nvSpPr>
        <p:spPr>
          <a:xfrm>
            <a:off x="7067666" y="6021206"/>
            <a:ext cx="2300641" cy="16011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500" smtClean="0"/>
              <a:t>화면수정</a:t>
            </a:r>
            <a:endParaRPr lang="ko-KR" altLang="en-US" sz="500" dirty="0"/>
          </a:p>
        </p:txBody>
      </p:sp>
    </p:spTree>
    <p:extLst>
      <p:ext uri="{BB962C8B-B14F-4D97-AF65-F5344CB8AC3E}">
        <p14:creationId xmlns:p14="http://schemas.microsoft.com/office/powerpoint/2010/main" val="10607553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선금신청서</a:t>
            </a:r>
            <a:r>
              <a:rPr lang="ko-KR" altLang="en-US" dirty="0"/>
              <a:t> 차수 데이터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>신청금액 데이터 영역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계약내용 데이터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공급자 정보 데이터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착</a:t>
            </a:r>
            <a:r>
              <a:rPr lang="en-US" altLang="ko-KR" dirty="0">
                <a:latin typeface="+mn-ea"/>
              </a:rPr>
              <a:t>.</a:t>
            </a:r>
            <a:r>
              <a:rPr lang="ko-KR" altLang="en-US" dirty="0">
                <a:latin typeface="+mn-ea"/>
              </a:rPr>
              <a:t>중도금신청서 상세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신청정보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대금</a:t>
            </a:r>
            <a:r>
              <a:rPr lang="en-US" altLang="ko-KR" dirty="0"/>
              <a:t>/</a:t>
            </a:r>
            <a:r>
              <a:rPr lang="ko-KR" altLang="en-US" dirty="0"/>
              <a:t>사후 상세 </a:t>
            </a:r>
            <a:r>
              <a:rPr lang="en-US" altLang="ko-KR" dirty="0"/>
              <a:t>- </a:t>
            </a:r>
            <a:r>
              <a:rPr lang="ko-KR" altLang="en-US" dirty="0">
                <a:latin typeface="+mn-ea"/>
              </a:rPr>
              <a:t>착</a:t>
            </a:r>
            <a:r>
              <a:rPr lang="en-US" altLang="ko-KR" dirty="0">
                <a:latin typeface="+mn-ea"/>
              </a:rPr>
              <a:t>.</a:t>
            </a:r>
            <a:r>
              <a:rPr lang="ko-KR" altLang="en-US" dirty="0">
                <a:latin typeface="+mn-ea"/>
              </a:rPr>
              <a:t>중도금신청서</a:t>
            </a:r>
            <a:r>
              <a:rPr lang="ko-KR" altLang="en-US" dirty="0"/>
              <a:t> 상세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착</a:t>
            </a:r>
            <a:r>
              <a:rPr lang="en-US" altLang="ko-KR" dirty="0">
                <a:latin typeface="+mn-ea"/>
              </a:rPr>
              <a:t>.</a:t>
            </a:r>
            <a:r>
              <a:rPr lang="ko-KR" altLang="en-US" dirty="0">
                <a:latin typeface="+mn-ea"/>
              </a:rPr>
              <a:t>중도금신청서 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MUI-WM-01-M03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grpSp>
        <p:nvGrpSpPr>
          <p:cNvPr id="99" name="그룹 98"/>
          <p:cNvGrpSpPr/>
          <p:nvPr/>
        </p:nvGrpSpPr>
        <p:grpSpPr>
          <a:xfrm>
            <a:off x="675399" y="4899940"/>
            <a:ext cx="2712027" cy="830059"/>
            <a:chOff x="3796091" y="4161857"/>
            <a:chExt cx="2712027" cy="830059"/>
          </a:xfrm>
        </p:grpSpPr>
        <p:cxnSp>
          <p:nvCxnSpPr>
            <p:cNvPr id="100" name="직선 연결선 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6091" y="416185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02153" y="4193387"/>
              <a:ext cx="84376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공급자 정보</a:t>
              </a:r>
            </a:p>
          </p:txBody>
        </p:sp>
        <p:grpSp>
          <p:nvGrpSpPr>
            <p:cNvPr id="102" name="그룹 101"/>
            <p:cNvGrpSpPr/>
            <p:nvPr/>
          </p:nvGrpSpPr>
          <p:grpSpPr>
            <a:xfrm flipV="1">
              <a:off x="6264240" y="4306718"/>
              <a:ext cx="94010" cy="47005"/>
              <a:chOff x="6812560" y="3297172"/>
              <a:chExt cx="94010" cy="47005"/>
            </a:xfrm>
          </p:grpSpPr>
          <p:cxnSp>
            <p:nvCxnSpPr>
              <p:cNvPr id="108" name="직선 연결선 10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9" name="직선 연결선 10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63885" y="4524104"/>
              <a:ext cx="493904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6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작성자명</a:t>
              </a:r>
              <a:r>
                <a:rPr lang="en-US" altLang="ko-KR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/</a:t>
              </a:r>
              <a:r>
                <a:rPr lang="ko-KR" altLang="en-US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직책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159018" y="4524104"/>
              <a:ext cx="493904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휴대폰번호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105" name="모서리가 둥근 직사각형 104"/>
            <p:cNvSpPr/>
            <p:nvPr/>
          </p:nvSpPr>
          <p:spPr>
            <a:xfrm>
              <a:off x="3831550" y="4647106"/>
              <a:ext cx="2652743" cy="344810"/>
            </a:xfrm>
            <a:prstGeom prst="roundRect">
              <a:avLst>
                <a:gd name="adj" fmla="val 9062"/>
              </a:avLst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63885" y="4765650"/>
              <a:ext cx="49390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홍길동 대리</a:t>
              </a:r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159018" y="4765650"/>
              <a:ext cx="64751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010-1234-5678</a:t>
              </a:r>
            </a:p>
          </p:txBody>
        </p:sp>
      </p:grpSp>
      <p:grpSp>
        <p:nvGrpSpPr>
          <p:cNvPr id="118" name="그룹 117"/>
          <p:cNvGrpSpPr/>
          <p:nvPr/>
        </p:nvGrpSpPr>
        <p:grpSpPr>
          <a:xfrm>
            <a:off x="716366" y="3243034"/>
            <a:ext cx="2630093" cy="1586665"/>
            <a:chOff x="3836701" y="2540391"/>
            <a:chExt cx="2630093" cy="1586665"/>
          </a:xfrm>
        </p:grpSpPr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7671" y="2540391"/>
              <a:ext cx="1391705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계약내용</a:t>
              </a:r>
            </a:p>
          </p:txBody>
        </p:sp>
        <p:sp>
          <p:nvSpPr>
            <p:cNvPr id="120" name="직사각형 119"/>
            <p:cNvSpPr/>
            <p:nvPr/>
          </p:nvSpPr>
          <p:spPr>
            <a:xfrm>
              <a:off x="3838794" y="2827415"/>
              <a:ext cx="792000" cy="129964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21" name="직선 연결선 12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1" y="2827416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2827416"/>
              <a:ext cx="670770" cy="122758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600" dirty="0">
                  <a:latin typeface="+mn-ea"/>
                </a:rPr>
                <a:t>계약금액</a:t>
              </a:r>
              <a:r>
                <a:rPr lang="en-US" altLang="ko-KR" sz="600" dirty="0">
                  <a:latin typeface="+mn-ea"/>
                </a:rPr>
                <a:t>(</a:t>
              </a:r>
              <a:r>
                <a:rPr lang="ko-KR" altLang="en-US" sz="600" dirty="0" err="1">
                  <a:latin typeface="+mn-ea"/>
                </a:rPr>
                <a:t>대상금액</a:t>
              </a:r>
              <a:r>
                <a:rPr lang="en-US" altLang="ko-KR" sz="600" dirty="0">
                  <a:latin typeface="+mn-ea"/>
                </a:rPr>
                <a:t>)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납기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최종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비고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82706" y="2827416"/>
              <a:ext cx="1775839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2025-11-23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20257135021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배추김치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2026-01-01 ~ 2026-12~31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</p:txBody>
        </p:sp>
        <p:cxnSp>
          <p:nvCxnSpPr>
            <p:cNvPr id="124" name="직선 연결선 12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0585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5" name="직선 연결선 12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27222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6" name="직선 연결선 12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4859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7" name="직선 연결선 12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69964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8" name="직선 연결선 12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91334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9" name="직선 연결선 12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12705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30" name="그룹 129"/>
            <p:cNvGrpSpPr/>
            <p:nvPr/>
          </p:nvGrpSpPr>
          <p:grpSpPr>
            <a:xfrm flipV="1">
              <a:off x="6259759" y="2635184"/>
              <a:ext cx="94010" cy="47005"/>
              <a:chOff x="6812560" y="3297172"/>
              <a:chExt cx="94010" cy="47005"/>
            </a:xfrm>
          </p:grpSpPr>
          <p:cxnSp>
            <p:nvCxnSpPr>
              <p:cNvPr id="131" name="직선 연결선 13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2" name="직선 연결선 13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33" name="그룹 132"/>
          <p:cNvGrpSpPr/>
          <p:nvPr/>
        </p:nvGrpSpPr>
        <p:grpSpPr>
          <a:xfrm>
            <a:off x="716366" y="1528651"/>
            <a:ext cx="2630093" cy="1600147"/>
            <a:chOff x="720490" y="4465173"/>
            <a:chExt cx="2630093" cy="1600147"/>
          </a:xfrm>
        </p:grpSpPr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35" name="그룹 134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147" name="직선 연결선 14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" name="직선 연결선 14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36" name="직사각형 135"/>
            <p:cNvSpPr/>
            <p:nvPr/>
          </p:nvSpPr>
          <p:spPr>
            <a:xfrm>
              <a:off x="722583" y="4772658"/>
              <a:ext cx="792000" cy="12808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37" name="직선 연결선 13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670770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차수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수신자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신청구분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2025 0000 00 - 01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방위사업청</a:t>
              </a:r>
              <a:r>
                <a:rPr lang="ko-KR" altLang="en-US" sz="700" dirty="0">
                  <a:latin typeface="+mn-ea"/>
                </a:rPr>
                <a:t> 계약관리본부 재무관 귀하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2026-01-30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\ </a:t>
              </a:r>
              <a:r>
                <a:rPr lang="ko-KR" altLang="en-US" sz="700" dirty="0">
                  <a:latin typeface="+mn-ea"/>
                </a:rPr>
                <a:t>일백만 원정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41" name="직선 연결선 14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2" name="직선 연결선 14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3" name="직선 연결선 14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4" name="직선 연결선 1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5" name="직선 연결선 14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397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6" name="직선 연결선 14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534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20227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5" name="타원 15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31977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76" name="타원 17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96603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80565" y="2961293"/>
            <a:ext cx="269304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착수금</a:t>
            </a:r>
          </a:p>
        </p:txBody>
      </p:sp>
    </p:spTree>
    <p:extLst>
      <p:ext uri="{BB962C8B-B14F-4D97-AF65-F5344CB8AC3E}">
        <p14:creationId xmlns:p14="http://schemas.microsoft.com/office/powerpoint/2010/main" val="28017677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신청내역</a:t>
            </a:r>
            <a:r>
              <a:rPr lang="ko-KR" altLang="en-US" dirty="0"/>
              <a:t> 데이터 영역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착</a:t>
            </a:r>
            <a:r>
              <a:rPr lang="en-US" altLang="ko-KR" dirty="0">
                <a:latin typeface="+mn-ea"/>
              </a:rPr>
              <a:t>.</a:t>
            </a:r>
            <a:r>
              <a:rPr lang="ko-KR" altLang="en-US" dirty="0">
                <a:latin typeface="+mn-ea"/>
              </a:rPr>
              <a:t>중도금신청서 상세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세부 </a:t>
            </a:r>
            <a:r>
              <a:rPr lang="ko-KR" altLang="en-US" dirty="0" err="1">
                <a:latin typeface="+mn-ea"/>
              </a:rPr>
              <a:t>신청내역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대금</a:t>
            </a:r>
            <a:r>
              <a:rPr lang="en-US" altLang="ko-KR" dirty="0"/>
              <a:t>/</a:t>
            </a:r>
            <a:r>
              <a:rPr lang="ko-KR" altLang="en-US" dirty="0"/>
              <a:t>사후 상세 </a:t>
            </a:r>
            <a:r>
              <a:rPr lang="en-US" altLang="ko-KR" dirty="0"/>
              <a:t>- </a:t>
            </a:r>
            <a:r>
              <a:rPr lang="ko-KR" altLang="en-US" dirty="0">
                <a:latin typeface="+mn-ea"/>
              </a:rPr>
              <a:t>착</a:t>
            </a:r>
            <a:r>
              <a:rPr lang="en-US" altLang="ko-KR" dirty="0">
                <a:latin typeface="+mn-ea"/>
              </a:rPr>
              <a:t>.</a:t>
            </a:r>
            <a:r>
              <a:rPr lang="ko-KR" altLang="en-US" dirty="0">
                <a:latin typeface="+mn-ea"/>
              </a:rPr>
              <a:t>중도금신청서 상세</a:t>
            </a:r>
            <a:r>
              <a:rPr lang="ko-KR" altLang="en-US" dirty="0"/>
              <a:t>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착</a:t>
            </a:r>
            <a:r>
              <a:rPr lang="en-US" altLang="ko-KR" dirty="0">
                <a:latin typeface="+mn-ea"/>
              </a:rPr>
              <a:t>.</a:t>
            </a:r>
            <a:r>
              <a:rPr lang="ko-KR" altLang="en-US" dirty="0">
                <a:latin typeface="+mn-ea"/>
              </a:rPr>
              <a:t>중도금신청서 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MUI-WM-01-M03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5" name="그룹 4"/>
          <p:cNvGrpSpPr/>
          <p:nvPr/>
        </p:nvGrpSpPr>
        <p:grpSpPr>
          <a:xfrm>
            <a:off x="803364" y="1527996"/>
            <a:ext cx="2456097" cy="181140"/>
            <a:chOff x="763157" y="1527996"/>
            <a:chExt cx="2456097" cy="181140"/>
          </a:xfrm>
        </p:grpSpPr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3157" y="1527996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신청내역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29" name="그룹 128"/>
            <p:cNvGrpSpPr/>
            <p:nvPr/>
          </p:nvGrpSpPr>
          <p:grpSpPr>
            <a:xfrm flipV="1">
              <a:off x="3125244" y="1641327"/>
              <a:ext cx="94010" cy="47005"/>
              <a:chOff x="6812560" y="3297172"/>
              <a:chExt cx="94010" cy="47005"/>
            </a:xfrm>
          </p:grpSpPr>
          <p:cxnSp>
            <p:nvCxnSpPr>
              <p:cNvPr id="131" name="직선 연결선 13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8" name="직선 연결선 13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1" name="그룹 140"/>
          <p:cNvGrpSpPr/>
          <p:nvPr/>
        </p:nvGrpSpPr>
        <p:grpSpPr>
          <a:xfrm>
            <a:off x="716366" y="2038797"/>
            <a:ext cx="2630093" cy="1292663"/>
            <a:chOff x="3865118" y="2946203"/>
            <a:chExt cx="2630093" cy="1292663"/>
          </a:xfrm>
        </p:grpSpPr>
        <p:sp>
          <p:nvSpPr>
            <p:cNvPr id="142" name="직사각형 141"/>
            <p:cNvSpPr/>
            <p:nvPr/>
          </p:nvSpPr>
          <p:spPr>
            <a:xfrm>
              <a:off x="3867211" y="2946203"/>
              <a:ext cx="792000" cy="128939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5" name="직선 연결선 15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5118" y="294620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54275" y="2946204"/>
              <a:ext cx="670770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대상금액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 err="1">
                  <a:latin typeface="+mn-ea"/>
                </a:rPr>
                <a:t>기사용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 err="1">
                  <a:latin typeface="+mn-ea"/>
                </a:rPr>
                <a:t>사용예정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신청금액의</a:t>
              </a:r>
              <a:r>
                <a:rPr lang="ko-KR" altLang="en-US" sz="700" dirty="0">
                  <a:latin typeface="+mn-ea"/>
                </a:rPr>
                <a:t> 비율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11123" y="2946204"/>
              <a:ext cx="1775839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00 %</a:t>
              </a:r>
            </a:p>
          </p:txBody>
        </p: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17730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3" name="직선 연결선 1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39101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4" name="직선 연결선 1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604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80818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02189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7" name="직선 연결선 16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23559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3363" y="1782724"/>
            <a:ext cx="1308971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- </a:t>
            </a:r>
            <a:r>
              <a:rPr lang="ko-KR" altLang="en-US" sz="700" dirty="0">
                <a:latin typeface="+mn-ea"/>
              </a:rPr>
              <a:t>재료비 </a:t>
            </a:r>
            <a:r>
              <a:rPr lang="en-US" altLang="ko-KR" sz="700" dirty="0">
                <a:latin typeface="+mn-ea"/>
              </a:rPr>
              <a:t>- </a:t>
            </a:r>
            <a:r>
              <a:rPr lang="ko-KR" altLang="en-US" sz="700" dirty="0">
                <a:latin typeface="+mn-ea"/>
              </a:rPr>
              <a:t>수입 재료비</a:t>
            </a:r>
          </a:p>
        </p:txBody>
      </p:sp>
      <p:grpSp>
        <p:nvGrpSpPr>
          <p:cNvPr id="6" name="그룹 5"/>
          <p:cNvGrpSpPr/>
          <p:nvPr/>
        </p:nvGrpSpPr>
        <p:grpSpPr>
          <a:xfrm>
            <a:off x="716366" y="3413051"/>
            <a:ext cx="2630093" cy="1548736"/>
            <a:chOff x="716366" y="3441403"/>
            <a:chExt cx="2630093" cy="1548736"/>
          </a:xfrm>
        </p:grpSpPr>
        <p:grpSp>
          <p:nvGrpSpPr>
            <p:cNvPr id="53" name="그룹 52"/>
            <p:cNvGrpSpPr/>
            <p:nvPr/>
          </p:nvGrpSpPr>
          <p:grpSpPr>
            <a:xfrm>
              <a:off x="716366" y="3697476"/>
              <a:ext cx="2630093" cy="1292663"/>
              <a:chOff x="3865118" y="2946203"/>
              <a:chExt cx="2630093" cy="1292663"/>
            </a:xfrm>
          </p:grpSpPr>
          <p:sp>
            <p:nvSpPr>
              <p:cNvPr id="54" name="직사각형 53"/>
              <p:cNvSpPr/>
              <p:nvPr/>
            </p:nvSpPr>
            <p:spPr>
              <a:xfrm>
                <a:off x="3867211" y="2946203"/>
                <a:ext cx="792000" cy="128939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55" name="직선 연결선 54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5118" y="2946204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954275" y="2946204"/>
                <a:ext cx="670770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대상금액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>
                    <a:latin typeface="+mn-ea"/>
                  </a:rPr>
                  <a:t>신청금액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기사용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사용예정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>
                    <a:latin typeface="+mn-ea"/>
                  </a:rPr>
                  <a:t>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신청금액의</a:t>
                </a:r>
                <a:r>
                  <a:rPr lang="ko-KR" altLang="en-US" sz="700" dirty="0">
                    <a:latin typeface="+mn-ea"/>
                  </a:rPr>
                  <a:t> 비율</a:t>
                </a:r>
                <a:endParaRPr lang="en-US" altLang="ko-KR" sz="700" dirty="0">
                  <a:latin typeface="+mn-ea"/>
                </a:endParaRP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711123" y="2946204"/>
                <a:ext cx="1775839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00 %</a:t>
                </a:r>
              </a:p>
            </p:txBody>
          </p:sp>
          <p:cxnSp>
            <p:nvCxnSpPr>
              <p:cNvPr id="58" name="직선 연결선 5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177309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59" name="직선 연결선 5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391016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0" name="직선 연결선 59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604723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1" name="직선 연결선 60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808184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2" name="직선 연결선 61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02189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3" name="직선 연결선 6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235598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3363" y="3441403"/>
              <a:ext cx="1308971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재료비 </a:t>
              </a: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국내 재료비</a:t>
              </a:r>
            </a:p>
          </p:txBody>
        </p:sp>
      </p:grpSp>
      <p:grpSp>
        <p:nvGrpSpPr>
          <p:cNvPr id="3" name="그룹 2"/>
          <p:cNvGrpSpPr/>
          <p:nvPr/>
        </p:nvGrpSpPr>
        <p:grpSpPr>
          <a:xfrm>
            <a:off x="3836701" y="1527996"/>
            <a:ext cx="2630093" cy="1548736"/>
            <a:chOff x="3795734" y="3441403"/>
            <a:chExt cx="2630093" cy="1548736"/>
          </a:xfrm>
        </p:grpSpPr>
        <p:grpSp>
          <p:nvGrpSpPr>
            <p:cNvPr id="67" name="그룹 66"/>
            <p:cNvGrpSpPr/>
            <p:nvPr/>
          </p:nvGrpSpPr>
          <p:grpSpPr>
            <a:xfrm>
              <a:off x="3795734" y="3697476"/>
              <a:ext cx="2630093" cy="1292663"/>
              <a:chOff x="3865118" y="2946203"/>
              <a:chExt cx="2630093" cy="1292663"/>
            </a:xfrm>
          </p:grpSpPr>
          <p:sp>
            <p:nvSpPr>
              <p:cNvPr id="68" name="직사각형 67"/>
              <p:cNvSpPr/>
              <p:nvPr/>
            </p:nvSpPr>
            <p:spPr>
              <a:xfrm>
                <a:off x="3867211" y="2946203"/>
                <a:ext cx="792000" cy="128939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69" name="직선 연결선 6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5118" y="2946204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954275" y="2946204"/>
                <a:ext cx="670770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대상금액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>
                    <a:latin typeface="+mn-ea"/>
                  </a:rPr>
                  <a:t>신청금액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기사용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사용예정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>
                    <a:latin typeface="+mn-ea"/>
                  </a:rPr>
                  <a:t>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신청금액의</a:t>
                </a:r>
                <a:r>
                  <a:rPr lang="ko-KR" altLang="en-US" sz="700" dirty="0">
                    <a:latin typeface="+mn-ea"/>
                  </a:rPr>
                  <a:t> 비율</a:t>
                </a:r>
                <a:endParaRPr lang="en-US" altLang="ko-KR" sz="700" dirty="0">
                  <a:latin typeface="+mn-ea"/>
                </a:endParaRPr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711123" y="2946204"/>
                <a:ext cx="1775839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00 %</a:t>
                </a:r>
              </a:p>
            </p:txBody>
          </p:sp>
          <p:cxnSp>
            <p:nvCxnSpPr>
              <p:cNvPr id="72" name="직선 연결선 71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177309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3" name="직선 연결선 7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391016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4" name="직선 연결선 73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604723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5" name="직선 연결선 74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808184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6" name="직선 연결선 7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02189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7" name="직선 연결선 7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235598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82731" y="3441403"/>
              <a:ext cx="1308971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재료비 </a:t>
              </a: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간접 재료비</a:t>
              </a:r>
            </a:p>
          </p:txBody>
        </p:sp>
      </p:grpSp>
      <p:grpSp>
        <p:nvGrpSpPr>
          <p:cNvPr id="79" name="그룹 78"/>
          <p:cNvGrpSpPr/>
          <p:nvPr/>
        </p:nvGrpSpPr>
        <p:grpSpPr>
          <a:xfrm>
            <a:off x="3836701" y="3154214"/>
            <a:ext cx="2630093" cy="1548736"/>
            <a:chOff x="3795734" y="3441403"/>
            <a:chExt cx="2630093" cy="1548736"/>
          </a:xfrm>
        </p:grpSpPr>
        <p:grpSp>
          <p:nvGrpSpPr>
            <p:cNvPr id="80" name="그룹 79"/>
            <p:cNvGrpSpPr/>
            <p:nvPr/>
          </p:nvGrpSpPr>
          <p:grpSpPr>
            <a:xfrm>
              <a:off x="3795734" y="3697476"/>
              <a:ext cx="2630093" cy="1292663"/>
              <a:chOff x="3865118" y="2946203"/>
              <a:chExt cx="2630093" cy="1292663"/>
            </a:xfrm>
          </p:grpSpPr>
          <p:sp>
            <p:nvSpPr>
              <p:cNvPr id="82" name="직사각형 81"/>
              <p:cNvSpPr/>
              <p:nvPr/>
            </p:nvSpPr>
            <p:spPr>
              <a:xfrm>
                <a:off x="3867211" y="2946203"/>
                <a:ext cx="792000" cy="128939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83" name="직선 연결선 8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5118" y="2946204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954275" y="2946204"/>
                <a:ext cx="670770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대상금액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>
                    <a:latin typeface="+mn-ea"/>
                  </a:rPr>
                  <a:t>신청금액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기사용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사용예정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>
                    <a:latin typeface="+mn-ea"/>
                  </a:rPr>
                  <a:t>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신청금액의</a:t>
                </a:r>
                <a:r>
                  <a:rPr lang="ko-KR" altLang="en-US" sz="700" dirty="0">
                    <a:latin typeface="+mn-ea"/>
                  </a:rPr>
                  <a:t> 비율</a:t>
                </a:r>
                <a:endParaRPr lang="en-US" altLang="ko-KR" sz="700" dirty="0">
                  <a:latin typeface="+mn-ea"/>
                </a:endParaRPr>
              </a:p>
            </p:txBody>
          </p: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711123" y="2946204"/>
                <a:ext cx="1775839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00 %</a:t>
                </a:r>
              </a:p>
            </p:txBody>
          </p:sp>
          <p:cxnSp>
            <p:nvCxnSpPr>
              <p:cNvPr id="86" name="직선 연결선 8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177309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87" name="직선 연결선 8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391016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88" name="직선 연결선 8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604723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89" name="직선 연결선 8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808184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0" name="직선 연결선 89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02189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1" name="직선 연결선 90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235598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82731" y="3441403"/>
              <a:ext cx="1308971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 err="1">
                  <a:latin typeface="+mn-ea"/>
                </a:rPr>
                <a:t>노무비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– </a:t>
              </a:r>
              <a:r>
                <a:rPr lang="ko-KR" altLang="en-US" sz="700" dirty="0">
                  <a:latin typeface="+mn-ea"/>
                </a:rPr>
                <a:t>직접 </a:t>
              </a:r>
              <a:r>
                <a:rPr lang="ko-KR" altLang="en-US" sz="700" dirty="0" err="1">
                  <a:latin typeface="+mn-ea"/>
                </a:rPr>
                <a:t>노무비</a:t>
              </a:r>
              <a:endParaRPr lang="ko-KR" altLang="en-US" sz="700" dirty="0">
                <a:latin typeface="+mn-ea"/>
              </a:endParaRPr>
            </a:p>
          </p:txBody>
        </p:sp>
      </p:grpSp>
      <p:grpSp>
        <p:nvGrpSpPr>
          <p:cNvPr id="92" name="그룹 91"/>
          <p:cNvGrpSpPr/>
          <p:nvPr/>
        </p:nvGrpSpPr>
        <p:grpSpPr>
          <a:xfrm>
            <a:off x="3836701" y="4784969"/>
            <a:ext cx="2630093" cy="1548736"/>
            <a:chOff x="3795734" y="3441403"/>
            <a:chExt cx="2630093" cy="1548736"/>
          </a:xfrm>
        </p:grpSpPr>
        <p:grpSp>
          <p:nvGrpSpPr>
            <p:cNvPr id="93" name="그룹 92"/>
            <p:cNvGrpSpPr/>
            <p:nvPr/>
          </p:nvGrpSpPr>
          <p:grpSpPr>
            <a:xfrm>
              <a:off x="3795734" y="3697476"/>
              <a:ext cx="2630093" cy="1292663"/>
              <a:chOff x="3865118" y="2946203"/>
              <a:chExt cx="2630093" cy="1292663"/>
            </a:xfrm>
          </p:grpSpPr>
          <p:sp>
            <p:nvSpPr>
              <p:cNvPr id="95" name="직사각형 94"/>
              <p:cNvSpPr/>
              <p:nvPr/>
            </p:nvSpPr>
            <p:spPr>
              <a:xfrm>
                <a:off x="3867211" y="2946203"/>
                <a:ext cx="792000" cy="128939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96" name="직선 연결선 9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5118" y="2946204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954275" y="2946204"/>
                <a:ext cx="670770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대상금액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>
                    <a:latin typeface="+mn-ea"/>
                  </a:rPr>
                  <a:t>신청금액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기사용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사용예정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>
                    <a:latin typeface="+mn-ea"/>
                  </a:rPr>
                  <a:t>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신청금액의</a:t>
                </a:r>
                <a:r>
                  <a:rPr lang="ko-KR" altLang="en-US" sz="700" dirty="0">
                    <a:latin typeface="+mn-ea"/>
                  </a:rPr>
                  <a:t> 비율</a:t>
                </a:r>
                <a:endParaRPr lang="en-US" altLang="ko-KR" sz="700" dirty="0">
                  <a:latin typeface="+mn-ea"/>
                </a:endParaRPr>
              </a:p>
            </p:txBody>
          </p:sp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711123" y="2946204"/>
                <a:ext cx="1775839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00 %</a:t>
                </a:r>
              </a:p>
            </p:txBody>
          </p:sp>
          <p:cxnSp>
            <p:nvCxnSpPr>
              <p:cNvPr id="99" name="직선 연결선 9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177309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0" name="직선 연결선 99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391016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604723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2" name="직선 연결선 101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808184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02189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" name="직선 연결선 103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235598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82731" y="3441403"/>
              <a:ext cx="1308971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 err="1">
                  <a:latin typeface="+mn-ea"/>
                </a:rPr>
                <a:t>노무비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– </a:t>
              </a:r>
              <a:r>
                <a:rPr lang="ko-KR" altLang="en-US" sz="700" dirty="0">
                  <a:latin typeface="+mn-ea"/>
                </a:rPr>
                <a:t>간접 </a:t>
              </a:r>
              <a:r>
                <a:rPr lang="ko-KR" altLang="en-US" sz="700" dirty="0" err="1">
                  <a:latin typeface="+mn-ea"/>
                </a:rPr>
                <a:t>노무비</a:t>
              </a:r>
              <a:endParaRPr lang="ko-KR" altLang="en-US" sz="700" dirty="0"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128526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신청내역</a:t>
            </a:r>
            <a:r>
              <a:rPr lang="ko-KR" altLang="en-US" dirty="0"/>
              <a:t> 데이터 영역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착</a:t>
            </a:r>
            <a:r>
              <a:rPr lang="en-US" altLang="ko-KR" dirty="0">
                <a:latin typeface="+mn-ea"/>
              </a:rPr>
              <a:t>.</a:t>
            </a:r>
            <a:r>
              <a:rPr lang="ko-KR" altLang="en-US" dirty="0">
                <a:latin typeface="+mn-ea"/>
              </a:rPr>
              <a:t>중도금신청서 상세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세부 </a:t>
            </a:r>
            <a:r>
              <a:rPr lang="ko-KR" altLang="en-US" dirty="0" err="1">
                <a:latin typeface="+mn-ea"/>
              </a:rPr>
              <a:t>신청내역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대금</a:t>
            </a:r>
            <a:r>
              <a:rPr lang="en-US" altLang="ko-KR" dirty="0"/>
              <a:t>/</a:t>
            </a:r>
            <a:r>
              <a:rPr lang="ko-KR" altLang="en-US" dirty="0"/>
              <a:t>사후 상세 </a:t>
            </a:r>
            <a:r>
              <a:rPr lang="en-US" altLang="ko-KR" dirty="0"/>
              <a:t>- </a:t>
            </a:r>
            <a:r>
              <a:rPr lang="ko-KR" altLang="en-US" dirty="0">
                <a:latin typeface="+mn-ea"/>
              </a:rPr>
              <a:t>착</a:t>
            </a:r>
            <a:r>
              <a:rPr lang="en-US" altLang="ko-KR" dirty="0">
                <a:latin typeface="+mn-ea"/>
              </a:rPr>
              <a:t>.</a:t>
            </a:r>
            <a:r>
              <a:rPr lang="ko-KR" altLang="en-US" dirty="0">
                <a:latin typeface="+mn-ea"/>
              </a:rPr>
              <a:t>중도금신청서 상세</a:t>
            </a:r>
            <a:r>
              <a:rPr lang="ko-KR" altLang="en-US" dirty="0"/>
              <a:t>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착</a:t>
            </a:r>
            <a:r>
              <a:rPr lang="en-US" altLang="ko-KR" dirty="0">
                <a:latin typeface="+mn-ea"/>
              </a:rPr>
              <a:t>.</a:t>
            </a:r>
            <a:r>
              <a:rPr lang="ko-KR" altLang="en-US" dirty="0">
                <a:latin typeface="+mn-ea"/>
              </a:rPr>
              <a:t>중도금신청서 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MUI-WM-01-M03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3" name="그룹 2"/>
          <p:cNvGrpSpPr/>
          <p:nvPr/>
        </p:nvGrpSpPr>
        <p:grpSpPr>
          <a:xfrm>
            <a:off x="3836701" y="1527996"/>
            <a:ext cx="2630093" cy="1548736"/>
            <a:chOff x="3795734" y="3441403"/>
            <a:chExt cx="2630093" cy="1548736"/>
          </a:xfrm>
        </p:grpSpPr>
        <p:grpSp>
          <p:nvGrpSpPr>
            <p:cNvPr id="67" name="그룹 66"/>
            <p:cNvGrpSpPr/>
            <p:nvPr/>
          </p:nvGrpSpPr>
          <p:grpSpPr>
            <a:xfrm>
              <a:off x="3795734" y="3697476"/>
              <a:ext cx="2630093" cy="1292663"/>
              <a:chOff x="3865118" y="2946203"/>
              <a:chExt cx="2630093" cy="1292663"/>
            </a:xfrm>
          </p:grpSpPr>
          <p:sp>
            <p:nvSpPr>
              <p:cNvPr id="68" name="직사각형 67"/>
              <p:cNvSpPr/>
              <p:nvPr/>
            </p:nvSpPr>
            <p:spPr>
              <a:xfrm>
                <a:off x="3867211" y="2946203"/>
                <a:ext cx="792000" cy="128939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69" name="직선 연결선 6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5118" y="2946204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954275" y="2946204"/>
                <a:ext cx="670770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대상금액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>
                    <a:latin typeface="+mn-ea"/>
                  </a:rPr>
                  <a:t>신청금액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기사용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사용예정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>
                    <a:latin typeface="+mn-ea"/>
                  </a:rPr>
                  <a:t>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신청금액의</a:t>
                </a:r>
                <a:r>
                  <a:rPr lang="ko-KR" altLang="en-US" sz="700" dirty="0">
                    <a:latin typeface="+mn-ea"/>
                  </a:rPr>
                  <a:t> 비율</a:t>
                </a:r>
                <a:endParaRPr lang="en-US" altLang="ko-KR" sz="700" dirty="0">
                  <a:latin typeface="+mn-ea"/>
                </a:endParaRPr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711123" y="2946204"/>
                <a:ext cx="1775839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00 %</a:t>
                </a:r>
              </a:p>
            </p:txBody>
          </p:sp>
          <p:cxnSp>
            <p:nvCxnSpPr>
              <p:cNvPr id="72" name="직선 연결선 71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177309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3" name="직선 연결선 7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391016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4" name="직선 연결선 73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604723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5" name="직선 연결선 74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808184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6" name="직선 연결선 7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02189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7" name="직선 연결선 7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235598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82731" y="3441403"/>
              <a:ext cx="1308971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기타</a:t>
              </a:r>
            </a:p>
          </p:txBody>
        </p:sp>
      </p:grpSp>
      <p:grpSp>
        <p:nvGrpSpPr>
          <p:cNvPr id="79" name="그룹 78"/>
          <p:cNvGrpSpPr/>
          <p:nvPr/>
        </p:nvGrpSpPr>
        <p:grpSpPr>
          <a:xfrm>
            <a:off x="3836701" y="3154214"/>
            <a:ext cx="2630093" cy="1548736"/>
            <a:chOff x="3795734" y="3441403"/>
            <a:chExt cx="2630093" cy="1548736"/>
          </a:xfrm>
        </p:grpSpPr>
        <p:grpSp>
          <p:nvGrpSpPr>
            <p:cNvPr id="80" name="그룹 79"/>
            <p:cNvGrpSpPr/>
            <p:nvPr/>
          </p:nvGrpSpPr>
          <p:grpSpPr>
            <a:xfrm>
              <a:off x="3795734" y="3697476"/>
              <a:ext cx="2630093" cy="1292663"/>
              <a:chOff x="3865118" y="2946203"/>
              <a:chExt cx="2630093" cy="1292663"/>
            </a:xfrm>
          </p:grpSpPr>
          <p:sp>
            <p:nvSpPr>
              <p:cNvPr id="82" name="직사각형 81"/>
              <p:cNvSpPr/>
              <p:nvPr/>
            </p:nvSpPr>
            <p:spPr>
              <a:xfrm>
                <a:off x="3867211" y="2946203"/>
                <a:ext cx="792000" cy="128939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83" name="직선 연결선 8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5118" y="2946204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954275" y="2946204"/>
                <a:ext cx="670770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대상금액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>
                    <a:latin typeface="+mn-ea"/>
                  </a:rPr>
                  <a:t>신청금액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기사용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사용예정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>
                    <a:latin typeface="+mn-ea"/>
                  </a:rPr>
                  <a:t>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신청금액의</a:t>
                </a:r>
                <a:r>
                  <a:rPr lang="ko-KR" altLang="en-US" sz="700" dirty="0">
                    <a:latin typeface="+mn-ea"/>
                  </a:rPr>
                  <a:t> 비율</a:t>
                </a:r>
                <a:endParaRPr lang="en-US" altLang="ko-KR" sz="700" dirty="0">
                  <a:latin typeface="+mn-ea"/>
                </a:endParaRPr>
              </a:p>
            </p:txBody>
          </p: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711123" y="2946204"/>
                <a:ext cx="1775839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00 %</a:t>
                </a:r>
              </a:p>
            </p:txBody>
          </p:sp>
          <p:cxnSp>
            <p:nvCxnSpPr>
              <p:cNvPr id="86" name="직선 연결선 8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177309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87" name="직선 연결선 8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391016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88" name="직선 연결선 8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604723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89" name="직선 연결선 8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808184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0" name="직선 연결선 89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02189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1" name="직선 연결선 90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235598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82731" y="3441403"/>
              <a:ext cx="1308971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합계</a:t>
              </a:r>
            </a:p>
          </p:txBody>
        </p:sp>
      </p:grpSp>
      <p:grpSp>
        <p:nvGrpSpPr>
          <p:cNvPr id="105" name="그룹 104"/>
          <p:cNvGrpSpPr/>
          <p:nvPr/>
        </p:nvGrpSpPr>
        <p:grpSpPr>
          <a:xfrm>
            <a:off x="716366" y="1527996"/>
            <a:ext cx="2630093" cy="1548736"/>
            <a:chOff x="3795734" y="3441403"/>
            <a:chExt cx="2630093" cy="1548736"/>
          </a:xfrm>
        </p:grpSpPr>
        <p:grpSp>
          <p:nvGrpSpPr>
            <p:cNvPr id="106" name="그룹 105"/>
            <p:cNvGrpSpPr/>
            <p:nvPr/>
          </p:nvGrpSpPr>
          <p:grpSpPr>
            <a:xfrm>
              <a:off x="3795734" y="3697476"/>
              <a:ext cx="2630093" cy="1292663"/>
              <a:chOff x="3865118" y="2946203"/>
              <a:chExt cx="2630093" cy="1292663"/>
            </a:xfrm>
          </p:grpSpPr>
          <p:sp>
            <p:nvSpPr>
              <p:cNvPr id="108" name="직사각형 107"/>
              <p:cNvSpPr/>
              <p:nvPr/>
            </p:nvSpPr>
            <p:spPr>
              <a:xfrm>
                <a:off x="3867211" y="2946203"/>
                <a:ext cx="792000" cy="128939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109" name="직선 연결선 10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5118" y="2946204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954275" y="2946204"/>
                <a:ext cx="670770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대상금액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>
                    <a:latin typeface="+mn-ea"/>
                  </a:rPr>
                  <a:t>신청금액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기사용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사용예정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>
                    <a:latin typeface="+mn-ea"/>
                  </a:rPr>
                  <a:t>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신청금액의</a:t>
                </a:r>
                <a:r>
                  <a:rPr lang="ko-KR" altLang="en-US" sz="700" dirty="0">
                    <a:latin typeface="+mn-ea"/>
                  </a:rPr>
                  <a:t> 비율</a:t>
                </a:r>
                <a:endParaRPr lang="en-US" altLang="ko-KR" sz="700" dirty="0">
                  <a:latin typeface="+mn-ea"/>
                </a:endParaRPr>
              </a:p>
            </p:txBody>
          </p:sp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711123" y="2946204"/>
                <a:ext cx="1775839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00 %</a:t>
                </a:r>
              </a:p>
            </p:txBody>
          </p:sp>
          <p:cxnSp>
            <p:nvCxnSpPr>
              <p:cNvPr id="112" name="직선 연결선 111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177309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4" name="직선 연결선 113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391016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604723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808184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7" name="직선 연결선 11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02189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8" name="직선 연결선 11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235598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82731" y="3441403"/>
              <a:ext cx="1308971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경비 </a:t>
              </a: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직접 경비</a:t>
              </a:r>
            </a:p>
          </p:txBody>
        </p:sp>
      </p:grpSp>
      <p:grpSp>
        <p:nvGrpSpPr>
          <p:cNvPr id="119" name="그룹 118"/>
          <p:cNvGrpSpPr/>
          <p:nvPr/>
        </p:nvGrpSpPr>
        <p:grpSpPr>
          <a:xfrm>
            <a:off x="716366" y="3154214"/>
            <a:ext cx="2630093" cy="1548736"/>
            <a:chOff x="3795734" y="3441403"/>
            <a:chExt cx="2630093" cy="1548736"/>
          </a:xfrm>
        </p:grpSpPr>
        <p:grpSp>
          <p:nvGrpSpPr>
            <p:cNvPr id="120" name="그룹 119"/>
            <p:cNvGrpSpPr/>
            <p:nvPr/>
          </p:nvGrpSpPr>
          <p:grpSpPr>
            <a:xfrm>
              <a:off x="3795734" y="3697476"/>
              <a:ext cx="2630093" cy="1292663"/>
              <a:chOff x="3865118" y="2946203"/>
              <a:chExt cx="2630093" cy="1292663"/>
            </a:xfrm>
          </p:grpSpPr>
          <p:sp>
            <p:nvSpPr>
              <p:cNvPr id="122" name="직사각형 121"/>
              <p:cNvSpPr/>
              <p:nvPr/>
            </p:nvSpPr>
            <p:spPr>
              <a:xfrm>
                <a:off x="3867211" y="2946203"/>
                <a:ext cx="792000" cy="128939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123" name="직선 연결선 12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5118" y="2946204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954275" y="2946204"/>
                <a:ext cx="670770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대상금액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>
                    <a:latin typeface="+mn-ea"/>
                  </a:rPr>
                  <a:t>신청금액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기사용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사용예정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>
                    <a:latin typeface="+mn-ea"/>
                  </a:rPr>
                  <a:t>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신청금액의</a:t>
                </a:r>
                <a:r>
                  <a:rPr lang="ko-KR" altLang="en-US" sz="700" dirty="0">
                    <a:latin typeface="+mn-ea"/>
                  </a:rPr>
                  <a:t> 비율</a:t>
                </a:r>
                <a:endParaRPr lang="en-US" altLang="ko-KR" sz="700" dirty="0">
                  <a:latin typeface="+mn-ea"/>
                </a:endParaRPr>
              </a:p>
            </p:txBody>
          </p:sp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711123" y="2946204"/>
                <a:ext cx="1775839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00 %</a:t>
                </a:r>
              </a:p>
            </p:txBody>
          </p:sp>
          <p:cxnSp>
            <p:nvCxnSpPr>
              <p:cNvPr id="126" name="직선 연결선 12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177309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27" name="직선 연결선 12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391016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28" name="직선 연결선 12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604723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30" name="직선 연결선 129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808184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32" name="직선 연결선 131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02189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33" name="직선 연결선 13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235598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82731" y="3441403"/>
              <a:ext cx="1308971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경비 </a:t>
              </a: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간접 경비</a:t>
              </a:r>
            </a:p>
          </p:txBody>
        </p:sp>
      </p:grpSp>
      <p:grpSp>
        <p:nvGrpSpPr>
          <p:cNvPr id="134" name="그룹 133"/>
          <p:cNvGrpSpPr/>
          <p:nvPr/>
        </p:nvGrpSpPr>
        <p:grpSpPr>
          <a:xfrm>
            <a:off x="716366" y="4784969"/>
            <a:ext cx="2630093" cy="1548736"/>
            <a:chOff x="3795734" y="3441403"/>
            <a:chExt cx="2630093" cy="1548736"/>
          </a:xfrm>
        </p:grpSpPr>
        <p:grpSp>
          <p:nvGrpSpPr>
            <p:cNvPr id="135" name="그룹 134"/>
            <p:cNvGrpSpPr/>
            <p:nvPr/>
          </p:nvGrpSpPr>
          <p:grpSpPr>
            <a:xfrm>
              <a:off x="3795734" y="3697476"/>
              <a:ext cx="2630093" cy="1292663"/>
              <a:chOff x="3865118" y="2946203"/>
              <a:chExt cx="2630093" cy="1292663"/>
            </a:xfrm>
          </p:grpSpPr>
          <p:sp>
            <p:nvSpPr>
              <p:cNvPr id="137" name="직사각형 136"/>
              <p:cNvSpPr/>
              <p:nvPr/>
            </p:nvSpPr>
            <p:spPr>
              <a:xfrm>
                <a:off x="3867211" y="2946203"/>
                <a:ext cx="792000" cy="128939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140" name="직선 연결선 139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5118" y="2946204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954275" y="2946204"/>
                <a:ext cx="670770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대상금액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>
                    <a:latin typeface="+mn-ea"/>
                  </a:rPr>
                  <a:t>신청금액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기사용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사용예정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>
                    <a:latin typeface="+mn-ea"/>
                  </a:rPr>
                  <a:t>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신청금액의</a:t>
                </a:r>
                <a:r>
                  <a:rPr lang="ko-KR" altLang="en-US" sz="700" dirty="0">
                    <a:latin typeface="+mn-ea"/>
                  </a:rPr>
                  <a:t> 비율</a:t>
                </a:r>
                <a:endParaRPr lang="en-US" altLang="ko-KR" sz="700" dirty="0">
                  <a:latin typeface="+mn-ea"/>
                </a:endParaRPr>
              </a:p>
            </p:txBody>
          </p:sp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711123" y="2946204"/>
                <a:ext cx="1775839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00 %</a:t>
                </a:r>
              </a:p>
            </p:txBody>
          </p:sp>
          <p:cxnSp>
            <p:nvCxnSpPr>
              <p:cNvPr id="145" name="직선 연결선 144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177309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46" name="직선 연결선 14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391016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47" name="직선 연결선 14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604723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48" name="직선 연결선 14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808184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49" name="직선 연결선 14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02189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0" name="직선 연결선 149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235598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82731" y="3441403"/>
              <a:ext cx="1308971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일반 관리비</a:t>
              </a:r>
            </a:p>
          </p:txBody>
        </p: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5366658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31</a:t>
            </a:fld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B257CD-DFF9-C20A-42B1-86A5BD32A090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(1/2)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947F42-24A6-AC12-410B-185FD576E1C3}"/>
              </a:ext>
            </a:extLst>
          </p:cNvPr>
          <p:cNvSpPr txBox="1"/>
          <p:nvPr/>
        </p:nvSpPr>
        <p:spPr>
          <a:xfrm>
            <a:off x="458117" y="803113"/>
            <a:ext cx="335885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착</a:t>
            </a:r>
            <a:r>
              <a:rPr lang="ko-KR" altLang="en-US" sz="9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〮</a:t>
            </a:r>
            <a:r>
              <a:rPr lang="ko-KR" altLang="en-US" sz="900" b="1" dirty="0">
                <a:solidFill>
                  <a:prstClr val="black"/>
                </a:solidFill>
              </a:rPr>
              <a:t> 중도금신청서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dmt_dpsmnItrpyApfrInfo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0D7D7297-5C46-7078-D2CB-A9F2A55503A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359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30090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차수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ctrtCycl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계약번호</a:t>
                      </a:r>
                      <a:r>
                        <a:rPr lang="en-US" altLang="ko-KR" sz="800" dirty="0">
                          <a:latin typeface="+mn-ea"/>
                        </a:rPr>
                        <a:t>-</a:t>
                      </a:r>
                      <a:r>
                        <a:rPr lang="ko-KR" altLang="en-US" sz="800" dirty="0" err="1">
                          <a:latin typeface="+mn-ea"/>
                        </a:rPr>
                        <a:t>신청차수</a:t>
                      </a:r>
                      <a:r>
                        <a:rPr lang="ko-KR" altLang="en-US" sz="800" dirty="0">
                          <a:latin typeface="+mn-ea"/>
                        </a:rPr>
                        <a:t>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</a:rPr>
                        <a:t>계약번호</a:t>
                      </a:r>
                      <a:r>
                        <a:rPr lang="en-US" altLang="ko-KR" sz="800" dirty="0">
                          <a:latin typeface="+mn-ea"/>
                        </a:rPr>
                        <a:t>-</a:t>
                      </a:r>
                      <a:r>
                        <a:rPr lang="ko-KR" altLang="en-US" sz="800" dirty="0" err="1">
                          <a:latin typeface="+mn-ea"/>
                        </a:rPr>
                        <a:t>신청차수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수신자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rcptnOgnzCd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수신자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:RIC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38051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dmndDt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신청일자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-mm-dd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887566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F784F8A-DE0A-31A1-3FBE-B085A42597A0}"/>
              </a:ext>
            </a:extLst>
          </p:cNvPr>
          <p:cNvSpPr txBox="1"/>
          <p:nvPr/>
        </p:nvSpPr>
        <p:spPr>
          <a:xfrm>
            <a:off x="458117" y="1914110"/>
            <a:ext cx="239705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계약내용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dmt_ctrtCnInfo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88BDE79-BF23-DB8C-B477-712120D11F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1487162"/>
              </p:ext>
            </p:extLst>
          </p:nvPr>
        </p:nvGraphicFramePr>
        <p:xfrm>
          <a:off x="452999" y="2125313"/>
          <a:ext cx="8994883" cy="1867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359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30090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계약일자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-mm-dd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계약번호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38051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u="none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품명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itemNm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품명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88756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계약금액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40069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dudtYmd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납기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-mm-dd ~ 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-mm-dd(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납기일을 최대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최소로 시작일과 종료일을 표기함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52269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mainBizCn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24286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착수금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fravItrpySecd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착수금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1: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착수금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2: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</a:t>
                      </a:r>
                      <a:r>
                        <a:rPr lang="en-US" altLang="ko-KR" sz="800" dirty="0">
                          <a:latin typeface="맑은 고딕" panose="020B0503020000020004" pitchFamily="50" charset="-127"/>
                          <a:ea typeface="+mn-ea"/>
                        </a:rPr>
                        <a:t>·</a:t>
                      </a:r>
                      <a:r>
                        <a:rPr lang="ko-KR" altLang="en-US" sz="800" dirty="0">
                          <a:latin typeface="맑은 고딕" panose="020B0503020000020004" pitchFamily="50" charset="-127"/>
                          <a:ea typeface="+mn-ea"/>
                        </a:rPr>
                        <a:t>중도금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146311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</a:t>
                      </a:r>
                      <a:r>
                        <a:rPr lang="en-US" altLang="ko-KR" sz="8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·</a:t>
                      </a:r>
                      <a:r>
                        <a:rPr lang="ko-KR" altLang="en-US" sz="8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중도금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fravItrpySecd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</a:t>
                      </a:r>
                      <a:r>
                        <a:rPr lang="en-US" altLang="ko-KR" sz="8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·</a:t>
                      </a:r>
                      <a:r>
                        <a:rPr lang="ko-KR" altLang="en-US" sz="8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중도금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1: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착수금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2: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</a:t>
                      </a:r>
                      <a:r>
                        <a:rPr lang="en-US" altLang="ko-KR" sz="800" dirty="0">
                          <a:latin typeface="맑은 고딕" panose="020B0503020000020004" pitchFamily="50" charset="-127"/>
                          <a:ea typeface="+mn-ea"/>
                        </a:rPr>
                        <a:t>·</a:t>
                      </a:r>
                      <a:r>
                        <a:rPr lang="ko-KR" altLang="en-US" sz="800" dirty="0">
                          <a:latin typeface="맑은 고딕" panose="020B0503020000020004" pitchFamily="50" charset="-127"/>
                          <a:ea typeface="+mn-ea"/>
                        </a:rPr>
                        <a:t>중도금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204670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B8630A2-8BAD-BA52-B8EB-F2B7E828C720}"/>
              </a:ext>
            </a:extLst>
          </p:cNvPr>
          <p:cNvSpPr txBox="1"/>
          <p:nvPr/>
        </p:nvSpPr>
        <p:spPr>
          <a:xfrm>
            <a:off x="458117" y="4055031"/>
            <a:ext cx="2525298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신청금액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dmt_aplyAmtInfo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29879A10-7D9E-200F-57E7-3CC23071AF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692718"/>
              </p:ext>
            </p:extLst>
          </p:nvPr>
        </p:nvGraphicFramePr>
        <p:xfrm>
          <a:off x="452999" y="4266234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359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30090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일금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aplyAmt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신청금액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7ED3BEC8-5614-CD32-7841-0B599058EF8D}"/>
              </a:ext>
            </a:extLst>
          </p:cNvPr>
          <p:cNvSpPr txBox="1"/>
          <p:nvPr/>
        </p:nvSpPr>
        <p:spPr>
          <a:xfrm>
            <a:off x="458117" y="4687734"/>
            <a:ext cx="260384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1.4. </a:t>
            </a:r>
            <a:r>
              <a:rPr lang="ko-KR" altLang="en-US" sz="900" b="1" dirty="0">
                <a:solidFill>
                  <a:prstClr val="black"/>
                </a:solidFill>
              </a:rPr>
              <a:t>신청내역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dmt_aplyDsctnInfo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3971E247-38D3-E4B4-4CAC-4149A98E15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1188985"/>
              </p:ext>
            </p:extLst>
          </p:nvPr>
        </p:nvGraphicFramePr>
        <p:xfrm>
          <a:off x="452999" y="4898937"/>
          <a:ext cx="8994883" cy="1529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359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30090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dpsmnItrpyAplyDsctnSeNm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재료비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노무비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경비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일반 관리비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기타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합계 구분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N/A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합계는 자동계산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컬럼별로 분리되어 있음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대상금액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trgtAmt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재료비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노무비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경비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일반 관리비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기타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합계 항목 별 대상금액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55251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spc="-150" dirty="0">
                          <a:latin typeface="+mn-ea"/>
                          <a:ea typeface="+mn-ea"/>
                        </a:rPr>
                        <a:t>신청금액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aplyAmt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재료비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노무비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경비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일반 관리비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기타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합계 항목 별 신청금액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38051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spc="-15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승인된 전 차수 수령금액의 합계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aplyStotAmt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재료비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노무비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경비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일반 관리비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기타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합계 항목 별 승인된 전 차수 수령금액의 합계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신청금액 합산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88756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spc="-15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신청금액의 비율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aplyAmtRt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재료비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노무비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경비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일반 관리비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기타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합계 항목 별 신청금액의 비율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N/A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대상금액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)*100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4851853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4A07E09A-342C-A174-B633-4277DA610E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876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1003058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32</a:t>
            </a:fld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947F42-24A6-AC12-410B-185FD576E1C3}"/>
              </a:ext>
            </a:extLst>
          </p:cNvPr>
          <p:cNvSpPr txBox="1"/>
          <p:nvPr/>
        </p:nvSpPr>
        <p:spPr>
          <a:xfrm>
            <a:off x="458117" y="803113"/>
            <a:ext cx="240186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1.5. </a:t>
            </a:r>
            <a:r>
              <a:rPr lang="ko-KR" altLang="en-US" sz="900" b="1" dirty="0">
                <a:solidFill>
                  <a:prstClr val="black"/>
                </a:solidFill>
              </a:rPr>
              <a:t>공급자 정보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dmt_splrInfo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0D7D7297-5C46-7078-D2CB-A9F2A55503A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359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30090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wrtrNm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계약번호</a:t>
                      </a:r>
                      <a:r>
                        <a:rPr lang="en-US" altLang="ko-KR" sz="800" dirty="0">
                          <a:latin typeface="+mn-ea"/>
                        </a:rPr>
                        <a:t>-</a:t>
                      </a:r>
                      <a:r>
                        <a:rPr lang="ko-KR" altLang="en-US" sz="800" dirty="0" err="1">
                          <a:latin typeface="+mn-ea"/>
                        </a:rPr>
                        <a:t>신청차수</a:t>
                      </a:r>
                      <a:r>
                        <a:rPr lang="ko-KR" altLang="en-US" sz="800" dirty="0">
                          <a:latin typeface="+mn-ea"/>
                        </a:rPr>
                        <a:t>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직책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wrtrJbttlNm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수신자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01888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휴대폰번호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wrtrEnmtno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신청일자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64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암호화휴대전화번호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4269020"/>
                  </a:ext>
                </a:extLst>
              </a:tr>
            </a:tbl>
          </a:graphicData>
        </a:graphic>
      </p:graphicFrame>
      <p:sp>
        <p:nvSpPr>
          <p:cNvPr id="4" name="Text Box 73">
            <a:extLst>
              <a:ext uri="{FF2B5EF4-FFF2-40B4-BE49-F238E27FC236}">
                <a16:creationId xmlns:a16="http://schemas.microsoft.com/office/drawing/2014/main" id="{C2247987-57BA-439D-E6D0-F1A9DB86CA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876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ED5F5B-3B3B-60FA-DE22-5A8F752BB4BD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(2/2)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18509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33</a:t>
            </a:fld>
            <a:endParaRPr lang="ko-KR" altLang="en-US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35E7B1B2-38C6-7614-0180-1BCA2E21FC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0824838"/>
              </p:ext>
            </p:extLst>
          </p:nvPr>
        </p:nvGraphicFramePr>
        <p:xfrm>
          <a:off x="453000" y="1049844"/>
          <a:ext cx="8995591" cy="825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3103963203"/>
                    </a:ext>
                  </a:extLst>
                </a:gridCol>
                <a:gridCol w="37029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4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공통코드정보를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페이지 로딩 시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차수정보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계약정보 를 조회한다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인쇄 클릭 이벤트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scwin.btn_print_onclick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증명서 출력 팝업 화면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이 호출된다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(UI-WM-01-P30)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증명서출력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763917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BDED4E1-CEE0-2778-ED59-1E6C078C7501}"/>
              </a:ext>
            </a:extLst>
          </p:cNvPr>
          <p:cNvSpPr txBox="1"/>
          <p:nvPr/>
        </p:nvSpPr>
        <p:spPr>
          <a:xfrm>
            <a:off x="458117" y="760911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8" name="Text Box 73">
            <a:extLst>
              <a:ext uri="{FF2B5EF4-FFF2-40B4-BE49-F238E27FC236}">
                <a16:creationId xmlns:a16="http://schemas.microsoft.com/office/drawing/2014/main" id="{DACD6C03-FC7A-E226-2943-55ABE7FC8D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82802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264383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 smtClean="0"/>
              <a:t>선금신청서</a:t>
            </a:r>
            <a:r>
              <a:rPr lang="ko-KR" altLang="en-US" dirty="0" smtClean="0"/>
              <a:t> 진행상태 조회하면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착</a:t>
            </a:r>
            <a:r>
              <a:rPr lang="en-US" altLang="ko-KR" dirty="0">
                <a:latin typeface="+mn-ea"/>
              </a:rPr>
              <a:t>.</a:t>
            </a:r>
            <a:r>
              <a:rPr lang="ko-KR" altLang="en-US" dirty="0">
                <a:latin typeface="+mn-ea"/>
              </a:rPr>
              <a:t>중도금신청서 상세 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 err="1" smtClean="0">
                <a:latin typeface="+mn-ea"/>
              </a:rPr>
              <a:t>지급상태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대금</a:t>
            </a:r>
            <a:r>
              <a:rPr lang="en-US" altLang="ko-KR" dirty="0"/>
              <a:t>/</a:t>
            </a:r>
            <a:r>
              <a:rPr lang="ko-KR" altLang="en-US" dirty="0"/>
              <a:t>사후 상세 </a:t>
            </a:r>
            <a:r>
              <a:rPr lang="en-US" altLang="ko-KR" dirty="0"/>
              <a:t>- </a:t>
            </a:r>
            <a:r>
              <a:rPr lang="ko-KR" altLang="en-US" dirty="0">
                <a:latin typeface="+mn-ea"/>
              </a:rPr>
              <a:t>착</a:t>
            </a:r>
            <a:r>
              <a:rPr lang="en-US" altLang="ko-KR" dirty="0">
                <a:latin typeface="+mn-ea"/>
              </a:rPr>
              <a:t>.</a:t>
            </a:r>
            <a:r>
              <a:rPr lang="ko-KR" altLang="en-US" dirty="0">
                <a:latin typeface="+mn-ea"/>
              </a:rPr>
              <a:t>중도금신청서 </a:t>
            </a:r>
            <a:r>
              <a:rPr lang="ko-KR" altLang="en-US" dirty="0" err="1">
                <a:latin typeface="+mn-ea"/>
              </a:rPr>
              <a:t>지급상태</a:t>
            </a:r>
            <a:r>
              <a:rPr lang="ko-KR" altLang="en-US" dirty="0">
                <a:latin typeface="+mn-ea"/>
              </a:rPr>
              <a:t> 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상세화면</a:t>
            </a:r>
            <a:r>
              <a:rPr lang="ko-KR" altLang="en-US" dirty="0" smtClean="0"/>
              <a:t> </a:t>
            </a:r>
            <a:endParaRPr lang="ko-KR" altLang="en-US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선금신청서</a:t>
            </a:r>
            <a:r>
              <a:rPr lang="ko-KR" altLang="en-US" dirty="0">
                <a:latin typeface="+mn-ea"/>
              </a:rPr>
              <a:t> 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MUI-WM-01-M03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105" name="그룹 104"/>
          <p:cNvGrpSpPr/>
          <p:nvPr/>
        </p:nvGrpSpPr>
        <p:grpSpPr>
          <a:xfrm>
            <a:off x="716366" y="1527996"/>
            <a:ext cx="2630093" cy="1333292"/>
            <a:chOff x="3795734" y="3441403"/>
            <a:chExt cx="2630093" cy="1333292"/>
          </a:xfrm>
        </p:grpSpPr>
        <p:grpSp>
          <p:nvGrpSpPr>
            <p:cNvPr id="106" name="그룹 105"/>
            <p:cNvGrpSpPr/>
            <p:nvPr/>
          </p:nvGrpSpPr>
          <p:grpSpPr>
            <a:xfrm>
              <a:off x="3795734" y="3697477"/>
              <a:ext cx="2630093" cy="1077218"/>
              <a:chOff x="3865118" y="2946204"/>
              <a:chExt cx="2630093" cy="1077218"/>
            </a:xfrm>
          </p:grpSpPr>
          <p:sp>
            <p:nvSpPr>
              <p:cNvPr id="108" name="직사각형 107"/>
              <p:cNvSpPr/>
              <p:nvPr/>
            </p:nvSpPr>
            <p:spPr>
              <a:xfrm>
                <a:off x="3867211" y="2946204"/>
                <a:ext cx="792000" cy="10756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109" name="직선 연결선 10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5118" y="2946204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954275" y="2946204"/>
                <a:ext cx="670770" cy="1077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700" dirty="0" smtClean="0">
                    <a:latin typeface="+mn-ea"/>
                  </a:rPr>
                  <a:t>구분</a:t>
                </a:r>
                <a:endParaRPr lang="en-US" altLang="ko-KR" sz="700" dirty="0" smtClean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 err="1" smtClean="0">
                    <a:latin typeface="+mn-ea"/>
                  </a:rPr>
                  <a:t>계약번호</a:t>
                </a:r>
                <a:endParaRPr lang="en-US" altLang="ko-KR" sz="700" dirty="0" smtClean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 err="1" smtClean="0">
                    <a:latin typeface="+mn-ea"/>
                  </a:rPr>
                  <a:t>신청차수</a:t>
                </a:r>
                <a:endParaRPr lang="en-US" altLang="ko-KR" sz="700" dirty="0" smtClean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 smtClean="0">
                    <a:latin typeface="+mn-ea"/>
                  </a:rPr>
                  <a:t>신청금액 </a:t>
                </a:r>
                <a:endParaRPr lang="en-US" altLang="ko-KR" sz="700" dirty="0" smtClean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 smtClean="0">
                    <a:latin typeface="+mn-ea"/>
                  </a:rPr>
                  <a:t>진행상태</a:t>
                </a:r>
                <a:endParaRPr lang="en-US" altLang="ko-KR" sz="700" dirty="0" smtClean="0">
                  <a:latin typeface="+mn-ea"/>
                </a:endParaRPr>
              </a:p>
            </p:txBody>
          </p:sp>
          <p:cxnSp>
            <p:nvCxnSpPr>
              <p:cNvPr id="112" name="직선 연결선 111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177309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4" name="직선 연결선 113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391016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604723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808184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7" name="직선 연결선 11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02189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5741480" y="3023282"/>
                <a:ext cx="691998" cy="96949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/>
                <a:r>
                  <a:rPr lang="en-US" altLang="ko-KR" sz="700" dirty="0" smtClean="0">
                    <a:latin typeface="+mn-ea"/>
                  </a:rPr>
                  <a:t>1</a:t>
                </a:r>
              </a:p>
              <a:p>
                <a:pPr algn="r"/>
                <a:endParaRPr lang="en-US" altLang="ko-KR" sz="700" dirty="0" smtClean="0">
                  <a:latin typeface="+mn-ea"/>
                </a:endParaRPr>
              </a:p>
              <a:p>
                <a:pPr algn="r"/>
                <a:r>
                  <a:rPr lang="en-US" altLang="ko-KR" sz="700" dirty="0" smtClean="0">
                    <a:latin typeface="+mn-ea"/>
                  </a:rPr>
                  <a:t>20250000</a:t>
                </a:r>
              </a:p>
              <a:p>
                <a:pPr algn="r"/>
                <a:endParaRPr lang="en-US" altLang="ko-KR" sz="700" dirty="0" smtClean="0">
                  <a:latin typeface="+mn-ea"/>
                </a:endParaRPr>
              </a:p>
              <a:p>
                <a:pPr algn="r"/>
                <a:r>
                  <a:rPr lang="en-US" altLang="ko-KR" sz="700" dirty="0" smtClean="0">
                    <a:latin typeface="+mn-ea"/>
                  </a:rPr>
                  <a:t>01</a:t>
                </a:r>
              </a:p>
              <a:p>
                <a:pPr algn="r"/>
                <a:endParaRPr lang="en-US" altLang="ko-KR" sz="700" dirty="0" smtClean="0">
                  <a:latin typeface="+mn-ea"/>
                </a:endParaRPr>
              </a:p>
              <a:p>
                <a:pPr algn="r"/>
                <a:r>
                  <a:rPr lang="en-US" altLang="ko-KR" sz="700" dirty="0" smtClean="0">
                    <a:latin typeface="+mn-ea"/>
                  </a:rPr>
                  <a:t>10,000,000 </a:t>
                </a:r>
                <a:r>
                  <a:rPr lang="ko-KR" altLang="en-US" sz="700" dirty="0" smtClean="0">
                    <a:latin typeface="+mn-ea"/>
                  </a:rPr>
                  <a:t>원</a:t>
                </a:r>
                <a:endParaRPr lang="en-US" altLang="ko-KR" sz="700" dirty="0" smtClean="0">
                  <a:latin typeface="+mn-ea"/>
                </a:endParaRPr>
              </a:p>
              <a:p>
                <a:pPr algn="r"/>
                <a:endParaRPr lang="en-US" altLang="ko-KR" sz="700" dirty="0" smtClean="0">
                  <a:latin typeface="+mn-ea"/>
                </a:endParaRPr>
              </a:p>
              <a:p>
                <a:pPr algn="r"/>
                <a:r>
                  <a:rPr lang="ko-KR" altLang="en-US" sz="700" dirty="0" smtClean="0">
                    <a:latin typeface="+mn-ea"/>
                  </a:rPr>
                  <a:t>진행중</a:t>
                </a:r>
                <a:endParaRPr lang="en-US" altLang="ko-KR" sz="700" dirty="0" smtClean="0">
                  <a:latin typeface="+mn-ea"/>
                </a:endParaRPr>
              </a:p>
            </p:txBody>
          </p:sp>
        </p:grp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82731" y="3441403"/>
              <a:ext cx="1308971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 smtClean="0">
                  <a:latin typeface="+mn-ea"/>
                </a:rPr>
                <a:t>지급상태</a:t>
              </a:r>
              <a:endParaRPr lang="ko-KR" altLang="en-US" sz="700" dirty="0">
                <a:latin typeface="+mn-ea"/>
              </a:endParaRPr>
            </a:p>
          </p:txBody>
        </p: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4" name="직사각형 23"/>
          <p:cNvSpPr/>
          <p:nvPr/>
        </p:nvSpPr>
        <p:spPr>
          <a:xfrm>
            <a:off x="7100725" y="6130834"/>
            <a:ext cx="2302845" cy="14837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500" smtClean="0"/>
              <a:t>화면수정</a:t>
            </a:r>
            <a:endParaRPr lang="ko-KR" altLang="en-US" sz="500" dirty="0"/>
          </a:p>
        </p:txBody>
      </p:sp>
    </p:spTree>
    <p:extLst>
      <p:ext uri="{BB962C8B-B14F-4D97-AF65-F5344CB8AC3E}">
        <p14:creationId xmlns:p14="http://schemas.microsoft.com/office/powerpoint/2010/main" val="283220821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35</a:t>
            </a:fld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B257CD-DFF9-C20A-42B1-86A5BD32A09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1E579C-7AF3-7BFE-7013-093144AFB794}"/>
              </a:ext>
            </a:extLst>
          </p:cNvPr>
          <p:cNvSpPr txBox="1"/>
          <p:nvPr/>
        </p:nvSpPr>
        <p:spPr>
          <a:xfrm>
            <a:off x="458117" y="803113"/>
            <a:ext cx="2432323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진행상태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dlt_prgrsSttsList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76A37DB3-05EE-95CD-48CB-E4E9ABDEE5BE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신청년도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rqstYr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신청년도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347732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신청차수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ctrtCycl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신청차수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giveClmAmt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expndStcd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EPDS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10006116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6509AC63-573C-E312-A1CF-7408DD54EF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876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19121775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중앙조달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대금</a:t>
            </a:r>
            <a:r>
              <a:rPr lang="en-US" altLang="ko-KR" dirty="0"/>
              <a:t>/</a:t>
            </a:r>
            <a:r>
              <a:rPr lang="ko-KR" altLang="en-US" dirty="0"/>
              <a:t>사후 상세 </a:t>
            </a:r>
            <a:r>
              <a:rPr lang="en-US" altLang="ko-KR" dirty="0"/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중앙조달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/>
              <a:t>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중앙조달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MUI-WM-01-M05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err="1">
                <a:latin typeface="+mn-ea"/>
              </a:rPr>
              <a:t>대금청구</a:t>
            </a:r>
            <a:r>
              <a:rPr lang="ko-KR" altLang="en-US" sz="800" dirty="0">
                <a:latin typeface="+mn-ea"/>
              </a:rPr>
              <a:t> </a:t>
            </a:r>
            <a:r>
              <a:rPr lang="ko-KR" altLang="en-US" sz="800" dirty="0" err="1">
                <a:latin typeface="+mn-ea"/>
              </a:rPr>
              <a:t>상세조회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81461" y="2462389"/>
            <a:ext cx="247325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 err="1"/>
              <a:t>계약번호</a:t>
            </a:r>
            <a:r>
              <a:rPr lang="ko-KR" altLang="en-US" sz="700" dirty="0"/>
              <a:t> </a:t>
            </a:r>
            <a:r>
              <a:rPr lang="en-US" altLang="ko-KR" sz="700" dirty="0"/>
              <a:t>2025000000 - 01</a:t>
            </a:r>
          </a:p>
          <a:p>
            <a:r>
              <a:rPr lang="ko-KR" altLang="en-US" sz="900" b="1" dirty="0"/>
              <a:t>물품구매</a:t>
            </a:r>
          </a:p>
        </p:txBody>
      </p:sp>
      <p:sp>
        <p:nvSpPr>
          <p:cNvPr id="56" name="TextBox 59">
            <a:extLst>
              <a:ext uri="{FF2B5EF4-FFF2-40B4-BE49-F238E27FC236}">
                <a16:creationId xmlns:a16="http://schemas.microsoft.com/office/drawing/2014/main" id="{F77C802D-3BC8-270F-87FC-5F442BD8054D}"/>
              </a:ext>
            </a:extLst>
          </p:cNvPr>
          <p:cNvSpPr txBox="1"/>
          <p:nvPr/>
        </p:nvSpPr>
        <p:spPr>
          <a:xfrm>
            <a:off x="781461" y="2797454"/>
            <a:ext cx="307777" cy="39767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sz="600" dirty="0" err="1">
                <a:latin typeface="+mn-ea"/>
              </a:rPr>
              <a:t>계약일자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발주기관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계약금액</a:t>
            </a:r>
            <a:endParaRPr lang="en-US" altLang="ko-KR" sz="600" dirty="0">
              <a:latin typeface="+mn-ea"/>
            </a:endParaRPr>
          </a:p>
        </p:txBody>
      </p:sp>
      <p:sp>
        <p:nvSpPr>
          <p:cNvPr id="57" name="TextBox 60">
            <a:extLst>
              <a:ext uri="{FF2B5EF4-FFF2-40B4-BE49-F238E27FC236}">
                <a16:creationId xmlns:a16="http://schemas.microsoft.com/office/drawing/2014/main" id="{8F5E3227-69E6-C89F-B8C5-534226E95EA8}"/>
              </a:ext>
            </a:extLst>
          </p:cNvPr>
          <p:cNvSpPr txBox="1"/>
          <p:nvPr/>
        </p:nvSpPr>
        <p:spPr>
          <a:xfrm>
            <a:off x="2596303" y="2782065"/>
            <a:ext cx="472886" cy="39767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2026-02-10</a:t>
            </a:r>
          </a:p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제</a:t>
            </a:r>
            <a:r>
              <a:rPr lang="en-US" altLang="ko-KR" sz="600" dirty="0">
                <a:latin typeface="+mn-ea"/>
              </a:rPr>
              <a:t>8385</a:t>
            </a:r>
            <a:r>
              <a:rPr lang="ko-KR" altLang="en-US" sz="600" dirty="0">
                <a:latin typeface="+mn-ea"/>
              </a:rPr>
              <a:t>부대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11,616,000 </a:t>
            </a:r>
            <a:r>
              <a:rPr lang="ko-KR" altLang="en-US" sz="600" dirty="0">
                <a:latin typeface="+mn-ea"/>
              </a:rPr>
              <a:t>원</a:t>
            </a:r>
            <a:endParaRPr lang="en-US" altLang="ko-KR" sz="600" dirty="0">
              <a:latin typeface="+mn-ea"/>
            </a:endParaRPr>
          </a:p>
        </p:txBody>
      </p:sp>
      <p:sp>
        <p:nvSpPr>
          <p:cNvPr id="67" name="모서리가 둥근 직사각형 66"/>
          <p:cNvSpPr/>
          <p:nvPr/>
        </p:nvSpPr>
        <p:spPr>
          <a:xfrm>
            <a:off x="781461" y="227805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물품</a:t>
            </a:r>
          </a:p>
        </p:txBody>
      </p:sp>
      <p:sp>
        <p:nvSpPr>
          <p:cNvPr id="68" name="모서리가 둥근 직사각형 67"/>
          <p:cNvSpPr/>
          <p:nvPr/>
        </p:nvSpPr>
        <p:spPr>
          <a:xfrm>
            <a:off x="1075655" y="2278058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수의계약</a:t>
            </a:r>
          </a:p>
        </p:txBody>
      </p: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66319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00442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3696944"/>
            <a:ext cx="45225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공지사항</a:t>
            </a:r>
          </a:p>
        </p:txBody>
      </p:sp>
      <p:sp>
        <p:nvSpPr>
          <p:cNvPr id="129" name="타원 128"/>
          <p:cNvSpPr/>
          <p:nvPr/>
        </p:nvSpPr>
        <p:spPr>
          <a:xfrm>
            <a:off x="783686" y="3728289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0" name="그룹 129"/>
          <p:cNvGrpSpPr/>
          <p:nvPr/>
        </p:nvGrpSpPr>
        <p:grpSpPr>
          <a:xfrm>
            <a:off x="3143548" y="3810275"/>
            <a:ext cx="94010" cy="47005"/>
            <a:chOff x="6812560" y="3297172"/>
            <a:chExt cx="94010" cy="47005"/>
          </a:xfrm>
        </p:grpSpPr>
        <p:cxnSp>
          <p:nvCxnSpPr>
            <p:cNvPr id="131" name="직선 연결선 13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2" name="직선 연결선 13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35884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4142235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계약정보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168391" y="4142235"/>
            <a:ext cx="50057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공급자 정보</a:t>
            </a:r>
          </a:p>
        </p:txBody>
      </p: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358842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" name="그룹 6"/>
          <p:cNvGrpSpPr/>
          <p:nvPr/>
        </p:nvGrpSpPr>
        <p:grpSpPr>
          <a:xfrm>
            <a:off x="3150467" y="3992719"/>
            <a:ext cx="422853" cy="187961"/>
            <a:chOff x="3641308" y="2234886"/>
            <a:chExt cx="422853" cy="187961"/>
          </a:xfrm>
        </p:grpSpPr>
        <p:sp>
          <p:nvSpPr>
            <p:cNvPr id="88" name="타원 87"/>
            <p:cNvSpPr/>
            <p:nvPr/>
          </p:nvSpPr>
          <p:spPr>
            <a:xfrm flipH="1">
              <a:off x="3641308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3" name="그룹 92"/>
            <p:cNvGrpSpPr/>
            <p:nvPr/>
          </p:nvGrpSpPr>
          <p:grpSpPr>
            <a:xfrm rot="5400000" flipH="1">
              <a:off x="3679895" y="2305364"/>
              <a:ext cx="94010" cy="47005"/>
              <a:chOff x="6812560" y="3297172"/>
              <a:chExt cx="94010" cy="47005"/>
            </a:xfrm>
          </p:grpSpPr>
          <p:cxnSp>
            <p:nvCxnSpPr>
              <p:cNvPr id="94" name="직선 연결선 9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직선 연결선 9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7" name="타원 96"/>
            <p:cNvSpPr/>
            <p:nvPr/>
          </p:nvSpPr>
          <p:spPr>
            <a:xfrm>
              <a:off x="3876200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8" name="그룹 97"/>
            <p:cNvGrpSpPr/>
            <p:nvPr/>
          </p:nvGrpSpPr>
          <p:grpSpPr>
            <a:xfrm rot="16200000">
              <a:off x="3931564" y="2305364"/>
              <a:ext cx="94010" cy="47005"/>
              <a:chOff x="6812560" y="3297172"/>
              <a:chExt cx="94010" cy="47005"/>
            </a:xfrm>
          </p:grpSpPr>
          <p:cxnSp>
            <p:nvCxnSpPr>
              <p:cNvPr id="99" name="직선 연결선 9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직선 연결선 9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8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3884993" y="1786672"/>
            <a:ext cx="247325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 err="1"/>
              <a:t>계약번호</a:t>
            </a:r>
            <a:r>
              <a:rPr lang="ko-KR" altLang="en-US" sz="700" dirty="0"/>
              <a:t> </a:t>
            </a:r>
            <a:r>
              <a:rPr lang="en-US" altLang="ko-KR" sz="700" dirty="0"/>
              <a:t>2025000000 - 01</a:t>
            </a:r>
          </a:p>
          <a:p>
            <a:r>
              <a:rPr lang="ko-KR" altLang="en-US" sz="900" b="1" dirty="0"/>
              <a:t>물품구매</a:t>
            </a:r>
          </a:p>
        </p:txBody>
      </p:sp>
      <p:sp>
        <p:nvSpPr>
          <p:cNvPr id="191" name="모서리가 둥근 직사각형 190"/>
          <p:cNvSpPr/>
          <p:nvPr/>
        </p:nvSpPr>
        <p:spPr>
          <a:xfrm>
            <a:off x="3884993" y="1602341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물품</a:t>
            </a:r>
          </a:p>
        </p:txBody>
      </p:sp>
      <p:sp>
        <p:nvSpPr>
          <p:cNvPr id="192" name="모서리가 둥근 직사각형 191"/>
          <p:cNvSpPr/>
          <p:nvPr/>
        </p:nvSpPr>
        <p:spPr>
          <a:xfrm>
            <a:off x="4179187" y="1602341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수의계약</a:t>
            </a:r>
          </a:p>
        </p:txBody>
      </p:sp>
      <p:cxnSp>
        <p:nvCxnSpPr>
          <p:cNvPr id="193" name="직선 연결선 19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211123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3" name="직선 연결선 20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4022" y="246721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04" name="TextBox 20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67701" y="2250612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계약정보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208" name="직선 연결선 20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4022" y="2467219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09" name="그룹 208"/>
          <p:cNvGrpSpPr/>
          <p:nvPr/>
        </p:nvGrpSpPr>
        <p:grpSpPr>
          <a:xfrm>
            <a:off x="6084908" y="2136109"/>
            <a:ext cx="422853" cy="187961"/>
            <a:chOff x="3641308" y="2234886"/>
            <a:chExt cx="422853" cy="187961"/>
          </a:xfrm>
        </p:grpSpPr>
        <p:sp>
          <p:nvSpPr>
            <p:cNvPr id="210" name="타원 209"/>
            <p:cNvSpPr/>
            <p:nvPr/>
          </p:nvSpPr>
          <p:spPr>
            <a:xfrm flipH="1">
              <a:off x="3641308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11" name="그룹 210"/>
            <p:cNvGrpSpPr/>
            <p:nvPr/>
          </p:nvGrpSpPr>
          <p:grpSpPr>
            <a:xfrm rot="5400000" flipH="1">
              <a:off x="3679895" y="2305364"/>
              <a:ext cx="94010" cy="47005"/>
              <a:chOff x="6812560" y="3297172"/>
              <a:chExt cx="94010" cy="47005"/>
            </a:xfrm>
          </p:grpSpPr>
          <p:cxnSp>
            <p:nvCxnSpPr>
              <p:cNvPr id="216" name="직선 연결선 215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7" name="직선 연결선 216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12" name="타원 211"/>
            <p:cNvSpPr/>
            <p:nvPr/>
          </p:nvSpPr>
          <p:spPr>
            <a:xfrm>
              <a:off x="3876200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13" name="그룹 212"/>
            <p:cNvGrpSpPr/>
            <p:nvPr/>
          </p:nvGrpSpPr>
          <p:grpSpPr>
            <a:xfrm rot="16200000">
              <a:off x="3931564" y="2305364"/>
              <a:ext cx="94010" cy="47005"/>
              <a:chOff x="6812560" y="3297172"/>
              <a:chExt cx="94010" cy="47005"/>
            </a:xfrm>
          </p:grpSpPr>
          <p:cxnSp>
            <p:nvCxnSpPr>
              <p:cNvPr id="214" name="직선 연결선 21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5" name="직선 연결선 21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84" name="타원 283"/>
          <p:cNvSpPr/>
          <p:nvPr/>
        </p:nvSpPr>
        <p:spPr>
          <a:xfrm>
            <a:off x="6596790" y="564023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8" name="그룹 27"/>
          <p:cNvGrpSpPr/>
          <p:nvPr/>
        </p:nvGrpSpPr>
        <p:grpSpPr>
          <a:xfrm>
            <a:off x="6726257" y="5769705"/>
            <a:ext cx="124144" cy="124144"/>
            <a:chOff x="162544" y="5299917"/>
            <a:chExt cx="124144" cy="124144"/>
          </a:xfrm>
        </p:grpSpPr>
        <p:cxnSp>
          <p:nvCxnSpPr>
            <p:cNvPr id="288" name="직선 연결선 287"/>
            <p:cNvCxnSpPr/>
            <p:nvPr/>
          </p:nvCxnSpPr>
          <p:spPr>
            <a:xfrm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9" name="직선 연결선 288"/>
            <p:cNvCxnSpPr/>
            <p:nvPr/>
          </p:nvCxnSpPr>
          <p:spPr>
            <a:xfrm rot="16200000"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95" name="직선 연결선 29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30551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7" name="모서리가 둥근 직사각형 336"/>
          <p:cNvSpPr/>
          <p:nvPr/>
        </p:nvSpPr>
        <p:spPr>
          <a:xfrm>
            <a:off x="781461" y="1944348"/>
            <a:ext cx="243478" cy="119400"/>
          </a:xfrm>
          <a:prstGeom prst="roundRect">
            <a:avLst>
              <a:gd name="adj" fmla="val 23409"/>
            </a:avLst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>
                <a:solidFill>
                  <a:srgbClr val="FF0000"/>
                </a:solidFill>
              </a:rPr>
              <a:t>중요</a:t>
            </a:r>
            <a:endParaRPr lang="ko-KR" altLang="en-US" sz="600" dirty="0">
              <a:solidFill>
                <a:srgbClr val="FF0000"/>
              </a:solidFill>
            </a:endParaRPr>
          </a:p>
        </p:txBody>
      </p:sp>
      <p:sp>
        <p:nvSpPr>
          <p:cNvPr id="338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1082843" y="1950187"/>
            <a:ext cx="220200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700" dirty="0">
                <a:solidFill>
                  <a:prstClr val="black"/>
                </a:solidFill>
              </a:rPr>
              <a:t>대금 신청</a:t>
            </a:r>
            <a:r>
              <a:rPr lang="en-US" altLang="ko-KR" sz="700" dirty="0">
                <a:solidFill>
                  <a:prstClr val="black"/>
                </a:solidFill>
              </a:rPr>
              <a:t>, </a:t>
            </a:r>
            <a:r>
              <a:rPr lang="ko-KR" altLang="en-US" sz="700" dirty="0">
                <a:solidFill>
                  <a:prstClr val="black"/>
                </a:solidFill>
              </a:rPr>
              <a:t>청구는 </a:t>
            </a:r>
            <a:r>
              <a:rPr lang="en-US" altLang="ko-KR" sz="700" dirty="0">
                <a:solidFill>
                  <a:prstClr val="black"/>
                </a:solidFill>
              </a:rPr>
              <a:t>PC </a:t>
            </a:r>
            <a:r>
              <a:rPr lang="ko-KR" altLang="en-US" sz="700" dirty="0">
                <a:solidFill>
                  <a:prstClr val="black"/>
                </a:solidFill>
              </a:rPr>
              <a:t>버전에서 가능합니다</a:t>
            </a:r>
            <a:r>
              <a:rPr lang="en-US" altLang="ko-KR" sz="700" dirty="0">
                <a:solidFill>
                  <a:prstClr val="black"/>
                </a:solidFill>
              </a:rPr>
              <a:t>.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cxnSp>
        <p:nvCxnSpPr>
          <p:cNvPr id="340" name="직선 연결선 33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15091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6" name="그룹 5"/>
          <p:cNvGrpSpPr/>
          <p:nvPr/>
        </p:nvGrpSpPr>
        <p:grpSpPr>
          <a:xfrm>
            <a:off x="3836701" y="2540391"/>
            <a:ext cx="2630093" cy="1975134"/>
            <a:chOff x="3836701" y="2575831"/>
            <a:chExt cx="2630093" cy="1975134"/>
          </a:xfrm>
        </p:grpSpPr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7672" y="2575831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대금신청대상</a:t>
              </a:r>
            </a:p>
          </p:txBody>
        </p:sp>
        <p:sp>
          <p:nvSpPr>
            <p:cNvPr id="253" name="직사각형 252"/>
            <p:cNvSpPr/>
            <p:nvPr/>
          </p:nvSpPr>
          <p:spPr>
            <a:xfrm>
              <a:off x="3838794" y="2827415"/>
              <a:ext cx="792000" cy="170046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55" name="직선 연결선 25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1" y="2827416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2827416"/>
              <a:ext cx="670770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통지번호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조서발행번호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합격일자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납품일자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예산구분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감액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지체상금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82706" y="2827416"/>
              <a:ext cx="1775839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20257135021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00 00 0000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2026-01-01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2026-12~31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62" name="직선 연결선 2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0585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3" name="직선 연결선 2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27222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4" name="직선 연결선 2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4859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5" name="직선 연결선 2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69964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6" name="직선 연결선 2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91334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8" name="직선 연결선 2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12705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59" name="그룹 158"/>
            <p:cNvGrpSpPr/>
            <p:nvPr/>
          </p:nvGrpSpPr>
          <p:grpSpPr>
            <a:xfrm flipV="1">
              <a:off x="6259759" y="2635184"/>
              <a:ext cx="94010" cy="47005"/>
              <a:chOff x="6812560" y="3297172"/>
              <a:chExt cx="94010" cy="47005"/>
            </a:xfrm>
          </p:grpSpPr>
          <p:cxnSp>
            <p:nvCxnSpPr>
              <p:cNvPr id="160" name="직선 연결선 15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" name="직선 연결선 16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31417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3" name="직선 연결선 17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5278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8" name="그룹 7"/>
          <p:cNvGrpSpPr/>
          <p:nvPr/>
        </p:nvGrpSpPr>
        <p:grpSpPr>
          <a:xfrm>
            <a:off x="720490" y="4465173"/>
            <a:ext cx="2630093" cy="1169259"/>
            <a:chOff x="720490" y="4465173"/>
            <a:chExt cx="2630093" cy="1169259"/>
          </a:xfrm>
        </p:grpSpPr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07" name="그룹 106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108" name="직선 연결선 10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9" name="직선 연결선 10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" name="직사각형 15"/>
            <p:cNvSpPr/>
            <p:nvPr/>
          </p:nvSpPr>
          <p:spPr>
            <a:xfrm>
              <a:off x="722583" y="4772658"/>
              <a:ext cx="792000" cy="85340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670770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청구번호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2025 0000 00 - 01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배추김치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2026-01-30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0000 0000</a:t>
              </a:r>
            </a:p>
          </p:txBody>
        </p:sp>
        <p:cxnSp>
          <p:nvCxnSpPr>
            <p:cNvPr id="115" name="직선 연결선 1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6" name="직선 연결선 11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7" name="직선 연결선 11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0" name="직선 연결선 16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156" name="모서리가 둥근 직사각형 155"/>
          <p:cNvSpPr/>
          <p:nvPr/>
        </p:nvSpPr>
        <p:spPr>
          <a:xfrm>
            <a:off x="1522790" y="2278058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대금청구</a:t>
            </a:r>
            <a:endParaRPr lang="ko-KR" altLang="en-US" sz="600" dirty="0"/>
          </a:p>
        </p:txBody>
      </p:sp>
      <p:sp>
        <p:nvSpPr>
          <p:cNvPr id="163" name="모서리가 둥근 직사각형 162"/>
          <p:cNvSpPr/>
          <p:nvPr/>
        </p:nvSpPr>
        <p:spPr>
          <a:xfrm>
            <a:off x="4626322" y="1602341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대금청구</a:t>
            </a:r>
            <a:endParaRPr lang="ko-KR" altLang="en-US" sz="600" dirty="0"/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730313" y="4142235"/>
            <a:ext cx="57536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대금신청</a:t>
            </a:r>
            <a:r>
              <a:rPr lang="ko-KR" altLang="en-US" sz="700" dirty="0">
                <a:latin typeface="+mn-ea"/>
              </a:rPr>
              <a:t> 금액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367029" y="4142235"/>
            <a:ext cx="45444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세금계산서</a:t>
            </a:r>
          </a:p>
        </p:txBody>
      </p: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3316" y="5274274"/>
            <a:ext cx="76863" cy="292489"/>
            <a:chOff x="3750067" y="4683795"/>
            <a:chExt cx="76863" cy="292489"/>
          </a:xfrm>
        </p:grpSpPr>
        <p:sp>
          <p:nvSpPr>
            <p:cNvPr id="176" name="타원 175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77" name="타원 176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78" name="타원 177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148" name="그룹 147"/>
          <p:cNvGrpSpPr/>
          <p:nvPr/>
        </p:nvGrpSpPr>
        <p:grpSpPr>
          <a:xfrm>
            <a:off x="747925" y="3401909"/>
            <a:ext cx="2599014" cy="187961"/>
            <a:chOff x="747925" y="3393200"/>
            <a:chExt cx="2599014" cy="187961"/>
          </a:xfrm>
        </p:grpSpPr>
        <p:grpSp>
          <p:nvGrpSpPr>
            <p:cNvPr id="149" name="그룹 148"/>
            <p:cNvGrpSpPr/>
            <p:nvPr/>
          </p:nvGrpSpPr>
          <p:grpSpPr>
            <a:xfrm rot="16200000">
              <a:off x="1250697" y="3463679"/>
              <a:ext cx="94010" cy="47005"/>
              <a:chOff x="6812560" y="3297172"/>
              <a:chExt cx="94010" cy="47005"/>
            </a:xfrm>
          </p:grpSpPr>
          <p:cxnSp>
            <p:nvCxnSpPr>
              <p:cNvPr id="222" name="직선 연결선 22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3" name="직선 연결선 22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604170" y="3433319"/>
              <a:ext cx="40086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계약</a:t>
              </a:r>
            </a:p>
          </p:txBody>
        </p:sp>
        <p:sp>
          <p:nvSpPr>
            <p:cNvPr id="151" name="타원 150"/>
            <p:cNvSpPr/>
            <p:nvPr/>
          </p:nvSpPr>
          <p:spPr>
            <a:xfrm>
              <a:off x="1404035" y="3393200"/>
              <a:ext cx="187961" cy="18796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459092" y="3433319"/>
              <a:ext cx="7784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latin typeface="+mn-ea"/>
                </a:rPr>
                <a:t>3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53" name="그룹 152"/>
            <p:cNvGrpSpPr/>
            <p:nvPr/>
          </p:nvGrpSpPr>
          <p:grpSpPr>
            <a:xfrm rot="16200000">
              <a:off x="1906808" y="3463679"/>
              <a:ext cx="94010" cy="47005"/>
              <a:chOff x="6812560" y="3297172"/>
              <a:chExt cx="94010" cy="47005"/>
            </a:xfrm>
          </p:grpSpPr>
          <p:cxnSp>
            <p:nvCxnSpPr>
              <p:cNvPr id="220" name="직선 연결선 21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1" name="직선 연결선 22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54" name="그룹 153"/>
            <p:cNvGrpSpPr/>
            <p:nvPr/>
          </p:nvGrpSpPr>
          <p:grpSpPr>
            <a:xfrm rot="16200000">
              <a:off x="2562920" y="3463679"/>
              <a:ext cx="94010" cy="47005"/>
              <a:chOff x="6812560" y="3297172"/>
              <a:chExt cx="94010" cy="47005"/>
            </a:xfrm>
          </p:grpSpPr>
          <p:cxnSp>
            <p:nvCxnSpPr>
              <p:cNvPr id="218" name="직선 연결선 21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9" name="직선 연결선 21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55" name="타원 154"/>
            <p:cNvSpPr/>
            <p:nvPr/>
          </p:nvSpPr>
          <p:spPr>
            <a:xfrm>
              <a:off x="747925" y="3393200"/>
              <a:ext cx="187961" cy="18796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2982" y="3433319"/>
              <a:ext cx="7784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latin typeface="+mn-ea"/>
                </a:rPr>
                <a:t>2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51350" y="3433319"/>
              <a:ext cx="397576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입찰</a:t>
              </a:r>
            </a:p>
          </p:txBody>
        </p:sp>
        <p:sp>
          <p:nvSpPr>
            <p:cNvPr id="162" name="타원 161"/>
            <p:cNvSpPr/>
            <p:nvPr/>
          </p:nvSpPr>
          <p:spPr>
            <a:xfrm>
              <a:off x="2058749" y="3393200"/>
              <a:ext cx="187961" cy="18796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113806" y="3433319"/>
              <a:ext cx="7784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latin typeface="+mn-ea"/>
                </a:rPr>
                <a:t>4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263899" y="3433319"/>
              <a:ext cx="39864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이행</a:t>
              </a:r>
            </a:p>
          </p:txBody>
        </p:sp>
        <p:sp>
          <p:nvSpPr>
            <p:cNvPr id="179" name="타원 178"/>
            <p:cNvSpPr/>
            <p:nvPr/>
          </p:nvSpPr>
          <p:spPr>
            <a:xfrm>
              <a:off x="2714860" y="3393200"/>
              <a:ext cx="187961" cy="187961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769917" y="3433319"/>
              <a:ext cx="7784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solidFill>
                    <a:schemeClr val="bg1"/>
                  </a:solidFill>
                  <a:latin typeface="+mn-ea"/>
                </a:rPr>
                <a:t>5</a:t>
              </a:r>
              <a:endParaRPr lang="ko-KR" altLang="en-US" sz="7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920010" y="3433319"/>
              <a:ext cx="39864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대금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사후</a:t>
              </a:r>
            </a:p>
          </p:txBody>
        </p:sp>
        <p:grpSp>
          <p:nvGrpSpPr>
            <p:cNvPr id="185" name="그룹 184"/>
            <p:cNvGrpSpPr/>
            <p:nvPr/>
          </p:nvGrpSpPr>
          <p:grpSpPr>
            <a:xfrm rot="5400000">
              <a:off x="3158978" y="3393200"/>
              <a:ext cx="187961" cy="187961"/>
              <a:chOff x="3876200" y="2234886"/>
              <a:chExt cx="187961" cy="187961"/>
            </a:xfrm>
          </p:grpSpPr>
          <p:sp>
            <p:nvSpPr>
              <p:cNvPr id="187" name="타원 186"/>
              <p:cNvSpPr/>
              <p:nvPr/>
            </p:nvSpPr>
            <p:spPr>
              <a:xfrm>
                <a:off x="3876200" y="2234886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05" name="그룹 204"/>
              <p:cNvGrpSpPr/>
              <p:nvPr/>
            </p:nvGrpSpPr>
            <p:grpSpPr>
              <a:xfrm rot="16200000">
                <a:off x="3931564" y="2305364"/>
                <a:ext cx="94010" cy="47005"/>
                <a:chOff x="6812560" y="3297172"/>
                <a:chExt cx="94010" cy="47005"/>
              </a:xfrm>
            </p:grpSpPr>
            <p:cxnSp>
              <p:nvCxnSpPr>
                <p:cNvPr id="206" name="직선 연결선 205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직선 연결선 206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182" name="TextBox 18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882824" y="4142235"/>
            <a:ext cx="45444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smtClean="0">
                <a:latin typeface="+mn-ea"/>
              </a:rPr>
              <a:t>진행상태</a:t>
            </a:r>
            <a:endParaRPr lang="ko-KR" altLang="en-US" sz="700" dirty="0">
              <a:latin typeface="+mn-ea"/>
            </a:endParaRPr>
          </a:p>
        </p:txBody>
      </p:sp>
      <p:sp>
        <p:nvSpPr>
          <p:cNvPr id="183" name="타원 18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715370" y="504490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  <p:sp>
        <p:nvSpPr>
          <p:cNvPr id="184" name="타원 18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688" y="204634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1</a:t>
            </a:r>
            <a:endParaRPr lang="ko-KR" altLang="en-US" sz="900" b="1" dirty="0"/>
          </a:p>
        </p:txBody>
      </p:sp>
      <p:sp>
        <p:nvSpPr>
          <p:cNvPr id="186" name="타원 18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72828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sp>
        <p:nvSpPr>
          <p:cNvPr id="189" name="타원 18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10603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sp>
        <p:nvSpPr>
          <p:cNvPr id="190" name="타원 18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49583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  <p:sp>
        <p:nvSpPr>
          <p:cNvPr id="194" name="타원 19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96143" y="223285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 b="1" dirty="0" smtClean="0"/>
              <a:t>1-1</a:t>
            </a:r>
            <a:endParaRPr lang="ko-KR" altLang="en-US" sz="600" b="1" dirty="0"/>
          </a:p>
        </p:txBody>
      </p:sp>
      <p:sp>
        <p:nvSpPr>
          <p:cNvPr id="195" name="타원 19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1758181" y="237965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 b="1" dirty="0" smtClean="0"/>
              <a:t>1-2</a:t>
            </a:r>
            <a:endParaRPr lang="ko-KR" altLang="en-US" sz="600" b="1" dirty="0"/>
          </a:p>
        </p:txBody>
      </p:sp>
      <p:sp>
        <p:nvSpPr>
          <p:cNvPr id="196" name="타원 19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95669" y="260009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 b="1" dirty="0" smtClean="0"/>
              <a:t>1-3</a:t>
            </a:r>
            <a:endParaRPr lang="ko-KR" altLang="en-US" sz="600" b="1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294737" y="2257939"/>
            <a:ext cx="50057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공급자 정보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856659" y="2257939"/>
            <a:ext cx="57536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err="1">
                <a:latin typeface="+mn-ea"/>
              </a:rPr>
              <a:t>대금신청</a:t>
            </a:r>
            <a:r>
              <a:rPr lang="ko-KR" altLang="en-US" sz="700" dirty="0">
                <a:latin typeface="+mn-ea"/>
              </a:rPr>
              <a:t> 금액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493375" y="2257939"/>
            <a:ext cx="45444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세금계산서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6009170" y="2257939"/>
            <a:ext cx="45444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smtClean="0">
                <a:latin typeface="+mn-ea"/>
              </a:rPr>
              <a:t>진행상태</a:t>
            </a:r>
            <a:endParaRPr lang="ko-KR" altLang="en-US" sz="700" dirty="0">
              <a:latin typeface="+mn-ea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sz="800" dirty="0"/>
              <a:t>타이틀 영역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1-1] </a:t>
            </a:r>
            <a:r>
              <a:rPr lang="ko-KR" altLang="en-US" sz="800" dirty="0"/>
              <a:t>레이블이 화면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/>
              <a:t>화면 넘치는 경우 드래그하여 확인 가능 </a:t>
            </a:r>
            <a:r>
              <a:rPr lang="en-US" altLang="ko-KR" sz="800" dirty="0"/>
              <a:t>(</a:t>
            </a:r>
            <a:r>
              <a:rPr lang="ko-KR" altLang="en-US" sz="800" dirty="0" err="1"/>
              <a:t>스와이프기능</a:t>
            </a:r>
            <a:r>
              <a:rPr lang="ko-KR" altLang="en-US" sz="800" dirty="0"/>
              <a:t> 반영 필요</a:t>
            </a:r>
            <a:r>
              <a:rPr lang="en-US" altLang="ko-KR" sz="800" dirty="0"/>
              <a:t>)</a:t>
            </a:r>
            <a:br>
              <a:rPr lang="en-US" altLang="ko-KR" sz="800" dirty="0"/>
            </a:br>
            <a:r>
              <a:rPr lang="en-US" altLang="ko-KR" sz="800" dirty="0"/>
              <a:t>1-2] </a:t>
            </a:r>
            <a:r>
              <a:rPr lang="ko-KR" altLang="en-US" sz="800" dirty="0"/>
              <a:t>문서 정보 영역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 err="1"/>
              <a:t>판단번호</a:t>
            </a:r>
            <a:r>
              <a:rPr lang="ko-KR" altLang="en-US" sz="800" dirty="0"/>
              <a:t> </a:t>
            </a:r>
            <a:r>
              <a:rPr lang="en-US" altLang="ko-KR" sz="800" dirty="0"/>
              <a:t>,  </a:t>
            </a:r>
            <a:r>
              <a:rPr lang="ko-KR" altLang="en-US" sz="800" dirty="0" err="1"/>
              <a:t>계약번호</a:t>
            </a:r>
            <a:r>
              <a:rPr lang="ko-KR" altLang="en-US" sz="800" dirty="0"/>
              <a:t> 노출 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 err="1"/>
              <a:t>판단번호</a:t>
            </a:r>
            <a:r>
              <a:rPr lang="ko-KR" altLang="en-US" sz="800" dirty="0"/>
              <a:t> </a:t>
            </a:r>
            <a:r>
              <a:rPr lang="ko-KR" altLang="en-US" sz="800" dirty="0" err="1"/>
              <a:t>전체노출</a:t>
            </a:r>
            <a:r>
              <a:rPr lang="ko-KR" altLang="en-US" sz="800" dirty="0"/>
              <a:t> </a:t>
            </a:r>
            <a:r>
              <a:rPr lang="en-US" altLang="ko-KR" sz="800" dirty="0"/>
              <a:t>/ </a:t>
            </a:r>
            <a:r>
              <a:rPr lang="ko-KR" altLang="en-US" sz="800" dirty="0" err="1"/>
              <a:t>계약번호</a:t>
            </a:r>
            <a:r>
              <a:rPr lang="ko-KR" altLang="en-US" sz="800" dirty="0"/>
              <a:t> </a:t>
            </a:r>
            <a:r>
              <a:rPr lang="ko-KR" altLang="en-US" sz="800" dirty="0" err="1"/>
              <a:t>노출시</a:t>
            </a:r>
            <a:r>
              <a:rPr lang="ko-KR" altLang="en-US" sz="800" dirty="0"/>
              <a:t> 해당 라인을 넘어가면 </a:t>
            </a:r>
            <a:r>
              <a:rPr lang="en-US" altLang="ko-KR" sz="800" dirty="0"/>
              <a:t>(…) </a:t>
            </a:r>
            <a:r>
              <a:rPr lang="ko-KR" altLang="en-US" sz="800" dirty="0" err="1"/>
              <a:t>말줄임</a:t>
            </a:r>
            <a:r>
              <a:rPr lang="ko-KR" altLang="en-US" sz="800" dirty="0"/>
              <a:t> 표시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1-3] </a:t>
            </a:r>
            <a:r>
              <a:rPr lang="ko-KR" altLang="en-US" sz="800" dirty="0"/>
              <a:t>문서 제목 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/>
              <a:t>제목은 </a:t>
            </a:r>
            <a:r>
              <a:rPr lang="en-US" altLang="ko-KR" sz="800" dirty="0"/>
              <a:t>2</a:t>
            </a:r>
            <a:r>
              <a:rPr lang="ko-KR" altLang="en-US" sz="800" dirty="0"/>
              <a:t>줄 까지 노출 이후</a:t>
            </a:r>
            <a:r>
              <a:rPr lang="en-US" altLang="ko-KR" sz="800" dirty="0"/>
              <a:t>(…) </a:t>
            </a:r>
            <a:r>
              <a:rPr lang="ko-KR" altLang="en-US" sz="800" dirty="0" err="1"/>
              <a:t>말줄임</a:t>
            </a:r>
            <a:r>
              <a:rPr lang="ko-KR" altLang="en-US" sz="800" dirty="0"/>
              <a:t> 표시</a:t>
            </a:r>
            <a:endParaRPr lang="en-US" altLang="ko-KR" sz="800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sz="800" dirty="0" err="1"/>
              <a:t>업무도움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/>
              <a:t>기본값 </a:t>
            </a:r>
            <a:r>
              <a:rPr lang="en-US" altLang="ko-KR" sz="800" dirty="0"/>
              <a:t>: </a:t>
            </a:r>
            <a:r>
              <a:rPr lang="ko-KR" altLang="en-US" sz="800" dirty="0"/>
              <a:t>접힘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 err="1"/>
              <a:t>클릭시</a:t>
            </a:r>
            <a:r>
              <a:rPr lang="ko-KR" altLang="en-US" sz="800" dirty="0"/>
              <a:t> 확장하여 정보 표시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</a:t>
            </a:r>
            <a:r>
              <a:rPr lang="ko-KR" altLang="en-US" sz="800" dirty="0" err="1"/>
              <a:t>업무도움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&gt; </a:t>
            </a:r>
            <a:r>
              <a:rPr lang="ko-KR" altLang="en-US" sz="800" dirty="0"/>
              <a:t>내역이 있는 경우 만 표시</a:t>
            </a:r>
            <a:endParaRPr lang="en-US" altLang="ko-KR" sz="800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sz="800" dirty="0"/>
              <a:t>탭 영역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 err="1"/>
              <a:t>신청정보</a:t>
            </a:r>
            <a:r>
              <a:rPr lang="ko-KR" altLang="en-US" sz="800" dirty="0"/>
              <a:t> </a:t>
            </a:r>
            <a:r>
              <a:rPr lang="en-US" altLang="ko-KR" sz="800" dirty="0"/>
              <a:t>Tab</a:t>
            </a:r>
            <a:r>
              <a:rPr lang="ko-KR" altLang="en-US" sz="800" dirty="0"/>
              <a:t>은 진입 시 고정 노출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/>
              <a:t>탭 내용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ko-KR" altLang="en-US" sz="800" dirty="0" err="1" smtClean="0"/>
              <a:t>계약정보</a:t>
            </a:r>
            <a:r>
              <a:rPr lang="en-US" altLang="ko-KR" sz="800" dirty="0" smtClean="0"/>
              <a:t>, </a:t>
            </a:r>
            <a:r>
              <a:rPr lang="ko-KR" altLang="en-US" sz="800" dirty="0" err="1" smtClean="0"/>
              <a:t>공급자정보</a:t>
            </a:r>
            <a:r>
              <a:rPr lang="en-US" altLang="ko-KR" sz="800" dirty="0" smtClean="0"/>
              <a:t>,</a:t>
            </a:r>
            <a:r>
              <a:rPr lang="ko-KR" altLang="en-US" sz="800" dirty="0" smtClean="0"/>
              <a:t>대금신청금액</a:t>
            </a:r>
            <a:r>
              <a:rPr lang="en-US" altLang="ko-KR" sz="800" dirty="0" smtClean="0"/>
              <a:t>, </a:t>
            </a:r>
            <a:r>
              <a:rPr lang="ko-KR" altLang="en-US" sz="800" dirty="0" smtClean="0"/>
              <a:t>세금계산서</a:t>
            </a:r>
            <a:r>
              <a:rPr lang="en-US" altLang="ko-KR" sz="800" dirty="0" smtClean="0"/>
              <a:t>, </a:t>
            </a:r>
            <a:r>
              <a:rPr lang="ko-KR" altLang="en-US" sz="800" dirty="0" smtClean="0"/>
              <a:t>진행상태  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&gt; </a:t>
            </a:r>
            <a:r>
              <a:rPr lang="ko-KR" altLang="en-US" sz="800" dirty="0"/>
              <a:t>로그인 필요 서비스 안내 표시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/>
              <a:t>화면을 </a:t>
            </a:r>
            <a:r>
              <a:rPr lang="ko-KR" altLang="en-US" sz="800" dirty="0" err="1"/>
              <a:t>넘치는경우</a:t>
            </a:r>
            <a:r>
              <a:rPr lang="ko-KR" altLang="en-US" sz="800" dirty="0"/>
              <a:t> 드래그하여 확인</a:t>
            </a:r>
            <a:r>
              <a:rPr lang="en-US" altLang="ko-KR" sz="800" dirty="0"/>
              <a:t>(</a:t>
            </a:r>
            <a:r>
              <a:rPr lang="ko-KR" altLang="en-US" sz="800" dirty="0" err="1"/>
              <a:t>스와이프기능</a:t>
            </a:r>
            <a:r>
              <a:rPr lang="ko-KR" altLang="en-US" sz="800" dirty="0"/>
              <a:t> 반영 필요</a:t>
            </a:r>
            <a:r>
              <a:rPr lang="en-US" altLang="ko-KR" sz="800" dirty="0" smtClean="0"/>
              <a:t>)</a:t>
            </a:r>
            <a:br>
              <a:rPr lang="en-US" altLang="ko-KR" sz="800" dirty="0" smtClean="0"/>
            </a:br>
            <a:r>
              <a:rPr lang="en-US" altLang="ko-KR" sz="800" dirty="0" smtClean="0"/>
              <a:t>- </a:t>
            </a:r>
            <a:r>
              <a:rPr lang="ko-KR" altLang="en-US" sz="800" dirty="0" smtClean="0"/>
              <a:t>세금계산서인 경우</a:t>
            </a:r>
            <a:r>
              <a:rPr lang="en-US" altLang="ko-KR" sz="800" dirty="0" smtClean="0"/>
              <a:t>, </a:t>
            </a:r>
            <a:r>
              <a:rPr lang="ko-KR" altLang="en-US" sz="800" dirty="0" smtClean="0"/>
              <a:t>화면에서 </a:t>
            </a:r>
            <a:r>
              <a:rPr lang="en-US" altLang="ko-KR" sz="800" dirty="0" smtClean="0"/>
              <a:t>“</a:t>
            </a:r>
            <a:r>
              <a:rPr lang="ko-KR" altLang="en-US" sz="800" dirty="0" smtClean="0"/>
              <a:t>세금계산서번호 선택 을 체크한 경우 노출</a:t>
            </a:r>
            <a:r>
              <a:rPr lang="en-US" altLang="ko-KR" sz="800" dirty="0" smtClean="0"/>
              <a:t>＂</a:t>
            </a:r>
            <a:endParaRPr lang="en-US" altLang="ko-KR" sz="800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sz="800" dirty="0"/>
              <a:t>신청 정보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/>
              <a:t>각 공고에 맞춰 폼 변화에 유의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 err="1"/>
              <a:t>상세내용에</a:t>
            </a:r>
            <a:r>
              <a:rPr lang="ko-KR" altLang="en-US" sz="800" dirty="0"/>
              <a:t> 포함된 정보 표시</a:t>
            </a:r>
            <a:endParaRPr lang="en-US" altLang="ko-KR" sz="800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sz="800" dirty="0"/>
              <a:t>기본값은 상단 이동 버튼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ko-KR" altLang="en-US" sz="800" dirty="0"/>
              <a:t>현 상세내용 탭에서는 </a:t>
            </a:r>
            <a:endParaRPr lang="en-US" altLang="ko-KR" sz="800" dirty="0"/>
          </a:p>
          <a:p>
            <a:endParaRPr lang="ko-KR" altLang="en-US" sz="800" dirty="0"/>
          </a:p>
        </p:txBody>
      </p:sp>
      <p:sp>
        <p:nvSpPr>
          <p:cNvPr id="167" name="직사각형 166"/>
          <p:cNvSpPr/>
          <p:nvPr/>
        </p:nvSpPr>
        <p:spPr>
          <a:xfrm>
            <a:off x="7103286" y="6104709"/>
            <a:ext cx="2275404" cy="15681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500" smtClean="0"/>
              <a:t>화면수정</a:t>
            </a:r>
            <a:endParaRPr lang="ko-KR" altLang="en-US" sz="500" dirty="0"/>
          </a:p>
        </p:txBody>
      </p:sp>
    </p:spTree>
    <p:extLst>
      <p:ext uri="{BB962C8B-B14F-4D97-AF65-F5344CB8AC3E}">
        <p14:creationId xmlns:p14="http://schemas.microsoft.com/office/powerpoint/2010/main" val="345280506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계약정보</a:t>
            </a:r>
            <a:r>
              <a:rPr lang="ko-KR" altLang="en-US" dirty="0"/>
              <a:t> 데이터 영역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대금신청대상목록 데이터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중앙조달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계약정보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대금</a:t>
            </a:r>
            <a:r>
              <a:rPr lang="en-US" altLang="ko-KR" dirty="0"/>
              <a:t>/</a:t>
            </a:r>
            <a:r>
              <a:rPr lang="ko-KR" altLang="en-US" dirty="0"/>
              <a:t>사후 상세 </a:t>
            </a:r>
            <a:r>
              <a:rPr lang="en-US" altLang="ko-KR" dirty="0"/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중앙조달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/>
              <a:t>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중앙조달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MUI-WM-01-M05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grpSp>
        <p:nvGrpSpPr>
          <p:cNvPr id="133" name="그룹 132"/>
          <p:cNvGrpSpPr/>
          <p:nvPr/>
        </p:nvGrpSpPr>
        <p:grpSpPr>
          <a:xfrm>
            <a:off x="716366" y="1528651"/>
            <a:ext cx="2630093" cy="1160890"/>
            <a:chOff x="720490" y="4465173"/>
            <a:chExt cx="2630093" cy="1160890"/>
          </a:xfrm>
        </p:grpSpPr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35" name="그룹 134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147" name="직선 연결선 14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" name="직선 연결선 14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36" name="직사각형 135"/>
            <p:cNvSpPr/>
            <p:nvPr/>
          </p:nvSpPr>
          <p:spPr>
            <a:xfrm>
              <a:off x="722583" y="4772659"/>
              <a:ext cx="792000" cy="8534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37" name="직선 연결선 13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670770" cy="82747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청구번호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82747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2025 0000 00 - 01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배추김치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2026-01-30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0000 0000</a:t>
              </a:r>
            </a:p>
          </p:txBody>
        </p:sp>
        <p:cxnSp>
          <p:nvCxnSpPr>
            <p:cNvPr id="141" name="직선 연결선 14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2" name="직선 연결선 14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3" name="직선 연결선 14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4" name="직선 연결선 1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73749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60" name="그룹 59"/>
          <p:cNvGrpSpPr/>
          <p:nvPr/>
        </p:nvGrpSpPr>
        <p:grpSpPr>
          <a:xfrm>
            <a:off x="675399" y="2816838"/>
            <a:ext cx="2630093" cy="1975134"/>
            <a:chOff x="3836701" y="2575831"/>
            <a:chExt cx="2630093" cy="197513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7672" y="2575831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대금신청대상</a:t>
              </a:r>
            </a:p>
          </p:txBody>
        </p:sp>
        <p:sp>
          <p:nvSpPr>
            <p:cNvPr id="62" name="직사각형 61"/>
            <p:cNvSpPr/>
            <p:nvPr/>
          </p:nvSpPr>
          <p:spPr>
            <a:xfrm>
              <a:off x="3838794" y="2827415"/>
              <a:ext cx="792000" cy="170046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1" y="2827416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2827416"/>
              <a:ext cx="670770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통지번호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조서발행번호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합격일자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납품일자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예산구분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감액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지체상금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82706" y="2827416"/>
              <a:ext cx="1775839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20257135021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00 00 0000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2026-01-01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2026-12~31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66" name="직선 연결선 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0585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7" name="직선 연결선 6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27222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8" name="직선 연결선 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4859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9" name="직선 연결선 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69964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0" name="직선 연결선 6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91334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1" name="직선 연결선 7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12705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72" name="그룹 71"/>
            <p:cNvGrpSpPr/>
            <p:nvPr/>
          </p:nvGrpSpPr>
          <p:grpSpPr>
            <a:xfrm flipV="1">
              <a:off x="6259759" y="2635184"/>
              <a:ext cx="94010" cy="47005"/>
              <a:chOff x="6812560" y="3297172"/>
              <a:chExt cx="94010" cy="47005"/>
            </a:xfrm>
          </p:grpSpPr>
          <p:cxnSp>
            <p:nvCxnSpPr>
              <p:cNvPr id="75" name="직선 연결선 7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직선 연결선 7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3" name="직선 연결선 7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31417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4" name="직선 연결선 7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5278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55" name="타원 15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87320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77" name="그룹 76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377434"/>
            <a:ext cx="76863" cy="292489"/>
            <a:chOff x="3750067" y="4683795"/>
            <a:chExt cx="76863" cy="292489"/>
          </a:xfrm>
        </p:grpSpPr>
        <p:sp>
          <p:nvSpPr>
            <p:cNvPr id="78" name="타원 77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9" name="타원 78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80" name="타원 79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7025242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공급자정보</a:t>
            </a:r>
            <a:r>
              <a:rPr lang="ko-KR" altLang="en-US" dirty="0"/>
              <a:t> 데이터 영역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중앙조달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상세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공급자 정보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대금</a:t>
            </a:r>
            <a:r>
              <a:rPr lang="en-US" altLang="ko-KR" dirty="0"/>
              <a:t>/</a:t>
            </a:r>
            <a:r>
              <a:rPr lang="ko-KR" altLang="en-US" dirty="0"/>
              <a:t>사후 상세 </a:t>
            </a:r>
            <a:r>
              <a:rPr lang="en-US" altLang="ko-KR" dirty="0"/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중앙조달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/>
              <a:t>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중앙조달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MUI-WM-01-M05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" name="그룹 4"/>
          <p:cNvGrpSpPr/>
          <p:nvPr/>
        </p:nvGrpSpPr>
        <p:grpSpPr>
          <a:xfrm>
            <a:off x="803364" y="1527996"/>
            <a:ext cx="2456097" cy="181140"/>
            <a:chOff x="763157" y="1527996"/>
            <a:chExt cx="2456097" cy="181140"/>
          </a:xfrm>
        </p:grpSpPr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3157" y="1527996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공급자 정보</a:t>
              </a:r>
            </a:p>
          </p:txBody>
        </p:sp>
        <p:grpSp>
          <p:nvGrpSpPr>
            <p:cNvPr id="129" name="그룹 128"/>
            <p:cNvGrpSpPr/>
            <p:nvPr/>
          </p:nvGrpSpPr>
          <p:grpSpPr>
            <a:xfrm flipV="1">
              <a:off x="3125244" y="1641327"/>
              <a:ext cx="94010" cy="47005"/>
              <a:chOff x="6812560" y="3297172"/>
              <a:chExt cx="94010" cy="47005"/>
            </a:xfrm>
          </p:grpSpPr>
          <p:cxnSp>
            <p:nvCxnSpPr>
              <p:cNvPr id="131" name="직선 연결선 13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8" name="직선 연결선 13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1" name="그룹 140"/>
          <p:cNvGrpSpPr/>
          <p:nvPr/>
        </p:nvGrpSpPr>
        <p:grpSpPr>
          <a:xfrm>
            <a:off x="716366" y="1820148"/>
            <a:ext cx="2630093" cy="1292663"/>
            <a:chOff x="3865118" y="2946203"/>
            <a:chExt cx="2630093" cy="1292663"/>
          </a:xfrm>
        </p:grpSpPr>
        <p:sp>
          <p:nvSpPr>
            <p:cNvPr id="142" name="직사각형 141"/>
            <p:cNvSpPr/>
            <p:nvPr/>
          </p:nvSpPr>
          <p:spPr>
            <a:xfrm>
              <a:off x="3867211" y="2946203"/>
              <a:ext cx="792000" cy="128939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5" name="직선 연결선 15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5118" y="294620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54275" y="2946204"/>
              <a:ext cx="670770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 err="1">
                  <a:latin typeface="+mn-ea"/>
                </a:rPr>
                <a:t>업체명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대표명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청구인성명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연락처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SMS</a:t>
              </a:r>
              <a:r>
                <a:rPr lang="ko-KR" altLang="en-US" sz="700" dirty="0" err="1">
                  <a:latin typeface="+mn-ea"/>
                </a:rPr>
                <a:t>수신번호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주소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11123" y="2946204"/>
              <a:ext cx="1775839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010-1234-5678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010-1234-5678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</p:txBody>
        </p: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17730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3" name="직선 연결선 1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39101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4" name="직선 연결선 1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604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80818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02189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7" name="직선 연결선 16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23559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3363" y="3179706"/>
            <a:ext cx="245609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* SMS</a:t>
            </a:r>
            <a:r>
              <a:rPr lang="ko-KR" altLang="en-US" sz="700" dirty="0" err="1">
                <a:latin typeface="+mn-ea"/>
              </a:rPr>
              <a:t>수신번호는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[SMS</a:t>
            </a:r>
            <a:r>
              <a:rPr lang="ko-KR" altLang="en-US" sz="700" dirty="0" err="1">
                <a:latin typeface="+mn-ea"/>
              </a:rPr>
              <a:t>서비스신청</a:t>
            </a:r>
            <a:r>
              <a:rPr lang="en-US" altLang="ko-KR" sz="700" dirty="0">
                <a:latin typeface="+mn-ea"/>
              </a:rPr>
              <a:t>] </a:t>
            </a:r>
            <a:r>
              <a:rPr lang="ko-KR" altLang="en-US" sz="700" dirty="0">
                <a:latin typeface="+mn-ea"/>
              </a:rPr>
              <a:t>시 등록된 번호가 자동으로 입력됩니다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51012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24786255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en-US" altLang="ko-KR" dirty="0" smtClean="0"/>
              <a:t>PC</a:t>
            </a:r>
            <a:r>
              <a:rPr lang="ko-KR" altLang="en-US" dirty="0" smtClean="0"/>
              <a:t>에서</a:t>
            </a:r>
            <a:r>
              <a:rPr lang="en-US" altLang="ko-KR" dirty="0"/>
              <a:t> </a:t>
            </a:r>
            <a:r>
              <a:rPr lang="ko-KR" altLang="en-US" dirty="0" err="1" smtClean="0"/>
              <a:t>대금청구</a:t>
            </a:r>
            <a:r>
              <a:rPr lang="ko-KR" altLang="en-US" dirty="0" smtClean="0"/>
              <a:t> 신청서 작성시</a:t>
            </a:r>
            <a:r>
              <a:rPr lang="en-US" altLang="ko-KR" dirty="0" smtClean="0"/>
              <a:t>, 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합격을 선택한 경우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err="1" smtClean="0"/>
              <a:t>합격일자</a:t>
            </a:r>
            <a:r>
              <a:rPr lang="ko-KR" altLang="en-US" dirty="0" smtClean="0"/>
              <a:t> 노출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en-US" altLang="ko-KR" dirty="0"/>
              <a:t>PC</a:t>
            </a:r>
            <a:r>
              <a:rPr lang="ko-KR" altLang="en-US" dirty="0"/>
              <a:t>에서</a:t>
            </a:r>
            <a:r>
              <a:rPr lang="en-US" altLang="ko-KR" dirty="0"/>
              <a:t> </a:t>
            </a:r>
            <a:r>
              <a:rPr lang="ko-KR" altLang="en-US" dirty="0" err="1"/>
              <a:t>대금청구</a:t>
            </a:r>
            <a:r>
              <a:rPr lang="ko-KR" altLang="en-US" dirty="0"/>
              <a:t> 신청서 작성시</a:t>
            </a:r>
            <a:r>
              <a:rPr lang="en-US" altLang="ko-KR" dirty="0"/>
              <a:t>, </a:t>
            </a:r>
            <a:r>
              <a:rPr lang="ko-KR" altLang="en-US" dirty="0" err="1" smtClean="0"/>
              <a:t>납품일자를</a:t>
            </a:r>
            <a:r>
              <a:rPr lang="ko-KR" altLang="en-US" dirty="0" smtClean="0"/>
              <a:t> 선택한 경우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 smtClean="0"/>
              <a:t>- </a:t>
            </a:r>
            <a:r>
              <a:rPr lang="ko-KR" altLang="en-US" dirty="0" err="1" smtClean="0"/>
              <a:t>납품일자</a:t>
            </a:r>
            <a:r>
              <a:rPr lang="ko-KR" altLang="en-US" dirty="0" smtClean="0"/>
              <a:t> 노출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en-US" altLang="ko-KR" dirty="0"/>
              <a:t>PC</a:t>
            </a:r>
            <a:r>
              <a:rPr lang="ko-KR" altLang="en-US" dirty="0"/>
              <a:t>에서</a:t>
            </a:r>
            <a:r>
              <a:rPr lang="en-US" altLang="ko-KR" dirty="0"/>
              <a:t> </a:t>
            </a:r>
            <a:r>
              <a:rPr lang="ko-KR" altLang="en-US" dirty="0" err="1"/>
              <a:t>대금청구</a:t>
            </a:r>
            <a:r>
              <a:rPr lang="ko-KR" altLang="en-US" dirty="0"/>
              <a:t> 신청서 작성시</a:t>
            </a:r>
            <a:r>
              <a:rPr lang="en-US" altLang="ko-KR" dirty="0" smtClean="0"/>
              <a:t>, </a:t>
            </a:r>
            <a:r>
              <a:rPr lang="ko-KR" altLang="en-US" dirty="0" smtClean="0"/>
              <a:t>세액 여부 있음을 선택한 경우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있음 노출 및 세액 항목 노출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 smtClean="0"/>
              <a:t>납품청구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신청서상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세액여부</a:t>
            </a:r>
            <a:r>
              <a:rPr lang="ko-KR" altLang="en-US" dirty="0" smtClean="0"/>
              <a:t> 없음 을 선택한 경우 노출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-4-1] </a:t>
            </a:r>
            <a:r>
              <a:rPr lang="ko-KR" altLang="en-US" dirty="0" err="1" smtClean="0"/>
              <a:t>세액여부가</a:t>
            </a:r>
            <a:r>
              <a:rPr lang="ko-KR" altLang="en-US" dirty="0" smtClean="0"/>
              <a:t> 없음인 경우</a:t>
            </a:r>
            <a:r>
              <a:rPr lang="en-US" altLang="ko-KR" dirty="0" smtClean="0"/>
              <a:t>, </a:t>
            </a:r>
            <a:r>
              <a:rPr lang="ko-KR" altLang="en-US" dirty="0" err="1" smtClean="0"/>
              <a:t>세액항목</a:t>
            </a:r>
            <a:r>
              <a:rPr lang="ko-KR" altLang="en-US" dirty="0" smtClean="0"/>
              <a:t> </a:t>
            </a:r>
            <a:r>
              <a:rPr lang="en-US" altLang="ko-KR" dirty="0" smtClean="0"/>
              <a:t>“-”</a:t>
            </a:r>
            <a:r>
              <a:rPr lang="ko-KR" altLang="en-US" dirty="0" smtClean="0"/>
              <a:t>로 표기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중앙조달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상세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 err="1">
                <a:latin typeface="+mn-ea"/>
              </a:rPr>
              <a:t>대금신청</a:t>
            </a:r>
            <a:r>
              <a:rPr lang="ko-KR" altLang="en-US" dirty="0">
                <a:latin typeface="+mn-ea"/>
              </a:rPr>
              <a:t> 금액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대금</a:t>
            </a:r>
            <a:r>
              <a:rPr lang="en-US" altLang="ko-KR" dirty="0"/>
              <a:t>/</a:t>
            </a:r>
            <a:r>
              <a:rPr lang="ko-KR" altLang="en-US" dirty="0"/>
              <a:t>사후 상세 </a:t>
            </a:r>
            <a:r>
              <a:rPr lang="en-US" altLang="ko-KR" dirty="0"/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중앙조달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/>
              <a:t>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중앙조달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MUI-WM-01-M05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" name="그룹 4"/>
          <p:cNvGrpSpPr/>
          <p:nvPr/>
        </p:nvGrpSpPr>
        <p:grpSpPr>
          <a:xfrm>
            <a:off x="803364" y="1527996"/>
            <a:ext cx="2456097" cy="181140"/>
            <a:chOff x="763157" y="1527996"/>
            <a:chExt cx="2456097" cy="181140"/>
          </a:xfrm>
        </p:grpSpPr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3157" y="1527996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대금신청</a:t>
              </a:r>
              <a:r>
                <a:rPr lang="ko-KR" altLang="en-US" sz="700" dirty="0">
                  <a:latin typeface="+mn-ea"/>
                </a:rPr>
                <a:t> 금액</a:t>
              </a:r>
            </a:p>
          </p:txBody>
        </p:sp>
        <p:grpSp>
          <p:nvGrpSpPr>
            <p:cNvPr id="129" name="그룹 128"/>
            <p:cNvGrpSpPr/>
            <p:nvPr/>
          </p:nvGrpSpPr>
          <p:grpSpPr>
            <a:xfrm flipV="1">
              <a:off x="3125244" y="1641327"/>
              <a:ext cx="94010" cy="47005"/>
              <a:chOff x="6812560" y="3297172"/>
              <a:chExt cx="94010" cy="47005"/>
            </a:xfrm>
          </p:grpSpPr>
          <p:cxnSp>
            <p:nvCxnSpPr>
              <p:cNvPr id="131" name="직선 연결선 13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8" name="직선 연결선 13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1" name="그룹 140"/>
          <p:cNvGrpSpPr/>
          <p:nvPr/>
        </p:nvGrpSpPr>
        <p:grpSpPr>
          <a:xfrm>
            <a:off x="716366" y="1820148"/>
            <a:ext cx="2630093" cy="2804005"/>
            <a:chOff x="3865118" y="2946203"/>
            <a:chExt cx="2630093" cy="2804005"/>
          </a:xfrm>
        </p:grpSpPr>
        <p:sp>
          <p:nvSpPr>
            <p:cNvPr id="142" name="직사각형 141"/>
            <p:cNvSpPr/>
            <p:nvPr/>
          </p:nvSpPr>
          <p:spPr>
            <a:xfrm>
              <a:off x="3867211" y="2946203"/>
              <a:ext cx="792000" cy="280400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5" name="직선 연결선 15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5118" y="294620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54274" y="2946204"/>
              <a:ext cx="715881" cy="280076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 smtClean="0">
                  <a:latin typeface="+mn-ea"/>
                </a:rPr>
                <a:t>합격일자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세액여부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납품금액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공급가액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세액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공제금액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공급가액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세액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공제내역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청구금액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면제원제출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보증보험증권제출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비고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11123" y="2946204"/>
              <a:ext cx="1775839" cy="280076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있음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</p:txBody>
        </p: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17730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3" name="직선 연결선 1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39101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4" name="직선 연결선 1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604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80818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02189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7" name="직선 연결선 16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23559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9" name="직선 연결선 2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47448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" name="직선 연결선 2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68818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1" name="직선 연결선 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90189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" name="직선 연결선 3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510535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" name="직선 연결선 3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531906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직선 연결선 3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553276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직선 연결선 3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574161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55235" y="1808160"/>
            <a:ext cx="162064" cy="16206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466910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77757" y="1878063"/>
            <a:ext cx="471283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 smtClean="0">
                <a:latin typeface="+mn-ea"/>
              </a:rPr>
              <a:t>2026-01-30</a:t>
            </a:r>
            <a:endParaRPr lang="ko-KR" altLang="en-US" sz="700" dirty="0">
              <a:latin typeface="+mn-ea"/>
            </a:endParaRPr>
          </a:p>
        </p:txBody>
      </p:sp>
      <p:sp>
        <p:nvSpPr>
          <p:cNvPr id="47" name="타원 46"/>
          <p:cNvSpPr/>
          <p:nvPr/>
        </p:nvSpPr>
        <p:spPr>
          <a:xfrm flipH="1">
            <a:off x="1348969" y="2105697"/>
            <a:ext cx="108000" cy="108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?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630801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0" name="그룹 49"/>
          <p:cNvGrpSpPr/>
          <p:nvPr/>
        </p:nvGrpSpPr>
        <p:grpSpPr>
          <a:xfrm>
            <a:off x="3758766" y="1527996"/>
            <a:ext cx="2456097" cy="181140"/>
            <a:chOff x="763157" y="1527996"/>
            <a:chExt cx="2456097" cy="181140"/>
          </a:xfrm>
        </p:grpSpPr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3157" y="1527996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대금신청</a:t>
              </a:r>
              <a:r>
                <a:rPr lang="ko-KR" altLang="en-US" sz="700" dirty="0">
                  <a:latin typeface="+mn-ea"/>
                </a:rPr>
                <a:t> 금액</a:t>
              </a:r>
            </a:p>
          </p:txBody>
        </p:sp>
        <p:grpSp>
          <p:nvGrpSpPr>
            <p:cNvPr id="53" name="그룹 52"/>
            <p:cNvGrpSpPr/>
            <p:nvPr/>
          </p:nvGrpSpPr>
          <p:grpSpPr>
            <a:xfrm flipV="1">
              <a:off x="3125244" y="1641327"/>
              <a:ext cx="94010" cy="47005"/>
              <a:chOff x="6812560" y="3297172"/>
              <a:chExt cx="94010" cy="47005"/>
            </a:xfrm>
          </p:grpSpPr>
          <p:cxnSp>
            <p:nvCxnSpPr>
              <p:cNvPr id="54" name="직선 연결선 5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5" name="직선 연결선 5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6" name="그룹 55"/>
          <p:cNvGrpSpPr/>
          <p:nvPr/>
        </p:nvGrpSpPr>
        <p:grpSpPr>
          <a:xfrm>
            <a:off x="3671768" y="1820148"/>
            <a:ext cx="2630093" cy="2804005"/>
            <a:chOff x="3865118" y="2946203"/>
            <a:chExt cx="2630093" cy="2804005"/>
          </a:xfrm>
        </p:grpSpPr>
        <p:sp>
          <p:nvSpPr>
            <p:cNvPr id="57" name="직사각형 56"/>
            <p:cNvSpPr/>
            <p:nvPr/>
          </p:nvSpPr>
          <p:spPr>
            <a:xfrm>
              <a:off x="3867211" y="2946203"/>
              <a:ext cx="792000" cy="280400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8" name="직선 연결선 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5118" y="294620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54274" y="2946204"/>
              <a:ext cx="715881" cy="280076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 smtClean="0">
                  <a:latin typeface="+mn-ea"/>
                </a:rPr>
                <a:t>납품일자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세액여부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납품금액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공급가액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세액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공제금액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공급가액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세액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공제내역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청구금액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면제원제출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보증보험증권제출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비고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11123" y="2946204"/>
              <a:ext cx="1775839" cy="280076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없음 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 smtClean="0">
                  <a:latin typeface="+mn-ea"/>
                </a:rPr>
                <a:t>- 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 smtClean="0">
                  <a:latin typeface="+mn-ea"/>
                </a:rPr>
                <a:t>-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</p:txBody>
        </p:sp>
        <p:cxnSp>
          <p:nvCxnSpPr>
            <p:cNvPr id="61" name="직선 연결선 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17730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2" name="직선 연결선 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39101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604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직선 연결선 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80818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5" name="직선 연결선 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02189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7" name="직선 연결선 6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23559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8" name="직선 연결선 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47448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9" name="직선 연결선 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68818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0" name="직선 연결선 6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90189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1" name="직선 연결선 7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510535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직선 연결선 7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531906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3" name="직선 연결선 7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553276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4" name="직선 연결선 7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574161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630801" y="466910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533159" y="1878063"/>
            <a:ext cx="471283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 smtClean="0">
                <a:latin typeface="+mn-ea"/>
              </a:rPr>
              <a:t>2026-02-10</a:t>
            </a:r>
            <a:endParaRPr lang="ko-KR" altLang="en-US" sz="700" dirty="0">
              <a:latin typeface="+mn-ea"/>
            </a:endParaRPr>
          </a:p>
        </p:txBody>
      </p:sp>
      <p:sp>
        <p:nvSpPr>
          <p:cNvPr id="78" name="타원 77"/>
          <p:cNvSpPr/>
          <p:nvPr/>
        </p:nvSpPr>
        <p:spPr>
          <a:xfrm flipH="1">
            <a:off x="4304371" y="2105697"/>
            <a:ext cx="108000" cy="108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?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80" name="직사각형 79"/>
          <p:cNvSpPr/>
          <p:nvPr/>
        </p:nvSpPr>
        <p:spPr>
          <a:xfrm>
            <a:off x="3652932" y="2688661"/>
            <a:ext cx="2689896" cy="205119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직사각형 80"/>
          <p:cNvSpPr/>
          <p:nvPr/>
        </p:nvSpPr>
        <p:spPr>
          <a:xfrm>
            <a:off x="3652932" y="3357843"/>
            <a:ext cx="2689896" cy="205119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10193" y="5222223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계약정보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114415" y="5222223"/>
            <a:ext cx="50057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공급자 정보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676337" y="5222223"/>
            <a:ext cx="57536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err="1">
                <a:latin typeface="+mn-ea"/>
              </a:rPr>
              <a:t>대금신청</a:t>
            </a:r>
            <a:r>
              <a:rPr lang="ko-KR" altLang="en-US" sz="700" dirty="0">
                <a:latin typeface="+mn-ea"/>
              </a:rPr>
              <a:t> 금액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313053" y="5222223"/>
            <a:ext cx="45444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세금계산서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828848" y="5222223"/>
            <a:ext cx="45444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smtClean="0">
                <a:latin typeface="+mn-ea"/>
              </a:rPr>
              <a:t>진행상태</a:t>
            </a:r>
            <a:endParaRPr lang="ko-KR" altLang="en-US" sz="700" dirty="0">
              <a:latin typeface="+mn-ea"/>
            </a:endParaRPr>
          </a:p>
        </p:txBody>
      </p:sp>
      <p:sp>
        <p:nvSpPr>
          <p:cNvPr id="89" name="타원 8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10637" y="1837096"/>
            <a:ext cx="162064" cy="16206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sp>
        <p:nvSpPr>
          <p:cNvPr id="90" name="타원 8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55235" y="2068819"/>
            <a:ext cx="162064" cy="16206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sp>
        <p:nvSpPr>
          <p:cNvPr id="91" name="타원 9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10637" y="2078933"/>
            <a:ext cx="162064" cy="16206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11708" y="2612173"/>
            <a:ext cx="162064" cy="16206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00" b="1" dirty="0" smtClean="0"/>
              <a:t>4-1</a:t>
            </a:r>
            <a:endParaRPr lang="ko-KR" altLang="en-US" sz="500" b="1" dirty="0"/>
          </a:p>
        </p:txBody>
      </p:sp>
      <p:sp>
        <p:nvSpPr>
          <p:cNvPr id="75" name="직사각형 74"/>
          <p:cNvSpPr/>
          <p:nvPr/>
        </p:nvSpPr>
        <p:spPr>
          <a:xfrm>
            <a:off x="7103286" y="6139543"/>
            <a:ext cx="2287843" cy="12198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500" smtClean="0"/>
              <a:t>화면수정</a:t>
            </a:r>
            <a:endParaRPr lang="ko-KR" altLang="en-US" sz="500" dirty="0"/>
          </a:p>
        </p:txBody>
      </p:sp>
    </p:spTree>
    <p:extLst>
      <p:ext uri="{BB962C8B-B14F-4D97-AF65-F5344CB8AC3E}">
        <p14:creationId xmlns:p14="http://schemas.microsoft.com/office/powerpoint/2010/main" val="51723367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en-US" altLang="ko-KR" dirty="0" smtClean="0">
                <a:latin typeface="+mn-ea"/>
              </a:rPr>
              <a:t>PC</a:t>
            </a:r>
            <a:r>
              <a:rPr lang="ko-KR" altLang="en-US" dirty="0" smtClean="0">
                <a:latin typeface="+mn-ea"/>
              </a:rPr>
              <a:t>에서 사후정산청구서 작성시</a:t>
            </a:r>
            <a:r>
              <a:rPr lang="en-US" altLang="ko-KR" dirty="0" smtClean="0">
                <a:latin typeface="+mn-ea"/>
              </a:rPr>
              <a:t>(UI-WM-01-M47), </a:t>
            </a:r>
            <a:r>
              <a:rPr lang="ko-KR" altLang="en-US" dirty="0" smtClean="0">
                <a:latin typeface="+mn-ea"/>
              </a:rPr>
              <a:t>세금계산서</a:t>
            </a:r>
            <a:r>
              <a:rPr lang="en-US" altLang="ko-KR" dirty="0">
                <a:latin typeface="+mn-ea"/>
              </a:rPr>
              <a:t> </a:t>
            </a:r>
            <a:r>
              <a:rPr lang="en-US" altLang="ko-KR" dirty="0" smtClean="0">
                <a:latin typeface="+mn-ea"/>
              </a:rPr>
              <a:t>“</a:t>
            </a:r>
            <a:r>
              <a:rPr lang="ko-KR" altLang="en-US" dirty="0" smtClean="0">
                <a:latin typeface="+mn-ea"/>
              </a:rPr>
              <a:t>선택</a:t>
            </a:r>
            <a:r>
              <a:rPr lang="en-US" altLang="ko-KR" dirty="0" smtClean="0">
                <a:latin typeface="+mn-ea"/>
              </a:rPr>
              <a:t>” </a:t>
            </a:r>
            <a:r>
              <a:rPr lang="ko-KR" altLang="en-US" dirty="0" smtClean="0">
                <a:latin typeface="+mn-ea"/>
              </a:rPr>
              <a:t>을 선택한 경우 노출 되는 항목</a:t>
            </a:r>
            <a:endParaRPr lang="en-US" altLang="ko-KR" dirty="0" smtClean="0">
              <a:latin typeface="+mn-ea"/>
            </a:endParaRPr>
          </a:p>
          <a:p>
            <a:pPr marL="228600" indent="-228600">
              <a:buAutoNum type="arabicPeriod"/>
            </a:pPr>
            <a:endParaRPr lang="en-US" altLang="ko-KR" dirty="0">
              <a:latin typeface="+mn-ea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40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중앙조달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상세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/>
              <a:t>진행상태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대금</a:t>
            </a:r>
            <a:r>
              <a:rPr lang="en-US" altLang="ko-KR" dirty="0"/>
              <a:t>/</a:t>
            </a:r>
            <a:r>
              <a:rPr lang="ko-KR" altLang="en-US" dirty="0"/>
              <a:t>사후 상세 </a:t>
            </a:r>
            <a:r>
              <a:rPr lang="en-US" altLang="ko-KR" dirty="0"/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중앙조달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/>
              <a:t> </a:t>
            </a:r>
            <a:r>
              <a:rPr lang="ko-KR" altLang="en-US" dirty="0" smtClean="0"/>
              <a:t>진행상태 </a:t>
            </a:r>
            <a:endParaRPr lang="ko-KR" altLang="en-US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중앙조달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MUI-WM-01-M05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" name="그룹 4"/>
          <p:cNvGrpSpPr/>
          <p:nvPr/>
        </p:nvGrpSpPr>
        <p:grpSpPr>
          <a:xfrm>
            <a:off x="803364" y="1527996"/>
            <a:ext cx="2456097" cy="181140"/>
            <a:chOff x="763157" y="1527996"/>
            <a:chExt cx="2456097" cy="181140"/>
          </a:xfrm>
        </p:grpSpPr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3157" y="1527996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세금계산서</a:t>
              </a:r>
            </a:p>
          </p:txBody>
        </p:sp>
        <p:grpSp>
          <p:nvGrpSpPr>
            <p:cNvPr id="129" name="그룹 128"/>
            <p:cNvGrpSpPr/>
            <p:nvPr/>
          </p:nvGrpSpPr>
          <p:grpSpPr>
            <a:xfrm flipV="1">
              <a:off x="3125244" y="1641327"/>
              <a:ext cx="94010" cy="47005"/>
              <a:chOff x="6812560" y="3297172"/>
              <a:chExt cx="94010" cy="47005"/>
            </a:xfrm>
          </p:grpSpPr>
          <p:cxnSp>
            <p:nvCxnSpPr>
              <p:cNvPr id="131" name="직선 연결선 13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8" name="직선 연결선 13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1" name="그룹 140"/>
          <p:cNvGrpSpPr/>
          <p:nvPr/>
        </p:nvGrpSpPr>
        <p:grpSpPr>
          <a:xfrm>
            <a:off x="716366" y="1820148"/>
            <a:ext cx="2630093" cy="235931"/>
            <a:chOff x="3865118" y="2946203"/>
            <a:chExt cx="2630093" cy="235931"/>
          </a:xfrm>
        </p:grpSpPr>
        <p:sp>
          <p:nvSpPr>
            <p:cNvPr id="142" name="직사각형 141"/>
            <p:cNvSpPr/>
            <p:nvPr/>
          </p:nvSpPr>
          <p:spPr>
            <a:xfrm>
              <a:off x="3867211" y="2946203"/>
              <a:ext cx="792000" cy="23593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5" name="직선 연결선 15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5118" y="294620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54274" y="2946204"/>
              <a:ext cx="715881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세금계산서번호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17730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17303" y="2946204"/>
              <a:ext cx="17696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 smtClean="0">
                  <a:latin typeface="+mn-ea"/>
                </a:rPr>
                <a:t>1234-5678-9012</a:t>
              </a:r>
              <a:endParaRPr lang="ko-KR" altLang="en-US" sz="700" dirty="0">
                <a:latin typeface="+mn-ea"/>
              </a:endParaRPr>
            </a:p>
          </p:txBody>
        </p: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6160" y="1581676"/>
            <a:ext cx="162064" cy="16206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570656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9" name="그룹 48"/>
          <p:cNvGrpSpPr/>
          <p:nvPr/>
        </p:nvGrpSpPr>
        <p:grpSpPr>
          <a:xfrm>
            <a:off x="716366" y="2363885"/>
            <a:ext cx="2630093" cy="1292663"/>
            <a:chOff x="3865118" y="2946203"/>
            <a:chExt cx="2630093" cy="1292663"/>
          </a:xfrm>
        </p:grpSpPr>
        <p:sp>
          <p:nvSpPr>
            <p:cNvPr id="50" name="직사각형 49"/>
            <p:cNvSpPr/>
            <p:nvPr/>
          </p:nvSpPr>
          <p:spPr>
            <a:xfrm>
              <a:off x="3867211" y="2946203"/>
              <a:ext cx="792000" cy="129266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2" name="직선 연결선 5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5118" y="294620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54274" y="2946204"/>
              <a:ext cx="715881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월일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품목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수량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단가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공급가액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세액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11123" y="2946204"/>
              <a:ext cx="1775839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02-03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55" name="직선 연결선 5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17730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6" name="직선 연결선 5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39101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7" name="직선 연결선 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604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8" name="직선 연결선 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80818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9" name="직선 연결선 5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02189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0" name="직선 연결선 5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23559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70" name="TextBox 6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3364" y="2090538"/>
            <a:ext cx="84376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품목 정보</a:t>
            </a:r>
          </a:p>
        </p:txBody>
      </p:sp>
      <p:grpSp>
        <p:nvGrpSpPr>
          <p:cNvPr id="71" name="그룹 70"/>
          <p:cNvGrpSpPr/>
          <p:nvPr/>
        </p:nvGrpSpPr>
        <p:grpSpPr>
          <a:xfrm>
            <a:off x="716366" y="3764258"/>
            <a:ext cx="2630093" cy="1292663"/>
            <a:chOff x="3865118" y="2946203"/>
            <a:chExt cx="2630093" cy="1292663"/>
          </a:xfrm>
        </p:grpSpPr>
        <p:sp>
          <p:nvSpPr>
            <p:cNvPr id="72" name="직사각형 71"/>
            <p:cNvSpPr/>
            <p:nvPr/>
          </p:nvSpPr>
          <p:spPr>
            <a:xfrm>
              <a:off x="3867211" y="2946203"/>
              <a:ext cx="792000" cy="129266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73" name="직선 연결선 7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5118" y="294620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54274" y="2946204"/>
              <a:ext cx="715881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월일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품목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수량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단가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공급가액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세액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11123" y="2946204"/>
              <a:ext cx="1775839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02-03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17730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7" name="직선 연결선 7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39101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8" name="직선 연결선 7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604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9" name="직선 연결선 7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80818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0" name="직선 연결선 7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02189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직선 연결선 8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23559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253901"/>
            <a:ext cx="76863" cy="292489"/>
            <a:chOff x="3750067" y="4683795"/>
            <a:chExt cx="76863" cy="292489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84" name="타원 83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85" name="타원 84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63" name="직사각형 62"/>
          <p:cNvSpPr/>
          <p:nvPr/>
        </p:nvSpPr>
        <p:spPr>
          <a:xfrm>
            <a:off x="7103286" y="6036456"/>
            <a:ext cx="2275404" cy="1958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500" smtClean="0"/>
              <a:t>화면수정</a:t>
            </a:r>
            <a:endParaRPr lang="ko-KR" altLang="en-US" sz="500" dirty="0"/>
          </a:p>
        </p:txBody>
      </p:sp>
    </p:spTree>
    <p:extLst>
      <p:ext uri="{BB962C8B-B14F-4D97-AF65-F5344CB8AC3E}">
        <p14:creationId xmlns:p14="http://schemas.microsoft.com/office/powerpoint/2010/main" val="345748948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41</a:t>
            </a:fld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B257CD-DFF9-C20A-42B1-86A5BD32A090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(1/2)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947F42-24A6-AC12-410B-185FD576E1C3}"/>
              </a:ext>
            </a:extLst>
          </p:cNvPr>
          <p:cNvSpPr txBox="1"/>
          <p:nvPr/>
        </p:nvSpPr>
        <p:spPr>
          <a:xfrm>
            <a:off x="458117" y="803113"/>
            <a:ext cx="225278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계약정보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dmt_ctrtInfo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0D7D7297-5C46-7078-D2CB-A9F2A55503A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359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30090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계약번호</a:t>
                      </a:r>
                      <a:r>
                        <a:rPr lang="en-US" altLang="ko-KR" sz="800" dirty="0">
                          <a:latin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</a:rPr>
                        <a:t>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</a:rPr>
                        <a:t>계약명</a:t>
                      </a:r>
                      <a:r>
                        <a:rPr lang="en-US" altLang="ko-KR" sz="800" dirty="0">
                          <a:latin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</a:rPr>
                        <a:t>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9971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일자구분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regDt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일자구분</a:t>
                      </a:r>
                      <a:r>
                        <a:rPr lang="en-US" altLang="ko-KR" sz="800" dirty="0">
                          <a:latin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</a:rPr>
                        <a:t>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089816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청구번호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birqNo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청구번호</a:t>
                      </a:r>
                      <a:r>
                        <a:rPr lang="en-US" altLang="ko-KR" sz="800" dirty="0">
                          <a:latin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</a:rPr>
                        <a:t>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1073129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B6FF90CD-D44A-772D-5AAF-1061FC3E2661}"/>
              </a:ext>
            </a:extLst>
          </p:cNvPr>
          <p:cNvSpPr txBox="1"/>
          <p:nvPr/>
        </p:nvSpPr>
        <p:spPr>
          <a:xfrm>
            <a:off x="458117" y="2086851"/>
            <a:ext cx="316169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대금신청대상목록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dlt_pymtAplyTrgtList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D5D6353D-3F6D-611B-EA75-CF444460DF17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298054"/>
          <a:ext cx="8994883" cy="1745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359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30090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통지번호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avtsmtNo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통지번호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조서발행번호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dlvdocNo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조서발행번호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94984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합격일자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srngYmd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합격일자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-mm-dd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783233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납품일자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dlvgdsYmd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납품일자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-mm-dd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97670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bgtSecd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:KB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579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dlvgdsAmt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19902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감액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ctbkAmt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감액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2887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지체상금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lqdmg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지체상금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7244463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530B8E2E-00BE-BADA-87DB-E8B83D44B4A0}"/>
              </a:ext>
            </a:extLst>
          </p:cNvPr>
          <p:cNvSpPr txBox="1"/>
          <p:nvPr/>
        </p:nvSpPr>
        <p:spPr>
          <a:xfrm>
            <a:off x="458117" y="4168979"/>
            <a:ext cx="237461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공급자정보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dmt_splrInfo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BC36CD16-3261-893C-33B1-952BDA63F539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4380182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359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30090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bzentyNm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상호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rprsvNm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</a:rPr>
                        <a:t>대표명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94984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청구인성명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clmtNm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청구인성명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783233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연락처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clmtTelno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연락처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97670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SMS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수신번호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enmtno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SMS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수신번호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64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암호화휴대전화번호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6273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bzentyAddr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주소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9019130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554A4C22-E49D-27FC-D9FD-E7A0C6EBBB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876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07580166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42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33490B-4478-F735-A295-62F7CD63369D}"/>
              </a:ext>
            </a:extLst>
          </p:cNvPr>
          <p:cNvSpPr txBox="1"/>
          <p:nvPr/>
        </p:nvSpPr>
        <p:spPr>
          <a:xfrm>
            <a:off x="458117" y="803113"/>
            <a:ext cx="303986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1.4. </a:t>
            </a:r>
            <a:r>
              <a:rPr lang="ko-KR" altLang="en-US" sz="900" b="1" dirty="0">
                <a:solidFill>
                  <a:prstClr val="black"/>
                </a:solidFill>
              </a:rPr>
              <a:t>대금신청금액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dmt_pymtAplyAmtInfo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E5540156-D732-C40F-C9B7-89B56D016403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2836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359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30090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일자구분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ymdSeCd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일자구분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 :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합격월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D :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납품월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세액여부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vatSecd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세액여부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A :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있음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B :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없음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012454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납품금액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dlvgdsAmt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납품금액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6291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공급가액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dlvgdsSplyEqvl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공급가액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65028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세액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dlvgdsTxamt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세액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71064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공제금액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ddcAmt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공제금액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44754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공급가액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ddcSplyEqvl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공급가액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8305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세액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ddcTxamt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세액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03398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공제내역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ddcDsctnNm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공제내역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34180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청구금액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clmAmt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청구금액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62779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면제원제출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exmptnSbmsnYn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면제원제출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353296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보증보험증권제출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grnteInsrncScrtSbmsnYn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보증보험증권제출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215350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rmrkCn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4000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4824845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421C4003-76ED-06D6-7598-4607A5689329}"/>
              </a:ext>
            </a:extLst>
          </p:cNvPr>
          <p:cNvSpPr txBox="1"/>
          <p:nvPr/>
        </p:nvSpPr>
        <p:spPr>
          <a:xfrm>
            <a:off x="458117" y="3959606"/>
            <a:ext cx="232171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1.5. </a:t>
            </a:r>
            <a:r>
              <a:rPr lang="ko-KR" altLang="en-US" sz="900" b="1" dirty="0">
                <a:solidFill>
                  <a:prstClr val="black"/>
                </a:solidFill>
              </a:rPr>
              <a:t>세금계산서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dlt_txBllList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F6E19429-B9EE-3086-F85C-8D422E1AAC5F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4170809"/>
          <a:ext cx="8994883" cy="1551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359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30090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세금계산서번호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txivChcYn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세금계산서번호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 :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N :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선택안함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월일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bllPblcnYmd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월일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-mm-dd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03398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itemNm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34180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dlvgdsQty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수량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62779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ctrtUntprc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353296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공급가액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splyEqvl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공급가액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215350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세액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txamt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세액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4824845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D4697EFF-DC34-4A4E-4B12-F5CFDC19D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876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E5E047-FC26-7018-1149-CADBEEF4059D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(2/2)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799380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43</a:t>
            </a:fld>
            <a:endParaRPr lang="ko-KR" altLang="en-US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C69890D6-BEE5-DDAF-C6C1-19EF9FF5AD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881853"/>
              </p:ext>
            </p:extLst>
          </p:nvPr>
        </p:nvGraphicFramePr>
        <p:xfrm>
          <a:off x="453000" y="1068365"/>
          <a:ext cx="8995591" cy="509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3103963203"/>
                    </a:ext>
                  </a:extLst>
                </a:gridCol>
                <a:gridCol w="37029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4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공통코드정보를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페이지 로딩 시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en-US" sz="800" dirty="0"/>
                        <a:t>계약 정보를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65C7748-B9E7-B5A0-7232-092364D0174A}"/>
              </a:ext>
            </a:extLst>
          </p:cNvPr>
          <p:cNvSpPr txBox="1"/>
          <p:nvPr/>
        </p:nvSpPr>
        <p:spPr>
          <a:xfrm>
            <a:off x="458117" y="760911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8" name="Text Box 73">
            <a:extLst>
              <a:ext uri="{FF2B5EF4-FFF2-40B4-BE49-F238E27FC236}">
                <a16:creationId xmlns:a16="http://schemas.microsoft.com/office/drawing/2014/main" id="{A611DD90-B471-FCCC-FD98-DC05C3AF34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82802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2859587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44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부대조달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대금</a:t>
            </a:r>
            <a:r>
              <a:rPr lang="en-US" altLang="ko-KR" dirty="0"/>
              <a:t>/</a:t>
            </a:r>
            <a:r>
              <a:rPr lang="ko-KR" altLang="en-US" dirty="0"/>
              <a:t>사후 상세 </a:t>
            </a:r>
            <a:r>
              <a:rPr lang="en-US" altLang="ko-KR" dirty="0"/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부대조달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/>
              <a:t>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부대조달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MUI-WM-01-M06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err="1">
                <a:latin typeface="+mn-ea"/>
              </a:rPr>
              <a:t>대금청구</a:t>
            </a:r>
            <a:r>
              <a:rPr lang="ko-KR" altLang="en-US" sz="800" dirty="0">
                <a:latin typeface="+mn-ea"/>
              </a:rPr>
              <a:t> </a:t>
            </a:r>
            <a:r>
              <a:rPr lang="ko-KR" altLang="en-US" sz="800" dirty="0" err="1">
                <a:latin typeface="+mn-ea"/>
              </a:rPr>
              <a:t>상세조회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81461" y="2462389"/>
            <a:ext cx="247325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 err="1"/>
              <a:t>계약번호</a:t>
            </a:r>
            <a:r>
              <a:rPr lang="ko-KR" altLang="en-US" sz="700" dirty="0"/>
              <a:t> </a:t>
            </a:r>
            <a:r>
              <a:rPr lang="en-US" altLang="ko-KR" sz="700" dirty="0"/>
              <a:t>2025000000 - 01</a:t>
            </a:r>
          </a:p>
          <a:p>
            <a:r>
              <a:rPr lang="ko-KR" altLang="en-US" sz="900" b="1" dirty="0"/>
              <a:t>물품구매</a:t>
            </a:r>
          </a:p>
        </p:txBody>
      </p:sp>
      <p:sp>
        <p:nvSpPr>
          <p:cNvPr id="56" name="TextBox 59">
            <a:extLst>
              <a:ext uri="{FF2B5EF4-FFF2-40B4-BE49-F238E27FC236}">
                <a16:creationId xmlns:a16="http://schemas.microsoft.com/office/drawing/2014/main" id="{F77C802D-3BC8-270F-87FC-5F442BD8054D}"/>
              </a:ext>
            </a:extLst>
          </p:cNvPr>
          <p:cNvSpPr txBox="1"/>
          <p:nvPr/>
        </p:nvSpPr>
        <p:spPr>
          <a:xfrm>
            <a:off x="781461" y="2797454"/>
            <a:ext cx="307777" cy="39767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sz="600" dirty="0" err="1">
                <a:latin typeface="+mn-ea"/>
              </a:rPr>
              <a:t>계약일자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발주기관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계약금액</a:t>
            </a:r>
            <a:endParaRPr lang="en-US" altLang="ko-KR" sz="600" dirty="0">
              <a:latin typeface="+mn-ea"/>
            </a:endParaRPr>
          </a:p>
        </p:txBody>
      </p:sp>
      <p:sp>
        <p:nvSpPr>
          <p:cNvPr id="57" name="TextBox 60">
            <a:extLst>
              <a:ext uri="{FF2B5EF4-FFF2-40B4-BE49-F238E27FC236}">
                <a16:creationId xmlns:a16="http://schemas.microsoft.com/office/drawing/2014/main" id="{8F5E3227-69E6-C89F-B8C5-534226E95EA8}"/>
              </a:ext>
            </a:extLst>
          </p:cNvPr>
          <p:cNvSpPr txBox="1"/>
          <p:nvPr/>
        </p:nvSpPr>
        <p:spPr>
          <a:xfrm>
            <a:off x="2596303" y="2782065"/>
            <a:ext cx="472886" cy="39767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2026-02-10</a:t>
            </a:r>
          </a:p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제</a:t>
            </a:r>
            <a:r>
              <a:rPr lang="en-US" altLang="ko-KR" sz="600" dirty="0">
                <a:latin typeface="+mn-ea"/>
              </a:rPr>
              <a:t>8385</a:t>
            </a:r>
            <a:r>
              <a:rPr lang="ko-KR" altLang="en-US" sz="600" dirty="0">
                <a:latin typeface="+mn-ea"/>
              </a:rPr>
              <a:t>부대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11,616,000 </a:t>
            </a:r>
            <a:r>
              <a:rPr lang="ko-KR" altLang="en-US" sz="600" dirty="0">
                <a:latin typeface="+mn-ea"/>
              </a:rPr>
              <a:t>원</a:t>
            </a:r>
            <a:endParaRPr lang="en-US" altLang="ko-KR" sz="600" dirty="0">
              <a:latin typeface="+mn-ea"/>
            </a:endParaRPr>
          </a:p>
        </p:txBody>
      </p:sp>
      <p:sp>
        <p:nvSpPr>
          <p:cNvPr id="67" name="모서리가 둥근 직사각형 66"/>
          <p:cNvSpPr/>
          <p:nvPr/>
        </p:nvSpPr>
        <p:spPr>
          <a:xfrm>
            <a:off x="781461" y="227805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물품</a:t>
            </a:r>
          </a:p>
        </p:txBody>
      </p:sp>
      <p:sp>
        <p:nvSpPr>
          <p:cNvPr id="68" name="모서리가 둥근 직사각형 67"/>
          <p:cNvSpPr/>
          <p:nvPr/>
        </p:nvSpPr>
        <p:spPr>
          <a:xfrm>
            <a:off x="1075655" y="2278058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수의계약</a:t>
            </a:r>
          </a:p>
        </p:txBody>
      </p: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66319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00442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3696944"/>
            <a:ext cx="45225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공지사항</a:t>
            </a:r>
          </a:p>
        </p:txBody>
      </p:sp>
      <p:sp>
        <p:nvSpPr>
          <p:cNvPr id="129" name="타원 128"/>
          <p:cNvSpPr/>
          <p:nvPr/>
        </p:nvSpPr>
        <p:spPr>
          <a:xfrm>
            <a:off x="783686" y="3728289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0" name="그룹 129"/>
          <p:cNvGrpSpPr/>
          <p:nvPr/>
        </p:nvGrpSpPr>
        <p:grpSpPr>
          <a:xfrm>
            <a:off x="3143548" y="3810275"/>
            <a:ext cx="94010" cy="47005"/>
            <a:chOff x="6812560" y="3297172"/>
            <a:chExt cx="94010" cy="47005"/>
          </a:xfrm>
        </p:grpSpPr>
        <p:cxnSp>
          <p:nvCxnSpPr>
            <p:cNvPr id="131" name="직선 연결선 13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2" name="직선 연결선 13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35884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358842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8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3884993" y="1786672"/>
            <a:ext cx="247325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 err="1"/>
              <a:t>계약번호</a:t>
            </a:r>
            <a:r>
              <a:rPr lang="ko-KR" altLang="en-US" sz="700" dirty="0"/>
              <a:t> </a:t>
            </a:r>
            <a:r>
              <a:rPr lang="en-US" altLang="ko-KR" sz="700" dirty="0"/>
              <a:t>2025000000 - 01</a:t>
            </a:r>
          </a:p>
          <a:p>
            <a:r>
              <a:rPr lang="ko-KR" altLang="en-US" sz="900" b="1" dirty="0"/>
              <a:t>물품구매</a:t>
            </a:r>
          </a:p>
        </p:txBody>
      </p:sp>
      <p:sp>
        <p:nvSpPr>
          <p:cNvPr id="191" name="모서리가 둥근 직사각형 190"/>
          <p:cNvSpPr/>
          <p:nvPr/>
        </p:nvSpPr>
        <p:spPr>
          <a:xfrm>
            <a:off x="3884993" y="1602341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물품</a:t>
            </a:r>
          </a:p>
        </p:txBody>
      </p:sp>
      <p:sp>
        <p:nvSpPr>
          <p:cNvPr id="192" name="모서리가 둥근 직사각형 191"/>
          <p:cNvSpPr/>
          <p:nvPr/>
        </p:nvSpPr>
        <p:spPr>
          <a:xfrm>
            <a:off x="4179187" y="1602341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수의계약</a:t>
            </a:r>
          </a:p>
        </p:txBody>
      </p:sp>
      <p:cxnSp>
        <p:nvCxnSpPr>
          <p:cNvPr id="193" name="직선 연결선 19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211123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3" name="직선 연결선 20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4022" y="246721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8" name="직선 연결선 20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4022" y="2467219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95" name="직선 연결선 29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30551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7" name="모서리가 둥근 직사각형 336"/>
          <p:cNvSpPr/>
          <p:nvPr/>
        </p:nvSpPr>
        <p:spPr>
          <a:xfrm>
            <a:off x="781461" y="1944348"/>
            <a:ext cx="243478" cy="119400"/>
          </a:xfrm>
          <a:prstGeom prst="roundRect">
            <a:avLst>
              <a:gd name="adj" fmla="val 23409"/>
            </a:avLst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>
                <a:solidFill>
                  <a:srgbClr val="FF0000"/>
                </a:solidFill>
              </a:rPr>
              <a:t>중요</a:t>
            </a:r>
            <a:endParaRPr lang="ko-KR" altLang="en-US" sz="600" dirty="0">
              <a:solidFill>
                <a:srgbClr val="FF0000"/>
              </a:solidFill>
            </a:endParaRPr>
          </a:p>
        </p:txBody>
      </p:sp>
      <p:sp>
        <p:nvSpPr>
          <p:cNvPr id="338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1082843" y="1950187"/>
            <a:ext cx="220200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700" dirty="0">
                <a:solidFill>
                  <a:prstClr val="black"/>
                </a:solidFill>
              </a:rPr>
              <a:t>대금 신청</a:t>
            </a:r>
            <a:r>
              <a:rPr lang="en-US" altLang="ko-KR" sz="700" dirty="0">
                <a:solidFill>
                  <a:prstClr val="black"/>
                </a:solidFill>
              </a:rPr>
              <a:t>, </a:t>
            </a:r>
            <a:r>
              <a:rPr lang="ko-KR" altLang="en-US" sz="700" dirty="0">
                <a:solidFill>
                  <a:prstClr val="black"/>
                </a:solidFill>
              </a:rPr>
              <a:t>청구는 </a:t>
            </a:r>
            <a:r>
              <a:rPr lang="en-US" altLang="ko-KR" sz="700" dirty="0">
                <a:solidFill>
                  <a:prstClr val="black"/>
                </a:solidFill>
              </a:rPr>
              <a:t>PC </a:t>
            </a:r>
            <a:r>
              <a:rPr lang="ko-KR" altLang="en-US" sz="700" dirty="0">
                <a:solidFill>
                  <a:prstClr val="black"/>
                </a:solidFill>
              </a:rPr>
              <a:t>버전에서 가능합니다</a:t>
            </a:r>
            <a:r>
              <a:rPr lang="en-US" altLang="ko-KR" sz="700" dirty="0">
                <a:solidFill>
                  <a:prstClr val="black"/>
                </a:solidFill>
              </a:rPr>
              <a:t>.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cxnSp>
        <p:nvCxnSpPr>
          <p:cNvPr id="340" name="직선 연결선 33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15091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6" name="그룹 5"/>
          <p:cNvGrpSpPr/>
          <p:nvPr/>
        </p:nvGrpSpPr>
        <p:grpSpPr>
          <a:xfrm>
            <a:off x="3836701" y="2540391"/>
            <a:ext cx="2630093" cy="1975134"/>
            <a:chOff x="3836701" y="2575831"/>
            <a:chExt cx="2630093" cy="1975134"/>
          </a:xfrm>
        </p:grpSpPr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7672" y="2575831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대금신청대상</a:t>
              </a:r>
            </a:p>
          </p:txBody>
        </p:sp>
        <p:sp>
          <p:nvSpPr>
            <p:cNvPr id="253" name="직사각형 252"/>
            <p:cNvSpPr/>
            <p:nvPr/>
          </p:nvSpPr>
          <p:spPr>
            <a:xfrm>
              <a:off x="3838794" y="2827415"/>
              <a:ext cx="792000" cy="170046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55" name="직선 연결선 25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1" y="2827416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2827416"/>
              <a:ext cx="670770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통지번호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조서발행번호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합격일자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납품일자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예산구분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납품</a:t>
              </a:r>
              <a:r>
                <a:rPr lang="en-US" altLang="ko-KR" sz="700" dirty="0">
                  <a:latin typeface="+mn-ea"/>
                </a:rPr>
                <a:t>)</a:t>
              </a:r>
              <a:r>
                <a:rPr lang="ko-KR" altLang="en-US" sz="700" dirty="0">
                  <a:latin typeface="+mn-ea"/>
                </a:rPr>
                <a:t>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감액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지체상금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82706" y="2827416"/>
              <a:ext cx="1775839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20257135021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00 00 0000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2026-01-01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2026-12~31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62" name="직선 연결선 2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0585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3" name="직선 연결선 2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27222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4" name="직선 연결선 2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4859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5" name="직선 연결선 2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69964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6" name="직선 연결선 2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91334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8" name="직선 연결선 2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12705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59" name="그룹 158"/>
            <p:cNvGrpSpPr/>
            <p:nvPr/>
          </p:nvGrpSpPr>
          <p:grpSpPr>
            <a:xfrm flipV="1">
              <a:off x="6259759" y="2635184"/>
              <a:ext cx="94010" cy="47005"/>
              <a:chOff x="6812560" y="3297172"/>
              <a:chExt cx="94010" cy="47005"/>
            </a:xfrm>
          </p:grpSpPr>
          <p:cxnSp>
            <p:nvCxnSpPr>
              <p:cNvPr id="160" name="직선 연결선 15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" name="직선 연결선 16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31417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3" name="직선 연결선 17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5278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8" name="그룹 7"/>
          <p:cNvGrpSpPr/>
          <p:nvPr/>
        </p:nvGrpSpPr>
        <p:grpSpPr>
          <a:xfrm>
            <a:off x="720490" y="4465173"/>
            <a:ext cx="2630093" cy="1384703"/>
            <a:chOff x="720490" y="4465173"/>
            <a:chExt cx="2630093" cy="1384703"/>
          </a:xfrm>
        </p:grpSpPr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07" name="그룹 106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108" name="직선 연결선 10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9" name="직선 연결선 10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" name="직사각형 15"/>
            <p:cNvSpPr/>
            <p:nvPr/>
          </p:nvSpPr>
          <p:spPr>
            <a:xfrm>
              <a:off x="722583" y="4772658"/>
              <a:ext cx="792000" cy="107721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670770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대금신청번호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2025 0000 00 - 01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배추김치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2026-01-30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0000 0000</a:t>
              </a:r>
            </a:p>
          </p:txBody>
        </p:sp>
        <p:cxnSp>
          <p:nvCxnSpPr>
            <p:cNvPr id="115" name="직선 연결선 1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6" name="직선 연결선 11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7" name="직선 연결선 11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0" name="직선 연결선 16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8" name="직선 연결선 14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4081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156" name="모서리가 둥근 직사각형 155"/>
          <p:cNvSpPr/>
          <p:nvPr/>
        </p:nvSpPr>
        <p:spPr>
          <a:xfrm>
            <a:off x="1522790" y="2278058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대금청구</a:t>
            </a:r>
            <a:endParaRPr lang="ko-KR" altLang="en-US" sz="600" dirty="0"/>
          </a:p>
        </p:txBody>
      </p:sp>
      <p:sp>
        <p:nvSpPr>
          <p:cNvPr id="163" name="모서리가 둥근 직사각형 162"/>
          <p:cNvSpPr/>
          <p:nvPr/>
        </p:nvSpPr>
        <p:spPr>
          <a:xfrm>
            <a:off x="4626322" y="1602341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대금청구</a:t>
            </a:r>
            <a:endParaRPr lang="ko-KR" altLang="en-US" sz="600" dirty="0"/>
          </a:p>
        </p:txBody>
      </p:sp>
      <p:grpSp>
        <p:nvGrpSpPr>
          <p:cNvPr id="5" name="그룹 4"/>
          <p:cNvGrpSpPr/>
          <p:nvPr/>
        </p:nvGrpSpPr>
        <p:grpSpPr>
          <a:xfrm>
            <a:off x="764169" y="4142235"/>
            <a:ext cx="2210710" cy="107722"/>
            <a:chOff x="764169" y="4142235"/>
            <a:chExt cx="2210710" cy="107722"/>
          </a:xfrm>
        </p:grpSpPr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4169" y="4142235"/>
              <a:ext cx="3597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 err="1">
                  <a:latin typeface="+mn-ea"/>
                </a:rPr>
                <a:t>계약정보</a:t>
              </a:r>
              <a:endParaRPr lang="ko-KR" altLang="en-US" sz="700" b="1" dirty="0">
                <a:latin typeface="+mn-ea"/>
              </a:endParaRP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179988" y="4142235"/>
              <a:ext cx="7432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대금신청업체 정보</a:t>
              </a:r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979307" y="4142235"/>
              <a:ext cx="57536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err="1">
                  <a:latin typeface="+mn-ea"/>
                </a:rPr>
                <a:t>대금신청</a:t>
              </a:r>
              <a:r>
                <a:rPr lang="ko-KR" altLang="en-US" sz="700" dirty="0">
                  <a:latin typeface="+mn-ea"/>
                </a:rPr>
                <a:t> 금액</a:t>
              </a:r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10711" y="4142235"/>
              <a:ext cx="36416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첨부파일</a:t>
              </a:r>
            </a:p>
          </p:txBody>
        </p: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3316" y="5274274"/>
            <a:ext cx="76863" cy="292489"/>
            <a:chOff x="3750067" y="4683795"/>
            <a:chExt cx="76863" cy="292489"/>
          </a:xfrm>
        </p:grpSpPr>
        <p:sp>
          <p:nvSpPr>
            <p:cNvPr id="176" name="타원 175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77" name="타원 176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78" name="타원 177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150" name="그룹 149"/>
          <p:cNvGrpSpPr/>
          <p:nvPr/>
        </p:nvGrpSpPr>
        <p:grpSpPr>
          <a:xfrm>
            <a:off x="3869962" y="2251398"/>
            <a:ext cx="2210710" cy="107722"/>
            <a:chOff x="764169" y="4142235"/>
            <a:chExt cx="2210710" cy="107722"/>
          </a:xfrm>
        </p:grpSpPr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4169" y="4142235"/>
              <a:ext cx="3597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 err="1">
                  <a:latin typeface="+mn-ea"/>
                </a:rPr>
                <a:t>계약정보</a:t>
              </a:r>
              <a:endParaRPr lang="ko-KR" altLang="en-US" sz="700" b="1" dirty="0">
                <a:latin typeface="+mn-ea"/>
              </a:endParaRP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179988" y="4142235"/>
              <a:ext cx="7432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대금신청업체 정보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979307" y="4142235"/>
              <a:ext cx="57536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err="1">
                  <a:latin typeface="+mn-ea"/>
                </a:rPr>
                <a:t>대금신청</a:t>
              </a:r>
              <a:r>
                <a:rPr lang="ko-KR" altLang="en-US" sz="700" dirty="0">
                  <a:latin typeface="+mn-ea"/>
                </a:rPr>
                <a:t> 금액</a:t>
              </a:r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10711" y="4142235"/>
              <a:ext cx="36416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첨부파일</a:t>
              </a:r>
            </a:p>
          </p:txBody>
        </p:sp>
      </p:grpSp>
      <p:grpSp>
        <p:nvGrpSpPr>
          <p:cNvPr id="209" name="그룹 208"/>
          <p:cNvGrpSpPr/>
          <p:nvPr/>
        </p:nvGrpSpPr>
        <p:grpSpPr>
          <a:xfrm>
            <a:off x="6027618" y="2212489"/>
            <a:ext cx="422853" cy="187961"/>
            <a:chOff x="3641308" y="2234886"/>
            <a:chExt cx="422853" cy="187961"/>
          </a:xfrm>
        </p:grpSpPr>
        <p:sp>
          <p:nvSpPr>
            <p:cNvPr id="210" name="타원 209"/>
            <p:cNvSpPr/>
            <p:nvPr/>
          </p:nvSpPr>
          <p:spPr>
            <a:xfrm flipH="1">
              <a:off x="3641308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11" name="그룹 210"/>
            <p:cNvGrpSpPr/>
            <p:nvPr/>
          </p:nvGrpSpPr>
          <p:grpSpPr>
            <a:xfrm rot="5400000" flipH="1">
              <a:off x="3679895" y="2305364"/>
              <a:ext cx="94010" cy="47005"/>
              <a:chOff x="6812560" y="3297172"/>
              <a:chExt cx="94010" cy="47005"/>
            </a:xfrm>
          </p:grpSpPr>
          <p:cxnSp>
            <p:nvCxnSpPr>
              <p:cNvPr id="216" name="직선 연결선 215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7" name="직선 연결선 216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12" name="타원 211"/>
            <p:cNvSpPr/>
            <p:nvPr/>
          </p:nvSpPr>
          <p:spPr>
            <a:xfrm>
              <a:off x="3876200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13" name="그룹 212"/>
            <p:cNvGrpSpPr/>
            <p:nvPr/>
          </p:nvGrpSpPr>
          <p:grpSpPr>
            <a:xfrm rot="16200000">
              <a:off x="3931564" y="2305364"/>
              <a:ext cx="94010" cy="47005"/>
              <a:chOff x="6812560" y="3297172"/>
              <a:chExt cx="94010" cy="47005"/>
            </a:xfrm>
          </p:grpSpPr>
          <p:cxnSp>
            <p:nvCxnSpPr>
              <p:cNvPr id="214" name="직선 연결선 21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5" name="직선 연결선 21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7" name="그룹 6"/>
          <p:cNvGrpSpPr/>
          <p:nvPr/>
        </p:nvGrpSpPr>
        <p:grpSpPr>
          <a:xfrm>
            <a:off x="2924086" y="4104112"/>
            <a:ext cx="422853" cy="187961"/>
            <a:chOff x="3641308" y="2234886"/>
            <a:chExt cx="422853" cy="187961"/>
          </a:xfrm>
        </p:grpSpPr>
        <p:sp>
          <p:nvSpPr>
            <p:cNvPr id="88" name="타원 87"/>
            <p:cNvSpPr/>
            <p:nvPr/>
          </p:nvSpPr>
          <p:spPr>
            <a:xfrm flipH="1">
              <a:off x="3641308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3" name="그룹 92"/>
            <p:cNvGrpSpPr/>
            <p:nvPr/>
          </p:nvGrpSpPr>
          <p:grpSpPr>
            <a:xfrm rot="5400000" flipH="1">
              <a:off x="3679895" y="2305364"/>
              <a:ext cx="94010" cy="47005"/>
              <a:chOff x="6812560" y="3297172"/>
              <a:chExt cx="94010" cy="47005"/>
            </a:xfrm>
          </p:grpSpPr>
          <p:cxnSp>
            <p:nvCxnSpPr>
              <p:cNvPr id="94" name="직선 연결선 9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직선 연결선 9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7" name="타원 96"/>
            <p:cNvSpPr/>
            <p:nvPr/>
          </p:nvSpPr>
          <p:spPr>
            <a:xfrm>
              <a:off x="3876200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8" name="그룹 97"/>
            <p:cNvGrpSpPr/>
            <p:nvPr/>
          </p:nvGrpSpPr>
          <p:grpSpPr>
            <a:xfrm rot="16200000">
              <a:off x="3931564" y="2305364"/>
              <a:ext cx="94010" cy="47005"/>
              <a:chOff x="6812560" y="3297172"/>
              <a:chExt cx="94010" cy="47005"/>
            </a:xfrm>
          </p:grpSpPr>
          <p:cxnSp>
            <p:nvCxnSpPr>
              <p:cNvPr id="99" name="직선 연결선 9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직선 연결선 9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55" name="그룹 154"/>
          <p:cNvGrpSpPr/>
          <p:nvPr/>
        </p:nvGrpSpPr>
        <p:grpSpPr>
          <a:xfrm>
            <a:off x="747925" y="3401909"/>
            <a:ext cx="2599014" cy="187961"/>
            <a:chOff x="747925" y="3393200"/>
            <a:chExt cx="2599014" cy="187961"/>
          </a:xfrm>
        </p:grpSpPr>
        <p:grpSp>
          <p:nvGrpSpPr>
            <p:cNvPr id="157" name="그룹 156"/>
            <p:cNvGrpSpPr/>
            <p:nvPr/>
          </p:nvGrpSpPr>
          <p:grpSpPr>
            <a:xfrm rot="16200000">
              <a:off x="1250697" y="3463679"/>
              <a:ext cx="94010" cy="47005"/>
              <a:chOff x="6812560" y="3297172"/>
              <a:chExt cx="94010" cy="47005"/>
            </a:xfrm>
          </p:grpSpPr>
          <p:cxnSp>
            <p:nvCxnSpPr>
              <p:cNvPr id="225" name="직선 연결선 22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6" name="직선 연결선 22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604170" y="3433319"/>
              <a:ext cx="40086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계약</a:t>
              </a:r>
            </a:p>
          </p:txBody>
        </p:sp>
        <p:sp>
          <p:nvSpPr>
            <p:cNvPr id="162" name="타원 161"/>
            <p:cNvSpPr/>
            <p:nvPr/>
          </p:nvSpPr>
          <p:spPr>
            <a:xfrm>
              <a:off x="1404035" y="3393200"/>
              <a:ext cx="187961" cy="18796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459092" y="3433319"/>
              <a:ext cx="7784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latin typeface="+mn-ea"/>
                </a:rPr>
                <a:t>3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67" name="그룹 166"/>
            <p:cNvGrpSpPr/>
            <p:nvPr/>
          </p:nvGrpSpPr>
          <p:grpSpPr>
            <a:xfrm rot="16200000">
              <a:off x="1906808" y="3463679"/>
              <a:ext cx="94010" cy="47005"/>
              <a:chOff x="6812560" y="3297172"/>
              <a:chExt cx="94010" cy="47005"/>
            </a:xfrm>
          </p:grpSpPr>
          <p:cxnSp>
            <p:nvCxnSpPr>
              <p:cNvPr id="223" name="직선 연결선 222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4" name="직선 연결선 223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68" name="그룹 167"/>
            <p:cNvGrpSpPr/>
            <p:nvPr/>
          </p:nvGrpSpPr>
          <p:grpSpPr>
            <a:xfrm rot="16200000">
              <a:off x="2562920" y="3463679"/>
              <a:ext cx="94010" cy="47005"/>
              <a:chOff x="6812560" y="3297172"/>
              <a:chExt cx="94010" cy="47005"/>
            </a:xfrm>
          </p:grpSpPr>
          <p:cxnSp>
            <p:nvCxnSpPr>
              <p:cNvPr id="221" name="직선 연결선 22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2" name="직선 연결선 22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9" name="타원 168"/>
            <p:cNvSpPr/>
            <p:nvPr/>
          </p:nvSpPr>
          <p:spPr>
            <a:xfrm>
              <a:off x="747925" y="3393200"/>
              <a:ext cx="187961" cy="18796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2982" y="3433319"/>
              <a:ext cx="7784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latin typeface="+mn-ea"/>
                </a:rPr>
                <a:t>2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51350" y="3433319"/>
              <a:ext cx="397576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입찰</a:t>
              </a:r>
            </a:p>
          </p:txBody>
        </p:sp>
        <p:sp>
          <p:nvSpPr>
            <p:cNvPr id="180" name="타원 179"/>
            <p:cNvSpPr/>
            <p:nvPr/>
          </p:nvSpPr>
          <p:spPr>
            <a:xfrm>
              <a:off x="2058749" y="3393200"/>
              <a:ext cx="187961" cy="18796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113806" y="3433319"/>
              <a:ext cx="7784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latin typeface="+mn-ea"/>
                </a:rPr>
                <a:t>4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263899" y="3433319"/>
              <a:ext cx="39864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이행</a:t>
              </a:r>
            </a:p>
          </p:txBody>
        </p:sp>
        <p:sp>
          <p:nvSpPr>
            <p:cNvPr id="187" name="타원 186"/>
            <p:cNvSpPr/>
            <p:nvPr/>
          </p:nvSpPr>
          <p:spPr>
            <a:xfrm>
              <a:off x="2714860" y="3393200"/>
              <a:ext cx="187961" cy="187961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769917" y="3433319"/>
              <a:ext cx="7784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solidFill>
                    <a:schemeClr val="bg1"/>
                  </a:solidFill>
                  <a:latin typeface="+mn-ea"/>
                </a:rPr>
                <a:t>5</a:t>
              </a:r>
              <a:endParaRPr lang="ko-KR" altLang="en-US" sz="7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05" name="TextBox 20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920010" y="3433319"/>
              <a:ext cx="39864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대금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사후</a:t>
              </a:r>
            </a:p>
          </p:txBody>
        </p:sp>
        <p:grpSp>
          <p:nvGrpSpPr>
            <p:cNvPr id="206" name="그룹 205"/>
            <p:cNvGrpSpPr/>
            <p:nvPr/>
          </p:nvGrpSpPr>
          <p:grpSpPr>
            <a:xfrm rot="5400000">
              <a:off x="3158978" y="3393200"/>
              <a:ext cx="187961" cy="187961"/>
              <a:chOff x="3876200" y="2234886"/>
              <a:chExt cx="187961" cy="187961"/>
            </a:xfrm>
          </p:grpSpPr>
          <p:sp>
            <p:nvSpPr>
              <p:cNvPr id="207" name="타원 206"/>
              <p:cNvSpPr/>
              <p:nvPr/>
            </p:nvSpPr>
            <p:spPr>
              <a:xfrm>
                <a:off x="3876200" y="2234886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18" name="그룹 217"/>
              <p:cNvGrpSpPr/>
              <p:nvPr/>
            </p:nvGrpSpPr>
            <p:grpSpPr>
              <a:xfrm rot="16200000">
                <a:off x="3931564" y="2305364"/>
                <a:ext cx="94010" cy="47005"/>
                <a:chOff x="6812560" y="3297172"/>
                <a:chExt cx="94010" cy="47005"/>
              </a:xfrm>
            </p:grpSpPr>
            <p:cxnSp>
              <p:nvCxnSpPr>
                <p:cNvPr id="219" name="직선 연결선 218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20" name="직선 연결선 219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183" name="타원 18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867770" y="519730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  <p:sp>
        <p:nvSpPr>
          <p:cNvPr id="184" name="타원 18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14618" y="220237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1</a:t>
            </a:r>
            <a:endParaRPr lang="ko-KR" altLang="en-US" sz="900" b="1" dirty="0"/>
          </a:p>
        </p:txBody>
      </p:sp>
      <p:sp>
        <p:nvSpPr>
          <p:cNvPr id="186" name="타원 18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12057" y="388431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sp>
        <p:nvSpPr>
          <p:cNvPr id="189" name="타원 18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12057" y="426206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sp>
        <p:nvSpPr>
          <p:cNvPr id="190" name="타원 18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12057" y="465186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  <p:sp>
        <p:nvSpPr>
          <p:cNvPr id="194" name="타원 19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737073" y="238888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 b="1" dirty="0" smtClean="0"/>
              <a:t>1-1</a:t>
            </a:r>
            <a:endParaRPr lang="ko-KR" altLang="en-US" sz="600" b="1" dirty="0"/>
          </a:p>
        </p:txBody>
      </p:sp>
      <p:sp>
        <p:nvSpPr>
          <p:cNvPr id="195" name="타원 19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1799111" y="253568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 b="1" dirty="0" smtClean="0"/>
              <a:t>1-2</a:t>
            </a:r>
            <a:endParaRPr lang="ko-KR" altLang="en-US" sz="600" b="1" dirty="0"/>
          </a:p>
        </p:txBody>
      </p:sp>
      <p:sp>
        <p:nvSpPr>
          <p:cNvPr id="196" name="타원 19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736599" y="275612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 b="1" dirty="0" smtClean="0"/>
              <a:t>1-3</a:t>
            </a:r>
            <a:endParaRPr lang="ko-KR" altLang="en-US" sz="600" b="1" dirty="0"/>
          </a:p>
        </p:txBody>
      </p:sp>
      <p:sp>
        <p:nvSpPr>
          <p:cNvPr id="197" name="텍스트 개체 틀 2"/>
          <p:cNvSpPr txBox="1">
            <a:spLocks/>
          </p:cNvSpPr>
          <p:nvPr/>
        </p:nvSpPr>
        <p:spPr>
          <a:xfrm>
            <a:off x="7068896" y="1475995"/>
            <a:ext cx="2300284" cy="4981517"/>
          </a:xfrm>
          <a:prstGeom prst="rect">
            <a:avLst/>
          </a:prstGeom>
        </p:spPr>
        <p:txBody>
          <a:bodyPr/>
          <a:lstStyle>
            <a:lvl1pPr marL="87313" indent="-87313" algn="l" defTabSz="914400" rtl="0" eaLnBrk="1" latinLnBrk="1" hangingPunct="1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Char char="•"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타이틀 영역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1-1] </a:t>
            </a:r>
            <a:r>
              <a:rPr lang="ko-KR" altLang="en-US" dirty="0" smtClean="0"/>
              <a:t>레이블이 화면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화면 넘치는 경우 드래그하여 확인 가능 </a:t>
            </a:r>
            <a:r>
              <a:rPr lang="en-US" altLang="ko-KR" dirty="0" smtClean="0"/>
              <a:t>(</a:t>
            </a:r>
            <a:r>
              <a:rPr lang="ko-KR" altLang="en-US" dirty="0" err="1" smtClean="0"/>
              <a:t>스와이프기능</a:t>
            </a:r>
            <a:r>
              <a:rPr lang="ko-KR" altLang="en-US" dirty="0" smtClean="0"/>
              <a:t> 반영 필요</a:t>
            </a:r>
            <a:r>
              <a:rPr lang="en-US" altLang="ko-KR" dirty="0" smtClean="0"/>
              <a:t>)</a:t>
            </a:r>
            <a:br>
              <a:rPr lang="en-US" altLang="ko-KR" dirty="0" smtClean="0"/>
            </a:br>
            <a:r>
              <a:rPr lang="en-US" altLang="ko-KR" dirty="0" smtClean="0"/>
              <a:t>1-2] </a:t>
            </a:r>
            <a:r>
              <a:rPr lang="ko-KR" altLang="en-US" dirty="0" smtClean="0"/>
              <a:t>문서 정보 영역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err="1" smtClean="0"/>
              <a:t>판단번호</a:t>
            </a:r>
            <a:r>
              <a:rPr lang="ko-KR" altLang="en-US" dirty="0" smtClean="0"/>
              <a:t> </a:t>
            </a:r>
            <a:r>
              <a:rPr lang="en-US" altLang="ko-KR" dirty="0" smtClean="0"/>
              <a:t>,  </a:t>
            </a:r>
            <a:r>
              <a:rPr lang="ko-KR" altLang="en-US" dirty="0" err="1" smtClean="0"/>
              <a:t>계약번호</a:t>
            </a:r>
            <a:r>
              <a:rPr lang="ko-KR" altLang="en-US" dirty="0" smtClean="0"/>
              <a:t> 노출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err="1" smtClean="0"/>
              <a:t>판단번호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전체노출</a:t>
            </a:r>
            <a:r>
              <a:rPr lang="ko-KR" altLang="en-US" dirty="0" smtClean="0"/>
              <a:t> </a:t>
            </a:r>
            <a:r>
              <a:rPr lang="en-US" altLang="ko-KR" dirty="0" smtClean="0"/>
              <a:t>/ </a:t>
            </a:r>
            <a:r>
              <a:rPr lang="ko-KR" altLang="en-US" dirty="0" err="1" smtClean="0"/>
              <a:t>계약번호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노출시</a:t>
            </a:r>
            <a:r>
              <a:rPr lang="ko-KR" altLang="en-US" dirty="0" smtClean="0"/>
              <a:t> 해당 라인을 넘어가면 </a:t>
            </a:r>
            <a:r>
              <a:rPr lang="en-US" altLang="ko-KR" dirty="0" smtClean="0"/>
              <a:t>(…) </a:t>
            </a:r>
            <a:r>
              <a:rPr lang="ko-KR" altLang="en-US" dirty="0" err="1" smtClean="0"/>
              <a:t>말줄임</a:t>
            </a:r>
            <a:r>
              <a:rPr lang="ko-KR" altLang="en-US" dirty="0" smtClean="0"/>
              <a:t>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1-3] </a:t>
            </a:r>
            <a:r>
              <a:rPr lang="ko-KR" altLang="en-US" dirty="0" smtClean="0"/>
              <a:t>문서 제목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제목은 </a:t>
            </a:r>
            <a:r>
              <a:rPr lang="en-US" altLang="ko-KR" dirty="0" smtClean="0"/>
              <a:t>2</a:t>
            </a:r>
            <a:r>
              <a:rPr lang="ko-KR" altLang="en-US" dirty="0" smtClean="0"/>
              <a:t>줄 까지 노출 이후</a:t>
            </a:r>
            <a:r>
              <a:rPr lang="en-US" altLang="ko-KR" dirty="0" smtClean="0"/>
              <a:t>(…) </a:t>
            </a:r>
            <a:r>
              <a:rPr lang="ko-KR" altLang="en-US" dirty="0" err="1" smtClean="0"/>
              <a:t>말줄임</a:t>
            </a:r>
            <a:r>
              <a:rPr lang="ko-KR" altLang="en-US" dirty="0" smtClean="0"/>
              <a:t> 표시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 smtClean="0"/>
              <a:t>업무도움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기본값 </a:t>
            </a:r>
            <a:r>
              <a:rPr lang="en-US" altLang="ko-KR" dirty="0" smtClean="0"/>
              <a:t>: </a:t>
            </a:r>
            <a:r>
              <a:rPr lang="ko-KR" altLang="en-US" dirty="0" smtClean="0"/>
              <a:t>접힘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err="1" smtClean="0"/>
              <a:t>클릭시</a:t>
            </a:r>
            <a:r>
              <a:rPr lang="ko-KR" altLang="en-US" dirty="0" smtClean="0"/>
              <a:t> 확장하여 정보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</a:t>
            </a:r>
            <a:r>
              <a:rPr lang="ko-KR" altLang="en-US" dirty="0" err="1" smtClean="0"/>
              <a:t>업무도움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&gt; </a:t>
            </a:r>
            <a:r>
              <a:rPr lang="ko-KR" altLang="en-US" dirty="0" smtClean="0"/>
              <a:t>내역이 있는 경우 만 표시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탭 영역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err="1" smtClean="0"/>
              <a:t>신청정보</a:t>
            </a:r>
            <a:r>
              <a:rPr lang="ko-KR" altLang="en-US" dirty="0" smtClean="0"/>
              <a:t> </a:t>
            </a:r>
            <a:r>
              <a:rPr lang="en-US" altLang="ko-KR" dirty="0" smtClean="0"/>
              <a:t>Tab</a:t>
            </a:r>
            <a:r>
              <a:rPr lang="ko-KR" altLang="en-US" dirty="0" smtClean="0"/>
              <a:t>은 진입 시 고정 노출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탭 내용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err="1" smtClean="0"/>
              <a:t>계약정보</a:t>
            </a:r>
            <a:r>
              <a:rPr lang="en-US" altLang="ko-KR" dirty="0" smtClean="0"/>
              <a:t>, </a:t>
            </a:r>
            <a:r>
              <a:rPr lang="ko-KR" altLang="en-US" dirty="0" smtClean="0"/>
              <a:t>대금신청업체정보</a:t>
            </a:r>
            <a:r>
              <a:rPr lang="en-US" altLang="ko-KR" dirty="0" smtClean="0"/>
              <a:t>, </a:t>
            </a:r>
            <a:r>
              <a:rPr lang="ko-KR" altLang="en-US" dirty="0" smtClean="0"/>
              <a:t>대금신청금액</a:t>
            </a:r>
            <a:r>
              <a:rPr lang="en-US" altLang="ko-KR" dirty="0" smtClean="0"/>
              <a:t>, </a:t>
            </a:r>
            <a:r>
              <a:rPr lang="ko-KR" altLang="en-US" dirty="0" smtClean="0"/>
              <a:t>첨부파일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&gt; </a:t>
            </a:r>
            <a:r>
              <a:rPr lang="ko-KR" altLang="en-US" dirty="0" smtClean="0"/>
              <a:t>로그인 필요 서비스 안내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화면을 </a:t>
            </a:r>
            <a:r>
              <a:rPr lang="ko-KR" altLang="en-US" dirty="0" err="1" smtClean="0"/>
              <a:t>넘치는경우</a:t>
            </a:r>
            <a:r>
              <a:rPr lang="ko-KR" altLang="en-US" dirty="0" smtClean="0"/>
              <a:t> 드래그하여 확인</a:t>
            </a:r>
            <a:r>
              <a:rPr lang="en-US" altLang="ko-KR" dirty="0" smtClean="0"/>
              <a:t>(</a:t>
            </a:r>
            <a:r>
              <a:rPr lang="ko-KR" altLang="en-US" dirty="0" err="1" smtClean="0"/>
              <a:t>스와이프기능</a:t>
            </a:r>
            <a:r>
              <a:rPr lang="ko-KR" altLang="en-US" dirty="0" smtClean="0"/>
              <a:t> 반영 필요</a:t>
            </a:r>
            <a:r>
              <a:rPr lang="en-US" altLang="ko-KR" dirty="0" smtClean="0"/>
              <a:t>)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세금계산서인 경우</a:t>
            </a:r>
            <a:r>
              <a:rPr lang="en-US" altLang="ko-KR" dirty="0" smtClean="0"/>
              <a:t>, </a:t>
            </a:r>
            <a:r>
              <a:rPr lang="ko-KR" altLang="en-US" dirty="0" smtClean="0"/>
              <a:t>화면에서 </a:t>
            </a:r>
            <a:r>
              <a:rPr lang="en-US" altLang="ko-KR" dirty="0" smtClean="0"/>
              <a:t>“</a:t>
            </a:r>
            <a:r>
              <a:rPr lang="ko-KR" altLang="en-US" dirty="0" smtClean="0"/>
              <a:t>세금계산서번호 선택 을 체크한 경우 노출</a:t>
            </a:r>
            <a:r>
              <a:rPr lang="en-US" altLang="ko-KR" dirty="0" smtClean="0"/>
              <a:t>＂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 smtClean="0"/>
              <a:t>계약정보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각 공고에 맞춰 폼 변화에 유의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err="1" smtClean="0"/>
              <a:t>상세내용에</a:t>
            </a:r>
            <a:r>
              <a:rPr lang="ko-KR" altLang="en-US" dirty="0" smtClean="0"/>
              <a:t> 포함된 정보 표시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기본값은 상단 이동 버튼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현 상세내용 탭에서는 </a:t>
            </a:r>
            <a:r>
              <a:rPr lang="en-US" altLang="ko-KR" dirty="0" smtClean="0"/>
              <a:t>(+)</a:t>
            </a:r>
            <a:r>
              <a:rPr lang="ko-KR" altLang="en-US" dirty="0" smtClean="0"/>
              <a:t>더하기 버튼 없음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3191287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계약정보</a:t>
            </a:r>
            <a:r>
              <a:rPr lang="ko-KR" altLang="en-US" dirty="0"/>
              <a:t> 데이터 영역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대금신청대상목록 데이터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45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부대조달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계약정보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대금</a:t>
            </a:r>
            <a:r>
              <a:rPr lang="en-US" altLang="ko-KR" dirty="0"/>
              <a:t>/</a:t>
            </a:r>
            <a:r>
              <a:rPr lang="ko-KR" altLang="en-US" dirty="0"/>
              <a:t>사후 상세 </a:t>
            </a:r>
            <a:r>
              <a:rPr lang="en-US" altLang="ko-KR" dirty="0"/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부대조달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/>
              <a:t>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부대조달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MUI-WM-01-M06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grpSp>
        <p:nvGrpSpPr>
          <p:cNvPr id="133" name="그룹 132"/>
          <p:cNvGrpSpPr/>
          <p:nvPr/>
        </p:nvGrpSpPr>
        <p:grpSpPr>
          <a:xfrm>
            <a:off x="716366" y="1528651"/>
            <a:ext cx="2630093" cy="1358943"/>
            <a:chOff x="720490" y="4465173"/>
            <a:chExt cx="2630093" cy="1358943"/>
          </a:xfrm>
        </p:grpSpPr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35" name="그룹 134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147" name="직선 연결선 14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" name="직선 연결선 14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36" name="직사각형 135"/>
            <p:cNvSpPr/>
            <p:nvPr/>
          </p:nvSpPr>
          <p:spPr>
            <a:xfrm>
              <a:off x="722583" y="4772658"/>
              <a:ext cx="792000" cy="10429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37" name="직선 연결선 13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670770" cy="104291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대금신청번호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04291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2025 0000 00 - 01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배추김치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2026-01-30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0000 0000</a:t>
              </a:r>
            </a:p>
          </p:txBody>
        </p:sp>
        <p:cxnSp>
          <p:nvCxnSpPr>
            <p:cNvPr id="141" name="직선 연결선 14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2" name="직선 연결선 14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3" name="직선 연결선 14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4" name="직선 연결선 1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7" name="직선 연결선 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2411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9673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60" name="그룹 59"/>
          <p:cNvGrpSpPr/>
          <p:nvPr/>
        </p:nvGrpSpPr>
        <p:grpSpPr>
          <a:xfrm>
            <a:off x="710959" y="3046651"/>
            <a:ext cx="2630093" cy="1975134"/>
            <a:chOff x="3836701" y="2575831"/>
            <a:chExt cx="2630093" cy="197513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7672" y="2575831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대금신청대상</a:t>
              </a:r>
            </a:p>
          </p:txBody>
        </p:sp>
        <p:sp>
          <p:nvSpPr>
            <p:cNvPr id="62" name="직사각형 61"/>
            <p:cNvSpPr/>
            <p:nvPr/>
          </p:nvSpPr>
          <p:spPr>
            <a:xfrm>
              <a:off x="3838794" y="2827415"/>
              <a:ext cx="792000" cy="170046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1" y="2827416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2827416"/>
              <a:ext cx="670770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통지번호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조서발행번호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합격일자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납품일자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예산구분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감액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지체상금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82706" y="2827416"/>
              <a:ext cx="1775839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20257135021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00 00 0000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2026-01-01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2026-12~31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66" name="직선 연결선 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0585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7" name="직선 연결선 6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27222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8" name="직선 연결선 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4859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9" name="직선 연결선 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69964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0" name="직선 연결선 6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91334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1" name="직선 연결선 7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12705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72" name="그룹 71"/>
            <p:cNvGrpSpPr/>
            <p:nvPr/>
          </p:nvGrpSpPr>
          <p:grpSpPr>
            <a:xfrm flipV="1">
              <a:off x="6259759" y="2635184"/>
              <a:ext cx="94010" cy="47005"/>
              <a:chOff x="6812560" y="3297172"/>
              <a:chExt cx="94010" cy="47005"/>
            </a:xfrm>
          </p:grpSpPr>
          <p:cxnSp>
            <p:nvCxnSpPr>
              <p:cNvPr id="75" name="직선 연결선 7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직선 연결선 7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3" name="직선 연결선 7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31417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4" name="직선 연결선 7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5278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55" name="타원 15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10301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77" name="그룹 76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377434"/>
            <a:ext cx="76863" cy="292489"/>
            <a:chOff x="3750067" y="4683795"/>
            <a:chExt cx="76863" cy="292489"/>
          </a:xfrm>
        </p:grpSpPr>
        <p:sp>
          <p:nvSpPr>
            <p:cNvPr id="78" name="타원 77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9" name="타원 78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80" name="타원 79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3330624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공급자정보</a:t>
            </a:r>
            <a:r>
              <a:rPr lang="ko-KR" altLang="en-US" dirty="0"/>
              <a:t> 데이터 영역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46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부대조달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상세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공급자 정보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대금</a:t>
            </a:r>
            <a:r>
              <a:rPr lang="en-US" altLang="ko-KR" dirty="0"/>
              <a:t>/</a:t>
            </a:r>
            <a:r>
              <a:rPr lang="ko-KR" altLang="en-US" dirty="0"/>
              <a:t>사후 상세 </a:t>
            </a:r>
            <a:r>
              <a:rPr lang="en-US" altLang="ko-KR" dirty="0"/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부대조달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/>
              <a:t>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부대조달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MUI-WM-01-M06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" name="그룹 4"/>
          <p:cNvGrpSpPr/>
          <p:nvPr/>
        </p:nvGrpSpPr>
        <p:grpSpPr>
          <a:xfrm>
            <a:off x="803364" y="1527996"/>
            <a:ext cx="2456097" cy="215444"/>
            <a:chOff x="763157" y="1527996"/>
            <a:chExt cx="2456097" cy="215444"/>
          </a:xfrm>
        </p:grpSpPr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3157" y="1527996"/>
              <a:ext cx="84376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대금신청업체 정보</a:t>
              </a:r>
            </a:p>
          </p:txBody>
        </p:sp>
        <p:grpSp>
          <p:nvGrpSpPr>
            <p:cNvPr id="129" name="그룹 128"/>
            <p:cNvGrpSpPr/>
            <p:nvPr/>
          </p:nvGrpSpPr>
          <p:grpSpPr>
            <a:xfrm flipV="1">
              <a:off x="3125244" y="1641327"/>
              <a:ext cx="94010" cy="47005"/>
              <a:chOff x="6812560" y="3297172"/>
              <a:chExt cx="94010" cy="47005"/>
            </a:xfrm>
          </p:grpSpPr>
          <p:cxnSp>
            <p:nvCxnSpPr>
              <p:cNvPr id="131" name="직선 연결선 13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8" name="직선 연결선 13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1" name="그룹 140"/>
          <p:cNvGrpSpPr/>
          <p:nvPr/>
        </p:nvGrpSpPr>
        <p:grpSpPr>
          <a:xfrm>
            <a:off x="716366" y="1820149"/>
            <a:ext cx="2630093" cy="1077218"/>
            <a:chOff x="3865118" y="2946204"/>
            <a:chExt cx="2630093" cy="1077218"/>
          </a:xfrm>
        </p:grpSpPr>
        <p:sp>
          <p:nvSpPr>
            <p:cNvPr id="142" name="직사각형 141"/>
            <p:cNvSpPr/>
            <p:nvPr/>
          </p:nvSpPr>
          <p:spPr>
            <a:xfrm>
              <a:off x="3867211" y="2946204"/>
              <a:ext cx="792000" cy="107372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5" name="직선 연결선 15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5118" y="294620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54275" y="2946204"/>
              <a:ext cx="670770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 err="1">
                  <a:latin typeface="+mn-ea"/>
                </a:rPr>
                <a:t>업체명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대표명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청구인성명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연락처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주소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11123" y="2946204"/>
              <a:ext cx="1775839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010-1234-5678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</p:txBody>
        </p: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17730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3" name="직선 연결선 1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39101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4" name="직선 연결선 1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604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80818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02189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99146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1458087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대금신청</a:t>
            </a:r>
            <a:r>
              <a:rPr lang="ko-KR" altLang="en-US" dirty="0"/>
              <a:t> 금액 데이터 </a:t>
            </a:r>
            <a:r>
              <a:rPr lang="ko-KR" altLang="en-US" dirty="0" smtClean="0"/>
              <a:t>영역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- 1-1] </a:t>
            </a:r>
            <a:r>
              <a:rPr lang="ko-KR" altLang="en-US" dirty="0" smtClean="0"/>
              <a:t>대금 </a:t>
            </a:r>
            <a:r>
              <a:rPr lang="ko-KR" altLang="en-US" dirty="0" err="1" smtClean="0"/>
              <a:t>신청시</a:t>
            </a:r>
            <a:r>
              <a:rPr lang="en-US" altLang="ko-KR" dirty="0" smtClean="0"/>
              <a:t>, </a:t>
            </a:r>
            <a:r>
              <a:rPr lang="ko-KR" altLang="en-US" dirty="0" err="1" smtClean="0"/>
              <a:t>지급구분별</a:t>
            </a:r>
            <a:r>
              <a:rPr lang="ko-KR" altLang="en-US" dirty="0" smtClean="0"/>
              <a:t> 항목 확인 필요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 smtClean="0"/>
              <a:t>- 1-2] </a:t>
            </a:r>
            <a:r>
              <a:rPr lang="ko-KR" altLang="en-US" dirty="0" err="1" smtClean="0"/>
              <a:t>세액여부별</a:t>
            </a:r>
            <a:r>
              <a:rPr lang="ko-KR" altLang="en-US" dirty="0" smtClean="0"/>
              <a:t> 항목 확인 필요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ko-KR" altLang="en-US" dirty="0" smtClean="0"/>
              <a:t>세액 여부</a:t>
            </a:r>
            <a:r>
              <a:rPr lang="en-US" altLang="ko-KR" dirty="0" smtClean="0"/>
              <a:t>) </a:t>
            </a:r>
            <a:r>
              <a:rPr lang="ko-KR" altLang="en-US" dirty="0" smtClean="0"/>
              <a:t>과세</a:t>
            </a:r>
            <a:r>
              <a:rPr lang="en-US" altLang="ko-KR" dirty="0" smtClean="0"/>
              <a:t>, </a:t>
            </a:r>
            <a:r>
              <a:rPr lang="ko-KR" altLang="en-US" dirty="0" smtClean="0"/>
              <a:t>면세</a:t>
            </a:r>
            <a:r>
              <a:rPr lang="en-US" altLang="ko-KR" dirty="0" smtClean="0"/>
              <a:t>, </a:t>
            </a:r>
            <a:r>
              <a:rPr lang="ko-KR" altLang="en-US" dirty="0" smtClean="0"/>
              <a:t>영세 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 smtClean="0"/>
              <a:t>- 1-3] </a:t>
            </a:r>
            <a:r>
              <a:rPr lang="ko-KR" altLang="en-US" dirty="0" err="1" smtClean="0"/>
              <a:t>신고구분</a:t>
            </a:r>
            <a:r>
              <a:rPr lang="en-US" altLang="ko-KR" dirty="0"/>
              <a:t>: </a:t>
            </a:r>
            <a:r>
              <a:rPr lang="ko-KR" altLang="en-US" dirty="0"/>
              <a:t>확정</a:t>
            </a:r>
            <a:r>
              <a:rPr lang="en-US" altLang="ko-KR" dirty="0"/>
              <a:t>, </a:t>
            </a:r>
            <a:r>
              <a:rPr lang="ko-KR" altLang="en-US" dirty="0" smtClean="0"/>
              <a:t>예정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47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부대조달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상세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 err="1">
                <a:latin typeface="+mn-ea"/>
              </a:rPr>
              <a:t>대금신청</a:t>
            </a:r>
            <a:r>
              <a:rPr lang="ko-KR" altLang="en-US" dirty="0">
                <a:latin typeface="+mn-ea"/>
              </a:rPr>
              <a:t> 금액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대금</a:t>
            </a:r>
            <a:r>
              <a:rPr lang="en-US" altLang="ko-KR" dirty="0"/>
              <a:t>/</a:t>
            </a:r>
            <a:r>
              <a:rPr lang="ko-KR" altLang="en-US" dirty="0"/>
              <a:t>사후 상세 </a:t>
            </a:r>
            <a:r>
              <a:rPr lang="en-US" altLang="ko-KR" dirty="0"/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부대조달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/>
              <a:t>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부대조달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MUI-WM-01-M06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" name="그룹 4"/>
          <p:cNvGrpSpPr/>
          <p:nvPr/>
        </p:nvGrpSpPr>
        <p:grpSpPr>
          <a:xfrm>
            <a:off x="803364" y="1527996"/>
            <a:ext cx="2456097" cy="181140"/>
            <a:chOff x="763157" y="1527996"/>
            <a:chExt cx="2456097" cy="181140"/>
          </a:xfrm>
        </p:grpSpPr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3157" y="1527996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대금신청</a:t>
              </a:r>
              <a:r>
                <a:rPr lang="ko-KR" altLang="en-US" sz="700" dirty="0">
                  <a:latin typeface="+mn-ea"/>
                </a:rPr>
                <a:t> 금액</a:t>
              </a:r>
            </a:p>
          </p:txBody>
        </p:sp>
        <p:grpSp>
          <p:nvGrpSpPr>
            <p:cNvPr id="129" name="그룹 128"/>
            <p:cNvGrpSpPr/>
            <p:nvPr/>
          </p:nvGrpSpPr>
          <p:grpSpPr>
            <a:xfrm flipV="1">
              <a:off x="3125244" y="1641327"/>
              <a:ext cx="94010" cy="47005"/>
              <a:chOff x="6812560" y="3297172"/>
              <a:chExt cx="94010" cy="47005"/>
            </a:xfrm>
          </p:grpSpPr>
          <p:cxnSp>
            <p:nvCxnSpPr>
              <p:cNvPr id="131" name="직선 연결선 13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8" name="직선 연결선 13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1" name="그룹 140"/>
          <p:cNvGrpSpPr/>
          <p:nvPr/>
        </p:nvGrpSpPr>
        <p:grpSpPr>
          <a:xfrm>
            <a:off x="716366" y="1820149"/>
            <a:ext cx="2630093" cy="2586565"/>
            <a:chOff x="3865118" y="2946204"/>
            <a:chExt cx="2630093" cy="2586565"/>
          </a:xfrm>
        </p:grpSpPr>
        <p:sp>
          <p:nvSpPr>
            <p:cNvPr id="142" name="직사각형 141"/>
            <p:cNvSpPr/>
            <p:nvPr/>
          </p:nvSpPr>
          <p:spPr>
            <a:xfrm>
              <a:off x="3867211" y="2946204"/>
              <a:ext cx="792000" cy="25853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5" name="직선 연결선 15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5118" y="294620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54274" y="2946204"/>
              <a:ext cx="715881" cy="258532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지급구분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세액여부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납품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선급</a:t>
              </a:r>
              <a:r>
                <a:rPr lang="en-US" altLang="ko-KR" sz="700" dirty="0">
                  <a:latin typeface="+mn-ea"/>
                </a:rPr>
                <a:t>)</a:t>
              </a:r>
              <a:r>
                <a:rPr lang="ko-KR" altLang="en-US" sz="700" dirty="0">
                  <a:latin typeface="+mn-ea"/>
                </a:rPr>
                <a:t>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공급가액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세액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공제금액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공급가액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세액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공제내역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실지급금액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신고구분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비고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11123" y="2946204"/>
              <a:ext cx="1775839" cy="258532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선금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</p:txBody>
        </p: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17730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3" name="직선 연결선 1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39101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4" name="직선 연결선 1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604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80818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02189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7" name="직선 연결선 16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23559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9" name="직선 연결선 2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47448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" name="직선 연결선 2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68818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1" name="직선 연결선 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90189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" name="직선 연결선 3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510535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" name="직선 연결선 3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531906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직선 연결선 3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553276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6160" y="1581676"/>
            <a:ext cx="162064" cy="16206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466910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2" name="그룹 41"/>
          <p:cNvGrpSpPr/>
          <p:nvPr/>
        </p:nvGrpSpPr>
        <p:grpSpPr>
          <a:xfrm>
            <a:off x="1562371" y="2103380"/>
            <a:ext cx="580039" cy="107722"/>
            <a:chOff x="1746956" y="5895087"/>
            <a:chExt cx="580039" cy="107722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46956" y="5895087"/>
              <a:ext cx="179536" cy="10772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과세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326930" y="5895087"/>
              <a:ext cx="65" cy="10772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endParaRPr lang="ko-KR" altLang="en-US" sz="700" dirty="0">
                <a:latin typeface="+mn-ea"/>
              </a:endParaRPr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46326" y="4038228"/>
            <a:ext cx="1795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확정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499262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8" name="그룹 47"/>
          <p:cNvGrpSpPr/>
          <p:nvPr/>
        </p:nvGrpSpPr>
        <p:grpSpPr>
          <a:xfrm>
            <a:off x="3627227" y="1527996"/>
            <a:ext cx="2456097" cy="181140"/>
            <a:chOff x="763157" y="1527996"/>
            <a:chExt cx="2456097" cy="181140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3157" y="1527996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대금신청</a:t>
              </a:r>
              <a:r>
                <a:rPr lang="ko-KR" altLang="en-US" sz="700" dirty="0">
                  <a:latin typeface="+mn-ea"/>
                </a:rPr>
                <a:t> 금액</a:t>
              </a:r>
            </a:p>
          </p:txBody>
        </p:sp>
        <p:grpSp>
          <p:nvGrpSpPr>
            <p:cNvPr id="58" name="그룹 57"/>
            <p:cNvGrpSpPr/>
            <p:nvPr/>
          </p:nvGrpSpPr>
          <p:grpSpPr>
            <a:xfrm flipV="1">
              <a:off x="3125244" y="1641327"/>
              <a:ext cx="94010" cy="47005"/>
              <a:chOff x="6812560" y="3297172"/>
              <a:chExt cx="94010" cy="47005"/>
            </a:xfrm>
          </p:grpSpPr>
          <p:cxnSp>
            <p:nvCxnSpPr>
              <p:cNvPr id="59" name="직선 연결선 5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0" name="직선 연결선 5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1" name="그룹 60"/>
          <p:cNvGrpSpPr/>
          <p:nvPr/>
        </p:nvGrpSpPr>
        <p:grpSpPr>
          <a:xfrm>
            <a:off x="3540229" y="1820149"/>
            <a:ext cx="2630093" cy="2586565"/>
            <a:chOff x="3865118" y="2946204"/>
            <a:chExt cx="2630093" cy="2586565"/>
          </a:xfrm>
        </p:grpSpPr>
        <p:sp>
          <p:nvSpPr>
            <p:cNvPr id="62" name="직사각형 61"/>
            <p:cNvSpPr/>
            <p:nvPr/>
          </p:nvSpPr>
          <p:spPr>
            <a:xfrm>
              <a:off x="3867211" y="2946204"/>
              <a:ext cx="792000" cy="25853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5118" y="294620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54274" y="2946204"/>
              <a:ext cx="715881" cy="258532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지급구분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세액여부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납품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선급</a:t>
              </a:r>
              <a:r>
                <a:rPr lang="en-US" altLang="ko-KR" sz="700" dirty="0">
                  <a:latin typeface="+mn-ea"/>
                </a:rPr>
                <a:t>)</a:t>
              </a:r>
              <a:r>
                <a:rPr lang="ko-KR" altLang="en-US" sz="700" dirty="0">
                  <a:latin typeface="+mn-ea"/>
                </a:rPr>
                <a:t>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공급가액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세액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공제금액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공급가액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세액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공제내역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실지급금액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신고구분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비고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11123" y="2946204"/>
              <a:ext cx="1775839" cy="258532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선금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</p:txBody>
        </p:sp>
        <p:cxnSp>
          <p:nvCxnSpPr>
            <p:cNvPr id="67" name="직선 연결선 6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17730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8" name="직선 연결선 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39101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9" name="직선 연결선 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604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0" name="직선 연결선 6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80818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1" name="직선 연결선 7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02189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직선 연결선 7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23559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3" name="직선 연결선 7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47448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4" name="직선 연결선 7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68818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5" name="직선 연결선 7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90189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510535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7" name="직선 연결선 7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531906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8" name="직선 연결선 7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553276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499262" y="466910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91283" y="2103380"/>
            <a:ext cx="1795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면세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86234" y="4038228"/>
            <a:ext cx="1795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확정</a:t>
            </a:r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1384262" y="1804478"/>
            <a:ext cx="162064" cy="16206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00" b="1" dirty="0" smtClean="0"/>
              <a:t>1-1</a:t>
            </a:r>
            <a:endParaRPr lang="ko-KR" altLang="en-US" sz="500" b="1" dirty="0"/>
          </a:p>
        </p:txBody>
      </p:sp>
      <p:sp>
        <p:nvSpPr>
          <p:cNvPr id="84" name="타원 8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1386222" y="2080239"/>
            <a:ext cx="162064" cy="16206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00" b="1" dirty="0" smtClean="0"/>
              <a:t>1-2</a:t>
            </a:r>
            <a:endParaRPr lang="ko-KR" altLang="en-US" sz="500" b="1" dirty="0"/>
          </a:p>
        </p:txBody>
      </p:sp>
      <p:sp>
        <p:nvSpPr>
          <p:cNvPr id="93" name="타원 9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1384262" y="4018606"/>
            <a:ext cx="162064" cy="16206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00" b="1" dirty="0" smtClean="0"/>
              <a:t>1-3</a:t>
            </a:r>
            <a:endParaRPr lang="ko-KR" altLang="en-US" sz="500" b="1" dirty="0"/>
          </a:p>
        </p:txBody>
      </p:sp>
      <p:sp>
        <p:nvSpPr>
          <p:cNvPr id="94" name="직사각형 93"/>
          <p:cNvSpPr/>
          <p:nvPr/>
        </p:nvSpPr>
        <p:spPr>
          <a:xfrm>
            <a:off x="7103286" y="6036456"/>
            <a:ext cx="2275404" cy="14501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500" smtClean="0"/>
              <a:t>화면수정</a:t>
            </a:r>
            <a:endParaRPr lang="ko-KR" altLang="en-US" sz="500" dirty="0"/>
          </a:p>
        </p:txBody>
      </p:sp>
    </p:spTree>
    <p:extLst>
      <p:ext uri="{BB962C8B-B14F-4D97-AF65-F5344CB8AC3E}">
        <p14:creationId xmlns:p14="http://schemas.microsoft.com/office/powerpoint/2010/main" val="58661405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대금신청</a:t>
            </a:r>
            <a:r>
              <a:rPr lang="ko-KR" altLang="en-US" dirty="0"/>
              <a:t> 금액 데이터 </a:t>
            </a:r>
            <a:r>
              <a:rPr lang="ko-KR" altLang="en-US" dirty="0" smtClean="0"/>
              <a:t>영역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- 1-1] </a:t>
            </a:r>
            <a:r>
              <a:rPr lang="ko-KR" altLang="en-US" dirty="0" err="1"/>
              <a:t>세액여부별</a:t>
            </a:r>
            <a:r>
              <a:rPr lang="ko-KR" altLang="en-US" dirty="0"/>
              <a:t> 항목 확인 필요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세액 여부</a:t>
            </a:r>
            <a:r>
              <a:rPr lang="en-US" altLang="ko-KR" dirty="0"/>
              <a:t>) </a:t>
            </a:r>
            <a:r>
              <a:rPr lang="ko-KR" altLang="en-US" dirty="0"/>
              <a:t>과세</a:t>
            </a:r>
            <a:r>
              <a:rPr lang="en-US" altLang="ko-KR" dirty="0"/>
              <a:t>, </a:t>
            </a:r>
            <a:r>
              <a:rPr lang="ko-KR" altLang="en-US" dirty="0"/>
              <a:t>면세</a:t>
            </a:r>
            <a:r>
              <a:rPr lang="en-US" altLang="ko-KR" dirty="0"/>
              <a:t>, </a:t>
            </a:r>
            <a:r>
              <a:rPr lang="ko-KR" altLang="en-US" dirty="0"/>
              <a:t>영세 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en-US" altLang="ko-KR" dirty="0" smtClean="0"/>
              <a:t>1-2] </a:t>
            </a:r>
            <a:r>
              <a:rPr lang="ko-KR" altLang="en-US" dirty="0" err="1"/>
              <a:t>신고구분</a:t>
            </a:r>
            <a:r>
              <a:rPr lang="en-US" altLang="ko-KR" dirty="0"/>
              <a:t>: </a:t>
            </a:r>
            <a:r>
              <a:rPr lang="ko-KR" altLang="en-US" dirty="0"/>
              <a:t>확정</a:t>
            </a:r>
            <a:r>
              <a:rPr lang="en-US" altLang="ko-KR" dirty="0"/>
              <a:t>, </a:t>
            </a:r>
            <a:r>
              <a:rPr lang="ko-KR" altLang="en-US" dirty="0"/>
              <a:t>예정</a:t>
            </a:r>
            <a:r>
              <a:rPr lang="en-US" altLang="ko-KR" dirty="0"/>
              <a:t/>
            </a:r>
            <a:br>
              <a:rPr lang="en-US" altLang="ko-KR" dirty="0"/>
            </a:br>
            <a:endParaRPr lang="en-US" altLang="ko-KR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부대조달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상세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 err="1">
                <a:latin typeface="+mn-ea"/>
              </a:rPr>
              <a:t>대금신청</a:t>
            </a:r>
            <a:r>
              <a:rPr lang="ko-KR" altLang="en-US" dirty="0">
                <a:latin typeface="+mn-ea"/>
              </a:rPr>
              <a:t> 금액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대금</a:t>
            </a:r>
            <a:r>
              <a:rPr lang="en-US" altLang="ko-KR" dirty="0"/>
              <a:t>/</a:t>
            </a:r>
            <a:r>
              <a:rPr lang="ko-KR" altLang="en-US" dirty="0"/>
              <a:t>사후 상세 </a:t>
            </a:r>
            <a:r>
              <a:rPr lang="en-US" altLang="ko-KR" dirty="0"/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부대조달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/>
              <a:t>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부대조달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MUI-WM-01-M06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" name="그룹 4"/>
          <p:cNvGrpSpPr/>
          <p:nvPr/>
        </p:nvGrpSpPr>
        <p:grpSpPr>
          <a:xfrm>
            <a:off x="803364" y="1527996"/>
            <a:ext cx="2456097" cy="181140"/>
            <a:chOff x="763157" y="1527996"/>
            <a:chExt cx="2456097" cy="181140"/>
          </a:xfrm>
        </p:grpSpPr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3157" y="1527996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대금신청</a:t>
              </a:r>
              <a:r>
                <a:rPr lang="ko-KR" altLang="en-US" sz="700" dirty="0">
                  <a:latin typeface="+mn-ea"/>
                </a:rPr>
                <a:t> 금액</a:t>
              </a:r>
            </a:p>
          </p:txBody>
        </p:sp>
        <p:grpSp>
          <p:nvGrpSpPr>
            <p:cNvPr id="129" name="그룹 128"/>
            <p:cNvGrpSpPr/>
            <p:nvPr/>
          </p:nvGrpSpPr>
          <p:grpSpPr>
            <a:xfrm flipV="1">
              <a:off x="3125244" y="1641327"/>
              <a:ext cx="94010" cy="47005"/>
              <a:chOff x="6812560" y="3297172"/>
              <a:chExt cx="94010" cy="47005"/>
            </a:xfrm>
          </p:grpSpPr>
          <p:cxnSp>
            <p:nvCxnSpPr>
              <p:cNvPr id="131" name="직선 연결선 13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8" name="직선 연결선 13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1" name="그룹 140"/>
          <p:cNvGrpSpPr/>
          <p:nvPr/>
        </p:nvGrpSpPr>
        <p:grpSpPr>
          <a:xfrm>
            <a:off x="716366" y="1820149"/>
            <a:ext cx="2630093" cy="2586565"/>
            <a:chOff x="3865118" y="2946204"/>
            <a:chExt cx="2630093" cy="2586565"/>
          </a:xfrm>
        </p:grpSpPr>
        <p:sp>
          <p:nvSpPr>
            <p:cNvPr id="142" name="직사각형 141"/>
            <p:cNvSpPr/>
            <p:nvPr/>
          </p:nvSpPr>
          <p:spPr>
            <a:xfrm>
              <a:off x="3867211" y="2946204"/>
              <a:ext cx="792000" cy="25853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5" name="직선 연결선 15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5118" y="294620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54274" y="2946204"/>
              <a:ext cx="715881" cy="258532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지급구분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세액여부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납품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선급</a:t>
              </a:r>
              <a:r>
                <a:rPr lang="en-US" altLang="ko-KR" sz="700" dirty="0">
                  <a:latin typeface="+mn-ea"/>
                </a:rPr>
                <a:t>)</a:t>
              </a:r>
              <a:r>
                <a:rPr lang="ko-KR" altLang="en-US" sz="700" dirty="0">
                  <a:latin typeface="+mn-ea"/>
                </a:rPr>
                <a:t>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공급가액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세액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공제금액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공급가액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세액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공제내역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실지급금액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신고구분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비고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11123" y="2946204"/>
              <a:ext cx="1775839" cy="258532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선금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 smtClean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 smtClean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</p:txBody>
        </p: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17730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3" name="직선 연결선 1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39101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4" name="직선 연결선 1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604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80818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02189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7" name="직선 연결선 16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23559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9" name="직선 연결선 2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47448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" name="직선 연결선 2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68818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1" name="직선 연결선 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90189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" name="직선 연결선 3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510535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" name="직선 연결선 3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531906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직선 연결선 3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553276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6160" y="1581676"/>
            <a:ext cx="162064" cy="16206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466910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2" name="그룹 41"/>
          <p:cNvGrpSpPr/>
          <p:nvPr/>
        </p:nvGrpSpPr>
        <p:grpSpPr>
          <a:xfrm>
            <a:off x="1562371" y="2103380"/>
            <a:ext cx="580039" cy="107722"/>
            <a:chOff x="1746956" y="5895087"/>
            <a:chExt cx="580039" cy="107722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46956" y="5895087"/>
              <a:ext cx="179536" cy="10772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ko-KR" altLang="en-US" sz="700" dirty="0" smtClean="0">
                  <a:latin typeface="+mn-ea"/>
                </a:rPr>
                <a:t>영세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326930" y="5895087"/>
              <a:ext cx="65" cy="10772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endParaRPr lang="ko-KR" altLang="en-US" sz="700" dirty="0">
                <a:latin typeface="+mn-ea"/>
              </a:endParaRPr>
            </a:p>
          </p:txBody>
        </p: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50814" y="4038228"/>
            <a:ext cx="1795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예정</a:t>
            </a:r>
          </a:p>
        </p:txBody>
      </p:sp>
      <p:sp>
        <p:nvSpPr>
          <p:cNvPr id="93" name="타원 9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1379823" y="2051116"/>
            <a:ext cx="162064" cy="16206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00" b="1" dirty="0" smtClean="0"/>
              <a:t>1-1</a:t>
            </a:r>
            <a:endParaRPr lang="ko-KR" altLang="en-US" sz="500" b="1" dirty="0"/>
          </a:p>
        </p:txBody>
      </p:sp>
      <p:sp>
        <p:nvSpPr>
          <p:cNvPr id="94" name="타원 9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1379823" y="3962754"/>
            <a:ext cx="162064" cy="16206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00" b="1" dirty="0" smtClean="0"/>
              <a:t>1-2</a:t>
            </a:r>
            <a:endParaRPr lang="ko-KR" altLang="en-US" sz="500" b="1" dirty="0"/>
          </a:p>
        </p:txBody>
      </p:sp>
      <p:sp>
        <p:nvSpPr>
          <p:cNvPr id="40" name="직사각형 39"/>
          <p:cNvSpPr/>
          <p:nvPr/>
        </p:nvSpPr>
        <p:spPr>
          <a:xfrm>
            <a:off x="7103286" y="6036456"/>
            <a:ext cx="2275404" cy="14501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500" smtClean="0"/>
              <a:t>화면수정</a:t>
            </a:r>
            <a:endParaRPr lang="ko-KR" altLang="en-US" sz="500" dirty="0"/>
          </a:p>
        </p:txBody>
      </p:sp>
    </p:spTree>
    <p:extLst>
      <p:ext uri="{BB962C8B-B14F-4D97-AF65-F5344CB8AC3E}">
        <p14:creationId xmlns:p14="http://schemas.microsoft.com/office/powerpoint/2010/main" val="309936994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sz="700" dirty="0"/>
              <a:t>계약에 등록된 </a:t>
            </a:r>
            <a:r>
              <a:rPr lang="ko-KR" altLang="en-US" sz="700" dirty="0" err="1"/>
              <a:t>계약관</a:t>
            </a:r>
            <a:r>
              <a:rPr lang="ko-KR" altLang="en-US" sz="700" dirty="0"/>
              <a:t> 첨부서류 </a:t>
            </a:r>
            <a:r>
              <a:rPr lang="ko-KR" altLang="en-US" sz="700" dirty="0" err="1"/>
              <a:t>목록조회</a:t>
            </a:r>
            <a:r>
              <a:rPr lang="en-US" altLang="ko-KR" sz="700" dirty="0"/>
              <a:t/>
            </a:r>
            <a:br>
              <a:rPr lang="en-US" altLang="ko-KR" sz="700" dirty="0"/>
            </a:br>
            <a:r>
              <a:rPr lang="en-US" altLang="ko-KR" sz="700" dirty="0"/>
              <a:t>default) </a:t>
            </a:r>
            <a:br>
              <a:rPr lang="en-US" altLang="ko-KR" sz="700" dirty="0"/>
            </a:br>
            <a:r>
              <a:rPr lang="en-US" altLang="ko-KR" sz="700" dirty="0"/>
              <a:t>- </a:t>
            </a:r>
            <a:r>
              <a:rPr lang="ko-KR" altLang="en-US" sz="700" dirty="0"/>
              <a:t>아코디언 전체 펼침 </a:t>
            </a:r>
            <a:r>
              <a:rPr lang="en-US" altLang="ko-KR" sz="700" dirty="0"/>
              <a:t/>
            </a:r>
            <a:br>
              <a:rPr lang="en-US" altLang="ko-KR" sz="700" dirty="0"/>
            </a:br>
            <a:r>
              <a:rPr lang="en-US" altLang="ko-KR" sz="700" dirty="0"/>
              <a:t>- </a:t>
            </a:r>
            <a:r>
              <a:rPr lang="ko-KR" altLang="en-US" sz="700" dirty="0"/>
              <a:t>업로드 기능 </a:t>
            </a:r>
            <a:r>
              <a:rPr lang="ko-KR" altLang="en-US" sz="700" dirty="0" err="1"/>
              <a:t>미지원</a:t>
            </a:r>
            <a:r>
              <a:rPr lang="ko-KR" altLang="en-US" sz="700" dirty="0"/>
              <a:t> </a:t>
            </a:r>
            <a:r>
              <a:rPr lang="en-US" altLang="ko-KR" sz="700" dirty="0"/>
              <a:t/>
            </a:r>
            <a:br>
              <a:rPr lang="en-US" altLang="ko-KR" sz="700" dirty="0"/>
            </a:br>
            <a:r>
              <a:rPr lang="en-US" altLang="ko-KR" sz="700" dirty="0"/>
              <a:t>- </a:t>
            </a:r>
            <a:r>
              <a:rPr lang="ko-KR" altLang="en-US" sz="700" dirty="0" err="1" smtClean="0"/>
              <a:t>대금청구</a:t>
            </a:r>
            <a:r>
              <a:rPr lang="ko-KR" altLang="en-US" sz="700" dirty="0" smtClean="0"/>
              <a:t> </a:t>
            </a:r>
            <a:r>
              <a:rPr lang="ko-KR" altLang="en-US" sz="700" dirty="0"/>
              <a:t>첨부서류에 첨부된 파일이 있는 경우에만 목록 노출</a:t>
            </a:r>
            <a:endParaRPr lang="en-US" altLang="ko-KR" sz="700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sz="700" dirty="0" smtClean="0"/>
              <a:t>파일 </a:t>
            </a:r>
            <a:r>
              <a:rPr lang="ko-KR" altLang="en-US" sz="700" dirty="0"/>
              <a:t>목록 </a:t>
            </a:r>
            <a:r>
              <a:rPr lang="en-US" altLang="ko-KR" sz="700" dirty="0"/>
              <a:t/>
            </a:r>
            <a:br>
              <a:rPr lang="en-US" altLang="ko-KR" sz="700" dirty="0"/>
            </a:br>
            <a:r>
              <a:rPr lang="en-US" altLang="ko-KR" sz="700" dirty="0"/>
              <a:t>- </a:t>
            </a:r>
            <a:r>
              <a:rPr lang="ko-KR" altLang="en-US" sz="700" dirty="0"/>
              <a:t>정렬</a:t>
            </a:r>
            <a:r>
              <a:rPr lang="en-US" altLang="ko-KR" sz="700" dirty="0"/>
              <a:t> : </a:t>
            </a:r>
            <a:r>
              <a:rPr lang="ko-KR" altLang="en-US" sz="700" dirty="0"/>
              <a:t>파일 업로드 시점의 </a:t>
            </a:r>
            <a:r>
              <a:rPr lang="ko-KR" altLang="en-US" sz="700" dirty="0" err="1"/>
              <a:t>등록일시</a:t>
            </a:r>
            <a:r>
              <a:rPr lang="ko-KR" altLang="en-US" sz="700" dirty="0"/>
              <a:t> 내림차순 </a:t>
            </a:r>
            <a:r>
              <a:rPr lang="en-US" altLang="ko-KR" sz="700" dirty="0"/>
              <a:t/>
            </a:r>
            <a:br>
              <a:rPr lang="en-US" altLang="ko-KR" sz="700" dirty="0"/>
            </a:br>
            <a:r>
              <a:rPr lang="en-US" altLang="ko-KR" sz="700" dirty="0"/>
              <a:t>- </a:t>
            </a:r>
            <a:r>
              <a:rPr lang="ko-KR" altLang="en-US" sz="700" dirty="0" err="1"/>
              <a:t>계약서류명</a:t>
            </a:r>
            <a:r>
              <a:rPr lang="en-US" altLang="ko-KR" sz="700" dirty="0"/>
              <a:t>, </a:t>
            </a:r>
            <a:r>
              <a:rPr lang="ko-KR" altLang="en-US" sz="700" dirty="0" err="1"/>
              <a:t>첨부파일명</a:t>
            </a:r>
            <a:r>
              <a:rPr lang="en-US" altLang="ko-KR" sz="700" dirty="0"/>
              <a:t>, </a:t>
            </a:r>
            <a:r>
              <a:rPr lang="ko-KR" altLang="en-US" sz="700" dirty="0"/>
              <a:t>파일 크기 표시</a:t>
            </a:r>
            <a:r>
              <a:rPr lang="en-US" altLang="ko-KR" sz="700" dirty="0"/>
              <a:t/>
            </a:r>
            <a:br>
              <a:rPr lang="en-US" altLang="ko-KR" sz="700" dirty="0"/>
            </a:br>
            <a:r>
              <a:rPr lang="en-US" altLang="ko-KR" sz="700" dirty="0"/>
              <a:t>- </a:t>
            </a:r>
            <a:r>
              <a:rPr lang="ko-KR" altLang="en-US" sz="700" dirty="0"/>
              <a:t>파일 크기 정보가 없거나</a:t>
            </a:r>
            <a:r>
              <a:rPr lang="en-US" altLang="ko-KR" sz="700" dirty="0"/>
              <a:t>, </a:t>
            </a:r>
            <a:r>
              <a:rPr lang="ko-KR" altLang="en-US" sz="700" dirty="0"/>
              <a:t>첨부서류 파일명이 없는 경우 </a:t>
            </a:r>
            <a:r>
              <a:rPr lang="en-US" altLang="ko-KR" sz="700" dirty="0"/>
              <a:t>“-” </a:t>
            </a:r>
            <a:r>
              <a:rPr lang="ko-KR" altLang="en-US" sz="700" dirty="0"/>
              <a:t>표시</a:t>
            </a:r>
            <a:r>
              <a:rPr lang="en-US" altLang="ko-KR" sz="700" dirty="0"/>
              <a:t/>
            </a:r>
            <a:br>
              <a:rPr lang="en-US" altLang="ko-KR" sz="700" dirty="0"/>
            </a:br>
            <a:r>
              <a:rPr lang="en-US" altLang="ko-KR" sz="700" dirty="0"/>
              <a:t>- </a:t>
            </a:r>
            <a:r>
              <a:rPr lang="ko-KR" altLang="en-US" sz="700" dirty="0"/>
              <a:t>파일명이 긴 경우 </a:t>
            </a:r>
            <a:r>
              <a:rPr lang="ko-KR" altLang="en-US" sz="700" dirty="0" err="1"/>
              <a:t>말줄임</a:t>
            </a:r>
            <a:r>
              <a:rPr lang="ko-KR" altLang="en-US" sz="700" dirty="0"/>
              <a:t> 표시</a:t>
            </a:r>
            <a:endParaRPr lang="en-US" altLang="ko-KR" sz="700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sz="700" dirty="0"/>
              <a:t>다운로드 아이콘 노출</a:t>
            </a:r>
            <a:r>
              <a:rPr lang="en-US" altLang="ko-KR" sz="700" dirty="0"/>
              <a:t/>
            </a:r>
            <a:br>
              <a:rPr lang="en-US" altLang="ko-KR" sz="700" dirty="0"/>
            </a:br>
            <a:r>
              <a:rPr lang="en-US" altLang="ko-KR" sz="700" dirty="0"/>
              <a:t>- </a:t>
            </a:r>
            <a:r>
              <a:rPr lang="ko-KR" altLang="en-US" sz="700" dirty="0"/>
              <a:t>다운로드 </a:t>
            </a:r>
            <a:r>
              <a:rPr lang="ko-KR" altLang="en-US" sz="700" dirty="0" err="1"/>
              <a:t>클릭시</a:t>
            </a:r>
            <a:r>
              <a:rPr lang="en-US" altLang="ko-KR" sz="700" dirty="0"/>
              <a:t>, </a:t>
            </a:r>
            <a:r>
              <a:rPr lang="ko-KR" altLang="en-US" sz="700" dirty="0"/>
              <a:t>즉시 다운로드 실행</a:t>
            </a:r>
            <a:r>
              <a:rPr lang="en-US" altLang="ko-KR" sz="700" dirty="0"/>
              <a:t/>
            </a:r>
            <a:br>
              <a:rPr lang="en-US" altLang="ko-KR" sz="700" dirty="0"/>
            </a:br>
            <a:r>
              <a:rPr lang="en-US" altLang="ko-KR" sz="700" dirty="0"/>
              <a:t>- </a:t>
            </a:r>
            <a:r>
              <a:rPr lang="ko-KR" altLang="en-US" sz="700" dirty="0"/>
              <a:t>파일 다운로드 </a:t>
            </a:r>
            <a:r>
              <a:rPr lang="ko-KR" altLang="en-US" sz="700" dirty="0" err="1"/>
              <a:t>실패시</a:t>
            </a:r>
            <a:r>
              <a:rPr lang="ko-KR" altLang="en-US" sz="700" dirty="0"/>
              <a:t> </a:t>
            </a:r>
            <a:r>
              <a:rPr lang="en-US" altLang="ko-KR" sz="700" dirty="0"/>
              <a:t>, “</a:t>
            </a:r>
            <a:r>
              <a:rPr lang="ko-KR" altLang="en-US" sz="700" dirty="0"/>
              <a:t>다운로드에 실패했습니다</a:t>
            </a:r>
            <a:r>
              <a:rPr lang="en-US" altLang="ko-KR" sz="700" dirty="0"/>
              <a:t>”</a:t>
            </a:r>
            <a:r>
              <a:rPr lang="ko-KR" altLang="en-US" sz="700" dirty="0"/>
              <a:t> 토스트 노출</a:t>
            </a:r>
            <a:r>
              <a:rPr lang="en-US" altLang="ko-KR" sz="700" dirty="0"/>
              <a:t/>
            </a:r>
            <a:br>
              <a:rPr lang="en-US" altLang="ko-KR" sz="700" dirty="0"/>
            </a:br>
            <a:r>
              <a:rPr lang="en-US" altLang="ko-KR" sz="700" dirty="0"/>
              <a:t>- </a:t>
            </a:r>
            <a:r>
              <a:rPr lang="ko-KR" altLang="en-US" sz="700" dirty="0"/>
              <a:t>다운로드 </a:t>
            </a:r>
            <a:r>
              <a:rPr lang="ko-KR" altLang="en-US" sz="700" dirty="0" err="1"/>
              <a:t>성공시</a:t>
            </a:r>
            <a:r>
              <a:rPr lang="ko-KR" altLang="en-US" sz="700" dirty="0"/>
              <a:t> </a:t>
            </a:r>
            <a:r>
              <a:rPr lang="en-US" altLang="ko-KR" sz="700" dirty="0"/>
              <a:t>“</a:t>
            </a:r>
            <a:r>
              <a:rPr lang="ko-KR" altLang="en-US" sz="700" dirty="0"/>
              <a:t>다운로드에 성공했습니다</a:t>
            </a:r>
            <a:r>
              <a:rPr lang="en-US" altLang="ko-KR" sz="700" dirty="0"/>
              <a:t>“ </a:t>
            </a:r>
            <a:r>
              <a:rPr lang="ko-KR" altLang="en-US" sz="700" dirty="0"/>
              <a:t>노출</a:t>
            </a:r>
            <a:endParaRPr lang="en-US" altLang="ko-KR" sz="700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49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부대조달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상세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첨부파일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대금</a:t>
            </a:r>
            <a:r>
              <a:rPr lang="en-US" altLang="ko-KR" dirty="0"/>
              <a:t>/</a:t>
            </a:r>
            <a:r>
              <a:rPr lang="ko-KR" altLang="en-US" dirty="0"/>
              <a:t>사후 상세 </a:t>
            </a:r>
            <a:r>
              <a:rPr lang="en-US" altLang="ko-KR" dirty="0"/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부대조달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/>
              <a:t>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부대조달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MUI-WM-01-M06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" name="그룹 4"/>
          <p:cNvGrpSpPr/>
          <p:nvPr/>
        </p:nvGrpSpPr>
        <p:grpSpPr>
          <a:xfrm>
            <a:off x="803364" y="1527996"/>
            <a:ext cx="2456097" cy="181140"/>
            <a:chOff x="763157" y="1527996"/>
            <a:chExt cx="2456097" cy="181140"/>
          </a:xfrm>
        </p:grpSpPr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3157" y="1527996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첨부파일</a:t>
              </a:r>
            </a:p>
          </p:txBody>
        </p:sp>
        <p:grpSp>
          <p:nvGrpSpPr>
            <p:cNvPr id="129" name="그룹 128"/>
            <p:cNvGrpSpPr/>
            <p:nvPr/>
          </p:nvGrpSpPr>
          <p:grpSpPr>
            <a:xfrm flipV="1">
              <a:off x="3125244" y="1641327"/>
              <a:ext cx="94010" cy="47005"/>
              <a:chOff x="6812560" y="3297172"/>
              <a:chExt cx="94010" cy="47005"/>
            </a:xfrm>
          </p:grpSpPr>
          <p:cxnSp>
            <p:nvCxnSpPr>
              <p:cNvPr id="131" name="직선 연결선 13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8" name="직선 연결선 13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6160" y="1581676"/>
            <a:ext cx="162064" cy="16206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675400" y="1791264"/>
            <a:ext cx="2712026" cy="1339020"/>
            <a:chOff x="4063785" y="1972404"/>
            <a:chExt cx="2712026" cy="1339020"/>
          </a:xfrm>
        </p:grpSpPr>
        <p:grpSp>
          <p:nvGrpSpPr>
            <p:cNvPr id="50" name="그룹 49"/>
            <p:cNvGrpSpPr/>
            <p:nvPr/>
          </p:nvGrpSpPr>
          <p:grpSpPr>
            <a:xfrm>
              <a:off x="4063785" y="1972404"/>
              <a:ext cx="2712026" cy="1339020"/>
              <a:chOff x="3795735" y="3141693"/>
              <a:chExt cx="2712026" cy="1339020"/>
            </a:xfrm>
          </p:grpSpPr>
          <p:sp>
            <p:nvSpPr>
              <p:cNvPr id="54" name="모서리가 둥근 직사각형 53"/>
              <p:cNvSpPr/>
              <p:nvPr/>
            </p:nvSpPr>
            <p:spPr>
              <a:xfrm>
                <a:off x="3831550" y="3276811"/>
                <a:ext cx="2652743" cy="364486"/>
              </a:xfrm>
              <a:prstGeom prst="roundRect">
                <a:avLst>
                  <a:gd name="adj" fmla="val 9062"/>
                </a:avLst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208115" y="3351332"/>
                <a:ext cx="1682738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7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물품제조구매계약서</a:t>
                </a:r>
                <a:endParaRPr lang="en-US" altLang="ko-KR" sz="7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endParaRPr>
              </a:p>
              <a:p>
                <a:r>
                  <a:rPr lang="ko-KR" altLang="en-US" sz="700" dirty="0" err="1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첨부파일명</a:t>
                </a:r>
                <a:r>
                  <a:rPr lang="en-US" altLang="ko-KR" sz="7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.</a:t>
                </a:r>
                <a:r>
                  <a:rPr lang="en-US" altLang="ko-KR" sz="700" dirty="0" err="1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hwp</a:t>
                </a:r>
                <a:endPara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909746" y="3405193"/>
                <a:ext cx="247786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1</a:t>
                </a:r>
                <a:endPara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57" name="타원 56"/>
              <p:cNvSpPr/>
              <p:nvPr/>
            </p:nvSpPr>
            <p:spPr>
              <a:xfrm>
                <a:off x="6240167" y="3387054"/>
                <a:ext cx="144000" cy="1440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8" name="모서리가 둥근 직사각형 57"/>
              <p:cNvSpPr/>
              <p:nvPr/>
            </p:nvSpPr>
            <p:spPr>
              <a:xfrm>
                <a:off x="3831550" y="3683497"/>
                <a:ext cx="2652743" cy="364486"/>
              </a:xfrm>
              <a:prstGeom prst="roundRect">
                <a:avLst>
                  <a:gd name="adj" fmla="val 9062"/>
                </a:avLst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208115" y="3758018"/>
                <a:ext cx="141278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700" dirty="0" err="1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계약명세서</a:t>
                </a:r>
                <a:endParaRPr lang="en-US" altLang="ko-KR" sz="700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endParaRPr>
              </a:p>
              <a:p>
                <a:r>
                  <a:rPr lang="ko-KR" altLang="en-US" sz="700" dirty="0" err="1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첨부파일명이너무길면어떻게</a:t>
                </a:r>
                <a:r>
                  <a:rPr lang="ko-KR" altLang="en-US" sz="7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 노출</a:t>
                </a:r>
                <a:r>
                  <a:rPr lang="en-US" altLang="ko-KR" sz="7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... </a:t>
                </a:r>
                <a:endPara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909746" y="3811879"/>
                <a:ext cx="247786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2</a:t>
                </a:r>
                <a:endPara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61" name="타원 60"/>
              <p:cNvSpPr/>
              <p:nvPr/>
            </p:nvSpPr>
            <p:spPr>
              <a:xfrm>
                <a:off x="6240167" y="3793740"/>
                <a:ext cx="144000" cy="1440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62" name="직선 연결선 61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795735" y="4480713"/>
                <a:ext cx="2712026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332218" y="3141693"/>
                <a:ext cx="474348" cy="9233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600" dirty="0" err="1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첨부파일명</a:t>
                </a:r>
                <a:endParaRPr lang="en-US" altLang="ko-KR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6101185" y="3141693"/>
                <a:ext cx="324968" cy="9233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ko-KR" altLang="en-US" sz="6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다운로드</a:t>
                </a:r>
                <a:endParaRPr lang="en-US" altLang="ko-KR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838314" y="3141693"/>
                <a:ext cx="390650" cy="9233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ko-KR" altLang="en-US" sz="6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번호</a:t>
                </a:r>
                <a:endParaRPr lang="en-US" altLang="ko-KR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endParaRPr>
              </a:p>
            </p:txBody>
          </p:sp>
        </p:grpSp>
        <p:sp>
          <p:nvSpPr>
            <p:cNvPr id="75" name="직사각형 74"/>
            <p:cNvSpPr/>
            <p:nvPr/>
          </p:nvSpPr>
          <p:spPr>
            <a:xfrm>
              <a:off x="5968922" y="2605294"/>
              <a:ext cx="546945" cy="18466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6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[</a:t>
              </a:r>
              <a:r>
                <a:rPr lang="ko-KR" altLang="en-US" sz="6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파일크기</a:t>
              </a:r>
              <a:r>
                <a:rPr lang="en-US" altLang="ko-KR" sz="6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]</a:t>
              </a:r>
            </a:p>
          </p:txBody>
        </p:sp>
        <p:sp>
          <p:nvSpPr>
            <p:cNvPr id="76" name="직사각형 75"/>
            <p:cNvSpPr/>
            <p:nvPr/>
          </p:nvSpPr>
          <p:spPr>
            <a:xfrm>
              <a:off x="5965336" y="2159928"/>
              <a:ext cx="546945" cy="18466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6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[</a:t>
              </a:r>
              <a:r>
                <a:rPr lang="ko-KR" altLang="en-US" sz="6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파일크기</a:t>
              </a:r>
              <a:r>
                <a:rPr lang="en-US" altLang="ko-KR" sz="6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]</a:t>
              </a:r>
            </a:p>
          </p:txBody>
        </p:sp>
      </p:grpSp>
      <p:sp>
        <p:nvSpPr>
          <p:cNvPr id="78" name="타원 7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706853" y="1931251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173895" y="2564032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sp>
        <p:nvSpPr>
          <p:cNvPr id="8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125536" y="5933555"/>
            <a:ext cx="1890323" cy="186790"/>
          </a:xfrm>
          <a:prstGeom prst="roundRect">
            <a:avLst>
              <a:gd name="adj" fmla="val 50000"/>
            </a:avLst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 smtClean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다운로드에 실패했습니다</a:t>
            </a:r>
            <a:r>
              <a:rPr kumimoji="1" lang="en-US" altLang="ko-KR" sz="700" kern="0" dirty="0" smtClean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8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108628" y="5726035"/>
            <a:ext cx="1890323" cy="186790"/>
          </a:xfrm>
          <a:prstGeom prst="roundRect">
            <a:avLst>
              <a:gd name="adj" fmla="val 50000"/>
            </a:avLst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 smtClean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다운로드에 성공했습니다</a:t>
            </a:r>
            <a:r>
              <a:rPr kumimoji="1" lang="en-US" altLang="ko-KR" sz="700" kern="0" dirty="0" smtClean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1053116" y="5837125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48632165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50</a:t>
            </a:fld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B257CD-DFF9-C20A-42B1-86A5BD32A090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(1/2)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947F42-24A6-AC12-410B-185FD576E1C3}"/>
              </a:ext>
            </a:extLst>
          </p:cNvPr>
          <p:cNvSpPr txBox="1"/>
          <p:nvPr/>
        </p:nvSpPr>
        <p:spPr>
          <a:xfrm>
            <a:off x="458117" y="803113"/>
            <a:ext cx="225278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계약정보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dmt_ctrtInfo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0D7D7297-5C46-7078-D2CB-A9F2A55503A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359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30090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계약번호</a:t>
                      </a:r>
                      <a:r>
                        <a:rPr lang="en-US" altLang="ko-KR" sz="800" dirty="0">
                          <a:latin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</a:rPr>
                        <a:t>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</a:rPr>
                        <a:t>계약명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7478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aplyYmd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신청일자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-mm-dd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1983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계약금액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244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대금신청번호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birqNo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대금신청번호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08707300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B6FF90CD-D44A-772D-5AAF-1061FC3E2661}"/>
              </a:ext>
            </a:extLst>
          </p:cNvPr>
          <p:cNvSpPr txBox="1"/>
          <p:nvPr/>
        </p:nvSpPr>
        <p:spPr>
          <a:xfrm>
            <a:off x="458117" y="2374242"/>
            <a:ext cx="316169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대금신청대상목록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dlt_pymtAplyTrgtList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D5D6353D-3F6D-611B-EA75-CF444460DF17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585445"/>
          <a:ext cx="8994883" cy="1867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359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30090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통지번호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avtsmtNo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일자구분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조서발행번호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recrdPblcnNo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세액여부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94984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합격일자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rcpmDt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납품금액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-mm-dd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783233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납품일자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dlvgdsYmd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공급가액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-mm-dd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97670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bgtCd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세액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UZ03</a:t>
                      </a:r>
                    </a:p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전년국채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본조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당년국체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579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납품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dlvgdsAmt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납품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19902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감액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ctbkAmt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공급가액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2887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지체상금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lqdmg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세액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7244463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530B8E2E-00BE-BADA-87DB-E8B83D44B4A0}"/>
              </a:ext>
            </a:extLst>
          </p:cNvPr>
          <p:cNvSpPr txBox="1"/>
          <p:nvPr/>
        </p:nvSpPr>
        <p:spPr>
          <a:xfrm>
            <a:off x="458117" y="4608773"/>
            <a:ext cx="341015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대금신청업체정보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dmt_pymtAplyBzentyInfo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BC36CD16-3261-893C-33B1-952BDA63F539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4819976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359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30090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bzentyNm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상호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rprsvNm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</a:rPr>
                        <a:t>대표명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94984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청구인성명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clmtNm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청구인성명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783233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연락처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clmtTelno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연락처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97670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bzentyAddr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주소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+mn-ea"/>
                          <a:ea typeface="+mn-ea"/>
                        </a:rPr>
                        <a:t>120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9019130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4D6CFD2F-4DC0-741E-BC14-138D4D7E43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876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2324629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51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33490B-4478-F735-A295-62F7CD63369D}"/>
              </a:ext>
            </a:extLst>
          </p:cNvPr>
          <p:cNvSpPr txBox="1"/>
          <p:nvPr/>
        </p:nvSpPr>
        <p:spPr>
          <a:xfrm>
            <a:off x="458117" y="803113"/>
            <a:ext cx="303986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1.4. </a:t>
            </a:r>
            <a:r>
              <a:rPr lang="ko-KR" altLang="en-US" sz="900" b="1" dirty="0">
                <a:solidFill>
                  <a:prstClr val="black"/>
                </a:solidFill>
              </a:rPr>
              <a:t>대금신청금액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dmt_pymtAplyAmtInfo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E5540156-D732-C40F-C9B7-89B56D016403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25209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359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30090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지급구분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giveSecd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지급구분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EPNC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세액여부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vatSecd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세액여부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VATA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012454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납품금액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dlvgdsAmt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납품금액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6291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공급가액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splyEqvl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공급가액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65028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세액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vatAmt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세액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71064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공제금액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ddcAmt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공제금액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44754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공급가액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ddcAmt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공급가액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8305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세액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txamtDdcAmt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세액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03398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공제내역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ddcDsctnNm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공제내역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34180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실지급금액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giveClmAmt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실지급금액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62779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신고부분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cfmtnYn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신고부분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 :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확정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2 :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미확정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353296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birqRmrkCn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4824845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421C4003-76ED-06D6-7598-4607A5689329}"/>
              </a:ext>
            </a:extLst>
          </p:cNvPr>
          <p:cNvSpPr txBox="1"/>
          <p:nvPr/>
        </p:nvSpPr>
        <p:spPr>
          <a:xfrm>
            <a:off x="458117" y="3641739"/>
            <a:ext cx="222072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1.5. </a:t>
            </a:r>
            <a:r>
              <a:rPr lang="ko-KR" altLang="en-US" sz="900" b="1" dirty="0">
                <a:solidFill>
                  <a:prstClr val="black"/>
                </a:solidFill>
              </a:rPr>
              <a:t>첨부서류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dlt_adocList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F6E19429-B9EE-3086-F85C-8D422E1AAC5F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3852942"/>
          <a:ext cx="8994883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359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30090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첨부서류명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docNm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첨부서류명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fileNm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03398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파일크기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fileSize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파일크기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103447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C55AFAB6-A1E3-0681-D91C-DD3EB4FE06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876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050219-680A-6FD4-592F-C671CBA010BC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(2/2)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6540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52</a:t>
            </a:fld>
            <a:endParaRPr lang="ko-KR" altLang="en-US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C69890D6-BEE5-DDAF-C6C1-19EF9FF5AD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0247406"/>
              </p:ext>
            </p:extLst>
          </p:nvPr>
        </p:nvGraphicFramePr>
        <p:xfrm>
          <a:off x="453000" y="1050944"/>
          <a:ext cx="8995591" cy="825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3103963203"/>
                    </a:ext>
                  </a:extLst>
                </a:gridCol>
                <a:gridCol w="37029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4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공통코드정보를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페이지 로딩 시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en-US" sz="800" dirty="0"/>
                        <a:t>계약 정보를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인쇄 클릭 이벤트</a:t>
                      </a:r>
                      <a:endParaRPr lang="en-US" altLang="ko-KR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scwin.btn_print_onclick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대금청구서를 출력한다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(UI-WM-01-R31)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대금청구신청서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 (UI-WM-01-R32)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대금청구신청서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242596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D6F3B62-1B8D-DA6D-119E-CFA240CD0032}"/>
              </a:ext>
            </a:extLst>
          </p:cNvPr>
          <p:cNvSpPr txBox="1"/>
          <p:nvPr/>
        </p:nvSpPr>
        <p:spPr>
          <a:xfrm>
            <a:off x="458117" y="760911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5" name="Text Box 73">
            <a:extLst>
              <a:ext uri="{FF2B5EF4-FFF2-40B4-BE49-F238E27FC236}">
                <a16:creationId xmlns:a16="http://schemas.microsoft.com/office/drawing/2014/main" id="{7D6E6027-667C-05A1-A04E-9C98E44C99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82802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5218751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53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공사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대금</a:t>
            </a:r>
            <a:r>
              <a:rPr lang="en-US" altLang="ko-KR" dirty="0"/>
              <a:t>/</a:t>
            </a:r>
            <a:r>
              <a:rPr lang="ko-KR" altLang="en-US" dirty="0"/>
              <a:t>사후 상세 </a:t>
            </a:r>
            <a:r>
              <a:rPr lang="en-US" altLang="ko-KR" dirty="0"/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공사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/>
              <a:t>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공사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MUI-WM-01-M07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err="1">
                <a:latin typeface="+mn-ea"/>
              </a:rPr>
              <a:t>대금청구</a:t>
            </a:r>
            <a:r>
              <a:rPr lang="ko-KR" altLang="en-US" sz="800" dirty="0">
                <a:latin typeface="+mn-ea"/>
              </a:rPr>
              <a:t> </a:t>
            </a:r>
            <a:r>
              <a:rPr lang="ko-KR" altLang="en-US" sz="800" dirty="0" err="1">
                <a:latin typeface="+mn-ea"/>
              </a:rPr>
              <a:t>상세조회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81461" y="2462389"/>
            <a:ext cx="247325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 err="1"/>
              <a:t>계약번호</a:t>
            </a:r>
            <a:r>
              <a:rPr lang="ko-KR" altLang="en-US" sz="700" dirty="0"/>
              <a:t> </a:t>
            </a:r>
            <a:r>
              <a:rPr lang="en-US" altLang="ko-KR" sz="700" dirty="0"/>
              <a:t>2025000000 - 01</a:t>
            </a:r>
          </a:p>
          <a:p>
            <a:r>
              <a:rPr lang="en-US" altLang="ko-KR" sz="900" b="1" dirty="0"/>
              <a:t>000000 </a:t>
            </a:r>
            <a:r>
              <a:rPr lang="ko-KR" altLang="en-US" sz="900" b="1" dirty="0"/>
              <a:t>공사</a:t>
            </a:r>
          </a:p>
        </p:txBody>
      </p:sp>
      <p:sp>
        <p:nvSpPr>
          <p:cNvPr id="56" name="TextBox 59">
            <a:extLst>
              <a:ext uri="{FF2B5EF4-FFF2-40B4-BE49-F238E27FC236}">
                <a16:creationId xmlns:a16="http://schemas.microsoft.com/office/drawing/2014/main" id="{F77C802D-3BC8-270F-87FC-5F442BD8054D}"/>
              </a:ext>
            </a:extLst>
          </p:cNvPr>
          <p:cNvSpPr txBox="1"/>
          <p:nvPr/>
        </p:nvSpPr>
        <p:spPr>
          <a:xfrm>
            <a:off x="781461" y="2797454"/>
            <a:ext cx="307777" cy="39767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sz="600" dirty="0" err="1">
                <a:latin typeface="+mn-ea"/>
              </a:rPr>
              <a:t>계약일자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발주기관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계약금액</a:t>
            </a:r>
            <a:endParaRPr lang="en-US" altLang="ko-KR" sz="600" dirty="0">
              <a:latin typeface="+mn-ea"/>
            </a:endParaRPr>
          </a:p>
        </p:txBody>
      </p:sp>
      <p:sp>
        <p:nvSpPr>
          <p:cNvPr id="57" name="TextBox 60">
            <a:extLst>
              <a:ext uri="{FF2B5EF4-FFF2-40B4-BE49-F238E27FC236}">
                <a16:creationId xmlns:a16="http://schemas.microsoft.com/office/drawing/2014/main" id="{8F5E3227-69E6-C89F-B8C5-534226E95EA8}"/>
              </a:ext>
            </a:extLst>
          </p:cNvPr>
          <p:cNvSpPr txBox="1"/>
          <p:nvPr/>
        </p:nvSpPr>
        <p:spPr>
          <a:xfrm>
            <a:off x="2596303" y="2782065"/>
            <a:ext cx="472886" cy="39767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2026-02-10</a:t>
            </a:r>
          </a:p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제</a:t>
            </a:r>
            <a:r>
              <a:rPr lang="en-US" altLang="ko-KR" sz="600" dirty="0">
                <a:latin typeface="+mn-ea"/>
              </a:rPr>
              <a:t>8385</a:t>
            </a:r>
            <a:r>
              <a:rPr lang="ko-KR" altLang="en-US" sz="600" dirty="0">
                <a:latin typeface="+mn-ea"/>
              </a:rPr>
              <a:t>부대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11,616,000 </a:t>
            </a:r>
            <a:r>
              <a:rPr lang="ko-KR" altLang="en-US" sz="600" dirty="0">
                <a:latin typeface="+mn-ea"/>
              </a:rPr>
              <a:t>원</a:t>
            </a:r>
            <a:endParaRPr lang="en-US" altLang="ko-KR" sz="600" dirty="0">
              <a:latin typeface="+mn-ea"/>
            </a:endParaRPr>
          </a:p>
        </p:txBody>
      </p:sp>
      <p:sp>
        <p:nvSpPr>
          <p:cNvPr id="67" name="모서리가 둥근 직사각형 66"/>
          <p:cNvSpPr/>
          <p:nvPr/>
        </p:nvSpPr>
        <p:spPr>
          <a:xfrm>
            <a:off x="781461" y="227805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공사</a:t>
            </a:r>
          </a:p>
        </p:txBody>
      </p:sp>
      <p:sp>
        <p:nvSpPr>
          <p:cNvPr id="68" name="모서리가 둥근 직사각형 67"/>
          <p:cNvSpPr/>
          <p:nvPr/>
        </p:nvSpPr>
        <p:spPr>
          <a:xfrm>
            <a:off x="1075655" y="2278058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수의계약</a:t>
            </a:r>
          </a:p>
        </p:txBody>
      </p: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66319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00442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3696944"/>
            <a:ext cx="45225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공지사항</a:t>
            </a:r>
          </a:p>
        </p:txBody>
      </p:sp>
      <p:sp>
        <p:nvSpPr>
          <p:cNvPr id="129" name="타원 128"/>
          <p:cNvSpPr/>
          <p:nvPr/>
        </p:nvSpPr>
        <p:spPr>
          <a:xfrm>
            <a:off x="783686" y="3728289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0" name="그룹 129"/>
          <p:cNvGrpSpPr/>
          <p:nvPr/>
        </p:nvGrpSpPr>
        <p:grpSpPr>
          <a:xfrm>
            <a:off x="3143548" y="3810275"/>
            <a:ext cx="94010" cy="47005"/>
            <a:chOff x="6812560" y="3297172"/>
            <a:chExt cx="94010" cy="47005"/>
          </a:xfrm>
        </p:grpSpPr>
        <p:cxnSp>
          <p:nvCxnSpPr>
            <p:cNvPr id="131" name="직선 연결선 13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2" name="직선 연결선 13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35884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358842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8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3884993" y="1786672"/>
            <a:ext cx="247325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 err="1"/>
              <a:t>계약번호</a:t>
            </a:r>
            <a:r>
              <a:rPr lang="ko-KR" altLang="en-US" sz="700" dirty="0"/>
              <a:t> </a:t>
            </a:r>
            <a:r>
              <a:rPr lang="en-US" altLang="ko-KR" sz="700" dirty="0"/>
              <a:t>2025000000 - 01</a:t>
            </a:r>
          </a:p>
          <a:p>
            <a:r>
              <a:rPr lang="en-US" altLang="ko-KR" sz="900" b="1" dirty="0"/>
              <a:t>000000 </a:t>
            </a:r>
            <a:r>
              <a:rPr lang="ko-KR" altLang="en-US" sz="900" b="1" dirty="0"/>
              <a:t>공사</a:t>
            </a:r>
          </a:p>
        </p:txBody>
      </p:sp>
      <p:sp>
        <p:nvSpPr>
          <p:cNvPr id="191" name="모서리가 둥근 직사각형 190"/>
          <p:cNvSpPr/>
          <p:nvPr/>
        </p:nvSpPr>
        <p:spPr>
          <a:xfrm>
            <a:off x="3884993" y="1602341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공사</a:t>
            </a:r>
          </a:p>
        </p:txBody>
      </p:sp>
      <p:sp>
        <p:nvSpPr>
          <p:cNvPr id="192" name="모서리가 둥근 직사각형 191"/>
          <p:cNvSpPr/>
          <p:nvPr/>
        </p:nvSpPr>
        <p:spPr>
          <a:xfrm>
            <a:off x="4179187" y="1602341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수의계약</a:t>
            </a:r>
          </a:p>
        </p:txBody>
      </p:sp>
      <p:cxnSp>
        <p:nvCxnSpPr>
          <p:cNvPr id="193" name="직선 연결선 19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211123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3" name="직선 연결선 20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4022" y="246721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8" name="직선 연결선 20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4022" y="2467219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95" name="직선 연결선 29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30551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7" name="모서리가 둥근 직사각형 336"/>
          <p:cNvSpPr/>
          <p:nvPr/>
        </p:nvSpPr>
        <p:spPr>
          <a:xfrm>
            <a:off x="781461" y="1944348"/>
            <a:ext cx="243478" cy="119400"/>
          </a:xfrm>
          <a:prstGeom prst="roundRect">
            <a:avLst>
              <a:gd name="adj" fmla="val 23409"/>
            </a:avLst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>
                <a:solidFill>
                  <a:srgbClr val="FF0000"/>
                </a:solidFill>
              </a:rPr>
              <a:t>중요</a:t>
            </a:r>
            <a:endParaRPr lang="ko-KR" altLang="en-US" sz="600" dirty="0">
              <a:solidFill>
                <a:srgbClr val="FF0000"/>
              </a:solidFill>
            </a:endParaRPr>
          </a:p>
        </p:txBody>
      </p:sp>
      <p:sp>
        <p:nvSpPr>
          <p:cNvPr id="338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1082843" y="1950187"/>
            <a:ext cx="220200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700" dirty="0">
                <a:solidFill>
                  <a:prstClr val="black"/>
                </a:solidFill>
              </a:rPr>
              <a:t>대금 신청</a:t>
            </a:r>
            <a:r>
              <a:rPr lang="en-US" altLang="ko-KR" sz="700" dirty="0">
                <a:solidFill>
                  <a:prstClr val="black"/>
                </a:solidFill>
              </a:rPr>
              <a:t>, </a:t>
            </a:r>
            <a:r>
              <a:rPr lang="ko-KR" altLang="en-US" sz="700" dirty="0">
                <a:solidFill>
                  <a:prstClr val="black"/>
                </a:solidFill>
              </a:rPr>
              <a:t>청구는 </a:t>
            </a:r>
            <a:r>
              <a:rPr lang="en-US" altLang="ko-KR" sz="700" dirty="0">
                <a:solidFill>
                  <a:prstClr val="black"/>
                </a:solidFill>
              </a:rPr>
              <a:t>PC </a:t>
            </a:r>
            <a:r>
              <a:rPr lang="ko-KR" altLang="en-US" sz="700" dirty="0">
                <a:solidFill>
                  <a:prstClr val="black"/>
                </a:solidFill>
              </a:rPr>
              <a:t>버전에서 가능합니다</a:t>
            </a:r>
            <a:r>
              <a:rPr lang="en-US" altLang="ko-KR" sz="700" dirty="0">
                <a:solidFill>
                  <a:prstClr val="black"/>
                </a:solidFill>
              </a:rPr>
              <a:t>.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cxnSp>
        <p:nvCxnSpPr>
          <p:cNvPr id="340" name="직선 연결선 33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15091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2" name="TextBox 25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7672" y="2540391"/>
            <a:ext cx="84376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비고</a:t>
            </a:r>
          </a:p>
        </p:txBody>
      </p:sp>
      <p:grpSp>
        <p:nvGrpSpPr>
          <p:cNvPr id="159" name="그룹 158"/>
          <p:cNvGrpSpPr/>
          <p:nvPr/>
        </p:nvGrpSpPr>
        <p:grpSpPr>
          <a:xfrm flipV="1">
            <a:off x="6259759" y="2599744"/>
            <a:ext cx="94010" cy="47005"/>
            <a:chOff x="6812560" y="3297172"/>
            <a:chExt cx="94010" cy="47005"/>
          </a:xfrm>
        </p:grpSpPr>
        <p:cxnSp>
          <p:nvCxnSpPr>
            <p:cNvPr id="160" name="직선 연결선 159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1" name="직선 연결선 16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" name="그룹 7"/>
          <p:cNvGrpSpPr/>
          <p:nvPr/>
        </p:nvGrpSpPr>
        <p:grpSpPr>
          <a:xfrm>
            <a:off x="720490" y="4465173"/>
            <a:ext cx="2630093" cy="1815590"/>
            <a:chOff x="720490" y="4465173"/>
            <a:chExt cx="2630093" cy="1815590"/>
          </a:xfrm>
        </p:grpSpPr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07" name="그룹 106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108" name="직선 연결선 10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9" name="직선 연결선 10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" name="직사각형 15"/>
            <p:cNvSpPr/>
            <p:nvPr/>
          </p:nvSpPr>
          <p:spPr>
            <a:xfrm>
              <a:off x="722583" y="4772657"/>
              <a:ext cx="792000" cy="145964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670770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공사기간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업체명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대표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검사일자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지급구분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계약금액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원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기성금액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원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2025 0000 00 - 01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2026-01-30 ~ 2026-12-30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2026-01-30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15" name="직선 연결선 1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6" name="직선 연결선 11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7" name="직선 연결선 11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0" name="직선 연결선 16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8" name="직선 연결선 14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4081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6048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156" name="모서리가 둥근 직사각형 155"/>
          <p:cNvSpPr/>
          <p:nvPr/>
        </p:nvSpPr>
        <p:spPr>
          <a:xfrm>
            <a:off x="1522790" y="2278058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대금청구</a:t>
            </a:r>
            <a:endParaRPr lang="ko-KR" altLang="en-US" sz="600" dirty="0"/>
          </a:p>
        </p:txBody>
      </p:sp>
      <p:sp>
        <p:nvSpPr>
          <p:cNvPr id="163" name="모서리가 둥근 직사각형 162"/>
          <p:cNvSpPr/>
          <p:nvPr/>
        </p:nvSpPr>
        <p:spPr>
          <a:xfrm>
            <a:off x="4626322" y="1602341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대금청구</a:t>
            </a:r>
            <a:endParaRPr lang="ko-KR" altLang="en-US" sz="600" dirty="0"/>
          </a:p>
        </p:txBody>
      </p:sp>
      <p:grpSp>
        <p:nvGrpSpPr>
          <p:cNvPr id="5" name="그룹 4"/>
          <p:cNvGrpSpPr/>
          <p:nvPr/>
        </p:nvGrpSpPr>
        <p:grpSpPr>
          <a:xfrm>
            <a:off x="764169" y="4142235"/>
            <a:ext cx="1636582" cy="107722"/>
            <a:chOff x="764169" y="4142235"/>
            <a:chExt cx="1636582" cy="107722"/>
          </a:xfrm>
        </p:grpSpPr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4169" y="4142235"/>
              <a:ext cx="3597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 err="1">
                  <a:latin typeface="+mn-ea"/>
                </a:rPr>
                <a:t>계약정보</a:t>
              </a:r>
              <a:endParaRPr lang="ko-KR" altLang="en-US" sz="700" b="1" dirty="0">
                <a:latin typeface="+mn-ea"/>
              </a:endParaRP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302043" y="4142235"/>
              <a:ext cx="55644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대가지급업체</a:t>
              </a:r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036583" y="4142235"/>
              <a:ext cx="36416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첨부파일</a:t>
              </a:r>
            </a:p>
          </p:txBody>
        </p: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3316" y="5274274"/>
            <a:ext cx="76863" cy="292489"/>
            <a:chOff x="3750067" y="4683795"/>
            <a:chExt cx="76863" cy="292489"/>
          </a:xfrm>
        </p:grpSpPr>
        <p:sp>
          <p:nvSpPr>
            <p:cNvPr id="176" name="타원 175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77" name="타원 176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78" name="타원 177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209" name="그룹 208"/>
          <p:cNvGrpSpPr/>
          <p:nvPr/>
        </p:nvGrpSpPr>
        <p:grpSpPr>
          <a:xfrm>
            <a:off x="6027618" y="2212489"/>
            <a:ext cx="422853" cy="187961"/>
            <a:chOff x="3641308" y="2234886"/>
            <a:chExt cx="422853" cy="187961"/>
          </a:xfrm>
        </p:grpSpPr>
        <p:sp>
          <p:nvSpPr>
            <p:cNvPr id="210" name="타원 209"/>
            <p:cNvSpPr/>
            <p:nvPr/>
          </p:nvSpPr>
          <p:spPr>
            <a:xfrm flipH="1">
              <a:off x="3641308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11" name="그룹 210"/>
            <p:cNvGrpSpPr/>
            <p:nvPr/>
          </p:nvGrpSpPr>
          <p:grpSpPr>
            <a:xfrm rot="5400000" flipH="1">
              <a:off x="3679895" y="2305364"/>
              <a:ext cx="94010" cy="47005"/>
              <a:chOff x="6812560" y="3297172"/>
              <a:chExt cx="94010" cy="47005"/>
            </a:xfrm>
          </p:grpSpPr>
          <p:cxnSp>
            <p:nvCxnSpPr>
              <p:cNvPr id="216" name="직선 연결선 215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7" name="직선 연결선 216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12" name="타원 211"/>
            <p:cNvSpPr/>
            <p:nvPr/>
          </p:nvSpPr>
          <p:spPr>
            <a:xfrm>
              <a:off x="3876200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13" name="그룹 212"/>
            <p:cNvGrpSpPr/>
            <p:nvPr/>
          </p:nvGrpSpPr>
          <p:grpSpPr>
            <a:xfrm rot="16200000">
              <a:off x="3931564" y="2305364"/>
              <a:ext cx="94010" cy="47005"/>
              <a:chOff x="6812560" y="3297172"/>
              <a:chExt cx="94010" cy="47005"/>
            </a:xfrm>
          </p:grpSpPr>
          <p:cxnSp>
            <p:nvCxnSpPr>
              <p:cNvPr id="214" name="직선 연결선 21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5" name="직선 연결선 21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7" name="그룹 6"/>
          <p:cNvGrpSpPr/>
          <p:nvPr/>
        </p:nvGrpSpPr>
        <p:grpSpPr>
          <a:xfrm>
            <a:off x="2924086" y="4104112"/>
            <a:ext cx="422853" cy="187961"/>
            <a:chOff x="3641308" y="2234886"/>
            <a:chExt cx="422853" cy="187961"/>
          </a:xfrm>
        </p:grpSpPr>
        <p:sp>
          <p:nvSpPr>
            <p:cNvPr id="88" name="타원 87"/>
            <p:cNvSpPr/>
            <p:nvPr/>
          </p:nvSpPr>
          <p:spPr>
            <a:xfrm flipH="1">
              <a:off x="3641308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3" name="그룹 92"/>
            <p:cNvGrpSpPr/>
            <p:nvPr/>
          </p:nvGrpSpPr>
          <p:grpSpPr>
            <a:xfrm rot="5400000" flipH="1">
              <a:off x="3679895" y="2305364"/>
              <a:ext cx="94010" cy="47005"/>
              <a:chOff x="6812560" y="3297172"/>
              <a:chExt cx="94010" cy="47005"/>
            </a:xfrm>
          </p:grpSpPr>
          <p:cxnSp>
            <p:nvCxnSpPr>
              <p:cNvPr id="94" name="직선 연결선 9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직선 연결선 9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7" name="타원 96"/>
            <p:cNvSpPr/>
            <p:nvPr/>
          </p:nvSpPr>
          <p:spPr>
            <a:xfrm>
              <a:off x="3876200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8" name="그룹 97"/>
            <p:cNvGrpSpPr/>
            <p:nvPr/>
          </p:nvGrpSpPr>
          <p:grpSpPr>
            <a:xfrm rot="16200000">
              <a:off x="3931564" y="2305364"/>
              <a:ext cx="94010" cy="47005"/>
              <a:chOff x="6812560" y="3297172"/>
              <a:chExt cx="94010" cy="47005"/>
            </a:xfrm>
          </p:grpSpPr>
          <p:cxnSp>
            <p:nvCxnSpPr>
              <p:cNvPr id="99" name="직선 연결선 9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직선 연결선 9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55" name="그룹 154"/>
          <p:cNvGrpSpPr/>
          <p:nvPr/>
        </p:nvGrpSpPr>
        <p:grpSpPr>
          <a:xfrm>
            <a:off x="3869962" y="2251719"/>
            <a:ext cx="1636582" cy="107722"/>
            <a:chOff x="764169" y="4142235"/>
            <a:chExt cx="1636582" cy="107722"/>
          </a:xfrm>
        </p:grpSpPr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4169" y="4142235"/>
              <a:ext cx="3597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 err="1">
                  <a:latin typeface="+mn-ea"/>
                </a:rPr>
                <a:t>계약정보</a:t>
              </a:r>
              <a:endParaRPr lang="ko-KR" altLang="en-US" sz="700" b="1" dirty="0">
                <a:latin typeface="+mn-ea"/>
              </a:endParaRP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302043" y="4142235"/>
              <a:ext cx="55644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대가지급업체</a:t>
              </a:r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036583" y="4142235"/>
              <a:ext cx="36416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첨부파일</a:t>
              </a:r>
            </a:p>
          </p:txBody>
        </p:sp>
      </p:grpSp>
      <p:grpSp>
        <p:nvGrpSpPr>
          <p:cNvPr id="9" name="그룹 8"/>
          <p:cNvGrpSpPr/>
          <p:nvPr/>
        </p:nvGrpSpPr>
        <p:grpSpPr>
          <a:xfrm>
            <a:off x="3795734" y="2803333"/>
            <a:ext cx="2712027" cy="1870733"/>
            <a:chOff x="3783912" y="2803333"/>
            <a:chExt cx="2712027" cy="1870733"/>
          </a:xfrm>
        </p:grpSpPr>
        <p:cxnSp>
          <p:nvCxnSpPr>
            <p:cNvPr id="167" name="직선 연결선 16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83912" y="467406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8844" y="2803333"/>
              <a:ext cx="2532688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1. </a:t>
              </a:r>
              <a:r>
                <a:rPr lang="ko-KR" altLang="en-US" sz="700" dirty="0" err="1">
                  <a:latin typeface="+mn-ea"/>
                </a:rPr>
                <a:t>변경내역</a:t>
              </a:r>
              <a:r>
                <a:rPr lang="ko-KR" altLang="en-US" sz="700" dirty="0">
                  <a:latin typeface="+mn-ea"/>
                </a:rPr>
                <a:t> 표시</a:t>
              </a:r>
            </a:p>
          </p:txBody>
        </p:sp>
      </p:grpSp>
      <p:grpSp>
        <p:nvGrpSpPr>
          <p:cNvPr id="140" name="그룹 139"/>
          <p:cNvGrpSpPr/>
          <p:nvPr/>
        </p:nvGrpSpPr>
        <p:grpSpPr>
          <a:xfrm>
            <a:off x="747925" y="3401909"/>
            <a:ext cx="2599014" cy="187961"/>
            <a:chOff x="747925" y="3393200"/>
            <a:chExt cx="2599014" cy="187961"/>
          </a:xfrm>
        </p:grpSpPr>
        <p:grpSp>
          <p:nvGrpSpPr>
            <p:cNvPr id="141" name="그룹 140"/>
            <p:cNvGrpSpPr/>
            <p:nvPr/>
          </p:nvGrpSpPr>
          <p:grpSpPr>
            <a:xfrm rot="16200000">
              <a:off x="1250697" y="3463679"/>
              <a:ext cx="94010" cy="47005"/>
              <a:chOff x="6812560" y="3297172"/>
              <a:chExt cx="94010" cy="47005"/>
            </a:xfrm>
          </p:grpSpPr>
          <p:cxnSp>
            <p:nvCxnSpPr>
              <p:cNvPr id="205" name="직선 연결선 20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6" name="직선 연결선 20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604170" y="3433319"/>
              <a:ext cx="40086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계약</a:t>
              </a:r>
            </a:p>
          </p:txBody>
        </p:sp>
        <p:sp>
          <p:nvSpPr>
            <p:cNvPr id="143" name="타원 142"/>
            <p:cNvSpPr/>
            <p:nvPr/>
          </p:nvSpPr>
          <p:spPr>
            <a:xfrm>
              <a:off x="1404035" y="3393200"/>
              <a:ext cx="187961" cy="18796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459092" y="3433319"/>
              <a:ext cx="7784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latin typeface="+mn-ea"/>
                </a:rPr>
                <a:t>3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45" name="그룹 144"/>
            <p:cNvGrpSpPr/>
            <p:nvPr/>
          </p:nvGrpSpPr>
          <p:grpSpPr>
            <a:xfrm rot="16200000">
              <a:off x="1906808" y="3463679"/>
              <a:ext cx="94010" cy="47005"/>
              <a:chOff x="6812560" y="3297172"/>
              <a:chExt cx="94010" cy="47005"/>
            </a:xfrm>
          </p:grpSpPr>
          <p:cxnSp>
            <p:nvCxnSpPr>
              <p:cNvPr id="187" name="직선 연결선 18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4" name="직선 연결선 203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6" name="그룹 145"/>
            <p:cNvGrpSpPr/>
            <p:nvPr/>
          </p:nvGrpSpPr>
          <p:grpSpPr>
            <a:xfrm rot="16200000">
              <a:off x="2562920" y="3463679"/>
              <a:ext cx="94010" cy="47005"/>
              <a:chOff x="6812560" y="3297172"/>
              <a:chExt cx="94010" cy="47005"/>
            </a:xfrm>
          </p:grpSpPr>
          <p:cxnSp>
            <p:nvCxnSpPr>
              <p:cNvPr id="181" name="직선 연결선 18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5" name="직선 연결선 18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7" name="타원 146"/>
            <p:cNvSpPr/>
            <p:nvPr/>
          </p:nvSpPr>
          <p:spPr>
            <a:xfrm>
              <a:off x="747925" y="3393200"/>
              <a:ext cx="187961" cy="18796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2982" y="3433319"/>
              <a:ext cx="7784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latin typeface="+mn-ea"/>
                </a:rPr>
                <a:t>2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51350" y="3433319"/>
              <a:ext cx="397576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입찰</a:t>
              </a:r>
            </a:p>
          </p:txBody>
        </p:sp>
        <p:sp>
          <p:nvSpPr>
            <p:cNvPr id="151" name="타원 150"/>
            <p:cNvSpPr/>
            <p:nvPr/>
          </p:nvSpPr>
          <p:spPr>
            <a:xfrm>
              <a:off x="2058749" y="3393200"/>
              <a:ext cx="187961" cy="18796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113806" y="3433319"/>
              <a:ext cx="7784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latin typeface="+mn-ea"/>
                </a:rPr>
                <a:t>4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263899" y="3433319"/>
              <a:ext cx="39864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이행</a:t>
              </a:r>
            </a:p>
          </p:txBody>
        </p:sp>
        <p:sp>
          <p:nvSpPr>
            <p:cNvPr id="154" name="타원 153"/>
            <p:cNvSpPr/>
            <p:nvPr/>
          </p:nvSpPr>
          <p:spPr>
            <a:xfrm>
              <a:off x="2714860" y="3393200"/>
              <a:ext cx="187961" cy="187961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769917" y="3433319"/>
              <a:ext cx="7784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solidFill>
                    <a:schemeClr val="bg1"/>
                  </a:solidFill>
                  <a:latin typeface="+mn-ea"/>
                </a:rPr>
                <a:t>5</a:t>
              </a:r>
              <a:endParaRPr lang="ko-KR" altLang="en-US" sz="7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920010" y="3433319"/>
              <a:ext cx="39864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대금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사후</a:t>
              </a:r>
            </a:p>
          </p:txBody>
        </p:sp>
        <p:grpSp>
          <p:nvGrpSpPr>
            <p:cNvPr id="171" name="그룹 170"/>
            <p:cNvGrpSpPr/>
            <p:nvPr/>
          </p:nvGrpSpPr>
          <p:grpSpPr>
            <a:xfrm rot="5400000">
              <a:off x="3158978" y="3393200"/>
              <a:ext cx="187961" cy="187961"/>
              <a:chOff x="3876200" y="2234886"/>
              <a:chExt cx="187961" cy="187961"/>
            </a:xfrm>
          </p:grpSpPr>
          <p:sp>
            <p:nvSpPr>
              <p:cNvPr id="172" name="타원 171"/>
              <p:cNvSpPr/>
              <p:nvPr/>
            </p:nvSpPr>
            <p:spPr>
              <a:xfrm>
                <a:off x="3876200" y="2234886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73" name="그룹 172"/>
              <p:cNvGrpSpPr/>
              <p:nvPr/>
            </p:nvGrpSpPr>
            <p:grpSpPr>
              <a:xfrm rot="16200000">
                <a:off x="3931564" y="2305364"/>
                <a:ext cx="94010" cy="47005"/>
                <a:chOff x="6812560" y="3297172"/>
                <a:chExt cx="94010" cy="47005"/>
              </a:xfrm>
            </p:grpSpPr>
            <p:cxnSp>
              <p:nvCxnSpPr>
                <p:cNvPr id="179" name="직선 연결선 178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0" name="직선 연결선 179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183" name="타원 18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867770" y="519730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  <p:sp>
        <p:nvSpPr>
          <p:cNvPr id="184" name="타원 18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14618" y="220237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1</a:t>
            </a:r>
            <a:endParaRPr lang="ko-KR" altLang="en-US" sz="900" b="1" dirty="0"/>
          </a:p>
        </p:txBody>
      </p:sp>
      <p:sp>
        <p:nvSpPr>
          <p:cNvPr id="186" name="타원 18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12057" y="388431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sp>
        <p:nvSpPr>
          <p:cNvPr id="189" name="타원 18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12057" y="426206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sp>
        <p:nvSpPr>
          <p:cNvPr id="190" name="타원 18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12057" y="465186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  <p:sp>
        <p:nvSpPr>
          <p:cNvPr id="194" name="타원 19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737073" y="238888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 b="1" dirty="0" smtClean="0"/>
              <a:t>1-1</a:t>
            </a:r>
            <a:endParaRPr lang="ko-KR" altLang="en-US" sz="600" b="1" dirty="0"/>
          </a:p>
        </p:txBody>
      </p:sp>
      <p:sp>
        <p:nvSpPr>
          <p:cNvPr id="195" name="타원 19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1799111" y="253568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 b="1" dirty="0" smtClean="0"/>
              <a:t>1-2</a:t>
            </a:r>
            <a:endParaRPr lang="ko-KR" altLang="en-US" sz="600" b="1" dirty="0"/>
          </a:p>
        </p:txBody>
      </p:sp>
      <p:sp>
        <p:nvSpPr>
          <p:cNvPr id="196" name="타원 19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736599" y="275612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 b="1" dirty="0" smtClean="0"/>
              <a:t>1-3</a:t>
            </a:r>
            <a:endParaRPr lang="ko-KR" altLang="en-US" sz="600" b="1" dirty="0"/>
          </a:p>
        </p:txBody>
      </p:sp>
      <p:sp>
        <p:nvSpPr>
          <p:cNvPr id="3" name="직사각형 2"/>
          <p:cNvSpPr/>
          <p:nvPr/>
        </p:nvSpPr>
        <p:spPr>
          <a:xfrm>
            <a:off x="7079729" y="5991496"/>
            <a:ext cx="2378480" cy="198937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fontAlgn="ctr"/>
            <a:r>
              <a:rPr lang="en-US" altLang="ko-KR" sz="500" b="1" dirty="0" smtClean="0">
                <a:solidFill>
                  <a:schemeClr val="bg1"/>
                </a:solidFill>
              </a:rPr>
              <a:t>0706) </a:t>
            </a:r>
            <a:r>
              <a:rPr lang="ko-KR" altLang="ko-KR" sz="500" b="1" dirty="0" err="1" smtClean="0">
                <a:solidFill>
                  <a:schemeClr val="bg1"/>
                </a:solidFill>
              </a:rPr>
              <a:t>지급구분</a:t>
            </a:r>
            <a:r>
              <a:rPr lang="en-US" altLang="ko-KR" sz="500" b="1" dirty="0" smtClean="0">
                <a:solidFill>
                  <a:schemeClr val="bg1"/>
                </a:solidFill>
              </a:rPr>
              <a:t>, </a:t>
            </a:r>
            <a:r>
              <a:rPr lang="ko-KR" altLang="ko-KR" sz="500" b="1" dirty="0" smtClean="0">
                <a:solidFill>
                  <a:schemeClr val="bg1"/>
                </a:solidFill>
              </a:rPr>
              <a:t>신청금액</a:t>
            </a:r>
            <a:r>
              <a:rPr lang="en-US" altLang="ko-KR" sz="500" b="1" dirty="0" smtClean="0">
                <a:solidFill>
                  <a:schemeClr val="bg1"/>
                </a:solidFill>
              </a:rPr>
              <a:t> </a:t>
            </a:r>
            <a:r>
              <a:rPr lang="ko-KR" altLang="en-US" sz="500" b="1" dirty="0" smtClean="0">
                <a:solidFill>
                  <a:schemeClr val="bg1"/>
                </a:solidFill>
              </a:rPr>
              <a:t>누락</a:t>
            </a:r>
            <a:endParaRPr lang="ko-KR" altLang="ko-KR" sz="500" dirty="0">
              <a:solidFill>
                <a:schemeClr val="bg1"/>
              </a:solidFill>
            </a:endParaRPr>
          </a:p>
        </p:txBody>
      </p:sp>
      <p:sp>
        <p:nvSpPr>
          <p:cNvPr id="198" name="텍스트 개체 틀 2"/>
          <p:cNvSpPr txBox="1">
            <a:spLocks/>
          </p:cNvSpPr>
          <p:nvPr/>
        </p:nvSpPr>
        <p:spPr>
          <a:xfrm>
            <a:off x="7068896" y="1475995"/>
            <a:ext cx="2300284" cy="4981517"/>
          </a:xfrm>
          <a:prstGeom prst="rect">
            <a:avLst/>
          </a:prstGeom>
        </p:spPr>
        <p:txBody>
          <a:bodyPr/>
          <a:lstStyle>
            <a:lvl1pPr marL="87313" indent="-87313" algn="l" defTabSz="914400" rtl="0" eaLnBrk="1" latinLnBrk="1" hangingPunct="1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Char char="•"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타이틀 영역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1-1] </a:t>
            </a:r>
            <a:r>
              <a:rPr lang="ko-KR" altLang="en-US" dirty="0" smtClean="0"/>
              <a:t>레이블이 화면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화면 넘치는 경우 드래그하여 확인 가능 </a:t>
            </a:r>
            <a:r>
              <a:rPr lang="en-US" altLang="ko-KR" dirty="0" smtClean="0"/>
              <a:t>(</a:t>
            </a:r>
            <a:r>
              <a:rPr lang="ko-KR" altLang="en-US" dirty="0" err="1" smtClean="0"/>
              <a:t>스와이프기능</a:t>
            </a:r>
            <a:r>
              <a:rPr lang="ko-KR" altLang="en-US" dirty="0" smtClean="0"/>
              <a:t> 반영 필요</a:t>
            </a:r>
            <a:r>
              <a:rPr lang="en-US" altLang="ko-KR" dirty="0" smtClean="0"/>
              <a:t>)</a:t>
            </a:r>
            <a:br>
              <a:rPr lang="en-US" altLang="ko-KR" dirty="0" smtClean="0"/>
            </a:br>
            <a:r>
              <a:rPr lang="en-US" altLang="ko-KR" dirty="0" smtClean="0"/>
              <a:t>1-2] </a:t>
            </a:r>
            <a:r>
              <a:rPr lang="ko-KR" altLang="en-US" dirty="0" smtClean="0"/>
              <a:t>문서 정보 영역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err="1" smtClean="0"/>
              <a:t>판단번호</a:t>
            </a:r>
            <a:r>
              <a:rPr lang="ko-KR" altLang="en-US" dirty="0" smtClean="0"/>
              <a:t> </a:t>
            </a:r>
            <a:r>
              <a:rPr lang="en-US" altLang="ko-KR" dirty="0" smtClean="0"/>
              <a:t>,  </a:t>
            </a:r>
            <a:r>
              <a:rPr lang="ko-KR" altLang="en-US" dirty="0" err="1" smtClean="0"/>
              <a:t>계약번호</a:t>
            </a:r>
            <a:r>
              <a:rPr lang="ko-KR" altLang="en-US" dirty="0" smtClean="0"/>
              <a:t> 노출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err="1" smtClean="0"/>
              <a:t>판단번호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전체노출</a:t>
            </a:r>
            <a:r>
              <a:rPr lang="ko-KR" altLang="en-US" dirty="0" smtClean="0"/>
              <a:t> </a:t>
            </a:r>
            <a:r>
              <a:rPr lang="en-US" altLang="ko-KR" dirty="0" smtClean="0"/>
              <a:t>/ </a:t>
            </a:r>
            <a:r>
              <a:rPr lang="ko-KR" altLang="en-US" dirty="0" err="1" smtClean="0"/>
              <a:t>계약번호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노출시</a:t>
            </a:r>
            <a:r>
              <a:rPr lang="ko-KR" altLang="en-US" dirty="0" smtClean="0"/>
              <a:t> 해당 라인을 넘어가면 </a:t>
            </a:r>
            <a:r>
              <a:rPr lang="en-US" altLang="ko-KR" dirty="0" smtClean="0"/>
              <a:t>(…) </a:t>
            </a:r>
            <a:r>
              <a:rPr lang="ko-KR" altLang="en-US" dirty="0" err="1" smtClean="0"/>
              <a:t>말줄임</a:t>
            </a:r>
            <a:r>
              <a:rPr lang="ko-KR" altLang="en-US" dirty="0" smtClean="0"/>
              <a:t>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1-3] </a:t>
            </a:r>
            <a:r>
              <a:rPr lang="ko-KR" altLang="en-US" dirty="0" smtClean="0"/>
              <a:t>문서 제목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제목은 </a:t>
            </a:r>
            <a:r>
              <a:rPr lang="en-US" altLang="ko-KR" dirty="0" smtClean="0"/>
              <a:t>2</a:t>
            </a:r>
            <a:r>
              <a:rPr lang="ko-KR" altLang="en-US" dirty="0" smtClean="0"/>
              <a:t>줄 까지 노출 이후</a:t>
            </a:r>
            <a:r>
              <a:rPr lang="en-US" altLang="ko-KR" dirty="0" smtClean="0"/>
              <a:t>(…) </a:t>
            </a:r>
            <a:r>
              <a:rPr lang="ko-KR" altLang="en-US" dirty="0" err="1" smtClean="0"/>
              <a:t>말줄임</a:t>
            </a:r>
            <a:r>
              <a:rPr lang="ko-KR" altLang="en-US" dirty="0" smtClean="0"/>
              <a:t> 표시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 smtClean="0"/>
              <a:t>업무도움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기본값 </a:t>
            </a:r>
            <a:r>
              <a:rPr lang="en-US" altLang="ko-KR" dirty="0" smtClean="0"/>
              <a:t>: </a:t>
            </a:r>
            <a:r>
              <a:rPr lang="ko-KR" altLang="en-US" dirty="0" smtClean="0"/>
              <a:t>접힘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err="1" smtClean="0"/>
              <a:t>클릭시</a:t>
            </a:r>
            <a:r>
              <a:rPr lang="ko-KR" altLang="en-US" dirty="0" smtClean="0"/>
              <a:t> 확장하여 정보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</a:t>
            </a:r>
            <a:r>
              <a:rPr lang="ko-KR" altLang="en-US" dirty="0" err="1" smtClean="0"/>
              <a:t>업무도움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&gt; </a:t>
            </a:r>
            <a:r>
              <a:rPr lang="ko-KR" altLang="en-US" dirty="0" smtClean="0"/>
              <a:t>내역이 있는 경우 만 표시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탭 영역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err="1" smtClean="0"/>
              <a:t>신청정보</a:t>
            </a:r>
            <a:r>
              <a:rPr lang="ko-KR" altLang="en-US" dirty="0" smtClean="0"/>
              <a:t> </a:t>
            </a:r>
            <a:r>
              <a:rPr lang="en-US" altLang="ko-KR" dirty="0" smtClean="0"/>
              <a:t>Tab</a:t>
            </a:r>
            <a:r>
              <a:rPr lang="ko-KR" altLang="en-US" dirty="0" smtClean="0"/>
              <a:t>은 진입 시 고정 노출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탭 내용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err="1" smtClean="0"/>
              <a:t>계약정보</a:t>
            </a:r>
            <a:r>
              <a:rPr lang="en-US" altLang="ko-KR" dirty="0" smtClean="0"/>
              <a:t>, </a:t>
            </a:r>
            <a:r>
              <a:rPr lang="ko-KR" altLang="en-US" dirty="0" smtClean="0"/>
              <a:t>대가지금업체</a:t>
            </a:r>
            <a:r>
              <a:rPr lang="en-US" altLang="ko-KR" dirty="0" smtClean="0"/>
              <a:t>,</a:t>
            </a:r>
            <a:r>
              <a:rPr lang="ko-KR" altLang="en-US" dirty="0" smtClean="0"/>
              <a:t>첨부파일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&gt; </a:t>
            </a:r>
            <a:r>
              <a:rPr lang="ko-KR" altLang="en-US" dirty="0" smtClean="0"/>
              <a:t>로그인 필요 서비스 안내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화면을 </a:t>
            </a:r>
            <a:r>
              <a:rPr lang="ko-KR" altLang="en-US" dirty="0" err="1" smtClean="0"/>
              <a:t>넘치는경우</a:t>
            </a:r>
            <a:r>
              <a:rPr lang="ko-KR" altLang="en-US" dirty="0" smtClean="0"/>
              <a:t> 드래그하여 확인</a:t>
            </a:r>
            <a:r>
              <a:rPr lang="en-US" altLang="ko-KR" dirty="0" smtClean="0"/>
              <a:t>(</a:t>
            </a:r>
            <a:r>
              <a:rPr lang="ko-KR" altLang="en-US" dirty="0" err="1" smtClean="0"/>
              <a:t>스와이프기능</a:t>
            </a:r>
            <a:r>
              <a:rPr lang="ko-KR" altLang="en-US" dirty="0" smtClean="0"/>
              <a:t> 반영 필요</a:t>
            </a:r>
            <a:r>
              <a:rPr lang="en-US" altLang="ko-KR" dirty="0" smtClean="0"/>
              <a:t>)</a:t>
            </a:r>
            <a:br>
              <a:rPr lang="en-US" altLang="ko-KR" dirty="0" smtClean="0"/>
            </a:br>
            <a:r>
              <a:rPr lang="ko-KR" altLang="en-US" dirty="0" err="1" smtClean="0"/>
              <a:t>계약정보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각 공고에 맞춰 폼 변화에 유의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err="1" smtClean="0"/>
              <a:t>상세내용에</a:t>
            </a:r>
            <a:r>
              <a:rPr lang="ko-KR" altLang="en-US" dirty="0" smtClean="0"/>
              <a:t> 포함된 정보 표시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기본값은 상단 이동 버튼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현 상세내용 탭에서는 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4873997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계약정보</a:t>
            </a:r>
            <a:r>
              <a:rPr lang="ko-KR" altLang="en-US" dirty="0"/>
              <a:t> 데이터 영역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비고 데이터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54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공사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계약정보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대금</a:t>
            </a:r>
            <a:r>
              <a:rPr lang="en-US" altLang="ko-KR" dirty="0"/>
              <a:t>/</a:t>
            </a:r>
            <a:r>
              <a:rPr lang="ko-KR" altLang="en-US" dirty="0"/>
              <a:t>사후 상세 </a:t>
            </a:r>
            <a:r>
              <a:rPr lang="en-US" altLang="ko-KR" dirty="0"/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공사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/>
              <a:t>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공사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MUI-WM-01-M07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grpSp>
        <p:nvGrpSpPr>
          <p:cNvPr id="133" name="그룹 132"/>
          <p:cNvGrpSpPr/>
          <p:nvPr/>
        </p:nvGrpSpPr>
        <p:grpSpPr>
          <a:xfrm>
            <a:off x="716366" y="1528651"/>
            <a:ext cx="2630093" cy="2031034"/>
            <a:chOff x="720490" y="4465173"/>
            <a:chExt cx="2630093" cy="2031034"/>
          </a:xfrm>
        </p:grpSpPr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35" name="그룹 134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147" name="직선 연결선 14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" name="직선 연결선 14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36" name="직사각형 135"/>
            <p:cNvSpPr/>
            <p:nvPr/>
          </p:nvSpPr>
          <p:spPr>
            <a:xfrm>
              <a:off x="722583" y="4772658"/>
              <a:ext cx="792000" cy="16974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37" name="직선 연결선 13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670770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공사기간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업체명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대표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검사일자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지급구분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계약금액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원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기성금액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원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신청금액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원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2025 0000 00 - 01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2026-01-30 ~ 2026-12-30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2026-01-30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41" name="직선 연결선 14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2" name="직선 연결선 14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3" name="직선 연결선 14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4" name="직선 연결선 1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7" name="직선 연결선 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2411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8" name="직선 연결선 4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4603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9" name="직선 연결선 4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27201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직선 연결선 4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47007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6391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5" name="타원 15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82357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9336" y="3686309"/>
            <a:ext cx="84376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비고</a:t>
            </a:r>
          </a:p>
        </p:txBody>
      </p:sp>
      <p:grpSp>
        <p:nvGrpSpPr>
          <p:cNvPr id="53" name="그룹 52"/>
          <p:cNvGrpSpPr/>
          <p:nvPr/>
        </p:nvGrpSpPr>
        <p:grpSpPr>
          <a:xfrm flipV="1">
            <a:off x="3151423" y="3745662"/>
            <a:ext cx="94010" cy="47005"/>
            <a:chOff x="6812560" y="3297172"/>
            <a:chExt cx="94010" cy="47005"/>
          </a:xfrm>
        </p:grpSpPr>
        <p:cxnSp>
          <p:nvCxnSpPr>
            <p:cNvPr id="54" name="직선 연결선 53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직선 연결선 54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6" name="그룹 55"/>
          <p:cNvGrpSpPr/>
          <p:nvPr/>
        </p:nvGrpSpPr>
        <p:grpSpPr>
          <a:xfrm>
            <a:off x="687398" y="3949251"/>
            <a:ext cx="2712027" cy="1870733"/>
            <a:chOff x="3783912" y="2803333"/>
            <a:chExt cx="2712027" cy="1870733"/>
          </a:xfrm>
        </p:grpSpPr>
        <p:cxnSp>
          <p:nvCxnSpPr>
            <p:cNvPr id="57" name="직선 연결선 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83912" y="467406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8844" y="2803333"/>
              <a:ext cx="2532688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1. </a:t>
              </a:r>
              <a:r>
                <a:rPr lang="ko-KR" altLang="en-US" sz="700" dirty="0" err="1">
                  <a:latin typeface="+mn-ea"/>
                </a:rPr>
                <a:t>변경내역</a:t>
              </a:r>
              <a:r>
                <a:rPr lang="ko-KR" altLang="en-US" sz="700" dirty="0">
                  <a:latin typeface="+mn-ea"/>
                </a:rPr>
                <a:t> 표시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7413259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대가지급업체 데이터 영역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55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sz="800" dirty="0" err="1">
                <a:latin typeface="+mn-ea"/>
              </a:rPr>
              <a:t>대금청구</a:t>
            </a:r>
            <a:r>
              <a:rPr lang="ko-KR" altLang="en-US" sz="800" dirty="0">
                <a:latin typeface="+mn-ea"/>
              </a:rPr>
              <a:t> 상세</a:t>
            </a:r>
            <a:r>
              <a:rPr lang="en-US" altLang="ko-KR" sz="800" dirty="0">
                <a:latin typeface="+mn-ea"/>
              </a:rPr>
              <a:t>(</a:t>
            </a:r>
            <a:r>
              <a:rPr lang="ko-KR" altLang="en-US" sz="800" dirty="0">
                <a:latin typeface="+mn-ea"/>
              </a:rPr>
              <a:t>공사</a:t>
            </a:r>
            <a:r>
              <a:rPr lang="en-US" altLang="ko-KR" sz="800" dirty="0">
                <a:latin typeface="+mn-ea"/>
              </a:rPr>
              <a:t>)</a:t>
            </a:r>
            <a:r>
              <a:rPr lang="ko-KR" altLang="en-US" sz="800" dirty="0">
                <a:latin typeface="+mn-ea"/>
              </a:rPr>
              <a:t> 상세 </a:t>
            </a:r>
            <a:r>
              <a:rPr lang="en-US" altLang="ko-KR" sz="800" dirty="0">
                <a:latin typeface="+mn-ea"/>
              </a:rPr>
              <a:t>– </a:t>
            </a:r>
            <a:r>
              <a:rPr lang="ko-KR" altLang="en-US" sz="800" dirty="0">
                <a:latin typeface="+mn-ea"/>
              </a:rPr>
              <a:t>대가지급업체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대금</a:t>
            </a:r>
            <a:r>
              <a:rPr lang="en-US" altLang="ko-KR" dirty="0"/>
              <a:t>/</a:t>
            </a:r>
            <a:r>
              <a:rPr lang="ko-KR" altLang="en-US" dirty="0"/>
              <a:t>사후 상세 </a:t>
            </a:r>
            <a:r>
              <a:rPr lang="en-US" altLang="ko-KR" dirty="0"/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공사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/>
              <a:t>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공사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MUI-WM-01-M07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" name="그룹 4"/>
          <p:cNvGrpSpPr/>
          <p:nvPr/>
        </p:nvGrpSpPr>
        <p:grpSpPr>
          <a:xfrm>
            <a:off x="803364" y="1527996"/>
            <a:ext cx="2456097" cy="181140"/>
            <a:chOff x="763157" y="1527996"/>
            <a:chExt cx="2456097" cy="181140"/>
          </a:xfrm>
        </p:grpSpPr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3157" y="1527996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대가지급업체</a:t>
              </a:r>
            </a:p>
          </p:txBody>
        </p:sp>
        <p:grpSp>
          <p:nvGrpSpPr>
            <p:cNvPr id="129" name="그룹 128"/>
            <p:cNvGrpSpPr/>
            <p:nvPr/>
          </p:nvGrpSpPr>
          <p:grpSpPr>
            <a:xfrm flipV="1">
              <a:off x="3125244" y="1641327"/>
              <a:ext cx="94010" cy="47005"/>
              <a:chOff x="6812560" y="3297172"/>
              <a:chExt cx="94010" cy="47005"/>
            </a:xfrm>
          </p:grpSpPr>
          <p:cxnSp>
            <p:nvCxnSpPr>
              <p:cNvPr id="131" name="직선 연결선 13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8" name="직선 연결선 13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1" name="그룹 140"/>
          <p:cNvGrpSpPr/>
          <p:nvPr/>
        </p:nvGrpSpPr>
        <p:grpSpPr>
          <a:xfrm>
            <a:off x="716366" y="1820149"/>
            <a:ext cx="2630093" cy="1508105"/>
            <a:chOff x="3865118" y="2946204"/>
            <a:chExt cx="2630093" cy="1508105"/>
          </a:xfrm>
        </p:grpSpPr>
        <p:sp>
          <p:nvSpPr>
            <p:cNvPr id="142" name="직사각형 141"/>
            <p:cNvSpPr/>
            <p:nvPr/>
          </p:nvSpPr>
          <p:spPr>
            <a:xfrm>
              <a:off x="3867211" y="2946204"/>
              <a:ext cx="792000" cy="150168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5" name="직선 연결선 15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5118" y="294620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54275" y="2946204"/>
              <a:ext cx="670770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업체유형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업체명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신청금액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원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은행명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계좌번호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계좌실명번호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예금주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11123" y="2946204"/>
              <a:ext cx="1775839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농협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1100-12345-02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11000-11200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17730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3" name="직선 연결선 1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39101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4" name="직선 연결선 1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604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80818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02189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1" name="직선 연결선 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23739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" name="직선 연결선 3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45109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464609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3811854"/>
            <a:ext cx="76863" cy="292489"/>
            <a:chOff x="3750067" y="4683795"/>
            <a:chExt cx="76863" cy="292489"/>
          </a:xfrm>
        </p:grpSpPr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59697033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56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공사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상세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첨부파일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대금</a:t>
            </a:r>
            <a:r>
              <a:rPr lang="en-US" altLang="ko-KR" dirty="0"/>
              <a:t>/</a:t>
            </a:r>
            <a:r>
              <a:rPr lang="ko-KR" altLang="en-US" dirty="0"/>
              <a:t>사후 상세 </a:t>
            </a:r>
            <a:r>
              <a:rPr lang="en-US" altLang="ko-KR" dirty="0"/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공사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/>
              <a:t>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공사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MUI-WM-01-M07</a:t>
            </a:r>
            <a:endParaRPr lang="ko-KR" altLang="en-US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8613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2" name="그룹 31"/>
          <p:cNvGrpSpPr/>
          <p:nvPr/>
        </p:nvGrpSpPr>
        <p:grpSpPr>
          <a:xfrm>
            <a:off x="806578" y="1527996"/>
            <a:ext cx="2456097" cy="181140"/>
            <a:chOff x="763157" y="1527996"/>
            <a:chExt cx="2456097" cy="181140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3157" y="1527996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첨부파일</a:t>
              </a:r>
            </a:p>
          </p:txBody>
        </p:sp>
        <p:grpSp>
          <p:nvGrpSpPr>
            <p:cNvPr id="34" name="그룹 33"/>
            <p:cNvGrpSpPr/>
            <p:nvPr/>
          </p:nvGrpSpPr>
          <p:grpSpPr>
            <a:xfrm flipV="1">
              <a:off x="3125244" y="1641327"/>
              <a:ext cx="94010" cy="47005"/>
              <a:chOff x="6812560" y="3297172"/>
              <a:chExt cx="94010" cy="47005"/>
            </a:xfrm>
          </p:grpSpPr>
          <p:cxnSp>
            <p:nvCxnSpPr>
              <p:cNvPr id="35" name="직선 연결선 3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직선 연결선 3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37" name="타원 3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9374" y="1581676"/>
            <a:ext cx="162064" cy="16206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38" name="그룹 37"/>
          <p:cNvGrpSpPr/>
          <p:nvPr/>
        </p:nvGrpSpPr>
        <p:grpSpPr>
          <a:xfrm>
            <a:off x="678614" y="1791264"/>
            <a:ext cx="2712026" cy="1339020"/>
            <a:chOff x="4063785" y="1972404"/>
            <a:chExt cx="2712026" cy="1339020"/>
          </a:xfrm>
        </p:grpSpPr>
        <p:grpSp>
          <p:nvGrpSpPr>
            <p:cNvPr id="39" name="그룹 38"/>
            <p:cNvGrpSpPr/>
            <p:nvPr/>
          </p:nvGrpSpPr>
          <p:grpSpPr>
            <a:xfrm>
              <a:off x="4063785" y="1972404"/>
              <a:ext cx="2712026" cy="1339020"/>
              <a:chOff x="3795735" y="3141693"/>
              <a:chExt cx="2712026" cy="1339020"/>
            </a:xfrm>
          </p:grpSpPr>
          <p:sp>
            <p:nvSpPr>
              <p:cNvPr id="42" name="모서리가 둥근 직사각형 41"/>
              <p:cNvSpPr/>
              <p:nvPr/>
            </p:nvSpPr>
            <p:spPr>
              <a:xfrm>
                <a:off x="3831550" y="3276811"/>
                <a:ext cx="2652743" cy="364486"/>
              </a:xfrm>
              <a:prstGeom prst="roundRect">
                <a:avLst>
                  <a:gd name="adj" fmla="val 9062"/>
                </a:avLst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208115" y="3412605"/>
                <a:ext cx="1682738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700" dirty="0" err="1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첨부파일명</a:t>
                </a:r>
                <a:r>
                  <a:rPr lang="en-US" altLang="ko-KR" sz="7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.</a:t>
                </a:r>
                <a:r>
                  <a:rPr lang="en-US" altLang="ko-KR" sz="700" dirty="0" err="1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hwp</a:t>
                </a:r>
                <a:endPara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909746" y="3405193"/>
                <a:ext cx="247786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1</a:t>
                </a:r>
                <a:endPara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45" name="타원 44"/>
              <p:cNvSpPr/>
              <p:nvPr/>
            </p:nvSpPr>
            <p:spPr>
              <a:xfrm>
                <a:off x="6240167" y="3387054"/>
                <a:ext cx="144000" cy="1440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6" name="모서리가 둥근 직사각형 45"/>
              <p:cNvSpPr/>
              <p:nvPr/>
            </p:nvSpPr>
            <p:spPr>
              <a:xfrm>
                <a:off x="3831550" y="3683497"/>
                <a:ext cx="2652743" cy="364486"/>
              </a:xfrm>
              <a:prstGeom prst="roundRect">
                <a:avLst>
                  <a:gd name="adj" fmla="val 9062"/>
                </a:avLst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208115" y="3819291"/>
                <a:ext cx="1412785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700" dirty="0" err="1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첨부파일명</a:t>
                </a:r>
                <a:r>
                  <a:rPr lang="en-US" altLang="ko-KR" sz="7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.</a:t>
                </a:r>
                <a:r>
                  <a:rPr lang="en-US" altLang="ko-KR" sz="700" dirty="0" err="1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hwp</a:t>
                </a:r>
                <a:endPara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909746" y="3811879"/>
                <a:ext cx="247786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2</a:t>
                </a:r>
                <a:endPara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49" name="타원 48"/>
              <p:cNvSpPr/>
              <p:nvPr/>
            </p:nvSpPr>
            <p:spPr>
              <a:xfrm>
                <a:off x="6240167" y="3793740"/>
                <a:ext cx="144000" cy="1440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50" name="직선 연결선 49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795735" y="4480713"/>
                <a:ext cx="2712026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332218" y="3141693"/>
                <a:ext cx="474348" cy="9233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600" dirty="0" err="1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첨부파일명</a:t>
                </a:r>
                <a:endParaRPr lang="en-US" altLang="ko-KR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6101185" y="3141693"/>
                <a:ext cx="324968" cy="9233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ko-KR" altLang="en-US" sz="6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다운로드</a:t>
                </a:r>
                <a:endParaRPr lang="en-US" altLang="ko-KR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838314" y="3141693"/>
                <a:ext cx="390650" cy="9233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ko-KR" altLang="en-US" sz="600" dirty="0" err="1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항목번호</a:t>
                </a:r>
                <a:endParaRPr lang="en-US" altLang="ko-KR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endParaRPr>
              </a:p>
            </p:txBody>
          </p:sp>
        </p:grpSp>
        <p:sp>
          <p:nvSpPr>
            <p:cNvPr id="40" name="직사각형 39"/>
            <p:cNvSpPr/>
            <p:nvPr/>
          </p:nvSpPr>
          <p:spPr>
            <a:xfrm>
              <a:off x="5968922" y="2605294"/>
              <a:ext cx="546945" cy="18466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6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[</a:t>
              </a:r>
              <a:r>
                <a:rPr lang="ko-KR" altLang="en-US" sz="6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파일크기</a:t>
              </a:r>
              <a:r>
                <a:rPr lang="en-US" altLang="ko-KR" sz="6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]</a:t>
              </a:r>
            </a:p>
          </p:txBody>
        </p:sp>
        <p:sp>
          <p:nvSpPr>
            <p:cNvPr id="41" name="직사각형 40"/>
            <p:cNvSpPr/>
            <p:nvPr/>
          </p:nvSpPr>
          <p:spPr>
            <a:xfrm>
              <a:off x="5965336" y="2159928"/>
              <a:ext cx="546945" cy="18466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6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[</a:t>
              </a:r>
              <a:r>
                <a:rPr lang="ko-KR" altLang="en-US" sz="6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파일크기</a:t>
              </a:r>
              <a:r>
                <a:rPr lang="en-US" altLang="ko-KR" sz="6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]</a:t>
              </a:r>
            </a:p>
          </p:txBody>
        </p:sp>
      </p:grpSp>
      <p:sp>
        <p:nvSpPr>
          <p:cNvPr id="55" name="타원 5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710067" y="1931251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177109" y="2564032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sp>
        <p:nvSpPr>
          <p:cNvPr id="5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128750" y="5933555"/>
            <a:ext cx="1890323" cy="186790"/>
          </a:xfrm>
          <a:prstGeom prst="roundRect">
            <a:avLst>
              <a:gd name="adj" fmla="val 50000"/>
            </a:avLst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 smtClean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다운로드에 실패했습니다</a:t>
            </a:r>
            <a:r>
              <a:rPr kumimoji="1" lang="en-US" altLang="ko-KR" sz="700" kern="0" dirty="0" smtClean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5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111842" y="5726035"/>
            <a:ext cx="1890323" cy="186790"/>
          </a:xfrm>
          <a:prstGeom prst="roundRect">
            <a:avLst>
              <a:gd name="adj" fmla="val 50000"/>
            </a:avLst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 smtClean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다운로드에 성공했습니다</a:t>
            </a:r>
            <a:r>
              <a:rPr kumimoji="1" lang="en-US" altLang="ko-KR" sz="700" kern="0" dirty="0" smtClean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1056330" y="5837125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sp>
        <p:nvSpPr>
          <p:cNvPr id="62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sz="800" dirty="0"/>
              <a:t>계약에 등록된 </a:t>
            </a:r>
            <a:r>
              <a:rPr lang="ko-KR" altLang="en-US" sz="800" dirty="0" err="1"/>
              <a:t>계약관</a:t>
            </a:r>
            <a:r>
              <a:rPr lang="ko-KR" altLang="en-US" sz="800" dirty="0"/>
              <a:t> 첨부서류 </a:t>
            </a:r>
            <a:r>
              <a:rPr lang="ko-KR" altLang="en-US" sz="800" dirty="0" err="1"/>
              <a:t>목록조회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default) </a:t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/>
              <a:t>아코디언 전체 펼침 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/>
              <a:t>업로드 기능 </a:t>
            </a:r>
            <a:r>
              <a:rPr lang="ko-KR" altLang="en-US" sz="800" dirty="0" err="1"/>
              <a:t>미지원</a:t>
            </a:r>
            <a:r>
              <a:rPr lang="ko-KR" altLang="en-US" sz="800" dirty="0"/>
              <a:t> 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 err="1" smtClean="0"/>
              <a:t>대금청구</a:t>
            </a:r>
            <a:r>
              <a:rPr lang="ko-KR" altLang="en-US" sz="800" dirty="0" smtClean="0"/>
              <a:t> </a:t>
            </a:r>
            <a:r>
              <a:rPr lang="ko-KR" altLang="en-US" sz="800" dirty="0"/>
              <a:t>첨부서류에 첨부된 파일이 있는 경우에만 목록 노출</a:t>
            </a:r>
            <a:endParaRPr lang="en-US" altLang="ko-KR" sz="800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sz="800" dirty="0" smtClean="0"/>
              <a:t>파일 </a:t>
            </a:r>
            <a:r>
              <a:rPr lang="ko-KR" altLang="en-US" sz="800" dirty="0"/>
              <a:t>목록 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/>
              <a:t>정렬</a:t>
            </a:r>
            <a:r>
              <a:rPr lang="en-US" altLang="ko-KR" sz="800" dirty="0"/>
              <a:t> : </a:t>
            </a:r>
            <a:r>
              <a:rPr lang="ko-KR" altLang="en-US" sz="800" dirty="0"/>
              <a:t>파일 업로드 시점의 </a:t>
            </a:r>
            <a:r>
              <a:rPr lang="ko-KR" altLang="en-US" sz="800" dirty="0" err="1"/>
              <a:t>등록일시</a:t>
            </a:r>
            <a:r>
              <a:rPr lang="ko-KR" altLang="en-US" sz="800" dirty="0"/>
              <a:t> 내림차순 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 err="1"/>
              <a:t>계약서류명</a:t>
            </a:r>
            <a:r>
              <a:rPr lang="en-US" altLang="ko-KR" sz="800" dirty="0"/>
              <a:t>, </a:t>
            </a:r>
            <a:r>
              <a:rPr lang="ko-KR" altLang="en-US" sz="800" dirty="0" err="1"/>
              <a:t>첨부파일명</a:t>
            </a:r>
            <a:r>
              <a:rPr lang="en-US" altLang="ko-KR" sz="800" dirty="0"/>
              <a:t>, </a:t>
            </a:r>
            <a:r>
              <a:rPr lang="ko-KR" altLang="en-US" sz="800" dirty="0"/>
              <a:t>파일 크기 표시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/>
              <a:t>파일 크기 정보가 없거나</a:t>
            </a:r>
            <a:r>
              <a:rPr lang="en-US" altLang="ko-KR" sz="800" dirty="0"/>
              <a:t>, </a:t>
            </a:r>
            <a:r>
              <a:rPr lang="ko-KR" altLang="en-US" sz="800" dirty="0"/>
              <a:t>첨부서류 파일명이 없는 경우 </a:t>
            </a:r>
            <a:r>
              <a:rPr lang="en-US" altLang="ko-KR" sz="800" dirty="0"/>
              <a:t>“-” </a:t>
            </a:r>
            <a:r>
              <a:rPr lang="ko-KR" altLang="en-US" sz="800" dirty="0"/>
              <a:t>표시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/>
              <a:t>파일명이 긴 경우 </a:t>
            </a:r>
            <a:r>
              <a:rPr lang="ko-KR" altLang="en-US" sz="800" dirty="0" err="1"/>
              <a:t>말줄임</a:t>
            </a:r>
            <a:r>
              <a:rPr lang="ko-KR" altLang="en-US" sz="800" dirty="0"/>
              <a:t> 표시</a:t>
            </a:r>
            <a:endParaRPr lang="en-US" altLang="ko-KR" sz="800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sz="800" dirty="0"/>
              <a:t>다운로드 아이콘 노출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/>
              <a:t>다운로드 </a:t>
            </a:r>
            <a:r>
              <a:rPr lang="ko-KR" altLang="en-US" sz="800" dirty="0" err="1"/>
              <a:t>클릭시</a:t>
            </a:r>
            <a:r>
              <a:rPr lang="en-US" altLang="ko-KR" sz="800" dirty="0"/>
              <a:t>, </a:t>
            </a:r>
            <a:r>
              <a:rPr lang="ko-KR" altLang="en-US" sz="800" dirty="0"/>
              <a:t>즉시 다운로드 실행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/>
              <a:t>파일 다운로드 </a:t>
            </a:r>
            <a:r>
              <a:rPr lang="ko-KR" altLang="en-US" sz="800" dirty="0" err="1"/>
              <a:t>실패시</a:t>
            </a:r>
            <a:r>
              <a:rPr lang="ko-KR" altLang="en-US" sz="800" dirty="0"/>
              <a:t> </a:t>
            </a:r>
            <a:r>
              <a:rPr lang="en-US" altLang="ko-KR" sz="800" dirty="0"/>
              <a:t>, </a:t>
            </a:r>
            <a:r>
              <a:rPr lang="en-US" altLang="ko-KR" sz="800" dirty="0" smtClean="0"/>
              <a:t>“</a:t>
            </a:r>
            <a:r>
              <a:rPr lang="ko-KR" altLang="en-US" sz="800" dirty="0" smtClean="0"/>
              <a:t>다운로드에 실패했습니다</a:t>
            </a:r>
            <a:r>
              <a:rPr lang="en-US" altLang="ko-KR" sz="800" dirty="0" smtClean="0"/>
              <a:t>”</a:t>
            </a:r>
            <a:r>
              <a:rPr lang="ko-KR" altLang="en-US" sz="800" dirty="0" smtClean="0"/>
              <a:t> </a:t>
            </a:r>
            <a:r>
              <a:rPr lang="ko-KR" altLang="en-US" sz="800" dirty="0"/>
              <a:t>토스트 </a:t>
            </a:r>
            <a:r>
              <a:rPr lang="ko-KR" altLang="en-US" sz="800" dirty="0" smtClean="0"/>
              <a:t>노출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en-US" altLang="ko-KR" sz="800" dirty="0" smtClean="0"/>
              <a:t>- </a:t>
            </a:r>
            <a:r>
              <a:rPr lang="ko-KR" altLang="en-US" sz="800" dirty="0" smtClean="0"/>
              <a:t>다운로드 </a:t>
            </a:r>
            <a:r>
              <a:rPr lang="ko-KR" altLang="en-US" sz="800" dirty="0" err="1" smtClean="0"/>
              <a:t>성공시</a:t>
            </a:r>
            <a:r>
              <a:rPr lang="ko-KR" altLang="en-US" sz="800" dirty="0" smtClean="0"/>
              <a:t> </a:t>
            </a:r>
            <a:r>
              <a:rPr lang="en-US" altLang="ko-KR" sz="800" dirty="0" smtClean="0"/>
              <a:t>“</a:t>
            </a:r>
            <a:r>
              <a:rPr lang="ko-KR" altLang="en-US" sz="800" dirty="0" smtClean="0"/>
              <a:t>다운로드에 성공했습니다</a:t>
            </a:r>
            <a:r>
              <a:rPr lang="en-US" altLang="ko-KR" sz="800" dirty="0" smtClean="0"/>
              <a:t>“ </a:t>
            </a:r>
            <a:r>
              <a:rPr lang="ko-KR" altLang="en-US" sz="800" dirty="0" smtClean="0"/>
              <a:t>노출</a:t>
            </a:r>
            <a:endParaRPr lang="en-US" altLang="ko-KR" sz="800" dirty="0"/>
          </a:p>
        </p:txBody>
      </p:sp>
    </p:spTree>
    <p:extLst>
      <p:ext uri="{BB962C8B-B14F-4D97-AF65-F5344CB8AC3E}">
        <p14:creationId xmlns:p14="http://schemas.microsoft.com/office/powerpoint/2010/main" val="330288789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57</a:t>
            </a:fld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B257CD-DFF9-C20A-42B1-86A5BD32A09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947F42-24A6-AC12-410B-185FD576E1C3}"/>
              </a:ext>
            </a:extLst>
          </p:cNvPr>
          <p:cNvSpPr txBox="1"/>
          <p:nvPr/>
        </p:nvSpPr>
        <p:spPr>
          <a:xfrm>
            <a:off x="458117" y="803113"/>
            <a:ext cx="225278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계약정보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dmt_ctrtInfo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0D7D7297-5C46-7078-D2CB-A9F2A55503A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1745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359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30090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공사기간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공사기간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-mm-dd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7478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rprsvNm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1983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244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검사일자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inspYmd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검사일자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087073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기성금액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pxcndAmt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기성금액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43443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지급구분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giveSecd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지급구분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UB56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96903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aplyAmt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59833430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B6FF90CD-D44A-772D-5AAF-1061FC3E2661}"/>
              </a:ext>
            </a:extLst>
          </p:cNvPr>
          <p:cNvSpPr txBox="1"/>
          <p:nvPr/>
        </p:nvSpPr>
        <p:spPr>
          <a:xfrm>
            <a:off x="458117" y="2844506"/>
            <a:ext cx="278338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대가지급업체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dlt_giveBzentyList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D5D6353D-3F6D-611B-EA75-CF444460DF17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3055709"/>
          <a:ext cx="8994883" cy="1551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359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30090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업체유형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fbctnSecd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업체유형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UB54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bzentyNm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94984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aplyAmt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783233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은행명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dlngFnstNm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은행명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97670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계좌번호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enacno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계좌번호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64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암호화계좌번호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579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계좌실명번호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enacno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계좌실명번호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64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암호화계좌번호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19902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예금주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dpstrNm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예금주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2887001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586692DD-2BE6-B42B-B0B8-6EFA9C93C744}"/>
              </a:ext>
            </a:extLst>
          </p:cNvPr>
          <p:cNvSpPr txBox="1"/>
          <p:nvPr/>
        </p:nvSpPr>
        <p:spPr>
          <a:xfrm>
            <a:off x="458117" y="4678061"/>
            <a:ext cx="220149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첨부서류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dlt_adocList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C86E9A2-63C6-E25A-5752-9C00FC9D6E00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4889264"/>
          <a:ext cx="8994883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359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30090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첨부서류명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docNm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첨부서류명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fileNm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03398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파일크기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fileSize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파일크기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3956986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C27F1755-0C59-34E4-D8B1-C5316286E2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876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C62573-9183-0B3A-6A93-3C857900E313}"/>
              </a:ext>
            </a:extLst>
          </p:cNvPr>
          <p:cNvSpPr txBox="1"/>
          <p:nvPr/>
        </p:nvSpPr>
        <p:spPr>
          <a:xfrm>
            <a:off x="458117" y="5758859"/>
            <a:ext cx="2469193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1.4. </a:t>
            </a:r>
            <a:r>
              <a:rPr lang="ko-KR" altLang="en-US" sz="900" b="1" dirty="0">
                <a:solidFill>
                  <a:prstClr val="black"/>
                </a:solidFill>
              </a:rPr>
              <a:t>비고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dmt_birqRmrkCnInfo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CDC18F62-DCE3-5DF3-65FE-05BBE562069C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5970062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359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30090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birqRmrkCn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비고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1581613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58</a:t>
            </a:fld>
            <a:endParaRPr lang="ko-KR" altLang="en-US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A8AB979B-14AB-5021-AD38-81AFF5B867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0541040"/>
              </p:ext>
            </p:extLst>
          </p:nvPr>
        </p:nvGraphicFramePr>
        <p:xfrm>
          <a:off x="453000" y="1042241"/>
          <a:ext cx="8995591" cy="509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3103963203"/>
                    </a:ext>
                  </a:extLst>
                </a:gridCol>
                <a:gridCol w="37029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4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공통코드정보를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페이지 로딩 시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en-US" sz="800" dirty="0"/>
                        <a:t>계약 정보를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3D0B2BC4-AD71-7E59-D96E-28B493C7629B}"/>
              </a:ext>
            </a:extLst>
          </p:cNvPr>
          <p:cNvSpPr txBox="1"/>
          <p:nvPr/>
        </p:nvSpPr>
        <p:spPr>
          <a:xfrm>
            <a:off x="458117" y="760911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4" name="Text Box 73">
            <a:extLst>
              <a:ext uri="{FF2B5EF4-FFF2-40B4-BE49-F238E27FC236}">
                <a16:creationId xmlns:a16="http://schemas.microsoft.com/office/drawing/2014/main" id="{FB61C3E7-13C7-F5C3-BE78-71C249A4A6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82802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4019284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59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기성대가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대금</a:t>
            </a:r>
            <a:r>
              <a:rPr lang="en-US" altLang="ko-KR" dirty="0"/>
              <a:t>/</a:t>
            </a:r>
            <a:r>
              <a:rPr lang="ko-KR" altLang="en-US" dirty="0"/>
              <a:t>사후 상세 </a:t>
            </a:r>
            <a:r>
              <a:rPr lang="en-US" altLang="ko-KR" dirty="0"/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기성대가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/>
              <a:t>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기성대가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MUI-WM-01-M08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err="1">
                <a:latin typeface="+mn-ea"/>
              </a:rPr>
              <a:t>대금청구</a:t>
            </a:r>
            <a:r>
              <a:rPr lang="ko-KR" altLang="en-US" sz="800" dirty="0">
                <a:latin typeface="+mn-ea"/>
              </a:rPr>
              <a:t> </a:t>
            </a:r>
            <a:r>
              <a:rPr lang="ko-KR" altLang="en-US" sz="800" dirty="0" err="1">
                <a:latin typeface="+mn-ea"/>
              </a:rPr>
              <a:t>상세조회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81461" y="2462389"/>
            <a:ext cx="247325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 err="1"/>
              <a:t>계약번호</a:t>
            </a:r>
            <a:r>
              <a:rPr lang="ko-KR" altLang="en-US" sz="700" dirty="0"/>
              <a:t> </a:t>
            </a:r>
            <a:r>
              <a:rPr lang="en-US" altLang="ko-KR" sz="700" dirty="0"/>
              <a:t>2025000000 - 01</a:t>
            </a:r>
          </a:p>
          <a:p>
            <a:r>
              <a:rPr lang="ko-KR" altLang="en-US" sz="900" b="1" dirty="0"/>
              <a:t>물품구매</a:t>
            </a:r>
          </a:p>
        </p:txBody>
      </p:sp>
      <p:sp>
        <p:nvSpPr>
          <p:cNvPr id="56" name="TextBox 59">
            <a:extLst>
              <a:ext uri="{FF2B5EF4-FFF2-40B4-BE49-F238E27FC236}">
                <a16:creationId xmlns:a16="http://schemas.microsoft.com/office/drawing/2014/main" id="{F77C802D-3BC8-270F-87FC-5F442BD8054D}"/>
              </a:ext>
            </a:extLst>
          </p:cNvPr>
          <p:cNvSpPr txBox="1"/>
          <p:nvPr/>
        </p:nvSpPr>
        <p:spPr>
          <a:xfrm>
            <a:off x="781461" y="2797454"/>
            <a:ext cx="307777" cy="39767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sz="600" dirty="0" err="1">
                <a:latin typeface="+mn-ea"/>
              </a:rPr>
              <a:t>계약일자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발주기관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계약금액</a:t>
            </a:r>
            <a:endParaRPr lang="en-US" altLang="ko-KR" sz="600" dirty="0">
              <a:latin typeface="+mn-ea"/>
            </a:endParaRPr>
          </a:p>
        </p:txBody>
      </p:sp>
      <p:sp>
        <p:nvSpPr>
          <p:cNvPr id="57" name="TextBox 60">
            <a:extLst>
              <a:ext uri="{FF2B5EF4-FFF2-40B4-BE49-F238E27FC236}">
                <a16:creationId xmlns:a16="http://schemas.microsoft.com/office/drawing/2014/main" id="{8F5E3227-69E6-C89F-B8C5-534226E95EA8}"/>
              </a:ext>
            </a:extLst>
          </p:cNvPr>
          <p:cNvSpPr txBox="1"/>
          <p:nvPr/>
        </p:nvSpPr>
        <p:spPr>
          <a:xfrm>
            <a:off x="2596303" y="2782065"/>
            <a:ext cx="472886" cy="39767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2026-02-10</a:t>
            </a:r>
          </a:p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제</a:t>
            </a:r>
            <a:r>
              <a:rPr lang="en-US" altLang="ko-KR" sz="600" dirty="0">
                <a:latin typeface="+mn-ea"/>
              </a:rPr>
              <a:t>8385</a:t>
            </a:r>
            <a:r>
              <a:rPr lang="ko-KR" altLang="en-US" sz="600" dirty="0">
                <a:latin typeface="+mn-ea"/>
              </a:rPr>
              <a:t>부대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11,616,000 </a:t>
            </a:r>
            <a:r>
              <a:rPr lang="ko-KR" altLang="en-US" sz="600" dirty="0">
                <a:latin typeface="+mn-ea"/>
              </a:rPr>
              <a:t>원</a:t>
            </a:r>
            <a:endParaRPr lang="en-US" altLang="ko-KR" sz="600" dirty="0">
              <a:latin typeface="+mn-ea"/>
            </a:endParaRPr>
          </a:p>
        </p:txBody>
      </p:sp>
      <p:sp>
        <p:nvSpPr>
          <p:cNvPr id="67" name="모서리가 둥근 직사각형 66"/>
          <p:cNvSpPr/>
          <p:nvPr/>
        </p:nvSpPr>
        <p:spPr>
          <a:xfrm>
            <a:off x="781461" y="227805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물품</a:t>
            </a:r>
          </a:p>
        </p:txBody>
      </p:sp>
      <p:sp>
        <p:nvSpPr>
          <p:cNvPr id="68" name="모서리가 둥근 직사각형 67"/>
          <p:cNvSpPr/>
          <p:nvPr/>
        </p:nvSpPr>
        <p:spPr>
          <a:xfrm>
            <a:off x="1075655" y="2278058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수의계약</a:t>
            </a:r>
          </a:p>
        </p:txBody>
      </p: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66319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00442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3696944"/>
            <a:ext cx="45225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공지사항</a:t>
            </a:r>
          </a:p>
        </p:txBody>
      </p:sp>
      <p:sp>
        <p:nvSpPr>
          <p:cNvPr id="129" name="타원 128"/>
          <p:cNvSpPr/>
          <p:nvPr/>
        </p:nvSpPr>
        <p:spPr>
          <a:xfrm>
            <a:off x="783686" y="3728289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0" name="그룹 129"/>
          <p:cNvGrpSpPr/>
          <p:nvPr/>
        </p:nvGrpSpPr>
        <p:grpSpPr>
          <a:xfrm>
            <a:off x="3143548" y="3810275"/>
            <a:ext cx="94010" cy="47005"/>
            <a:chOff x="6812560" y="3297172"/>
            <a:chExt cx="94010" cy="47005"/>
          </a:xfrm>
        </p:grpSpPr>
        <p:cxnSp>
          <p:nvCxnSpPr>
            <p:cNvPr id="131" name="직선 연결선 13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2" name="직선 연결선 13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35884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358842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8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3884993" y="1786672"/>
            <a:ext cx="247325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 err="1"/>
              <a:t>계약번호</a:t>
            </a:r>
            <a:r>
              <a:rPr lang="ko-KR" altLang="en-US" sz="700" dirty="0"/>
              <a:t> </a:t>
            </a:r>
            <a:r>
              <a:rPr lang="en-US" altLang="ko-KR" sz="700" dirty="0"/>
              <a:t>2025000000 - 01</a:t>
            </a:r>
          </a:p>
          <a:p>
            <a:r>
              <a:rPr lang="ko-KR" altLang="en-US" sz="900" b="1" dirty="0"/>
              <a:t>물품구매</a:t>
            </a:r>
          </a:p>
        </p:txBody>
      </p:sp>
      <p:sp>
        <p:nvSpPr>
          <p:cNvPr id="191" name="모서리가 둥근 직사각형 190"/>
          <p:cNvSpPr/>
          <p:nvPr/>
        </p:nvSpPr>
        <p:spPr>
          <a:xfrm>
            <a:off x="3884993" y="1602341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물품</a:t>
            </a:r>
          </a:p>
        </p:txBody>
      </p:sp>
      <p:sp>
        <p:nvSpPr>
          <p:cNvPr id="192" name="모서리가 둥근 직사각형 191"/>
          <p:cNvSpPr/>
          <p:nvPr/>
        </p:nvSpPr>
        <p:spPr>
          <a:xfrm>
            <a:off x="4179187" y="1602341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수의계약</a:t>
            </a:r>
          </a:p>
        </p:txBody>
      </p:sp>
      <p:cxnSp>
        <p:nvCxnSpPr>
          <p:cNvPr id="193" name="직선 연결선 19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211123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3" name="직선 연결선 20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4022" y="246721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8" name="직선 연결선 20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4022" y="2467219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95" name="직선 연결선 29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30551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7" name="모서리가 둥근 직사각형 336"/>
          <p:cNvSpPr/>
          <p:nvPr/>
        </p:nvSpPr>
        <p:spPr>
          <a:xfrm>
            <a:off x="781461" y="1944348"/>
            <a:ext cx="243478" cy="119400"/>
          </a:xfrm>
          <a:prstGeom prst="roundRect">
            <a:avLst>
              <a:gd name="adj" fmla="val 23409"/>
            </a:avLst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>
                <a:solidFill>
                  <a:srgbClr val="FF0000"/>
                </a:solidFill>
              </a:rPr>
              <a:t>중요</a:t>
            </a:r>
            <a:endParaRPr lang="ko-KR" altLang="en-US" sz="600" dirty="0">
              <a:solidFill>
                <a:srgbClr val="FF0000"/>
              </a:solidFill>
            </a:endParaRPr>
          </a:p>
        </p:txBody>
      </p:sp>
      <p:sp>
        <p:nvSpPr>
          <p:cNvPr id="338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1082843" y="1950187"/>
            <a:ext cx="220200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700" dirty="0">
                <a:solidFill>
                  <a:prstClr val="black"/>
                </a:solidFill>
              </a:rPr>
              <a:t>대금 신청</a:t>
            </a:r>
            <a:r>
              <a:rPr lang="en-US" altLang="ko-KR" sz="700" dirty="0">
                <a:solidFill>
                  <a:prstClr val="black"/>
                </a:solidFill>
              </a:rPr>
              <a:t>, </a:t>
            </a:r>
            <a:r>
              <a:rPr lang="ko-KR" altLang="en-US" sz="700" dirty="0">
                <a:solidFill>
                  <a:prstClr val="black"/>
                </a:solidFill>
              </a:rPr>
              <a:t>청구는 </a:t>
            </a:r>
            <a:r>
              <a:rPr lang="en-US" altLang="ko-KR" sz="700" dirty="0">
                <a:solidFill>
                  <a:prstClr val="black"/>
                </a:solidFill>
              </a:rPr>
              <a:t>PC </a:t>
            </a:r>
            <a:r>
              <a:rPr lang="ko-KR" altLang="en-US" sz="700" dirty="0">
                <a:solidFill>
                  <a:prstClr val="black"/>
                </a:solidFill>
              </a:rPr>
              <a:t>버전에서 가능합니다</a:t>
            </a:r>
            <a:r>
              <a:rPr lang="en-US" altLang="ko-KR" sz="700" dirty="0">
                <a:solidFill>
                  <a:prstClr val="black"/>
                </a:solidFill>
              </a:rPr>
              <a:t>.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cxnSp>
        <p:nvCxnSpPr>
          <p:cNvPr id="340" name="직선 연결선 33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15091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6" name="그룹 5"/>
          <p:cNvGrpSpPr/>
          <p:nvPr/>
        </p:nvGrpSpPr>
        <p:grpSpPr>
          <a:xfrm>
            <a:off x="3836701" y="2540391"/>
            <a:ext cx="2630093" cy="1123811"/>
            <a:chOff x="3836701" y="2575831"/>
            <a:chExt cx="2630093" cy="1123811"/>
          </a:xfrm>
        </p:grpSpPr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7672" y="2575831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대금신청</a:t>
              </a:r>
              <a:r>
                <a:rPr lang="ko-KR" altLang="en-US" sz="700" dirty="0">
                  <a:latin typeface="+mn-ea"/>
                </a:rPr>
                <a:t> 업체정보</a:t>
              </a:r>
            </a:p>
          </p:txBody>
        </p:sp>
        <p:sp>
          <p:nvSpPr>
            <p:cNvPr id="253" name="직사각형 252"/>
            <p:cNvSpPr/>
            <p:nvPr/>
          </p:nvSpPr>
          <p:spPr>
            <a:xfrm>
              <a:off x="3838794" y="2827415"/>
              <a:ext cx="792000" cy="87122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55" name="직선 연결선 25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1" y="2827416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2827416"/>
              <a:ext cx="670770" cy="82747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 err="1">
                  <a:latin typeface="+mn-ea"/>
                </a:rPr>
                <a:t>업체명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대표명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청구인성명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연락처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82706" y="2827416"/>
              <a:ext cx="1775839" cy="82747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010-1234-5678</a:t>
              </a:r>
            </a:p>
          </p:txBody>
        </p:sp>
        <p:cxnSp>
          <p:nvCxnSpPr>
            <p:cNvPr id="262" name="직선 연결선 2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0585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3" name="직선 연결선 2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27222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4" name="직선 연결선 2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4859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5" name="직선 연결선 2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69964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59" name="그룹 158"/>
            <p:cNvGrpSpPr/>
            <p:nvPr/>
          </p:nvGrpSpPr>
          <p:grpSpPr>
            <a:xfrm flipV="1">
              <a:off x="6259759" y="2635184"/>
              <a:ext cx="94010" cy="47005"/>
              <a:chOff x="6812560" y="3297172"/>
              <a:chExt cx="94010" cy="47005"/>
            </a:xfrm>
          </p:grpSpPr>
          <p:cxnSp>
            <p:nvCxnSpPr>
              <p:cNvPr id="160" name="직선 연결선 15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" name="직선 연결선 16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8" name="그룹 7"/>
          <p:cNvGrpSpPr/>
          <p:nvPr/>
        </p:nvGrpSpPr>
        <p:grpSpPr>
          <a:xfrm>
            <a:off x="720490" y="4465173"/>
            <a:ext cx="2630093" cy="752297"/>
            <a:chOff x="720490" y="4465173"/>
            <a:chExt cx="2630093" cy="752297"/>
          </a:xfrm>
        </p:grpSpPr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07" name="그룹 106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108" name="직선 연결선 10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9" name="직선 연결선 10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" name="직사각형 15"/>
            <p:cNvSpPr/>
            <p:nvPr/>
          </p:nvSpPr>
          <p:spPr>
            <a:xfrm>
              <a:off x="722583" y="4772658"/>
              <a:ext cx="792000" cy="439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670770" cy="43088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계약명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43088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2025 0000 00 - 01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배추김치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15" name="직선 연결선 1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6" name="직선 연결선 11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156" name="모서리가 둥근 직사각형 155"/>
          <p:cNvSpPr/>
          <p:nvPr/>
        </p:nvSpPr>
        <p:spPr>
          <a:xfrm>
            <a:off x="1522790" y="2278058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대금청구</a:t>
            </a:r>
            <a:endParaRPr lang="ko-KR" altLang="en-US" sz="600" dirty="0"/>
          </a:p>
        </p:txBody>
      </p:sp>
      <p:sp>
        <p:nvSpPr>
          <p:cNvPr id="163" name="모서리가 둥근 직사각형 162"/>
          <p:cNvSpPr/>
          <p:nvPr/>
        </p:nvSpPr>
        <p:spPr>
          <a:xfrm>
            <a:off x="4626322" y="1602341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대금청구</a:t>
            </a:r>
            <a:endParaRPr lang="ko-KR" altLang="en-US" sz="600" dirty="0"/>
          </a:p>
        </p:txBody>
      </p:sp>
      <p:grpSp>
        <p:nvGrpSpPr>
          <p:cNvPr id="5" name="그룹 4"/>
          <p:cNvGrpSpPr/>
          <p:nvPr/>
        </p:nvGrpSpPr>
        <p:grpSpPr>
          <a:xfrm>
            <a:off x="764169" y="4142235"/>
            <a:ext cx="2210802" cy="107722"/>
            <a:chOff x="764169" y="4142235"/>
            <a:chExt cx="2210802" cy="107722"/>
          </a:xfrm>
        </p:grpSpPr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4169" y="4142235"/>
              <a:ext cx="3597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 err="1">
                  <a:latin typeface="+mn-ea"/>
                </a:rPr>
                <a:t>계약정보</a:t>
              </a:r>
              <a:endParaRPr lang="ko-KR" altLang="en-US" sz="700" b="1" dirty="0">
                <a:latin typeface="+mn-ea"/>
              </a:endParaRP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216001" y="4142235"/>
              <a:ext cx="7432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 err="1">
                  <a:latin typeface="+mn-ea"/>
                </a:rPr>
                <a:t>기성대가</a:t>
              </a:r>
              <a:r>
                <a:rPr lang="ko-KR" altLang="en-US" sz="700" dirty="0">
                  <a:latin typeface="+mn-ea"/>
                </a:rPr>
                <a:t> 신청금액</a:t>
              </a:r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051333" y="4142235"/>
              <a:ext cx="462705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세금계산서</a:t>
              </a: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06088" y="4142235"/>
              <a:ext cx="368883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>
                  <a:latin typeface="+mn-ea"/>
                </a:rPr>
                <a:t>첨부파일</a:t>
              </a:r>
              <a:endParaRPr lang="ko-KR" altLang="en-US" sz="700" dirty="0">
                <a:latin typeface="+mn-ea"/>
              </a:endParaRPr>
            </a:p>
          </p:txBody>
        </p:sp>
      </p:grpSp>
      <p:grpSp>
        <p:nvGrpSpPr>
          <p:cNvPr id="7" name="그룹 6"/>
          <p:cNvGrpSpPr/>
          <p:nvPr/>
        </p:nvGrpSpPr>
        <p:grpSpPr>
          <a:xfrm>
            <a:off x="2924086" y="4104112"/>
            <a:ext cx="422853" cy="187961"/>
            <a:chOff x="3641308" y="2234886"/>
            <a:chExt cx="422853" cy="187961"/>
          </a:xfrm>
        </p:grpSpPr>
        <p:sp>
          <p:nvSpPr>
            <p:cNvPr id="88" name="타원 87"/>
            <p:cNvSpPr/>
            <p:nvPr/>
          </p:nvSpPr>
          <p:spPr>
            <a:xfrm flipH="1">
              <a:off x="3641308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3" name="그룹 92"/>
            <p:cNvGrpSpPr/>
            <p:nvPr/>
          </p:nvGrpSpPr>
          <p:grpSpPr>
            <a:xfrm rot="5400000" flipH="1">
              <a:off x="3679895" y="2305364"/>
              <a:ext cx="94010" cy="47005"/>
              <a:chOff x="6812560" y="3297172"/>
              <a:chExt cx="94010" cy="47005"/>
            </a:xfrm>
          </p:grpSpPr>
          <p:cxnSp>
            <p:nvCxnSpPr>
              <p:cNvPr id="94" name="직선 연결선 9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직선 연결선 9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7" name="타원 96"/>
            <p:cNvSpPr/>
            <p:nvPr/>
          </p:nvSpPr>
          <p:spPr>
            <a:xfrm>
              <a:off x="3876200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8" name="그룹 97"/>
            <p:cNvGrpSpPr/>
            <p:nvPr/>
          </p:nvGrpSpPr>
          <p:grpSpPr>
            <a:xfrm rot="16200000">
              <a:off x="3931564" y="2305364"/>
              <a:ext cx="94010" cy="47005"/>
              <a:chOff x="6812560" y="3297172"/>
              <a:chExt cx="94010" cy="47005"/>
            </a:xfrm>
          </p:grpSpPr>
          <p:cxnSp>
            <p:nvCxnSpPr>
              <p:cNvPr id="99" name="직선 연결선 9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직선 연결선 9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80" name="그룹 179"/>
          <p:cNvGrpSpPr/>
          <p:nvPr/>
        </p:nvGrpSpPr>
        <p:grpSpPr>
          <a:xfrm>
            <a:off x="3866367" y="2251550"/>
            <a:ext cx="2210802" cy="107722"/>
            <a:chOff x="764169" y="4142235"/>
            <a:chExt cx="2210802" cy="107722"/>
          </a:xfrm>
        </p:grpSpPr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4169" y="4142235"/>
              <a:ext cx="3597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 err="1">
                  <a:latin typeface="+mn-ea"/>
                </a:rPr>
                <a:t>계약정보</a:t>
              </a:r>
              <a:endParaRPr lang="ko-KR" altLang="en-US" sz="700" b="1" dirty="0">
                <a:latin typeface="+mn-ea"/>
              </a:endParaRPr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216001" y="4142235"/>
              <a:ext cx="7432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 err="1">
                  <a:latin typeface="+mn-ea"/>
                </a:rPr>
                <a:t>기성대가</a:t>
              </a:r>
              <a:r>
                <a:rPr lang="ko-KR" altLang="en-US" sz="700" dirty="0">
                  <a:latin typeface="+mn-ea"/>
                </a:rPr>
                <a:t> 신청금액</a:t>
              </a:r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051333" y="4142235"/>
              <a:ext cx="462705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세금계산서</a:t>
              </a:r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06088" y="4142235"/>
              <a:ext cx="368883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>
                  <a:latin typeface="+mn-ea"/>
                </a:rPr>
                <a:t>첨부파일</a:t>
              </a:r>
              <a:endParaRPr lang="ko-KR" altLang="en-US" sz="700" dirty="0">
                <a:latin typeface="+mn-ea"/>
              </a:endParaRPr>
            </a:p>
          </p:txBody>
        </p:sp>
      </p:grpSp>
      <p:grpSp>
        <p:nvGrpSpPr>
          <p:cNvPr id="209" name="그룹 208"/>
          <p:cNvGrpSpPr/>
          <p:nvPr/>
        </p:nvGrpSpPr>
        <p:grpSpPr>
          <a:xfrm>
            <a:off x="6027618" y="2212489"/>
            <a:ext cx="422853" cy="187961"/>
            <a:chOff x="3641308" y="2234886"/>
            <a:chExt cx="422853" cy="187961"/>
          </a:xfrm>
        </p:grpSpPr>
        <p:sp>
          <p:nvSpPr>
            <p:cNvPr id="210" name="타원 209"/>
            <p:cNvSpPr/>
            <p:nvPr/>
          </p:nvSpPr>
          <p:spPr>
            <a:xfrm flipH="1">
              <a:off x="3641308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11" name="그룹 210"/>
            <p:cNvGrpSpPr/>
            <p:nvPr/>
          </p:nvGrpSpPr>
          <p:grpSpPr>
            <a:xfrm rot="5400000" flipH="1">
              <a:off x="3679895" y="2305364"/>
              <a:ext cx="94010" cy="47005"/>
              <a:chOff x="6812560" y="3297172"/>
              <a:chExt cx="94010" cy="47005"/>
            </a:xfrm>
          </p:grpSpPr>
          <p:cxnSp>
            <p:nvCxnSpPr>
              <p:cNvPr id="216" name="직선 연결선 215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7" name="직선 연결선 216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12" name="타원 211"/>
            <p:cNvSpPr/>
            <p:nvPr/>
          </p:nvSpPr>
          <p:spPr>
            <a:xfrm>
              <a:off x="3876200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13" name="그룹 212"/>
            <p:cNvGrpSpPr/>
            <p:nvPr/>
          </p:nvGrpSpPr>
          <p:grpSpPr>
            <a:xfrm rot="16200000">
              <a:off x="3931564" y="2305364"/>
              <a:ext cx="94010" cy="47005"/>
              <a:chOff x="6812560" y="3297172"/>
              <a:chExt cx="94010" cy="47005"/>
            </a:xfrm>
          </p:grpSpPr>
          <p:cxnSp>
            <p:nvCxnSpPr>
              <p:cNvPr id="214" name="직선 연결선 21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5" name="직선 연결선 21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0" name="그룹 139"/>
          <p:cNvGrpSpPr/>
          <p:nvPr/>
        </p:nvGrpSpPr>
        <p:grpSpPr>
          <a:xfrm>
            <a:off x="747925" y="3401909"/>
            <a:ext cx="2599014" cy="187961"/>
            <a:chOff x="747925" y="3393200"/>
            <a:chExt cx="2599014" cy="187961"/>
          </a:xfrm>
        </p:grpSpPr>
        <p:grpSp>
          <p:nvGrpSpPr>
            <p:cNvPr id="141" name="그룹 140"/>
            <p:cNvGrpSpPr/>
            <p:nvPr/>
          </p:nvGrpSpPr>
          <p:grpSpPr>
            <a:xfrm rot="16200000">
              <a:off x="1250697" y="3463679"/>
              <a:ext cx="94010" cy="47005"/>
              <a:chOff x="6812560" y="3297172"/>
              <a:chExt cx="94010" cy="47005"/>
            </a:xfrm>
          </p:grpSpPr>
          <p:cxnSp>
            <p:nvCxnSpPr>
              <p:cNvPr id="172" name="직선 연결선 17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3" name="직선 연결선 17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604170" y="3433319"/>
              <a:ext cx="40086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계약</a:t>
              </a:r>
            </a:p>
          </p:txBody>
        </p:sp>
        <p:sp>
          <p:nvSpPr>
            <p:cNvPr id="143" name="타원 142"/>
            <p:cNvSpPr/>
            <p:nvPr/>
          </p:nvSpPr>
          <p:spPr>
            <a:xfrm>
              <a:off x="1404035" y="3393200"/>
              <a:ext cx="187961" cy="18796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459092" y="3433319"/>
              <a:ext cx="7784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latin typeface="+mn-ea"/>
                </a:rPr>
                <a:t>3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45" name="그룹 144"/>
            <p:cNvGrpSpPr/>
            <p:nvPr/>
          </p:nvGrpSpPr>
          <p:grpSpPr>
            <a:xfrm rot="16200000">
              <a:off x="1906808" y="3463679"/>
              <a:ext cx="94010" cy="47005"/>
              <a:chOff x="6812560" y="3297172"/>
              <a:chExt cx="94010" cy="47005"/>
            </a:xfrm>
          </p:grpSpPr>
          <p:cxnSp>
            <p:nvCxnSpPr>
              <p:cNvPr id="170" name="직선 연결선 16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1" name="직선 연결선 17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6" name="그룹 145"/>
            <p:cNvGrpSpPr/>
            <p:nvPr/>
          </p:nvGrpSpPr>
          <p:grpSpPr>
            <a:xfrm rot="16200000">
              <a:off x="2562920" y="3463679"/>
              <a:ext cx="94010" cy="47005"/>
              <a:chOff x="6812560" y="3297172"/>
              <a:chExt cx="94010" cy="47005"/>
            </a:xfrm>
          </p:grpSpPr>
          <p:cxnSp>
            <p:nvCxnSpPr>
              <p:cNvPr id="168" name="직선 연결선 16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9" name="직선 연결선 16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7" name="타원 146"/>
            <p:cNvSpPr/>
            <p:nvPr/>
          </p:nvSpPr>
          <p:spPr>
            <a:xfrm>
              <a:off x="747925" y="3393200"/>
              <a:ext cx="187961" cy="18796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2982" y="3433319"/>
              <a:ext cx="7784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latin typeface="+mn-ea"/>
                </a:rPr>
                <a:t>2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51350" y="3433319"/>
              <a:ext cx="397576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입찰</a:t>
              </a:r>
            </a:p>
          </p:txBody>
        </p:sp>
        <p:sp>
          <p:nvSpPr>
            <p:cNvPr id="150" name="타원 149"/>
            <p:cNvSpPr/>
            <p:nvPr/>
          </p:nvSpPr>
          <p:spPr>
            <a:xfrm>
              <a:off x="2058749" y="3393200"/>
              <a:ext cx="187961" cy="18796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113806" y="3433319"/>
              <a:ext cx="7784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latin typeface="+mn-ea"/>
                </a:rPr>
                <a:t>4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263899" y="3433319"/>
              <a:ext cx="39864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이행</a:t>
              </a:r>
            </a:p>
          </p:txBody>
        </p:sp>
        <p:sp>
          <p:nvSpPr>
            <p:cNvPr id="153" name="타원 152"/>
            <p:cNvSpPr/>
            <p:nvPr/>
          </p:nvSpPr>
          <p:spPr>
            <a:xfrm>
              <a:off x="2714860" y="3393200"/>
              <a:ext cx="187961" cy="187961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769917" y="3433319"/>
              <a:ext cx="7784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solidFill>
                    <a:schemeClr val="bg1"/>
                  </a:solidFill>
                  <a:latin typeface="+mn-ea"/>
                </a:rPr>
                <a:t>5</a:t>
              </a:r>
              <a:endParaRPr lang="ko-KR" altLang="en-US" sz="7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920010" y="3433319"/>
              <a:ext cx="39864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대금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사후</a:t>
              </a:r>
            </a:p>
          </p:txBody>
        </p:sp>
        <p:grpSp>
          <p:nvGrpSpPr>
            <p:cNvPr id="157" name="그룹 156"/>
            <p:cNvGrpSpPr/>
            <p:nvPr/>
          </p:nvGrpSpPr>
          <p:grpSpPr>
            <a:xfrm rot="5400000">
              <a:off x="3158978" y="3393200"/>
              <a:ext cx="187961" cy="187961"/>
              <a:chOff x="3876200" y="2234886"/>
              <a:chExt cx="187961" cy="187961"/>
            </a:xfrm>
          </p:grpSpPr>
          <p:sp>
            <p:nvSpPr>
              <p:cNvPr id="158" name="타원 157"/>
              <p:cNvSpPr/>
              <p:nvPr/>
            </p:nvSpPr>
            <p:spPr>
              <a:xfrm>
                <a:off x="3876200" y="2234886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62" name="그룹 161"/>
              <p:cNvGrpSpPr/>
              <p:nvPr/>
            </p:nvGrpSpPr>
            <p:grpSpPr>
              <a:xfrm rot="16200000">
                <a:off x="3931564" y="2305364"/>
                <a:ext cx="94010" cy="47005"/>
                <a:chOff x="6812560" y="3297172"/>
                <a:chExt cx="94010" cy="47005"/>
              </a:xfrm>
            </p:grpSpPr>
            <p:cxnSp>
              <p:nvCxnSpPr>
                <p:cNvPr id="165" name="직선 연결선 164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67" name="직선 연결선 166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174" name="직사각형 173"/>
          <p:cNvSpPr/>
          <p:nvPr/>
        </p:nvSpPr>
        <p:spPr>
          <a:xfrm>
            <a:off x="7057780" y="6054387"/>
            <a:ext cx="2345790" cy="177911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fontAlgn="ctr"/>
            <a:r>
              <a:rPr lang="en-US" altLang="ko-KR" sz="500" b="1" dirty="0" smtClean="0">
                <a:solidFill>
                  <a:schemeClr val="bg1"/>
                </a:solidFill>
              </a:rPr>
              <a:t>0706) </a:t>
            </a:r>
            <a:r>
              <a:rPr lang="ko-KR" altLang="en-US" sz="500" b="1" dirty="0" err="1" smtClean="0">
                <a:solidFill>
                  <a:schemeClr val="bg1"/>
                </a:solidFill>
              </a:rPr>
              <a:t>납품금액</a:t>
            </a:r>
            <a:r>
              <a:rPr lang="en-US" altLang="ko-KR" sz="500" b="1" dirty="0" smtClean="0">
                <a:solidFill>
                  <a:schemeClr val="bg1"/>
                </a:solidFill>
              </a:rPr>
              <a:t> </a:t>
            </a:r>
            <a:r>
              <a:rPr lang="ko-KR" altLang="en-US" sz="500" b="1" dirty="0" smtClean="0">
                <a:solidFill>
                  <a:schemeClr val="bg1"/>
                </a:solidFill>
              </a:rPr>
              <a:t>누락</a:t>
            </a:r>
            <a:endParaRPr lang="ko-KR" altLang="ko-KR" sz="500" dirty="0">
              <a:solidFill>
                <a:schemeClr val="bg1"/>
              </a:solidFill>
            </a:endParaRPr>
          </a:p>
        </p:txBody>
      </p:sp>
      <p:sp>
        <p:nvSpPr>
          <p:cNvPr id="176" name="타원 17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867770" y="519730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  <p:sp>
        <p:nvSpPr>
          <p:cNvPr id="177" name="타원 17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14618" y="220237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1</a:t>
            </a:r>
            <a:endParaRPr lang="ko-KR" altLang="en-US" sz="900" b="1" dirty="0"/>
          </a:p>
        </p:txBody>
      </p:sp>
      <p:sp>
        <p:nvSpPr>
          <p:cNvPr id="178" name="타원 17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12057" y="388431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sp>
        <p:nvSpPr>
          <p:cNvPr id="179" name="타원 17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12057" y="426206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sp>
        <p:nvSpPr>
          <p:cNvPr id="182" name="타원 18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12057" y="465186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  <p:sp>
        <p:nvSpPr>
          <p:cNvPr id="183" name="타원 18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737073" y="238888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 b="1" dirty="0" smtClean="0"/>
              <a:t>1-1</a:t>
            </a:r>
            <a:endParaRPr lang="ko-KR" altLang="en-US" sz="600" b="1" dirty="0"/>
          </a:p>
        </p:txBody>
      </p:sp>
      <p:sp>
        <p:nvSpPr>
          <p:cNvPr id="184" name="타원 18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1799111" y="253568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 b="1" dirty="0" smtClean="0"/>
              <a:t>1-2</a:t>
            </a:r>
            <a:endParaRPr lang="ko-KR" altLang="en-US" sz="600" b="1" dirty="0"/>
          </a:p>
        </p:txBody>
      </p:sp>
      <p:sp>
        <p:nvSpPr>
          <p:cNvPr id="186" name="타원 18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736599" y="275612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 b="1" dirty="0" smtClean="0"/>
              <a:t>1-3</a:t>
            </a:r>
            <a:endParaRPr lang="ko-KR" altLang="en-US" sz="600" b="1" dirty="0"/>
          </a:p>
        </p:txBody>
      </p:sp>
      <p:sp>
        <p:nvSpPr>
          <p:cNvPr id="190" name="텍스트 개체 틀 2"/>
          <p:cNvSpPr txBox="1">
            <a:spLocks/>
          </p:cNvSpPr>
          <p:nvPr/>
        </p:nvSpPr>
        <p:spPr>
          <a:xfrm>
            <a:off x="7068896" y="1475995"/>
            <a:ext cx="2300284" cy="4981517"/>
          </a:xfrm>
          <a:prstGeom prst="rect">
            <a:avLst/>
          </a:prstGeom>
        </p:spPr>
        <p:txBody>
          <a:bodyPr/>
          <a:lstStyle>
            <a:lvl1pPr marL="87313" indent="-87313" algn="l" defTabSz="914400" rtl="0" eaLnBrk="1" latinLnBrk="1" hangingPunct="1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Char char="•"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indent="-228600">
              <a:buFont typeface="+mj-lt"/>
              <a:buAutoNum type="arabicPeriod"/>
            </a:pPr>
            <a:r>
              <a:rPr lang="ko-KR" altLang="en-US" sz="800" dirty="0" smtClean="0"/>
              <a:t>타이틀 영역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en-US" altLang="ko-KR" sz="800" dirty="0" smtClean="0"/>
              <a:t>1-1] </a:t>
            </a:r>
            <a:r>
              <a:rPr lang="ko-KR" altLang="en-US" sz="800" dirty="0" smtClean="0"/>
              <a:t>레이블이 화면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en-US" altLang="ko-KR" sz="800" dirty="0" smtClean="0"/>
              <a:t>- </a:t>
            </a:r>
            <a:r>
              <a:rPr lang="ko-KR" altLang="en-US" sz="800" dirty="0" smtClean="0"/>
              <a:t>화면 넘치는 경우 드래그하여 확인 가능 </a:t>
            </a:r>
            <a:r>
              <a:rPr lang="en-US" altLang="ko-KR" sz="800" dirty="0" smtClean="0"/>
              <a:t>(</a:t>
            </a:r>
            <a:r>
              <a:rPr lang="ko-KR" altLang="en-US" sz="800" dirty="0" err="1" smtClean="0"/>
              <a:t>스와이프기능</a:t>
            </a:r>
            <a:r>
              <a:rPr lang="ko-KR" altLang="en-US" sz="800" dirty="0" smtClean="0"/>
              <a:t> 반영 필요</a:t>
            </a:r>
            <a:r>
              <a:rPr lang="en-US" altLang="ko-KR" sz="800" dirty="0" smtClean="0"/>
              <a:t>)</a:t>
            </a:r>
            <a:br>
              <a:rPr lang="en-US" altLang="ko-KR" sz="800" dirty="0" smtClean="0"/>
            </a:br>
            <a:r>
              <a:rPr lang="en-US" altLang="ko-KR" sz="800" dirty="0" smtClean="0"/>
              <a:t>1-2] </a:t>
            </a:r>
            <a:r>
              <a:rPr lang="ko-KR" altLang="en-US" sz="800" dirty="0" smtClean="0"/>
              <a:t>문서 정보 영역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en-US" altLang="ko-KR" sz="800" dirty="0" smtClean="0"/>
              <a:t>- </a:t>
            </a:r>
            <a:r>
              <a:rPr lang="ko-KR" altLang="en-US" sz="800" dirty="0" err="1" smtClean="0"/>
              <a:t>판단번호</a:t>
            </a:r>
            <a:r>
              <a:rPr lang="ko-KR" altLang="en-US" sz="800" dirty="0" smtClean="0"/>
              <a:t> </a:t>
            </a:r>
            <a:r>
              <a:rPr lang="en-US" altLang="ko-KR" sz="800" dirty="0" smtClean="0"/>
              <a:t>,  </a:t>
            </a:r>
            <a:r>
              <a:rPr lang="ko-KR" altLang="en-US" sz="800" dirty="0" err="1" smtClean="0"/>
              <a:t>계약번호</a:t>
            </a:r>
            <a:r>
              <a:rPr lang="ko-KR" altLang="en-US" sz="800" dirty="0" smtClean="0"/>
              <a:t> 노출 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en-US" altLang="ko-KR" sz="800" dirty="0" smtClean="0"/>
              <a:t>- </a:t>
            </a:r>
            <a:r>
              <a:rPr lang="ko-KR" altLang="en-US" sz="800" dirty="0" err="1" smtClean="0"/>
              <a:t>판단번호</a:t>
            </a:r>
            <a:r>
              <a:rPr lang="ko-KR" altLang="en-US" sz="800" dirty="0" smtClean="0"/>
              <a:t> </a:t>
            </a:r>
            <a:r>
              <a:rPr lang="ko-KR" altLang="en-US" sz="800" dirty="0" err="1" smtClean="0"/>
              <a:t>전체노출</a:t>
            </a:r>
            <a:r>
              <a:rPr lang="ko-KR" altLang="en-US" sz="800" dirty="0" smtClean="0"/>
              <a:t> </a:t>
            </a:r>
            <a:r>
              <a:rPr lang="en-US" altLang="ko-KR" sz="800" dirty="0" smtClean="0"/>
              <a:t>/ </a:t>
            </a:r>
            <a:r>
              <a:rPr lang="ko-KR" altLang="en-US" sz="800" dirty="0" err="1" smtClean="0"/>
              <a:t>계약번호</a:t>
            </a:r>
            <a:r>
              <a:rPr lang="ko-KR" altLang="en-US" sz="800" dirty="0" smtClean="0"/>
              <a:t> </a:t>
            </a:r>
            <a:r>
              <a:rPr lang="ko-KR" altLang="en-US" sz="800" dirty="0" err="1" smtClean="0"/>
              <a:t>노출시</a:t>
            </a:r>
            <a:r>
              <a:rPr lang="ko-KR" altLang="en-US" sz="800" dirty="0" smtClean="0"/>
              <a:t> 해당 라인을 넘어가면 </a:t>
            </a:r>
            <a:r>
              <a:rPr lang="en-US" altLang="ko-KR" sz="800" dirty="0" smtClean="0"/>
              <a:t>(…) </a:t>
            </a:r>
            <a:r>
              <a:rPr lang="ko-KR" altLang="en-US" sz="800" dirty="0" err="1" smtClean="0"/>
              <a:t>말줄임</a:t>
            </a:r>
            <a:r>
              <a:rPr lang="ko-KR" altLang="en-US" sz="800" dirty="0" smtClean="0"/>
              <a:t> 표시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en-US" altLang="ko-KR" sz="800" dirty="0" smtClean="0"/>
              <a:t>1-3] </a:t>
            </a:r>
            <a:r>
              <a:rPr lang="ko-KR" altLang="en-US" sz="800" dirty="0" smtClean="0"/>
              <a:t>문서 제목 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en-US" altLang="ko-KR" sz="800" dirty="0" smtClean="0"/>
              <a:t>- </a:t>
            </a:r>
            <a:r>
              <a:rPr lang="ko-KR" altLang="en-US" sz="800" dirty="0" smtClean="0"/>
              <a:t>제목은 </a:t>
            </a:r>
            <a:r>
              <a:rPr lang="en-US" altLang="ko-KR" sz="800" dirty="0" smtClean="0"/>
              <a:t>2</a:t>
            </a:r>
            <a:r>
              <a:rPr lang="ko-KR" altLang="en-US" sz="800" dirty="0" smtClean="0"/>
              <a:t>줄 까지 노출 이후</a:t>
            </a:r>
            <a:r>
              <a:rPr lang="en-US" altLang="ko-KR" sz="800" dirty="0" smtClean="0"/>
              <a:t>(…) </a:t>
            </a:r>
            <a:r>
              <a:rPr lang="ko-KR" altLang="en-US" sz="800" dirty="0" err="1" smtClean="0"/>
              <a:t>말줄임</a:t>
            </a:r>
            <a:r>
              <a:rPr lang="ko-KR" altLang="en-US" sz="800" dirty="0" smtClean="0"/>
              <a:t> 표시</a:t>
            </a:r>
            <a:endParaRPr lang="en-US" altLang="ko-KR" sz="800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sz="800" dirty="0" err="1" smtClean="0"/>
              <a:t>업무도움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en-US" altLang="ko-KR" sz="800" dirty="0" smtClean="0"/>
              <a:t>- </a:t>
            </a:r>
            <a:r>
              <a:rPr lang="ko-KR" altLang="en-US" sz="800" dirty="0" smtClean="0"/>
              <a:t>기본값 </a:t>
            </a:r>
            <a:r>
              <a:rPr lang="en-US" altLang="ko-KR" sz="800" dirty="0" smtClean="0"/>
              <a:t>: </a:t>
            </a:r>
            <a:r>
              <a:rPr lang="ko-KR" altLang="en-US" sz="800" dirty="0" smtClean="0"/>
              <a:t>접힘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en-US" altLang="ko-KR" sz="800" dirty="0" smtClean="0"/>
              <a:t>- </a:t>
            </a:r>
            <a:r>
              <a:rPr lang="ko-KR" altLang="en-US" sz="800" dirty="0" err="1" smtClean="0"/>
              <a:t>클릭시</a:t>
            </a:r>
            <a:r>
              <a:rPr lang="ko-KR" altLang="en-US" sz="800" dirty="0" smtClean="0"/>
              <a:t> 확장하여 정보 표시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en-US" altLang="ko-KR" sz="800" dirty="0" smtClean="0"/>
              <a:t>-</a:t>
            </a:r>
            <a:r>
              <a:rPr lang="ko-KR" altLang="en-US" sz="800" dirty="0" err="1" smtClean="0"/>
              <a:t>업무도움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en-US" altLang="ko-KR" sz="800" dirty="0" smtClean="0"/>
              <a:t>&gt; </a:t>
            </a:r>
            <a:r>
              <a:rPr lang="ko-KR" altLang="en-US" sz="800" dirty="0" smtClean="0"/>
              <a:t>내역이 있는 경우 만 표시</a:t>
            </a:r>
            <a:endParaRPr lang="en-US" altLang="ko-KR" sz="800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sz="800" dirty="0" smtClean="0"/>
              <a:t>탭 영역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en-US" altLang="ko-KR" sz="800" dirty="0" smtClean="0"/>
              <a:t>- </a:t>
            </a:r>
            <a:r>
              <a:rPr lang="ko-KR" altLang="en-US" sz="800" dirty="0" err="1" smtClean="0"/>
              <a:t>신청정보</a:t>
            </a:r>
            <a:r>
              <a:rPr lang="ko-KR" altLang="en-US" sz="800" dirty="0" smtClean="0"/>
              <a:t> </a:t>
            </a:r>
            <a:r>
              <a:rPr lang="en-US" altLang="ko-KR" sz="800" dirty="0" smtClean="0"/>
              <a:t>Tab</a:t>
            </a:r>
            <a:r>
              <a:rPr lang="ko-KR" altLang="en-US" sz="800" dirty="0" smtClean="0"/>
              <a:t>은 진입 시 고정 노출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en-US" altLang="ko-KR" sz="800" dirty="0" smtClean="0"/>
              <a:t>- </a:t>
            </a:r>
            <a:r>
              <a:rPr lang="ko-KR" altLang="en-US" sz="800" dirty="0" smtClean="0"/>
              <a:t>탭 내용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ko-KR" altLang="en-US" sz="800" dirty="0" err="1" smtClean="0"/>
              <a:t>계약정보</a:t>
            </a:r>
            <a:r>
              <a:rPr lang="en-US" altLang="ko-KR" sz="800" dirty="0" smtClean="0"/>
              <a:t>, </a:t>
            </a:r>
            <a:r>
              <a:rPr lang="ko-KR" altLang="en-US" sz="800" dirty="0" smtClean="0"/>
              <a:t>기성대가신청금액</a:t>
            </a:r>
            <a:r>
              <a:rPr lang="en-US" altLang="ko-KR" sz="800" dirty="0" smtClean="0"/>
              <a:t>, </a:t>
            </a:r>
            <a:r>
              <a:rPr lang="ko-KR" altLang="en-US" sz="800" dirty="0" smtClean="0"/>
              <a:t>세금계산서</a:t>
            </a:r>
            <a:r>
              <a:rPr lang="en-US" altLang="ko-KR" sz="800" dirty="0" smtClean="0"/>
              <a:t>, </a:t>
            </a:r>
            <a:r>
              <a:rPr lang="ko-KR" altLang="en-US" sz="800" dirty="0" smtClean="0"/>
              <a:t>첨부파일 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en-US" altLang="ko-KR" sz="800" dirty="0" smtClean="0"/>
              <a:t>&gt; </a:t>
            </a:r>
            <a:r>
              <a:rPr lang="ko-KR" altLang="en-US" sz="800" dirty="0" smtClean="0"/>
              <a:t>로그인 필요 서비스 안내 표시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en-US" altLang="ko-KR" sz="800" dirty="0" smtClean="0"/>
              <a:t>- </a:t>
            </a:r>
            <a:r>
              <a:rPr lang="ko-KR" altLang="en-US" sz="800" dirty="0" smtClean="0"/>
              <a:t>화면을 </a:t>
            </a:r>
            <a:r>
              <a:rPr lang="ko-KR" altLang="en-US" sz="800" dirty="0" err="1" smtClean="0"/>
              <a:t>넘치는경우</a:t>
            </a:r>
            <a:r>
              <a:rPr lang="ko-KR" altLang="en-US" sz="800" dirty="0" smtClean="0"/>
              <a:t> 드래그하여 확인</a:t>
            </a:r>
            <a:r>
              <a:rPr lang="en-US" altLang="ko-KR" sz="800" dirty="0" smtClean="0"/>
              <a:t>(</a:t>
            </a:r>
            <a:r>
              <a:rPr lang="ko-KR" altLang="en-US" sz="800" dirty="0" err="1" smtClean="0"/>
              <a:t>스와이프기능</a:t>
            </a:r>
            <a:r>
              <a:rPr lang="ko-KR" altLang="en-US" sz="800" dirty="0" smtClean="0"/>
              <a:t> 반영 필요</a:t>
            </a:r>
            <a:r>
              <a:rPr lang="en-US" altLang="ko-KR" sz="800" dirty="0" smtClean="0"/>
              <a:t>)</a:t>
            </a:r>
            <a:br>
              <a:rPr lang="en-US" altLang="ko-KR" sz="800" dirty="0" smtClean="0"/>
            </a:br>
            <a:r>
              <a:rPr lang="en-US" altLang="ko-KR" sz="800" dirty="0" smtClean="0"/>
              <a:t>- </a:t>
            </a:r>
            <a:r>
              <a:rPr lang="ko-KR" altLang="en-US" sz="800" dirty="0" smtClean="0"/>
              <a:t>세금계산서인 경우</a:t>
            </a:r>
            <a:r>
              <a:rPr lang="en-US" altLang="ko-KR" sz="800" dirty="0" smtClean="0"/>
              <a:t>, </a:t>
            </a:r>
            <a:r>
              <a:rPr lang="ko-KR" altLang="en-US" sz="800" dirty="0" smtClean="0"/>
              <a:t>화면에서 </a:t>
            </a:r>
            <a:r>
              <a:rPr lang="en-US" altLang="ko-KR" sz="800" dirty="0" smtClean="0"/>
              <a:t>“</a:t>
            </a:r>
            <a:r>
              <a:rPr lang="ko-KR" altLang="en-US" sz="800" dirty="0" smtClean="0"/>
              <a:t>세금계산서번호 선택 을 체크한 경우 노출</a:t>
            </a:r>
            <a:r>
              <a:rPr lang="en-US" altLang="ko-KR" sz="800" dirty="0" smtClean="0"/>
              <a:t>＂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sz="800" dirty="0" err="1" smtClean="0"/>
              <a:t>계약정보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en-US" altLang="ko-KR" sz="800" dirty="0" smtClean="0"/>
              <a:t>- </a:t>
            </a:r>
            <a:r>
              <a:rPr lang="ko-KR" altLang="en-US" sz="800" dirty="0" smtClean="0"/>
              <a:t>각 공고에 맞춰 폼 변화에 유의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en-US" altLang="ko-KR" sz="800" dirty="0" smtClean="0"/>
              <a:t>- </a:t>
            </a:r>
            <a:r>
              <a:rPr lang="ko-KR" altLang="en-US" sz="800" dirty="0" err="1" smtClean="0"/>
              <a:t>상세내용에</a:t>
            </a:r>
            <a:r>
              <a:rPr lang="ko-KR" altLang="en-US" sz="800" dirty="0" smtClean="0"/>
              <a:t> 포함된 정보 표시</a:t>
            </a:r>
            <a:endParaRPr lang="en-US" altLang="ko-KR" sz="800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sz="800" dirty="0" smtClean="0"/>
              <a:t>기본값은 상단 이동 버튼</a:t>
            </a:r>
            <a:r>
              <a:rPr lang="en-US" altLang="ko-KR" sz="800" dirty="0" smtClean="0"/>
              <a:t/>
            </a:r>
            <a:br>
              <a:rPr lang="en-US" altLang="ko-KR" sz="800" dirty="0" smtClean="0"/>
            </a:br>
            <a:r>
              <a:rPr lang="ko-KR" altLang="en-US" sz="800" dirty="0" smtClean="0"/>
              <a:t>현 상세내용 탭에서는 </a:t>
            </a:r>
            <a:r>
              <a:rPr lang="en-US" altLang="ko-KR" sz="800" dirty="0" smtClean="0"/>
              <a:t>(+)</a:t>
            </a:r>
            <a:r>
              <a:rPr lang="ko-KR" altLang="en-US" sz="800" dirty="0" smtClean="0"/>
              <a:t>더하기 버튼 없음</a:t>
            </a:r>
            <a:endParaRPr lang="en-US" altLang="ko-KR" sz="800" dirty="0" smtClean="0"/>
          </a:p>
          <a:p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127426551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계약정보</a:t>
            </a:r>
            <a:r>
              <a:rPr lang="ko-KR" altLang="en-US" dirty="0"/>
              <a:t> 데이터 영역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대금신청대상목록 데이터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60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기성대가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계약정보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대금</a:t>
            </a:r>
            <a:r>
              <a:rPr lang="en-US" altLang="ko-KR" dirty="0"/>
              <a:t>/</a:t>
            </a:r>
            <a:r>
              <a:rPr lang="ko-KR" altLang="en-US" dirty="0"/>
              <a:t>사후 상세 </a:t>
            </a:r>
            <a:r>
              <a:rPr lang="en-US" altLang="ko-KR" dirty="0"/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기성대가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/>
              <a:t>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기성대가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MUI-WM-01-M08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grpSp>
        <p:nvGrpSpPr>
          <p:cNvPr id="133" name="그룹 132"/>
          <p:cNvGrpSpPr/>
          <p:nvPr/>
        </p:nvGrpSpPr>
        <p:grpSpPr>
          <a:xfrm>
            <a:off x="716366" y="1528651"/>
            <a:ext cx="2630093" cy="752298"/>
            <a:chOff x="720490" y="4465173"/>
            <a:chExt cx="2630093" cy="752298"/>
          </a:xfrm>
        </p:grpSpPr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35" name="그룹 134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147" name="직선 연결선 14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" name="직선 연결선 14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36" name="직사각형 135"/>
            <p:cNvSpPr/>
            <p:nvPr/>
          </p:nvSpPr>
          <p:spPr>
            <a:xfrm>
              <a:off x="722583" y="4772659"/>
              <a:ext cx="792000" cy="44481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37" name="직선 연결선 13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670770" cy="39658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계약명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39658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2025 0000 00 - 01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배추김치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41" name="직선 연결선 14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2" name="직선 연결선 14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35463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60" name="그룹 59"/>
          <p:cNvGrpSpPr/>
          <p:nvPr/>
        </p:nvGrpSpPr>
        <p:grpSpPr>
          <a:xfrm>
            <a:off x="716366" y="2433985"/>
            <a:ext cx="2630093" cy="1123811"/>
            <a:chOff x="3836701" y="2575831"/>
            <a:chExt cx="2630093" cy="1123811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7672" y="2575831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대금신청</a:t>
              </a:r>
              <a:r>
                <a:rPr lang="ko-KR" altLang="en-US" sz="700" dirty="0">
                  <a:latin typeface="+mn-ea"/>
                </a:rPr>
                <a:t> 업체정보</a:t>
              </a:r>
            </a:p>
          </p:txBody>
        </p:sp>
        <p:sp>
          <p:nvSpPr>
            <p:cNvPr id="62" name="직사각형 61"/>
            <p:cNvSpPr/>
            <p:nvPr/>
          </p:nvSpPr>
          <p:spPr>
            <a:xfrm>
              <a:off x="3838794" y="2827415"/>
              <a:ext cx="792000" cy="87222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1" y="2827416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2827416"/>
              <a:ext cx="670770" cy="82747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 err="1">
                  <a:latin typeface="+mn-ea"/>
                </a:rPr>
                <a:t>업체명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대표명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청구인성명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연락처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82706" y="2827416"/>
              <a:ext cx="1775839" cy="82747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010-1234-5678</a:t>
              </a:r>
            </a:p>
          </p:txBody>
        </p:sp>
        <p:cxnSp>
          <p:nvCxnSpPr>
            <p:cNvPr id="66" name="직선 연결선 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0585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7" name="직선 연결선 6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27222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8" name="직선 연결선 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4859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9" name="직선 연결선 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69964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72" name="그룹 71"/>
            <p:cNvGrpSpPr/>
            <p:nvPr/>
          </p:nvGrpSpPr>
          <p:grpSpPr>
            <a:xfrm flipV="1">
              <a:off x="6259759" y="2635184"/>
              <a:ext cx="94010" cy="47005"/>
              <a:chOff x="6812560" y="3297172"/>
              <a:chExt cx="94010" cy="47005"/>
            </a:xfrm>
          </p:grpSpPr>
          <p:cxnSp>
            <p:nvCxnSpPr>
              <p:cNvPr id="75" name="직선 연결선 7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직선 연결선 7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55" name="타원 15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9035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85496061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61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 fontScale="70000" lnSpcReduction="20000"/>
          </a:bodyPr>
          <a:lstStyle/>
          <a:p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기성대가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상세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 err="1">
                <a:latin typeface="+mn-ea"/>
              </a:rPr>
              <a:t>기성대가</a:t>
            </a:r>
            <a:r>
              <a:rPr lang="ko-KR" altLang="en-US" dirty="0">
                <a:latin typeface="+mn-ea"/>
              </a:rPr>
              <a:t> 신청 금액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대금</a:t>
            </a:r>
            <a:r>
              <a:rPr lang="en-US" altLang="ko-KR" dirty="0"/>
              <a:t>/</a:t>
            </a:r>
            <a:r>
              <a:rPr lang="ko-KR" altLang="en-US" dirty="0"/>
              <a:t>사후 상세 </a:t>
            </a:r>
            <a:r>
              <a:rPr lang="en-US" altLang="ko-KR" dirty="0"/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기성대가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/>
              <a:t>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기성대가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MUI-WM-01-M08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" name="그룹 4"/>
          <p:cNvGrpSpPr/>
          <p:nvPr/>
        </p:nvGrpSpPr>
        <p:grpSpPr>
          <a:xfrm>
            <a:off x="803364" y="1527996"/>
            <a:ext cx="2456097" cy="181140"/>
            <a:chOff x="763157" y="1527996"/>
            <a:chExt cx="2456097" cy="181140"/>
          </a:xfrm>
        </p:grpSpPr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3157" y="1527996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기성대가</a:t>
              </a:r>
              <a:r>
                <a:rPr lang="ko-KR" altLang="en-US" sz="700" dirty="0">
                  <a:latin typeface="+mn-ea"/>
                </a:rPr>
                <a:t> 신청 금액</a:t>
              </a:r>
            </a:p>
          </p:txBody>
        </p:sp>
        <p:grpSp>
          <p:nvGrpSpPr>
            <p:cNvPr id="129" name="그룹 128"/>
            <p:cNvGrpSpPr/>
            <p:nvPr/>
          </p:nvGrpSpPr>
          <p:grpSpPr>
            <a:xfrm flipV="1">
              <a:off x="3125244" y="1641327"/>
              <a:ext cx="94010" cy="47005"/>
              <a:chOff x="6812560" y="3297172"/>
              <a:chExt cx="94010" cy="47005"/>
            </a:xfrm>
          </p:grpSpPr>
          <p:cxnSp>
            <p:nvCxnSpPr>
              <p:cNvPr id="131" name="직선 연결선 13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8" name="직선 연결선 13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1" name="그룹 140"/>
          <p:cNvGrpSpPr/>
          <p:nvPr/>
        </p:nvGrpSpPr>
        <p:grpSpPr>
          <a:xfrm>
            <a:off x="716366" y="1820149"/>
            <a:ext cx="2630093" cy="3662541"/>
            <a:chOff x="3865118" y="2946204"/>
            <a:chExt cx="2630093" cy="3662541"/>
          </a:xfrm>
        </p:grpSpPr>
        <p:sp>
          <p:nvSpPr>
            <p:cNvPr id="142" name="직사각형 141"/>
            <p:cNvSpPr/>
            <p:nvPr/>
          </p:nvSpPr>
          <p:spPr>
            <a:xfrm>
              <a:off x="3867211" y="2946204"/>
              <a:ext cx="792000" cy="363159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5" name="직선 연결선 15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5118" y="294620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54274" y="2946204"/>
              <a:ext cx="715881" cy="366254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지급구분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세액여부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기성금액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공급가액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세액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공제금액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공급가액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세액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공제내역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실지급금액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신고구분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선급금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총기성율</a:t>
              </a:r>
              <a:r>
                <a:rPr lang="en-US" altLang="ko-KR" sz="700" dirty="0">
                  <a:latin typeface="+mn-ea"/>
                </a:rPr>
                <a:t>(%)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총기성금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선금정산액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금회정산액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비고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11123" y="2946204"/>
              <a:ext cx="1775839" cy="366254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기성대가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00 %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</p:txBody>
        </p: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17730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3" name="직선 연결선 1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39101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4" name="직선 연결선 1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604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80818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02189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7" name="직선 연결선 16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23559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9" name="직선 연결선 2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47448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" name="직선 연결선 2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68818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1" name="직선 연결선 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90189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" name="직선 연결선 3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510535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" name="직선 연결선 3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531906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직선 연결선 3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553276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7" name="직선 연결선 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573321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7" name="직선 연결선 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594692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8" name="직선 연결선 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615038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9" name="직선 연결선 5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636409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0" name="직선 연결선 5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657779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66" name="TextBox 6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553996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75093" y="2102656"/>
            <a:ext cx="1795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과세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62371" y="4038228"/>
            <a:ext cx="1795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확정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452955" y="1484342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2" name="그룹 61"/>
          <p:cNvGrpSpPr/>
          <p:nvPr/>
        </p:nvGrpSpPr>
        <p:grpSpPr>
          <a:xfrm>
            <a:off x="3580920" y="1518411"/>
            <a:ext cx="2456097" cy="181140"/>
            <a:chOff x="763157" y="1527996"/>
            <a:chExt cx="2456097" cy="181140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3157" y="1527996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기성대가</a:t>
              </a:r>
              <a:r>
                <a:rPr lang="ko-KR" altLang="en-US" sz="700" dirty="0">
                  <a:latin typeface="+mn-ea"/>
                </a:rPr>
                <a:t> 신청 금액</a:t>
              </a:r>
            </a:p>
          </p:txBody>
        </p:sp>
        <p:grpSp>
          <p:nvGrpSpPr>
            <p:cNvPr id="64" name="그룹 63"/>
            <p:cNvGrpSpPr/>
            <p:nvPr/>
          </p:nvGrpSpPr>
          <p:grpSpPr>
            <a:xfrm flipV="1">
              <a:off x="3125244" y="1641327"/>
              <a:ext cx="94010" cy="47005"/>
              <a:chOff x="6812560" y="3297172"/>
              <a:chExt cx="94010" cy="47005"/>
            </a:xfrm>
          </p:grpSpPr>
          <p:cxnSp>
            <p:nvCxnSpPr>
              <p:cNvPr id="65" name="직선 연결선 6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7" name="직선 연결선 66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8" name="그룹 67"/>
          <p:cNvGrpSpPr/>
          <p:nvPr/>
        </p:nvGrpSpPr>
        <p:grpSpPr>
          <a:xfrm>
            <a:off x="3493922" y="1810564"/>
            <a:ext cx="2630093" cy="3662541"/>
            <a:chOff x="3865118" y="2946204"/>
            <a:chExt cx="2630093" cy="3662541"/>
          </a:xfrm>
        </p:grpSpPr>
        <p:sp>
          <p:nvSpPr>
            <p:cNvPr id="69" name="직사각형 68"/>
            <p:cNvSpPr/>
            <p:nvPr/>
          </p:nvSpPr>
          <p:spPr>
            <a:xfrm>
              <a:off x="3867211" y="2946204"/>
              <a:ext cx="792000" cy="363159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70" name="직선 연결선 6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5118" y="294620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54274" y="2946204"/>
              <a:ext cx="715881" cy="366254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지급구분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세액여부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기성금액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공급가액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세액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공제금액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공급가액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세액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공제내역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실지급금액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신고구분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선급금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총기성율</a:t>
              </a:r>
              <a:r>
                <a:rPr lang="en-US" altLang="ko-KR" sz="700" dirty="0">
                  <a:latin typeface="+mn-ea"/>
                </a:rPr>
                <a:t>(%)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총기성금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선금정산액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금회정산액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비고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11123" y="2946204"/>
              <a:ext cx="1775839" cy="366254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기성대가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00 %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</p:txBody>
        </p:sp>
        <p:cxnSp>
          <p:nvCxnSpPr>
            <p:cNvPr id="73" name="직선 연결선 7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17730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4" name="직선 연결선 7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39101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5" name="직선 연결선 7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604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80818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7" name="직선 연결선 7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02189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8" name="직선 연결선 7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23559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9" name="직선 연결선 7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47448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0" name="직선 연결선 7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68818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직선 연결선 8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90189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2" name="직선 연결선 8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510535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3" name="직선 연결선 8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531906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4" name="직선 연결선 8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553276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5" name="직선 연결선 8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573321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6" name="직선 연결선 8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594692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직선 연결선 8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615038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8" name="직선 연결선 8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636409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9" name="직선 연결선 8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657779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452955" y="553038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37139" y="2093795"/>
            <a:ext cx="1795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면세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51797" y="4028643"/>
            <a:ext cx="1795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예정</a:t>
            </a:r>
          </a:p>
        </p:txBody>
      </p:sp>
      <p:sp>
        <p:nvSpPr>
          <p:cNvPr id="110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대금신청</a:t>
            </a:r>
            <a:r>
              <a:rPr lang="ko-KR" altLang="en-US" dirty="0"/>
              <a:t> 금액 데이터 </a:t>
            </a:r>
            <a:r>
              <a:rPr lang="ko-KR" altLang="en-US" dirty="0" smtClean="0"/>
              <a:t>영역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- 1-1] </a:t>
            </a:r>
            <a:r>
              <a:rPr lang="ko-KR" altLang="en-US" dirty="0" smtClean="0"/>
              <a:t>대금 </a:t>
            </a:r>
            <a:r>
              <a:rPr lang="ko-KR" altLang="en-US" dirty="0" err="1" smtClean="0"/>
              <a:t>신청시</a:t>
            </a:r>
            <a:r>
              <a:rPr lang="en-US" altLang="ko-KR" dirty="0" smtClean="0"/>
              <a:t>, </a:t>
            </a:r>
            <a:r>
              <a:rPr lang="ko-KR" altLang="en-US" dirty="0" err="1" smtClean="0"/>
              <a:t>지급구분별</a:t>
            </a:r>
            <a:r>
              <a:rPr lang="ko-KR" altLang="en-US" dirty="0" smtClean="0"/>
              <a:t> 항목 확인 필요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 smtClean="0"/>
              <a:t>- 1-2] </a:t>
            </a:r>
            <a:r>
              <a:rPr lang="ko-KR" altLang="en-US" dirty="0" err="1" smtClean="0"/>
              <a:t>세액여부별</a:t>
            </a:r>
            <a:r>
              <a:rPr lang="ko-KR" altLang="en-US" dirty="0" smtClean="0"/>
              <a:t> 항목 확인 필요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ko-KR" altLang="en-US" dirty="0" smtClean="0"/>
              <a:t>세액 여부</a:t>
            </a:r>
            <a:r>
              <a:rPr lang="en-US" altLang="ko-KR" dirty="0" smtClean="0"/>
              <a:t>) </a:t>
            </a:r>
            <a:r>
              <a:rPr lang="ko-KR" altLang="en-US" dirty="0" smtClean="0"/>
              <a:t>과세</a:t>
            </a:r>
            <a:r>
              <a:rPr lang="en-US" altLang="ko-KR" dirty="0" smtClean="0"/>
              <a:t>, </a:t>
            </a:r>
            <a:r>
              <a:rPr lang="ko-KR" altLang="en-US" dirty="0" smtClean="0"/>
              <a:t>면세</a:t>
            </a:r>
            <a:r>
              <a:rPr lang="en-US" altLang="ko-KR" dirty="0" smtClean="0"/>
              <a:t>, </a:t>
            </a:r>
            <a:r>
              <a:rPr lang="ko-KR" altLang="en-US" dirty="0" smtClean="0"/>
              <a:t>영세 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 smtClean="0"/>
              <a:t>- 1-3] </a:t>
            </a:r>
            <a:r>
              <a:rPr lang="ko-KR" altLang="en-US" dirty="0" err="1" smtClean="0"/>
              <a:t>신고구분</a:t>
            </a:r>
            <a:r>
              <a:rPr lang="en-US" altLang="ko-KR" dirty="0"/>
              <a:t>: </a:t>
            </a:r>
            <a:r>
              <a:rPr lang="ko-KR" altLang="en-US" dirty="0"/>
              <a:t>확정</a:t>
            </a:r>
            <a:r>
              <a:rPr lang="en-US" altLang="ko-KR" dirty="0"/>
              <a:t>, </a:t>
            </a:r>
            <a:r>
              <a:rPr lang="ko-KR" altLang="en-US" dirty="0" smtClean="0"/>
              <a:t>예정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endParaRPr lang="en-US" altLang="ko-KR" dirty="0"/>
          </a:p>
        </p:txBody>
      </p:sp>
      <p:sp>
        <p:nvSpPr>
          <p:cNvPr id="111" name="타원 11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6160" y="1581676"/>
            <a:ext cx="162064" cy="16206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12" name="타원 11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1384262" y="1804478"/>
            <a:ext cx="162064" cy="16206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00" b="1" dirty="0" smtClean="0"/>
              <a:t>1-1</a:t>
            </a:r>
            <a:endParaRPr lang="ko-KR" altLang="en-US" sz="500" b="1" dirty="0"/>
          </a:p>
        </p:txBody>
      </p:sp>
      <p:sp>
        <p:nvSpPr>
          <p:cNvPr id="114" name="타원 11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1386222" y="2080239"/>
            <a:ext cx="162064" cy="16206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00" b="1" dirty="0" smtClean="0"/>
              <a:t>1-2</a:t>
            </a:r>
            <a:endParaRPr lang="ko-KR" altLang="en-US" sz="500" b="1" dirty="0"/>
          </a:p>
        </p:txBody>
      </p:sp>
      <p:sp>
        <p:nvSpPr>
          <p:cNvPr id="115" name="타원 11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1384262" y="4018606"/>
            <a:ext cx="162064" cy="16206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00" b="1" dirty="0" smtClean="0"/>
              <a:t>1-3</a:t>
            </a:r>
            <a:endParaRPr lang="ko-KR" altLang="en-US" sz="500" b="1" dirty="0"/>
          </a:p>
        </p:txBody>
      </p:sp>
    </p:spTree>
    <p:extLst>
      <p:ext uri="{BB962C8B-B14F-4D97-AF65-F5344CB8AC3E}">
        <p14:creationId xmlns:p14="http://schemas.microsoft.com/office/powerpoint/2010/main" val="342139532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62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 fontScale="70000" lnSpcReduction="20000"/>
          </a:bodyPr>
          <a:lstStyle/>
          <a:p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기성대가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상세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 err="1">
                <a:latin typeface="+mn-ea"/>
              </a:rPr>
              <a:t>기성대가</a:t>
            </a:r>
            <a:r>
              <a:rPr lang="ko-KR" altLang="en-US" dirty="0">
                <a:latin typeface="+mn-ea"/>
              </a:rPr>
              <a:t> 신청 금액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대금</a:t>
            </a:r>
            <a:r>
              <a:rPr lang="en-US" altLang="ko-KR" dirty="0"/>
              <a:t>/</a:t>
            </a:r>
            <a:r>
              <a:rPr lang="ko-KR" altLang="en-US" dirty="0"/>
              <a:t>사후 상세 </a:t>
            </a:r>
            <a:r>
              <a:rPr lang="en-US" altLang="ko-KR" dirty="0"/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기성대가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/>
              <a:t>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기성대가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MUI-WM-01-M08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" name="그룹 4"/>
          <p:cNvGrpSpPr/>
          <p:nvPr/>
        </p:nvGrpSpPr>
        <p:grpSpPr>
          <a:xfrm>
            <a:off x="803364" y="1527996"/>
            <a:ext cx="2456097" cy="181140"/>
            <a:chOff x="763157" y="1527996"/>
            <a:chExt cx="2456097" cy="181140"/>
          </a:xfrm>
        </p:grpSpPr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3157" y="1527996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기성대가</a:t>
              </a:r>
              <a:r>
                <a:rPr lang="ko-KR" altLang="en-US" sz="700" dirty="0">
                  <a:latin typeface="+mn-ea"/>
                </a:rPr>
                <a:t> 신청 금액</a:t>
              </a:r>
            </a:p>
          </p:txBody>
        </p:sp>
        <p:grpSp>
          <p:nvGrpSpPr>
            <p:cNvPr id="129" name="그룹 128"/>
            <p:cNvGrpSpPr/>
            <p:nvPr/>
          </p:nvGrpSpPr>
          <p:grpSpPr>
            <a:xfrm flipV="1">
              <a:off x="3125244" y="1641327"/>
              <a:ext cx="94010" cy="47005"/>
              <a:chOff x="6812560" y="3297172"/>
              <a:chExt cx="94010" cy="47005"/>
            </a:xfrm>
          </p:grpSpPr>
          <p:cxnSp>
            <p:nvCxnSpPr>
              <p:cNvPr id="131" name="직선 연결선 13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8" name="직선 연결선 13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1" name="그룹 140"/>
          <p:cNvGrpSpPr/>
          <p:nvPr/>
        </p:nvGrpSpPr>
        <p:grpSpPr>
          <a:xfrm>
            <a:off x="716366" y="1820149"/>
            <a:ext cx="2630093" cy="3662541"/>
            <a:chOff x="3865118" y="2946204"/>
            <a:chExt cx="2630093" cy="3662541"/>
          </a:xfrm>
        </p:grpSpPr>
        <p:sp>
          <p:nvSpPr>
            <p:cNvPr id="142" name="직사각형 141"/>
            <p:cNvSpPr/>
            <p:nvPr/>
          </p:nvSpPr>
          <p:spPr>
            <a:xfrm>
              <a:off x="3867211" y="2946204"/>
              <a:ext cx="792000" cy="363159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5" name="직선 연결선 15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5118" y="294620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54274" y="2946204"/>
              <a:ext cx="715881" cy="366254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지급구분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세액여부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기성금액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공급가액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세액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공제금액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공급가액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세액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공제내역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실지급금액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신고구분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선급금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총기성율</a:t>
              </a:r>
              <a:r>
                <a:rPr lang="en-US" altLang="ko-KR" sz="700" dirty="0">
                  <a:latin typeface="+mn-ea"/>
                </a:rPr>
                <a:t>(%)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총기성금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선금정산액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금회정산액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비고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11123" y="2946204"/>
              <a:ext cx="1775839" cy="366254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기성대가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00 %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</p:txBody>
        </p: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17730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3" name="직선 연결선 1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39101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4" name="직선 연결선 1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604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80818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02189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7" name="직선 연결선 16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23559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9" name="직선 연결선 2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47448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" name="직선 연결선 2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68818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1" name="직선 연결선 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90189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" name="직선 연결선 3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510535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" name="직선 연결선 3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531906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직선 연결선 3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553276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7" name="직선 연결선 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573321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7" name="직선 연결선 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594692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8" name="직선 연결선 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615038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9" name="직선 연결선 5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636409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0" name="직선 연결선 5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657779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66" name="TextBox 6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553996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75093" y="2102656"/>
            <a:ext cx="1795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700" dirty="0" smtClean="0">
                <a:latin typeface="+mn-ea"/>
              </a:rPr>
              <a:t>영세</a:t>
            </a:r>
            <a:endParaRPr lang="ko-KR" altLang="en-US" sz="700" dirty="0">
              <a:latin typeface="+mn-ea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62371" y="4038228"/>
            <a:ext cx="1795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700" dirty="0" smtClean="0">
                <a:latin typeface="+mn-ea"/>
              </a:rPr>
              <a:t>예정</a:t>
            </a:r>
            <a:endParaRPr lang="ko-KR" altLang="en-US" sz="700" dirty="0">
              <a:latin typeface="+mn-ea"/>
            </a:endParaRPr>
          </a:p>
        </p:txBody>
      </p:sp>
      <p:sp>
        <p:nvSpPr>
          <p:cNvPr id="110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대금신청</a:t>
            </a:r>
            <a:r>
              <a:rPr lang="ko-KR" altLang="en-US" dirty="0"/>
              <a:t> 금액 데이터 </a:t>
            </a:r>
            <a:r>
              <a:rPr lang="ko-KR" altLang="en-US" dirty="0" smtClean="0"/>
              <a:t>영역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- 1-1] </a:t>
            </a:r>
            <a:r>
              <a:rPr lang="ko-KR" altLang="en-US" dirty="0" smtClean="0"/>
              <a:t>대금 </a:t>
            </a:r>
            <a:r>
              <a:rPr lang="ko-KR" altLang="en-US" dirty="0" err="1" smtClean="0"/>
              <a:t>신청시</a:t>
            </a:r>
            <a:r>
              <a:rPr lang="en-US" altLang="ko-KR" dirty="0" smtClean="0"/>
              <a:t>, </a:t>
            </a:r>
            <a:r>
              <a:rPr lang="ko-KR" altLang="en-US" dirty="0" err="1" smtClean="0"/>
              <a:t>지급구분별</a:t>
            </a:r>
            <a:r>
              <a:rPr lang="ko-KR" altLang="en-US" dirty="0" smtClean="0"/>
              <a:t> 항목 확인 필요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 smtClean="0"/>
              <a:t>- 1-2] </a:t>
            </a:r>
            <a:r>
              <a:rPr lang="ko-KR" altLang="en-US" dirty="0" err="1" smtClean="0"/>
              <a:t>세액여부별</a:t>
            </a:r>
            <a:r>
              <a:rPr lang="ko-KR" altLang="en-US" dirty="0" smtClean="0"/>
              <a:t> 항목 확인 필요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ko-KR" altLang="en-US" dirty="0" smtClean="0"/>
              <a:t>세액 여부</a:t>
            </a:r>
            <a:r>
              <a:rPr lang="en-US" altLang="ko-KR" dirty="0" smtClean="0"/>
              <a:t>) </a:t>
            </a:r>
            <a:r>
              <a:rPr lang="ko-KR" altLang="en-US" dirty="0" smtClean="0"/>
              <a:t>과세</a:t>
            </a:r>
            <a:r>
              <a:rPr lang="en-US" altLang="ko-KR" dirty="0" smtClean="0"/>
              <a:t>, </a:t>
            </a:r>
            <a:r>
              <a:rPr lang="ko-KR" altLang="en-US" dirty="0" smtClean="0"/>
              <a:t>면세</a:t>
            </a:r>
            <a:r>
              <a:rPr lang="en-US" altLang="ko-KR" dirty="0" smtClean="0"/>
              <a:t>, </a:t>
            </a:r>
            <a:r>
              <a:rPr lang="ko-KR" altLang="en-US" dirty="0" smtClean="0"/>
              <a:t>영세 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 smtClean="0"/>
              <a:t>- 1-3] </a:t>
            </a:r>
            <a:r>
              <a:rPr lang="ko-KR" altLang="en-US" dirty="0" err="1" smtClean="0"/>
              <a:t>신고구분</a:t>
            </a:r>
            <a:r>
              <a:rPr lang="en-US" altLang="ko-KR" dirty="0"/>
              <a:t>: </a:t>
            </a:r>
            <a:r>
              <a:rPr lang="ko-KR" altLang="en-US" dirty="0"/>
              <a:t>확정</a:t>
            </a:r>
            <a:r>
              <a:rPr lang="en-US" altLang="ko-KR" dirty="0"/>
              <a:t>, </a:t>
            </a:r>
            <a:r>
              <a:rPr lang="ko-KR" altLang="en-US" dirty="0" smtClean="0"/>
              <a:t>예정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endParaRPr lang="en-US" altLang="ko-KR" dirty="0"/>
          </a:p>
        </p:txBody>
      </p:sp>
      <p:sp>
        <p:nvSpPr>
          <p:cNvPr id="111" name="타원 11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6160" y="1581676"/>
            <a:ext cx="162064" cy="16206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12" name="타원 11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1384262" y="1804478"/>
            <a:ext cx="162064" cy="16206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00" b="1" dirty="0" smtClean="0"/>
              <a:t>1-1</a:t>
            </a:r>
            <a:endParaRPr lang="ko-KR" altLang="en-US" sz="500" b="1" dirty="0"/>
          </a:p>
        </p:txBody>
      </p:sp>
      <p:sp>
        <p:nvSpPr>
          <p:cNvPr id="114" name="타원 11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1386222" y="2080239"/>
            <a:ext cx="162064" cy="16206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00" b="1" dirty="0" smtClean="0"/>
              <a:t>1-2</a:t>
            </a:r>
            <a:endParaRPr lang="ko-KR" altLang="en-US" sz="500" b="1" dirty="0"/>
          </a:p>
        </p:txBody>
      </p:sp>
      <p:sp>
        <p:nvSpPr>
          <p:cNvPr id="115" name="타원 11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1384262" y="4018606"/>
            <a:ext cx="162064" cy="16206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00" b="1" dirty="0" smtClean="0"/>
              <a:t>1-3</a:t>
            </a:r>
            <a:endParaRPr lang="ko-KR" altLang="en-US" sz="500" b="1" dirty="0"/>
          </a:p>
        </p:txBody>
      </p:sp>
    </p:spTree>
    <p:extLst>
      <p:ext uri="{BB962C8B-B14F-4D97-AF65-F5344CB8AC3E}">
        <p14:creationId xmlns:p14="http://schemas.microsoft.com/office/powerpoint/2010/main" val="4226764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en-US" altLang="ko-KR" dirty="0">
                <a:latin typeface="+mn-ea"/>
              </a:rPr>
              <a:t>PC</a:t>
            </a:r>
            <a:r>
              <a:rPr lang="ko-KR" altLang="en-US" dirty="0">
                <a:latin typeface="+mn-ea"/>
              </a:rPr>
              <a:t>에서 사후정산청구서 작성시</a:t>
            </a:r>
            <a:r>
              <a:rPr lang="en-US" altLang="ko-KR" dirty="0">
                <a:latin typeface="+mn-ea"/>
              </a:rPr>
              <a:t>(UI-WM-01-M47), </a:t>
            </a:r>
            <a:r>
              <a:rPr lang="ko-KR" altLang="en-US" dirty="0">
                <a:latin typeface="+mn-ea"/>
              </a:rPr>
              <a:t>세금계산서</a:t>
            </a:r>
            <a:r>
              <a:rPr lang="en-US" altLang="ko-KR" dirty="0">
                <a:latin typeface="+mn-ea"/>
              </a:rPr>
              <a:t> “</a:t>
            </a:r>
            <a:r>
              <a:rPr lang="ko-KR" altLang="en-US" dirty="0">
                <a:latin typeface="+mn-ea"/>
              </a:rPr>
              <a:t>선택</a:t>
            </a:r>
            <a:r>
              <a:rPr lang="en-US" altLang="ko-KR" dirty="0">
                <a:latin typeface="+mn-ea"/>
              </a:rPr>
              <a:t>” </a:t>
            </a:r>
            <a:r>
              <a:rPr lang="ko-KR" altLang="en-US" dirty="0">
                <a:latin typeface="+mn-ea"/>
              </a:rPr>
              <a:t>을 선택한 경우 노출 되는 항목</a:t>
            </a:r>
            <a:endParaRPr lang="en-US" altLang="ko-KR" dirty="0">
              <a:latin typeface="+mn-ea"/>
            </a:endParaRPr>
          </a:p>
          <a:p>
            <a:pPr marL="228600" indent="-228600">
              <a:buAutoNum type="arabicPeriod"/>
            </a:pPr>
            <a:endParaRPr lang="en-US" altLang="ko-KR" dirty="0">
              <a:latin typeface="+mn-ea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63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기성대가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상세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세금계산서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대금</a:t>
            </a:r>
            <a:r>
              <a:rPr lang="en-US" altLang="ko-KR" dirty="0"/>
              <a:t>/</a:t>
            </a:r>
            <a:r>
              <a:rPr lang="ko-KR" altLang="en-US" dirty="0"/>
              <a:t>사후 상세 </a:t>
            </a:r>
            <a:r>
              <a:rPr lang="en-US" altLang="ko-KR" dirty="0"/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기성대가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/>
              <a:t>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기성대가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MUI-WM-01-M08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" name="그룹 4"/>
          <p:cNvGrpSpPr/>
          <p:nvPr/>
        </p:nvGrpSpPr>
        <p:grpSpPr>
          <a:xfrm>
            <a:off x="803364" y="1527996"/>
            <a:ext cx="2456097" cy="181140"/>
            <a:chOff x="763157" y="1527996"/>
            <a:chExt cx="2456097" cy="181140"/>
          </a:xfrm>
        </p:grpSpPr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3157" y="1527996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세금계산서</a:t>
              </a:r>
            </a:p>
          </p:txBody>
        </p:sp>
        <p:grpSp>
          <p:nvGrpSpPr>
            <p:cNvPr id="129" name="그룹 128"/>
            <p:cNvGrpSpPr/>
            <p:nvPr/>
          </p:nvGrpSpPr>
          <p:grpSpPr>
            <a:xfrm flipV="1">
              <a:off x="3125244" y="1641327"/>
              <a:ext cx="94010" cy="47005"/>
              <a:chOff x="6812560" y="3297172"/>
              <a:chExt cx="94010" cy="47005"/>
            </a:xfrm>
          </p:grpSpPr>
          <p:cxnSp>
            <p:nvCxnSpPr>
              <p:cNvPr id="131" name="직선 연결선 13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8" name="직선 연결선 13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1" name="그룹 140"/>
          <p:cNvGrpSpPr/>
          <p:nvPr/>
        </p:nvGrpSpPr>
        <p:grpSpPr>
          <a:xfrm>
            <a:off x="716366" y="1820148"/>
            <a:ext cx="2630093" cy="235931"/>
            <a:chOff x="3865118" y="2946203"/>
            <a:chExt cx="2630093" cy="235931"/>
          </a:xfrm>
        </p:grpSpPr>
        <p:sp>
          <p:nvSpPr>
            <p:cNvPr id="142" name="직사각형 141"/>
            <p:cNvSpPr/>
            <p:nvPr/>
          </p:nvSpPr>
          <p:spPr>
            <a:xfrm>
              <a:off x="3867211" y="2946203"/>
              <a:ext cx="792000" cy="23593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5" name="직선 연결선 15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5118" y="294620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54274" y="2946204"/>
              <a:ext cx="715881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세금계산서번호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17730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17303" y="2946204"/>
              <a:ext cx="17696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 smtClean="0">
                  <a:latin typeface="+mn-ea"/>
                </a:rPr>
                <a:t>1234-5678-9012</a:t>
              </a:r>
              <a:endParaRPr lang="ko-KR" altLang="en-US" sz="700" dirty="0">
                <a:latin typeface="+mn-ea"/>
              </a:endParaRPr>
            </a:p>
          </p:txBody>
        </p: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6160" y="1581676"/>
            <a:ext cx="162064" cy="16206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573318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9" name="그룹 48"/>
          <p:cNvGrpSpPr/>
          <p:nvPr/>
        </p:nvGrpSpPr>
        <p:grpSpPr>
          <a:xfrm>
            <a:off x="716366" y="2390505"/>
            <a:ext cx="2630093" cy="1292663"/>
            <a:chOff x="3865118" y="2946203"/>
            <a:chExt cx="2630093" cy="1292663"/>
          </a:xfrm>
        </p:grpSpPr>
        <p:sp>
          <p:nvSpPr>
            <p:cNvPr id="50" name="직사각형 49"/>
            <p:cNvSpPr/>
            <p:nvPr/>
          </p:nvSpPr>
          <p:spPr>
            <a:xfrm>
              <a:off x="3867211" y="2946203"/>
              <a:ext cx="792000" cy="129266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2" name="직선 연결선 5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5118" y="294620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54274" y="2946204"/>
              <a:ext cx="715881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월일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품목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수량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단가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공급가액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세액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11123" y="2946204"/>
              <a:ext cx="1775839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02-03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55" name="직선 연결선 5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17730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6" name="직선 연결선 5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39101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7" name="직선 연결선 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604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8" name="직선 연결선 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80818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9" name="직선 연결선 5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02189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0" name="직선 연결선 5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23559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70" name="TextBox 6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3364" y="2117158"/>
            <a:ext cx="84376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품목 정보</a:t>
            </a:r>
          </a:p>
        </p:txBody>
      </p:sp>
      <p:grpSp>
        <p:nvGrpSpPr>
          <p:cNvPr id="71" name="그룹 70"/>
          <p:cNvGrpSpPr/>
          <p:nvPr/>
        </p:nvGrpSpPr>
        <p:grpSpPr>
          <a:xfrm>
            <a:off x="716366" y="3790878"/>
            <a:ext cx="2630093" cy="1292663"/>
            <a:chOff x="3865118" y="2946203"/>
            <a:chExt cx="2630093" cy="1292663"/>
          </a:xfrm>
        </p:grpSpPr>
        <p:sp>
          <p:nvSpPr>
            <p:cNvPr id="72" name="직사각형 71"/>
            <p:cNvSpPr/>
            <p:nvPr/>
          </p:nvSpPr>
          <p:spPr>
            <a:xfrm>
              <a:off x="3867211" y="2946203"/>
              <a:ext cx="792000" cy="129266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73" name="직선 연결선 7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5118" y="294620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54274" y="2946204"/>
              <a:ext cx="715881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월일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품목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수량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단가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공급가액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세액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11123" y="2946204"/>
              <a:ext cx="1775839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02-03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17730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7" name="직선 연결선 7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39101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8" name="직선 연결선 7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604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9" name="직선 연결선 7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80818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0" name="직선 연결선 7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02189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직선 연결선 8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23559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280521"/>
            <a:ext cx="76863" cy="292489"/>
            <a:chOff x="3750067" y="4683795"/>
            <a:chExt cx="76863" cy="292489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84" name="타원 83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85" name="타원 84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149004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sz="800" dirty="0"/>
              <a:t>계약에 등록된 </a:t>
            </a:r>
            <a:r>
              <a:rPr lang="ko-KR" altLang="en-US" sz="800" dirty="0" err="1"/>
              <a:t>계약관</a:t>
            </a:r>
            <a:r>
              <a:rPr lang="ko-KR" altLang="en-US" sz="800" dirty="0"/>
              <a:t> 첨부서류 </a:t>
            </a:r>
            <a:r>
              <a:rPr lang="ko-KR" altLang="en-US" sz="800" dirty="0" err="1"/>
              <a:t>목록조회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default) </a:t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/>
              <a:t>아코디언 전체 펼침 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/>
              <a:t>업로드 기능 </a:t>
            </a:r>
            <a:r>
              <a:rPr lang="ko-KR" altLang="en-US" sz="800" dirty="0" err="1"/>
              <a:t>미지원</a:t>
            </a:r>
            <a:r>
              <a:rPr lang="ko-KR" altLang="en-US" sz="800" dirty="0"/>
              <a:t> 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 err="1"/>
              <a:t>대금청구</a:t>
            </a:r>
            <a:r>
              <a:rPr lang="ko-KR" altLang="en-US" sz="800" dirty="0"/>
              <a:t> 첨부서류에 첨부된 파일이 있는 경우에만 목록 노출</a:t>
            </a:r>
            <a:endParaRPr lang="en-US" altLang="ko-KR" sz="800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sz="800" dirty="0"/>
              <a:t>파일 목록 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/>
              <a:t>정렬</a:t>
            </a:r>
            <a:r>
              <a:rPr lang="en-US" altLang="ko-KR" sz="800" dirty="0"/>
              <a:t> : </a:t>
            </a:r>
            <a:r>
              <a:rPr lang="ko-KR" altLang="en-US" sz="800" dirty="0"/>
              <a:t>파일 업로드 시점의 </a:t>
            </a:r>
            <a:r>
              <a:rPr lang="ko-KR" altLang="en-US" sz="800" dirty="0" err="1"/>
              <a:t>등록일시</a:t>
            </a:r>
            <a:r>
              <a:rPr lang="ko-KR" altLang="en-US" sz="800" dirty="0"/>
              <a:t> 내림차순 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 err="1"/>
              <a:t>계약서류명</a:t>
            </a:r>
            <a:r>
              <a:rPr lang="en-US" altLang="ko-KR" sz="800" dirty="0"/>
              <a:t>, </a:t>
            </a:r>
            <a:r>
              <a:rPr lang="ko-KR" altLang="en-US" sz="800" dirty="0" err="1"/>
              <a:t>첨부파일명</a:t>
            </a:r>
            <a:r>
              <a:rPr lang="en-US" altLang="ko-KR" sz="800" dirty="0"/>
              <a:t>, </a:t>
            </a:r>
            <a:r>
              <a:rPr lang="ko-KR" altLang="en-US" sz="800" dirty="0"/>
              <a:t>파일 크기 표시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/>
              <a:t>파일 크기 정보가 없거나</a:t>
            </a:r>
            <a:r>
              <a:rPr lang="en-US" altLang="ko-KR" sz="800" dirty="0"/>
              <a:t>, </a:t>
            </a:r>
            <a:r>
              <a:rPr lang="ko-KR" altLang="en-US" sz="800" dirty="0"/>
              <a:t>첨부서류 파일명이 없는 경우 </a:t>
            </a:r>
            <a:r>
              <a:rPr lang="en-US" altLang="ko-KR" sz="800" dirty="0"/>
              <a:t>“-” </a:t>
            </a:r>
            <a:r>
              <a:rPr lang="ko-KR" altLang="en-US" sz="800" dirty="0"/>
              <a:t>표시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/>
              <a:t>파일명이 긴 경우 </a:t>
            </a:r>
            <a:r>
              <a:rPr lang="ko-KR" altLang="en-US" sz="800" dirty="0" err="1"/>
              <a:t>말줄임</a:t>
            </a:r>
            <a:r>
              <a:rPr lang="ko-KR" altLang="en-US" sz="800" dirty="0"/>
              <a:t> 표시</a:t>
            </a:r>
            <a:endParaRPr lang="en-US" altLang="ko-KR" sz="800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sz="800" dirty="0"/>
              <a:t>다운로드 아이콘 노출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/>
              <a:t>다운로드 </a:t>
            </a:r>
            <a:r>
              <a:rPr lang="ko-KR" altLang="en-US" sz="800" dirty="0" err="1"/>
              <a:t>클릭시</a:t>
            </a:r>
            <a:r>
              <a:rPr lang="en-US" altLang="ko-KR" sz="800" dirty="0"/>
              <a:t>, </a:t>
            </a:r>
            <a:r>
              <a:rPr lang="ko-KR" altLang="en-US" sz="800" dirty="0"/>
              <a:t>즉시 다운로드 실행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/>
              <a:t>파일 다운로드 </a:t>
            </a:r>
            <a:r>
              <a:rPr lang="ko-KR" altLang="en-US" sz="800" dirty="0" err="1"/>
              <a:t>실패시</a:t>
            </a:r>
            <a:r>
              <a:rPr lang="ko-KR" altLang="en-US" sz="800" dirty="0"/>
              <a:t> </a:t>
            </a:r>
            <a:r>
              <a:rPr lang="en-US" altLang="ko-KR" sz="800" dirty="0"/>
              <a:t>, “</a:t>
            </a:r>
            <a:r>
              <a:rPr lang="ko-KR" altLang="en-US" sz="800" dirty="0"/>
              <a:t>다운로드에 실패했습니다</a:t>
            </a:r>
            <a:r>
              <a:rPr lang="en-US" altLang="ko-KR" sz="800" dirty="0"/>
              <a:t>”</a:t>
            </a:r>
            <a:r>
              <a:rPr lang="ko-KR" altLang="en-US" sz="800" dirty="0"/>
              <a:t> 토스트 노출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/>
              <a:t>다운로드 </a:t>
            </a:r>
            <a:r>
              <a:rPr lang="ko-KR" altLang="en-US" sz="800" dirty="0" err="1"/>
              <a:t>성공시</a:t>
            </a:r>
            <a:r>
              <a:rPr lang="ko-KR" altLang="en-US" sz="800" dirty="0"/>
              <a:t> </a:t>
            </a:r>
            <a:r>
              <a:rPr lang="en-US" altLang="ko-KR" sz="800" dirty="0"/>
              <a:t>“</a:t>
            </a:r>
            <a:r>
              <a:rPr lang="ko-KR" altLang="en-US" sz="800" dirty="0"/>
              <a:t>다운로드에 성공했습니다</a:t>
            </a:r>
            <a:r>
              <a:rPr lang="en-US" altLang="ko-KR" sz="800" dirty="0"/>
              <a:t>“ </a:t>
            </a:r>
            <a:r>
              <a:rPr lang="ko-KR" altLang="en-US" sz="800" dirty="0"/>
              <a:t>노출</a:t>
            </a:r>
            <a:endParaRPr lang="en-US" altLang="ko-KR" sz="800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64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기성대가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상세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첨부파일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대금</a:t>
            </a:r>
            <a:r>
              <a:rPr lang="en-US" altLang="ko-KR" dirty="0"/>
              <a:t>/</a:t>
            </a:r>
            <a:r>
              <a:rPr lang="ko-KR" altLang="en-US" dirty="0"/>
              <a:t>사후 상세 </a:t>
            </a:r>
            <a:r>
              <a:rPr lang="en-US" altLang="ko-KR" dirty="0"/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기성대가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/>
              <a:t>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상세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기성대가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MUI-WM-01-M08</a:t>
            </a:r>
            <a:endParaRPr lang="ko-KR" altLang="en-US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8613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1" name="그룹 60"/>
          <p:cNvGrpSpPr/>
          <p:nvPr/>
        </p:nvGrpSpPr>
        <p:grpSpPr>
          <a:xfrm>
            <a:off x="806578" y="1527996"/>
            <a:ext cx="2456097" cy="181140"/>
            <a:chOff x="763157" y="1527996"/>
            <a:chExt cx="2456097" cy="181140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3157" y="1527996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첨부파일</a:t>
              </a:r>
            </a:p>
          </p:txBody>
        </p:sp>
        <p:grpSp>
          <p:nvGrpSpPr>
            <p:cNvPr id="70" name="그룹 69"/>
            <p:cNvGrpSpPr/>
            <p:nvPr/>
          </p:nvGrpSpPr>
          <p:grpSpPr>
            <a:xfrm flipV="1">
              <a:off x="3125244" y="1641327"/>
              <a:ext cx="94010" cy="47005"/>
              <a:chOff x="6812560" y="3297172"/>
              <a:chExt cx="94010" cy="47005"/>
            </a:xfrm>
          </p:grpSpPr>
          <p:cxnSp>
            <p:nvCxnSpPr>
              <p:cNvPr id="71" name="직선 연결선 7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직선 연결선 7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73" name="타원 7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9374" y="1581676"/>
            <a:ext cx="162064" cy="16206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74" name="그룹 73"/>
          <p:cNvGrpSpPr/>
          <p:nvPr/>
        </p:nvGrpSpPr>
        <p:grpSpPr>
          <a:xfrm>
            <a:off x="678614" y="1791264"/>
            <a:ext cx="2712026" cy="1339020"/>
            <a:chOff x="4063785" y="1972404"/>
            <a:chExt cx="2712026" cy="1339020"/>
          </a:xfrm>
        </p:grpSpPr>
        <p:grpSp>
          <p:nvGrpSpPr>
            <p:cNvPr id="75" name="그룹 74"/>
            <p:cNvGrpSpPr/>
            <p:nvPr/>
          </p:nvGrpSpPr>
          <p:grpSpPr>
            <a:xfrm>
              <a:off x="4063785" y="1972404"/>
              <a:ext cx="2712026" cy="1339020"/>
              <a:chOff x="3795735" y="3141693"/>
              <a:chExt cx="2712026" cy="1339020"/>
            </a:xfrm>
          </p:grpSpPr>
          <p:sp>
            <p:nvSpPr>
              <p:cNvPr id="78" name="모서리가 둥근 직사각형 77"/>
              <p:cNvSpPr/>
              <p:nvPr/>
            </p:nvSpPr>
            <p:spPr>
              <a:xfrm>
                <a:off x="3831550" y="3276811"/>
                <a:ext cx="2652743" cy="364486"/>
              </a:xfrm>
              <a:prstGeom prst="roundRect">
                <a:avLst>
                  <a:gd name="adj" fmla="val 9062"/>
                </a:avLst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208115" y="3412605"/>
                <a:ext cx="1682738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700" dirty="0" err="1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첨부파일명</a:t>
                </a:r>
                <a:r>
                  <a:rPr lang="en-US" altLang="ko-KR" sz="7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.</a:t>
                </a:r>
                <a:r>
                  <a:rPr lang="en-US" altLang="ko-KR" sz="700" dirty="0" err="1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hwp</a:t>
                </a:r>
                <a:endPara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909746" y="3405193"/>
                <a:ext cx="247786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1</a:t>
                </a:r>
                <a:endPara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81" name="타원 80"/>
              <p:cNvSpPr/>
              <p:nvPr/>
            </p:nvSpPr>
            <p:spPr>
              <a:xfrm>
                <a:off x="6240167" y="3387054"/>
                <a:ext cx="144000" cy="1440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2" name="모서리가 둥근 직사각형 81"/>
              <p:cNvSpPr/>
              <p:nvPr/>
            </p:nvSpPr>
            <p:spPr>
              <a:xfrm>
                <a:off x="3831550" y="3683497"/>
                <a:ext cx="2652743" cy="364486"/>
              </a:xfrm>
              <a:prstGeom prst="roundRect">
                <a:avLst>
                  <a:gd name="adj" fmla="val 9062"/>
                </a:avLst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208115" y="3819291"/>
                <a:ext cx="1412785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700" dirty="0" err="1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첨부파일명</a:t>
                </a:r>
                <a:r>
                  <a:rPr lang="en-US" altLang="ko-KR" sz="7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.</a:t>
                </a:r>
                <a:r>
                  <a:rPr lang="en-US" altLang="ko-KR" sz="700" dirty="0" err="1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hwp</a:t>
                </a:r>
                <a:endPara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909746" y="3811879"/>
                <a:ext cx="247786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2</a:t>
                </a:r>
                <a:endPara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85" name="타원 84"/>
              <p:cNvSpPr/>
              <p:nvPr/>
            </p:nvSpPr>
            <p:spPr>
              <a:xfrm>
                <a:off x="6240167" y="3793740"/>
                <a:ext cx="144000" cy="1440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94" name="직선 연결선 93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795735" y="4480713"/>
                <a:ext cx="2712026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332218" y="3141693"/>
                <a:ext cx="474348" cy="9233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600" dirty="0" err="1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첨부파일명</a:t>
                </a:r>
                <a:endParaRPr lang="en-US" altLang="ko-KR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6101185" y="3141693"/>
                <a:ext cx="324968" cy="9233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ko-KR" altLang="en-US" sz="6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다운로드</a:t>
                </a:r>
                <a:endParaRPr lang="en-US" altLang="ko-KR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838314" y="3141693"/>
                <a:ext cx="390650" cy="9233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ko-KR" altLang="en-US" sz="600" dirty="0" err="1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항목번호</a:t>
                </a:r>
                <a:endParaRPr lang="en-US" altLang="ko-KR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endParaRPr>
              </a:p>
            </p:txBody>
          </p:sp>
        </p:grpSp>
        <p:sp>
          <p:nvSpPr>
            <p:cNvPr id="76" name="직사각형 75"/>
            <p:cNvSpPr/>
            <p:nvPr/>
          </p:nvSpPr>
          <p:spPr>
            <a:xfrm>
              <a:off x="5968922" y="2605294"/>
              <a:ext cx="546945" cy="18466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6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[</a:t>
              </a:r>
              <a:r>
                <a:rPr lang="ko-KR" altLang="en-US" sz="6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파일크기</a:t>
              </a:r>
              <a:r>
                <a:rPr lang="en-US" altLang="ko-KR" sz="6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]</a:t>
              </a:r>
            </a:p>
          </p:txBody>
        </p:sp>
        <p:sp>
          <p:nvSpPr>
            <p:cNvPr id="77" name="직사각형 76"/>
            <p:cNvSpPr/>
            <p:nvPr/>
          </p:nvSpPr>
          <p:spPr>
            <a:xfrm>
              <a:off x="5965336" y="2159928"/>
              <a:ext cx="546945" cy="18466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6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[</a:t>
              </a:r>
              <a:r>
                <a:rPr lang="ko-KR" altLang="en-US" sz="6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파일크기</a:t>
              </a:r>
              <a:r>
                <a:rPr lang="en-US" altLang="ko-KR" sz="6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]</a:t>
              </a:r>
            </a:p>
          </p:txBody>
        </p:sp>
      </p:grpSp>
      <p:sp>
        <p:nvSpPr>
          <p:cNvPr id="98" name="타원 9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710067" y="1931251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sp>
        <p:nvSpPr>
          <p:cNvPr id="99" name="타원 9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177109" y="2564032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sp>
        <p:nvSpPr>
          <p:cNvPr id="10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128750" y="5933555"/>
            <a:ext cx="1890323" cy="186790"/>
          </a:xfrm>
          <a:prstGeom prst="roundRect">
            <a:avLst>
              <a:gd name="adj" fmla="val 50000"/>
            </a:avLst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 smtClean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다운로드에 실패했습니다</a:t>
            </a:r>
            <a:r>
              <a:rPr kumimoji="1" lang="en-US" altLang="ko-KR" sz="700" kern="0" dirty="0" smtClean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0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111842" y="5726035"/>
            <a:ext cx="1890323" cy="186790"/>
          </a:xfrm>
          <a:prstGeom prst="roundRect">
            <a:avLst>
              <a:gd name="adj" fmla="val 50000"/>
            </a:avLst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 smtClean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다운로드에 성공했습니다</a:t>
            </a:r>
            <a:r>
              <a:rPr kumimoji="1" lang="en-US" altLang="ko-KR" sz="700" kern="0" dirty="0" smtClean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02" name="타원 10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1056330" y="5837125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134337629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65</a:t>
            </a:fld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B257CD-DFF9-C20A-42B1-86A5BD32A090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(1/2)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947F42-24A6-AC12-410B-185FD576E1C3}"/>
              </a:ext>
            </a:extLst>
          </p:cNvPr>
          <p:cNvSpPr txBox="1"/>
          <p:nvPr/>
        </p:nvSpPr>
        <p:spPr>
          <a:xfrm>
            <a:off x="458117" y="803113"/>
            <a:ext cx="225278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계약정보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dmt_ctrtInfo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0D7D7297-5C46-7078-D2CB-A9F2A55503A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359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30090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74784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7999250B-FAE2-1F51-9C67-0E7F19794195}"/>
              </a:ext>
            </a:extLst>
          </p:cNvPr>
          <p:cNvSpPr txBox="1"/>
          <p:nvPr/>
        </p:nvSpPr>
        <p:spPr>
          <a:xfrm>
            <a:off x="458117" y="1652198"/>
            <a:ext cx="341015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대금신청업체정보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dmt_pymtAplyBzentyInfo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D9B73F11-43C8-323E-2BCE-3FE211E579AC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863401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359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30090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bzentyNm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상호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rprsvNm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</a:rPr>
                        <a:t>대표명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94984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청구인성명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clmtNm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청구인성명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783233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연락처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clmtTelno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연락처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976708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BC6AD7A-7FEA-F809-E71E-27313A032F8A}"/>
              </a:ext>
            </a:extLst>
          </p:cNvPr>
          <p:cNvSpPr txBox="1"/>
          <p:nvPr/>
        </p:nvSpPr>
        <p:spPr>
          <a:xfrm>
            <a:off x="462469" y="2845273"/>
            <a:ext cx="3570456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기성대가 신청 금액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dmt_PxcndCstAplyAmtInfo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A6E49579-C1CC-D6B3-07FE-10A047B3DC53}"/>
              </a:ext>
            </a:extLst>
          </p:cNvPr>
          <p:cNvGraphicFramePr>
            <a:graphicFrameLocks noGrp="1"/>
          </p:cNvGraphicFramePr>
          <p:nvPr/>
        </p:nvGraphicFramePr>
        <p:xfrm>
          <a:off x="457351" y="3056476"/>
          <a:ext cx="8994883" cy="34905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359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30090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지급구분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giveSecd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지급구분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EPNC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세액여부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vatSecd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세액여부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A :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있음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B :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없음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012454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납품금액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dlvgdsAmt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납품금액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6291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공급가액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dlvgdsSplyEqvl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공급가액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65028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세액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dlvgdsTxamt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세액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71064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공제금액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ddcAmt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공제금액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44754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공급가액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ddcSplyEqvl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공급가액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8305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세액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ddcTxamt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세액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03398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공제내역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ddcDsctnNm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공제내역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34180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실지급금액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giveClmAmt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실지급금액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62779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신고부분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cfmtnYn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신고부분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 :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확정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N :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미확정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353296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선급금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prpamt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선급금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3647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총기성율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tpxcndRt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총기성율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9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96487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총기성금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tpxcndAmt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총기성금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35662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선금정산액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prpayClclnAmt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선금정산액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77556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금회정산액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tstmClclnAmt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금회정산액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88996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birqRmrkCn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4824845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D76F2115-AEA5-60DF-F20F-00DC038CEF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876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8519867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66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33490B-4478-F735-A295-62F7CD63369D}"/>
              </a:ext>
            </a:extLst>
          </p:cNvPr>
          <p:cNvSpPr txBox="1"/>
          <p:nvPr/>
        </p:nvSpPr>
        <p:spPr>
          <a:xfrm>
            <a:off x="458117" y="803113"/>
            <a:ext cx="220149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1.4. </a:t>
            </a:r>
            <a:r>
              <a:rPr lang="ko-KR" altLang="en-US" sz="900" b="1" dirty="0">
                <a:solidFill>
                  <a:prstClr val="black"/>
                </a:solidFill>
              </a:rPr>
              <a:t>첨부서류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dlt_adocList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F6E19429-B9EE-3086-F85C-8D422E1AAC5F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3935"/>
          <a:ext cx="8994883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359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30090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첨부서류명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docNm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첨부서류명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fileNm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03398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파일크기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fileSize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파일크기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1740325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5A458C6-2001-CF3F-FE8A-1FE6B042F616}"/>
              </a:ext>
            </a:extLst>
          </p:cNvPr>
          <p:cNvSpPr txBox="1"/>
          <p:nvPr/>
        </p:nvSpPr>
        <p:spPr>
          <a:xfrm>
            <a:off x="458117" y="1879207"/>
            <a:ext cx="227843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1.5. </a:t>
            </a:r>
            <a:r>
              <a:rPr lang="ko-KR" altLang="en-US" sz="900" b="1" dirty="0">
                <a:solidFill>
                  <a:prstClr val="black"/>
                </a:solidFill>
              </a:rPr>
              <a:t>세금계산서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dlt_txivList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A9933174-C333-B54F-7FFD-9E0BA3052E1D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090410"/>
          <a:ext cx="8994883" cy="1551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359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30090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세금계산서번호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txivChcYn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세금계산서번호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 : 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선택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N : </a:t>
                      </a:r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선택안함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월일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bllPblcnYmd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월일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yyyy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-mm-dd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03398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itemNm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34180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dlvgdsQty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수량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62779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ctrtUntprc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353296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공급가액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splyEqvl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공급가액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215350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세액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txamt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세액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4824845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56D7E0CC-76BD-6960-A965-C8968E78B6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876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FD3C76-3065-7A09-0BCD-20F59635848B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(2/2)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2366209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67</a:t>
            </a:fld>
            <a:endParaRPr lang="ko-KR" altLang="en-US" dirty="0"/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0D48BDBB-D0E4-C290-79F1-6E5379B7AF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1085978"/>
              </p:ext>
            </p:extLst>
          </p:nvPr>
        </p:nvGraphicFramePr>
        <p:xfrm>
          <a:off x="453000" y="1068364"/>
          <a:ext cx="8995591" cy="509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3103963203"/>
                    </a:ext>
                  </a:extLst>
                </a:gridCol>
                <a:gridCol w="37029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4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공통코드정보를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페이지 로딩 시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en-US" sz="800" dirty="0"/>
                        <a:t>계약 정보를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570381A-11EA-037D-2035-048FAEF0D9C1}"/>
              </a:ext>
            </a:extLst>
          </p:cNvPr>
          <p:cNvSpPr txBox="1"/>
          <p:nvPr/>
        </p:nvSpPr>
        <p:spPr>
          <a:xfrm>
            <a:off x="458117" y="760911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9" name="Text Box 73">
            <a:extLst>
              <a:ext uri="{FF2B5EF4-FFF2-40B4-BE49-F238E27FC236}">
                <a16:creationId xmlns:a16="http://schemas.microsoft.com/office/drawing/2014/main" id="{0564137D-18F6-F736-06A0-678331B91E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82802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5361738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안내문 데이터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68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안내문 팝업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대금</a:t>
            </a:r>
            <a:r>
              <a:rPr lang="en-US" altLang="ko-KR" dirty="0"/>
              <a:t>/</a:t>
            </a:r>
            <a:r>
              <a:rPr lang="ko-KR" altLang="en-US" dirty="0"/>
              <a:t>사후 상세 화면의 </a:t>
            </a:r>
            <a:r>
              <a:rPr lang="ko-KR" altLang="en-US" dirty="0" err="1"/>
              <a:t>대금청구</a:t>
            </a:r>
            <a:r>
              <a:rPr lang="ko-KR" altLang="en-US" dirty="0"/>
              <a:t> 안내문 팝업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대금청구</a:t>
            </a:r>
            <a:r>
              <a:rPr lang="ko-KR" altLang="en-US" dirty="0">
                <a:latin typeface="+mn-ea"/>
              </a:rPr>
              <a:t> 안내문 팝업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MUI-WM-01-P09</a:t>
            </a:r>
            <a:endParaRPr lang="ko-KR" altLang="en-US" dirty="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96" name="양쪽 모서리가 둥근 사각형 295"/>
          <p:cNvSpPr/>
          <p:nvPr/>
        </p:nvSpPr>
        <p:spPr>
          <a:xfrm>
            <a:off x="3795734" y="2108521"/>
            <a:ext cx="2712027" cy="4123779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97" name="모서리가 둥근 직사각형 296"/>
          <p:cNvSpPr/>
          <p:nvPr/>
        </p:nvSpPr>
        <p:spPr>
          <a:xfrm>
            <a:off x="4881747" y="2138919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98" name="그룹 297"/>
          <p:cNvGrpSpPr/>
          <p:nvPr/>
        </p:nvGrpSpPr>
        <p:grpSpPr>
          <a:xfrm>
            <a:off x="6284673" y="2273335"/>
            <a:ext cx="94010" cy="94010"/>
            <a:chOff x="6812560" y="3297172"/>
            <a:chExt cx="94010" cy="94010"/>
          </a:xfrm>
        </p:grpSpPr>
        <p:cxnSp>
          <p:nvCxnSpPr>
            <p:cNvPr id="299" name="직선 연결선 29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0" name="직선 연결선 299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1" name="TextBox 3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2254014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대금청구</a:t>
            </a:r>
            <a:r>
              <a:rPr lang="ko-KR" altLang="en-US" sz="900" dirty="0">
                <a:latin typeface="+mn-ea"/>
              </a:rPr>
              <a:t> 안내문</a:t>
            </a:r>
          </a:p>
        </p:txBody>
      </p:sp>
      <p:cxnSp>
        <p:nvCxnSpPr>
          <p:cNvPr id="302" name="직선 연결선 30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25154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5" name="양쪽 모서리가 둥근 사각형 64"/>
          <p:cNvSpPr/>
          <p:nvPr/>
        </p:nvSpPr>
        <p:spPr>
          <a:xfrm>
            <a:off x="676601" y="2108521"/>
            <a:ext cx="2712027" cy="4123779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66" name="모서리가 둥근 직사각형 65"/>
          <p:cNvSpPr/>
          <p:nvPr/>
        </p:nvSpPr>
        <p:spPr>
          <a:xfrm>
            <a:off x="1762614" y="2138919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67" name="그룹 66"/>
          <p:cNvGrpSpPr/>
          <p:nvPr/>
        </p:nvGrpSpPr>
        <p:grpSpPr>
          <a:xfrm>
            <a:off x="3165540" y="2273335"/>
            <a:ext cx="94010" cy="94010"/>
            <a:chOff x="6812560" y="3297172"/>
            <a:chExt cx="94010" cy="94010"/>
          </a:xfrm>
        </p:grpSpPr>
        <p:cxnSp>
          <p:nvCxnSpPr>
            <p:cNvPr id="68" name="직선 연결선 67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9" name="직선 연결선 68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70" name="TextBox 6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5678" y="2254014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대금청구</a:t>
            </a:r>
            <a:r>
              <a:rPr lang="ko-KR" altLang="en-US" sz="900" dirty="0">
                <a:latin typeface="+mn-ea"/>
              </a:rPr>
              <a:t> 안내문</a:t>
            </a: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6601" y="25154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8" name="모서리가 둥근 직사각형 97"/>
          <p:cNvSpPr/>
          <p:nvPr/>
        </p:nvSpPr>
        <p:spPr>
          <a:xfrm rot="5400000">
            <a:off x="2663444" y="3246783"/>
            <a:ext cx="1352376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225722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36" name="모서리가 둥근 직사각형 335"/>
          <p:cNvSpPr/>
          <p:nvPr/>
        </p:nvSpPr>
        <p:spPr>
          <a:xfrm rot="5400000">
            <a:off x="5782577" y="4236250"/>
            <a:ext cx="1352376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5" y="3423369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6270" y="2612075"/>
            <a:ext cx="2532688" cy="30469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900" dirty="0">
                <a:latin typeface="+mn-ea"/>
              </a:rPr>
              <a:t>&lt;</a:t>
            </a:r>
            <a:r>
              <a:rPr lang="ko-KR" altLang="en-US" sz="900" dirty="0">
                <a:latin typeface="+mn-ea"/>
              </a:rPr>
              <a:t>계약업체 </a:t>
            </a:r>
            <a:r>
              <a:rPr lang="ko-KR" altLang="en-US" sz="900" dirty="0" err="1">
                <a:latin typeface="+mn-ea"/>
              </a:rPr>
              <a:t>대금청구</a:t>
            </a:r>
            <a:r>
              <a:rPr lang="ko-KR" altLang="en-US" sz="900" dirty="0">
                <a:latin typeface="+mn-ea"/>
              </a:rPr>
              <a:t> 시 안내문</a:t>
            </a:r>
            <a:r>
              <a:rPr lang="en-US" altLang="ko-KR" sz="900" dirty="0">
                <a:latin typeface="+mn-ea"/>
              </a:rPr>
              <a:t>&gt;</a:t>
            </a:r>
          </a:p>
          <a:p>
            <a:endParaRPr lang="en-US" altLang="ko-KR" sz="700" dirty="0">
              <a:latin typeface="+mn-ea"/>
            </a:endParaRPr>
          </a:p>
          <a:p>
            <a:r>
              <a:rPr lang="en-US" altLang="ko-KR" sz="700" dirty="0">
                <a:latin typeface="+mn-ea"/>
              </a:rPr>
              <a:t>● </a:t>
            </a:r>
            <a:r>
              <a:rPr lang="ko-KR" altLang="en-US" sz="700" dirty="0">
                <a:latin typeface="+mn-ea"/>
              </a:rPr>
              <a:t>국민연금법 제</a:t>
            </a:r>
            <a:r>
              <a:rPr lang="en-US" altLang="ko-KR" sz="700" dirty="0">
                <a:latin typeface="+mn-ea"/>
              </a:rPr>
              <a:t>95</a:t>
            </a:r>
            <a:r>
              <a:rPr lang="ko-KR" altLang="en-US" sz="700" dirty="0">
                <a:latin typeface="+mn-ea"/>
              </a:rPr>
              <a:t>조의 </a:t>
            </a:r>
            <a:r>
              <a:rPr lang="en-US" altLang="ko-KR" sz="700" dirty="0">
                <a:latin typeface="+mn-ea"/>
              </a:rPr>
              <a:t>2(</a:t>
            </a:r>
            <a:r>
              <a:rPr lang="ko-KR" altLang="en-US" sz="700" dirty="0">
                <a:latin typeface="+mn-ea"/>
              </a:rPr>
              <a:t>연금보험료 등의 </a:t>
            </a:r>
            <a:r>
              <a:rPr lang="ko-KR" altLang="en-US" sz="700" dirty="0" err="1">
                <a:latin typeface="+mn-ea"/>
              </a:rPr>
              <a:t>납부증명</a:t>
            </a:r>
            <a:r>
              <a:rPr lang="en-US" altLang="ko-KR" sz="700" dirty="0">
                <a:latin typeface="+mn-ea"/>
              </a:rPr>
              <a:t>) </a:t>
            </a:r>
            <a:r>
              <a:rPr lang="ko-KR" altLang="en-US" sz="700" dirty="0">
                <a:latin typeface="+mn-ea"/>
              </a:rPr>
              <a:t>시행중인 제도</a:t>
            </a:r>
          </a:p>
          <a:p>
            <a:endParaRPr lang="ko-KR" altLang="en-US" sz="700" dirty="0">
              <a:latin typeface="+mn-ea"/>
            </a:endParaRPr>
          </a:p>
          <a:p>
            <a:r>
              <a:rPr lang="en-US" altLang="ko-KR" sz="700" dirty="0">
                <a:latin typeface="+mn-ea"/>
              </a:rPr>
              <a:t>- </a:t>
            </a:r>
            <a:r>
              <a:rPr lang="ko-KR" altLang="en-US" sz="700" dirty="0">
                <a:latin typeface="+mn-ea"/>
              </a:rPr>
              <a:t>국민연금보험료 </a:t>
            </a:r>
            <a:r>
              <a:rPr lang="ko-KR" altLang="en-US" sz="700" dirty="0" err="1">
                <a:latin typeface="+mn-ea"/>
              </a:rPr>
              <a:t>납부증명은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대금청구시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행정정보공동이용사전동의</a:t>
            </a:r>
            <a:r>
              <a:rPr lang="ko-KR" altLang="en-US" sz="700" dirty="0">
                <a:latin typeface="+mn-ea"/>
              </a:rPr>
              <a:t> 및 사업장관리번호 입력으로 갈음합니다</a:t>
            </a:r>
            <a:r>
              <a:rPr lang="en-US" altLang="ko-KR" sz="700" dirty="0">
                <a:latin typeface="+mn-ea"/>
              </a:rPr>
              <a:t>.(</a:t>
            </a:r>
            <a:r>
              <a:rPr lang="ko-KR" altLang="en-US" sz="700" dirty="0">
                <a:latin typeface="+mn-ea"/>
              </a:rPr>
              <a:t>사업장 관리번호 문의 </a:t>
            </a:r>
            <a:r>
              <a:rPr lang="en-US" altLang="ko-KR" sz="700" dirty="0">
                <a:latin typeface="+mn-ea"/>
              </a:rPr>
              <a:t>: </a:t>
            </a:r>
            <a:r>
              <a:rPr lang="ko-KR" altLang="en-US" sz="700" dirty="0">
                <a:latin typeface="+mn-ea"/>
              </a:rPr>
              <a:t>국민연금 콜센터 </a:t>
            </a:r>
            <a:r>
              <a:rPr lang="en-US" altLang="ko-KR" sz="700" dirty="0">
                <a:latin typeface="+mn-ea"/>
              </a:rPr>
              <a:t>1355)</a:t>
            </a:r>
          </a:p>
          <a:p>
            <a:endParaRPr lang="en-US" altLang="ko-KR" sz="700" dirty="0">
              <a:latin typeface="+mn-ea"/>
            </a:endParaRPr>
          </a:p>
          <a:p>
            <a:r>
              <a:rPr lang="en-US" altLang="ko-KR" sz="700" dirty="0">
                <a:latin typeface="+mn-ea"/>
              </a:rPr>
              <a:t>● </a:t>
            </a:r>
            <a:r>
              <a:rPr lang="ko-KR" altLang="en-US" sz="700" dirty="0">
                <a:latin typeface="+mn-ea"/>
              </a:rPr>
              <a:t>국민건강보험법 제</a:t>
            </a:r>
            <a:r>
              <a:rPr lang="en-US" altLang="ko-KR" sz="700" dirty="0">
                <a:latin typeface="+mn-ea"/>
              </a:rPr>
              <a:t>81</a:t>
            </a:r>
            <a:r>
              <a:rPr lang="ko-KR" altLang="en-US" sz="700" dirty="0">
                <a:latin typeface="+mn-ea"/>
              </a:rPr>
              <a:t>조의</a:t>
            </a:r>
            <a:r>
              <a:rPr lang="en-US" altLang="ko-KR" sz="700" dirty="0">
                <a:latin typeface="+mn-ea"/>
              </a:rPr>
              <a:t>3 </a:t>
            </a:r>
            <a:r>
              <a:rPr lang="ko-KR" altLang="en-US" sz="700" dirty="0">
                <a:latin typeface="+mn-ea"/>
              </a:rPr>
              <a:t>및 시행령 제</a:t>
            </a:r>
            <a:r>
              <a:rPr lang="en-US" altLang="ko-KR" sz="700" dirty="0">
                <a:latin typeface="+mn-ea"/>
              </a:rPr>
              <a:t>47</a:t>
            </a:r>
            <a:r>
              <a:rPr lang="ko-KR" altLang="en-US" sz="700" dirty="0">
                <a:latin typeface="+mn-ea"/>
              </a:rPr>
              <a:t>조의</a:t>
            </a:r>
            <a:r>
              <a:rPr lang="en-US" altLang="ko-KR" sz="700" dirty="0">
                <a:latin typeface="+mn-ea"/>
              </a:rPr>
              <a:t>3(</a:t>
            </a:r>
            <a:r>
              <a:rPr lang="ko-KR" altLang="en-US" sz="700" dirty="0">
                <a:latin typeface="+mn-ea"/>
              </a:rPr>
              <a:t>보험료의 </a:t>
            </a:r>
            <a:r>
              <a:rPr lang="ko-KR" altLang="en-US" sz="700" dirty="0" err="1">
                <a:latin typeface="+mn-ea"/>
              </a:rPr>
              <a:t>납부증명</a:t>
            </a:r>
            <a:r>
              <a:rPr lang="ko-KR" altLang="en-US" sz="700" dirty="0">
                <a:latin typeface="+mn-ea"/>
              </a:rPr>
              <a:t> 등</a:t>
            </a:r>
            <a:r>
              <a:rPr lang="en-US" altLang="ko-KR" sz="700" dirty="0">
                <a:latin typeface="+mn-ea"/>
              </a:rPr>
              <a:t>) '16.8.4.</a:t>
            </a:r>
            <a:r>
              <a:rPr lang="ko-KR" altLang="en-US" sz="700" dirty="0">
                <a:latin typeface="+mn-ea"/>
              </a:rPr>
              <a:t>시행</a:t>
            </a:r>
          </a:p>
          <a:p>
            <a:endParaRPr lang="ko-KR" altLang="en-US" sz="700" dirty="0">
              <a:latin typeface="+mn-ea"/>
            </a:endParaRPr>
          </a:p>
          <a:p>
            <a:r>
              <a:rPr lang="en-US" altLang="ko-KR" sz="700" dirty="0">
                <a:latin typeface="+mn-ea"/>
              </a:rPr>
              <a:t>- </a:t>
            </a:r>
            <a:r>
              <a:rPr lang="ko-KR" altLang="en-US" sz="700" dirty="0">
                <a:latin typeface="+mn-ea"/>
              </a:rPr>
              <a:t>대상 </a:t>
            </a:r>
            <a:r>
              <a:rPr lang="en-US" altLang="ko-KR" sz="700" dirty="0">
                <a:latin typeface="+mn-ea"/>
              </a:rPr>
              <a:t>: '16</a:t>
            </a:r>
            <a:r>
              <a:rPr lang="ko-KR" altLang="en-US" sz="700" dirty="0">
                <a:latin typeface="+mn-ea"/>
              </a:rPr>
              <a:t>년 </a:t>
            </a:r>
            <a:r>
              <a:rPr lang="en-US" altLang="ko-KR" sz="700" dirty="0">
                <a:latin typeface="+mn-ea"/>
              </a:rPr>
              <a:t>8</a:t>
            </a:r>
            <a:r>
              <a:rPr lang="ko-KR" altLang="en-US" sz="700" dirty="0">
                <a:latin typeface="+mn-ea"/>
              </a:rPr>
              <a:t>월 </a:t>
            </a:r>
            <a:r>
              <a:rPr lang="en-US" altLang="ko-KR" sz="700" dirty="0">
                <a:latin typeface="+mn-ea"/>
              </a:rPr>
              <a:t>4</a:t>
            </a:r>
            <a:r>
              <a:rPr lang="ko-KR" altLang="en-US" sz="700" dirty="0">
                <a:latin typeface="+mn-ea"/>
              </a:rPr>
              <a:t>일 이후 최초로 계약의 대가를 지급받는 자</a:t>
            </a:r>
          </a:p>
          <a:p>
            <a:endParaRPr lang="ko-KR" altLang="en-US" sz="700" dirty="0">
              <a:latin typeface="+mn-ea"/>
            </a:endParaRPr>
          </a:p>
          <a:p>
            <a:r>
              <a:rPr lang="en-US" altLang="ko-KR" sz="700" dirty="0">
                <a:latin typeface="+mn-ea"/>
              </a:rPr>
              <a:t>- </a:t>
            </a:r>
            <a:r>
              <a:rPr lang="ko-KR" altLang="en-US" sz="700" dirty="0">
                <a:latin typeface="+mn-ea"/>
              </a:rPr>
              <a:t>제출서류 </a:t>
            </a:r>
            <a:r>
              <a:rPr lang="en-US" altLang="ko-KR" sz="700" dirty="0">
                <a:latin typeface="+mn-ea"/>
              </a:rPr>
              <a:t>: </a:t>
            </a:r>
            <a:r>
              <a:rPr lang="ko-KR" altLang="en-US" sz="700" dirty="0">
                <a:latin typeface="+mn-ea"/>
              </a:rPr>
              <a:t>건강</a:t>
            </a:r>
            <a:r>
              <a:rPr lang="en-US" altLang="ko-KR" sz="700" dirty="0">
                <a:latin typeface="+mn-ea"/>
              </a:rPr>
              <a:t>·</a:t>
            </a:r>
            <a:r>
              <a:rPr lang="ko-KR" altLang="en-US" sz="700" dirty="0">
                <a:latin typeface="+mn-ea"/>
              </a:rPr>
              <a:t>장기요양보험료 </a:t>
            </a:r>
            <a:r>
              <a:rPr lang="ko-KR" altLang="en-US" sz="700" dirty="0" err="1">
                <a:latin typeface="+mn-ea"/>
              </a:rPr>
              <a:t>납부증명서</a:t>
            </a:r>
            <a:r>
              <a:rPr lang="ko-KR" altLang="en-US" sz="700" dirty="0">
                <a:latin typeface="+mn-ea"/>
              </a:rPr>
              <a:t> 또는 </a:t>
            </a:r>
            <a:r>
              <a:rPr lang="en-US" altLang="ko-KR" sz="700" dirty="0">
                <a:latin typeface="+mn-ea"/>
              </a:rPr>
              <a:t>4</a:t>
            </a:r>
            <a:r>
              <a:rPr lang="ko-KR" altLang="en-US" sz="700" dirty="0">
                <a:latin typeface="+mn-ea"/>
              </a:rPr>
              <a:t>대 사회보험료 </a:t>
            </a:r>
            <a:r>
              <a:rPr lang="ko-KR" altLang="en-US" sz="700" dirty="0" err="1">
                <a:latin typeface="+mn-ea"/>
              </a:rPr>
              <a:t>완납증명서</a:t>
            </a:r>
            <a:r>
              <a:rPr lang="ko-KR" altLang="en-US" sz="700" dirty="0">
                <a:latin typeface="+mn-ea"/>
              </a:rPr>
              <a:t> 발급 후 스캔하여 </a:t>
            </a:r>
            <a:r>
              <a:rPr lang="ko-KR" altLang="en-US" sz="700" dirty="0" err="1">
                <a:latin typeface="+mn-ea"/>
              </a:rPr>
              <a:t>대금청구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"</a:t>
            </a:r>
            <a:r>
              <a:rPr lang="ko-KR" altLang="en-US" sz="700" dirty="0">
                <a:latin typeface="+mn-ea"/>
              </a:rPr>
              <a:t>첨부</a:t>
            </a:r>
            <a:r>
              <a:rPr lang="en-US" altLang="ko-KR" sz="700" dirty="0">
                <a:latin typeface="+mn-ea"/>
              </a:rPr>
              <a:t>"</a:t>
            </a:r>
            <a:r>
              <a:rPr lang="ko-KR" altLang="en-US" sz="700" dirty="0">
                <a:latin typeface="+mn-ea"/>
              </a:rPr>
              <a:t>란에 첨부하여 </a:t>
            </a:r>
            <a:r>
              <a:rPr lang="ko-KR" altLang="en-US" sz="700" dirty="0" err="1">
                <a:latin typeface="+mn-ea"/>
              </a:rPr>
              <a:t>대금청구</a:t>
            </a:r>
            <a:endParaRPr lang="ko-KR" altLang="en-US" sz="700" dirty="0">
              <a:latin typeface="+mn-ea"/>
            </a:endParaRPr>
          </a:p>
          <a:p>
            <a:endParaRPr lang="ko-KR" altLang="en-US" sz="700" dirty="0">
              <a:latin typeface="+mn-ea"/>
            </a:endParaRPr>
          </a:p>
          <a:p>
            <a:r>
              <a:rPr lang="ko-KR" altLang="en-US" sz="700" dirty="0">
                <a:latin typeface="+mn-ea"/>
              </a:rPr>
              <a:t>［인터넷 국민건강보험공단 사회보험징수포털</a:t>
            </a:r>
            <a:r>
              <a:rPr lang="en-US" altLang="ko-KR" sz="700" dirty="0">
                <a:latin typeface="+mn-ea"/>
              </a:rPr>
              <a:t>(</a:t>
            </a: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http://si4n.nhis.or.kr</a:t>
            </a:r>
            <a:r>
              <a:rPr lang="en-US" altLang="ko-KR" sz="700" dirty="0">
                <a:latin typeface="+mn-ea"/>
              </a:rPr>
              <a:t>), </a:t>
            </a:r>
            <a:r>
              <a:rPr lang="ko-KR" altLang="en-US" sz="700" dirty="0">
                <a:latin typeface="+mn-ea"/>
              </a:rPr>
              <a:t>지사 방문 등 발급］</a:t>
            </a:r>
          </a:p>
          <a:p>
            <a:endParaRPr lang="ko-KR" altLang="en-US" sz="700" dirty="0">
              <a:latin typeface="+mn-ea"/>
            </a:endParaRPr>
          </a:p>
          <a:p>
            <a:r>
              <a:rPr lang="en-US" altLang="ko-KR" sz="700" dirty="0">
                <a:latin typeface="+mn-ea"/>
              </a:rPr>
              <a:t>- </a:t>
            </a:r>
            <a:r>
              <a:rPr lang="ko-KR" altLang="en-US" sz="700" dirty="0" err="1">
                <a:latin typeface="+mn-ea"/>
              </a:rPr>
              <a:t>대금청구</a:t>
            </a:r>
            <a:r>
              <a:rPr lang="ko-KR" altLang="en-US" sz="700" dirty="0">
                <a:latin typeface="+mn-ea"/>
              </a:rPr>
              <a:t> 절차 </a:t>
            </a:r>
            <a:r>
              <a:rPr lang="en-US" altLang="ko-KR" sz="700" dirty="0">
                <a:latin typeface="+mn-ea"/>
              </a:rPr>
              <a:t>:</a:t>
            </a:r>
          </a:p>
          <a:p>
            <a:endParaRPr lang="en-US" altLang="ko-KR" sz="700" dirty="0">
              <a:latin typeface="+mn-ea"/>
            </a:endParaRPr>
          </a:p>
          <a:p>
            <a:r>
              <a:rPr lang="ko-KR" altLang="en-US" sz="700" dirty="0" err="1">
                <a:latin typeface="+mn-ea"/>
              </a:rPr>
              <a:t>방위사업청</a:t>
            </a:r>
            <a:r>
              <a:rPr lang="ko-KR" altLang="en-US" sz="700" dirty="0">
                <a:latin typeface="+mn-ea"/>
              </a:rPr>
              <a:t> 인터넷 홈페이지 국방전자조달시스템 → 물품</a:t>
            </a:r>
            <a:r>
              <a:rPr lang="en-US" altLang="ko-KR" sz="700" dirty="0">
                <a:latin typeface="+mn-ea"/>
              </a:rPr>
              <a:t>[</a:t>
            </a:r>
            <a:r>
              <a:rPr lang="ko-KR" altLang="en-US" sz="700" dirty="0">
                <a:latin typeface="+mn-ea"/>
              </a:rPr>
              <a:t>용역</a:t>
            </a:r>
            <a:r>
              <a:rPr lang="en-US" altLang="ko-KR" sz="700" dirty="0">
                <a:latin typeface="+mn-ea"/>
              </a:rPr>
              <a:t>/</a:t>
            </a:r>
            <a:r>
              <a:rPr lang="ko-KR" altLang="en-US" sz="700" dirty="0">
                <a:latin typeface="+mn-ea"/>
              </a:rPr>
              <a:t>공사</a:t>
            </a:r>
            <a:r>
              <a:rPr lang="en-US" altLang="ko-KR" sz="700" dirty="0">
                <a:latin typeface="+mn-ea"/>
              </a:rPr>
              <a:t>] → </a:t>
            </a:r>
            <a:r>
              <a:rPr lang="ko-KR" altLang="en-US" sz="700" dirty="0" err="1">
                <a:latin typeface="+mn-ea"/>
              </a:rPr>
              <a:t>대금청구</a:t>
            </a:r>
            <a:endParaRPr lang="ko-KR" altLang="en-US" sz="700" dirty="0">
              <a:latin typeface="+mn-ea"/>
            </a:endParaRPr>
          </a:p>
          <a:p>
            <a:endParaRPr lang="ko-KR" altLang="en-US" sz="700" dirty="0">
              <a:latin typeface="+mn-ea"/>
            </a:endParaRPr>
          </a:p>
          <a:p>
            <a:r>
              <a:rPr lang="ko-KR" altLang="en-US" sz="700" dirty="0">
                <a:latin typeface="+mn-ea"/>
              </a:rPr>
              <a:t>→ 대금</a:t>
            </a:r>
            <a:r>
              <a:rPr lang="en-US" altLang="ko-KR" sz="700" dirty="0">
                <a:latin typeface="+mn-ea"/>
              </a:rPr>
              <a:t>/</a:t>
            </a:r>
            <a:r>
              <a:rPr lang="ko-KR" altLang="en-US" sz="700" dirty="0">
                <a:latin typeface="+mn-ea"/>
              </a:rPr>
              <a:t>선금</a:t>
            </a:r>
            <a:r>
              <a:rPr lang="en-US" altLang="ko-KR" sz="700" dirty="0">
                <a:latin typeface="+mn-ea"/>
              </a:rPr>
              <a:t>/</a:t>
            </a:r>
            <a:r>
              <a:rPr lang="ko-KR" altLang="en-US" sz="700" dirty="0" err="1">
                <a:latin typeface="+mn-ea"/>
              </a:rPr>
              <a:t>착중도금</a:t>
            </a:r>
            <a:r>
              <a:rPr lang="ko-KR" altLang="en-US" sz="700" dirty="0">
                <a:latin typeface="+mn-ea"/>
              </a:rPr>
              <a:t> 신청 → 우측 </a:t>
            </a:r>
            <a:r>
              <a:rPr lang="en-US" altLang="ko-KR" sz="700" dirty="0">
                <a:latin typeface="+mn-ea"/>
              </a:rPr>
              <a:t>"</a:t>
            </a:r>
            <a:r>
              <a:rPr lang="ko-KR" altLang="en-US" sz="700" dirty="0">
                <a:latin typeface="+mn-ea"/>
              </a:rPr>
              <a:t>첨부</a:t>
            </a:r>
            <a:r>
              <a:rPr lang="en-US" altLang="ko-KR" sz="700" dirty="0">
                <a:latin typeface="+mn-ea"/>
              </a:rPr>
              <a:t>" </a:t>
            </a:r>
            <a:r>
              <a:rPr lang="ko-KR" altLang="en-US" sz="700" dirty="0">
                <a:latin typeface="+mn-ea"/>
              </a:rPr>
              <a:t>란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 err="1">
                <a:latin typeface="+mn-ea"/>
              </a:rPr>
              <a:t>보험료납부</a:t>
            </a:r>
            <a:r>
              <a:rPr lang="ko-KR" altLang="en-US" sz="700" dirty="0">
                <a:latin typeface="+mn-ea"/>
              </a:rPr>
              <a:t> 증명서</a:t>
            </a:r>
            <a:r>
              <a:rPr lang="en-US" altLang="ko-KR" sz="700" dirty="0">
                <a:latin typeface="+mn-ea"/>
              </a:rPr>
              <a:t>) </a:t>
            </a:r>
            <a:r>
              <a:rPr lang="ko-KR" altLang="en-US" sz="700" dirty="0">
                <a:latin typeface="+mn-ea"/>
              </a:rPr>
              <a:t>첨부 제출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85403" y="2612075"/>
            <a:ext cx="2532688" cy="7540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대금청구</a:t>
            </a:r>
            <a:r>
              <a:rPr lang="ko-KR" altLang="en-US" sz="700" dirty="0">
                <a:latin typeface="+mn-ea"/>
              </a:rPr>
              <a:t> 신청 전 </a:t>
            </a:r>
            <a:r>
              <a:rPr lang="en-US" altLang="ko-KR" sz="700" dirty="0">
                <a:latin typeface="+mn-ea"/>
              </a:rPr>
              <a:t>: </a:t>
            </a:r>
          </a:p>
          <a:p>
            <a:r>
              <a:rPr lang="ko-KR" altLang="en-US" sz="700" dirty="0">
                <a:latin typeface="+mn-ea"/>
              </a:rPr>
              <a:t>기반</a:t>
            </a:r>
            <a:r>
              <a:rPr lang="en-US" altLang="ko-KR" sz="700" dirty="0">
                <a:latin typeface="+mn-ea"/>
              </a:rPr>
              <a:t>_</a:t>
            </a:r>
            <a:r>
              <a:rPr lang="ko-KR" altLang="en-US" sz="700" dirty="0" err="1">
                <a:latin typeface="+mn-ea"/>
              </a:rPr>
              <a:t>지출심사</a:t>
            </a:r>
            <a:r>
              <a:rPr lang="ko-KR" altLang="en-US" sz="700" dirty="0">
                <a:latin typeface="+mn-ea"/>
              </a:rPr>
              <a:t>［</a:t>
            </a:r>
            <a:r>
              <a:rPr lang="en-US" altLang="ko-KR" sz="700" dirty="0">
                <a:latin typeface="+mn-ea"/>
              </a:rPr>
              <a:t>Tel : 02)2079-4791,4793,4794</a:t>
            </a:r>
            <a:r>
              <a:rPr lang="ko-KR" altLang="en-US" sz="700" dirty="0">
                <a:latin typeface="+mn-ea"/>
              </a:rPr>
              <a:t>］</a:t>
            </a:r>
            <a:endParaRPr lang="en-US" altLang="ko-KR" sz="700" dirty="0">
              <a:latin typeface="+mn-ea"/>
            </a:endParaRPr>
          </a:p>
          <a:p>
            <a:r>
              <a:rPr lang="ko-KR" altLang="en-US" sz="700" dirty="0">
                <a:latin typeface="+mn-ea"/>
              </a:rPr>
              <a:t>미래</a:t>
            </a:r>
            <a:r>
              <a:rPr lang="en-US" altLang="ko-KR" sz="700" dirty="0">
                <a:latin typeface="+mn-ea"/>
              </a:rPr>
              <a:t>_</a:t>
            </a:r>
            <a:r>
              <a:rPr lang="ko-KR" altLang="en-US" sz="700" dirty="0" err="1">
                <a:latin typeface="+mn-ea"/>
              </a:rPr>
              <a:t>지출심사</a:t>
            </a:r>
            <a:r>
              <a:rPr lang="ko-KR" altLang="en-US" sz="700" dirty="0">
                <a:latin typeface="+mn-ea"/>
              </a:rPr>
              <a:t>［</a:t>
            </a:r>
            <a:r>
              <a:rPr lang="en-US" altLang="ko-KR" sz="700" dirty="0">
                <a:latin typeface="+mn-ea"/>
              </a:rPr>
              <a:t>Tel : 02)2079-4021,4023,4024</a:t>
            </a:r>
            <a:r>
              <a:rPr lang="ko-KR" altLang="en-US" sz="700" dirty="0">
                <a:latin typeface="+mn-ea"/>
              </a:rPr>
              <a:t>］</a:t>
            </a:r>
          </a:p>
          <a:p>
            <a:endParaRPr lang="ko-KR" altLang="en-US" sz="700" dirty="0">
              <a:latin typeface="+mn-ea"/>
            </a:endParaRPr>
          </a:p>
          <a:p>
            <a:r>
              <a:rPr lang="ko-KR" altLang="en-US" sz="700" dirty="0" err="1">
                <a:latin typeface="+mn-ea"/>
              </a:rPr>
              <a:t>대금청구</a:t>
            </a:r>
            <a:r>
              <a:rPr lang="ko-KR" altLang="en-US" sz="700" dirty="0">
                <a:latin typeface="+mn-ea"/>
              </a:rPr>
              <a:t> 신청 후 </a:t>
            </a:r>
            <a:r>
              <a:rPr lang="en-US" altLang="ko-KR" sz="700" dirty="0">
                <a:latin typeface="+mn-ea"/>
              </a:rPr>
              <a:t>: </a:t>
            </a:r>
          </a:p>
          <a:p>
            <a:r>
              <a:rPr lang="ko-KR" altLang="en-US" sz="700" dirty="0">
                <a:latin typeface="+mn-ea"/>
              </a:rPr>
              <a:t>운영지원과 </a:t>
            </a:r>
            <a:r>
              <a:rPr lang="ko-KR" altLang="en-US" sz="700" dirty="0" err="1">
                <a:latin typeface="+mn-ea"/>
              </a:rPr>
              <a:t>재무팀</a:t>
            </a:r>
            <a:r>
              <a:rPr lang="ko-KR" altLang="en-US" sz="700" dirty="0">
                <a:latin typeface="+mn-ea"/>
              </a:rPr>
              <a:t>［</a:t>
            </a:r>
            <a:r>
              <a:rPr lang="en-US" altLang="ko-KR" sz="700" dirty="0">
                <a:latin typeface="+mn-ea"/>
              </a:rPr>
              <a:t>Tel : 02)2079-6680,6681(</a:t>
            </a:r>
            <a:r>
              <a:rPr lang="ko-KR" altLang="en-US" sz="700" dirty="0">
                <a:latin typeface="+mn-ea"/>
              </a:rPr>
              <a:t>내자</a:t>
            </a:r>
            <a:r>
              <a:rPr lang="en-US" altLang="ko-KR" sz="700" dirty="0">
                <a:latin typeface="+mn-ea"/>
              </a:rPr>
              <a:t>), 02)2079-6670(</a:t>
            </a:r>
            <a:r>
              <a:rPr lang="ko-KR" altLang="en-US" sz="700" dirty="0">
                <a:latin typeface="+mn-ea"/>
              </a:rPr>
              <a:t>외자</a:t>
            </a:r>
            <a:r>
              <a:rPr lang="en-US" altLang="ko-KR" sz="700" dirty="0">
                <a:latin typeface="+mn-ea"/>
              </a:rPr>
              <a:t>)</a:t>
            </a:r>
            <a:r>
              <a:rPr lang="ko-KR" altLang="en-US" sz="700" dirty="0">
                <a:latin typeface="+mn-ea"/>
              </a:rPr>
              <a:t>］</a:t>
            </a:r>
          </a:p>
        </p:txBody>
      </p:sp>
      <p:grpSp>
        <p:nvGrpSpPr>
          <p:cNvPr id="93" name="그룹 92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94" name="직사각형 9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252741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3107124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69</a:t>
            </a:fld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B257CD-DFF9-C20A-42B1-86A5BD32A09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947F42-24A6-AC12-410B-185FD576E1C3}"/>
              </a:ext>
            </a:extLst>
          </p:cNvPr>
          <p:cNvSpPr txBox="1"/>
          <p:nvPr/>
        </p:nvSpPr>
        <p:spPr>
          <a:xfrm>
            <a:off x="458117" y="803113"/>
            <a:ext cx="240667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입찰</a:t>
            </a:r>
            <a:r>
              <a:rPr lang="en-US" altLang="ko-KR" sz="900" b="1" dirty="0">
                <a:solidFill>
                  <a:prstClr val="black"/>
                </a:solidFill>
              </a:rPr>
              <a:t>-</a:t>
            </a:r>
            <a:r>
              <a:rPr lang="ko-KR" altLang="en-US" sz="900" b="1" dirty="0">
                <a:solidFill>
                  <a:prstClr val="black"/>
                </a:solidFill>
              </a:rPr>
              <a:t>계약체결단계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0D7D7297-5C46-7078-D2CB-A9F2A55503A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359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30090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안내문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gdntc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안내문 내용 출력 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N/A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화면에 텍스트로 입력되어 있는 내용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6AEF4FEA-15CD-69A2-4C8C-8BABCE3423EC}"/>
              </a:ext>
            </a:extLst>
          </p:cNvPr>
          <p:cNvSpPr txBox="1"/>
          <p:nvPr/>
        </p:nvSpPr>
        <p:spPr>
          <a:xfrm>
            <a:off x="458117" y="1504773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2. </a:t>
            </a:r>
            <a:r>
              <a:rPr lang="ko-KR" altLang="en-US" sz="1000" b="1" dirty="0">
                <a:solidFill>
                  <a:prstClr val="black"/>
                </a:solidFill>
              </a:rPr>
              <a:t>이벤트 설명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23D2C0FD-B7E6-BFF5-E0B8-21BA70A735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5817151"/>
              </p:ext>
            </p:extLst>
          </p:nvPr>
        </p:nvGraphicFramePr>
        <p:xfrm>
          <a:off x="453000" y="1808593"/>
          <a:ext cx="8995591" cy="703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3103963203"/>
                    </a:ext>
                  </a:extLst>
                </a:gridCol>
                <a:gridCol w="37029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4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대금청구 안내문 내용이 출력된다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닫기 클릭 이벤트</a:t>
                      </a:r>
                      <a:endParaRPr lang="en-US" altLang="ko-KR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scwin.btn_Idnty_onclick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안내문 팝업이 닫힌다</a:t>
                      </a:r>
                      <a:r>
                        <a:rPr lang="en-US" altLang="ko-KR" sz="800" dirty="0"/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01183062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46D6EB85-208E-BA56-0A60-736C4614C7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876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1601178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70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사후정산청구상세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대금</a:t>
            </a:r>
            <a:r>
              <a:rPr lang="en-US" altLang="ko-KR" dirty="0"/>
              <a:t>/</a:t>
            </a:r>
            <a:r>
              <a:rPr lang="ko-KR" altLang="en-US" dirty="0"/>
              <a:t>사후 상세 </a:t>
            </a:r>
            <a:r>
              <a:rPr lang="en-US" altLang="ko-KR" dirty="0" smtClean="0"/>
              <a:t>– </a:t>
            </a:r>
            <a:r>
              <a:rPr lang="ko-KR" altLang="en-US" dirty="0" smtClean="0">
                <a:latin typeface="+mn-ea"/>
              </a:rPr>
              <a:t>사후정산청구 상세 </a:t>
            </a:r>
            <a:r>
              <a:rPr lang="ko-KR" altLang="en-US" dirty="0" smtClean="0"/>
              <a:t>조회 </a:t>
            </a:r>
            <a:r>
              <a:rPr lang="ko-KR" altLang="en-US" dirty="0"/>
              <a:t>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smtClean="0">
                <a:latin typeface="+mn-ea"/>
              </a:rPr>
              <a:t>사후정산청구상세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MUI-WM-01-M13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smtClean="0">
                <a:latin typeface="+mn-ea"/>
              </a:rPr>
              <a:t>사후정산 </a:t>
            </a:r>
            <a:r>
              <a:rPr lang="ko-KR" altLang="en-US" sz="800" dirty="0" err="1" smtClean="0">
                <a:latin typeface="+mn-ea"/>
              </a:rPr>
              <a:t>청구상세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81461" y="2462389"/>
            <a:ext cx="247325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 err="1"/>
              <a:t>계약번호</a:t>
            </a:r>
            <a:r>
              <a:rPr lang="ko-KR" altLang="en-US" sz="700" dirty="0"/>
              <a:t> </a:t>
            </a:r>
            <a:r>
              <a:rPr lang="en-US" altLang="ko-KR" sz="700" dirty="0"/>
              <a:t>2025000000 - 01</a:t>
            </a:r>
          </a:p>
          <a:p>
            <a:r>
              <a:rPr lang="ko-KR" altLang="en-US" sz="900" b="1" dirty="0"/>
              <a:t>물품구매</a:t>
            </a:r>
          </a:p>
        </p:txBody>
      </p:sp>
      <p:sp>
        <p:nvSpPr>
          <p:cNvPr id="56" name="TextBox 59">
            <a:extLst>
              <a:ext uri="{FF2B5EF4-FFF2-40B4-BE49-F238E27FC236}">
                <a16:creationId xmlns:a16="http://schemas.microsoft.com/office/drawing/2014/main" id="{F77C802D-3BC8-270F-87FC-5F442BD8054D}"/>
              </a:ext>
            </a:extLst>
          </p:cNvPr>
          <p:cNvSpPr txBox="1"/>
          <p:nvPr/>
        </p:nvSpPr>
        <p:spPr>
          <a:xfrm>
            <a:off x="781461" y="2797454"/>
            <a:ext cx="307777" cy="39767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sz="600" dirty="0" err="1">
                <a:latin typeface="+mn-ea"/>
              </a:rPr>
              <a:t>계약일자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발주기관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계약금액</a:t>
            </a:r>
            <a:endParaRPr lang="en-US" altLang="ko-KR" sz="600" dirty="0">
              <a:latin typeface="+mn-ea"/>
            </a:endParaRPr>
          </a:p>
        </p:txBody>
      </p:sp>
      <p:sp>
        <p:nvSpPr>
          <p:cNvPr id="57" name="TextBox 60">
            <a:extLst>
              <a:ext uri="{FF2B5EF4-FFF2-40B4-BE49-F238E27FC236}">
                <a16:creationId xmlns:a16="http://schemas.microsoft.com/office/drawing/2014/main" id="{8F5E3227-69E6-C89F-B8C5-534226E95EA8}"/>
              </a:ext>
            </a:extLst>
          </p:cNvPr>
          <p:cNvSpPr txBox="1"/>
          <p:nvPr/>
        </p:nvSpPr>
        <p:spPr>
          <a:xfrm>
            <a:off x="2596303" y="2782065"/>
            <a:ext cx="472886" cy="39767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2026-02-10</a:t>
            </a:r>
          </a:p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제</a:t>
            </a:r>
            <a:r>
              <a:rPr lang="en-US" altLang="ko-KR" sz="600" dirty="0">
                <a:latin typeface="+mn-ea"/>
              </a:rPr>
              <a:t>8385</a:t>
            </a:r>
            <a:r>
              <a:rPr lang="ko-KR" altLang="en-US" sz="600" dirty="0">
                <a:latin typeface="+mn-ea"/>
              </a:rPr>
              <a:t>부대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11,616,000 </a:t>
            </a:r>
            <a:r>
              <a:rPr lang="ko-KR" altLang="en-US" sz="600" dirty="0">
                <a:latin typeface="+mn-ea"/>
              </a:rPr>
              <a:t>원</a:t>
            </a:r>
            <a:endParaRPr lang="en-US" altLang="ko-KR" sz="600" dirty="0">
              <a:latin typeface="+mn-ea"/>
            </a:endParaRPr>
          </a:p>
        </p:txBody>
      </p:sp>
      <p:sp>
        <p:nvSpPr>
          <p:cNvPr id="67" name="모서리가 둥근 직사각형 66"/>
          <p:cNvSpPr/>
          <p:nvPr/>
        </p:nvSpPr>
        <p:spPr>
          <a:xfrm>
            <a:off x="781461" y="227805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물품</a:t>
            </a:r>
          </a:p>
        </p:txBody>
      </p:sp>
      <p:sp>
        <p:nvSpPr>
          <p:cNvPr id="68" name="모서리가 둥근 직사각형 67"/>
          <p:cNvSpPr/>
          <p:nvPr/>
        </p:nvSpPr>
        <p:spPr>
          <a:xfrm>
            <a:off x="1075655" y="2278058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수의계약</a:t>
            </a:r>
          </a:p>
        </p:txBody>
      </p: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66319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00442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3696944"/>
            <a:ext cx="45225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공지사항</a:t>
            </a:r>
          </a:p>
        </p:txBody>
      </p:sp>
      <p:sp>
        <p:nvSpPr>
          <p:cNvPr id="129" name="타원 128"/>
          <p:cNvSpPr/>
          <p:nvPr/>
        </p:nvSpPr>
        <p:spPr>
          <a:xfrm>
            <a:off x="783686" y="3728289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0" name="그룹 129"/>
          <p:cNvGrpSpPr/>
          <p:nvPr/>
        </p:nvGrpSpPr>
        <p:grpSpPr>
          <a:xfrm>
            <a:off x="3143548" y="3810275"/>
            <a:ext cx="94010" cy="47005"/>
            <a:chOff x="6812560" y="3297172"/>
            <a:chExt cx="94010" cy="47005"/>
          </a:xfrm>
        </p:grpSpPr>
        <p:cxnSp>
          <p:nvCxnSpPr>
            <p:cNvPr id="131" name="직선 연결선 13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2" name="직선 연결선 13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35884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4142235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계약정보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358842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" name="그룹 6"/>
          <p:cNvGrpSpPr/>
          <p:nvPr/>
        </p:nvGrpSpPr>
        <p:grpSpPr>
          <a:xfrm>
            <a:off x="3150467" y="3992719"/>
            <a:ext cx="422853" cy="187961"/>
            <a:chOff x="3641308" y="2234886"/>
            <a:chExt cx="422853" cy="187961"/>
          </a:xfrm>
        </p:grpSpPr>
        <p:sp>
          <p:nvSpPr>
            <p:cNvPr id="88" name="타원 87"/>
            <p:cNvSpPr/>
            <p:nvPr/>
          </p:nvSpPr>
          <p:spPr>
            <a:xfrm flipH="1">
              <a:off x="3641308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3" name="그룹 92"/>
            <p:cNvGrpSpPr/>
            <p:nvPr/>
          </p:nvGrpSpPr>
          <p:grpSpPr>
            <a:xfrm rot="5400000" flipH="1">
              <a:off x="3679895" y="2305364"/>
              <a:ext cx="94010" cy="47005"/>
              <a:chOff x="6812560" y="3297172"/>
              <a:chExt cx="94010" cy="47005"/>
            </a:xfrm>
          </p:grpSpPr>
          <p:cxnSp>
            <p:nvCxnSpPr>
              <p:cNvPr id="94" name="직선 연결선 9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직선 연결선 9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7" name="타원 96"/>
            <p:cNvSpPr/>
            <p:nvPr/>
          </p:nvSpPr>
          <p:spPr>
            <a:xfrm>
              <a:off x="3876200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8" name="그룹 97"/>
            <p:cNvGrpSpPr/>
            <p:nvPr/>
          </p:nvGrpSpPr>
          <p:grpSpPr>
            <a:xfrm rot="16200000">
              <a:off x="3931564" y="2305364"/>
              <a:ext cx="94010" cy="47005"/>
              <a:chOff x="6812560" y="3297172"/>
              <a:chExt cx="94010" cy="47005"/>
            </a:xfrm>
          </p:grpSpPr>
          <p:cxnSp>
            <p:nvCxnSpPr>
              <p:cNvPr id="99" name="직선 연결선 9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직선 연결선 9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3" name="직선 연결선 19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50129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3" name="직선 연결선 20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4022" y="1857277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04" name="TextBox 20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67701" y="1640670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계약정보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208" name="직선 연결선 20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4022" y="1857277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09" name="그룹 208"/>
          <p:cNvGrpSpPr/>
          <p:nvPr/>
        </p:nvGrpSpPr>
        <p:grpSpPr>
          <a:xfrm>
            <a:off x="6084908" y="1526167"/>
            <a:ext cx="422853" cy="187961"/>
            <a:chOff x="3641308" y="2234886"/>
            <a:chExt cx="422853" cy="187961"/>
          </a:xfrm>
        </p:grpSpPr>
        <p:sp>
          <p:nvSpPr>
            <p:cNvPr id="210" name="타원 209"/>
            <p:cNvSpPr/>
            <p:nvPr/>
          </p:nvSpPr>
          <p:spPr>
            <a:xfrm flipH="1">
              <a:off x="3641308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11" name="그룹 210"/>
            <p:cNvGrpSpPr/>
            <p:nvPr/>
          </p:nvGrpSpPr>
          <p:grpSpPr>
            <a:xfrm rot="5400000" flipH="1">
              <a:off x="3679895" y="2305364"/>
              <a:ext cx="94010" cy="47005"/>
              <a:chOff x="6812560" y="3297172"/>
              <a:chExt cx="94010" cy="47005"/>
            </a:xfrm>
          </p:grpSpPr>
          <p:cxnSp>
            <p:nvCxnSpPr>
              <p:cNvPr id="216" name="직선 연결선 215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7" name="직선 연결선 216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12" name="타원 211"/>
            <p:cNvSpPr/>
            <p:nvPr/>
          </p:nvSpPr>
          <p:spPr>
            <a:xfrm>
              <a:off x="3876200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13" name="그룹 212"/>
            <p:cNvGrpSpPr/>
            <p:nvPr/>
          </p:nvGrpSpPr>
          <p:grpSpPr>
            <a:xfrm rot="16200000">
              <a:off x="3931564" y="2305364"/>
              <a:ext cx="94010" cy="47005"/>
              <a:chOff x="6812560" y="3297172"/>
              <a:chExt cx="94010" cy="47005"/>
            </a:xfrm>
          </p:grpSpPr>
          <p:cxnSp>
            <p:nvCxnSpPr>
              <p:cNvPr id="214" name="직선 연결선 21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5" name="직선 연결선 21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84" name="타원 283"/>
          <p:cNvSpPr/>
          <p:nvPr/>
        </p:nvSpPr>
        <p:spPr>
          <a:xfrm>
            <a:off x="6596790" y="564023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8" name="그룹 27"/>
          <p:cNvGrpSpPr/>
          <p:nvPr/>
        </p:nvGrpSpPr>
        <p:grpSpPr>
          <a:xfrm>
            <a:off x="6726257" y="5769705"/>
            <a:ext cx="124144" cy="124144"/>
            <a:chOff x="162544" y="5299917"/>
            <a:chExt cx="124144" cy="124144"/>
          </a:xfrm>
        </p:grpSpPr>
        <p:cxnSp>
          <p:nvCxnSpPr>
            <p:cNvPr id="288" name="직선 연결선 287"/>
            <p:cNvCxnSpPr/>
            <p:nvPr/>
          </p:nvCxnSpPr>
          <p:spPr>
            <a:xfrm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9" name="직선 연결선 288"/>
            <p:cNvCxnSpPr/>
            <p:nvPr/>
          </p:nvCxnSpPr>
          <p:spPr>
            <a:xfrm rot="16200000"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95" name="직선 연결선 29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30551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7" name="모서리가 둥근 직사각형 336"/>
          <p:cNvSpPr/>
          <p:nvPr/>
        </p:nvSpPr>
        <p:spPr>
          <a:xfrm>
            <a:off x="781461" y="1944348"/>
            <a:ext cx="243478" cy="119400"/>
          </a:xfrm>
          <a:prstGeom prst="roundRect">
            <a:avLst>
              <a:gd name="adj" fmla="val 23409"/>
            </a:avLst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>
                <a:solidFill>
                  <a:srgbClr val="FF0000"/>
                </a:solidFill>
              </a:rPr>
              <a:t>중요</a:t>
            </a:r>
            <a:endParaRPr lang="ko-KR" altLang="en-US" sz="600" dirty="0">
              <a:solidFill>
                <a:srgbClr val="FF0000"/>
              </a:solidFill>
            </a:endParaRPr>
          </a:p>
        </p:txBody>
      </p:sp>
      <p:sp>
        <p:nvSpPr>
          <p:cNvPr id="338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1082843" y="1950187"/>
            <a:ext cx="220200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700" dirty="0">
                <a:solidFill>
                  <a:prstClr val="black"/>
                </a:solidFill>
              </a:rPr>
              <a:t>대금 신청</a:t>
            </a:r>
            <a:r>
              <a:rPr lang="en-US" altLang="ko-KR" sz="700" dirty="0">
                <a:solidFill>
                  <a:prstClr val="black"/>
                </a:solidFill>
              </a:rPr>
              <a:t>, </a:t>
            </a:r>
            <a:r>
              <a:rPr lang="ko-KR" altLang="en-US" sz="700" dirty="0">
                <a:solidFill>
                  <a:prstClr val="black"/>
                </a:solidFill>
              </a:rPr>
              <a:t>청구는 </a:t>
            </a:r>
            <a:r>
              <a:rPr lang="en-US" altLang="ko-KR" sz="700" dirty="0">
                <a:solidFill>
                  <a:prstClr val="black"/>
                </a:solidFill>
              </a:rPr>
              <a:t>PC </a:t>
            </a:r>
            <a:r>
              <a:rPr lang="ko-KR" altLang="en-US" sz="700" dirty="0">
                <a:solidFill>
                  <a:prstClr val="black"/>
                </a:solidFill>
              </a:rPr>
              <a:t>버전에서 가능합니다</a:t>
            </a:r>
            <a:r>
              <a:rPr lang="en-US" altLang="ko-KR" sz="700" dirty="0">
                <a:solidFill>
                  <a:prstClr val="black"/>
                </a:solidFill>
              </a:rPr>
              <a:t>.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cxnSp>
        <p:nvCxnSpPr>
          <p:cNvPr id="340" name="직선 연결선 33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15091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8" name="그룹 7"/>
          <p:cNvGrpSpPr/>
          <p:nvPr/>
        </p:nvGrpSpPr>
        <p:grpSpPr>
          <a:xfrm>
            <a:off x="720490" y="4465173"/>
            <a:ext cx="2630093" cy="1600147"/>
            <a:chOff x="720490" y="4465173"/>
            <a:chExt cx="2630093" cy="1600147"/>
          </a:xfrm>
        </p:grpSpPr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07" name="그룹 106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108" name="직선 연결선 10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9" name="직선 연결선 10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" name="직사각형 15"/>
            <p:cNvSpPr/>
            <p:nvPr/>
          </p:nvSpPr>
          <p:spPr>
            <a:xfrm>
              <a:off x="722583" y="4772658"/>
              <a:ext cx="792000" cy="129266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670770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 smtClean="0">
                  <a:latin typeface="+mn-ea"/>
                </a:rPr>
                <a:t>계약일자</a:t>
              </a:r>
              <a:endParaRPr lang="en-US" altLang="ko-KR" sz="700" dirty="0" smtClean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계약금액</a:t>
              </a:r>
              <a:endParaRPr lang="en-US" altLang="ko-KR" sz="700" dirty="0" smtClean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납기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비고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2025 0000 00 - 01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배추김치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 smtClean="0">
                  <a:latin typeface="+mn-ea"/>
                </a:rPr>
                <a:t>2026-01-30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 smtClean="0">
                  <a:latin typeface="+mn-ea"/>
                </a:rPr>
                <a:t>10,000,000 </a:t>
              </a:r>
              <a:r>
                <a:rPr lang="ko-KR" altLang="en-US" sz="700" dirty="0" smtClean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 smtClean="0">
                  <a:latin typeface="+mn-ea"/>
                </a:rPr>
                <a:t>2026-01-01 ~ 2026-12-31</a:t>
              </a:r>
            </a:p>
            <a:p>
              <a:pPr>
                <a:lnSpc>
                  <a:spcPct val="200000"/>
                </a:lnSpc>
              </a:pPr>
              <a:endParaRPr lang="en-US" altLang="ko-KR" sz="700" dirty="0" smtClean="0">
                <a:latin typeface="+mn-ea"/>
              </a:endParaRPr>
            </a:p>
          </p:txBody>
        </p:sp>
        <p:cxnSp>
          <p:nvCxnSpPr>
            <p:cNvPr id="115" name="직선 연결선 1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6" name="직선 연결선 11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7" name="직선 연결선 11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0" name="직선 연결선 16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8" name="직선 연결선 1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375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9" name="직선 연결선 1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653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156" name="모서리가 둥근 직사각형 155"/>
          <p:cNvSpPr/>
          <p:nvPr/>
        </p:nvSpPr>
        <p:spPr>
          <a:xfrm>
            <a:off x="1522790" y="2278058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 smtClean="0"/>
              <a:t>사후청구</a:t>
            </a:r>
            <a:endParaRPr lang="ko-KR" altLang="en-US" sz="600" dirty="0"/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66970" y="4142235"/>
            <a:ext cx="57536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 smtClean="0">
                <a:latin typeface="+mn-ea"/>
              </a:rPr>
              <a:t>신청내역</a:t>
            </a:r>
            <a:endParaRPr lang="ko-KR" altLang="en-US" sz="700" dirty="0">
              <a:latin typeface="+mn-ea"/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185357" y="4142235"/>
            <a:ext cx="45444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세금계산서</a:t>
            </a:r>
          </a:p>
        </p:txBody>
      </p:sp>
      <p:grpSp>
        <p:nvGrpSpPr>
          <p:cNvPr id="148" name="그룹 147"/>
          <p:cNvGrpSpPr/>
          <p:nvPr/>
        </p:nvGrpSpPr>
        <p:grpSpPr>
          <a:xfrm>
            <a:off x="747925" y="3401909"/>
            <a:ext cx="2599014" cy="187961"/>
            <a:chOff x="747925" y="3393200"/>
            <a:chExt cx="2599014" cy="187961"/>
          </a:xfrm>
        </p:grpSpPr>
        <p:grpSp>
          <p:nvGrpSpPr>
            <p:cNvPr id="149" name="그룹 148"/>
            <p:cNvGrpSpPr/>
            <p:nvPr/>
          </p:nvGrpSpPr>
          <p:grpSpPr>
            <a:xfrm rot="16200000">
              <a:off x="1250697" y="3463679"/>
              <a:ext cx="94010" cy="47005"/>
              <a:chOff x="6812560" y="3297172"/>
              <a:chExt cx="94010" cy="47005"/>
            </a:xfrm>
          </p:grpSpPr>
          <p:cxnSp>
            <p:nvCxnSpPr>
              <p:cNvPr id="222" name="직선 연결선 22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3" name="직선 연결선 22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604170" y="3433319"/>
              <a:ext cx="40086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계약</a:t>
              </a:r>
            </a:p>
          </p:txBody>
        </p:sp>
        <p:sp>
          <p:nvSpPr>
            <p:cNvPr id="151" name="타원 150"/>
            <p:cNvSpPr/>
            <p:nvPr/>
          </p:nvSpPr>
          <p:spPr>
            <a:xfrm>
              <a:off x="1404035" y="3393200"/>
              <a:ext cx="187961" cy="18796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459092" y="3433319"/>
              <a:ext cx="7784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latin typeface="+mn-ea"/>
                </a:rPr>
                <a:t>3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53" name="그룹 152"/>
            <p:cNvGrpSpPr/>
            <p:nvPr/>
          </p:nvGrpSpPr>
          <p:grpSpPr>
            <a:xfrm rot="16200000">
              <a:off x="1906808" y="3463679"/>
              <a:ext cx="94010" cy="47005"/>
              <a:chOff x="6812560" y="3297172"/>
              <a:chExt cx="94010" cy="47005"/>
            </a:xfrm>
          </p:grpSpPr>
          <p:cxnSp>
            <p:nvCxnSpPr>
              <p:cNvPr id="220" name="직선 연결선 21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1" name="직선 연결선 22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54" name="그룹 153"/>
            <p:cNvGrpSpPr/>
            <p:nvPr/>
          </p:nvGrpSpPr>
          <p:grpSpPr>
            <a:xfrm rot="16200000">
              <a:off x="2562920" y="3463679"/>
              <a:ext cx="94010" cy="47005"/>
              <a:chOff x="6812560" y="3297172"/>
              <a:chExt cx="94010" cy="47005"/>
            </a:xfrm>
          </p:grpSpPr>
          <p:cxnSp>
            <p:nvCxnSpPr>
              <p:cNvPr id="218" name="직선 연결선 21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9" name="직선 연결선 21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55" name="타원 154"/>
            <p:cNvSpPr/>
            <p:nvPr/>
          </p:nvSpPr>
          <p:spPr>
            <a:xfrm>
              <a:off x="747925" y="3393200"/>
              <a:ext cx="187961" cy="18796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2982" y="3433319"/>
              <a:ext cx="7784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latin typeface="+mn-ea"/>
                </a:rPr>
                <a:t>2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51350" y="3433319"/>
              <a:ext cx="397576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입찰</a:t>
              </a:r>
            </a:p>
          </p:txBody>
        </p:sp>
        <p:sp>
          <p:nvSpPr>
            <p:cNvPr id="162" name="타원 161"/>
            <p:cNvSpPr/>
            <p:nvPr/>
          </p:nvSpPr>
          <p:spPr>
            <a:xfrm>
              <a:off x="2058749" y="3393200"/>
              <a:ext cx="187961" cy="18796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113806" y="3433319"/>
              <a:ext cx="7784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latin typeface="+mn-ea"/>
                </a:rPr>
                <a:t>4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263899" y="3433319"/>
              <a:ext cx="39864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이행</a:t>
              </a:r>
            </a:p>
          </p:txBody>
        </p:sp>
        <p:sp>
          <p:nvSpPr>
            <p:cNvPr id="179" name="타원 178"/>
            <p:cNvSpPr/>
            <p:nvPr/>
          </p:nvSpPr>
          <p:spPr>
            <a:xfrm>
              <a:off x="2714860" y="3393200"/>
              <a:ext cx="187961" cy="187961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769917" y="3433319"/>
              <a:ext cx="7784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solidFill>
                    <a:schemeClr val="bg1"/>
                  </a:solidFill>
                  <a:latin typeface="+mn-ea"/>
                </a:rPr>
                <a:t>5</a:t>
              </a:r>
              <a:endParaRPr lang="ko-KR" altLang="en-US" sz="7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920010" y="3433319"/>
              <a:ext cx="39864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대금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사후</a:t>
              </a:r>
            </a:p>
          </p:txBody>
        </p:sp>
        <p:grpSp>
          <p:nvGrpSpPr>
            <p:cNvPr id="185" name="그룹 184"/>
            <p:cNvGrpSpPr/>
            <p:nvPr/>
          </p:nvGrpSpPr>
          <p:grpSpPr>
            <a:xfrm rot="5400000">
              <a:off x="3158978" y="3393200"/>
              <a:ext cx="187961" cy="187961"/>
              <a:chOff x="3876200" y="2234886"/>
              <a:chExt cx="187961" cy="187961"/>
            </a:xfrm>
          </p:grpSpPr>
          <p:sp>
            <p:nvSpPr>
              <p:cNvPr id="187" name="타원 186"/>
              <p:cNvSpPr/>
              <p:nvPr/>
            </p:nvSpPr>
            <p:spPr>
              <a:xfrm>
                <a:off x="3876200" y="2234886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05" name="그룹 204"/>
              <p:cNvGrpSpPr/>
              <p:nvPr/>
            </p:nvGrpSpPr>
            <p:grpSpPr>
              <a:xfrm rot="16200000">
                <a:off x="3931564" y="2305364"/>
                <a:ext cx="94010" cy="47005"/>
                <a:chOff x="6812560" y="3297172"/>
                <a:chExt cx="94010" cy="47005"/>
              </a:xfrm>
            </p:grpSpPr>
            <p:cxnSp>
              <p:nvCxnSpPr>
                <p:cNvPr id="206" name="직선 연결선 205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직선 연결선 206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182" name="TextBox 18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882824" y="4142235"/>
            <a:ext cx="45444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smtClean="0">
                <a:latin typeface="+mn-ea"/>
              </a:rPr>
              <a:t>진행상태</a:t>
            </a:r>
            <a:endParaRPr lang="ko-KR" altLang="en-US" sz="700" dirty="0">
              <a:latin typeface="+mn-ea"/>
            </a:endParaRPr>
          </a:p>
        </p:txBody>
      </p:sp>
      <p:sp>
        <p:nvSpPr>
          <p:cNvPr id="183" name="타원 18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715370" y="504490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  <p:sp>
        <p:nvSpPr>
          <p:cNvPr id="184" name="타원 18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688" y="204634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1</a:t>
            </a:r>
            <a:endParaRPr lang="ko-KR" altLang="en-US" sz="900" b="1" dirty="0"/>
          </a:p>
        </p:txBody>
      </p:sp>
      <p:sp>
        <p:nvSpPr>
          <p:cNvPr id="186" name="타원 18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72828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sp>
        <p:nvSpPr>
          <p:cNvPr id="189" name="타원 18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10603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sp>
        <p:nvSpPr>
          <p:cNvPr id="190" name="타원 18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49583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  <p:sp>
        <p:nvSpPr>
          <p:cNvPr id="194" name="타원 19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96143" y="223285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 b="1" dirty="0" smtClean="0"/>
              <a:t>1-1</a:t>
            </a:r>
            <a:endParaRPr lang="ko-KR" altLang="en-US" sz="600" b="1" dirty="0"/>
          </a:p>
        </p:txBody>
      </p:sp>
      <p:sp>
        <p:nvSpPr>
          <p:cNvPr id="195" name="타원 19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1758181" y="237965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 b="1" dirty="0" smtClean="0"/>
              <a:t>1-2</a:t>
            </a:r>
            <a:endParaRPr lang="ko-KR" altLang="en-US" sz="600" b="1" dirty="0"/>
          </a:p>
        </p:txBody>
      </p:sp>
      <p:sp>
        <p:nvSpPr>
          <p:cNvPr id="196" name="타원 19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95669" y="260009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 b="1" dirty="0" smtClean="0"/>
              <a:t>1-3</a:t>
            </a:r>
            <a:endParaRPr lang="ko-KR" altLang="en-US" sz="600" b="1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294737" y="1647997"/>
            <a:ext cx="50057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공급자 정보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856659" y="1647997"/>
            <a:ext cx="57536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err="1">
                <a:latin typeface="+mn-ea"/>
              </a:rPr>
              <a:t>대금신청</a:t>
            </a:r>
            <a:r>
              <a:rPr lang="ko-KR" altLang="en-US" sz="700" dirty="0">
                <a:latin typeface="+mn-ea"/>
              </a:rPr>
              <a:t> 금액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493375" y="1647997"/>
            <a:ext cx="45444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세금계산서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6009170" y="1647997"/>
            <a:ext cx="45444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smtClean="0">
                <a:latin typeface="+mn-ea"/>
              </a:rPr>
              <a:t>진행상태</a:t>
            </a:r>
            <a:endParaRPr lang="ko-KR" altLang="en-US" sz="700" dirty="0">
              <a:latin typeface="+mn-ea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sz="800" dirty="0"/>
              <a:t>타이틀 영역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1-1] </a:t>
            </a:r>
            <a:r>
              <a:rPr lang="ko-KR" altLang="en-US" sz="800" dirty="0"/>
              <a:t>레이블이 화면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/>
              <a:t>화면 넘치는 경우 드래그하여 확인 가능 </a:t>
            </a:r>
            <a:r>
              <a:rPr lang="en-US" altLang="ko-KR" sz="800" dirty="0"/>
              <a:t>(</a:t>
            </a:r>
            <a:r>
              <a:rPr lang="ko-KR" altLang="en-US" sz="800" dirty="0" err="1"/>
              <a:t>스와이프기능</a:t>
            </a:r>
            <a:r>
              <a:rPr lang="ko-KR" altLang="en-US" sz="800" dirty="0"/>
              <a:t> 반영 필요</a:t>
            </a:r>
            <a:r>
              <a:rPr lang="en-US" altLang="ko-KR" sz="800" dirty="0"/>
              <a:t>)</a:t>
            </a:r>
            <a:br>
              <a:rPr lang="en-US" altLang="ko-KR" sz="800" dirty="0"/>
            </a:br>
            <a:r>
              <a:rPr lang="en-US" altLang="ko-KR" sz="800" dirty="0"/>
              <a:t>1-2] </a:t>
            </a:r>
            <a:r>
              <a:rPr lang="ko-KR" altLang="en-US" sz="800" dirty="0"/>
              <a:t>문서 정보 영역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 err="1"/>
              <a:t>판단번호</a:t>
            </a:r>
            <a:r>
              <a:rPr lang="ko-KR" altLang="en-US" sz="800" dirty="0"/>
              <a:t> </a:t>
            </a:r>
            <a:r>
              <a:rPr lang="en-US" altLang="ko-KR" sz="800" dirty="0"/>
              <a:t>,  </a:t>
            </a:r>
            <a:r>
              <a:rPr lang="ko-KR" altLang="en-US" sz="800" dirty="0" err="1"/>
              <a:t>계약번호</a:t>
            </a:r>
            <a:r>
              <a:rPr lang="ko-KR" altLang="en-US" sz="800" dirty="0"/>
              <a:t> 노출 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 err="1"/>
              <a:t>판단번호</a:t>
            </a:r>
            <a:r>
              <a:rPr lang="ko-KR" altLang="en-US" sz="800" dirty="0"/>
              <a:t> </a:t>
            </a:r>
            <a:r>
              <a:rPr lang="ko-KR" altLang="en-US" sz="800" dirty="0" err="1"/>
              <a:t>전체노출</a:t>
            </a:r>
            <a:r>
              <a:rPr lang="ko-KR" altLang="en-US" sz="800" dirty="0"/>
              <a:t> </a:t>
            </a:r>
            <a:r>
              <a:rPr lang="en-US" altLang="ko-KR" sz="800" dirty="0"/>
              <a:t>/ </a:t>
            </a:r>
            <a:r>
              <a:rPr lang="ko-KR" altLang="en-US" sz="800" dirty="0" err="1"/>
              <a:t>계약번호</a:t>
            </a:r>
            <a:r>
              <a:rPr lang="ko-KR" altLang="en-US" sz="800" dirty="0"/>
              <a:t> </a:t>
            </a:r>
            <a:r>
              <a:rPr lang="ko-KR" altLang="en-US" sz="800" dirty="0" err="1"/>
              <a:t>노출시</a:t>
            </a:r>
            <a:r>
              <a:rPr lang="ko-KR" altLang="en-US" sz="800" dirty="0"/>
              <a:t> 해당 라인을 넘어가면 </a:t>
            </a:r>
            <a:r>
              <a:rPr lang="en-US" altLang="ko-KR" sz="800" dirty="0"/>
              <a:t>(…) </a:t>
            </a:r>
            <a:r>
              <a:rPr lang="ko-KR" altLang="en-US" sz="800" dirty="0" err="1"/>
              <a:t>말줄임</a:t>
            </a:r>
            <a:r>
              <a:rPr lang="ko-KR" altLang="en-US" sz="800" dirty="0"/>
              <a:t> 표시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1-3] </a:t>
            </a:r>
            <a:r>
              <a:rPr lang="ko-KR" altLang="en-US" sz="800" dirty="0"/>
              <a:t>문서 제목 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/>
              <a:t>제목은 </a:t>
            </a:r>
            <a:r>
              <a:rPr lang="en-US" altLang="ko-KR" sz="800" dirty="0"/>
              <a:t>2</a:t>
            </a:r>
            <a:r>
              <a:rPr lang="ko-KR" altLang="en-US" sz="800" dirty="0"/>
              <a:t>줄 까지 노출 이후</a:t>
            </a:r>
            <a:r>
              <a:rPr lang="en-US" altLang="ko-KR" sz="800" dirty="0"/>
              <a:t>(…) </a:t>
            </a:r>
            <a:r>
              <a:rPr lang="ko-KR" altLang="en-US" sz="800" dirty="0" err="1"/>
              <a:t>말줄임</a:t>
            </a:r>
            <a:r>
              <a:rPr lang="ko-KR" altLang="en-US" sz="800" dirty="0"/>
              <a:t> 표시</a:t>
            </a:r>
            <a:endParaRPr lang="en-US" altLang="ko-KR" sz="800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sz="800" dirty="0" err="1"/>
              <a:t>업무도움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/>
              <a:t>기본값 </a:t>
            </a:r>
            <a:r>
              <a:rPr lang="en-US" altLang="ko-KR" sz="800" dirty="0"/>
              <a:t>: </a:t>
            </a:r>
            <a:r>
              <a:rPr lang="ko-KR" altLang="en-US" sz="800" dirty="0"/>
              <a:t>접힘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 err="1"/>
              <a:t>클릭시</a:t>
            </a:r>
            <a:r>
              <a:rPr lang="ko-KR" altLang="en-US" sz="800" dirty="0"/>
              <a:t> 확장하여 정보 표시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</a:t>
            </a:r>
            <a:r>
              <a:rPr lang="ko-KR" altLang="en-US" sz="800" dirty="0" err="1"/>
              <a:t>업무도움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&gt; </a:t>
            </a:r>
            <a:r>
              <a:rPr lang="ko-KR" altLang="en-US" sz="800" dirty="0"/>
              <a:t>내역이 있는 경우 만 표시</a:t>
            </a:r>
            <a:endParaRPr lang="en-US" altLang="ko-KR" sz="800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sz="800" dirty="0"/>
              <a:t>탭 영역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 err="1"/>
              <a:t>신청정보</a:t>
            </a:r>
            <a:r>
              <a:rPr lang="ko-KR" altLang="en-US" sz="800" dirty="0"/>
              <a:t> </a:t>
            </a:r>
            <a:r>
              <a:rPr lang="en-US" altLang="ko-KR" sz="800" dirty="0"/>
              <a:t>Tab</a:t>
            </a:r>
            <a:r>
              <a:rPr lang="ko-KR" altLang="en-US" sz="800" dirty="0"/>
              <a:t>은 진입 시 고정 노출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/>
              <a:t>탭 내용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ko-KR" altLang="en-US" sz="800" dirty="0" err="1" smtClean="0"/>
              <a:t>계약정보</a:t>
            </a:r>
            <a:r>
              <a:rPr lang="en-US" altLang="ko-KR" sz="800" dirty="0" smtClean="0"/>
              <a:t>, </a:t>
            </a:r>
            <a:r>
              <a:rPr lang="ko-KR" altLang="en-US" sz="800" dirty="0" err="1" smtClean="0"/>
              <a:t>공급자정보</a:t>
            </a:r>
            <a:r>
              <a:rPr lang="en-US" altLang="ko-KR" sz="800" dirty="0" smtClean="0"/>
              <a:t>,</a:t>
            </a:r>
            <a:r>
              <a:rPr lang="ko-KR" altLang="en-US" sz="800" dirty="0" smtClean="0"/>
              <a:t>대금신청금액</a:t>
            </a:r>
            <a:r>
              <a:rPr lang="en-US" altLang="ko-KR" sz="800" dirty="0" smtClean="0"/>
              <a:t>, </a:t>
            </a:r>
            <a:r>
              <a:rPr lang="ko-KR" altLang="en-US" sz="800" dirty="0" smtClean="0"/>
              <a:t>세금계산서</a:t>
            </a:r>
            <a:r>
              <a:rPr lang="en-US" altLang="ko-KR" sz="800" dirty="0" smtClean="0"/>
              <a:t>, </a:t>
            </a:r>
            <a:r>
              <a:rPr lang="ko-KR" altLang="en-US" sz="800" dirty="0" smtClean="0"/>
              <a:t>진행상태  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&gt; </a:t>
            </a:r>
            <a:r>
              <a:rPr lang="ko-KR" altLang="en-US" sz="800" dirty="0"/>
              <a:t>로그인 필요 서비스 안내 표시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/>
              <a:t>화면을 </a:t>
            </a:r>
            <a:r>
              <a:rPr lang="ko-KR" altLang="en-US" sz="800" dirty="0" err="1"/>
              <a:t>넘치는경우</a:t>
            </a:r>
            <a:r>
              <a:rPr lang="ko-KR" altLang="en-US" sz="800" dirty="0"/>
              <a:t> 드래그하여 확인</a:t>
            </a:r>
            <a:r>
              <a:rPr lang="en-US" altLang="ko-KR" sz="800" dirty="0"/>
              <a:t>(</a:t>
            </a:r>
            <a:r>
              <a:rPr lang="ko-KR" altLang="en-US" sz="800" dirty="0" err="1"/>
              <a:t>스와이프기능</a:t>
            </a:r>
            <a:r>
              <a:rPr lang="ko-KR" altLang="en-US" sz="800" dirty="0"/>
              <a:t> 반영 필요</a:t>
            </a:r>
            <a:r>
              <a:rPr lang="en-US" altLang="ko-KR" sz="800" dirty="0" smtClean="0"/>
              <a:t>)</a:t>
            </a:r>
            <a:br>
              <a:rPr lang="en-US" altLang="ko-KR" sz="800" dirty="0" smtClean="0"/>
            </a:br>
            <a:r>
              <a:rPr lang="en-US" altLang="ko-KR" sz="800" dirty="0" smtClean="0"/>
              <a:t>- </a:t>
            </a:r>
            <a:r>
              <a:rPr lang="ko-KR" altLang="en-US" sz="800" dirty="0" smtClean="0"/>
              <a:t>세금계산서인 경우</a:t>
            </a:r>
            <a:r>
              <a:rPr lang="en-US" altLang="ko-KR" sz="800" dirty="0" smtClean="0"/>
              <a:t>, </a:t>
            </a:r>
            <a:r>
              <a:rPr lang="ko-KR" altLang="en-US" sz="800" dirty="0" smtClean="0"/>
              <a:t>화면에서 </a:t>
            </a:r>
            <a:r>
              <a:rPr lang="en-US" altLang="ko-KR" sz="800" dirty="0" smtClean="0"/>
              <a:t>“</a:t>
            </a:r>
            <a:r>
              <a:rPr lang="ko-KR" altLang="en-US" sz="800" dirty="0" smtClean="0"/>
              <a:t>세금계산서번호 선택 을 체크한 경우 노출</a:t>
            </a:r>
            <a:r>
              <a:rPr lang="en-US" altLang="ko-KR" sz="800" dirty="0" smtClean="0"/>
              <a:t>＂</a:t>
            </a:r>
            <a:endParaRPr lang="en-US" altLang="ko-KR" sz="800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sz="800" dirty="0"/>
              <a:t>신청 정보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/>
              <a:t>각 공고에 맞춰 폼 변화에 유의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en-US" altLang="ko-KR" sz="800" dirty="0"/>
              <a:t>- </a:t>
            </a:r>
            <a:r>
              <a:rPr lang="ko-KR" altLang="en-US" sz="800" dirty="0" err="1"/>
              <a:t>상세내용에</a:t>
            </a:r>
            <a:r>
              <a:rPr lang="ko-KR" altLang="en-US" sz="800" dirty="0"/>
              <a:t> 포함된 정보 표시</a:t>
            </a:r>
            <a:endParaRPr lang="en-US" altLang="ko-KR" sz="800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sz="800" dirty="0"/>
              <a:t>기본값은 상단 이동 버튼</a:t>
            </a:r>
            <a:r>
              <a:rPr lang="en-US" altLang="ko-KR" sz="800" dirty="0"/>
              <a:t/>
            </a:r>
            <a:br>
              <a:rPr lang="en-US" altLang="ko-KR" sz="800" dirty="0"/>
            </a:br>
            <a:r>
              <a:rPr lang="ko-KR" altLang="en-US" sz="800" dirty="0"/>
              <a:t>현 상세내용 탭에서는 </a:t>
            </a:r>
            <a:endParaRPr lang="en-US" altLang="ko-KR" sz="800" dirty="0"/>
          </a:p>
          <a:p>
            <a:endParaRPr lang="ko-KR" altLang="en-US" sz="800" dirty="0"/>
          </a:p>
        </p:txBody>
      </p:sp>
      <p:sp>
        <p:nvSpPr>
          <p:cNvPr id="167" name="직사각형 166"/>
          <p:cNvSpPr/>
          <p:nvPr/>
        </p:nvSpPr>
        <p:spPr>
          <a:xfrm>
            <a:off x="7103286" y="6104709"/>
            <a:ext cx="2275404" cy="15681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500" smtClean="0"/>
              <a:t>화면수정</a:t>
            </a:r>
            <a:endParaRPr lang="ko-KR" altLang="en-US" sz="500" dirty="0"/>
          </a:p>
        </p:txBody>
      </p:sp>
      <p:grpSp>
        <p:nvGrpSpPr>
          <p:cNvPr id="201" name="그룹 200"/>
          <p:cNvGrpSpPr/>
          <p:nvPr/>
        </p:nvGrpSpPr>
        <p:grpSpPr>
          <a:xfrm>
            <a:off x="3836701" y="1988929"/>
            <a:ext cx="2630093" cy="1600147"/>
            <a:chOff x="720490" y="4465173"/>
            <a:chExt cx="2630093" cy="1600147"/>
          </a:xfrm>
        </p:grpSpPr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224" name="그룹 223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235" name="직선 연결선 23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6" name="직선 연결선 23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25" name="직사각형 224"/>
            <p:cNvSpPr/>
            <p:nvPr/>
          </p:nvSpPr>
          <p:spPr>
            <a:xfrm>
              <a:off x="722583" y="4772658"/>
              <a:ext cx="792000" cy="129266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26" name="직선 연결선 22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27" name="TextBox 22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670770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 smtClean="0">
                  <a:latin typeface="+mn-ea"/>
                </a:rPr>
                <a:t>계약일자</a:t>
              </a:r>
              <a:endParaRPr lang="en-US" altLang="ko-KR" sz="700" dirty="0" smtClean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계약금액</a:t>
              </a:r>
              <a:endParaRPr lang="en-US" altLang="ko-KR" sz="700" dirty="0" smtClean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납기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비고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28" name="TextBox 22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2025 0000 00 - 01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배추김치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 smtClean="0">
                  <a:latin typeface="+mn-ea"/>
                </a:rPr>
                <a:t>2026-01-30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 smtClean="0">
                  <a:latin typeface="+mn-ea"/>
                </a:rPr>
                <a:t>10,000,000 </a:t>
              </a:r>
              <a:r>
                <a:rPr lang="ko-KR" altLang="en-US" sz="700" dirty="0" smtClean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 smtClean="0">
                  <a:latin typeface="+mn-ea"/>
                </a:rPr>
                <a:t>2026-01-01 ~ 2026-12-31</a:t>
              </a:r>
            </a:p>
            <a:p>
              <a:pPr>
                <a:lnSpc>
                  <a:spcPct val="200000"/>
                </a:lnSpc>
              </a:pPr>
              <a:endParaRPr lang="en-US" altLang="ko-KR" sz="700" dirty="0" smtClean="0">
                <a:latin typeface="+mn-ea"/>
              </a:endParaRPr>
            </a:p>
          </p:txBody>
        </p:sp>
        <p:cxnSp>
          <p:nvCxnSpPr>
            <p:cNvPr id="229" name="직선 연결선 22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0" name="직선 연결선 22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1" name="직선 연결선 2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2" name="직선 연결선 23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3" name="직선 연결선 23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375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4" name="직선 연결선 23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653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37" name="그룹 236"/>
          <p:cNvGrpSpPr/>
          <p:nvPr/>
        </p:nvGrpSpPr>
        <p:grpSpPr>
          <a:xfrm>
            <a:off x="3919539" y="3735455"/>
            <a:ext cx="2456097" cy="181140"/>
            <a:chOff x="763157" y="1527996"/>
            <a:chExt cx="2456097" cy="181140"/>
          </a:xfrm>
        </p:grpSpPr>
        <p:sp>
          <p:nvSpPr>
            <p:cNvPr id="238" name="TextBox 23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3157" y="1527996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공급자 정보</a:t>
              </a:r>
            </a:p>
          </p:txBody>
        </p:sp>
        <p:grpSp>
          <p:nvGrpSpPr>
            <p:cNvPr id="239" name="그룹 238"/>
            <p:cNvGrpSpPr/>
            <p:nvPr/>
          </p:nvGrpSpPr>
          <p:grpSpPr>
            <a:xfrm flipV="1">
              <a:off x="3125244" y="1641327"/>
              <a:ext cx="94010" cy="47005"/>
              <a:chOff x="6812560" y="3297172"/>
              <a:chExt cx="94010" cy="47005"/>
            </a:xfrm>
          </p:grpSpPr>
          <p:cxnSp>
            <p:nvCxnSpPr>
              <p:cNvPr id="240" name="직선 연결선 23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1" name="직선 연결선 24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42" name="그룹 241"/>
          <p:cNvGrpSpPr/>
          <p:nvPr/>
        </p:nvGrpSpPr>
        <p:grpSpPr>
          <a:xfrm>
            <a:off x="3832541" y="4027607"/>
            <a:ext cx="2630093" cy="861981"/>
            <a:chOff x="3865118" y="2946203"/>
            <a:chExt cx="2630093" cy="861981"/>
          </a:xfrm>
        </p:grpSpPr>
        <p:sp>
          <p:nvSpPr>
            <p:cNvPr id="243" name="직사각형 242"/>
            <p:cNvSpPr/>
            <p:nvPr/>
          </p:nvSpPr>
          <p:spPr>
            <a:xfrm>
              <a:off x="3867211" y="2946203"/>
              <a:ext cx="792000" cy="86177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44" name="직선 연결선 2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5118" y="294620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45" name="TextBox 24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54275" y="2946204"/>
              <a:ext cx="670770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 err="1">
                  <a:latin typeface="+mn-ea"/>
                </a:rPr>
                <a:t>업체명</a:t>
              </a:r>
              <a:r>
                <a:rPr lang="en-US" altLang="ko-KR" sz="700" dirty="0" smtClean="0">
                  <a:latin typeface="+mn-ea"/>
                </a:rPr>
                <a:t>)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작성자 성명</a:t>
              </a:r>
              <a:endParaRPr lang="en-US" altLang="ko-KR" sz="700" dirty="0" smtClean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직책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연락처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46" name="TextBox 24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11123" y="2946204"/>
              <a:ext cx="1775839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010-1234-5678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</p:txBody>
        </p:sp>
        <p:cxnSp>
          <p:nvCxnSpPr>
            <p:cNvPr id="247" name="직선 연결선 2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17730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8" name="직선 연결선 24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39101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9" name="직선 연결선 24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604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0" name="직선 연결선 24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80818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251" name="직선 연결선 25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1574" y="366709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85584913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계약정보</a:t>
            </a:r>
            <a:r>
              <a:rPr lang="ko-KR" altLang="en-US" dirty="0"/>
              <a:t> 데이터 영역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대금신청대상목록 데이터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71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계약정보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대금</a:t>
            </a:r>
            <a:r>
              <a:rPr lang="en-US" altLang="ko-KR" dirty="0"/>
              <a:t>/</a:t>
            </a:r>
            <a:r>
              <a:rPr lang="ko-KR" altLang="en-US" dirty="0"/>
              <a:t>사후 상세 </a:t>
            </a:r>
            <a:r>
              <a:rPr lang="en-US" altLang="ko-KR" dirty="0"/>
              <a:t>– </a:t>
            </a:r>
            <a:r>
              <a:rPr lang="ko-KR" altLang="en-US" dirty="0">
                <a:latin typeface="+mn-ea"/>
              </a:rPr>
              <a:t>사후정산청구 상세 </a:t>
            </a:r>
            <a:r>
              <a:rPr lang="ko-KR" altLang="en-US" dirty="0"/>
              <a:t>조회 화면</a:t>
            </a:r>
            <a:endParaRPr lang="ko-KR" altLang="en-US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사후정산청구상세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MUI-WM-01-T20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1501237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185565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1639043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계약정보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1855650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53" name="그룹 52"/>
          <p:cNvGrpSpPr/>
          <p:nvPr/>
        </p:nvGrpSpPr>
        <p:grpSpPr>
          <a:xfrm>
            <a:off x="720490" y="1961981"/>
            <a:ext cx="2630093" cy="1600147"/>
            <a:chOff x="720490" y="4465173"/>
            <a:chExt cx="2630093" cy="1600147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55" name="그룹 54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87" name="직선 연결선 8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" name="직선 연결선 8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6" name="직사각형 55"/>
            <p:cNvSpPr/>
            <p:nvPr/>
          </p:nvSpPr>
          <p:spPr>
            <a:xfrm>
              <a:off x="722583" y="4772658"/>
              <a:ext cx="792000" cy="129266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7" name="직선 연결선 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670770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 smtClean="0">
                  <a:latin typeface="+mn-ea"/>
                </a:rPr>
                <a:t>계약일자</a:t>
              </a:r>
              <a:endParaRPr lang="en-US" altLang="ko-KR" sz="700" dirty="0" smtClean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계약금액</a:t>
              </a:r>
              <a:endParaRPr lang="en-US" altLang="ko-KR" sz="700" dirty="0" smtClean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납기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비고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2025 0000 00 - 01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배추김치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 smtClean="0">
                  <a:latin typeface="+mn-ea"/>
                </a:rPr>
                <a:t>2026-01-30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 smtClean="0">
                  <a:latin typeface="+mn-ea"/>
                </a:rPr>
                <a:t>10,000,000 </a:t>
              </a:r>
              <a:r>
                <a:rPr lang="ko-KR" altLang="en-US" sz="700" dirty="0" smtClean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 smtClean="0">
                  <a:latin typeface="+mn-ea"/>
                </a:rPr>
                <a:t>2026-01-01 ~ 2026-12-31</a:t>
              </a:r>
            </a:p>
            <a:p>
              <a:pPr>
                <a:lnSpc>
                  <a:spcPct val="200000"/>
                </a:lnSpc>
              </a:pPr>
              <a:endParaRPr lang="en-US" altLang="ko-KR" sz="700" dirty="0" smtClean="0">
                <a:latin typeface="+mn-ea"/>
              </a:endParaRPr>
            </a:p>
          </p:txBody>
        </p:sp>
        <p:cxnSp>
          <p:nvCxnSpPr>
            <p:cNvPr id="81" name="직선 연결선 8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2" name="직선 연결선 8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3" name="직선 연결선 8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4" name="직선 연결선 8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5" name="직선 연결선 8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375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6" name="직선 연결선 8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653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89" name="TextBox 8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66970" y="1639043"/>
            <a:ext cx="57536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 smtClean="0">
                <a:latin typeface="+mn-ea"/>
              </a:rPr>
              <a:t>신청내역</a:t>
            </a:r>
            <a:endParaRPr lang="ko-KR" altLang="en-US" sz="700" dirty="0">
              <a:latin typeface="+mn-ea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185357" y="1639043"/>
            <a:ext cx="45444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세금계산서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882824" y="1639043"/>
            <a:ext cx="45444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smtClean="0">
                <a:latin typeface="+mn-ea"/>
              </a:rPr>
              <a:t>진행상태</a:t>
            </a:r>
            <a:endParaRPr lang="ko-KR" altLang="en-US" sz="700" dirty="0">
              <a:latin typeface="+mn-ea"/>
            </a:endParaRPr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55" name="타원 15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87320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92" name="그룹 91"/>
          <p:cNvGrpSpPr/>
          <p:nvPr/>
        </p:nvGrpSpPr>
        <p:grpSpPr>
          <a:xfrm>
            <a:off x="803364" y="3735455"/>
            <a:ext cx="2456097" cy="181140"/>
            <a:chOff x="763157" y="1527996"/>
            <a:chExt cx="2456097" cy="181140"/>
          </a:xfrm>
        </p:grpSpPr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3157" y="1527996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공급자 정보</a:t>
              </a:r>
            </a:p>
          </p:txBody>
        </p:sp>
        <p:grpSp>
          <p:nvGrpSpPr>
            <p:cNvPr id="94" name="그룹 93"/>
            <p:cNvGrpSpPr/>
            <p:nvPr/>
          </p:nvGrpSpPr>
          <p:grpSpPr>
            <a:xfrm flipV="1">
              <a:off x="3125244" y="1641327"/>
              <a:ext cx="94010" cy="47005"/>
              <a:chOff x="6812560" y="3297172"/>
              <a:chExt cx="94010" cy="47005"/>
            </a:xfrm>
          </p:grpSpPr>
          <p:cxnSp>
            <p:nvCxnSpPr>
              <p:cNvPr id="95" name="직선 연결선 9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6" name="직선 연결선 9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97" name="그룹 96"/>
          <p:cNvGrpSpPr/>
          <p:nvPr/>
        </p:nvGrpSpPr>
        <p:grpSpPr>
          <a:xfrm>
            <a:off x="716366" y="4027607"/>
            <a:ext cx="2630093" cy="861981"/>
            <a:chOff x="3865118" y="2946203"/>
            <a:chExt cx="2630093" cy="861981"/>
          </a:xfrm>
        </p:grpSpPr>
        <p:sp>
          <p:nvSpPr>
            <p:cNvPr id="98" name="직사각형 97"/>
            <p:cNvSpPr/>
            <p:nvPr/>
          </p:nvSpPr>
          <p:spPr>
            <a:xfrm>
              <a:off x="3867211" y="2946203"/>
              <a:ext cx="792000" cy="86177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99" name="직선 연결선 9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5118" y="294620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54275" y="2946204"/>
              <a:ext cx="670770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 err="1">
                  <a:latin typeface="+mn-ea"/>
                </a:rPr>
                <a:t>업체명</a:t>
              </a:r>
              <a:r>
                <a:rPr lang="en-US" altLang="ko-KR" sz="700" dirty="0" smtClean="0">
                  <a:latin typeface="+mn-ea"/>
                </a:rPr>
                <a:t>)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작성자 성명</a:t>
              </a:r>
              <a:endParaRPr lang="en-US" altLang="ko-KR" sz="700" dirty="0" smtClean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직책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연락처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11123" y="2946204"/>
              <a:ext cx="1775839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010-1234-5678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</p:txBody>
        </p:sp>
        <p:cxnSp>
          <p:nvCxnSpPr>
            <p:cNvPr id="102" name="직선 연결선 10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17730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" name="직선 연결선 10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39101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" name="직선 연결선 10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604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80818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66709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51140642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신청내역</a:t>
            </a:r>
            <a:r>
              <a:rPr lang="ko-KR" altLang="en-US" dirty="0"/>
              <a:t> 데이터 영역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72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신청금액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대금</a:t>
            </a:r>
            <a:r>
              <a:rPr lang="en-US" altLang="ko-KR" dirty="0"/>
              <a:t>/</a:t>
            </a:r>
            <a:r>
              <a:rPr lang="ko-KR" altLang="en-US" dirty="0"/>
              <a:t>사후 상세 </a:t>
            </a:r>
            <a:r>
              <a:rPr lang="en-US" altLang="ko-KR" dirty="0"/>
              <a:t>– </a:t>
            </a:r>
            <a:r>
              <a:rPr lang="ko-KR" altLang="en-US" dirty="0">
                <a:latin typeface="+mn-ea"/>
              </a:rPr>
              <a:t>사후정산청구 상세 </a:t>
            </a:r>
            <a:r>
              <a:rPr lang="ko-KR" altLang="en-US" dirty="0"/>
              <a:t>조회 화면</a:t>
            </a:r>
            <a:endParaRPr lang="ko-KR" altLang="en-US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사후정산청구상세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MUI-WM-01-T21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5" name="그룹 4"/>
          <p:cNvGrpSpPr/>
          <p:nvPr/>
        </p:nvGrpSpPr>
        <p:grpSpPr>
          <a:xfrm>
            <a:off x="803364" y="2788354"/>
            <a:ext cx="2456097" cy="181140"/>
            <a:chOff x="763157" y="1527996"/>
            <a:chExt cx="2456097" cy="181140"/>
          </a:xfrm>
        </p:grpSpPr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3157" y="1527996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신청내역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29" name="그룹 128"/>
            <p:cNvGrpSpPr/>
            <p:nvPr/>
          </p:nvGrpSpPr>
          <p:grpSpPr>
            <a:xfrm flipV="1">
              <a:off x="3125244" y="1641327"/>
              <a:ext cx="94010" cy="47005"/>
              <a:chOff x="6812560" y="3297172"/>
              <a:chExt cx="94010" cy="47005"/>
            </a:xfrm>
          </p:grpSpPr>
          <p:cxnSp>
            <p:nvCxnSpPr>
              <p:cNvPr id="131" name="직선 연결선 13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8" name="직선 연결선 13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1" name="그룹 140"/>
          <p:cNvGrpSpPr/>
          <p:nvPr/>
        </p:nvGrpSpPr>
        <p:grpSpPr>
          <a:xfrm>
            <a:off x="716366" y="3266146"/>
            <a:ext cx="2630093" cy="1292663"/>
            <a:chOff x="3865118" y="2946203"/>
            <a:chExt cx="2630093" cy="1292663"/>
          </a:xfrm>
        </p:grpSpPr>
        <p:sp>
          <p:nvSpPr>
            <p:cNvPr id="142" name="직사각형 141"/>
            <p:cNvSpPr/>
            <p:nvPr/>
          </p:nvSpPr>
          <p:spPr>
            <a:xfrm>
              <a:off x="3867211" y="2946203"/>
              <a:ext cx="792000" cy="128939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5" name="직선 연결선 15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5118" y="294620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54275" y="2946204"/>
              <a:ext cx="670770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대상금액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 err="1">
                  <a:latin typeface="+mn-ea"/>
                </a:rPr>
                <a:t>기사용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 err="1">
                  <a:latin typeface="+mn-ea"/>
                </a:rPr>
                <a:t>사용예정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신청금액의</a:t>
              </a:r>
              <a:r>
                <a:rPr lang="ko-KR" altLang="en-US" sz="700" dirty="0">
                  <a:latin typeface="+mn-ea"/>
                </a:rPr>
                <a:t> 비율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11123" y="2946204"/>
              <a:ext cx="1775839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00 %</a:t>
              </a:r>
            </a:p>
          </p:txBody>
        </p: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17730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3" name="직선 연결선 1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39101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4" name="직선 연결선 1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604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80818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02189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7" name="직선 연결선 16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23559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07117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3363" y="3010073"/>
            <a:ext cx="1308971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- </a:t>
            </a:r>
            <a:r>
              <a:rPr lang="ko-KR" altLang="en-US" sz="700" dirty="0">
                <a:latin typeface="+mn-ea"/>
              </a:rPr>
              <a:t>재료비 </a:t>
            </a:r>
            <a:r>
              <a:rPr lang="en-US" altLang="ko-KR" sz="700" dirty="0">
                <a:latin typeface="+mn-ea"/>
              </a:rPr>
              <a:t>- </a:t>
            </a:r>
            <a:r>
              <a:rPr lang="ko-KR" altLang="en-US" sz="700" dirty="0">
                <a:latin typeface="+mn-ea"/>
              </a:rPr>
              <a:t>수입 재료비</a:t>
            </a:r>
          </a:p>
        </p:txBody>
      </p:sp>
      <p:grpSp>
        <p:nvGrpSpPr>
          <p:cNvPr id="6" name="그룹 5"/>
          <p:cNvGrpSpPr/>
          <p:nvPr/>
        </p:nvGrpSpPr>
        <p:grpSpPr>
          <a:xfrm>
            <a:off x="716366" y="4640400"/>
            <a:ext cx="2630093" cy="1548736"/>
            <a:chOff x="716366" y="3441403"/>
            <a:chExt cx="2630093" cy="1548736"/>
          </a:xfrm>
        </p:grpSpPr>
        <p:grpSp>
          <p:nvGrpSpPr>
            <p:cNvPr id="53" name="그룹 52"/>
            <p:cNvGrpSpPr/>
            <p:nvPr/>
          </p:nvGrpSpPr>
          <p:grpSpPr>
            <a:xfrm>
              <a:off x="716366" y="3697476"/>
              <a:ext cx="2630093" cy="1292663"/>
              <a:chOff x="3865118" y="2946203"/>
              <a:chExt cx="2630093" cy="1292663"/>
            </a:xfrm>
          </p:grpSpPr>
          <p:sp>
            <p:nvSpPr>
              <p:cNvPr id="54" name="직사각형 53"/>
              <p:cNvSpPr/>
              <p:nvPr/>
            </p:nvSpPr>
            <p:spPr>
              <a:xfrm>
                <a:off x="3867211" y="2946203"/>
                <a:ext cx="792000" cy="128939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55" name="직선 연결선 54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5118" y="2946204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954275" y="2946204"/>
                <a:ext cx="670770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대상금액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>
                    <a:latin typeface="+mn-ea"/>
                  </a:rPr>
                  <a:t>신청금액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기사용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사용예정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>
                    <a:latin typeface="+mn-ea"/>
                  </a:rPr>
                  <a:t>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신청금액의</a:t>
                </a:r>
                <a:r>
                  <a:rPr lang="ko-KR" altLang="en-US" sz="700" dirty="0">
                    <a:latin typeface="+mn-ea"/>
                  </a:rPr>
                  <a:t> 비율</a:t>
                </a:r>
                <a:endParaRPr lang="en-US" altLang="ko-KR" sz="700" dirty="0">
                  <a:latin typeface="+mn-ea"/>
                </a:endParaRP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711123" y="2946204"/>
                <a:ext cx="1775839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00 %</a:t>
                </a:r>
              </a:p>
            </p:txBody>
          </p:sp>
          <p:cxnSp>
            <p:nvCxnSpPr>
              <p:cNvPr id="58" name="직선 연결선 5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177309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59" name="직선 연결선 5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391016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0" name="직선 연결선 59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604723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1" name="직선 연결선 60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808184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2" name="직선 연결선 61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02189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3" name="직선 연결선 6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235598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3363" y="3441403"/>
              <a:ext cx="1308971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재료비 </a:t>
              </a: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국내 재료비</a:t>
              </a:r>
            </a:p>
          </p:txBody>
        </p:sp>
      </p:grpSp>
      <p:grpSp>
        <p:nvGrpSpPr>
          <p:cNvPr id="3" name="그룹 2"/>
          <p:cNvGrpSpPr/>
          <p:nvPr/>
        </p:nvGrpSpPr>
        <p:grpSpPr>
          <a:xfrm>
            <a:off x="3836701" y="1893756"/>
            <a:ext cx="2630093" cy="1548736"/>
            <a:chOff x="3795734" y="3441403"/>
            <a:chExt cx="2630093" cy="1548736"/>
          </a:xfrm>
        </p:grpSpPr>
        <p:grpSp>
          <p:nvGrpSpPr>
            <p:cNvPr id="67" name="그룹 66"/>
            <p:cNvGrpSpPr/>
            <p:nvPr/>
          </p:nvGrpSpPr>
          <p:grpSpPr>
            <a:xfrm>
              <a:off x="3795734" y="3697476"/>
              <a:ext cx="2630093" cy="1292663"/>
              <a:chOff x="3865118" y="2946203"/>
              <a:chExt cx="2630093" cy="1292663"/>
            </a:xfrm>
          </p:grpSpPr>
          <p:sp>
            <p:nvSpPr>
              <p:cNvPr id="68" name="직사각형 67"/>
              <p:cNvSpPr/>
              <p:nvPr/>
            </p:nvSpPr>
            <p:spPr>
              <a:xfrm>
                <a:off x="3867211" y="2946203"/>
                <a:ext cx="792000" cy="128939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69" name="직선 연결선 6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5118" y="2946204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954275" y="2946204"/>
                <a:ext cx="670770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대상금액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>
                    <a:latin typeface="+mn-ea"/>
                  </a:rPr>
                  <a:t>신청금액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기사용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사용예정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>
                    <a:latin typeface="+mn-ea"/>
                  </a:rPr>
                  <a:t>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신청금액의</a:t>
                </a:r>
                <a:r>
                  <a:rPr lang="ko-KR" altLang="en-US" sz="700" dirty="0">
                    <a:latin typeface="+mn-ea"/>
                  </a:rPr>
                  <a:t> 비율</a:t>
                </a:r>
                <a:endParaRPr lang="en-US" altLang="ko-KR" sz="700" dirty="0">
                  <a:latin typeface="+mn-ea"/>
                </a:endParaRPr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711123" y="2946204"/>
                <a:ext cx="1775839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00 %</a:t>
                </a:r>
              </a:p>
            </p:txBody>
          </p:sp>
          <p:cxnSp>
            <p:nvCxnSpPr>
              <p:cNvPr id="72" name="직선 연결선 71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177309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3" name="직선 연결선 7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391016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4" name="직선 연결선 73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604723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5" name="직선 연결선 74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808184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6" name="직선 연결선 7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02189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7" name="직선 연결선 7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235598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82731" y="3441403"/>
              <a:ext cx="1308971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재료비 </a:t>
              </a: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간접 재료비</a:t>
              </a:r>
            </a:p>
          </p:txBody>
        </p:sp>
      </p:grpSp>
      <p:grpSp>
        <p:nvGrpSpPr>
          <p:cNvPr id="79" name="그룹 78"/>
          <p:cNvGrpSpPr/>
          <p:nvPr/>
        </p:nvGrpSpPr>
        <p:grpSpPr>
          <a:xfrm>
            <a:off x="3836701" y="3519974"/>
            <a:ext cx="2630093" cy="1548736"/>
            <a:chOff x="3795734" y="3441403"/>
            <a:chExt cx="2630093" cy="1548736"/>
          </a:xfrm>
        </p:grpSpPr>
        <p:grpSp>
          <p:nvGrpSpPr>
            <p:cNvPr id="80" name="그룹 79"/>
            <p:cNvGrpSpPr/>
            <p:nvPr/>
          </p:nvGrpSpPr>
          <p:grpSpPr>
            <a:xfrm>
              <a:off x="3795734" y="3697476"/>
              <a:ext cx="2630093" cy="1292663"/>
              <a:chOff x="3865118" y="2946203"/>
              <a:chExt cx="2630093" cy="1292663"/>
            </a:xfrm>
          </p:grpSpPr>
          <p:sp>
            <p:nvSpPr>
              <p:cNvPr id="82" name="직사각형 81"/>
              <p:cNvSpPr/>
              <p:nvPr/>
            </p:nvSpPr>
            <p:spPr>
              <a:xfrm>
                <a:off x="3867211" y="2946203"/>
                <a:ext cx="792000" cy="128939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83" name="직선 연결선 8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5118" y="2946204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954275" y="2946204"/>
                <a:ext cx="670770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대상금액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>
                    <a:latin typeface="+mn-ea"/>
                  </a:rPr>
                  <a:t>신청금액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기사용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사용예정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>
                    <a:latin typeface="+mn-ea"/>
                  </a:rPr>
                  <a:t>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신청금액의</a:t>
                </a:r>
                <a:r>
                  <a:rPr lang="ko-KR" altLang="en-US" sz="700" dirty="0">
                    <a:latin typeface="+mn-ea"/>
                  </a:rPr>
                  <a:t> 비율</a:t>
                </a:r>
                <a:endParaRPr lang="en-US" altLang="ko-KR" sz="700" dirty="0">
                  <a:latin typeface="+mn-ea"/>
                </a:endParaRPr>
              </a:p>
            </p:txBody>
          </p: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711123" y="2946204"/>
                <a:ext cx="1775839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00 %</a:t>
                </a:r>
              </a:p>
            </p:txBody>
          </p:sp>
          <p:cxnSp>
            <p:nvCxnSpPr>
              <p:cNvPr id="86" name="직선 연결선 8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177309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87" name="직선 연결선 8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391016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88" name="직선 연결선 8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604723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89" name="직선 연결선 8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808184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0" name="직선 연결선 89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02189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1" name="직선 연결선 90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235598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82731" y="3441403"/>
              <a:ext cx="1308971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 err="1">
                  <a:latin typeface="+mn-ea"/>
                </a:rPr>
                <a:t>노무비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– </a:t>
              </a:r>
              <a:r>
                <a:rPr lang="ko-KR" altLang="en-US" sz="700" dirty="0">
                  <a:latin typeface="+mn-ea"/>
                </a:rPr>
                <a:t>직접 </a:t>
              </a:r>
              <a:r>
                <a:rPr lang="ko-KR" altLang="en-US" sz="700" dirty="0" err="1">
                  <a:latin typeface="+mn-ea"/>
                </a:rPr>
                <a:t>노무비</a:t>
              </a:r>
              <a:endParaRPr lang="ko-KR" altLang="en-US" sz="700" dirty="0">
                <a:latin typeface="+mn-ea"/>
              </a:endParaRPr>
            </a:p>
          </p:txBody>
        </p:sp>
      </p:grpSp>
      <p:grpSp>
        <p:nvGrpSpPr>
          <p:cNvPr id="92" name="그룹 91"/>
          <p:cNvGrpSpPr/>
          <p:nvPr/>
        </p:nvGrpSpPr>
        <p:grpSpPr>
          <a:xfrm>
            <a:off x="3836701" y="5150729"/>
            <a:ext cx="2630093" cy="1548736"/>
            <a:chOff x="3795734" y="3441403"/>
            <a:chExt cx="2630093" cy="1548736"/>
          </a:xfrm>
        </p:grpSpPr>
        <p:grpSp>
          <p:nvGrpSpPr>
            <p:cNvPr id="93" name="그룹 92"/>
            <p:cNvGrpSpPr/>
            <p:nvPr/>
          </p:nvGrpSpPr>
          <p:grpSpPr>
            <a:xfrm>
              <a:off x="3795734" y="3697476"/>
              <a:ext cx="2630093" cy="1292663"/>
              <a:chOff x="3865118" y="2946203"/>
              <a:chExt cx="2630093" cy="1292663"/>
            </a:xfrm>
          </p:grpSpPr>
          <p:sp>
            <p:nvSpPr>
              <p:cNvPr id="95" name="직사각형 94"/>
              <p:cNvSpPr/>
              <p:nvPr/>
            </p:nvSpPr>
            <p:spPr>
              <a:xfrm>
                <a:off x="3867211" y="2946203"/>
                <a:ext cx="792000" cy="128939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96" name="직선 연결선 9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5118" y="2946204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954275" y="2946204"/>
                <a:ext cx="670770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대상금액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>
                    <a:latin typeface="+mn-ea"/>
                  </a:rPr>
                  <a:t>신청금액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기사용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사용예정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>
                    <a:latin typeface="+mn-ea"/>
                  </a:rPr>
                  <a:t>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신청금액의</a:t>
                </a:r>
                <a:r>
                  <a:rPr lang="ko-KR" altLang="en-US" sz="700" dirty="0">
                    <a:latin typeface="+mn-ea"/>
                  </a:rPr>
                  <a:t> 비율</a:t>
                </a:r>
                <a:endParaRPr lang="en-US" altLang="ko-KR" sz="700" dirty="0">
                  <a:latin typeface="+mn-ea"/>
                </a:endParaRPr>
              </a:p>
            </p:txBody>
          </p:sp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711123" y="2946204"/>
                <a:ext cx="1775839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00 %</a:t>
                </a:r>
              </a:p>
            </p:txBody>
          </p:sp>
          <p:cxnSp>
            <p:nvCxnSpPr>
              <p:cNvPr id="99" name="직선 연결선 9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177309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0" name="직선 연결선 99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391016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604723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2" name="직선 연결선 101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808184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02189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" name="직선 연결선 103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235598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82731" y="3441403"/>
              <a:ext cx="1308971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 err="1">
                  <a:latin typeface="+mn-ea"/>
                </a:rPr>
                <a:t>노무비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– </a:t>
              </a:r>
              <a:r>
                <a:rPr lang="ko-KR" altLang="en-US" sz="700" dirty="0">
                  <a:latin typeface="+mn-ea"/>
                </a:rPr>
                <a:t>간접 </a:t>
              </a:r>
              <a:r>
                <a:rPr lang="ko-KR" altLang="en-US" sz="700" dirty="0" err="1">
                  <a:latin typeface="+mn-ea"/>
                </a:rPr>
                <a:t>노무비</a:t>
              </a:r>
              <a:endParaRPr lang="ko-KR" altLang="en-US" sz="700" dirty="0">
                <a:latin typeface="+mn-ea"/>
              </a:endParaRPr>
            </a:p>
          </p:txBody>
        </p:sp>
      </p:grp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1501237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185565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1639043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08" name="직선 연결선 10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303798" y="1855650"/>
            <a:ext cx="63854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66970" y="1639043"/>
            <a:ext cx="57536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 smtClean="0">
                <a:latin typeface="+mn-ea"/>
              </a:rPr>
              <a:t>신청내역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185357" y="1639043"/>
            <a:ext cx="45444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세금계산서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882824" y="1639043"/>
            <a:ext cx="45444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smtClean="0">
                <a:latin typeface="+mn-ea"/>
              </a:rPr>
              <a:t>진행상태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12" name="직선 연결선 11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6701" y="1501237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4" name="직선 연결선 11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6701" y="185565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80380" y="1639043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16" name="직선 연결선 1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4420009" y="1855650"/>
            <a:ext cx="63854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483181" y="1639043"/>
            <a:ext cx="57536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신청내역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301568" y="1639043"/>
            <a:ext cx="45444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세금계산서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999035" y="1639043"/>
            <a:ext cx="45444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smtClean="0">
                <a:latin typeface="+mn-ea"/>
              </a:rPr>
              <a:t>진행상태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120" name="그룹 119"/>
          <p:cNvGrpSpPr/>
          <p:nvPr/>
        </p:nvGrpSpPr>
        <p:grpSpPr>
          <a:xfrm>
            <a:off x="797261" y="1853291"/>
            <a:ext cx="2456097" cy="181140"/>
            <a:chOff x="763157" y="1527996"/>
            <a:chExt cx="2456097" cy="181140"/>
          </a:xfrm>
        </p:grpSpPr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3157" y="1527996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신청금액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22" name="그룹 121"/>
            <p:cNvGrpSpPr/>
            <p:nvPr/>
          </p:nvGrpSpPr>
          <p:grpSpPr>
            <a:xfrm flipV="1">
              <a:off x="3125244" y="1641327"/>
              <a:ext cx="94010" cy="47005"/>
              <a:chOff x="6812560" y="3297172"/>
              <a:chExt cx="94010" cy="47005"/>
            </a:xfrm>
          </p:grpSpPr>
          <p:cxnSp>
            <p:nvCxnSpPr>
              <p:cNvPr id="123" name="직선 연결선 122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4" name="직선 연결선 123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25" name="그룹 124"/>
          <p:cNvGrpSpPr/>
          <p:nvPr/>
        </p:nvGrpSpPr>
        <p:grpSpPr>
          <a:xfrm>
            <a:off x="710263" y="2110577"/>
            <a:ext cx="2630093" cy="658520"/>
            <a:chOff x="3865118" y="2946204"/>
            <a:chExt cx="2630093" cy="658520"/>
          </a:xfrm>
        </p:grpSpPr>
        <p:sp>
          <p:nvSpPr>
            <p:cNvPr id="126" name="직사각형 125"/>
            <p:cNvSpPr/>
            <p:nvPr/>
          </p:nvSpPr>
          <p:spPr>
            <a:xfrm>
              <a:off x="3867211" y="2946204"/>
              <a:ext cx="792000" cy="6585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27" name="직선 연결선 12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5118" y="294620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54275" y="2946204"/>
              <a:ext cx="670770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일금</a:t>
              </a:r>
              <a:endParaRPr lang="en-US" altLang="ko-KR" sz="700" dirty="0" smtClean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일금 </a:t>
              </a:r>
              <a:r>
                <a:rPr lang="en-US" altLang="ko-KR" sz="700" dirty="0" smtClean="0">
                  <a:latin typeface="+mn-ea"/>
                </a:rPr>
                <a:t>(</a:t>
              </a:r>
              <a:r>
                <a:rPr lang="ko-KR" altLang="en-US" sz="700" dirty="0" smtClean="0">
                  <a:latin typeface="+mn-ea"/>
                </a:rPr>
                <a:t>한글</a:t>
              </a:r>
              <a:r>
                <a:rPr lang="en-US" altLang="ko-KR" sz="700" dirty="0" smtClean="0">
                  <a:latin typeface="+mn-ea"/>
                </a:rPr>
                <a:t>)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지출원인금액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11123" y="2946204"/>
              <a:ext cx="1775839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>
                <a:lnSpc>
                  <a:spcPct val="200000"/>
                </a:lnSpc>
              </a:pPr>
              <a:r>
                <a:rPr lang="en-US" altLang="ko-KR" sz="700" dirty="0" smtClean="0">
                  <a:latin typeface="+mn-ea"/>
                </a:rPr>
                <a:t>10,000,000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 smtClean="0">
                  <a:latin typeface="+mn-ea"/>
                </a:rPr>
                <a:t>\ </a:t>
              </a:r>
              <a:r>
                <a:rPr lang="ko-KR" altLang="en-US" sz="700" dirty="0" smtClean="0">
                  <a:latin typeface="+mn-ea"/>
                </a:rPr>
                <a:t>일천만</a:t>
              </a:r>
              <a:r>
                <a:rPr lang="en-US" altLang="ko-KR" sz="700" dirty="0" smtClean="0">
                  <a:latin typeface="+mn-ea"/>
                </a:rPr>
                <a:t> </a:t>
              </a:r>
              <a:r>
                <a:rPr lang="ko-KR" altLang="en-US" sz="700" dirty="0" smtClean="0">
                  <a:latin typeface="+mn-ea"/>
                </a:rPr>
                <a:t>원정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 smtClean="0">
                  <a:latin typeface="+mn-ea"/>
                </a:rPr>
                <a:t>10,000,000 </a:t>
              </a:r>
              <a:r>
                <a:rPr lang="ko-KR" altLang="en-US" sz="700" dirty="0" smtClean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32" name="직선 연결선 13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17730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직선 연결선 13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39101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4" name="직선 연결선 13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604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427004774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신청내역</a:t>
            </a:r>
            <a:r>
              <a:rPr lang="ko-KR" altLang="en-US" dirty="0"/>
              <a:t> 데이터 영역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73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신청금액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대금</a:t>
            </a:r>
            <a:r>
              <a:rPr lang="en-US" altLang="ko-KR" dirty="0"/>
              <a:t>/</a:t>
            </a:r>
            <a:r>
              <a:rPr lang="ko-KR" altLang="en-US" dirty="0"/>
              <a:t>사후 상세 </a:t>
            </a:r>
            <a:r>
              <a:rPr lang="en-US" altLang="ko-KR" dirty="0"/>
              <a:t>– </a:t>
            </a:r>
            <a:r>
              <a:rPr lang="ko-KR" altLang="en-US" dirty="0">
                <a:latin typeface="+mn-ea"/>
              </a:rPr>
              <a:t>사후정산청구 상세 </a:t>
            </a:r>
            <a:r>
              <a:rPr lang="ko-KR" altLang="en-US" dirty="0"/>
              <a:t>조회 화면</a:t>
            </a:r>
            <a:endParaRPr lang="ko-KR" altLang="en-US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사후정산청구상세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MUI-WM-01-T21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3" name="그룹 2"/>
          <p:cNvGrpSpPr/>
          <p:nvPr/>
        </p:nvGrpSpPr>
        <p:grpSpPr>
          <a:xfrm>
            <a:off x="3836701" y="1831489"/>
            <a:ext cx="2630093" cy="1548736"/>
            <a:chOff x="3795734" y="3441403"/>
            <a:chExt cx="2630093" cy="1548736"/>
          </a:xfrm>
        </p:grpSpPr>
        <p:grpSp>
          <p:nvGrpSpPr>
            <p:cNvPr id="67" name="그룹 66"/>
            <p:cNvGrpSpPr/>
            <p:nvPr/>
          </p:nvGrpSpPr>
          <p:grpSpPr>
            <a:xfrm>
              <a:off x="3795734" y="3697476"/>
              <a:ext cx="2630093" cy="1292663"/>
              <a:chOff x="3865118" y="2946203"/>
              <a:chExt cx="2630093" cy="1292663"/>
            </a:xfrm>
          </p:grpSpPr>
          <p:sp>
            <p:nvSpPr>
              <p:cNvPr id="68" name="직사각형 67"/>
              <p:cNvSpPr/>
              <p:nvPr/>
            </p:nvSpPr>
            <p:spPr>
              <a:xfrm>
                <a:off x="3867211" y="2946203"/>
                <a:ext cx="792000" cy="128939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69" name="직선 연결선 6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5118" y="2946204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954275" y="2946204"/>
                <a:ext cx="670770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대상금액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>
                    <a:latin typeface="+mn-ea"/>
                  </a:rPr>
                  <a:t>신청금액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기사용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사용예정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>
                    <a:latin typeface="+mn-ea"/>
                  </a:rPr>
                  <a:t>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신청금액의</a:t>
                </a:r>
                <a:r>
                  <a:rPr lang="ko-KR" altLang="en-US" sz="700" dirty="0">
                    <a:latin typeface="+mn-ea"/>
                  </a:rPr>
                  <a:t> 비율</a:t>
                </a:r>
                <a:endParaRPr lang="en-US" altLang="ko-KR" sz="700" dirty="0">
                  <a:latin typeface="+mn-ea"/>
                </a:endParaRPr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711123" y="2946204"/>
                <a:ext cx="1775839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00 %</a:t>
                </a:r>
              </a:p>
            </p:txBody>
          </p:sp>
          <p:cxnSp>
            <p:nvCxnSpPr>
              <p:cNvPr id="72" name="직선 연결선 71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177309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3" name="직선 연결선 7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391016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4" name="직선 연결선 73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604723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5" name="직선 연결선 74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808184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6" name="직선 연결선 7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02189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7" name="직선 연결선 7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235598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82731" y="3441403"/>
              <a:ext cx="1308971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기타</a:t>
              </a:r>
            </a:p>
          </p:txBody>
        </p:sp>
      </p:grpSp>
      <p:grpSp>
        <p:nvGrpSpPr>
          <p:cNvPr id="79" name="그룹 78"/>
          <p:cNvGrpSpPr/>
          <p:nvPr/>
        </p:nvGrpSpPr>
        <p:grpSpPr>
          <a:xfrm>
            <a:off x="3836701" y="3457707"/>
            <a:ext cx="2630093" cy="1548736"/>
            <a:chOff x="3795734" y="3441403"/>
            <a:chExt cx="2630093" cy="1548736"/>
          </a:xfrm>
        </p:grpSpPr>
        <p:grpSp>
          <p:nvGrpSpPr>
            <p:cNvPr id="80" name="그룹 79"/>
            <p:cNvGrpSpPr/>
            <p:nvPr/>
          </p:nvGrpSpPr>
          <p:grpSpPr>
            <a:xfrm>
              <a:off x="3795734" y="3697476"/>
              <a:ext cx="2630093" cy="1292663"/>
              <a:chOff x="3865118" y="2946203"/>
              <a:chExt cx="2630093" cy="1292663"/>
            </a:xfrm>
          </p:grpSpPr>
          <p:sp>
            <p:nvSpPr>
              <p:cNvPr id="82" name="직사각형 81"/>
              <p:cNvSpPr/>
              <p:nvPr/>
            </p:nvSpPr>
            <p:spPr>
              <a:xfrm>
                <a:off x="3867211" y="2946203"/>
                <a:ext cx="792000" cy="128939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83" name="직선 연결선 8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5118" y="2946204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954275" y="2946204"/>
                <a:ext cx="670770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대상금액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>
                    <a:latin typeface="+mn-ea"/>
                  </a:rPr>
                  <a:t>신청금액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기사용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사용예정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>
                    <a:latin typeface="+mn-ea"/>
                  </a:rPr>
                  <a:t>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신청금액의</a:t>
                </a:r>
                <a:r>
                  <a:rPr lang="ko-KR" altLang="en-US" sz="700" dirty="0">
                    <a:latin typeface="+mn-ea"/>
                  </a:rPr>
                  <a:t> 비율</a:t>
                </a:r>
                <a:endParaRPr lang="en-US" altLang="ko-KR" sz="700" dirty="0">
                  <a:latin typeface="+mn-ea"/>
                </a:endParaRPr>
              </a:p>
            </p:txBody>
          </p: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711123" y="2946204"/>
                <a:ext cx="1775839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00 %</a:t>
                </a:r>
              </a:p>
            </p:txBody>
          </p:sp>
          <p:cxnSp>
            <p:nvCxnSpPr>
              <p:cNvPr id="86" name="직선 연결선 8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177309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87" name="직선 연결선 8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391016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88" name="직선 연결선 8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604723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89" name="직선 연결선 8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808184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0" name="직선 연결선 89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02189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1" name="직선 연결선 90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235598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82731" y="3441403"/>
              <a:ext cx="1308971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합계</a:t>
              </a:r>
            </a:p>
          </p:txBody>
        </p:sp>
      </p:grpSp>
      <p:grpSp>
        <p:nvGrpSpPr>
          <p:cNvPr id="105" name="그룹 104"/>
          <p:cNvGrpSpPr/>
          <p:nvPr/>
        </p:nvGrpSpPr>
        <p:grpSpPr>
          <a:xfrm>
            <a:off x="716366" y="1831489"/>
            <a:ext cx="2630093" cy="1548736"/>
            <a:chOff x="3795734" y="3441403"/>
            <a:chExt cx="2630093" cy="1548736"/>
          </a:xfrm>
        </p:grpSpPr>
        <p:grpSp>
          <p:nvGrpSpPr>
            <p:cNvPr id="106" name="그룹 105"/>
            <p:cNvGrpSpPr/>
            <p:nvPr/>
          </p:nvGrpSpPr>
          <p:grpSpPr>
            <a:xfrm>
              <a:off x="3795734" y="3697476"/>
              <a:ext cx="2630093" cy="1292663"/>
              <a:chOff x="3865118" y="2946203"/>
              <a:chExt cx="2630093" cy="1292663"/>
            </a:xfrm>
          </p:grpSpPr>
          <p:sp>
            <p:nvSpPr>
              <p:cNvPr id="108" name="직사각형 107"/>
              <p:cNvSpPr/>
              <p:nvPr/>
            </p:nvSpPr>
            <p:spPr>
              <a:xfrm>
                <a:off x="3867211" y="2946203"/>
                <a:ext cx="792000" cy="128939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109" name="직선 연결선 10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5118" y="2946204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954275" y="2946204"/>
                <a:ext cx="670770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대상금액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>
                    <a:latin typeface="+mn-ea"/>
                  </a:rPr>
                  <a:t>신청금액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기사용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사용예정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>
                    <a:latin typeface="+mn-ea"/>
                  </a:rPr>
                  <a:t>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신청금액의</a:t>
                </a:r>
                <a:r>
                  <a:rPr lang="ko-KR" altLang="en-US" sz="700" dirty="0">
                    <a:latin typeface="+mn-ea"/>
                  </a:rPr>
                  <a:t> 비율</a:t>
                </a:r>
                <a:endParaRPr lang="en-US" altLang="ko-KR" sz="700" dirty="0">
                  <a:latin typeface="+mn-ea"/>
                </a:endParaRPr>
              </a:p>
            </p:txBody>
          </p:sp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711123" y="2946204"/>
                <a:ext cx="1775839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00 %</a:t>
                </a:r>
              </a:p>
            </p:txBody>
          </p:sp>
          <p:cxnSp>
            <p:nvCxnSpPr>
              <p:cNvPr id="112" name="직선 연결선 111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177309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4" name="직선 연결선 113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391016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604723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808184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7" name="직선 연결선 11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02189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8" name="직선 연결선 11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235598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82731" y="3441403"/>
              <a:ext cx="1308971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경비 </a:t>
              </a: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직접 경비</a:t>
              </a:r>
            </a:p>
          </p:txBody>
        </p:sp>
      </p:grpSp>
      <p:grpSp>
        <p:nvGrpSpPr>
          <p:cNvPr id="119" name="그룹 118"/>
          <p:cNvGrpSpPr/>
          <p:nvPr/>
        </p:nvGrpSpPr>
        <p:grpSpPr>
          <a:xfrm>
            <a:off x="716366" y="3457707"/>
            <a:ext cx="2630093" cy="1548736"/>
            <a:chOff x="3795734" y="3441403"/>
            <a:chExt cx="2630093" cy="1548736"/>
          </a:xfrm>
        </p:grpSpPr>
        <p:grpSp>
          <p:nvGrpSpPr>
            <p:cNvPr id="120" name="그룹 119"/>
            <p:cNvGrpSpPr/>
            <p:nvPr/>
          </p:nvGrpSpPr>
          <p:grpSpPr>
            <a:xfrm>
              <a:off x="3795734" y="3697476"/>
              <a:ext cx="2630093" cy="1292663"/>
              <a:chOff x="3865118" y="2946203"/>
              <a:chExt cx="2630093" cy="1292663"/>
            </a:xfrm>
          </p:grpSpPr>
          <p:sp>
            <p:nvSpPr>
              <p:cNvPr id="122" name="직사각형 121"/>
              <p:cNvSpPr/>
              <p:nvPr/>
            </p:nvSpPr>
            <p:spPr>
              <a:xfrm>
                <a:off x="3867211" y="2946203"/>
                <a:ext cx="792000" cy="128939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123" name="직선 연결선 12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5118" y="2946204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954275" y="2946204"/>
                <a:ext cx="670770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대상금액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>
                    <a:latin typeface="+mn-ea"/>
                  </a:rPr>
                  <a:t>신청금액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기사용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사용예정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>
                    <a:latin typeface="+mn-ea"/>
                  </a:rPr>
                  <a:t>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신청금액의</a:t>
                </a:r>
                <a:r>
                  <a:rPr lang="ko-KR" altLang="en-US" sz="700" dirty="0">
                    <a:latin typeface="+mn-ea"/>
                  </a:rPr>
                  <a:t> 비율</a:t>
                </a:r>
                <a:endParaRPr lang="en-US" altLang="ko-KR" sz="700" dirty="0">
                  <a:latin typeface="+mn-ea"/>
                </a:endParaRPr>
              </a:p>
            </p:txBody>
          </p:sp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711123" y="2946204"/>
                <a:ext cx="1775839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00 %</a:t>
                </a:r>
              </a:p>
            </p:txBody>
          </p:sp>
          <p:cxnSp>
            <p:nvCxnSpPr>
              <p:cNvPr id="126" name="직선 연결선 12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177309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27" name="직선 연결선 12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391016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28" name="직선 연결선 12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604723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30" name="직선 연결선 129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808184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32" name="직선 연결선 131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02189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33" name="직선 연결선 13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235598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82731" y="3441403"/>
              <a:ext cx="1308971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경비 </a:t>
              </a: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간접 경비</a:t>
              </a:r>
            </a:p>
          </p:txBody>
        </p:sp>
      </p:grpSp>
      <p:grpSp>
        <p:nvGrpSpPr>
          <p:cNvPr id="134" name="그룹 133"/>
          <p:cNvGrpSpPr/>
          <p:nvPr/>
        </p:nvGrpSpPr>
        <p:grpSpPr>
          <a:xfrm>
            <a:off x="716366" y="5088462"/>
            <a:ext cx="2630093" cy="1548736"/>
            <a:chOff x="3795734" y="3441403"/>
            <a:chExt cx="2630093" cy="1548736"/>
          </a:xfrm>
        </p:grpSpPr>
        <p:grpSp>
          <p:nvGrpSpPr>
            <p:cNvPr id="135" name="그룹 134"/>
            <p:cNvGrpSpPr/>
            <p:nvPr/>
          </p:nvGrpSpPr>
          <p:grpSpPr>
            <a:xfrm>
              <a:off x="3795734" y="3697476"/>
              <a:ext cx="2630093" cy="1292663"/>
              <a:chOff x="3865118" y="2946203"/>
              <a:chExt cx="2630093" cy="1292663"/>
            </a:xfrm>
          </p:grpSpPr>
          <p:sp>
            <p:nvSpPr>
              <p:cNvPr id="137" name="직사각형 136"/>
              <p:cNvSpPr/>
              <p:nvPr/>
            </p:nvSpPr>
            <p:spPr>
              <a:xfrm>
                <a:off x="3867211" y="2946203"/>
                <a:ext cx="792000" cy="128939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140" name="직선 연결선 139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5118" y="2946204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3954275" y="2946204"/>
                <a:ext cx="670770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대상금액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>
                    <a:latin typeface="+mn-ea"/>
                  </a:rPr>
                  <a:t>신청금액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기사용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 err="1">
                    <a:latin typeface="+mn-ea"/>
                  </a:rPr>
                  <a:t>사용예정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- </a:t>
                </a:r>
                <a:r>
                  <a:rPr lang="ko-KR" altLang="en-US" sz="700" dirty="0">
                    <a:latin typeface="+mn-ea"/>
                  </a:rPr>
                  <a:t>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700" dirty="0" err="1">
                    <a:latin typeface="+mn-ea"/>
                  </a:rPr>
                  <a:t>신청금액의</a:t>
                </a:r>
                <a:r>
                  <a:rPr lang="ko-KR" altLang="en-US" sz="700" dirty="0">
                    <a:latin typeface="+mn-ea"/>
                  </a:rPr>
                  <a:t> 비율</a:t>
                </a:r>
                <a:endParaRPr lang="en-US" altLang="ko-KR" sz="700" dirty="0">
                  <a:latin typeface="+mn-ea"/>
                </a:endParaRPr>
              </a:p>
            </p:txBody>
          </p:sp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711123" y="2946204"/>
                <a:ext cx="1775839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000,000,000 </a:t>
                </a:r>
                <a:r>
                  <a:rPr lang="ko-KR" altLang="en-US" sz="700" dirty="0">
                    <a:latin typeface="+mn-ea"/>
                  </a:rPr>
                  <a:t>원</a:t>
                </a:r>
                <a:endParaRPr lang="en-US" altLang="ko-KR" sz="700" dirty="0">
                  <a:latin typeface="+mn-ea"/>
                </a:endParaRPr>
              </a:p>
              <a:p>
                <a:pPr algn="r">
                  <a:lnSpc>
                    <a:spcPct val="200000"/>
                  </a:lnSpc>
                </a:pPr>
                <a:r>
                  <a:rPr lang="en-US" altLang="ko-KR" sz="700" dirty="0">
                    <a:latin typeface="+mn-ea"/>
                  </a:rPr>
                  <a:t>00 %</a:t>
                </a:r>
              </a:p>
            </p:txBody>
          </p:sp>
          <p:cxnSp>
            <p:nvCxnSpPr>
              <p:cNvPr id="145" name="직선 연결선 144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177309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46" name="직선 연결선 14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391016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47" name="직선 연결선 14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604723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48" name="직선 연결선 14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3808184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49" name="직선 연결선 14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02189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0" name="직선 연결선 149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3867211" y="4235598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82731" y="3441403"/>
              <a:ext cx="1308971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일반 관리비</a:t>
              </a:r>
            </a:p>
          </p:txBody>
        </p: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1501237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185565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1639043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95" name="직선 연결선 9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303798" y="1855650"/>
            <a:ext cx="63854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66970" y="1639043"/>
            <a:ext cx="57536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 smtClean="0">
                <a:latin typeface="+mn-ea"/>
              </a:rPr>
              <a:t>신청내역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185357" y="1639043"/>
            <a:ext cx="45444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세금계산서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882824" y="1639043"/>
            <a:ext cx="45444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smtClean="0">
                <a:latin typeface="+mn-ea"/>
              </a:rPr>
              <a:t>진행상태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6701" y="1501237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0" name="직선 연결선 9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6701" y="185565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80380" y="1639043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02" name="직선 연결선 10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4420009" y="1855650"/>
            <a:ext cx="63854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483181" y="1639043"/>
            <a:ext cx="57536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신청내역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301568" y="1639043"/>
            <a:ext cx="45444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세금계산서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999035" y="1639043"/>
            <a:ext cx="45444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smtClean="0">
                <a:latin typeface="+mn-ea"/>
              </a:rPr>
              <a:t>진행상태</a:t>
            </a:r>
            <a:endParaRPr lang="ko-KR" altLang="en-US" sz="7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0611180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en-US" altLang="ko-KR" dirty="0" smtClean="0">
                <a:latin typeface="+mn-ea"/>
              </a:rPr>
              <a:t>PC</a:t>
            </a:r>
            <a:r>
              <a:rPr lang="ko-KR" altLang="en-US" dirty="0" smtClean="0">
                <a:latin typeface="+mn-ea"/>
              </a:rPr>
              <a:t>에서 사후정산청구서 작성시</a:t>
            </a:r>
            <a:r>
              <a:rPr lang="en-US" altLang="ko-KR" dirty="0" smtClean="0">
                <a:latin typeface="+mn-ea"/>
              </a:rPr>
              <a:t>(UI-WM-01-M47), </a:t>
            </a:r>
            <a:r>
              <a:rPr lang="ko-KR" altLang="en-US" dirty="0" smtClean="0">
                <a:latin typeface="+mn-ea"/>
              </a:rPr>
              <a:t>세금계산서</a:t>
            </a:r>
            <a:r>
              <a:rPr lang="en-US" altLang="ko-KR" dirty="0">
                <a:latin typeface="+mn-ea"/>
              </a:rPr>
              <a:t> </a:t>
            </a:r>
            <a:r>
              <a:rPr lang="en-US" altLang="ko-KR" dirty="0" smtClean="0">
                <a:latin typeface="+mn-ea"/>
              </a:rPr>
              <a:t>“</a:t>
            </a:r>
            <a:r>
              <a:rPr lang="ko-KR" altLang="en-US" dirty="0" smtClean="0">
                <a:latin typeface="+mn-ea"/>
              </a:rPr>
              <a:t>선택</a:t>
            </a:r>
            <a:r>
              <a:rPr lang="en-US" altLang="ko-KR" dirty="0" smtClean="0">
                <a:latin typeface="+mn-ea"/>
              </a:rPr>
              <a:t>” </a:t>
            </a:r>
            <a:r>
              <a:rPr lang="ko-KR" altLang="en-US" dirty="0" smtClean="0">
                <a:latin typeface="+mn-ea"/>
              </a:rPr>
              <a:t>을 선택한 경우 노출 되는 항목</a:t>
            </a:r>
            <a:endParaRPr lang="en-US" altLang="ko-KR" dirty="0" smtClean="0">
              <a:latin typeface="+mn-ea"/>
            </a:endParaRPr>
          </a:p>
          <a:p>
            <a:pPr marL="228600" indent="-228600">
              <a:buAutoNum type="arabicPeriod"/>
            </a:pPr>
            <a:endParaRPr lang="en-US" altLang="ko-KR" dirty="0">
              <a:latin typeface="+mn-ea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74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Autofit/>
          </a:bodyPr>
          <a:lstStyle/>
          <a:p>
            <a:r>
              <a:rPr lang="ko-KR" altLang="en-US" dirty="0">
                <a:latin typeface="+mn-ea"/>
              </a:rPr>
              <a:t>세금계산서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대금</a:t>
            </a:r>
            <a:r>
              <a:rPr lang="en-US" altLang="ko-KR" dirty="0"/>
              <a:t>/</a:t>
            </a:r>
            <a:r>
              <a:rPr lang="ko-KR" altLang="en-US" dirty="0"/>
              <a:t>사후 상세 </a:t>
            </a:r>
            <a:r>
              <a:rPr lang="en-US" altLang="ko-KR" dirty="0"/>
              <a:t>– </a:t>
            </a:r>
            <a:r>
              <a:rPr lang="ko-KR" altLang="en-US" dirty="0">
                <a:latin typeface="+mn-ea"/>
              </a:rPr>
              <a:t>사후정산청구 상세 </a:t>
            </a:r>
            <a:r>
              <a:rPr lang="ko-KR" altLang="en-US" dirty="0"/>
              <a:t>조회 화면</a:t>
            </a:r>
            <a:endParaRPr lang="ko-KR" altLang="en-US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사후정산청구상세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MUI-WM-01-T22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" name="그룹 4"/>
          <p:cNvGrpSpPr/>
          <p:nvPr/>
        </p:nvGrpSpPr>
        <p:grpSpPr>
          <a:xfrm>
            <a:off x="803364" y="1891115"/>
            <a:ext cx="2456097" cy="181140"/>
            <a:chOff x="763157" y="1527996"/>
            <a:chExt cx="2456097" cy="181140"/>
          </a:xfrm>
        </p:grpSpPr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3157" y="1527996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세금계산서</a:t>
              </a:r>
            </a:p>
          </p:txBody>
        </p:sp>
        <p:grpSp>
          <p:nvGrpSpPr>
            <p:cNvPr id="129" name="그룹 128"/>
            <p:cNvGrpSpPr/>
            <p:nvPr/>
          </p:nvGrpSpPr>
          <p:grpSpPr>
            <a:xfrm flipV="1">
              <a:off x="3125244" y="1641327"/>
              <a:ext cx="94010" cy="47005"/>
              <a:chOff x="6812560" y="3297172"/>
              <a:chExt cx="94010" cy="47005"/>
            </a:xfrm>
          </p:grpSpPr>
          <p:cxnSp>
            <p:nvCxnSpPr>
              <p:cNvPr id="131" name="직선 연결선 13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8" name="직선 연결선 13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1" name="그룹 140"/>
          <p:cNvGrpSpPr/>
          <p:nvPr/>
        </p:nvGrpSpPr>
        <p:grpSpPr>
          <a:xfrm>
            <a:off x="716366" y="2183267"/>
            <a:ext cx="2630093" cy="235931"/>
            <a:chOff x="3865118" y="2946203"/>
            <a:chExt cx="2630093" cy="235931"/>
          </a:xfrm>
        </p:grpSpPr>
        <p:sp>
          <p:nvSpPr>
            <p:cNvPr id="142" name="직사각형 141"/>
            <p:cNvSpPr/>
            <p:nvPr/>
          </p:nvSpPr>
          <p:spPr>
            <a:xfrm>
              <a:off x="3867211" y="2946203"/>
              <a:ext cx="792000" cy="23593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5" name="직선 연결선 15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5118" y="294620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54274" y="2946204"/>
              <a:ext cx="715881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세금계산서번호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17730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17303" y="2946204"/>
              <a:ext cx="17696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 smtClean="0">
                  <a:latin typeface="+mn-ea"/>
                </a:rPr>
                <a:t>1234-5678-9012</a:t>
              </a:r>
              <a:endParaRPr lang="ko-KR" altLang="en-US" sz="700" dirty="0">
                <a:latin typeface="+mn-ea"/>
              </a:endParaRPr>
            </a:p>
          </p:txBody>
        </p: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6160" y="1944795"/>
            <a:ext cx="162064" cy="16206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606968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9" name="그룹 48"/>
          <p:cNvGrpSpPr/>
          <p:nvPr/>
        </p:nvGrpSpPr>
        <p:grpSpPr>
          <a:xfrm>
            <a:off x="716366" y="2727004"/>
            <a:ext cx="2630093" cy="1292663"/>
            <a:chOff x="3865118" y="2946203"/>
            <a:chExt cx="2630093" cy="1292663"/>
          </a:xfrm>
        </p:grpSpPr>
        <p:sp>
          <p:nvSpPr>
            <p:cNvPr id="50" name="직사각형 49"/>
            <p:cNvSpPr/>
            <p:nvPr/>
          </p:nvSpPr>
          <p:spPr>
            <a:xfrm>
              <a:off x="3867211" y="2946203"/>
              <a:ext cx="792000" cy="129266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2" name="직선 연결선 5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5118" y="294620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54274" y="2946204"/>
              <a:ext cx="715881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월일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품목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수량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단가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공급가액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세액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11123" y="2946204"/>
              <a:ext cx="1775839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02-03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55" name="직선 연결선 5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17730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6" name="직선 연결선 5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39101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7" name="직선 연결선 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604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8" name="직선 연결선 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80818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9" name="직선 연결선 5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02189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0" name="직선 연결선 5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23559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70" name="TextBox 6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3364" y="2453657"/>
            <a:ext cx="84376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품목 정보</a:t>
            </a:r>
          </a:p>
        </p:txBody>
      </p:sp>
      <p:grpSp>
        <p:nvGrpSpPr>
          <p:cNvPr id="71" name="그룹 70"/>
          <p:cNvGrpSpPr/>
          <p:nvPr/>
        </p:nvGrpSpPr>
        <p:grpSpPr>
          <a:xfrm>
            <a:off x="716366" y="4127377"/>
            <a:ext cx="2630093" cy="1292663"/>
            <a:chOff x="3865118" y="2946203"/>
            <a:chExt cx="2630093" cy="1292663"/>
          </a:xfrm>
        </p:grpSpPr>
        <p:sp>
          <p:nvSpPr>
            <p:cNvPr id="72" name="직사각형 71"/>
            <p:cNvSpPr/>
            <p:nvPr/>
          </p:nvSpPr>
          <p:spPr>
            <a:xfrm>
              <a:off x="3867211" y="2946203"/>
              <a:ext cx="792000" cy="129266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73" name="직선 연결선 7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5118" y="294620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54274" y="2946204"/>
              <a:ext cx="715881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월일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품목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수량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단가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공급가액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세액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11123" y="2946204"/>
              <a:ext cx="1775839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02-03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17730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7" name="직선 연결선 7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39101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8" name="직선 연결선 7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604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9" name="직선 연결선 7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380818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0" name="직선 연결선 7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02189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직선 연결선 8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67211" y="423559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617020"/>
            <a:ext cx="76863" cy="292489"/>
            <a:chOff x="3750067" y="4683795"/>
            <a:chExt cx="76863" cy="292489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84" name="타원 83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85" name="타원 84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63" name="직사각형 62"/>
          <p:cNvSpPr/>
          <p:nvPr/>
        </p:nvSpPr>
        <p:spPr>
          <a:xfrm>
            <a:off x="7103286" y="6036456"/>
            <a:ext cx="2275404" cy="1958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500" smtClean="0"/>
              <a:t>화면수정</a:t>
            </a:r>
            <a:endParaRPr lang="ko-KR" altLang="en-US" sz="500" dirty="0"/>
          </a:p>
        </p:txBody>
      </p: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1501237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185565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1639043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2150521" y="1855650"/>
            <a:ext cx="489284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66970" y="1639043"/>
            <a:ext cx="57536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대금신청</a:t>
            </a:r>
            <a:r>
              <a:rPr lang="ko-KR" altLang="en-US" sz="700" dirty="0">
                <a:latin typeface="+mn-ea"/>
              </a:rPr>
              <a:t> 금액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185357" y="1639043"/>
            <a:ext cx="45444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>
                <a:latin typeface="+mn-ea"/>
              </a:rPr>
              <a:t>세금계산서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882824" y="1639043"/>
            <a:ext cx="45444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smtClean="0">
                <a:latin typeface="+mn-ea"/>
              </a:rPr>
              <a:t>진행상태</a:t>
            </a:r>
            <a:endParaRPr lang="ko-KR" altLang="en-US" sz="7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8219525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sz="650" dirty="0"/>
              <a:t>상단 </a:t>
            </a:r>
            <a:r>
              <a:rPr lang="ko-KR" altLang="en-US" sz="650" dirty="0" err="1"/>
              <a:t>업무도움은</a:t>
            </a:r>
            <a:r>
              <a:rPr lang="ko-KR" altLang="en-US" sz="650" dirty="0"/>
              <a:t> 기본 값으로 접힘 상태로 정보 제공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/>
              <a:t>- </a:t>
            </a:r>
            <a:r>
              <a:rPr lang="ko-KR" altLang="en-US" sz="650" dirty="0"/>
              <a:t>페이지 </a:t>
            </a:r>
            <a:r>
              <a:rPr lang="ko-KR" altLang="en-US" sz="650" dirty="0" err="1"/>
              <a:t>호출시</a:t>
            </a:r>
            <a:r>
              <a:rPr lang="ko-KR" altLang="en-US" sz="650" dirty="0"/>
              <a:t> </a:t>
            </a:r>
            <a:r>
              <a:rPr lang="en-US" altLang="ko-KR" sz="650" dirty="0"/>
              <a:t>: </a:t>
            </a:r>
            <a:r>
              <a:rPr lang="ko-KR" altLang="en-US" sz="650" dirty="0"/>
              <a:t>해당 업체에서 진행중인 모든 </a:t>
            </a:r>
            <a:r>
              <a:rPr lang="ko-KR" altLang="en-US" sz="650" dirty="0" err="1"/>
              <a:t>계약건이</a:t>
            </a:r>
            <a:r>
              <a:rPr lang="ko-KR" altLang="en-US" sz="650" dirty="0"/>
              <a:t> 노출됨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/>
              <a:t>- </a:t>
            </a:r>
            <a:r>
              <a:rPr lang="ko-KR" altLang="en-US" sz="650" dirty="0"/>
              <a:t>계약일자기준 당일 포함 이전 </a:t>
            </a:r>
            <a:r>
              <a:rPr lang="en-US" altLang="ko-KR" sz="650" dirty="0"/>
              <a:t>30</a:t>
            </a:r>
            <a:r>
              <a:rPr lang="ko-KR" altLang="en-US" sz="650" dirty="0"/>
              <a:t>일 동안 신청된 계약 건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/>
              <a:t>- </a:t>
            </a:r>
            <a:r>
              <a:rPr lang="ko-KR" altLang="en-US" sz="650" dirty="0"/>
              <a:t>기본값 </a:t>
            </a:r>
            <a:r>
              <a:rPr lang="en-US" altLang="ko-KR" sz="650" dirty="0"/>
              <a:t>: </a:t>
            </a:r>
            <a:r>
              <a:rPr lang="ko-KR" altLang="en-US" sz="650" dirty="0"/>
              <a:t>접힘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/>
              <a:t>- </a:t>
            </a:r>
            <a:r>
              <a:rPr lang="ko-KR" altLang="en-US" sz="650" dirty="0"/>
              <a:t>사용자 </a:t>
            </a:r>
            <a:r>
              <a:rPr lang="ko-KR" altLang="en-US" sz="650" dirty="0" err="1"/>
              <a:t>클릭시</a:t>
            </a:r>
            <a:r>
              <a:rPr lang="ko-KR" altLang="en-US" sz="650" dirty="0"/>
              <a:t> 확장하여 정보 표시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/>
              <a:t>- </a:t>
            </a:r>
            <a:r>
              <a:rPr lang="ko-KR" altLang="en-US" sz="650" dirty="0" err="1"/>
              <a:t>업무도움</a:t>
            </a:r>
            <a:r>
              <a:rPr lang="en-US" altLang="ko-KR" sz="650" dirty="0"/>
              <a:t> &gt; </a:t>
            </a:r>
            <a:r>
              <a:rPr lang="ko-KR" altLang="en-US" sz="650" dirty="0"/>
              <a:t>내역이 있는 경우 표시</a:t>
            </a:r>
            <a:r>
              <a:rPr lang="en-US" altLang="ko-KR" sz="650" dirty="0"/>
              <a:t>, </a:t>
            </a:r>
            <a:r>
              <a:rPr lang="ko-KR" altLang="en-US" sz="650" dirty="0"/>
              <a:t>내역이 없으면 항목을 표시하지 않음</a:t>
            </a:r>
            <a:r>
              <a:rPr lang="en-US" altLang="ko-KR" sz="650" dirty="0"/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sz="650" dirty="0" err="1"/>
              <a:t>검색필터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/>
              <a:t>2-1] </a:t>
            </a:r>
            <a:r>
              <a:rPr lang="ko-KR" altLang="en-US" sz="650" dirty="0"/>
              <a:t>통합참조정보</a:t>
            </a:r>
            <a:r>
              <a:rPr lang="en-US" altLang="ko-KR" sz="650" dirty="0"/>
              <a:t>, </a:t>
            </a:r>
            <a:r>
              <a:rPr lang="ko-KR" altLang="en-US" sz="650" dirty="0" err="1"/>
              <a:t>예약번호중</a:t>
            </a:r>
            <a:r>
              <a:rPr lang="ko-KR" altLang="en-US" sz="650" dirty="0"/>
              <a:t> 선택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/>
              <a:t>2-2] </a:t>
            </a:r>
            <a:r>
              <a:rPr lang="ko-KR" altLang="en-US" sz="650" dirty="0" err="1"/>
              <a:t>검색어</a:t>
            </a:r>
            <a:r>
              <a:rPr lang="ko-KR" altLang="en-US" sz="650" dirty="0"/>
              <a:t> 입력</a:t>
            </a:r>
            <a:endParaRPr lang="en-US" altLang="ko-KR" sz="650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sz="650" dirty="0">
                <a:latin typeface="+mn-ea"/>
              </a:rPr>
              <a:t>검색 필터 호출</a:t>
            </a:r>
            <a:r>
              <a:rPr lang="en-US" altLang="ko-KR" sz="650" dirty="0">
                <a:latin typeface="+mn-ea"/>
              </a:rPr>
              <a:t/>
            </a:r>
            <a:br>
              <a:rPr lang="en-US" altLang="ko-KR" sz="650" dirty="0">
                <a:latin typeface="+mn-ea"/>
              </a:rPr>
            </a:br>
            <a:r>
              <a:rPr lang="ko-KR" altLang="en-US" sz="650" dirty="0">
                <a:latin typeface="+mn-ea"/>
              </a:rPr>
              <a:t> </a:t>
            </a:r>
            <a:r>
              <a:rPr lang="en-US" altLang="ko-KR" sz="650" dirty="0">
                <a:latin typeface="+mn-ea"/>
              </a:rPr>
              <a:t>– </a:t>
            </a:r>
            <a:r>
              <a:rPr lang="ko-KR" altLang="en-US" sz="650" dirty="0">
                <a:latin typeface="+mn-ea"/>
              </a:rPr>
              <a:t>계약 페이지 참고</a:t>
            </a:r>
            <a:endParaRPr lang="en-US" altLang="ko-KR" sz="650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sz="650" dirty="0"/>
              <a:t>표시 개수 영역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/>
              <a:t>- </a:t>
            </a:r>
            <a:r>
              <a:rPr lang="ko-KR" altLang="en-US" sz="650" dirty="0"/>
              <a:t>총 개수 표시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/>
              <a:t>- </a:t>
            </a:r>
            <a:r>
              <a:rPr lang="ko-KR" altLang="en-US" sz="650" dirty="0"/>
              <a:t>표시 개수 </a:t>
            </a:r>
            <a:r>
              <a:rPr lang="en-US" altLang="ko-KR" sz="650" dirty="0"/>
              <a:t>(</a:t>
            </a:r>
            <a:r>
              <a:rPr lang="ko-KR" altLang="en-US" sz="650" dirty="0"/>
              <a:t>선택한 건수 만큼 보여주고 </a:t>
            </a:r>
            <a:r>
              <a:rPr lang="ko-KR" altLang="en-US" sz="650" dirty="0" err="1"/>
              <a:t>더보기시</a:t>
            </a:r>
            <a:r>
              <a:rPr lang="ko-KR" altLang="en-US" sz="650" dirty="0"/>
              <a:t> 추가로 불러옴</a:t>
            </a:r>
            <a:r>
              <a:rPr lang="en-US" altLang="ko-KR" sz="650" dirty="0"/>
              <a:t>)</a:t>
            </a:r>
            <a:br>
              <a:rPr lang="en-US" altLang="ko-KR" sz="650" dirty="0"/>
            </a:br>
            <a:r>
              <a:rPr lang="ko-KR" altLang="en-US" sz="650" dirty="0"/>
              <a:t>목록 카드 표시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/>
              <a:t>- </a:t>
            </a:r>
            <a:r>
              <a:rPr lang="ko-KR" altLang="en-US" sz="650" dirty="0"/>
              <a:t>카드 </a:t>
            </a:r>
            <a:r>
              <a:rPr lang="ko-KR" altLang="en-US" sz="650" dirty="0" err="1"/>
              <a:t>클릭시</a:t>
            </a:r>
            <a:r>
              <a:rPr lang="ko-KR" altLang="en-US" sz="650" dirty="0"/>
              <a:t> </a:t>
            </a:r>
            <a:r>
              <a:rPr lang="ko-KR" altLang="en-US" sz="650" dirty="0" err="1"/>
              <a:t>바텀시트</a:t>
            </a:r>
            <a:r>
              <a:rPr lang="ko-KR" altLang="en-US" sz="650" dirty="0"/>
              <a:t> 호출</a:t>
            </a:r>
            <a:r>
              <a:rPr lang="en-US" altLang="ko-KR" sz="650" dirty="0"/>
              <a:t>(</a:t>
            </a:r>
            <a:r>
              <a:rPr lang="en-US" altLang="ko-KR" sz="650" dirty="0">
                <a:latin typeface="+mn-ea"/>
              </a:rPr>
              <a:t>MUI-WM-01-P13)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/>
              <a:t>4-1] </a:t>
            </a:r>
            <a:r>
              <a:rPr lang="ko-KR" altLang="en-US" sz="650" dirty="0" err="1"/>
              <a:t>표시레이블</a:t>
            </a:r>
            <a:r>
              <a:rPr lang="ko-KR" altLang="en-US" sz="650" dirty="0"/>
              <a:t> 영역 항목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/>
              <a:t>- </a:t>
            </a:r>
            <a:r>
              <a:rPr lang="ko-KR" altLang="en-US" sz="650" dirty="0"/>
              <a:t>레이블이 화면을 넘치는 경우 드래그하여 확인 가능 </a:t>
            </a:r>
            <a:r>
              <a:rPr lang="en-US" altLang="ko-KR" sz="650" dirty="0"/>
              <a:t>(</a:t>
            </a:r>
            <a:r>
              <a:rPr lang="ko-KR" altLang="en-US" sz="650" dirty="0" err="1"/>
              <a:t>스와이프기능</a:t>
            </a:r>
            <a:r>
              <a:rPr lang="ko-KR" altLang="en-US" sz="650" dirty="0"/>
              <a:t> 반영 필요</a:t>
            </a:r>
            <a:r>
              <a:rPr lang="en-US" altLang="ko-KR" sz="650" dirty="0"/>
              <a:t>)</a:t>
            </a:r>
            <a:br>
              <a:rPr lang="en-US" altLang="ko-KR" sz="650" dirty="0"/>
            </a:br>
            <a:r>
              <a:rPr lang="en-US" altLang="ko-KR" sz="650" dirty="0"/>
              <a:t>- </a:t>
            </a:r>
            <a:r>
              <a:rPr lang="ko-KR" altLang="en-US" sz="650" dirty="0" err="1"/>
              <a:t>업무구분</a:t>
            </a:r>
            <a:r>
              <a:rPr lang="ko-KR" altLang="en-US" sz="650" dirty="0"/>
              <a:t> </a:t>
            </a:r>
            <a:r>
              <a:rPr lang="en-US" altLang="ko-KR" sz="650" dirty="0"/>
              <a:t>:  </a:t>
            </a:r>
            <a:r>
              <a:rPr lang="ko-KR" altLang="en-US" sz="650" dirty="0"/>
              <a:t>전체</a:t>
            </a:r>
            <a:r>
              <a:rPr lang="en-US" altLang="ko-KR" sz="650" dirty="0"/>
              <a:t>, </a:t>
            </a:r>
            <a:r>
              <a:rPr lang="ko-KR" altLang="en-US" sz="650" dirty="0"/>
              <a:t>물품</a:t>
            </a:r>
            <a:r>
              <a:rPr lang="en-US" altLang="ko-KR" sz="650" dirty="0"/>
              <a:t>, </a:t>
            </a:r>
            <a:r>
              <a:rPr lang="ko-KR" altLang="en-US" sz="650" dirty="0"/>
              <a:t>용역</a:t>
            </a:r>
            <a:r>
              <a:rPr lang="en-US" altLang="ko-KR" sz="650" dirty="0"/>
              <a:t>, </a:t>
            </a:r>
            <a:r>
              <a:rPr lang="ko-KR" altLang="en-US" sz="650" dirty="0"/>
              <a:t>공사</a:t>
            </a:r>
            <a:r>
              <a:rPr lang="en-US" altLang="ko-KR" sz="650" dirty="0"/>
              <a:t>, </a:t>
            </a:r>
            <a:r>
              <a:rPr lang="ko-KR" altLang="en-US" sz="650" dirty="0"/>
              <a:t>국외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/>
              <a:t>- </a:t>
            </a:r>
            <a:r>
              <a:rPr lang="ko-KR" altLang="en-US" sz="650" dirty="0" err="1"/>
              <a:t>입찰구분</a:t>
            </a:r>
            <a:r>
              <a:rPr lang="ko-KR" altLang="en-US" sz="650" dirty="0"/>
              <a:t> </a:t>
            </a:r>
            <a:r>
              <a:rPr lang="en-US" altLang="ko-KR" sz="650" dirty="0"/>
              <a:t>: </a:t>
            </a:r>
            <a:r>
              <a:rPr lang="ko-KR" altLang="en-US" sz="650" dirty="0" err="1"/>
              <a:t>총액제</a:t>
            </a:r>
            <a:r>
              <a:rPr lang="en-US" altLang="ko-KR" sz="650" dirty="0"/>
              <a:t>, </a:t>
            </a:r>
            <a:r>
              <a:rPr lang="ko-KR" altLang="en-US" sz="650" dirty="0" err="1"/>
              <a:t>단가제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/>
              <a:t>- </a:t>
            </a:r>
            <a:r>
              <a:rPr lang="ko-KR" altLang="en-US" sz="650" dirty="0" err="1"/>
              <a:t>대금상태</a:t>
            </a:r>
            <a:r>
              <a:rPr lang="ko-KR" altLang="en-US" sz="650" dirty="0"/>
              <a:t> </a:t>
            </a:r>
            <a:r>
              <a:rPr lang="en-US" altLang="ko-KR" sz="650" dirty="0"/>
              <a:t>: </a:t>
            </a:r>
            <a:r>
              <a:rPr lang="ko-KR" altLang="en-US" sz="650" dirty="0" err="1"/>
              <a:t>선금신청</a:t>
            </a:r>
            <a:r>
              <a:rPr lang="en-US" altLang="ko-KR" sz="650" dirty="0"/>
              <a:t>, </a:t>
            </a:r>
            <a:r>
              <a:rPr lang="ko-KR" altLang="en-US" sz="650" dirty="0" err="1"/>
              <a:t>착중도금신청</a:t>
            </a:r>
            <a:r>
              <a:rPr lang="en-US" altLang="ko-KR" sz="650" dirty="0"/>
              <a:t>, </a:t>
            </a:r>
            <a:r>
              <a:rPr lang="ko-KR" altLang="en-US" sz="650" dirty="0" err="1"/>
              <a:t>대금청구</a:t>
            </a:r>
            <a:r>
              <a:rPr lang="en-US" altLang="ko-KR" sz="650" dirty="0"/>
              <a:t>, </a:t>
            </a:r>
            <a:r>
              <a:rPr lang="ko-KR" altLang="en-US" sz="650" dirty="0" err="1"/>
              <a:t>대금수정</a:t>
            </a:r>
            <a:r>
              <a:rPr lang="en-US" altLang="ko-KR" sz="650" dirty="0"/>
              <a:t>, </a:t>
            </a:r>
            <a:r>
              <a:rPr lang="ko-KR" altLang="en-US" sz="650" dirty="0" err="1"/>
              <a:t>대금확정</a:t>
            </a:r>
            <a:r>
              <a:rPr lang="en-US" altLang="ko-KR" sz="650" dirty="0"/>
              <a:t>, </a:t>
            </a:r>
            <a:r>
              <a:rPr lang="ko-KR" altLang="en-US" sz="650" dirty="0"/>
              <a:t>사후정산</a:t>
            </a:r>
            <a:br>
              <a:rPr lang="ko-KR" altLang="en-US" sz="650" dirty="0"/>
            </a:br>
            <a:r>
              <a:rPr lang="en-US" altLang="ko-KR" sz="650" dirty="0"/>
              <a:t>4-2] </a:t>
            </a:r>
            <a:r>
              <a:rPr lang="ko-KR" altLang="en-US" sz="650" dirty="0"/>
              <a:t>문서 정보 영역 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/>
              <a:t>- </a:t>
            </a:r>
            <a:r>
              <a:rPr lang="ko-KR" altLang="en-US" sz="650" dirty="0" err="1"/>
              <a:t>계약번호</a:t>
            </a:r>
            <a:r>
              <a:rPr lang="en-US" altLang="ko-KR" sz="650" dirty="0"/>
              <a:t>+</a:t>
            </a:r>
            <a:r>
              <a:rPr lang="ko-KR" altLang="en-US" sz="650" dirty="0" err="1"/>
              <a:t>회차노출</a:t>
            </a:r>
            <a:r>
              <a:rPr lang="ko-KR" altLang="en-US" sz="650" dirty="0"/>
              <a:t> 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/>
              <a:t>- </a:t>
            </a:r>
            <a:r>
              <a:rPr lang="ko-KR" altLang="en-US" sz="650" dirty="0" err="1"/>
              <a:t>계약번호</a:t>
            </a:r>
            <a:r>
              <a:rPr lang="ko-KR" altLang="en-US" sz="650" dirty="0"/>
              <a:t> </a:t>
            </a:r>
            <a:r>
              <a:rPr lang="ko-KR" altLang="en-US" sz="650" dirty="0" err="1"/>
              <a:t>노출시</a:t>
            </a:r>
            <a:r>
              <a:rPr lang="ko-KR" altLang="en-US" sz="650" dirty="0"/>
              <a:t> 해당 라인을 넘어가면 </a:t>
            </a:r>
            <a:r>
              <a:rPr lang="en-US" altLang="ko-KR" sz="650" dirty="0"/>
              <a:t>(…) </a:t>
            </a:r>
            <a:r>
              <a:rPr lang="ko-KR" altLang="en-US" sz="650" dirty="0" err="1"/>
              <a:t>말줄임</a:t>
            </a:r>
            <a:r>
              <a:rPr lang="ko-KR" altLang="en-US" sz="650" dirty="0"/>
              <a:t> 표시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/>
              <a:t>- </a:t>
            </a:r>
            <a:r>
              <a:rPr lang="ko-KR" altLang="en-US" sz="650" dirty="0" err="1"/>
              <a:t>계약번호</a:t>
            </a:r>
            <a:r>
              <a:rPr lang="en-US" altLang="ko-KR" sz="650" dirty="0"/>
              <a:t>:</a:t>
            </a:r>
            <a:r>
              <a:rPr lang="ko-KR" altLang="en-US" sz="650" dirty="0"/>
              <a:t> </a:t>
            </a:r>
            <a:r>
              <a:rPr lang="ko-KR" altLang="en-US" sz="650" dirty="0" err="1"/>
              <a:t>계약번호</a:t>
            </a:r>
            <a:r>
              <a:rPr lang="en-US" altLang="ko-KR" sz="650" dirty="0"/>
              <a:t>+</a:t>
            </a:r>
            <a:r>
              <a:rPr lang="ko-KR" altLang="en-US" sz="650" dirty="0"/>
              <a:t>계약번호차수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/>
              <a:t>4-3] </a:t>
            </a:r>
            <a:r>
              <a:rPr lang="ko-KR" altLang="en-US" sz="650" dirty="0"/>
              <a:t>문서 제목 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/>
              <a:t>- </a:t>
            </a:r>
            <a:r>
              <a:rPr lang="ko-KR" altLang="en-US" sz="650" dirty="0"/>
              <a:t>제목은 </a:t>
            </a:r>
            <a:r>
              <a:rPr lang="en-US" altLang="ko-KR" sz="650" dirty="0"/>
              <a:t>2</a:t>
            </a:r>
            <a:r>
              <a:rPr lang="ko-KR" altLang="en-US" sz="650" dirty="0"/>
              <a:t>줄 까지 노출 이후</a:t>
            </a:r>
            <a:r>
              <a:rPr lang="en-US" altLang="ko-KR" sz="650" dirty="0"/>
              <a:t>(…) </a:t>
            </a:r>
            <a:r>
              <a:rPr lang="ko-KR" altLang="en-US" sz="650" dirty="0" err="1"/>
              <a:t>말줄임</a:t>
            </a:r>
            <a:r>
              <a:rPr lang="ko-KR" altLang="en-US" sz="650" dirty="0"/>
              <a:t> 표시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/>
              <a:t>- </a:t>
            </a:r>
            <a:r>
              <a:rPr lang="ko-KR" altLang="en-US" sz="650" dirty="0"/>
              <a:t>대금청구상세 페이지로 이동 </a:t>
            </a:r>
            <a:endParaRPr lang="en-US" altLang="ko-KR" sz="650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sz="650" dirty="0" err="1"/>
              <a:t>더보기</a:t>
            </a:r>
            <a:r>
              <a:rPr lang="ko-KR" altLang="en-US" sz="650" dirty="0"/>
              <a:t> 기능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r>
              <a:rPr lang="en-US" altLang="ko-KR" sz="650" dirty="0"/>
              <a:t>- 3</a:t>
            </a:r>
            <a:r>
              <a:rPr lang="ko-KR" altLang="en-US" sz="650" dirty="0" err="1"/>
              <a:t>번항목</a:t>
            </a:r>
            <a:r>
              <a:rPr lang="ko-KR" altLang="en-US" sz="650" dirty="0"/>
              <a:t> 표시 개수 영역에서 선택한 개수로 증가</a:t>
            </a:r>
            <a:r>
              <a:rPr lang="en-US" altLang="ko-KR" sz="650" dirty="0"/>
              <a:t>.</a:t>
            </a:r>
            <a:br>
              <a:rPr lang="en-US" altLang="ko-KR" sz="650" dirty="0"/>
            </a:br>
            <a:r>
              <a:rPr lang="ko-KR" altLang="en-US" sz="650" dirty="0"/>
              <a:t>예</a:t>
            </a:r>
            <a:r>
              <a:rPr lang="en-US" altLang="ko-KR" sz="650" dirty="0"/>
              <a:t>) 10</a:t>
            </a:r>
            <a:r>
              <a:rPr lang="ko-KR" altLang="en-US" sz="650" dirty="0"/>
              <a:t>개 노출 이후 </a:t>
            </a:r>
            <a:r>
              <a:rPr lang="ko-KR" altLang="en-US" sz="650" dirty="0" err="1"/>
              <a:t>더보기</a:t>
            </a:r>
            <a:r>
              <a:rPr lang="ko-KR" altLang="en-US" sz="650" dirty="0"/>
              <a:t> 버튼 클릭으로 </a:t>
            </a:r>
            <a:r>
              <a:rPr lang="en-US" altLang="ko-KR" sz="650" dirty="0"/>
              <a:t>10</a:t>
            </a:r>
            <a:r>
              <a:rPr lang="ko-KR" altLang="en-US" sz="650" dirty="0"/>
              <a:t>개씩 추가 로드</a:t>
            </a:r>
            <a:endParaRPr lang="en-US" altLang="ko-KR" sz="650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sz="650" dirty="0"/>
              <a:t>대금청구관련 안내문을 호출한다</a:t>
            </a:r>
            <a:r>
              <a:rPr lang="en-US" altLang="ko-KR" sz="650" dirty="0"/>
              <a:t>.</a:t>
            </a:r>
            <a:r>
              <a:rPr lang="en-US" altLang="ko-KR" sz="650" dirty="0">
                <a:latin typeface="+mn-ea"/>
              </a:rPr>
              <a:t> (MUI-WM-01-P09)</a:t>
            </a:r>
            <a:r>
              <a:rPr lang="en-US" altLang="ko-KR" sz="650" dirty="0"/>
              <a:t/>
            </a:r>
            <a:br>
              <a:rPr lang="en-US" altLang="ko-KR" sz="650" dirty="0"/>
            </a:br>
            <a:endParaRPr lang="en-US" altLang="ko-KR" sz="650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75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대금청구진행현황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대금청구진행현황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/>
              <a:t>대금청구진행현황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MUI-WM-01-M11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/>
              <a:t>대금청구진행현황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214303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7" name="그룹 36"/>
          <p:cNvGrpSpPr/>
          <p:nvPr/>
        </p:nvGrpSpPr>
        <p:grpSpPr>
          <a:xfrm>
            <a:off x="3143548" y="3008641"/>
            <a:ext cx="94010" cy="47005"/>
            <a:chOff x="6812560" y="3297172"/>
            <a:chExt cx="94010" cy="47005"/>
          </a:xfrm>
        </p:grpSpPr>
        <p:cxnSp>
          <p:nvCxnSpPr>
            <p:cNvPr id="42" name="직선 연결선 4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직선 연결선 4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41494"/>
            <a:ext cx="2446613" cy="279492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grpSp>
        <p:nvGrpSpPr>
          <p:cNvPr id="5" name="그룹 4"/>
          <p:cNvGrpSpPr/>
          <p:nvPr/>
        </p:nvGrpSpPr>
        <p:grpSpPr>
          <a:xfrm>
            <a:off x="781461" y="3389315"/>
            <a:ext cx="2473257" cy="960061"/>
            <a:chOff x="781461" y="3087955"/>
            <a:chExt cx="2473257" cy="960061"/>
          </a:xfrm>
        </p:grpSpPr>
        <p:sp>
          <p:nvSpPr>
            <p:cNvPr id="55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3272286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신청번호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1234-5678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/ </a:t>
              </a:r>
              <a:r>
                <a:rPr lang="ko-KR" altLang="en-US" sz="700" dirty="0" err="1"/>
                <a:t>계약번호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2025000000 - 01</a:t>
              </a:r>
            </a:p>
            <a:p>
              <a:r>
                <a:rPr lang="ko-KR" altLang="en-US" sz="900" b="1" dirty="0">
                  <a:solidFill>
                    <a:srgbClr val="0070C0"/>
                  </a:solidFill>
                </a:rPr>
                <a:t>물품</a:t>
              </a:r>
              <a:r>
                <a:rPr lang="ko-KR" altLang="en-US" sz="900" b="1" dirty="0"/>
                <a:t>구매</a:t>
              </a:r>
            </a:p>
          </p:txBody>
        </p:sp>
        <p:sp>
          <p:nvSpPr>
            <p:cNvPr id="56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632518"/>
              <a:ext cx="307777" cy="4154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계약금액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수령액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청구금액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57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617129"/>
              <a:ext cx="472886" cy="39767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11,616,000 </a:t>
              </a:r>
              <a:r>
                <a:rPr lang="ko-KR" altLang="en-US" sz="600" dirty="0">
                  <a:latin typeface="+mn-ea"/>
                </a:rPr>
                <a:t>원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11,616,000 </a:t>
              </a:r>
              <a:r>
                <a:rPr lang="ko-KR" altLang="en-US" sz="600" dirty="0">
                  <a:latin typeface="+mn-ea"/>
                </a:rPr>
                <a:t>원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11,616,000 </a:t>
              </a:r>
              <a:r>
                <a:rPr lang="ko-KR" altLang="en-US" sz="600" dirty="0">
                  <a:latin typeface="+mn-ea"/>
                </a:rPr>
                <a:t>원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67" name="모서리가 둥근 직사각형 66"/>
            <p:cNvSpPr/>
            <p:nvPr/>
          </p:nvSpPr>
          <p:spPr>
            <a:xfrm>
              <a:off x="781461" y="3087955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물품</a:t>
              </a:r>
            </a:p>
          </p:txBody>
        </p:sp>
        <p:sp>
          <p:nvSpPr>
            <p:cNvPr id="68" name="모서리가 둥근 직사각형 67"/>
            <p:cNvSpPr/>
            <p:nvPr/>
          </p:nvSpPr>
          <p:spPr>
            <a:xfrm>
              <a:off x="1075655" y="3087955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수의계약</a:t>
              </a:r>
            </a:p>
          </p:txBody>
        </p: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015426"/>
            <a:ext cx="76863" cy="292489"/>
            <a:chOff x="3750067" y="4683795"/>
            <a:chExt cx="76863" cy="292489"/>
          </a:xfrm>
        </p:grpSpPr>
        <p:sp>
          <p:nvSpPr>
            <p:cNvPr id="70" name="타원 69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2" name="타원 71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452436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84188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1902673"/>
            <a:ext cx="45225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공지사항</a:t>
            </a:r>
          </a:p>
        </p:txBody>
      </p:sp>
      <p:sp>
        <p:nvSpPr>
          <p:cNvPr id="129" name="타원 128"/>
          <p:cNvSpPr/>
          <p:nvPr/>
        </p:nvSpPr>
        <p:spPr>
          <a:xfrm>
            <a:off x="783686" y="1934018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0" name="그룹 129"/>
          <p:cNvGrpSpPr/>
          <p:nvPr/>
        </p:nvGrpSpPr>
        <p:grpSpPr>
          <a:xfrm>
            <a:off x="3143548" y="2016004"/>
            <a:ext cx="94010" cy="47005"/>
            <a:chOff x="6812560" y="3297172"/>
            <a:chExt cx="94010" cy="47005"/>
          </a:xfrm>
        </p:grpSpPr>
        <p:cxnSp>
          <p:nvCxnSpPr>
            <p:cNvPr id="131" name="직선 연결선 13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2" name="직선 연결선 13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0" name="모서리가 둥근 직사각형 79"/>
          <p:cNvSpPr/>
          <p:nvPr/>
        </p:nvSpPr>
        <p:spPr>
          <a:xfrm>
            <a:off x="4614060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물품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2233885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표시 레이블</a:t>
            </a:r>
          </a:p>
        </p:txBody>
      </p:sp>
      <p:sp>
        <p:nvSpPr>
          <p:cNvPr id="84" name="모서리가 둥근 직사각형 83"/>
          <p:cNvSpPr/>
          <p:nvPr/>
        </p:nvSpPr>
        <p:spPr>
          <a:xfrm>
            <a:off x="4914986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용역</a:t>
            </a:r>
          </a:p>
        </p:txBody>
      </p:sp>
      <p:sp>
        <p:nvSpPr>
          <p:cNvPr id="85" name="모서리가 둥근 직사각형 84"/>
          <p:cNvSpPr/>
          <p:nvPr/>
        </p:nvSpPr>
        <p:spPr>
          <a:xfrm>
            <a:off x="5215975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공사</a:t>
            </a:r>
          </a:p>
        </p:txBody>
      </p:sp>
      <p:sp>
        <p:nvSpPr>
          <p:cNvPr id="86" name="모서리가 둥근 직사각형 85"/>
          <p:cNvSpPr/>
          <p:nvPr/>
        </p:nvSpPr>
        <p:spPr>
          <a:xfrm>
            <a:off x="5519047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국외</a:t>
            </a:r>
          </a:p>
        </p:txBody>
      </p:sp>
      <p:sp>
        <p:nvSpPr>
          <p:cNvPr id="87" name="모서리가 둥근 직사각형 86"/>
          <p:cNvSpPr/>
          <p:nvPr/>
        </p:nvSpPr>
        <p:spPr>
          <a:xfrm>
            <a:off x="4318635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전체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2550467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업무구분</a:t>
            </a:r>
            <a:endParaRPr lang="ko-KR" altLang="en-US" sz="700" dirty="0">
              <a:latin typeface="+mn-ea"/>
            </a:endParaRPr>
          </a:p>
        </p:txBody>
      </p:sp>
      <p:sp>
        <p:nvSpPr>
          <p:cNvPr id="180" name="모서리가 둥근 직사각형 179"/>
          <p:cNvSpPr/>
          <p:nvPr/>
        </p:nvSpPr>
        <p:spPr>
          <a:xfrm>
            <a:off x="4318635" y="2877159"/>
            <a:ext cx="325832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총액제</a:t>
            </a:r>
            <a:endParaRPr lang="ko-KR" altLang="en-US" sz="600" dirty="0"/>
          </a:p>
        </p:txBody>
      </p:sp>
      <p:sp>
        <p:nvSpPr>
          <p:cNvPr id="181" name="모서리가 둥근 직사각형 180"/>
          <p:cNvSpPr/>
          <p:nvPr/>
        </p:nvSpPr>
        <p:spPr>
          <a:xfrm>
            <a:off x="4695883" y="2878607"/>
            <a:ext cx="325832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단가제</a:t>
            </a:r>
            <a:endParaRPr lang="ko-KR" altLang="en-US" sz="600" dirty="0"/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2882998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입찰구분</a:t>
            </a:r>
            <a:endParaRPr lang="ko-KR" altLang="en-US" sz="700" dirty="0">
              <a:latin typeface="+mn-ea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3223238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대금상태</a:t>
            </a:r>
            <a:endParaRPr lang="ko-KR" altLang="en-US" sz="700" dirty="0">
              <a:latin typeface="+mn-ea"/>
            </a:endParaRPr>
          </a:p>
        </p:txBody>
      </p:sp>
      <p:sp>
        <p:nvSpPr>
          <p:cNvPr id="112" name="모서리가 둥근 직사각형 111"/>
          <p:cNvSpPr/>
          <p:nvPr/>
        </p:nvSpPr>
        <p:spPr>
          <a:xfrm>
            <a:off x="4318634" y="3219308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선금신청</a:t>
            </a:r>
            <a:endParaRPr lang="ko-KR" altLang="en-US" sz="600" dirty="0"/>
          </a:p>
        </p:txBody>
      </p:sp>
      <p:sp>
        <p:nvSpPr>
          <p:cNvPr id="113" name="모서리가 둥근 직사각형 112"/>
          <p:cNvSpPr/>
          <p:nvPr/>
        </p:nvSpPr>
        <p:spPr>
          <a:xfrm>
            <a:off x="4762118" y="3220756"/>
            <a:ext cx="555911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착중도금신청</a:t>
            </a:r>
            <a:endParaRPr lang="ko-KR" altLang="en-US" sz="600" dirty="0"/>
          </a:p>
        </p:txBody>
      </p:sp>
      <p:sp>
        <p:nvSpPr>
          <p:cNvPr id="115" name="모서리가 둥근 직사각형 114"/>
          <p:cNvSpPr/>
          <p:nvPr/>
        </p:nvSpPr>
        <p:spPr>
          <a:xfrm>
            <a:off x="5833259" y="3220756"/>
            <a:ext cx="403390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대금수정</a:t>
            </a:r>
            <a:endParaRPr lang="ko-KR" altLang="en-US" sz="600" dirty="0"/>
          </a:p>
        </p:txBody>
      </p:sp>
      <p:sp>
        <p:nvSpPr>
          <p:cNvPr id="118" name="모서리가 둥근 직사각형 117"/>
          <p:cNvSpPr/>
          <p:nvPr/>
        </p:nvSpPr>
        <p:spPr>
          <a:xfrm>
            <a:off x="5364593" y="3220756"/>
            <a:ext cx="403390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대금청구</a:t>
            </a:r>
            <a:r>
              <a:rPr lang="ko-KR" altLang="en-US" sz="600" dirty="0"/>
              <a:t>                          </a:t>
            </a:r>
          </a:p>
        </p:txBody>
      </p:sp>
      <p:sp>
        <p:nvSpPr>
          <p:cNvPr id="119" name="모서리가 둥근 직사각형 118"/>
          <p:cNvSpPr/>
          <p:nvPr/>
        </p:nvSpPr>
        <p:spPr>
          <a:xfrm>
            <a:off x="1525063" y="3384176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대금청구</a:t>
            </a:r>
            <a:endParaRPr lang="ko-KR" altLang="en-US" sz="600" dirty="0"/>
          </a:p>
        </p:txBody>
      </p:sp>
      <p:cxnSp>
        <p:nvCxnSpPr>
          <p:cNvPr id="141" name="직선 연결선 14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19808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2910872"/>
            <a:ext cx="130550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2,010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</a:p>
        </p:txBody>
      </p:sp>
      <p:sp>
        <p:nvSpPr>
          <p:cNvPr id="123" name="모서리가 둥근 직사각형 122"/>
          <p:cNvSpPr/>
          <p:nvPr/>
        </p:nvSpPr>
        <p:spPr>
          <a:xfrm>
            <a:off x="6286574" y="3220756"/>
            <a:ext cx="403390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대금확정</a:t>
            </a:r>
            <a:endParaRPr lang="ko-KR" altLang="en-US" sz="600" dirty="0"/>
          </a:p>
        </p:txBody>
      </p:sp>
      <p:sp>
        <p:nvSpPr>
          <p:cNvPr id="125" name="모서리가 둥근 직사각형 124"/>
          <p:cNvSpPr/>
          <p:nvPr/>
        </p:nvSpPr>
        <p:spPr>
          <a:xfrm>
            <a:off x="4318634" y="3411975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사후정산</a:t>
            </a:r>
          </a:p>
        </p:txBody>
      </p:sp>
      <p:sp>
        <p:nvSpPr>
          <p:cNvPr id="185" name="타원 184"/>
          <p:cNvSpPr/>
          <p:nvPr/>
        </p:nvSpPr>
        <p:spPr>
          <a:xfrm>
            <a:off x="2741767" y="1580377"/>
            <a:ext cx="108000" cy="108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699587" y="1709526"/>
            <a:ext cx="192360" cy="769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500" dirty="0">
                <a:latin typeface="+mn-ea"/>
              </a:rPr>
              <a:t>안내문</a:t>
            </a:r>
          </a:p>
        </p:txBody>
      </p:sp>
      <p:sp>
        <p:nvSpPr>
          <p:cNvPr id="124" name="모서리가 둥근 직사각형 123"/>
          <p:cNvSpPr/>
          <p:nvPr/>
        </p:nvSpPr>
        <p:spPr>
          <a:xfrm>
            <a:off x="1978768" y="3384176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대금반납</a:t>
            </a:r>
            <a:endParaRPr lang="ko-KR" altLang="en-US" sz="600" dirty="0"/>
          </a:p>
        </p:txBody>
      </p:sp>
      <p:grpSp>
        <p:nvGrpSpPr>
          <p:cNvPr id="126" name="그룹 125"/>
          <p:cNvGrpSpPr/>
          <p:nvPr/>
        </p:nvGrpSpPr>
        <p:grpSpPr>
          <a:xfrm>
            <a:off x="767702" y="2270279"/>
            <a:ext cx="2527420" cy="477995"/>
            <a:chOff x="786326" y="2270279"/>
            <a:chExt cx="2527420" cy="477995"/>
          </a:xfrm>
        </p:grpSpPr>
        <p:sp>
          <p:nvSpPr>
            <p:cNvPr id="133" name="모서리가 둥근 직사각형 132"/>
            <p:cNvSpPr/>
            <p:nvPr/>
          </p:nvSpPr>
          <p:spPr>
            <a:xfrm>
              <a:off x="786326" y="2481707"/>
              <a:ext cx="2527420" cy="266567"/>
            </a:xfrm>
            <a:prstGeom prst="roundRect">
              <a:avLst>
                <a:gd name="adj" fmla="val 50000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0" name="타원 139"/>
            <p:cNvSpPr/>
            <p:nvPr/>
          </p:nvSpPr>
          <p:spPr>
            <a:xfrm>
              <a:off x="3071451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90013" y="2561129"/>
              <a:ext cx="188636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검색할 내용을 입력하세요</a:t>
              </a:r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.</a:t>
              </a:r>
              <a:endParaRPr lang="ko-KR" altLang="en-US" sz="7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grpSp>
          <p:nvGrpSpPr>
            <p:cNvPr id="144" name="그룹 143"/>
            <p:cNvGrpSpPr/>
            <p:nvPr/>
          </p:nvGrpSpPr>
          <p:grpSpPr>
            <a:xfrm>
              <a:off x="795624" y="2274581"/>
              <a:ext cx="1299303" cy="155984"/>
              <a:chOff x="808107" y="2288229"/>
              <a:chExt cx="1189739" cy="168318"/>
            </a:xfrm>
          </p:grpSpPr>
          <p:sp>
            <p:nvSpPr>
              <p:cNvPr id="190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808107" y="2288229"/>
                <a:ext cx="563494" cy="168318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rgbClr val="0070C0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 err="1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계약명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맑은 고딕"/>
                </a:endParaRPr>
              </a:p>
            </p:txBody>
          </p:sp>
          <p:sp>
            <p:nvSpPr>
              <p:cNvPr id="191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1434352" y="2288229"/>
                <a:ext cx="563494" cy="168318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 err="1">
                    <a:latin typeface="맑은 고딕"/>
                    <a:ea typeface="맑은 고딕" panose="020B0503020000020004" pitchFamily="50" charset="-127"/>
                  </a:rPr>
                  <a:t>계약번호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</p:grpSp>
        <p:sp>
          <p:nvSpPr>
            <p:cNvPr id="148" name="타원 147"/>
            <p:cNvSpPr/>
            <p:nvPr/>
          </p:nvSpPr>
          <p:spPr>
            <a:xfrm>
              <a:off x="814969" y="2290708"/>
              <a:ext cx="108000" cy="108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V</a:t>
              </a:r>
              <a:endParaRPr lang="ko-KR" altLang="en-US" sz="600" dirty="0"/>
            </a:p>
          </p:txBody>
        </p:sp>
        <p:sp>
          <p:nvSpPr>
            <p:cNvPr id="182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2726021" y="2270279"/>
              <a:ext cx="582849" cy="154795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800" kern="0" dirty="0" err="1">
                  <a:latin typeface="맑은 고딕"/>
                  <a:ea typeface="맑은 고딕" panose="020B0503020000020004" pitchFamily="50" charset="-127"/>
                </a:rPr>
                <a:t>검색필터</a:t>
              </a:r>
              <a:endParaRPr kumimoji="1" lang="en-US" sz="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186" name="타원 185"/>
            <p:cNvSpPr/>
            <p:nvPr/>
          </p:nvSpPr>
          <p:spPr>
            <a:xfrm>
              <a:off x="2857726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87" name="그룹 186"/>
            <p:cNvGrpSpPr/>
            <p:nvPr/>
          </p:nvGrpSpPr>
          <p:grpSpPr>
            <a:xfrm>
              <a:off x="2901631" y="2585953"/>
              <a:ext cx="58075" cy="58074"/>
              <a:chOff x="6812560" y="3297172"/>
              <a:chExt cx="94010" cy="94010"/>
            </a:xfrm>
          </p:grpSpPr>
          <p:cxnSp>
            <p:nvCxnSpPr>
              <p:cNvPr id="188" name="직선 연결선 187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9" name="직선 연결선 188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92" name="TextBox 19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78206" y="2890210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2890210"/>
            <a:ext cx="505710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194" name="그룹 193"/>
          <p:cNvGrpSpPr/>
          <p:nvPr/>
        </p:nvGrpSpPr>
        <p:grpSpPr>
          <a:xfrm>
            <a:off x="3004764" y="3105654"/>
            <a:ext cx="776938" cy="1131139"/>
            <a:chOff x="3004764" y="2490533"/>
            <a:chExt cx="776938" cy="1131139"/>
          </a:xfrm>
        </p:grpSpPr>
        <p:sp>
          <p:nvSpPr>
            <p:cNvPr id="195" name="사각형: 둥근 모서리 222">
              <a:extLst>
                <a:ext uri="{FF2B5EF4-FFF2-40B4-BE49-F238E27FC236}">
                  <a16:creationId xmlns:a16="http://schemas.microsoft.com/office/drawing/2014/main" id="{8AF9D577-0373-21E1-F7E1-B17AE839E882}"/>
                </a:ext>
              </a:extLst>
            </p:cNvPr>
            <p:cNvSpPr/>
            <p:nvPr/>
          </p:nvSpPr>
          <p:spPr>
            <a:xfrm>
              <a:off x="3004764" y="2833887"/>
              <a:ext cx="776938" cy="787785"/>
            </a:xfrm>
            <a:prstGeom prst="roundRect">
              <a:avLst>
                <a:gd name="adj" fmla="val 3899"/>
              </a:avLst>
            </a:prstGeom>
            <a:solidFill>
              <a:sysClr val="window" lastClr="FFFFFF"/>
            </a:solidFill>
            <a:ln w="9525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ko-KR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6" name="사각형: 둥근 모서리 224">
              <a:extLst>
                <a:ext uri="{FF2B5EF4-FFF2-40B4-BE49-F238E27FC236}">
                  <a16:creationId xmlns:a16="http://schemas.microsoft.com/office/drawing/2014/main" id="{3EFB2C27-9C6F-8886-4247-7900976F7BD2}"/>
                </a:ext>
              </a:extLst>
            </p:cNvPr>
            <p:cNvSpPr/>
            <p:nvPr/>
          </p:nvSpPr>
          <p:spPr>
            <a:xfrm>
              <a:off x="3004764" y="2490533"/>
              <a:ext cx="775390" cy="343356"/>
            </a:xfrm>
            <a:prstGeom prst="roundRect">
              <a:avLst/>
            </a:prstGeom>
            <a:solidFill>
              <a:sysClr val="window" lastClr="FFFFFF"/>
            </a:solidFill>
            <a:ln w="9525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+mn-ea"/>
                  <a:cs typeface="+mn-cs"/>
                </a:rPr>
                <a:t>10 </a:t>
              </a:r>
              <a:r>
                <a: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+mn-ea"/>
                  <a:cs typeface="+mn-cs"/>
                </a:rPr>
                <a:t>개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97" name="TextBox 226">
              <a:extLst>
                <a:ext uri="{FF2B5EF4-FFF2-40B4-BE49-F238E27FC236}">
                  <a16:creationId xmlns:a16="http://schemas.microsoft.com/office/drawing/2014/main" id="{2D0EB093-7669-C055-4901-B28C987E9EF9}"/>
                </a:ext>
              </a:extLst>
            </p:cNvPr>
            <p:cNvSpPr txBox="1"/>
            <p:nvPr/>
          </p:nvSpPr>
          <p:spPr>
            <a:xfrm>
              <a:off x="3063151" y="2833887"/>
              <a:ext cx="641770" cy="6740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10 </a:t>
              </a:r>
              <a:r>
                <a: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개</a:t>
              </a:r>
              <a:endParaRPr kumimoji="0" lang="en-US" altLang="ko-KR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  <a:p>
              <a:pPr marL="0" marR="0" lvl="0" indent="0" defTabSz="914400" eaLnBrk="1" fontAlgn="auto" latinLnBrk="0" hangingPunct="1">
                <a:lnSpc>
                  <a:spcPct val="1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</a:rPr>
                <a:t>30</a:t>
              </a:r>
              <a:r>
                <a:rPr lang="ko-KR" altLang="en-US" sz="700" kern="0" dirty="0">
                  <a:solidFill>
                    <a:prstClr val="black"/>
                  </a:solidFill>
                </a:rPr>
                <a:t> 개</a:t>
              </a:r>
              <a:endParaRPr lang="en-US" altLang="ko-KR" sz="700" kern="0" dirty="0">
                <a:solidFill>
                  <a:prstClr val="black"/>
                </a:solidFill>
              </a:endParaRPr>
            </a:p>
            <a:p>
              <a:pPr marL="0" marR="0" lvl="0" indent="0" defTabSz="914400" eaLnBrk="1" fontAlgn="auto" latinLnBrk="0" hangingPunct="1">
                <a:lnSpc>
                  <a:spcPct val="1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50 </a:t>
              </a:r>
              <a:r>
                <a: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개</a:t>
              </a:r>
              <a:endParaRPr kumimoji="0" lang="en-US" altLang="ko-KR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grpSp>
          <p:nvGrpSpPr>
            <p:cNvPr id="198" name="그룹 197"/>
            <p:cNvGrpSpPr/>
            <p:nvPr/>
          </p:nvGrpSpPr>
          <p:grpSpPr>
            <a:xfrm flipV="1">
              <a:off x="3584851" y="2638708"/>
              <a:ext cx="94010" cy="47005"/>
              <a:chOff x="6615710" y="3297172"/>
              <a:chExt cx="94010" cy="47005"/>
            </a:xfrm>
          </p:grpSpPr>
          <p:cxnSp>
            <p:nvCxnSpPr>
              <p:cNvPr id="199" name="직선 연결선 198"/>
              <p:cNvCxnSpPr/>
              <p:nvPr/>
            </p:nvCxnSpPr>
            <p:spPr>
              <a:xfrm>
                <a:off x="661571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0" name="직선 연결선 199"/>
              <p:cNvCxnSpPr/>
              <p:nvPr/>
            </p:nvCxnSpPr>
            <p:spPr>
              <a:xfrm flipH="1">
                <a:off x="666271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14" name="타원 11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5884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1</a:t>
            </a:r>
            <a:endParaRPr lang="ko-KR" altLang="en-US" sz="900" b="1" dirty="0"/>
          </a:p>
        </p:txBody>
      </p:sp>
      <p:sp>
        <p:nvSpPr>
          <p:cNvPr id="117" name="타원 11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90465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  <p:sp>
        <p:nvSpPr>
          <p:cNvPr id="120" name="타원 11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8819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5</a:t>
            </a:r>
            <a:endParaRPr lang="ko-KR" altLang="en-US" sz="900" b="1" dirty="0"/>
          </a:p>
        </p:txBody>
      </p:sp>
      <p:sp>
        <p:nvSpPr>
          <p:cNvPr id="121" name="타원 12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42020" y="22046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 b="1" dirty="0" smtClean="0"/>
              <a:t>4-1</a:t>
            </a:r>
            <a:endParaRPr lang="ko-KR" altLang="en-US" sz="600" b="1" dirty="0"/>
          </a:p>
        </p:txBody>
      </p:sp>
      <p:sp>
        <p:nvSpPr>
          <p:cNvPr id="122" name="타원 12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706935" y="326122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00" b="1" dirty="0" smtClean="0"/>
              <a:t>4-1</a:t>
            </a:r>
          </a:p>
        </p:txBody>
      </p:sp>
      <p:sp>
        <p:nvSpPr>
          <p:cNvPr id="136" name="타원 13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52055" y="223388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sp>
        <p:nvSpPr>
          <p:cNvPr id="137" name="타원 13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1463636" y="223388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 b="1" dirty="0" smtClean="0"/>
              <a:t>2-1</a:t>
            </a:r>
            <a:endParaRPr lang="ko-KR" altLang="en-US" sz="600" b="1" dirty="0"/>
          </a:p>
        </p:txBody>
      </p:sp>
      <p:sp>
        <p:nvSpPr>
          <p:cNvPr id="138" name="타원 13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2684573" y="222479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</a:p>
        </p:txBody>
      </p:sp>
      <p:sp>
        <p:nvSpPr>
          <p:cNvPr id="139" name="타원 13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706935" y="250441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 b="1" dirty="0" smtClean="0"/>
              <a:t>2-2</a:t>
            </a:r>
            <a:endParaRPr lang="ko-KR" altLang="en-US" sz="600" b="1" dirty="0"/>
          </a:p>
        </p:txBody>
      </p:sp>
      <p:sp>
        <p:nvSpPr>
          <p:cNvPr id="142" name="타원 14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2650531" y="146183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6</a:t>
            </a:r>
            <a:endParaRPr lang="ko-KR" altLang="en-US" sz="900" b="1" dirty="0"/>
          </a:p>
        </p:txBody>
      </p:sp>
      <p:sp>
        <p:nvSpPr>
          <p:cNvPr id="156" name="타원 15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706935" y="350959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00" b="1" dirty="0" smtClean="0"/>
              <a:t>4-2</a:t>
            </a:r>
          </a:p>
        </p:txBody>
      </p:sp>
      <p:sp>
        <p:nvSpPr>
          <p:cNvPr id="159" name="타원 15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706935" y="374701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00" b="1" dirty="0" smtClean="0"/>
              <a:t>4-3</a:t>
            </a:r>
          </a:p>
        </p:txBody>
      </p:sp>
      <p:sp>
        <p:nvSpPr>
          <p:cNvPr id="171" name="직사각형 170"/>
          <p:cNvSpPr/>
          <p:nvPr/>
        </p:nvSpPr>
        <p:spPr>
          <a:xfrm>
            <a:off x="7067290" y="6120986"/>
            <a:ext cx="2336280" cy="172142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fontAlgn="ctr"/>
            <a:r>
              <a:rPr lang="en-US" altLang="ko-KR" sz="500" b="1" dirty="0" smtClean="0">
                <a:solidFill>
                  <a:schemeClr val="bg1"/>
                </a:solidFill>
              </a:rPr>
              <a:t>0706) </a:t>
            </a:r>
            <a:r>
              <a:rPr lang="ko-KR" altLang="en-US" sz="500" b="1" dirty="0" err="1" smtClean="0">
                <a:solidFill>
                  <a:schemeClr val="bg1"/>
                </a:solidFill>
              </a:rPr>
              <a:t>계약일자</a:t>
            </a:r>
            <a:r>
              <a:rPr lang="en-US" altLang="ko-KR" sz="500" b="1" dirty="0" smtClean="0">
                <a:solidFill>
                  <a:schemeClr val="bg1"/>
                </a:solidFill>
              </a:rPr>
              <a:t>, </a:t>
            </a:r>
            <a:r>
              <a:rPr lang="ko-KR" altLang="en-US" sz="500" b="1" dirty="0" err="1" smtClean="0">
                <a:solidFill>
                  <a:schemeClr val="bg1"/>
                </a:solidFill>
              </a:rPr>
              <a:t>청구일자</a:t>
            </a:r>
            <a:r>
              <a:rPr lang="en-US" altLang="ko-KR" sz="500" b="1" dirty="0" smtClean="0">
                <a:solidFill>
                  <a:schemeClr val="bg1"/>
                </a:solidFill>
              </a:rPr>
              <a:t>,</a:t>
            </a:r>
            <a:r>
              <a:rPr lang="ko-KR" altLang="en-US" sz="500" b="1" dirty="0" err="1" smtClean="0">
                <a:solidFill>
                  <a:schemeClr val="bg1"/>
                </a:solidFill>
              </a:rPr>
              <a:t>수령금액</a:t>
            </a:r>
            <a:r>
              <a:rPr lang="ko-KR" altLang="en-US" sz="500" b="1" dirty="0" smtClean="0">
                <a:solidFill>
                  <a:schemeClr val="bg1"/>
                </a:solidFill>
              </a:rPr>
              <a:t> 누락</a:t>
            </a:r>
            <a:endParaRPr lang="ko-KR" altLang="ko-KR" sz="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169794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76</a:t>
            </a:fld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B257CD-DFF9-C20A-42B1-86A5BD32A09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1E579C-7AF3-7BFE-7013-093144AFB794}"/>
              </a:ext>
            </a:extLst>
          </p:cNvPr>
          <p:cNvSpPr txBox="1"/>
          <p:nvPr/>
        </p:nvSpPr>
        <p:spPr>
          <a:xfrm>
            <a:off x="458117" y="803113"/>
            <a:ext cx="3360463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대금청구진행현황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dmt_pymtClmPrgrsPrstSrch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9C383C-55E0-D07A-4E04-846216D6522D}"/>
              </a:ext>
            </a:extLst>
          </p:cNvPr>
          <p:cNvSpPr txBox="1"/>
          <p:nvPr/>
        </p:nvSpPr>
        <p:spPr>
          <a:xfrm>
            <a:off x="458117" y="2490877"/>
            <a:ext cx="266475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대금청구목록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dlt_pymtClmList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76A37DB3-05EE-95CD-48CB-E4E9ABDEE5BE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1407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ctrtBngnYmd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ctrtEndYmd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계약일자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</a:p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-mm-dd(From-To)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계약번호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계약번호검색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공통팝업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347732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</a:rPr>
                        <a:t>계약명</a:t>
                      </a:r>
                      <a:r>
                        <a:rPr lang="ko-KR" altLang="en-US" sz="800" dirty="0">
                          <a:latin typeface="+mn-ea"/>
                        </a:rPr>
                        <a:t>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taskSeCd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업무구분을 선택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물품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용역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청구일자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clmBngnYmd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clmEndYmd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청구일자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</a:p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-mm-dd(From-To)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10006116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F5D46A5E-37F4-8517-D03E-37CE77A215D9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740763"/>
          <a:ext cx="8994883" cy="21331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조회결과 자료 순번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N/A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rownum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taskSeCd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물품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용역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9965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birqNo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83255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청구일자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clmYmd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청구일자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-mm-dd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51094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03160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차수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ctrtCycl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차수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28815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523475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19156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수령금액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trgtAmt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수령금액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청구금액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clmAmt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청구금액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C93F0D25-F0ED-6C90-FFD8-CA354714AFA7}"/>
              </a:ext>
            </a:extLst>
          </p:cNvPr>
          <p:cNvSpPr txBox="1"/>
          <p:nvPr/>
        </p:nvSpPr>
        <p:spPr>
          <a:xfrm>
            <a:off x="458117" y="4974426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2. </a:t>
            </a:r>
            <a:r>
              <a:rPr lang="ko-KR" altLang="en-US" sz="1000" b="1" dirty="0">
                <a:solidFill>
                  <a:prstClr val="black"/>
                </a:solidFill>
              </a:rPr>
              <a:t>이벤트 설명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A926DA9-86BF-3A57-B2B3-A50D61CC8A52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5278246"/>
          <a:ext cx="8995591" cy="1141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3103963203"/>
                    </a:ext>
                  </a:extLst>
                </a:gridCol>
                <a:gridCol w="37029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4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공통코드를 조회한다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상세 클릭 이벤트</a:t>
                      </a:r>
                      <a:endParaRPr lang="en-US" altLang="ko-KR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scwin.btn_dtl_onclick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대금청구 상세조회 화면을 호출한다</a:t>
                      </a:r>
                      <a:r>
                        <a:rPr lang="en-US" altLang="ko-KR" sz="800" dirty="0"/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(UI-WM-01-M17)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대금청구상세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중앙조달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 (UI-WM-01-M18)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대금청구상세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부대조달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 (UI-WM-01-M19)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대금청구상세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 (UI-WM-01-M20)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대금청구상세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기성대가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0118306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검색 클릭 이벤트</a:t>
                      </a:r>
                      <a:endParaRPr lang="en-US" altLang="ko-KR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scwin.btn_srch_onclick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대금청구진행현황 목록을 조회한다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7564871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BF0BCD30-B7AD-5863-DCBB-C31A8722B3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876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44753387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77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대금지불정보</a:t>
            </a:r>
            <a:r>
              <a:rPr lang="en-US" altLang="ko-KR" dirty="0"/>
              <a:t>(</a:t>
            </a:r>
            <a:r>
              <a:rPr lang="ko-KR" altLang="en-US" dirty="0"/>
              <a:t>반납</a:t>
            </a:r>
            <a:r>
              <a:rPr lang="en-US" altLang="ko-KR" dirty="0"/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대금지불정보</a:t>
            </a:r>
            <a:r>
              <a:rPr lang="en-US" altLang="ko-KR" dirty="0"/>
              <a:t>(</a:t>
            </a:r>
            <a:r>
              <a:rPr lang="ko-KR" altLang="en-US" dirty="0"/>
              <a:t>반납</a:t>
            </a:r>
            <a:r>
              <a:rPr lang="en-US" altLang="ko-KR" dirty="0"/>
              <a:t>)</a:t>
            </a:r>
            <a:r>
              <a:rPr lang="ko-KR" altLang="en-US" dirty="0"/>
              <a:t>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대금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사후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대금지불정보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반납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MUI-WM-01-M10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대금지불정보</a:t>
            </a:r>
            <a:r>
              <a:rPr lang="en-US" altLang="ko-KR" sz="800" dirty="0">
                <a:latin typeface="+mn-ea"/>
              </a:rPr>
              <a:t>(</a:t>
            </a:r>
            <a:r>
              <a:rPr lang="ko-KR" altLang="en-US" sz="800" dirty="0">
                <a:latin typeface="+mn-ea"/>
              </a:rPr>
              <a:t>반납</a:t>
            </a:r>
            <a:r>
              <a:rPr lang="en-US" altLang="ko-KR" sz="800" dirty="0">
                <a:latin typeface="+mn-ea"/>
              </a:rPr>
              <a:t>)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214303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7" name="그룹 36"/>
          <p:cNvGrpSpPr/>
          <p:nvPr/>
        </p:nvGrpSpPr>
        <p:grpSpPr>
          <a:xfrm>
            <a:off x="3143548" y="3008641"/>
            <a:ext cx="94010" cy="47005"/>
            <a:chOff x="6812560" y="3297172"/>
            <a:chExt cx="94010" cy="47005"/>
          </a:xfrm>
        </p:grpSpPr>
        <p:cxnSp>
          <p:nvCxnSpPr>
            <p:cNvPr id="42" name="직선 연결선 4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직선 연결선 4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41494"/>
            <a:ext cx="2446613" cy="279492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grpSp>
        <p:nvGrpSpPr>
          <p:cNvPr id="5" name="그룹 4"/>
          <p:cNvGrpSpPr/>
          <p:nvPr/>
        </p:nvGrpSpPr>
        <p:grpSpPr>
          <a:xfrm>
            <a:off x="781461" y="3389662"/>
            <a:ext cx="2473257" cy="942236"/>
            <a:chOff x="781461" y="3087955"/>
            <a:chExt cx="2473257" cy="942236"/>
          </a:xfrm>
        </p:grpSpPr>
        <p:sp>
          <p:nvSpPr>
            <p:cNvPr id="55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3272286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신청번호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1234-5678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/ </a:t>
              </a:r>
              <a:r>
                <a:rPr lang="ko-KR" altLang="en-US" sz="700" dirty="0" err="1"/>
                <a:t>계약번호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2025000000 - 01</a:t>
              </a:r>
            </a:p>
            <a:p>
              <a:r>
                <a:rPr lang="ko-KR" altLang="en-US" sz="900" b="1" dirty="0">
                  <a:solidFill>
                    <a:srgbClr val="0070C0"/>
                  </a:solidFill>
                </a:rPr>
                <a:t>물품</a:t>
              </a:r>
              <a:r>
                <a:rPr lang="ko-KR" altLang="en-US" sz="900" b="1" dirty="0"/>
                <a:t>구매</a:t>
              </a:r>
            </a:p>
          </p:txBody>
        </p:sp>
        <p:sp>
          <p:nvSpPr>
            <p:cNvPr id="56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632518"/>
              <a:ext cx="307777" cy="39767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계약금액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수령금액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반납금액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57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617129"/>
              <a:ext cx="472886" cy="39767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11,616,000 </a:t>
              </a:r>
              <a:r>
                <a:rPr lang="ko-KR" altLang="en-US" sz="600" dirty="0">
                  <a:latin typeface="+mn-ea"/>
                </a:rPr>
                <a:t>원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11,616,000 </a:t>
              </a:r>
              <a:r>
                <a:rPr lang="ko-KR" altLang="en-US" sz="600" dirty="0">
                  <a:latin typeface="+mn-ea"/>
                </a:rPr>
                <a:t>원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11,616,000 </a:t>
              </a:r>
              <a:r>
                <a:rPr lang="ko-KR" altLang="en-US" sz="600" dirty="0">
                  <a:latin typeface="+mn-ea"/>
                </a:rPr>
                <a:t>원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67" name="모서리가 둥근 직사각형 66"/>
            <p:cNvSpPr/>
            <p:nvPr/>
          </p:nvSpPr>
          <p:spPr>
            <a:xfrm>
              <a:off x="781461" y="3087955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물품</a:t>
              </a:r>
            </a:p>
          </p:txBody>
        </p:sp>
        <p:sp>
          <p:nvSpPr>
            <p:cNvPr id="68" name="모서리가 둥근 직사각형 67"/>
            <p:cNvSpPr/>
            <p:nvPr/>
          </p:nvSpPr>
          <p:spPr>
            <a:xfrm>
              <a:off x="1075655" y="3087955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 err="1" smtClean="0"/>
                <a:t>단가제</a:t>
              </a:r>
              <a:endParaRPr lang="ko-KR" altLang="en-US" sz="600" dirty="0"/>
            </a:p>
          </p:txBody>
        </p: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015426"/>
            <a:ext cx="76863" cy="292489"/>
            <a:chOff x="3750067" y="4683795"/>
            <a:chExt cx="76863" cy="292489"/>
          </a:xfrm>
        </p:grpSpPr>
        <p:sp>
          <p:nvSpPr>
            <p:cNvPr id="70" name="타원 69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2" name="타원 71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452783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84188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1902673"/>
            <a:ext cx="45225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공지사항</a:t>
            </a:r>
          </a:p>
        </p:txBody>
      </p:sp>
      <p:sp>
        <p:nvSpPr>
          <p:cNvPr id="129" name="타원 128"/>
          <p:cNvSpPr/>
          <p:nvPr/>
        </p:nvSpPr>
        <p:spPr>
          <a:xfrm>
            <a:off x="783686" y="1934018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0" name="그룹 129"/>
          <p:cNvGrpSpPr/>
          <p:nvPr/>
        </p:nvGrpSpPr>
        <p:grpSpPr>
          <a:xfrm>
            <a:off x="3143548" y="2016004"/>
            <a:ext cx="94010" cy="47005"/>
            <a:chOff x="6812560" y="3297172"/>
            <a:chExt cx="94010" cy="47005"/>
          </a:xfrm>
        </p:grpSpPr>
        <p:cxnSp>
          <p:nvCxnSpPr>
            <p:cNvPr id="131" name="직선 연결선 13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2" name="직선 연결선 13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0" name="모서리가 둥근 직사각형 79"/>
          <p:cNvSpPr/>
          <p:nvPr/>
        </p:nvSpPr>
        <p:spPr>
          <a:xfrm>
            <a:off x="4614060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물품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34207" y="2304240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표시 레이블</a:t>
            </a:r>
          </a:p>
        </p:txBody>
      </p:sp>
      <p:sp>
        <p:nvSpPr>
          <p:cNvPr id="84" name="모서리가 둥근 직사각형 83"/>
          <p:cNvSpPr/>
          <p:nvPr/>
        </p:nvSpPr>
        <p:spPr>
          <a:xfrm>
            <a:off x="4914986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용역</a:t>
            </a:r>
          </a:p>
        </p:txBody>
      </p:sp>
      <p:sp>
        <p:nvSpPr>
          <p:cNvPr id="85" name="모서리가 둥근 직사각형 84"/>
          <p:cNvSpPr/>
          <p:nvPr/>
        </p:nvSpPr>
        <p:spPr>
          <a:xfrm>
            <a:off x="5215975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공사</a:t>
            </a:r>
          </a:p>
        </p:txBody>
      </p:sp>
      <p:sp>
        <p:nvSpPr>
          <p:cNvPr id="86" name="모서리가 둥근 직사각형 85"/>
          <p:cNvSpPr/>
          <p:nvPr/>
        </p:nvSpPr>
        <p:spPr>
          <a:xfrm>
            <a:off x="5519047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국외</a:t>
            </a:r>
          </a:p>
        </p:txBody>
      </p:sp>
      <p:sp>
        <p:nvSpPr>
          <p:cNvPr id="87" name="모서리가 둥근 직사각형 86"/>
          <p:cNvSpPr/>
          <p:nvPr/>
        </p:nvSpPr>
        <p:spPr>
          <a:xfrm>
            <a:off x="4318635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전체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2550467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업무구분</a:t>
            </a:r>
            <a:endParaRPr lang="ko-KR" altLang="en-US" sz="700" dirty="0">
              <a:latin typeface="+mn-ea"/>
            </a:endParaRPr>
          </a:p>
        </p:txBody>
      </p:sp>
      <p:sp>
        <p:nvSpPr>
          <p:cNvPr id="180" name="모서리가 둥근 직사각형 179"/>
          <p:cNvSpPr/>
          <p:nvPr/>
        </p:nvSpPr>
        <p:spPr>
          <a:xfrm>
            <a:off x="4318635" y="2877159"/>
            <a:ext cx="325832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총액제</a:t>
            </a:r>
            <a:endParaRPr lang="ko-KR" altLang="en-US" sz="600" dirty="0"/>
          </a:p>
        </p:txBody>
      </p:sp>
      <p:sp>
        <p:nvSpPr>
          <p:cNvPr id="181" name="모서리가 둥근 직사각형 180"/>
          <p:cNvSpPr/>
          <p:nvPr/>
        </p:nvSpPr>
        <p:spPr>
          <a:xfrm>
            <a:off x="4695883" y="2878607"/>
            <a:ext cx="325832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단가제</a:t>
            </a:r>
            <a:endParaRPr lang="ko-KR" altLang="en-US" sz="600" dirty="0"/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2882998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입찰구분</a:t>
            </a:r>
            <a:endParaRPr lang="ko-KR" altLang="en-US" sz="700" dirty="0">
              <a:latin typeface="+mn-ea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3223238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대금상태</a:t>
            </a:r>
            <a:endParaRPr lang="ko-KR" altLang="en-US" sz="700" dirty="0">
              <a:latin typeface="+mn-ea"/>
            </a:endParaRPr>
          </a:p>
        </p:txBody>
      </p:sp>
      <p:sp>
        <p:nvSpPr>
          <p:cNvPr id="112" name="모서리가 둥근 직사각형 111"/>
          <p:cNvSpPr/>
          <p:nvPr/>
        </p:nvSpPr>
        <p:spPr>
          <a:xfrm>
            <a:off x="4318634" y="3219308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선금신청</a:t>
            </a:r>
            <a:endParaRPr lang="ko-KR" altLang="en-US" sz="600" dirty="0"/>
          </a:p>
        </p:txBody>
      </p:sp>
      <p:sp>
        <p:nvSpPr>
          <p:cNvPr id="113" name="모서리가 둥근 직사각형 112"/>
          <p:cNvSpPr/>
          <p:nvPr/>
        </p:nvSpPr>
        <p:spPr>
          <a:xfrm>
            <a:off x="4762118" y="3220756"/>
            <a:ext cx="555911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착중도금신청</a:t>
            </a:r>
            <a:endParaRPr lang="ko-KR" altLang="en-US" sz="600" dirty="0"/>
          </a:p>
        </p:txBody>
      </p:sp>
      <p:sp>
        <p:nvSpPr>
          <p:cNvPr id="115" name="모서리가 둥근 직사각형 114"/>
          <p:cNvSpPr/>
          <p:nvPr/>
        </p:nvSpPr>
        <p:spPr>
          <a:xfrm>
            <a:off x="5833259" y="3220756"/>
            <a:ext cx="403390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대금수정</a:t>
            </a:r>
            <a:endParaRPr lang="ko-KR" altLang="en-US" sz="600" dirty="0"/>
          </a:p>
        </p:txBody>
      </p:sp>
      <p:sp>
        <p:nvSpPr>
          <p:cNvPr id="118" name="모서리가 둥근 직사각형 117"/>
          <p:cNvSpPr/>
          <p:nvPr/>
        </p:nvSpPr>
        <p:spPr>
          <a:xfrm>
            <a:off x="5364593" y="3220756"/>
            <a:ext cx="403390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대금청구</a:t>
            </a:r>
            <a:r>
              <a:rPr lang="ko-KR" altLang="en-US" sz="600" dirty="0"/>
              <a:t>                          </a:t>
            </a:r>
          </a:p>
        </p:txBody>
      </p:sp>
      <p:sp>
        <p:nvSpPr>
          <p:cNvPr id="119" name="모서리가 둥근 직사각형 118"/>
          <p:cNvSpPr/>
          <p:nvPr/>
        </p:nvSpPr>
        <p:spPr>
          <a:xfrm>
            <a:off x="1525063" y="3384523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smtClean="0"/>
              <a:t>대금청구</a:t>
            </a:r>
            <a:endParaRPr lang="ko-KR" altLang="en-US" sz="600" dirty="0"/>
          </a:p>
        </p:txBody>
      </p:sp>
      <p:cxnSp>
        <p:nvCxnSpPr>
          <p:cNvPr id="141" name="직선 연결선 14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19808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2910872"/>
            <a:ext cx="127319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2,010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</a:p>
        </p:txBody>
      </p:sp>
      <p:sp>
        <p:nvSpPr>
          <p:cNvPr id="123" name="모서리가 둥근 직사각형 122"/>
          <p:cNvSpPr/>
          <p:nvPr/>
        </p:nvSpPr>
        <p:spPr>
          <a:xfrm>
            <a:off x="6286574" y="3220756"/>
            <a:ext cx="403390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대금확정</a:t>
            </a:r>
            <a:endParaRPr lang="ko-KR" altLang="en-US" sz="600" dirty="0"/>
          </a:p>
        </p:txBody>
      </p:sp>
      <p:sp>
        <p:nvSpPr>
          <p:cNvPr id="125" name="모서리가 둥근 직사각형 124"/>
          <p:cNvSpPr/>
          <p:nvPr/>
        </p:nvSpPr>
        <p:spPr>
          <a:xfrm>
            <a:off x="4318634" y="3411975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사후정산</a:t>
            </a:r>
          </a:p>
        </p:txBody>
      </p:sp>
      <p:sp>
        <p:nvSpPr>
          <p:cNvPr id="185" name="타원 184"/>
          <p:cNvSpPr/>
          <p:nvPr/>
        </p:nvSpPr>
        <p:spPr>
          <a:xfrm>
            <a:off x="2741767" y="1580377"/>
            <a:ext cx="108000" cy="108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699587" y="1709526"/>
            <a:ext cx="192360" cy="769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500" dirty="0">
                <a:latin typeface="+mn-ea"/>
              </a:rPr>
              <a:t>안내문</a:t>
            </a:r>
          </a:p>
        </p:txBody>
      </p:sp>
      <p:grpSp>
        <p:nvGrpSpPr>
          <p:cNvPr id="126" name="그룹 125"/>
          <p:cNvGrpSpPr/>
          <p:nvPr/>
        </p:nvGrpSpPr>
        <p:grpSpPr>
          <a:xfrm>
            <a:off x="767702" y="2270279"/>
            <a:ext cx="2527420" cy="477995"/>
            <a:chOff x="786326" y="2270279"/>
            <a:chExt cx="2527420" cy="477995"/>
          </a:xfrm>
        </p:grpSpPr>
        <p:sp>
          <p:nvSpPr>
            <p:cNvPr id="133" name="모서리가 둥근 직사각형 132"/>
            <p:cNvSpPr/>
            <p:nvPr/>
          </p:nvSpPr>
          <p:spPr>
            <a:xfrm>
              <a:off x="786326" y="2481707"/>
              <a:ext cx="2527420" cy="266567"/>
            </a:xfrm>
            <a:prstGeom prst="roundRect">
              <a:avLst>
                <a:gd name="adj" fmla="val 50000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0" name="타원 139"/>
            <p:cNvSpPr/>
            <p:nvPr/>
          </p:nvSpPr>
          <p:spPr>
            <a:xfrm>
              <a:off x="3071451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90013" y="2561129"/>
              <a:ext cx="188636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검색할 내용을 입력하세요</a:t>
              </a:r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.</a:t>
              </a:r>
              <a:endParaRPr lang="ko-KR" altLang="en-US" sz="7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grpSp>
          <p:nvGrpSpPr>
            <p:cNvPr id="144" name="그룹 143"/>
            <p:cNvGrpSpPr/>
            <p:nvPr/>
          </p:nvGrpSpPr>
          <p:grpSpPr>
            <a:xfrm>
              <a:off x="795624" y="2274581"/>
              <a:ext cx="1299303" cy="155984"/>
              <a:chOff x="808107" y="2288229"/>
              <a:chExt cx="1189739" cy="168318"/>
            </a:xfrm>
          </p:grpSpPr>
          <p:sp>
            <p:nvSpPr>
              <p:cNvPr id="190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808107" y="2288229"/>
                <a:ext cx="563494" cy="168318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rgbClr val="0070C0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 err="1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계약명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맑은 고딕"/>
                </a:endParaRPr>
              </a:p>
            </p:txBody>
          </p:sp>
          <p:sp>
            <p:nvSpPr>
              <p:cNvPr id="191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1434352" y="2288229"/>
                <a:ext cx="563494" cy="168318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 err="1">
                    <a:latin typeface="맑은 고딕"/>
                    <a:ea typeface="맑은 고딕" panose="020B0503020000020004" pitchFamily="50" charset="-127"/>
                  </a:rPr>
                  <a:t>계약번호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</p:grpSp>
        <p:sp>
          <p:nvSpPr>
            <p:cNvPr id="148" name="타원 147"/>
            <p:cNvSpPr/>
            <p:nvPr/>
          </p:nvSpPr>
          <p:spPr>
            <a:xfrm>
              <a:off x="814969" y="2290708"/>
              <a:ext cx="108000" cy="108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V</a:t>
              </a:r>
              <a:endParaRPr lang="ko-KR" altLang="en-US" sz="600" dirty="0"/>
            </a:p>
          </p:txBody>
        </p:sp>
        <p:sp>
          <p:nvSpPr>
            <p:cNvPr id="182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2726021" y="2270279"/>
              <a:ext cx="582849" cy="154795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800" kern="0" dirty="0" err="1">
                  <a:latin typeface="맑은 고딕"/>
                  <a:ea typeface="맑은 고딕" panose="020B0503020000020004" pitchFamily="50" charset="-127"/>
                </a:rPr>
                <a:t>검색필터</a:t>
              </a:r>
              <a:endParaRPr kumimoji="1" lang="en-US" sz="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186" name="타원 185"/>
            <p:cNvSpPr/>
            <p:nvPr/>
          </p:nvSpPr>
          <p:spPr>
            <a:xfrm>
              <a:off x="2857726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87" name="그룹 186"/>
            <p:cNvGrpSpPr/>
            <p:nvPr/>
          </p:nvGrpSpPr>
          <p:grpSpPr>
            <a:xfrm>
              <a:off x="2901631" y="2585953"/>
              <a:ext cx="58075" cy="58074"/>
              <a:chOff x="6812560" y="3297172"/>
              <a:chExt cx="94010" cy="94010"/>
            </a:xfrm>
          </p:grpSpPr>
          <p:cxnSp>
            <p:nvCxnSpPr>
              <p:cNvPr id="188" name="직선 연결선 187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9" name="직선 연결선 188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92" name="TextBox 19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78206" y="2890210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2890210"/>
            <a:ext cx="505710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194" name="그룹 193"/>
          <p:cNvGrpSpPr/>
          <p:nvPr/>
        </p:nvGrpSpPr>
        <p:grpSpPr>
          <a:xfrm>
            <a:off x="3004764" y="3105654"/>
            <a:ext cx="776938" cy="1131139"/>
            <a:chOff x="3004764" y="2490533"/>
            <a:chExt cx="776938" cy="1131139"/>
          </a:xfrm>
        </p:grpSpPr>
        <p:sp>
          <p:nvSpPr>
            <p:cNvPr id="195" name="사각형: 둥근 모서리 222">
              <a:extLst>
                <a:ext uri="{FF2B5EF4-FFF2-40B4-BE49-F238E27FC236}">
                  <a16:creationId xmlns:a16="http://schemas.microsoft.com/office/drawing/2014/main" id="{8AF9D577-0373-21E1-F7E1-B17AE839E882}"/>
                </a:ext>
              </a:extLst>
            </p:cNvPr>
            <p:cNvSpPr/>
            <p:nvPr/>
          </p:nvSpPr>
          <p:spPr>
            <a:xfrm>
              <a:off x="3004764" y="2833887"/>
              <a:ext cx="776938" cy="787785"/>
            </a:xfrm>
            <a:prstGeom prst="roundRect">
              <a:avLst>
                <a:gd name="adj" fmla="val 3899"/>
              </a:avLst>
            </a:prstGeom>
            <a:solidFill>
              <a:sysClr val="window" lastClr="FFFFFF"/>
            </a:solidFill>
            <a:ln w="9525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ko-KR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6" name="사각형: 둥근 모서리 224">
              <a:extLst>
                <a:ext uri="{FF2B5EF4-FFF2-40B4-BE49-F238E27FC236}">
                  <a16:creationId xmlns:a16="http://schemas.microsoft.com/office/drawing/2014/main" id="{3EFB2C27-9C6F-8886-4247-7900976F7BD2}"/>
                </a:ext>
              </a:extLst>
            </p:cNvPr>
            <p:cNvSpPr/>
            <p:nvPr/>
          </p:nvSpPr>
          <p:spPr>
            <a:xfrm>
              <a:off x="3004764" y="2490533"/>
              <a:ext cx="775390" cy="343356"/>
            </a:xfrm>
            <a:prstGeom prst="roundRect">
              <a:avLst/>
            </a:prstGeom>
            <a:solidFill>
              <a:sysClr val="window" lastClr="FFFFFF"/>
            </a:solidFill>
            <a:ln w="9525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+mn-ea"/>
                  <a:cs typeface="+mn-cs"/>
                </a:rPr>
                <a:t>10 </a:t>
              </a:r>
              <a:r>
                <a: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+mn-ea"/>
                  <a:cs typeface="+mn-cs"/>
                </a:rPr>
                <a:t>개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97" name="TextBox 226">
              <a:extLst>
                <a:ext uri="{FF2B5EF4-FFF2-40B4-BE49-F238E27FC236}">
                  <a16:creationId xmlns:a16="http://schemas.microsoft.com/office/drawing/2014/main" id="{2D0EB093-7669-C055-4901-B28C987E9EF9}"/>
                </a:ext>
              </a:extLst>
            </p:cNvPr>
            <p:cNvSpPr txBox="1"/>
            <p:nvPr/>
          </p:nvSpPr>
          <p:spPr>
            <a:xfrm>
              <a:off x="3063151" y="2833887"/>
              <a:ext cx="641770" cy="6740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10 </a:t>
              </a:r>
              <a:r>
                <a: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개</a:t>
              </a:r>
              <a:endParaRPr kumimoji="0" lang="en-US" altLang="ko-KR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  <a:p>
              <a:pPr marL="0" marR="0" lvl="0" indent="0" defTabSz="914400" eaLnBrk="1" fontAlgn="auto" latinLnBrk="0" hangingPunct="1">
                <a:lnSpc>
                  <a:spcPct val="1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</a:rPr>
                <a:t>30</a:t>
              </a:r>
              <a:r>
                <a:rPr lang="ko-KR" altLang="en-US" sz="700" kern="0" dirty="0">
                  <a:solidFill>
                    <a:prstClr val="black"/>
                  </a:solidFill>
                </a:rPr>
                <a:t> 개</a:t>
              </a:r>
              <a:endParaRPr lang="en-US" altLang="ko-KR" sz="700" kern="0" dirty="0">
                <a:solidFill>
                  <a:prstClr val="black"/>
                </a:solidFill>
              </a:endParaRPr>
            </a:p>
            <a:p>
              <a:pPr marL="0" marR="0" lvl="0" indent="0" defTabSz="914400" eaLnBrk="1" fontAlgn="auto" latinLnBrk="0" hangingPunct="1">
                <a:lnSpc>
                  <a:spcPct val="1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50 </a:t>
              </a:r>
              <a:r>
                <a: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개</a:t>
              </a:r>
              <a:endParaRPr kumimoji="0" lang="en-US" altLang="ko-KR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grpSp>
          <p:nvGrpSpPr>
            <p:cNvPr id="198" name="그룹 197"/>
            <p:cNvGrpSpPr/>
            <p:nvPr/>
          </p:nvGrpSpPr>
          <p:grpSpPr>
            <a:xfrm flipV="1">
              <a:off x="3584851" y="2638708"/>
              <a:ext cx="94010" cy="47005"/>
              <a:chOff x="6615710" y="3297172"/>
              <a:chExt cx="94010" cy="47005"/>
            </a:xfrm>
          </p:grpSpPr>
          <p:cxnSp>
            <p:nvCxnSpPr>
              <p:cNvPr id="199" name="직선 연결선 198"/>
              <p:cNvCxnSpPr/>
              <p:nvPr/>
            </p:nvCxnSpPr>
            <p:spPr>
              <a:xfrm>
                <a:off x="661571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0" name="직선 연결선 199"/>
              <p:cNvCxnSpPr/>
              <p:nvPr/>
            </p:nvCxnSpPr>
            <p:spPr>
              <a:xfrm flipH="1">
                <a:off x="666271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14" name="타원 11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5884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1</a:t>
            </a:r>
            <a:endParaRPr lang="ko-KR" altLang="en-US" sz="900" b="1" dirty="0"/>
          </a:p>
        </p:txBody>
      </p:sp>
      <p:sp>
        <p:nvSpPr>
          <p:cNvPr id="117" name="타원 11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90465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  <p:sp>
        <p:nvSpPr>
          <p:cNvPr id="120" name="타원 11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8819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5</a:t>
            </a:r>
            <a:endParaRPr lang="ko-KR" altLang="en-US" sz="900" b="1" dirty="0"/>
          </a:p>
        </p:txBody>
      </p:sp>
      <p:sp>
        <p:nvSpPr>
          <p:cNvPr id="121" name="타원 12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42020" y="22046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 b="1" dirty="0" smtClean="0"/>
              <a:t>4-1</a:t>
            </a:r>
            <a:endParaRPr lang="ko-KR" altLang="en-US" sz="600" b="1" dirty="0"/>
          </a:p>
        </p:txBody>
      </p:sp>
      <p:sp>
        <p:nvSpPr>
          <p:cNvPr id="122" name="타원 12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706935" y="326122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00" b="1" dirty="0" smtClean="0"/>
              <a:t>4-1</a:t>
            </a:r>
          </a:p>
        </p:txBody>
      </p:sp>
      <p:sp>
        <p:nvSpPr>
          <p:cNvPr id="136" name="텍스트 개체 틀 5"/>
          <p:cNvSpPr txBox="1">
            <a:spLocks/>
          </p:cNvSpPr>
          <p:nvPr/>
        </p:nvSpPr>
        <p:spPr>
          <a:xfrm>
            <a:off x="7103286" y="1493927"/>
            <a:ext cx="2300284" cy="4981517"/>
          </a:xfrm>
          <a:prstGeom prst="rect">
            <a:avLst/>
          </a:prstGeom>
        </p:spPr>
        <p:txBody>
          <a:bodyPr/>
          <a:lstStyle>
            <a:lvl1pPr marL="87313" indent="-87313" algn="l" defTabSz="914400" rtl="0" eaLnBrk="1" latinLnBrk="1" hangingPunct="1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Char char="•"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indent="-228600">
              <a:buFont typeface="+mj-lt"/>
              <a:buAutoNum type="arabicPeriod"/>
            </a:pPr>
            <a:r>
              <a:rPr lang="ko-KR" altLang="en-US" sz="700" dirty="0" smtClean="0"/>
              <a:t>상단 </a:t>
            </a:r>
            <a:r>
              <a:rPr lang="ko-KR" altLang="en-US" sz="700" dirty="0" err="1" smtClean="0"/>
              <a:t>업무도움은</a:t>
            </a:r>
            <a:r>
              <a:rPr lang="ko-KR" altLang="en-US" sz="700" dirty="0" smtClean="0"/>
              <a:t> 기본 값으로 접힘 상태로 정보 제공</a:t>
            </a:r>
            <a:r>
              <a:rPr lang="en-US" altLang="ko-KR" sz="700" dirty="0" smtClean="0"/>
              <a:t/>
            </a:r>
            <a:br>
              <a:rPr lang="en-US" altLang="ko-KR" sz="700" dirty="0" smtClean="0"/>
            </a:br>
            <a:r>
              <a:rPr lang="en-US" altLang="ko-KR" sz="700" dirty="0" smtClean="0"/>
              <a:t>- </a:t>
            </a:r>
            <a:r>
              <a:rPr lang="ko-KR" altLang="en-US" sz="700" dirty="0" smtClean="0"/>
              <a:t>페이지 </a:t>
            </a:r>
            <a:r>
              <a:rPr lang="ko-KR" altLang="en-US" sz="700" dirty="0" err="1" smtClean="0"/>
              <a:t>호출시</a:t>
            </a:r>
            <a:r>
              <a:rPr lang="ko-KR" altLang="en-US" sz="700" dirty="0" smtClean="0"/>
              <a:t> </a:t>
            </a:r>
            <a:r>
              <a:rPr lang="en-US" altLang="ko-KR" sz="700" dirty="0" smtClean="0"/>
              <a:t>: </a:t>
            </a:r>
            <a:r>
              <a:rPr lang="ko-KR" altLang="en-US" sz="700" dirty="0" smtClean="0"/>
              <a:t>해당 업체에서 진행중인 모든 </a:t>
            </a:r>
            <a:r>
              <a:rPr lang="ko-KR" altLang="en-US" sz="700" dirty="0" err="1" smtClean="0"/>
              <a:t>계약건이</a:t>
            </a:r>
            <a:r>
              <a:rPr lang="ko-KR" altLang="en-US" sz="700" dirty="0" smtClean="0"/>
              <a:t> 노출됨</a:t>
            </a:r>
            <a:r>
              <a:rPr lang="en-US" altLang="ko-KR" sz="700" dirty="0" smtClean="0"/>
              <a:t/>
            </a:r>
            <a:br>
              <a:rPr lang="en-US" altLang="ko-KR" sz="700" dirty="0" smtClean="0"/>
            </a:br>
            <a:r>
              <a:rPr lang="en-US" altLang="ko-KR" sz="700" dirty="0" smtClean="0"/>
              <a:t>- </a:t>
            </a:r>
            <a:r>
              <a:rPr lang="ko-KR" altLang="en-US" sz="700" dirty="0" smtClean="0"/>
              <a:t>계약일자기준 당일 포함 이전 </a:t>
            </a:r>
            <a:r>
              <a:rPr lang="en-US" altLang="ko-KR" sz="700" dirty="0" smtClean="0"/>
              <a:t>30</a:t>
            </a:r>
            <a:r>
              <a:rPr lang="ko-KR" altLang="en-US" sz="700" dirty="0" smtClean="0"/>
              <a:t>일 동안 신청된 계약 건</a:t>
            </a:r>
            <a:r>
              <a:rPr lang="en-US" altLang="ko-KR" sz="700" dirty="0" smtClean="0"/>
              <a:t/>
            </a:r>
            <a:br>
              <a:rPr lang="en-US" altLang="ko-KR" sz="700" dirty="0" smtClean="0"/>
            </a:br>
            <a:r>
              <a:rPr lang="en-US" altLang="ko-KR" sz="700" dirty="0" smtClean="0"/>
              <a:t>- </a:t>
            </a:r>
            <a:r>
              <a:rPr lang="ko-KR" altLang="en-US" sz="700" dirty="0" smtClean="0"/>
              <a:t>기본값 </a:t>
            </a:r>
            <a:r>
              <a:rPr lang="en-US" altLang="ko-KR" sz="700" dirty="0" smtClean="0"/>
              <a:t>: </a:t>
            </a:r>
            <a:r>
              <a:rPr lang="ko-KR" altLang="en-US" sz="700" dirty="0" smtClean="0"/>
              <a:t>접힘</a:t>
            </a:r>
            <a:r>
              <a:rPr lang="en-US" altLang="ko-KR" sz="700" dirty="0" smtClean="0"/>
              <a:t/>
            </a:r>
            <a:br>
              <a:rPr lang="en-US" altLang="ko-KR" sz="700" dirty="0" smtClean="0"/>
            </a:br>
            <a:r>
              <a:rPr lang="en-US" altLang="ko-KR" sz="700" dirty="0" smtClean="0"/>
              <a:t>- </a:t>
            </a:r>
            <a:r>
              <a:rPr lang="ko-KR" altLang="en-US" sz="700" dirty="0" smtClean="0"/>
              <a:t>사용자 </a:t>
            </a:r>
            <a:r>
              <a:rPr lang="ko-KR" altLang="en-US" sz="700" dirty="0" err="1" smtClean="0"/>
              <a:t>클릭시</a:t>
            </a:r>
            <a:r>
              <a:rPr lang="ko-KR" altLang="en-US" sz="700" dirty="0" smtClean="0"/>
              <a:t> 확장하여 정보 표시</a:t>
            </a:r>
            <a:r>
              <a:rPr lang="en-US" altLang="ko-KR" sz="700" dirty="0" smtClean="0"/>
              <a:t/>
            </a:r>
            <a:br>
              <a:rPr lang="en-US" altLang="ko-KR" sz="700" dirty="0" smtClean="0"/>
            </a:br>
            <a:r>
              <a:rPr lang="en-US" altLang="ko-KR" sz="700" dirty="0" smtClean="0"/>
              <a:t>- </a:t>
            </a:r>
            <a:r>
              <a:rPr lang="ko-KR" altLang="en-US" sz="700" dirty="0" err="1" smtClean="0"/>
              <a:t>업무도움</a:t>
            </a:r>
            <a:r>
              <a:rPr lang="en-US" altLang="ko-KR" sz="700" dirty="0" smtClean="0"/>
              <a:t> &gt; </a:t>
            </a:r>
            <a:r>
              <a:rPr lang="ko-KR" altLang="en-US" sz="700" dirty="0" smtClean="0"/>
              <a:t>내역이 있는 경우 표시</a:t>
            </a:r>
            <a:r>
              <a:rPr lang="en-US" altLang="ko-KR" sz="700" dirty="0" smtClean="0"/>
              <a:t>, </a:t>
            </a:r>
            <a:r>
              <a:rPr lang="ko-KR" altLang="en-US" sz="700" dirty="0" smtClean="0"/>
              <a:t>내역이 없으면 항목을 표시하지 않음</a:t>
            </a:r>
            <a:r>
              <a:rPr lang="en-US" altLang="ko-KR" sz="700" dirty="0" smtClean="0"/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sz="700" dirty="0" err="1" smtClean="0"/>
              <a:t>검색필터</a:t>
            </a:r>
            <a:r>
              <a:rPr lang="en-US" altLang="ko-KR" sz="700" dirty="0" smtClean="0"/>
              <a:t/>
            </a:r>
            <a:br>
              <a:rPr lang="en-US" altLang="ko-KR" sz="700" dirty="0" smtClean="0"/>
            </a:br>
            <a:r>
              <a:rPr lang="en-US" altLang="ko-KR" sz="700" dirty="0" smtClean="0"/>
              <a:t>2-1] </a:t>
            </a:r>
            <a:r>
              <a:rPr lang="ko-KR" altLang="en-US" sz="700" dirty="0" smtClean="0"/>
              <a:t>통합참조정보</a:t>
            </a:r>
            <a:r>
              <a:rPr lang="en-US" altLang="ko-KR" sz="700" dirty="0" smtClean="0"/>
              <a:t>, </a:t>
            </a:r>
            <a:r>
              <a:rPr lang="ko-KR" altLang="en-US" sz="700" dirty="0" err="1" smtClean="0"/>
              <a:t>예약번호중</a:t>
            </a:r>
            <a:r>
              <a:rPr lang="ko-KR" altLang="en-US" sz="700" dirty="0" smtClean="0"/>
              <a:t> 선택</a:t>
            </a:r>
            <a:r>
              <a:rPr lang="en-US" altLang="ko-KR" sz="700" dirty="0" smtClean="0"/>
              <a:t/>
            </a:r>
            <a:br>
              <a:rPr lang="en-US" altLang="ko-KR" sz="700" dirty="0" smtClean="0"/>
            </a:br>
            <a:r>
              <a:rPr lang="en-US" altLang="ko-KR" sz="700" dirty="0" smtClean="0"/>
              <a:t>2-2] </a:t>
            </a:r>
            <a:r>
              <a:rPr lang="ko-KR" altLang="en-US" sz="700" dirty="0" err="1" smtClean="0"/>
              <a:t>검색어</a:t>
            </a:r>
            <a:r>
              <a:rPr lang="ko-KR" altLang="en-US" sz="700" dirty="0" smtClean="0"/>
              <a:t> 입력</a:t>
            </a:r>
            <a:endParaRPr lang="en-US" altLang="ko-KR" sz="700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sz="700" dirty="0" smtClean="0">
                <a:latin typeface="+mn-ea"/>
              </a:rPr>
              <a:t>검색 필터 호출</a:t>
            </a:r>
            <a:r>
              <a:rPr lang="en-US" altLang="ko-KR" sz="700" dirty="0" smtClean="0">
                <a:latin typeface="+mn-ea"/>
              </a:rPr>
              <a:t/>
            </a:r>
            <a:br>
              <a:rPr lang="en-US" altLang="ko-KR" sz="700" dirty="0" smtClean="0">
                <a:latin typeface="+mn-ea"/>
              </a:rPr>
            </a:br>
            <a:r>
              <a:rPr lang="ko-KR" altLang="en-US" sz="700" dirty="0" smtClean="0">
                <a:latin typeface="+mn-ea"/>
              </a:rPr>
              <a:t> </a:t>
            </a:r>
            <a:r>
              <a:rPr lang="en-US" altLang="ko-KR" sz="700" dirty="0" smtClean="0">
                <a:latin typeface="+mn-ea"/>
              </a:rPr>
              <a:t>– </a:t>
            </a:r>
            <a:r>
              <a:rPr lang="ko-KR" altLang="en-US" sz="700" dirty="0" smtClean="0">
                <a:latin typeface="+mn-ea"/>
              </a:rPr>
              <a:t>계약 페이지 참고</a:t>
            </a:r>
            <a:endParaRPr lang="en-US" altLang="ko-KR" sz="700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sz="700" dirty="0" smtClean="0"/>
              <a:t>표시 개수 영역</a:t>
            </a:r>
            <a:r>
              <a:rPr lang="en-US" altLang="ko-KR" sz="700" dirty="0" smtClean="0"/>
              <a:t/>
            </a:r>
            <a:br>
              <a:rPr lang="en-US" altLang="ko-KR" sz="700" dirty="0" smtClean="0"/>
            </a:br>
            <a:r>
              <a:rPr lang="en-US" altLang="ko-KR" sz="700" dirty="0" smtClean="0"/>
              <a:t>- </a:t>
            </a:r>
            <a:r>
              <a:rPr lang="ko-KR" altLang="en-US" sz="700" dirty="0" smtClean="0"/>
              <a:t>총 개수 표시</a:t>
            </a:r>
            <a:r>
              <a:rPr lang="en-US" altLang="ko-KR" sz="700" dirty="0" smtClean="0"/>
              <a:t/>
            </a:r>
            <a:br>
              <a:rPr lang="en-US" altLang="ko-KR" sz="700" dirty="0" smtClean="0"/>
            </a:br>
            <a:r>
              <a:rPr lang="en-US" altLang="ko-KR" sz="700" dirty="0" smtClean="0"/>
              <a:t>- </a:t>
            </a:r>
            <a:r>
              <a:rPr lang="ko-KR" altLang="en-US" sz="700" dirty="0" smtClean="0"/>
              <a:t>표시 개수 </a:t>
            </a:r>
            <a:r>
              <a:rPr lang="en-US" altLang="ko-KR" sz="700" dirty="0" smtClean="0"/>
              <a:t>(</a:t>
            </a:r>
            <a:r>
              <a:rPr lang="ko-KR" altLang="en-US" sz="700" dirty="0" smtClean="0"/>
              <a:t>선택한 건수 만큼 보여주고 </a:t>
            </a:r>
            <a:r>
              <a:rPr lang="ko-KR" altLang="en-US" sz="700" dirty="0" err="1" smtClean="0"/>
              <a:t>더보기시</a:t>
            </a:r>
            <a:r>
              <a:rPr lang="ko-KR" altLang="en-US" sz="700" dirty="0" smtClean="0"/>
              <a:t> 추가로 불러옴</a:t>
            </a:r>
            <a:r>
              <a:rPr lang="en-US" altLang="ko-KR" sz="700" dirty="0" smtClean="0"/>
              <a:t>)</a:t>
            </a:r>
            <a:br>
              <a:rPr lang="en-US" altLang="ko-KR" sz="700" dirty="0" smtClean="0"/>
            </a:br>
            <a:r>
              <a:rPr lang="ko-KR" altLang="en-US" sz="700" dirty="0" smtClean="0"/>
              <a:t>목록 카드 표시</a:t>
            </a:r>
            <a:r>
              <a:rPr lang="en-US" altLang="ko-KR" sz="700" dirty="0" smtClean="0"/>
              <a:t/>
            </a:r>
            <a:br>
              <a:rPr lang="en-US" altLang="ko-KR" sz="700" dirty="0" smtClean="0"/>
            </a:br>
            <a:r>
              <a:rPr lang="en-US" altLang="ko-KR" sz="700" dirty="0" smtClean="0"/>
              <a:t>- </a:t>
            </a:r>
            <a:r>
              <a:rPr lang="ko-KR" altLang="en-US" sz="700" dirty="0" smtClean="0"/>
              <a:t>카드 </a:t>
            </a:r>
            <a:r>
              <a:rPr lang="ko-KR" altLang="en-US" sz="700" dirty="0" err="1" smtClean="0"/>
              <a:t>클릭시</a:t>
            </a:r>
            <a:r>
              <a:rPr lang="ko-KR" altLang="en-US" sz="700" dirty="0" smtClean="0"/>
              <a:t> </a:t>
            </a:r>
            <a:r>
              <a:rPr lang="ko-KR" altLang="en-US" sz="700" dirty="0" err="1" smtClean="0"/>
              <a:t>바텀시트</a:t>
            </a:r>
            <a:r>
              <a:rPr lang="ko-KR" altLang="en-US" sz="700" dirty="0" smtClean="0"/>
              <a:t> 호출</a:t>
            </a:r>
            <a:r>
              <a:rPr lang="en-US" altLang="ko-KR" sz="700" dirty="0" smtClean="0"/>
              <a:t>(</a:t>
            </a:r>
            <a:r>
              <a:rPr lang="en-US" altLang="ko-KR" sz="700" dirty="0" smtClean="0">
                <a:latin typeface="+mn-ea"/>
              </a:rPr>
              <a:t>MUI-WM-01-P13)</a:t>
            </a:r>
            <a:r>
              <a:rPr lang="en-US" altLang="ko-KR" sz="700" dirty="0" smtClean="0"/>
              <a:t/>
            </a:r>
            <a:br>
              <a:rPr lang="en-US" altLang="ko-KR" sz="700" dirty="0" smtClean="0"/>
            </a:br>
            <a:r>
              <a:rPr lang="en-US" altLang="ko-KR" sz="700" dirty="0" smtClean="0"/>
              <a:t>4-1] </a:t>
            </a:r>
            <a:r>
              <a:rPr lang="ko-KR" altLang="en-US" sz="700" dirty="0" err="1" smtClean="0"/>
              <a:t>표시레이블</a:t>
            </a:r>
            <a:r>
              <a:rPr lang="ko-KR" altLang="en-US" sz="700" dirty="0" smtClean="0"/>
              <a:t> 영역 항목</a:t>
            </a:r>
            <a:r>
              <a:rPr lang="en-US" altLang="ko-KR" sz="700" dirty="0" smtClean="0"/>
              <a:t/>
            </a:r>
            <a:br>
              <a:rPr lang="en-US" altLang="ko-KR" sz="700" dirty="0" smtClean="0"/>
            </a:br>
            <a:r>
              <a:rPr lang="en-US" altLang="ko-KR" sz="700" dirty="0" smtClean="0"/>
              <a:t>- </a:t>
            </a:r>
            <a:r>
              <a:rPr lang="ko-KR" altLang="en-US" sz="700" dirty="0" smtClean="0"/>
              <a:t>레이블이 화면을 넘치는 경우 드래그하여 확인 가능 </a:t>
            </a:r>
            <a:r>
              <a:rPr lang="en-US" altLang="ko-KR" sz="700" dirty="0" smtClean="0"/>
              <a:t>(</a:t>
            </a:r>
            <a:r>
              <a:rPr lang="ko-KR" altLang="en-US" sz="700" dirty="0" err="1" smtClean="0"/>
              <a:t>스와이프기능</a:t>
            </a:r>
            <a:r>
              <a:rPr lang="ko-KR" altLang="en-US" sz="700" dirty="0" smtClean="0"/>
              <a:t> 반영 필요</a:t>
            </a:r>
            <a:r>
              <a:rPr lang="en-US" altLang="ko-KR" sz="700" dirty="0" smtClean="0"/>
              <a:t>)</a:t>
            </a:r>
            <a:br>
              <a:rPr lang="en-US" altLang="ko-KR" sz="700" dirty="0" smtClean="0"/>
            </a:br>
            <a:r>
              <a:rPr lang="en-US" altLang="ko-KR" sz="700" dirty="0" smtClean="0"/>
              <a:t>- </a:t>
            </a:r>
            <a:r>
              <a:rPr lang="ko-KR" altLang="en-US" sz="700" dirty="0" err="1" smtClean="0"/>
              <a:t>업무구분</a:t>
            </a:r>
            <a:r>
              <a:rPr lang="ko-KR" altLang="en-US" sz="700" dirty="0" smtClean="0"/>
              <a:t> </a:t>
            </a:r>
            <a:r>
              <a:rPr lang="en-US" altLang="ko-KR" sz="700" dirty="0" smtClean="0"/>
              <a:t>:  </a:t>
            </a:r>
            <a:r>
              <a:rPr lang="ko-KR" altLang="en-US" sz="700" dirty="0" smtClean="0"/>
              <a:t>전체</a:t>
            </a:r>
            <a:r>
              <a:rPr lang="en-US" altLang="ko-KR" sz="700" dirty="0" smtClean="0"/>
              <a:t>, </a:t>
            </a:r>
            <a:r>
              <a:rPr lang="ko-KR" altLang="en-US" sz="700" dirty="0" smtClean="0"/>
              <a:t>물품</a:t>
            </a:r>
            <a:r>
              <a:rPr lang="en-US" altLang="ko-KR" sz="700" dirty="0" smtClean="0"/>
              <a:t>, </a:t>
            </a:r>
            <a:r>
              <a:rPr lang="ko-KR" altLang="en-US" sz="700" dirty="0" smtClean="0"/>
              <a:t>용역</a:t>
            </a:r>
            <a:r>
              <a:rPr lang="en-US" altLang="ko-KR" sz="700" dirty="0" smtClean="0"/>
              <a:t>, </a:t>
            </a:r>
            <a:r>
              <a:rPr lang="ko-KR" altLang="en-US" sz="700" dirty="0" smtClean="0"/>
              <a:t>공사</a:t>
            </a:r>
            <a:r>
              <a:rPr lang="en-US" altLang="ko-KR" sz="700" dirty="0" smtClean="0"/>
              <a:t>, </a:t>
            </a:r>
            <a:r>
              <a:rPr lang="ko-KR" altLang="en-US" sz="700" dirty="0" smtClean="0"/>
              <a:t>국외</a:t>
            </a:r>
            <a:r>
              <a:rPr lang="en-US" altLang="ko-KR" sz="700" dirty="0" smtClean="0"/>
              <a:t/>
            </a:r>
            <a:br>
              <a:rPr lang="en-US" altLang="ko-KR" sz="700" dirty="0" smtClean="0"/>
            </a:br>
            <a:r>
              <a:rPr lang="en-US" altLang="ko-KR" sz="700" dirty="0" smtClean="0"/>
              <a:t>- </a:t>
            </a:r>
            <a:r>
              <a:rPr lang="ko-KR" altLang="en-US" sz="700" dirty="0" err="1" smtClean="0"/>
              <a:t>입찰구분</a:t>
            </a:r>
            <a:r>
              <a:rPr lang="ko-KR" altLang="en-US" sz="700" dirty="0" smtClean="0"/>
              <a:t> </a:t>
            </a:r>
            <a:r>
              <a:rPr lang="en-US" altLang="ko-KR" sz="700" dirty="0" smtClean="0"/>
              <a:t>: </a:t>
            </a:r>
            <a:r>
              <a:rPr lang="ko-KR" altLang="en-US" sz="700" dirty="0" err="1" smtClean="0"/>
              <a:t>총액제</a:t>
            </a:r>
            <a:r>
              <a:rPr lang="en-US" altLang="ko-KR" sz="700" dirty="0" smtClean="0"/>
              <a:t>, </a:t>
            </a:r>
            <a:r>
              <a:rPr lang="ko-KR" altLang="en-US" sz="700" dirty="0" err="1" smtClean="0"/>
              <a:t>단가제</a:t>
            </a:r>
            <a:r>
              <a:rPr lang="en-US" altLang="ko-KR" sz="700" dirty="0"/>
              <a:t/>
            </a:r>
            <a:br>
              <a:rPr lang="en-US" altLang="ko-KR" sz="700" dirty="0"/>
            </a:br>
            <a:r>
              <a:rPr lang="en-US" altLang="ko-KR" sz="700" dirty="0" smtClean="0"/>
              <a:t>- </a:t>
            </a:r>
            <a:r>
              <a:rPr lang="ko-KR" altLang="en-US" sz="700" dirty="0" err="1" smtClean="0"/>
              <a:t>대금상태</a:t>
            </a:r>
            <a:r>
              <a:rPr lang="ko-KR" altLang="en-US" sz="700" dirty="0" smtClean="0"/>
              <a:t> </a:t>
            </a:r>
            <a:r>
              <a:rPr lang="en-US" altLang="ko-KR" sz="700" dirty="0" smtClean="0"/>
              <a:t>: </a:t>
            </a:r>
            <a:r>
              <a:rPr lang="ko-KR" altLang="en-US" sz="700" dirty="0" err="1" smtClean="0"/>
              <a:t>선금신청</a:t>
            </a:r>
            <a:r>
              <a:rPr lang="en-US" altLang="ko-KR" sz="700" dirty="0" smtClean="0"/>
              <a:t>, </a:t>
            </a:r>
            <a:r>
              <a:rPr lang="ko-KR" altLang="en-US" sz="700" dirty="0" err="1" smtClean="0"/>
              <a:t>착중도금신청</a:t>
            </a:r>
            <a:r>
              <a:rPr lang="en-US" altLang="ko-KR" sz="700" dirty="0" smtClean="0"/>
              <a:t>, </a:t>
            </a:r>
            <a:r>
              <a:rPr lang="ko-KR" altLang="en-US" sz="700" dirty="0" err="1" smtClean="0"/>
              <a:t>대금청구</a:t>
            </a:r>
            <a:r>
              <a:rPr lang="en-US" altLang="ko-KR" sz="700" dirty="0" smtClean="0"/>
              <a:t>, </a:t>
            </a:r>
            <a:r>
              <a:rPr lang="ko-KR" altLang="en-US" sz="700" dirty="0" err="1" smtClean="0"/>
              <a:t>대금수정</a:t>
            </a:r>
            <a:r>
              <a:rPr lang="en-US" altLang="ko-KR" sz="700" dirty="0" smtClean="0"/>
              <a:t>, </a:t>
            </a:r>
            <a:r>
              <a:rPr lang="ko-KR" altLang="en-US" sz="700" dirty="0" err="1" smtClean="0"/>
              <a:t>대금확정</a:t>
            </a:r>
            <a:r>
              <a:rPr lang="en-US" altLang="ko-KR" sz="700" dirty="0" smtClean="0"/>
              <a:t>, </a:t>
            </a:r>
            <a:r>
              <a:rPr lang="ko-KR" altLang="en-US" sz="700" dirty="0" smtClean="0"/>
              <a:t>사후정산</a:t>
            </a:r>
            <a:br>
              <a:rPr lang="ko-KR" altLang="en-US" sz="700" dirty="0" smtClean="0"/>
            </a:br>
            <a:r>
              <a:rPr lang="en-US" altLang="ko-KR" sz="700" dirty="0" smtClean="0"/>
              <a:t>4-2] </a:t>
            </a:r>
            <a:r>
              <a:rPr lang="ko-KR" altLang="en-US" sz="700" dirty="0" smtClean="0"/>
              <a:t>문서 정보 영역 </a:t>
            </a:r>
            <a:r>
              <a:rPr lang="en-US" altLang="ko-KR" sz="700" dirty="0" smtClean="0"/>
              <a:t/>
            </a:r>
            <a:br>
              <a:rPr lang="en-US" altLang="ko-KR" sz="700" dirty="0" smtClean="0"/>
            </a:br>
            <a:r>
              <a:rPr lang="en-US" altLang="ko-KR" sz="700" dirty="0" smtClean="0"/>
              <a:t>- </a:t>
            </a:r>
            <a:r>
              <a:rPr lang="ko-KR" altLang="en-US" sz="700" dirty="0" err="1" smtClean="0"/>
              <a:t>계약번호</a:t>
            </a:r>
            <a:r>
              <a:rPr lang="en-US" altLang="ko-KR" sz="700" dirty="0" smtClean="0"/>
              <a:t>+</a:t>
            </a:r>
            <a:r>
              <a:rPr lang="ko-KR" altLang="en-US" sz="700" dirty="0" err="1" smtClean="0"/>
              <a:t>회차노출</a:t>
            </a:r>
            <a:r>
              <a:rPr lang="ko-KR" altLang="en-US" sz="700" dirty="0" smtClean="0"/>
              <a:t> </a:t>
            </a:r>
            <a:r>
              <a:rPr lang="en-US" altLang="ko-KR" sz="700" dirty="0" smtClean="0"/>
              <a:t/>
            </a:r>
            <a:br>
              <a:rPr lang="en-US" altLang="ko-KR" sz="700" dirty="0" smtClean="0"/>
            </a:br>
            <a:r>
              <a:rPr lang="en-US" altLang="ko-KR" sz="700" dirty="0" smtClean="0"/>
              <a:t>- </a:t>
            </a:r>
            <a:r>
              <a:rPr lang="ko-KR" altLang="en-US" sz="700" dirty="0" err="1" smtClean="0"/>
              <a:t>계약번호</a:t>
            </a:r>
            <a:r>
              <a:rPr lang="ko-KR" altLang="en-US" sz="700" dirty="0" smtClean="0"/>
              <a:t> </a:t>
            </a:r>
            <a:r>
              <a:rPr lang="ko-KR" altLang="en-US" sz="700" dirty="0" err="1" smtClean="0"/>
              <a:t>노출시</a:t>
            </a:r>
            <a:r>
              <a:rPr lang="ko-KR" altLang="en-US" sz="700" dirty="0" smtClean="0"/>
              <a:t> 해당 라인을 넘어가면 </a:t>
            </a:r>
            <a:r>
              <a:rPr lang="en-US" altLang="ko-KR" sz="700" dirty="0" smtClean="0"/>
              <a:t>(…) </a:t>
            </a:r>
            <a:r>
              <a:rPr lang="ko-KR" altLang="en-US" sz="700" dirty="0" err="1" smtClean="0"/>
              <a:t>말줄임</a:t>
            </a:r>
            <a:r>
              <a:rPr lang="ko-KR" altLang="en-US" sz="700" dirty="0" smtClean="0"/>
              <a:t> 표시</a:t>
            </a:r>
            <a:r>
              <a:rPr lang="en-US" altLang="ko-KR" sz="700" dirty="0" smtClean="0"/>
              <a:t/>
            </a:r>
            <a:br>
              <a:rPr lang="en-US" altLang="ko-KR" sz="700" dirty="0" smtClean="0"/>
            </a:br>
            <a:r>
              <a:rPr lang="en-US" altLang="ko-KR" sz="700" dirty="0" smtClean="0"/>
              <a:t>- </a:t>
            </a:r>
            <a:r>
              <a:rPr lang="ko-KR" altLang="en-US" sz="700" dirty="0" err="1" smtClean="0"/>
              <a:t>계약번호</a:t>
            </a:r>
            <a:r>
              <a:rPr lang="en-US" altLang="ko-KR" sz="700" dirty="0" smtClean="0"/>
              <a:t>:</a:t>
            </a:r>
            <a:r>
              <a:rPr lang="ko-KR" altLang="en-US" sz="700" dirty="0" smtClean="0"/>
              <a:t> </a:t>
            </a:r>
            <a:r>
              <a:rPr lang="ko-KR" altLang="en-US" sz="700" dirty="0" err="1" smtClean="0"/>
              <a:t>계약번호</a:t>
            </a:r>
            <a:r>
              <a:rPr lang="en-US" altLang="ko-KR" sz="700" dirty="0" smtClean="0"/>
              <a:t>+</a:t>
            </a:r>
            <a:r>
              <a:rPr lang="ko-KR" altLang="en-US" sz="700" dirty="0" smtClean="0"/>
              <a:t>계약번호차수</a:t>
            </a:r>
            <a:r>
              <a:rPr lang="en-US" altLang="ko-KR" sz="700" dirty="0" smtClean="0"/>
              <a:t/>
            </a:r>
            <a:br>
              <a:rPr lang="en-US" altLang="ko-KR" sz="700" dirty="0" smtClean="0"/>
            </a:br>
            <a:r>
              <a:rPr lang="en-US" altLang="ko-KR" sz="700" dirty="0" smtClean="0"/>
              <a:t>4-3] </a:t>
            </a:r>
            <a:r>
              <a:rPr lang="ko-KR" altLang="en-US" sz="700" dirty="0" smtClean="0"/>
              <a:t>문서 제목 </a:t>
            </a:r>
            <a:r>
              <a:rPr lang="en-US" altLang="ko-KR" sz="700" dirty="0" smtClean="0"/>
              <a:t/>
            </a:r>
            <a:br>
              <a:rPr lang="en-US" altLang="ko-KR" sz="700" dirty="0" smtClean="0"/>
            </a:br>
            <a:r>
              <a:rPr lang="en-US" altLang="ko-KR" sz="700" dirty="0" smtClean="0"/>
              <a:t>- </a:t>
            </a:r>
            <a:r>
              <a:rPr lang="ko-KR" altLang="en-US" sz="700" dirty="0" smtClean="0"/>
              <a:t>제목은 </a:t>
            </a:r>
            <a:r>
              <a:rPr lang="en-US" altLang="ko-KR" sz="700" dirty="0" smtClean="0"/>
              <a:t>2</a:t>
            </a:r>
            <a:r>
              <a:rPr lang="ko-KR" altLang="en-US" sz="700" dirty="0" smtClean="0"/>
              <a:t>줄 까지 노출 이후</a:t>
            </a:r>
            <a:r>
              <a:rPr lang="en-US" altLang="ko-KR" sz="700" dirty="0" smtClean="0"/>
              <a:t>(…) </a:t>
            </a:r>
            <a:r>
              <a:rPr lang="ko-KR" altLang="en-US" sz="700" dirty="0" err="1" smtClean="0"/>
              <a:t>말줄임</a:t>
            </a:r>
            <a:r>
              <a:rPr lang="ko-KR" altLang="en-US" sz="700" dirty="0" smtClean="0"/>
              <a:t> 표시</a:t>
            </a:r>
            <a:r>
              <a:rPr lang="en-US" altLang="ko-KR" sz="700" dirty="0"/>
              <a:t/>
            </a:r>
            <a:br>
              <a:rPr lang="en-US" altLang="ko-KR" sz="700" dirty="0"/>
            </a:br>
            <a:r>
              <a:rPr lang="en-US" altLang="ko-KR" sz="700" dirty="0" smtClean="0"/>
              <a:t>- </a:t>
            </a:r>
            <a:r>
              <a:rPr lang="ko-KR" altLang="en-US" sz="700" dirty="0" smtClean="0"/>
              <a:t>대금청구상세 페이지로 이동 </a:t>
            </a:r>
            <a:endParaRPr lang="en-US" altLang="ko-KR" sz="700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sz="700" dirty="0" err="1" smtClean="0"/>
              <a:t>더보기</a:t>
            </a:r>
            <a:r>
              <a:rPr lang="ko-KR" altLang="en-US" sz="700" dirty="0" smtClean="0"/>
              <a:t> 기능</a:t>
            </a:r>
            <a:r>
              <a:rPr lang="en-US" altLang="ko-KR" sz="700" dirty="0" smtClean="0"/>
              <a:t/>
            </a:r>
            <a:br>
              <a:rPr lang="en-US" altLang="ko-KR" sz="700" dirty="0" smtClean="0"/>
            </a:br>
            <a:r>
              <a:rPr lang="en-US" altLang="ko-KR" sz="700" dirty="0" smtClean="0"/>
              <a:t>- 3</a:t>
            </a:r>
            <a:r>
              <a:rPr lang="ko-KR" altLang="en-US" sz="700" dirty="0" err="1" smtClean="0"/>
              <a:t>번항목</a:t>
            </a:r>
            <a:r>
              <a:rPr lang="ko-KR" altLang="en-US" sz="700" dirty="0" smtClean="0"/>
              <a:t> 표시 개수 영역에서 선택한 개수로 증가</a:t>
            </a:r>
            <a:r>
              <a:rPr lang="en-US" altLang="ko-KR" sz="700" dirty="0" smtClean="0"/>
              <a:t>.</a:t>
            </a:r>
            <a:br>
              <a:rPr lang="en-US" altLang="ko-KR" sz="700" dirty="0" smtClean="0"/>
            </a:br>
            <a:r>
              <a:rPr lang="ko-KR" altLang="en-US" sz="700" dirty="0" smtClean="0"/>
              <a:t>예</a:t>
            </a:r>
            <a:r>
              <a:rPr lang="en-US" altLang="ko-KR" sz="700" dirty="0" smtClean="0"/>
              <a:t>) 10</a:t>
            </a:r>
            <a:r>
              <a:rPr lang="ko-KR" altLang="en-US" sz="700" dirty="0" smtClean="0"/>
              <a:t>개 노출 이후 </a:t>
            </a:r>
            <a:r>
              <a:rPr lang="ko-KR" altLang="en-US" sz="700" dirty="0" err="1" smtClean="0"/>
              <a:t>더보기</a:t>
            </a:r>
            <a:r>
              <a:rPr lang="ko-KR" altLang="en-US" sz="700" dirty="0" smtClean="0"/>
              <a:t> 버튼 클릭으로 </a:t>
            </a:r>
            <a:r>
              <a:rPr lang="en-US" altLang="ko-KR" sz="700" dirty="0" smtClean="0"/>
              <a:t>10</a:t>
            </a:r>
            <a:r>
              <a:rPr lang="ko-KR" altLang="en-US" sz="700" dirty="0" smtClean="0"/>
              <a:t>개씩 추가 로드</a:t>
            </a:r>
            <a:endParaRPr lang="en-US" altLang="ko-KR" sz="700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sz="700" dirty="0" smtClean="0"/>
              <a:t>대금청구관련 안내문을 호출한다</a:t>
            </a:r>
            <a:r>
              <a:rPr lang="en-US" altLang="ko-KR" sz="700" dirty="0" smtClean="0"/>
              <a:t>.</a:t>
            </a:r>
            <a:r>
              <a:rPr lang="en-US" altLang="ko-KR" dirty="0" smtClean="0">
                <a:latin typeface="+mn-ea"/>
              </a:rPr>
              <a:t> (</a:t>
            </a:r>
            <a:r>
              <a:rPr lang="en-US" altLang="ko-KR" sz="700" dirty="0" smtClean="0">
                <a:latin typeface="+mn-ea"/>
              </a:rPr>
              <a:t>MUI-WM-01-P09)</a:t>
            </a:r>
            <a:r>
              <a:rPr lang="en-US" altLang="ko-KR" sz="700" dirty="0" smtClean="0"/>
              <a:t/>
            </a:r>
            <a:br>
              <a:rPr lang="en-US" altLang="ko-KR" sz="700" dirty="0" smtClean="0"/>
            </a:br>
            <a:endParaRPr lang="en-US" altLang="ko-KR" sz="700" dirty="0"/>
          </a:p>
        </p:txBody>
      </p:sp>
      <p:sp>
        <p:nvSpPr>
          <p:cNvPr id="137" name="타원 13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52055" y="223388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sp>
        <p:nvSpPr>
          <p:cNvPr id="138" name="타원 13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1463636" y="223388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 b="1" dirty="0" smtClean="0"/>
              <a:t>2-1</a:t>
            </a:r>
            <a:endParaRPr lang="ko-KR" altLang="en-US" sz="600" b="1" dirty="0"/>
          </a:p>
        </p:txBody>
      </p:sp>
      <p:sp>
        <p:nvSpPr>
          <p:cNvPr id="139" name="타원 13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2684573" y="222479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</a:p>
        </p:txBody>
      </p:sp>
      <p:sp>
        <p:nvSpPr>
          <p:cNvPr id="142" name="타원 14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706935" y="250441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 b="1" dirty="0" smtClean="0"/>
              <a:t>2-2</a:t>
            </a:r>
            <a:endParaRPr lang="ko-KR" altLang="en-US" sz="600" b="1" dirty="0"/>
          </a:p>
        </p:txBody>
      </p:sp>
      <p:sp>
        <p:nvSpPr>
          <p:cNvPr id="156" name="타원 15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2650531" y="146183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6</a:t>
            </a:r>
            <a:endParaRPr lang="ko-KR" altLang="en-US" sz="900" b="1" dirty="0"/>
          </a:p>
        </p:txBody>
      </p:sp>
      <p:sp>
        <p:nvSpPr>
          <p:cNvPr id="159" name="타원 15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706935" y="350959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00" b="1" dirty="0" smtClean="0"/>
              <a:t>4-2</a:t>
            </a:r>
          </a:p>
        </p:txBody>
      </p:sp>
      <p:sp>
        <p:nvSpPr>
          <p:cNvPr id="171" name="타원 1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706935" y="374701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00" b="1" dirty="0" smtClean="0"/>
              <a:t>4-3</a:t>
            </a:r>
          </a:p>
        </p:txBody>
      </p:sp>
    </p:spTree>
    <p:extLst>
      <p:ext uri="{BB962C8B-B14F-4D97-AF65-F5344CB8AC3E}">
        <p14:creationId xmlns:p14="http://schemas.microsoft.com/office/powerpoint/2010/main" val="327559358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78</a:t>
            </a:fld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B257CD-DFF9-C20A-42B1-86A5BD32A09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1E579C-7AF3-7BFE-7013-093144AFB794}"/>
              </a:ext>
            </a:extLst>
          </p:cNvPr>
          <p:cNvSpPr txBox="1"/>
          <p:nvPr/>
        </p:nvSpPr>
        <p:spPr>
          <a:xfrm>
            <a:off x="458117" y="803113"/>
            <a:ext cx="319214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대금지불정보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반납</a:t>
            </a:r>
            <a:r>
              <a:rPr lang="en-US" altLang="ko-KR" sz="900" b="1" dirty="0">
                <a:solidFill>
                  <a:prstClr val="black"/>
                </a:solidFill>
              </a:rPr>
              <a:t>)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dmt_pymtDfryInfoSrch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9C383C-55E0-D07A-4E04-846216D6522D}"/>
              </a:ext>
            </a:extLst>
          </p:cNvPr>
          <p:cNvSpPr txBox="1"/>
          <p:nvPr/>
        </p:nvSpPr>
        <p:spPr>
          <a:xfrm>
            <a:off x="458117" y="2157281"/>
            <a:ext cx="3456643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대금지불정보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반납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r>
              <a:rPr lang="ko-KR" altLang="en-US" sz="900" b="1" dirty="0">
                <a:solidFill>
                  <a:prstClr val="black"/>
                </a:solidFill>
              </a:rPr>
              <a:t>목록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dlt_pymtDfryInfoList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76A37DB3-05EE-95CD-48CB-E4E9ABDEE5BE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1091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ctrtBgngYmd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ctrtEndYmd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계약일자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</a:p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-mm-dd(From-To)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계약번호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계약번호검색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공통팝업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347732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</a:rPr>
                        <a:t>계약명</a:t>
                      </a:r>
                      <a:r>
                        <a:rPr lang="ko-KR" altLang="en-US" sz="800" dirty="0">
                          <a:latin typeface="+mn-ea"/>
                        </a:rPr>
                        <a:t>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taskSeCd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업무구분을 선택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물품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용역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F5D46A5E-37F4-8517-D03E-37CE77A215D9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441035"/>
          <a:ext cx="8994883" cy="1939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조회결과 자료 순번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N/A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rownum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taskSeCd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물품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용역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9965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birqNo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83255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03160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차수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ctrtCycl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차수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28815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523475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19156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수령금액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trgtAmt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수령금액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반납금액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rtnAmt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반납금액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8E50FD7A-00F1-4BD9-507D-2C54F12D04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876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682DD0-1779-5E39-E529-9DDFC164E65F}"/>
              </a:ext>
            </a:extLst>
          </p:cNvPr>
          <p:cNvSpPr txBox="1"/>
          <p:nvPr/>
        </p:nvSpPr>
        <p:spPr>
          <a:xfrm>
            <a:off x="458117" y="4465696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2. </a:t>
            </a:r>
            <a:r>
              <a:rPr lang="ko-KR" altLang="en-US" sz="1000" b="1" dirty="0">
                <a:solidFill>
                  <a:prstClr val="black"/>
                </a:solidFill>
              </a:rPr>
              <a:t>이벤트 설명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1C11CE2-7F70-9E45-8C39-23589E2A9923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4769516"/>
          <a:ext cx="8995591" cy="703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3103963203"/>
                    </a:ext>
                  </a:extLst>
                </a:gridCol>
                <a:gridCol w="37029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4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공통코드를 조회한다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검색 클릭 이벤트</a:t>
                      </a:r>
                      <a:endParaRPr lang="en-US" altLang="ko-KR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scwin.btn_srch_onclick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대금지불정보</a:t>
                      </a:r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반납</a:t>
                      </a:r>
                      <a:r>
                        <a:rPr lang="en-US" altLang="ko-KR" sz="800" dirty="0"/>
                        <a:t>) </a:t>
                      </a:r>
                      <a:r>
                        <a:rPr lang="ko-KR" altLang="en-US" sz="800" dirty="0"/>
                        <a:t>목록을 조회한다</a:t>
                      </a:r>
                      <a:r>
                        <a:rPr lang="en-US" altLang="ko-KR" sz="800" dirty="0"/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011830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1542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14596</TotalTime>
  <Words>9915</Words>
  <Application>Microsoft Office PowerPoint</Application>
  <PresentationFormat>A4 용지(210x297mm)</PresentationFormat>
  <Paragraphs>4703</Paragraphs>
  <Slides>79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79</vt:i4>
      </vt:variant>
    </vt:vector>
  </HeadingPairs>
  <TitlesOfParts>
    <vt:vector size="86" baseType="lpstr">
      <vt:lpstr>Pretendard Medium</vt:lpstr>
      <vt:lpstr>맑은 고딕</vt:lpstr>
      <vt:lpstr>Arial</vt:lpstr>
      <vt:lpstr>Times New Roman</vt:lpstr>
      <vt:lpstr>Verdana</vt:lpstr>
      <vt:lpstr>Wingdings</vt:lpstr>
      <vt:lpstr>Office 테마</vt:lpstr>
      <vt:lpstr>사용자인터페이스 설계서 - 모바일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LIG SYSTEM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표준서식-PPTX-A4-Landscape</dc:title>
  <dc:subject>프로젝트 명</dc:subject>
  <dc:creator>LIG SYSTEM</dc:creator>
  <cp:keywords>표준서식-PPTX-A4-Landscape</cp:keywords>
  <cp:lastModifiedBy>User</cp:lastModifiedBy>
  <cp:revision>867</cp:revision>
  <cp:lastPrinted>2016-10-27T08:57:39Z</cp:lastPrinted>
  <dcterms:created xsi:type="dcterms:W3CDTF">2016-10-27T07:41:55Z</dcterms:created>
  <dcterms:modified xsi:type="dcterms:W3CDTF">2026-07-22T11:05:03Z</dcterms:modified>
  <cp:category>서브시스템/업무명</cp:category>
  <cp:contentStatus>0.1</cp:contentStatus>
</cp:coreProperties>
</file>