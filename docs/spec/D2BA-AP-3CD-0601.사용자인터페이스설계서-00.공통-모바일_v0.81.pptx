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59"/>
  </p:notesMasterIdLst>
  <p:handoutMasterIdLst>
    <p:handoutMasterId r:id="rId360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271" r:id="rId15"/>
    <p:sldId id="743" r:id="rId16"/>
    <p:sldId id="273" r:id="rId17"/>
    <p:sldId id="275" r:id="rId18"/>
    <p:sldId id="276" r:id="rId19"/>
    <p:sldId id="277" r:id="rId20"/>
    <p:sldId id="279" r:id="rId21"/>
    <p:sldId id="744" r:id="rId22"/>
    <p:sldId id="301" r:id="rId23"/>
    <p:sldId id="503" r:id="rId24"/>
    <p:sldId id="284" r:id="rId25"/>
    <p:sldId id="288" r:id="rId26"/>
    <p:sldId id="289" r:id="rId27"/>
    <p:sldId id="290" r:id="rId28"/>
    <p:sldId id="308" r:id="rId29"/>
    <p:sldId id="309" r:id="rId30"/>
    <p:sldId id="310" r:id="rId31"/>
    <p:sldId id="724" r:id="rId32"/>
    <p:sldId id="386" r:id="rId33"/>
    <p:sldId id="420" r:id="rId34"/>
    <p:sldId id="311" r:id="rId35"/>
    <p:sldId id="714" r:id="rId36"/>
    <p:sldId id="314" r:id="rId37"/>
    <p:sldId id="715" r:id="rId38"/>
    <p:sldId id="317" r:id="rId39"/>
    <p:sldId id="322" r:id="rId40"/>
    <p:sldId id="716" r:id="rId41"/>
    <p:sldId id="313" r:id="rId42"/>
    <p:sldId id="318" r:id="rId43"/>
    <p:sldId id="323" r:id="rId44"/>
    <p:sldId id="717" r:id="rId45"/>
    <p:sldId id="324" r:id="rId46"/>
    <p:sldId id="718" r:id="rId47"/>
    <p:sldId id="319" r:id="rId48"/>
    <p:sldId id="315" r:id="rId49"/>
    <p:sldId id="316" r:id="rId50"/>
    <p:sldId id="321" r:id="rId51"/>
    <p:sldId id="320" r:id="rId52"/>
    <p:sldId id="326" r:id="rId53"/>
    <p:sldId id="325" r:id="rId54"/>
    <p:sldId id="327" r:id="rId55"/>
    <p:sldId id="328" r:id="rId56"/>
    <p:sldId id="330" r:id="rId57"/>
    <p:sldId id="329" r:id="rId58"/>
    <p:sldId id="331" r:id="rId59"/>
    <p:sldId id="746" r:id="rId60"/>
    <p:sldId id="374" r:id="rId61"/>
    <p:sldId id="375" r:id="rId62"/>
    <p:sldId id="332" r:id="rId63"/>
    <p:sldId id="371" r:id="rId64"/>
    <p:sldId id="372" r:id="rId65"/>
    <p:sldId id="373" r:id="rId66"/>
    <p:sldId id="747" r:id="rId67"/>
    <p:sldId id="748" r:id="rId68"/>
    <p:sldId id="749" r:id="rId69"/>
    <p:sldId id="378" r:id="rId70"/>
    <p:sldId id="379" r:id="rId71"/>
    <p:sldId id="725" r:id="rId72"/>
    <p:sldId id="380" r:id="rId73"/>
    <p:sldId id="381" r:id="rId74"/>
    <p:sldId id="382" r:id="rId75"/>
    <p:sldId id="383" r:id="rId76"/>
    <p:sldId id="726" r:id="rId77"/>
    <p:sldId id="727" r:id="rId78"/>
    <p:sldId id="384" r:id="rId79"/>
    <p:sldId id="728" r:id="rId80"/>
    <p:sldId id="385" r:id="rId81"/>
    <p:sldId id="400" r:id="rId82"/>
    <p:sldId id="401" r:id="rId83"/>
    <p:sldId id="729" r:id="rId84"/>
    <p:sldId id="402" r:id="rId85"/>
    <p:sldId id="504" r:id="rId86"/>
    <p:sldId id="403" r:id="rId87"/>
    <p:sldId id="404" r:id="rId88"/>
    <p:sldId id="730" r:id="rId89"/>
    <p:sldId id="731" r:id="rId90"/>
    <p:sldId id="732" r:id="rId91"/>
    <p:sldId id="733" r:id="rId92"/>
    <p:sldId id="734" r:id="rId93"/>
    <p:sldId id="735" r:id="rId94"/>
    <p:sldId id="736" r:id="rId95"/>
    <p:sldId id="405" r:id="rId96"/>
    <p:sldId id="737" r:id="rId97"/>
    <p:sldId id="406" r:id="rId98"/>
    <p:sldId id="738" r:id="rId99"/>
    <p:sldId id="626" r:id="rId100"/>
    <p:sldId id="407" r:id="rId101"/>
    <p:sldId id="408" r:id="rId102"/>
    <p:sldId id="739" r:id="rId103"/>
    <p:sldId id="409" r:id="rId104"/>
    <p:sldId id="740" r:id="rId105"/>
    <p:sldId id="410" r:id="rId106"/>
    <p:sldId id="577" r:id="rId107"/>
    <p:sldId id="411" r:id="rId108"/>
    <p:sldId id="412" r:id="rId109"/>
    <p:sldId id="505" r:id="rId110"/>
    <p:sldId id="506" r:id="rId111"/>
    <p:sldId id="507" r:id="rId112"/>
    <p:sldId id="508" r:id="rId113"/>
    <p:sldId id="413" r:id="rId114"/>
    <p:sldId id="719" r:id="rId115"/>
    <p:sldId id="414" r:id="rId116"/>
    <p:sldId id="509" r:id="rId117"/>
    <p:sldId id="510" r:id="rId118"/>
    <p:sldId id="511" r:id="rId119"/>
    <p:sldId id="512" r:id="rId120"/>
    <p:sldId id="513" r:id="rId121"/>
    <p:sldId id="514" r:id="rId122"/>
    <p:sldId id="515" r:id="rId123"/>
    <p:sldId id="516" r:id="rId124"/>
    <p:sldId id="415" r:id="rId125"/>
    <p:sldId id="518" r:id="rId126"/>
    <p:sldId id="519" r:id="rId127"/>
    <p:sldId id="517" r:id="rId128"/>
    <p:sldId id="521" r:id="rId129"/>
    <p:sldId id="524" r:id="rId130"/>
    <p:sldId id="522" r:id="rId131"/>
    <p:sldId id="525" r:id="rId132"/>
    <p:sldId id="526" r:id="rId133"/>
    <p:sldId id="720" r:id="rId134"/>
    <p:sldId id="527" r:id="rId135"/>
    <p:sldId id="528" r:id="rId136"/>
    <p:sldId id="529" r:id="rId137"/>
    <p:sldId id="530" r:id="rId138"/>
    <p:sldId id="531" r:id="rId139"/>
    <p:sldId id="532" r:id="rId140"/>
    <p:sldId id="541" r:id="rId141"/>
    <p:sldId id="756" r:id="rId142"/>
    <p:sldId id="536" r:id="rId143"/>
    <p:sldId id="537" r:id="rId144"/>
    <p:sldId id="538" r:id="rId145"/>
    <p:sldId id="539" r:id="rId146"/>
    <p:sldId id="540" r:id="rId147"/>
    <p:sldId id="533" r:id="rId148"/>
    <p:sldId id="535" r:id="rId149"/>
    <p:sldId id="542" r:id="rId150"/>
    <p:sldId id="543" r:id="rId151"/>
    <p:sldId id="544" r:id="rId152"/>
    <p:sldId id="545" r:id="rId153"/>
    <p:sldId id="546" r:id="rId154"/>
    <p:sldId id="547" r:id="rId155"/>
    <p:sldId id="548" r:id="rId156"/>
    <p:sldId id="549" r:id="rId157"/>
    <p:sldId id="550" r:id="rId158"/>
    <p:sldId id="551" r:id="rId159"/>
    <p:sldId id="552" r:id="rId160"/>
    <p:sldId id="553" r:id="rId161"/>
    <p:sldId id="556" r:id="rId162"/>
    <p:sldId id="557" r:id="rId163"/>
    <p:sldId id="560" r:id="rId164"/>
    <p:sldId id="558" r:id="rId165"/>
    <p:sldId id="559" r:id="rId166"/>
    <p:sldId id="555" r:id="rId167"/>
    <p:sldId id="554" r:id="rId168"/>
    <p:sldId id="561" r:id="rId169"/>
    <p:sldId id="562" r:id="rId170"/>
    <p:sldId id="563" r:id="rId171"/>
    <p:sldId id="564" r:id="rId172"/>
    <p:sldId id="565" r:id="rId173"/>
    <p:sldId id="566" r:id="rId174"/>
    <p:sldId id="569" r:id="rId175"/>
    <p:sldId id="567" r:id="rId176"/>
    <p:sldId id="568" r:id="rId177"/>
    <p:sldId id="570" r:id="rId178"/>
    <p:sldId id="571" r:id="rId179"/>
    <p:sldId id="572" r:id="rId180"/>
    <p:sldId id="722" r:id="rId181"/>
    <p:sldId id="574" r:id="rId182"/>
    <p:sldId id="578" r:id="rId183"/>
    <p:sldId id="575" r:id="rId184"/>
    <p:sldId id="576" r:id="rId185"/>
    <p:sldId id="590" r:id="rId186"/>
    <p:sldId id="591" r:id="rId187"/>
    <p:sldId id="592" r:id="rId188"/>
    <p:sldId id="588" r:id="rId189"/>
    <p:sldId id="589" r:id="rId190"/>
    <p:sldId id="593" r:id="rId191"/>
    <p:sldId id="595" r:id="rId192"/>
    <p:sldId id="596" r:id="rId193"/>
    <p:sldId id="594" r:id="rId194"/>
    <p:sldId id="579" r:id="rId195"/>
    <p:sldId id="583" r:id="rId196"/>
    <p:sldId id="580" r:id="rId197"/>
    <p:sldId id="582" r:id="rId198"/>
    <p:sldId id="584" r:id="rId199"/>
    <p:sldId id="587" r:id="rId200"/>
    <p:sldId id="586" r:id="rId201"/>
    <p:sldId id="585" r:id="rId202"/>
    <p:sldId id="337" r:id="rId203"/>
    <p:sldId id="338" r:id="rId204"/>
    <p:sldId id="750" r:id="rId205"/>
    <p:sldId id="388" r:id="rId206"/>
    <p:sldId id="611" r:id="rId207"/>
    <p:sldId id="612" r:id="rId208"/>
    <p:sldId id="613" r:id="rId209"/>
    <p:sldId id="614" r:id="rId210"/>
    <p:sldId id="615" r:id="rId211"/>
    <p:sldId id="616" r:id="rId212"/>
    <p:sldId id="617" r:id="rId213"/>
    <p:sldId id="389" r:id="rId214"/>
    <p:sldId id="618" r:id="rId215"/>
    <p:sldId id="619" r:id="rId216"/>
    <p:sldId id="620" r:id="rId217"/>
    <p:sldId id="621" r:id="rId218"/>
    <p:sldId id="622" r:id="rId219"/>
    <p:sldId id="623" r:id="rId220"/>
    <p:sldId id="624" r:id="rId221"/>
    <p:sldId id="390" r:id="rId222"/>
    <p:sldId id="627" r:id="rId223"/>
    <p:sldId id="392" r:id="rId224"/>
    <p:sldId id="393" r:id="rId225"/>
    <p:sldId id="628" r:id="rId226"/>
    <p:sldId id="629" r:id="rId227"/>
    <p:sldId id="394" r:id="rId228"/>
    <p:sldId id="630" r:id="rId229"/>
    <p:sldId id="631" r:id="rId230"/>
    <p:sldId id="632" r:id="rId231"/>
    <p:sldId id="633" r:id="rId232"/>
    <p:sldId id="634" r:id="rId233"/>
    <p:sldId id="635" r:id="rId234"/>
    <p:sldId id="636" r:id="rId235"/>
    <p:sldId id="637" r:id="rId236"/>
    <p:sldId id="638" r:id="rId237"/>
    <p:sldId id="639" r:id="rId238"/>
    <p:sldId id="640" r:id="rId239"/>
    <p:sldId id="641" r:id="rId240"/>
    <p:sldId id="642" r:id="rId241"/>
    <p:sldId id="643" r:id="rId242"/>
    <p:sldId id="644" r:id="rId243"/>
    <p:sldId id="645" r:id="rId244"/>
    <p:sldId id="646" r:id="rId245"/>
    <p:sldId id="647" r:id="rId246"/>
    <p:sldId id="668" r:id="rId247"/>
    <p:sldId id="669" r:id="rId248"/>
    <p:sldId id="670" r:id="rId249"/>
    <p:sldId id="648" r:id="rId250"/>
    <p:sldId id="649" r:id="rId251"/>
    <p:sldId id="650" r:id="rId252"/>
    <p:sldId id="723" r:id="rId253"/>
    <p:sldId id="652" r:id="rId254"/>
    <p:sldId id="653" r:id="rId255"/>
    <p:sldId id="654" r:id="rId256"/>
    <p:sldId id="655" r:id="rId257"/>
    <p:sldId id="656" r:id="rId258"/>
    <p:sldId id="657" r:id="rId259"/>
    <p:sldId id="658" r:id="rId260"/>
    <p:sldId id="659" r:id="rId261"/>
    <p:sldId id="660" r:id="rId262"/>
    <p:sldId id="661" r:id="rId263"/>
    <p:sldId id="662" r:id="rId264"/>
    <p:sldId id="663" r:id="rId265"/>
    <p:sldId id="664" r:id="rId266"/>
    <p:sldId id="665" r:id="rId267"/>
    <p:sldId id="666" r:id="rId268"/>
    <p:sldId id="667" r:id="rId269"/>
    <p:sldId id="395" r:id="rId270"/>
    <p:sldId id="671" r:id="rId271"/>
    <p:sldId id="672" r:id="rId272"/>
    <p:sldId id="673" r:id="rId273"/>
    <p:sldId id="674" r:id="rId274"/>
    <p:sldId id="675" r:id="rId275"/>
    <p:sldId id="676" r:id="rId276"/>
    <p:sldId id="677" r:id="rId277"/>
    <p:sldId id="678" r:id="rId278"/>
    <p:sldId id="679" r:id="rId279"/>
    <p:sldId id="680" r:id="rId280"/>
    <p:sldId id="681" r:id="rId281"/>
    <p:sldId id="682" r:id="rId282"/>
    <p:sldId id="683" r:id="rId283"/>
    <p:sldId id="684" r:id="rId284"/>
    <p:sldId id="685" r:id="rId285"/>
    <p:sldId id="686" r:id="rId286"/>
    <p:sldId id="687" r:id="rId287"/>
    <p:sldId id="688" r:id="rId288"/>
    <p:sldId id="689" r:id="rId289"/>
    <p:sldId id="690" r:id="rId290"/>
    <p:sldId id="691" r:id="rId291"/>
    <p:sldId id="692" r:id="rId292"/>
    <p:sldId id="693" r:id="rId293"/>
    <p:sldId id="694" r:id="rId294"/>
    <p:sldId id="695" r:id="rId295"/>
    <p:sldId id="696" r:id="rId296"/>
    <p:sldId id="697" r:id="rId297"/>
    <p:sldId id="698" r:id="rId298"/>
    <p:sldId id="699" r:id="rId299"/>
    <p:sldId id="700" r:id="rId300"/>
    <p:sldId id="701" r:id="rId301"/>
    <p:sldId id="702" r:id="rId302"/>
    <p:sldId id="703" r:id="rId303"/>
    <p:sldId id="704" r:id="rId304"/>
    <p:sldId id="705" r:id="rId305"/>
    <p:sldId id="706" r:id="rId306"/>
    <p:sldId id="707" r:id="rId307"/>
    <p:sldId id="708" r:id="rId308"/>
    <p:sldId id="709" r:id="rId309"/>
    <p:sldId id="710" r:id="rId310"/>
    <p:sldId id="711" r:id="rId311"/>
    <p:sldId id="712" r:id="rId312"/>
    <p:sldId id="713" r:id="rId313"/>
    <p:sldId id="597" r:id="rId314"/>
    <p:sldId id="599" r:id="rId315"/>
    <p:sldId id="600" r:id="rId316"/>
    <p:sldId id="598" r:id="rId317"/>
    <p:sldId id="601" r:id="rId318"/>
    <p:sldId id="602" r:id="rId319"/>
    <p:sldId id="603" r:id="rId320"/>
    <p:sldId id="604" r:id="rId321"/>
    <p:sldId id="605" r:id="rId322"/>
    <p:sldId id="340" r:id="rId323"/>
    <p:sldId id="341" r:id="rId324"/>
    <p:sldId id="751" r:id="rId325"/>
    <p:sldId id="365" r:id="rId326"/>
    <p:sldId id="366" r:id="rId327"/>
    <p:sldId id="367" r:id="rId328"/>
    <p:sldId id="368" r:id="rId329"/>
    <p:sldId id="369" r:id="rId330"/>
    <p:sldId id="370" r:id="rId331"/>
    <p:sldId id="387" r:id="rId332"/>
    <p:sldId id="356" r:id="rId333"/>
    <p:sldId id="357" r:id="rId334"/>
    <p:sldId id="753" r:id="rId335"/>
    <p:sldId id="359" r:id="rId336"/>
    <p:sldId id="360" r:id="rId337"/>
    <p:sldId id="361" r:id="rId338"/>
    <p:sldId id="755" r:id="rId339"/>
    <p:sldId id="363" r:id="rId340"/>
    <p:sldId id="364" r:id="rId341"/>
    <p:sldId id="344" r:id="rId342"/>
    <p:sldId id="345" r:id="rId343"/>
    <p:sldId id="752" r:id="rId344"/>
    <p:sldId id="343" r:id="rId345"/>
    <p:sldId id="347" r:id="rId346"/>
    <p:sldId id="348" r:id="rId347"/>
    <p:sldId id="349" r:id="rId348"/>
    <p:sldId id="350" r:id="rId349"/>
    <p:sldId id="351" r:id="rId350"/>
    <p:sldId id="352" r:id="rId351"/>
    <p:sldId id="353" r:id="rId352"/>
    <p:sldId id="354" r:id="rId353"/>
    <p:sldId id="608" r:id="rId354"/>
    <p:sldId id="609" r:id="rId355"/>
    <p:sldId id="754" r:id="rId356"/>
    <p:sldId id="607" r:id="rId357"/>
    <p:sldId id="625" r:id="rId358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271"/>
            <p14:sldId id="743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386"/>
            <p14:sldId id="420"/>
            <p14:sldId id="311"/>
            <p14:sldId id="714"/>
            <p14:sldId id="314"/>
            <p14:sldId id="715"/>
            <p14:sldId id="317"/>
            <p14:sldId id="322"/>
            <p14:sldId id="716"/>
            <p14:sldId id="313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332"/>
            <p14:sldId id="371"/>
            <p14:sldId id="372"/>
            <p14:sldId id="373"/>
            <p14:sldId id="747"/>
            <p14:sldId id="748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403"/>
            <p14:sldId id="404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524"/>
            <p14:sldId id="522"/>
            <p14:sldId id="525"/>
            <p14:sldId id="526"/>
            <p14:sldId id="720"/>
            <p14:sldId id="527"/>
            <p14:sldId id="528"/>
            <p14:sldId id="529"/>
            <p14:sldId id="530"/>
            <p14:sldId id="531"/>
            <p14:sldId id="532"/>
            <p14:sldId id="541"/>
            <p14:sldId id="756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338"/>
            <p14:sldId id="750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392"/>
            <p14:sldId id="393"/>
            <p14:sldId id="628"/>
            <p14:sldId id="629"/>
            <p14:sldId id="394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B9BD5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869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446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notesMaster" Target="notesMasters/notesMaster1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handoutMaster" Target="handoutMasters/handoutMaster1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presProps" Target="presProps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viewProps" Target="viewProp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theme" Target="theme/theme1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2026-06-22 (Monday)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2026-06-22 (Monday)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040163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5718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153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3421059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실행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접근 권한 동의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접근 권한 동의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업데이트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이용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 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통합검색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결과 목록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햄버거 메뉴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현황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업체선택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방식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771004"/>
              </p:ext>
            </p:extLst>
          </p:nvPr>
        </p:nvGraphicFramePr>
        <p:xfrm>
          <a:off x="635474" y="1413419"/>
          <a:ext cx="8701200" cy="28444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등록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2013983"/>
              </p:ext>
            </p:extLst>
          </p:nvPr>
        </p:nvGraphicFramePr>
        <p:xfrm>
          <a:off x="635474" y="1413419"/>
          <a:ext cx="8701200" cy="34761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모바일신분증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 성공 실패 안내 팝업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QR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필요 서비스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비로그인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노출되는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스플래시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로고 노출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안내 팝업 노출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실행 완료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91" idx="0"/>
          </p:cNvCxnSpPr>
          <p:nvPr/>
        </p:nvCxnSpPr>
        <p:spPr>
          <a:xfrm>
            <a:off x="4647742" y="2595750"/>
            <a:ext cx="0" cy="107521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 보기 선택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405859" y="3670961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최신화 완료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접근 권한 안내</a:t>
            </a: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푸시 동의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카메라 접근 동의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 진입</a:t>
            </a: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333723" y="4349746"/>
            <a:ext cx="86401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이용안내 </a:t>
            </a:r>
            <a:r>
              <a:rPr lang="en-US" altLang="ko-KR" sz="800" dirty="0">
                <a:solidFill>
                  <a:schemeClr val="tx1"/>
                </a:solidFill>
              </a:rPr>
              <a:t>= </a:t>
            </a:r>
            <a:r>
              <a:rPr lang="ko-KR" altLang="en-US" sz="800" dirty="0">
                <a:solidFill>
                  <a:schemeClr val="tx1"/>
                </a:solidFill>
              </a:rPr>
              <a:t>도움말</a:t>
            </a: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햄버거 메뉴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3614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53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3130536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3130535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3130535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 현황</a:t>
            </a: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 결과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43441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73" idx="1"/>
          </p:cNvCxnSpPr>
          <p:nvPr/>
        </p:nvCxnSpPr>
        <p:spPr>
          <a:xfrm>
            <a:off x="6928876" y="3130536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04" idx="2"/>
          </p:cNvCxnSpPr>
          <p:nvPr/>
        </p:nvCxnSpPr>
        <p:spPr>
          <a:xfrm flipV="1">
            <a:off x="8760010" y="3130535"/>
            <a:ext cx="398685" cy="1357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0186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6" idx="1"/>
          </p:cNvCxnSpPr>
          <p:nvPr/>
        </p:nvCxnSpPr>
        <p:spPr>
          <a:xfrm>
            <a:off x="6928876" y="3130536"/>
            <a:ext cx="931134" cy="20321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04" idx="2"/>
          </p:cNvCxnSpPr>
          <p:nvPr/>
        </p:nvCxnSpPr>
        <p:spPr>
          <a:xfrm flipV="1">
            <a:off x="8760010" y="3130535"/>
            <a:ext cx="398685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 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1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97" idx="1"/>
          </p:cNvCxnSpPr>
          <p:nvPr/>
        </p:nvCxnSpPr>
        <p:spPr>
          <a:xfrm>
            <a:off x="5097742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안내</a:t>
            </a: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 rot="16200000" flipH="1">
            <a:off x="5367916" y="1875576"/>
            <a:ext cx="39078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2184638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상태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45" idx="1"/>
          </p:cNvCxnSpPr>
          <p:nvPr/>
        </p:nvCxnSpPr>
        <p:spPr>
          <a:xfrm>
            <a:off x="5097742" y="3130536"/>
            <a:ext cx="931134" cy="6817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6932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6" idx="2"/>
            <a:endCxn id="154" idx="0"/>
          </p:cNvCxnSpPr>
          <p:nvPr/>
        </p:nvCxnSpPr>
        <p:spPr>
          <a:xfrm>
            <a:off x="8310010" y="5306663"/>
            <a:ext cx="0" cy="38655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4" idx="2"/>
          </p:cNvCxnSpPr>
          <p:nvPr/>
        </p:nvCxnSpPr>
        <p:spPr>
          <a:xfrm flipV="1">
            <a:off x="8760010" y="3130535"/>
            <a:ext cx="398685" cy="270668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4" idx="2"/>
          </p:cNvCxnSpPr>
          <p:nvPr/>
        </p:nvCxnSpPr>
        <p:spPr>
          <a:xfrm>
            <a:off x="6928876" y="2451750"/>
            <a:ext cx="2229819" cy="678785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</a:rPr>
              <a:t>챗봇</a:t>
            </a:r>
            <a:r>
              <a:rPr lang="ko-KR" altLang="en-US" sz="800" dirty="0">
                <a:solidFill>
                  <a:schemeClr val="tx1"/>
                </a:solidFill>
              </a:rPr>
              <a:t> 문의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6359879" y="59247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6388876" y="5744298"/>
            <a:ext cx="180000" cy="180000"/>
            <a:chOff x="5058274" y="2498299"/>
            <a:chExt cx="180000" cy="180000"/>
          </a:xfrm>
        </p:grpSpPr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80" name="직선 화살표 연결선 1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7" idx="2"/>
          </p:cNvCxnSpPr>
          <p:nvPr/>
        </p:nvCxnSpPr>
        <p:spPr>
          <a:xfrm>
            <a:off x="5097742" y="5834298"/>
            <a:ext cx="129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3" idx="2"/>
            <a:endCxn id="177" idx="0"/>
          </p:cNvCxnSpPr>
          <p:nvPr/>
        </p:nvCxnSpPr>
        <p:spPr>
          <a:xfrm>
            <a:off x="6478876" y="5306663"/>
            <a:ext cx="0" cy="4376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77" idx="6"/>
          </p:cNvCxnSpPr>
          <p:nvPr/>
        </p:nvCxnSpPr>
        <p:spPr>
          <a:xfrm flipH="1">
            <a:off x="6568876" y="3812244"/>
            <a:ext cx="360000" cy="2022054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12" idx="3"/>
          </p:cNvCxnSpPr>
          <p:nvPr/>
        </p:nvCxnSpPr>
        <p:spPr>
          <a:xfrm>
            <a:off x="5097742" y="1772964"/>
            <a:ext cx="12700" cy="678786"/>
          </a:xfrm>
          <a:prstGeom prst="bentConnector3">
            <a:avLst>
              <a:gd name="adj1" fmla="val 368235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3667" y="1920752"/>
            <a:ext cx="99386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PC </a:t>
            </a:r>
            <a:r>
              <a:rPr lang="ko-KR" altLang="en-US" sz="800" dirty="0">
                <a:solidFill>
                  <a:schemeClr val="tx1"/>
                </a:solidFill>
              </a:rPr>
              <a:t>화면의 </a:t>
            </a:r>
            <a:r>
              <a:rPr lang="en-US" altLang="ko-KR" sz="800" dirty="0">
                <a:solidFill>
                  <a:schemeClr val="tx1"/>
                </a:solidFill>
              </a:rPr>
              <a:t>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화면 스캔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3289310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19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72421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20390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행안부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10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07" idx="1"/>
          </p:cNvCxnSpPr>
          <p:nvPr/>
        </p:nvCxnSpPr>
        <p:spPr>
          <a:xfrm>
            <a:off x="5097742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6" idx="1"/>
          </p:cNvCxnSpPr>
          <p:nvPr/>
        </p:nvCxnSpPr>
        <p:spPr>
          <a:xfrm>
            <a:off x="5097742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 안내</a:t>
            </a: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실패 안내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7" idx="3"/>
            <a:endCxn id="125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188462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1682964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68" name="직선 화살표 연결선 1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24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205" idx="1"/>
          </p:cNvCxnSpPr>
          <p:nvPr/>
        </p:nvCxnSpPr>
        <p:spPr>
          <a:xfrm>
            <a:off x="5097742" y="3130536"/>
            <a:ext cx="931134" cy="6758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662423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24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806423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596219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5764482"/>
            <a:ext cx="180000" cy="180000"/>
            <a:chOff x="5058274" y="2498299"/>
            <a:chExt cx="180000" cy="180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2552913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263" idx="3"/>
          </p:cNvCxnSpPr>
          <p:nvPr/>
        </p:nvCxnSpPr>
        <p:spPr>
          <a:xfrm flipH="1">
            <a:off x="8756934" y="2451750"/>
            <a:ext cx="3076" cy="2717175"/>
          </a:xfrm>
          <a:prstGeom prst="bentConnector3">
            <a:avLst>
              <a:gd name="adj1" fmla="val -74317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(1/3)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3" idx="2"/>
            <a:endCxn id="269" idx="2"/>
          </p:cNvCxnSpPr>
          <p:nvPr/>
        </p:nvCxnSpPr>
        <p:spPr>
          <a:xfrm rot="16200000" flipH="1">
            <a:off x="8481163" y="5138696"/>
            <a:ext cx="541557" cy="89001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24" idx="1"/>
          </p:cNvCxnSpPr>
          <p:nvPr/>
        </p:nvCxnSpPr>
        <p:spPr>
          <a:xfrm flipV="1">
            <a:off x="6928876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356830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4274050"/>
            <a:ext cx="1112636" cy="117511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1638" y="3967076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3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33959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 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2"/>
            <a:endCxn id="108" idx="0"/>
          </p:cNvCxnSpPr>
          <p:nvPr/>
        </p:nvCxnSpPr>
        <p:spPr>
          <a:xfrm>
            <a:off x="4647742" y="39560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92" idx="1"/>
          </p:cNvCxnSpPr>
          <p:nvPr/>
        </p:nvCxnSpPr>
        <p:spPr>
          <a:xfrm>
            <a:off x="5097742" y="4490846"/>
            <a:ext cx="931134" cy="6780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12772" y="4625097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로그인</a:t>
            </a:r>
          </a:p>
        </p:txBody>
      </p:sp>
      <p:cxnSp>
        <p:nvCxnSpPr>
          <p:cNvPr id="244" name="직선 화살표 연결선 24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242" idx="1"/>
          </p:cNvCxnSpPr>
          <p:nvPr/>
        </p:nvCxnSpPr>
        <p:spPr>
          <a:xfrm>
            <a:off x="5097742" y="3812061"/>
            <a:ext cx="275919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0"/>
            <a:endCxn id="154" idx="2"/>
          </p:cNvCxnSpPr>
          <p:nvPr/>
        </p:nvCxnSpPr>
        <p:spPr>
          <a:xfrm flipV="1">
            <a:off x="6478876" y="463484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2492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본인인증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ko-KR" altLang="en-US" sz="700" dirty="0">
                <a:solidFill>
                  <a:schemeClr val="tx1"/>
                </a:solidFill>
              </a:rPr>
              <a:t> 등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103838" y="3668061"/>
            <a:ext cx="7469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Y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681839" y="4217818"/>
            <a:ext cx="76783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N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242" idx="1"/>
          </p:cNvCxnSpPr>
          <p:nvPr/>
        </p:nvCxnSpPr>
        <p:spPr>
          <a:xfrm flipV="1">
            <a:off x="6928876" y="3812061"/>
            <a:ext cx="928058" cy="67878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2" idx="3"/>
            <a:endCxn id="115" idx="2"/>
          </p:cNvCxnSpPr>
          <p:nvPr/>
        </p:nvCxnSpPr>
        <p:spPr>
          <a:xfrm>
            <a:off x="8756934" y="3812061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31" idx="1"/>
          </p:cNvCxnSpPr>
          <p:nvPr/>
        </p:nvCxnSpPr>
        <p:spPr>
          <a:xfrm>
            <a:off x="6928876" y="5168925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204511" y="50249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>
                <a:solidFill>
                  <a:schemeClr val="tx1"/>
                </a:solidFill>
              </a:rPr>
              <a:t>회원정보 없음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(2/3)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cxnSp>
        <p:nvCxnSpPr>
          <p:cNvPr id="5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1" idx="3"/>
            <a:endCxn id="115" idx="2"/>
          </p:cNvCxnSpPr>
          <p:nvPr/>
        </p:nvCxnSpPr>
        <p:spPr>
          <a:xfrm flipV="1">
            <a:off x="8756934" y="3812061"/>
            <a:ext cx="440014" cy="13568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179229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949752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5658853"/>
            <a:ext cx="1112636" cy="38323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8" idx="3"/>
            <a:endCxn id="149" idx="1"/>
          </p:cNvCxnSpPr>
          <p:nvPr/>
        </p:nvCxnSpPr>
        <p:spPr>
          <a:xfrm>
            <a:off x="5097742" y="44908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4" idx="1"/>
          </p:cNvCxnSpPr>
          <p:nvPr/>
        </p:nvCxnSpPr>
        <p:spPr>
          <a:xfrm flipV="1">
            <a:off x="5097742" y="3130536"/>
            <a:ext cx="931134" cy="13603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26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사용자 등록 안내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ko-KR" altLang="en-US" sz="600" dirty="0">
                <a:solidFill>
                  <a:prstClr val="black"/>
                </a:solidFill>
              </a:rPr>
              <a:t>모바일 회원가입 불가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>
                <a:solidFill>
                  <a:schemeClr val="tx1"/>
                </a:solidFill>
              </a:rPr>
              <a:t>본인인증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4" idx="3"/>
            <a:endCxn id="42" idx="1"/>
          </p:cNvCxnSpPr>
          <p:nvPr/>
        </p:nvCxnSpPr>
        <p:spPr>
          <a:xfrm>
            <a:off x="6928876" y="3130536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461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 완료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2" idx="2"/>
            <a:endCxn id="46" idx="0"/>
          </p:cNvCxnSpPr>
          <p:nvPr/>
        </p:nvCxnSpPr>
        <p:spPr>
          <a:xfrm>
            <a:off x="8306934" y="327453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18615"/>
            <a:ext cx="180000" cy="180000"/>
            <a:chOff x="5058274" y="2498299"/>
            <a:chExt cx="180000" cy="180000"/>
          </a:xfrm>
        </p:grpSpPr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66" idx="2"/>
          </p:cNvCxnSpPr>
          <p:nvPr/>
        </p:nvCxnSpPr>
        <p:spPr>
          <a:xfrm>
            <a:off x="8756934" y="3808615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성공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83" idx="1"/>
          </p:cNvCxnSpPr>
          <p:nvPr/>
        </p:nvCxnSpPr>
        <p:spPr>
          <a:xfrm flipV="1">
            <a:off x="5097742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66" idx="2"/>
          </p:cNvCxnSpPr>
          <p:nvPr/>
        </p:nvCxnSpPr>
        <p:spPr>
          <a:xfrm>
            <a:off x="6928876" y="2451750"/>
            <a:ext cx="2268072" cy="1356865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(3/3)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66" idx="2"/>
          </p:cNvCxnSpPr>
          <p:nvPr/>
        </p:nvCxnSpPr>
        <p:spPr>
          <a:xfrm flipV="1">
            <a:off x="6928876" y="3808615"/>
            <a:ext cx="2268072" cy="678079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248291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</p:spTree>
    <p:extLst>
      <p:ext uri="{BB962C8B-B14F-4D97-AF65-F5344CB8AC3E}">
        <p14:creationId xmlns:p14="http://schemas.microsoft.com/office/powerpoint/2010/main" val="25301508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스플래시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업데이트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접근권한 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오류 안내 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이용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메인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중요 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햄버거 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방식 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IdPswdLoginPage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AnyID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IdPswdLoginPage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실행 </a:t>
            </a:r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로고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56564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1847672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46" name="타원 45"/>
          <p:cNvSpPr/>
          <p:nvPr/>
        </p:nvSpPr>
        <p:spPr>
          <a:xfrm>
            <a:off x="3992343" y="18410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18919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48" name="타원 47"/>
          <p:cNvSpPr/>
          <p:nvPr/>
        </p:nvSpPr>
        <p:spPr>
          <a:xfrm>
            <a:off x="3992343" y="218261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52161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50" name="타원 49"/>
          <p:cNvSpPr/>
          <p:nvPr/>
        </p:nvSpPr>
        <p:spPr>
          <a:xfrm>
            <a:off x="3992343" y="251503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84746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52" name="타원 51"/>
          <p:cNvSpPr/>
          <p:nvPr/>
        </p:nvSpPr>
        <p:spPr>
          <a:xfrm>
            <a:off x="3992343" y="284088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327408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35561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55" name="타원 54"/>
          <p:cNvSpPr/>
          <p:nvPr/>
        </p:nvSpPr>
        <p:spPr>
          <a:xfrm>
            <a:off x="3992343" y="35495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3915084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57" name="타원 56"/>
          <p:cNvSpPr/>
          <p:nvPr/>
        </p:nvSpPr>
        <p:spPr>
          <a:xfrm>
            <a:off x="3992343" y="3908506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4273872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59" name="타원 58"/>
          <p:cNvSpPr/>
          <p:nvPr/>
        </p:nvSpPr>
        <p:spPr>
          <a:xfrm>
            <a:off x="3992343" y="42672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5065278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5790730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4614461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5" name="타원 64"/>
          <p:cNvSpPr/>
          <p:nvPr/>
        </p:nvSpPr>
        <p:spPr>
          <a:xfrm>
            <a:off x="3992343" y="4607883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586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앱 이용에 대한 안내 화면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로고 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로그인 </a:t>
            </a:r>
            <a:r>
              <a:rPr lang="en-US" altLang="ko-KR" dirty="0"/>
              <a:t>(</a:t>
            </a:r>
            <a:r>
              <a:rPr lang="ko-KR" altLang="en-US" dirty="0"/>
              <a:t>로그인 후 숨김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통합검색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메뉴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모바일 앱은 </a:t>
            </a:r>
            <a:r>
              <a:rPr lang="ko-KR" altLang="en-US" dirty="0" err="1">
                <a:solidFill>
                  <a:srgbClr val="FF0000"/>
                </a:solidFill>
              </a:rPr>
              <a:t>모의입찰</a:t>
            </a:r>
            <a:r>
              <a:rPr lang="ko-KR" altLang="en-US" dirty="0">
                <a:solidFill>
                  <a:srgbClr val="FF0000"/>
                </a:solidFill>
              </a:rPr>
              <a:t> 없음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/>
              <a:t>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표시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알림 현황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고객센터</a:t>
              </a: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수요부대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공지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1273697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>
                          <a:effectLst/>
                        </a:rPr>
                        <a:t>UI-BD-01-M01(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>
                          <a:effectLst/>
                        </a:rPr>
                        <a:t>이동</a:t>
                      </a:r>
                      <a:r>
                        <a:rPr lang="ko-KR" altLang="en-US" sz="1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UI-CM-04-M48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UI-CM-04-M06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/>
                        <a:t>UI-CM-04-M02 </a:t>
                      </a:r>
                      <a:r>
                        <a:rPr lang="ko-KR" altLang="en-US" sz="80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중요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시스템 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검색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제외 </a:t>
            </a:r>
            <a:r>
              <a:rPr lang="en-US" altLang="ko-KR" dirty="0"/>
              <a:t>/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검색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결과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채팅 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햄버거 메뉴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1117" y="2669561"/>
            <a:ext cx="214311" cy="12311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6495" y="2669561"/>
            <a:ext cx="214311" cy="12311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580677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178505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[</a:t>
            </a:r>
            <a:r>
              <a:rPr lang="ko-KR" altLang="en-US" sz="900" b="1" dirty="0" err="1">
                <a:latin typeface="+mn-ea"/>
              </a:rPr>
              <a:t>업체명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 </a:t>
            </a:r>
            <a:r>
              <a:rPr lang="en-US" altLang="ko-KR" sz="900" b="1" dirty="0">
                <a:latin typeface="+mn-ea"/>
              </a:rPr>
              <a:t>[</a:t>
            </a:r>
            <a:r>
              <a:rPr lang="ko-KR" altLang="en-US" sz="900" b="1" dirty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2861354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2970561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2923152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알림 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조달계획이</a:t>
            </a:r>
            <a:r>
              <a:rPr lang="ko-KR" altLang="en-US" sz="800" dirty="0">
                <a:latin typeface="+mn-ea"/>
              </a:rPr>
              <a:t>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69025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8515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입찰참가 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84239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5543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54524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3071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6764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2896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12805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4117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35073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98031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3495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315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217275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소속된 업체가 하나인 경우는 팝업을 띄우지 않고 업체를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경우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업체선택</a:t>
            </a:r>
            <a:r>
              <a:rPr lang="ko-KR" altLang="en-US" dirty="0">
                <a:latin typeface="+mn-ea"/>
              </a:rPr>
              <a:t> 팝업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 err="1"/>
              <a:t>업체선택</a:t>
            </a:r>
            <a:r>
              <a:rPr lang="ko-KR" altLang="en-US" dirty="0"/>
              <a:t>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설정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178684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방식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248041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304420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258763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로그인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16667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41020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096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773036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582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3389358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3487642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3477991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3526489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248041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304420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258763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33849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39487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34921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33849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39487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34921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936072" y="42980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8618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1272622" y="44053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2123386" y="42980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8618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2459936" y="44053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071412"/>
              </p:ext>
            </p:extLst>
          </p:nvPr>
        </p:nvGraphicFramePr>
        <p:xfrm>
          <a:off x="455204" y="971284"/>
          <a:ext cx="8995591" cy="240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scwin.btn_QrLogin_onclick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인증으로 로그인한다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556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146359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ID/PW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ID/PW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69160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792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244848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같은 아이디로 등록한 업체가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업체 선택창이 나온다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(UI-CM-02-P12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탈퇴한 회원은 로그인이 불가능하다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비밀번호 변경일이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일이 경과되면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- 60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이상 장기 미사용자도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</a:t>
                      </a:r>
                      <a:r>
                        <a:rPr lang="en-US" altLang="ko-KR" sz="800" dirty="0">
                          <a:latin typeface="+mn-ea"/>
                        </a:rPr>
                        <a:t>09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UI-CM-02-M01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인증을 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48041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579622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2533455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86546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96468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2918513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24646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345674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3299507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63152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0732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3684565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3997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096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4050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403687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667405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276370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0453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517850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입력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 </a:t>
            </a:r>
            <a:r>
              <a:rPr lang="ko-KR" altLang="en-US" sz="800" dirty="0" err="1">
                <a:latin typeface="+mn-ea"/>
              </a:rPr>
              <a:t>등록정보로</a:t>
            </a:r>
            <a:r>
              <a:rPr lang="ko-KR" altLang="en-US" sz="800" dirty="0">
                <a:latin typeface="+mn-ea"/>
              </a:rPr>
              <a:t>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아이디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등록정보로</a:t>
            </a:r>
            <a:r>
              <a:rPr lang="ko-KR" altLang="en-US" sz="9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891331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523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373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523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>
                <a:sym typeface="Wingdings" panose="05000000000000000000" pitchFamily="2" charset="2"/>
              </a:rPr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788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인증을 통해 비밀번호를 변경할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28906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38827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34210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367412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7333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372716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05511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5432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10816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44017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3938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49321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8063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90554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485937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48455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47605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08502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371318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32650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03460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48041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52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274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입력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 </a:t>
            </a:r>
            <a:r>
              <a:rPr lang="ko-KR" altLang="en-US" sz="800" dirty="0" err="1">
                <a:latin typeface="+mn-ea"/>
              </a:rPr>
              <a:t>등록정보로</a:t>
            </a:r>
            <a:r>
              <a:rPr lang="ko-KR" altLang="en-US" sz="800" dirty="0">
                <a:latin typeface="+mn-ea"/>
              </a:rPr>
              <a:t>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아이디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등록정보로</a:t>
            </a:r>
            <a:r>
              <a:rPr lang="ko-KR" altLang="en-US" sz="9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8894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5384653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457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3065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457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금융인증서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인증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본인 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2835354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641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9641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0347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5050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19763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9685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05555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53939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2067915" y="5786374"/>
            <a:ext cx="1148855" cy="306146"/>
            <a:chOff x="3982951" y="3679873"/>
            <a:chExt cx="2255663" cy="306146"/>
          </a:xfrm>
        </p:grpSpPr>
        <p:sp>
          <p:nvSpPr>
            <p:cNvPr id="107" name="모서리가 둥근 직사각형 10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본인인증</a:t>
              </a:r>
            </a:p>
          </p:txBody>
        </p:sp>
      </p:grpSp>
      <p:grpSp>
        <p:nvGrpSpPr>
          <p:cNvPr id="114" name="그룹 113"/>
          <p:cNvGrpSpPr/>
          <p:nvPr/>
        </p:nvGrpSpPr>
        <p:grpSpPr>
          <a:xfrm>
            <a:off x="846055" y="5786374"/>
            <a:ext cx="1148855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간편인증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0" name="그룹 119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본인 인증이 완료되었습니다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디바이스에 등록된</a:t>
            </a:r>
            <a:endParaRPr lang="en-US" altLang="ko-KR" sz="800" dirty="0">
              <a:latin typeface="+mn-ea"/>
            </a:endParaRPr>
          </a:p>
          <a:p>
            <a:pPr algn="ctr"/>
            <a:r>
              <a:rPr lang="ko-KR" altLang="en-US" sz="800" dirty="0">
                <a:latin typeface="+mn-ea"/>
              </a:rPr>
              <a:t>모든 </a:t>
            </a:r>
            <a:r>
              <a:rPr lang="ko-KR" altLang="en-US" sz="800" dirty="0" err="1">
                <a:latin typeface="+mn-ea"/>
              </a:rPr>
              <a:t>얼굴정보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 dirty="0">
                <a:latin typeface="+mn-ea"/>
              </a:rPr>
              <a:t>지문정보를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이용하여</a:t>
            </a:r>
            <a:endParaRPr lang="en-US" altLang="ko-KR" sz="800" dirty="0">
              <a:latin typeface="+mn-ea"/>
            </a:endParaRPr>
          </a:p>
          <a:p>
            <a:pPr algn="ctr"/>
            <a:r>
              <a:rPr lang="ko-KR" altLang="en-US" sz="800" dirty="0" err="1">
                <a:latin typeface="+mn-ea"/>
              </a:rPr>
              <a:t>로그인을</a:t>
            </a:r>
            <a:r>
              <a:rPr lang="ko-KR" altLang="en-US" sz="800" dirty="0">
                <a:latin typeface="+mn-ea"/>
              </a:rPr>
              <a:t> 진행합니다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126" name="타원 125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3963829" y="5786374"/>
            <a:ext cx="2370716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생체인증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 로그인</a:t>
              </a:r>
            </a:p>
          </p:txBody>
        </p:sp>
      </p:grp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403" y="3387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5139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 QR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 QR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필요 서비스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986218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세부 스텝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일정 상세 정보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업무 캘린더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캘린더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첨언상세보기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반려사유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발생건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탭으로 표시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찜한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 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001957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676421"/>
              </p:ext>
            </p:extLst>
          </p:nvPr>
        </p:nvGraphicFramePr>
        <p:xfrm>
          <a:off x="635474" y="1413419"/>
          <a:ext cx="8701200" cy="51331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 설정 권한 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 내 파일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표시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일반정보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74545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내역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104385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추가등록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51144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 정보 등록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030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 정보 등록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53315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001885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7989679"/>
              </p:ext>
            </p:extLst>
          </p:nvPr>
        </p:nvGraphicFramePr>
        <p:xfrm>
          <a:off x="635474" y="1413419"/>
          <a:ext cx="8701200" cy="48393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2515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9761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06639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15064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내역 상세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53354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83293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25375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080127"/>
              </p:ext>
            </p:extLst>
          </p:nvPr>
        </p:nvGraphicFramePr>
        <p:xfrm>
          <a:off x="635474" y="1413419"/>
          <a:ext cx="8701200" cy="49113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스탭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347974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6039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 링크 </a:t>
            </a:r>
            <a:r>
              <a:rPr lang="ko-KR" altLang="en-US" sz="800" dirty="0" err="1">
                <a:solidFill>
                  <a:schemeClr val="tx1"/>
                </a:solidFill>
              </a:rPr>
              <a:t>웹뷰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073540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988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일정 상세 정보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41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913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410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삭제</a:t>
            </a:r>
          </a:p>
        </p:txBody>
      </p: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34" idx="1"/>
          </p:cNvCxnSpPr>
          <p:nvPr/>
        </p:nvCxnSpPr>
        <p:spPr>
          <a:xfrm>
            <a:off x="432632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3"/>
            <a:endCxn id="63" idx="1"/>
          </p:cNvCxnSpPr>
          <p:nvPr/>
        </p:nvCxnSpPr>
        <p:spPr>
          <a:xfrm flipV="1">
            <a:off x="4326327" y="2217540"/>
            <a:ext cx="931134" cy="509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3" idx="3"/>
            <a:endCxn id="64" idx="1"/>
          </p:cNvCxnSpPr>
          <p:nvPr/>
        </p:nvCxnSpPr>
        <p:spPr>
          <a:xfrm>
            <a:off x="4321277" y="2672314"/>
            <a:ext cx="936184" cy="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65" idx="1"/>
          </p:cNvCxnSpPr>
          <p:nvPr/>
        </p:nvCxnSpPr>
        <p:spPr>
          <a:xfrm>
            <a:off x="4326327" y="3121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3"/>
            <a:endCxn id="140" idx="1"/>
          </p:cNvCxnSpPr>
          <p:nvPr/>
        </p:nvCxnSpPr>
        <p:spPr>
          <a:xfrm>
            <a:off x="4326327" y="4465003"/>
            <a:ext cx="931134" cy="135503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6" idx="1"/>
          </p:cNvCxnSpPr>
          <p:nvPr/>
        </p:nvCxnSpPr>
        <p:spPr>
          <a:xfrm>
            <a:off x="615746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04" idx="0"/>
          </p:cNvCxnSpPr>
          <p:nvPr/>
        </p:nvCxnSpPr>
        <p:spPr>
          <a:xfrm>
            <a:off x="7988595" y="1772964"/>
            <a:ext cx="488685" cy="170678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04" idx="2"/>
          </p:cNvCxnSpPr>
          <p:nvPr/>
        </p:nvCxnSpPr>
        <p:spPr>
          <a:xfrm>
            <a:off x="6157461" y="2217540"/>
            <a:ext cx="2229819" cy="13522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04" idx="2"/>
          </p:cNvCxnSpPr>
          <p:nvPr/>
        </p:nvCxnSpPr>
        <p:spPr>
          <a:xfrm>
            <a:off x="6157461" y="2672988"/>
            <a:ext cx="2229819" cy="8967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5" idx="3"/>
            <a:endCxn id="104" idx="2"/>
          </p:cNvCxnSpPr>
          <p:nvPr/>
        </p:nvCxnSpPr>
        <p:spPr>
          <a:xfrm>
            <a:off x="6157461" y="3121989"/>
            <a:ext cx="2229819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04" idx="2"/>
          </p:cNvCxnSpPr>
          <p:nvPr/>
        </p:nvCxnSpPr>
        <p:spPr>
          <a:xfrm flipV="1">
            <a:off x="6157461" y="3569748"/>
            <a:ext cx="2229819" cy="2250291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4696574"/>
            <a:ext cx="1112636" cy="1814585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1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88" idx="1"/>
          </p:cNvCxnSpPr>
          <p:nvPr/>
        </p:nvCxnSpPr>
        <p:spPr>
          <a:xfrm>
            <a:off x="4326327" y="3569748"/>
            <a:ext cx="931134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94" idx="1"/>
          </p:cNvCxnSpPr>
          <p:nvPr/>
        </p:nvCxnSpPr>
        <p:spPr>
          <a:xfrm>
            <a:off x="4326327" y="3121989"/>
            <a:ext cx="931134" cy="447759"/>
          </a:xfrm>
          <a:prstGeom prst="bentConnector3">
            <a:avLst>
              <a:gd name="adj1" fmla="val 6636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개인별수신처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관리</a:t>
            </a:r>
          </a:p>
        </p:txBody>
      </p:sp>
      <p:cxnSp>
        <p:nvCxnSpPr>
          <p:cNvPr id="1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98" idx="1"/>
          </p:cNvCxnSpPr>
          <p:nvPr/>
        </p:nvCxnSpPr>
        <p:spPr>
          <a:xfrm>
            <a:off x="4326327" y="3569748"/>
            <a:ext cx="931134" cy="89525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8" idx="3"/>
            <a:endCxn id="104" idx="2"/>
          </p:cNvCxnSpPr>
          <p:nvPr/>
        </p:nvCxnSpPr>
        <p:spPr>
          <a:xfrm flipV="1">
            <a:off x="7988595" y="3569748"/>
            <a:ext cx="398685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8" idx="3"/>
            <a:endCxn id="104" idx="2"/>
          </p:cNvCxnSpPr>
          <p:nvPr/>
        </p:nvCxnSpPr>
        <p:spPr>
          <a:xfrm flipV="1">
            <a:off x="6157461" y="3569748"/>
            <a:ext cx="2229819" cy="895255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첨언상세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 err="1">
                <a:solidFill>
                  <a:schemeClr val="tx1"/>
                </a:solidFill>
              </a:rPr>
              <a:t>반려사유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8" idx="3"/>
            <a:endCxn id="218" idx="1"/>
          </p:cNvCxnSpPr>
          <p:nvPr/>
        </p:nvCxnSpPr>
        <p:spPr>
          <a:xfrm>
            <a:off x="6157461" y="402133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8" name="그룹 227"/>
          <p:cNvGrpSpPr/>
          <p:nvPr/>
        </p:nvGrpSpPr>
        <p:grpSpPr>
          <a:xfrm>
            <a:off x="5656661" y="3262025"/>
            <a:ext cx="101600" cy="167686"/>
            <a:chOff x="5631261" y="4609003"/>
            <a:chExt cx="101600" cy="167686"/>
          </a:xfrm>
        </p:grpSpPr>
        <p:cxnSp>
          <p:nvCxnSpPr>
            <p:cNvPr id="229" name="직선 화살표 연결선 228">
              <a:extLst>
                <a:ext uri="{FF2B5EF4-FFF2-40B4-BE49-F238E27FC236}">
                  <a16:creationId xmlns:a16="http://schemas.microsoft.com/office/drawing/2014/main" id="{9A519F08-B829-E35F-09D8-DFCD1F68B911}"/>
                </a:ext>
              </a:extLst>
            </p:cNvPr>
            <p:cNvCxnSpPr>
              <a:cxnSpLocks/>
            </p:cNvCxnSpPr>
            <p:nvPr/>
          </p:nvCxnSpPr>
          <p:spPr>
            <a:xfrm>
              <a:off x="5631261" y="4609003"/>
              <a:ext cx="0" cy="16768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화살표 연결선 229">
              <a:extLst>
                <a:ext uri="{FF2B5EF4-FFF2-40B4-BE49-F238E27FC236}">
                  <a16:creationId xmlns:a16="http://schemas.microsoft.com/office/drawing/2014/main" id="{9A519F08-B829-E35F-09D8-DFCD1F68B91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2861" y="4609003"/>
              <a:ext cx="0" cy="16768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7461" y="6033380"/>
            <a:ext cx="1205458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외부 브라우저 사용될 수 있음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8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79" idx="1"/>
          </p:cNvCxnSpPr>
          <p:nvPr/>
        </p:nvCxnSpPr>
        <p:spPr>
          <a:xfrm>
            <a:off x="2495193" y="1772964"/>
            <a:ext cx="931134" cy="224837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47974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72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 상세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818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3150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811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308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5287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6025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522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50189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추가정보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목록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군수품무역대리업 신청 및 발급 목록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97" idx="1"/>
          </p:cNvCxnSpPr>
          <p:nvPr/>
        </p:nvCxnSpPr>
        <p:spPr>
          <a:xfrm flipV="1">
            <a:off x="4326327" y="2672314"/>
            <a:ext cx="931134" cy="22535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18" idx="1"/>
          </p:cNvCxnSpPr>
          <p:nvPr/>
        </p:nvCxnSpPr>
        <p:spPr>
          <a:xfrm flipV="1">
            <a:off x="4326327" y="1771268"/>
            <a:ext cx="931134" cy="31545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신규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갱신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</p:txBody>
      </p: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9" idx="3"/>
            <a:endCxn id="141" idx="1"/>
          </p:cNvCxnSpPr>
          <p:nvPr/>
        </p:nvCxnSpPr>
        <p:spPr>
          <a:xfrm>
            <a:off x="6157461" y="44710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추가등록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3" name="직선 화살표 연결선 15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7" idx="3"/>
            <a:endCxn id="107" idx="1"/>
          </p:cNvCxnSpPr>
          <p:nvPr/>
        </p:nvCxnSpPr>
        <p:spPr>
          <a:xfrm>
            <a:off x="6157461" y="26723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1"/>
            <a:ext cx="1112636" cy="3139375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grpSp>
        <p:nvGrpSpPr>
          <p:cNvPr id="15" name="그룹 14"/>
          <p:cNvGrpSpPr/>
          <p:nvPr/>
        </p:nvGrpSpPr>
        <p:grpSpPr>
          <a:xfrm>
            <a:off x="5262416" y="3562674"/>
            <a:ext cx="2226642" cy="603901"/>
            <a:chOff x="7012608" y="2367957"/>
            <a:chExt cx="2226642" cy="603901"/>
          </a:xfrm>
        </p:grpSpPr>
        <p:sp>
          <p:nvSpPr>
            <p:cNvPr id="88" name="사각형: 둥근 모서리 5">
              <a:extLst>
                <a:ext uri="{FF2B5EF4-FFF2-40B4-BE49-F238E27FC236}">
                  <a16:creationId xmlns:a16="http://schemas.microsoft.com/office/drawing/2014/main" id="{410E5459-200D-7630-863C-88E5109259DF}"/>
                </a:ext>
              </a:extLst>
            </p:cNvPr>
            <p:cNvSpPr/>
            <p:nvPr/>
          </p:nvSpPr>
          <p:spPr>
            <a:xfrm>
              <a:off x="7012608" y="2367957"/>
              <a:ext cx="2226642" cy="603901"/>
            </a:xfrm>
            <a:prstGeom prst="roundRect">
              <a:avLst>
                <a:gd name="adj" fmla="val 4682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7074008" y="2439075"/>
              <a:ext cx="1200650" cy="4616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 err="1">
                  <a:solidFill>
                    <a:schemeClr val="tx1"/>
                  </a:solidFill>
                </a:rPr>
                <a:t>품류선택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조합</a:t>
              </a:r>
              <a:r>
                <a:rPr lang="en-US" altLang="ko-KR" sz="600" dirty="0">
                  <a:solidFill>
                    <a:schemeClr val="tx1"/>
                  </a:solidFill>
                </a:rPr>
                <a:t>/</a:t>
              </a:r>
              <a:r>
                <a:rPr lang="ko-KR" altLang="en-US" sz="600" dirty="0">
                  <a:solidFill>
                    <a:schemeClr val="tx1"/>
                  </a:solidFill>
                </a:rPr>
                <a:t>단체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등록대상 품목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품목 조회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행정정보공동이용 </a:t>
              </a:r>
              <a:r>
                <a:rPr lang="ko-KR" altLang="en-US" sz="600" dirty="0" err="1">
                  <a:solidFill>
                    <a:schemeClr val="tx1"/>
                  </a:solidFill>
                </a:rPr>
                <a:t>사전동의서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365671" y="2531408"/>
              <a:ext cx="788677" cy="2769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보안측정인원등록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600" dirty="0">
                  <a:solidFill>
                    <a:schemeClr val="tx1"/>
                  </a:solidFill>
                </a:rPr>
                <a:t>FSC </a:t>
              </a:r>
              <a:r>
                <a:rPr lang="ko-KR" altLang="en-US" sz="600" dirty="0">
                  <a:solidFill>
                    <a:schemeClr val="tx1"/>
                  </a:solidFill>
                </a:rPr>
                <a:t>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주거래은행 선택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2416" y="3438681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등록 개별 팝업</a:t>
            </a: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93" idx="1"/>
          </p:cNvCxnSpPr>
          <p:nvPr/>
        </p:nvCxnSpPr>
        <p:spPr>
          <a:xfrm>
            <a:off x="6157461" y="4471014"/>
            <a:ext cx="931134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7969" y="1917064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599653" y="3377248"/>
            <a:ext cx="815929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 smtClean="0">
                <a:solidFill>
                  <a:schemeClr val="tx1"/>
                </a:solidFill>
              </a:rPr>
              <a:t>담당자 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 smtClean="0">
                <a:solidFill>
                  <a:schemeClr val="tx1"/>
                </a:solidFill>
              </a:rPr>
              <a:t>) </a:t>
            </a:r>
            <a:r>
              <a:rPr lang="ko-KR" altLang="en-US" sz="600" dirty="0" smtClean="0">
                <a:solidFill>
                  <a:schemeClr val="tx1"/>
                </a:solidFill>
              </a:rPr>
              <a:t>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 smtClean="0">
                <a:solidFill>
                  <a:schemeClr val="tx1"/>
                </a:solidFill>
              </a:rPr>
              <a:t>국내소재상사 정보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2511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등록증 발급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358283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9" idx="2"/>
            <a:endCxn id="119" idx="0"/>
          </p:cNvCxnSpPr>
          <p:nvPr/>
        </p:nvCxnSpPr>
        <p:spPr>
          <a:xfrm>
            <a:off x="5707461" y="4615014"/>
            <a:ext cx="0" cy="16914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13" idx="1"/>
          </p:cNvCxnSpPr>
          <p:nvPr/>
        </p:nvCxnSpPr>
        <p:spPr>
          <a:xfrm>
            <a:off x="6157461" y="4471014"/>
            <a:ext cx="931134" cy="9241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15" idx="1"/>
          </p:cNvCxnSpPr>
          <p:nvPr/>
        </p:nvCxnSpPr>
        <p:spPr>
          <a:xfrm>
            <a:off x="7988595" y="4928155"/>
            <a:ext cx="36968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1" idx="3"/>
            <a:endCxn id="115" idx="1"/>
          </p:cNvCxnSpPr>
          <p:nvPr/>
        </p:nvCxnSpPr>
        <p:spPr>
          <a:xfrm>
            <a:off x="7988595" y="4471014"/>
            <a:ext cx="369688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4" idx="6"/>
          </p:cNvCxnSpPr>
          <p:nvPr/>
        </p:nvCxnSpPr>
        <p:spPr>
          <a:xfrm flipH="1" flipV="1">
            <a:off x="8898283" y="3569748"/>
            <a:ext cx="360000" cy="1358407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04" idx="6"/>
          </p:cNvCxnSpPr>
          <p:nvPr/>
        </p:nvCxnSpPr>
        <p:spPr>
          <a:xfrm flipV="1">
            <a:off x="7988595" y="3569748"/>
            <a:ext cx="909688" cy="1825433"/>
          </a:xfrm>
          <a:prstGeom prst="bentConnector3">
            <a:avLst>
              <a:gd name="adj1" fmla="val 1643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5152332"/>
            <a:ext cx="1112636" cy="1307551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8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</a:t>
            </a:r>
          </a:p>
        </p:txBody>
      </p: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4" idx="3"/>
            <a:endCxn id="101" idx="1"/>
          </p:cNvCxnSpPr>
          <p:nvPr/>
        </p:nvCxnSpPr>
        <p:spPr>
          <a:xfrm>
            <a:off x="6157461" y="582208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84" idx="1"/>
          </p:cNvCxnSpPr>
          <p:nvPr/>
        </p:nvCxnSpPr>
        <p:spPr>
          <a:xfrm>
            <a:off x="4326327" y="4925834"/>
            <a:ext cx="931134" cy="89625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3"/>
            <a:endCxn id="104" idx="0"/>
          </p:cNvCxnSpPr>
          <p:nvPr/>
        </p:nvCxnSpPr>
        <p:spPr>
          <a:xfrm>
            <a:off x="6157461" y="1771268"/>
            <a:ext cx="2650822" cy="17084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613049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11" idx="1"/>
          </p:cNvCxnSpPr>
          <p:nvPr/>
        </p:nvCxnSpPr>
        <p:spPr>
          <a:xfrm>
            <a:off x="4326327" y="4925834"/>
            <a:ext cx="931134" cy="13486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04" idx="6"/>
          </p:cNvCxnSpPr>
          <p:nvPr/>
        </p:nvCxnSpPr>
        <p:spPr>
          <a:xfrm flipV="1">
            <a:off x="7988595" y="3569748"/>
            <a:ext cx="909688" cy="2252337"/>
          </a:xfrm>
          <a:prstGeom prst="bentConnector3">
            <a:avLst>
              <a:gd name="adj1" fmla="val 16533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1" idx="3"/>
            <a:endCxn id="104" idx="6"/>
          </p:cNvCxnSpPr>
          <p:nvPr/>
        </p:nvCxnSpPr>
        <p:spPr>
          <a:xfrm flipV="1">
            <a:off x="6157461" y="3569748"/>
            <a:ext cx="2740822" cy="2704751"/>
          </a:xfrm>
          <a:prstGeom prst="bentConnector3">
            <a:avLst>
              <a:gd name="adj1" fmla="val 12168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3"/>
            <a:endCxn id="104" idx="0"/>
          </p:cNvCxnSpPr>
          <p:nvPr/>
        </p:nvCxnSpPr>
        <p:spPr>
          <a:xfrm>
            <a:off x="7988595" y="2672314"/>
            <a:ext cx="819688" cy="80743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9" idx="2"/>
            <a:endCxn id="88" idx="0"/>
          </p:cNvCxnSpPr>
          <p:nvPr/>
        </p:nvCxnSpPr>
        <p:spPr>
          <a:xfrm rot="5400000">
            <a:off x="6808824" y="2832902"/>
            <a:ext cx="296685" cy="11628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8" idx="3"/>
            <a:endCxn id="104" idx="2"/>
          </p:cNvCxnSpPr>
          <p:nvPr/>
        </p:nvCxnSpPr>
        <p:spPr>
          <a:xfrm flipV="1">
            <a:off x="7489058" y="3569748"/>
            <a:ext cx="1229225" cy="294877"/>
          </a:xfrm>
          <a:prstGeom prst="bentConnector3">
            <a:avLst>
              <a:gd name="adj1" fmla="val 7621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49" idx="1"/>
          </p:cNvCxnSpPr>
          <p:nvPr/>
        </p:nvCxnSpPr>
        <p:spPr>
          <a:xfrm flipV="1">
            <a:off x="4326327" y="3121989"/>
            <a:ext cx="2762268" cy="1803845"/>
          </a:xfrm>
          <a:prstGeom prst="bentConnector3">
            <a:avLst>
              <a:gd name="adj1" fmla="val 1689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99" idx="1"/>
          </p:cNvCxnSpPr>
          <p:nvPr/>
        </p:nvCxnSpPr>
        <p:spPr>
          <a:xfrm flipV="1">
            <a:off x="4326327" y="4471014"/>
            <a:ext cx="931134" cy="4548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21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152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649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1460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6427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39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862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3596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8563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35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849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 사용자 관리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1"/>
            <a:ext cx="1112636" cy="355328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2" idx="1"/>
          </p:cNvCxnSpPr>
          <p:nvPr/>
        </p:nvCxnSpPr>
        <p:spPr>
          <a:xfrm rot="5400000">
            <a:off x="4660132" y="3417552"/>
            <a:ext cx="1644659" cy="450000"/>
          </a:xfrm>
          <a:prstGeom prst="bentConnector4">
            <a:avLst>
              <a:gd name="adj1" fmla="val 4978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5603955"/>
            <a:ext cx="1112636" cy="85592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5934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25349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4259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7" idx="3"/>
            <a:endCxn id="108" idx="1"/>
          </p:cNvCxnSpPr>
          <p:nvPr/>
        </p:nvCxnSpPr>
        <p:spPr>
          <a:xfrm>
            <a:off x="6157461" y="3116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66" idx="1"/>
          </p:cNvCxnSpPr>
          <p:nvPr/>
        </p:nvCxnSpPr>
        <p:spPr>
          <a:xfrm flipV="1">
            <a:off x="4326327" y="2676223"/>
            <a:ext cx="931134" cy="26823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7" idx="1"/>
          </p:cNvCxnSpPr>
          <p:nvPr/>
        </p:nvCxnSpPr>
        <p:spPr>
          <a:xfrm rot="5400000">
            <a:off x="5334078" y="2743606"/>
            <a:ext cx="296766" cy="450000"/>
          </a:xfrm>
          <a:prstGeom prst="bentConnector4">
            <a:avLst>
              <a:gd name="adj1" fmla="val 25738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13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개인신원확인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62" idx="1"/>
          </p:cNvCxnSpPr>
          <p:nvPr/>
        </p:nvCxnSpPr>
        <p:spPr>
          <a:xfrm rot="5400000">
            <a:off x="4884898" y="3192786"/>
            <a:ext cx="1195126" cy="450000"/>
          </a:xfrm>
          <a:prstGeom prst="bentConnector4">
            <a:avLst>
              <a:gd name="adj1" fmla="val 6769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322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</a:rPr>
              <a:t>) </a:t>
            </a:r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인증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0" idx="1"/>
          </p:cNvCxnSpPr>
          <p:nvPr/>
        </p:nvCxnSpPr>
        <p:spPr>
          <a:xfrm rot="5400000">
            <a:off x="5107611" y="2970073"/>
            <a:ext cx="749700" cy="450000"/>
          </a:xfrm>
          <a:prstGeom prst="bentConnector4">
            <a:avLst>
              <a:gd name="adj1" fmla="val 10114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75" idx="2"/>
          </p:cNvCxnSpPr>
          <p:nvPr/>
        </p:nvCxnSpPr>
        <p:spPr>
          <a:xfrm>
            <a:off x="7988595" y="3116989"/>
            <a:ext cx="729688" cy="8983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75" idx="2"/>
          </p:cNvCxnSpPr>
          <p:nvPr/>
        </p:nvCxnSpPr>
        <p:spPr>
          <a:xfrm>
            <a:off x="6157461" y="3569923"/>
            <a:ext cx="2560822" cy="445426"/>
          </a:xfrm>
          <a:prstGeom prst="bentConnector3">
            <a:avLst>
              <a:gd name="adj1" fmla="val 857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75" idx="2"/>
          </p:cNvCxnSpPr>
          <p:nvPr/>
        </p:nvCxnSpPr>
        <p:spPr>
          <a:xfrm flipV="1">
            <a:off x="7988595" y="4015349"/>
            <a:ext cx="729688" cy="4495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</a:t>
            </a:r>
            <a:r>
              <a:rPr lang="ko-KR" altLang="en-US" sz="800" dirty="0" err="1">
                <a:solidFill>
                  <a:schemeClr val="tx1"/>
                </a:solidFill>
              </a:rPr>
              <a:t>상태변경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2" idx="3"/>
            <a:endCxn id="99" idx="1"/>
          </p:cNvCxnSpPr>
          <p:nvPr/>
        </p:nvCxnSpPr>
        <p:spPr>
          <a:xfrm>
            <a:off x="6157461" y="446488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175" idx="2"/>
          </p:cNvCxnSpPr>
          <p:nvPr/>
        </p:nvCxnSpPr>
        <p:spPr>
          <a:xfrm>
            <a:off x="6157461" y="4015349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4192141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대표자만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6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8" idx="1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47377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(4/4)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42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09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6977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4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917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4145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9113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408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904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0"/>
            <a:ext cx="1112636" cy="402898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4673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35890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8" idx="3"/>
            <a:endCxn id="66" idx="1"/>
          </p:cNvCxnSpPr>
          <p:nvPr/>
        </p:nvCxnSpPr>
        <p:spPr>
          <a:xfrm flipV="1">
            <a:off x="4326327" y="4025890"/>
            <a:ext cx="931134" cy="178788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내 파일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818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설정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권한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8" idx="3"/>
            <a:endCxn id="137" idx="1"/>
          </p:cNvCxnSpPr>
          <p:nvPr/>
        </p:nvCxnSpPr>
        <p:spPr>
          <a:xfrm flipV="1">
            <a:off x="4326327" y="4464746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6" idx="3"/>
            <a:endCxn id="175" idx="2"/>
          </p:cNvCxnSpPr>
          <p:nvPr/>
        </p:nvCxnSpPr>
        <p:spPr>
          <a:xfrm>
            <a:off x="6157461" y="4025890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7" idx="3"/>
            <a:endCxn id="175" idx="2"/>
          </p:cNvCxnSpPr>
          <p:nvPr/>
        </p:nvCxnSpPr>
        <p:spPr>
          <a:xfrm flipV="1">
            <a:off x="6157461" y="4025890"/>
            <a:ext cx="2560822" cy="438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75" idx="2"/>
          </p:cNvCxnSpPr>
          <p:nvPr/>
        </p:nvCxnSpPr>
        <p:spPr>
          <a:xfrm flipV="1">
            <a:off x="4326327" y="4025890"/>
            <a:ext cx="4391956" cy="22375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3760565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대표자만 관리 표시</a:t>
            </a:r>
          </a:p>
        </p:txBody>
      </p: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38741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46" idx="1"/>
          </p:cNvCxnSpPr>
          <p:nvPr/>
        </p:nvCxnSpPr>
        <p:spPr>
          <a:xfrm>
            <a:off x="2490143" y="1769731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941833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MyPagePage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 스텝 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일정 상세 정보 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(1/3) 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 내 파일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 설정 권한 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6302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lnSpcReduction="10000"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7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디지털캐비닛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74183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87663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lnSpcReduction="10000"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7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5561658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7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업체정보 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업체정보 </a:t>
            </a:r>
            <a:r>
              <a:rPr lang="ko-KR" altLang="en-US" sz="800" dirty="0" err="1">
                <a:solidFill>
                  <a:schemeClr val="tx1"/>
                </a:solidFill>
              </a:rPr>
              <a:t>추가등록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품류선택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단체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등록대상 품목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품목 조회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(2/3) 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FSC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주거래은행 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행정정보공동이용 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사전동의서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등록증 발급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 확인서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군수품무역대리업 신청 및 발급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 확인서 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4" idx="0"/>
            <a:endCxn id="9" idx="2"/>
          </p:cNvCxnSpPr>
          <p:nvPr/>
        </p:nvCxnSpPr>
        <p:spPr>
          <a:xfrm flipV="1">
            <a:off x="3855704" y="3810190"/>
            <a:ext cx="967987" cy="602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41251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추가정보신청조회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 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비밀번호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 소속 사용자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(3/3) 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PrcmBzentyUserSttsChg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462173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임시저장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5662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5841212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008979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정보관리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391223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정보관리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2771499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156791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35454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회원탈퇴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91" name="그룹 90"/>
          <p:cNvGrpSpPr/>
          <p:nvPr/>
        </p:nvGrpSpPr>
        <p:grpSpPr>
          <a:xfrm>
            <a:off x="3792447" y="3188066"/>
            <a:ext cx="2712027" cy="1276847"/>
            <a:chOff x="675399" y="1921801"/>
            <a:chExt cx="2712027" cy="127684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업무구분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6" name="그룹 95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04" name="직선 연결선 1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5" name="직선 연결선 1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직사각형 96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772169" y="2921384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198648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6" name="그룹 105"/>
          <p:cNvGrpSpPr/>
          <p:nvPr/>
        </p:nvGrpSpPr>
        <p:grpSpPr>
          <a:xfrm>
            <a:off x="3792447" y="4523448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/>
          <p:cNvGrpSpPr/>
          <p:nvPr/>
        </p:nvGrpSpPr>
        <p:grpSpPr>
          <a:xfrm>
            <a:off x="3917509" y="1977748"/>
            <a:ext cx="2468249" cy="1105599"/>
            <a:chOff x="3898850" y="4660546"/>
            <a:chExt cx="2468249" cy="1105599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진행 단계 구분</a:t>
              </a: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적격심사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기술평가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사양서평가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8" name="직사각형 147"/>
          <p:cNvSpPr/>
          <p:nvPr/>
        </p:nvSpPr>
        <p:spPr>
          <a:xfrm>
            <a:off x="3890269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직사각형 148"/>
          <p:cNvSpPr/>
          <p:nvPr/>
        </p:nvSpPr>
        <p:spPr>
          <a:xfrm>
            <a:off x="3890269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/>
          <p:cNvSpPr/>
          <p:nvPr/>
        </p:nvSpPr>
        <p:spPr>
          <a:xfrm>
            <a:off x="3890269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/>
          <p:cNvSpPr/>
          <p:nvPr/>
        </p:nvSpPr>
        <p:spPr>
          <a:xfrm>
            <a:off x="3890202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/>
          <p:cNvSpPr txBox="1"/>
          <p:nvPr/>
        </p:nvSpPr>
        <p:spPr>
          <a:xfrm>
            <a:off x="3830871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0" name="그룹 10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91" name="그룹 90"/>
          <p:cNvGrpSpPr/>
          <p:nvPr/>
        </p:nvGrpSpPr>
        <p:grpSpPr>
          <a:xfrm>
            <a:off x="3792447" y="3188066"/>
            <a:ext cx="2712027" cy="1276847"/>
            <a:chOff x="675399" y="1921801"/>
            <a:chExt cx="2712027" cy="127684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업무구분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6" name="그룹 95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04" name="직선 연결선 1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5" name="직선 연결선 1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직사각형 96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772169" y="2921384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198648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6" name="그룹 105"/>
          <p:cNvGrpSpPr/>
          <p:nvPr/>
        </p:nvGrpSpPr>
        <p:grpSpPr>
          <a:xfrm>
            <a:off x="3792447" y="4523448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/>
          <p:cNvGrpSpPr/>
          <p:nvPr/>
        </p:nvGrpSpPr>
        <p:grpSpPr>
          <a:xfrm>
            <a:off x="3917509" y="1977748"/>
            <a:ext cx="2468249" cy="1105599"/>
            <a:chOff x="3898850" y="4660546"/>
            <a:chExt cx="2468249" cy="1105599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진행 구분</a:t>
              </a: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입찰서제출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공개수의협상</a:t>
              </a:r>
            </a:p>
          </p:txBody>
        </p:sp>
      </p:grpSp>
      <p:sp>
        <p:nvSpPr>
          <p:cNvPr id="148" name="직사각형 147"/>
          <p:cNvSpPr/>
          <p:nvPr/>
        </p:nvSpPr>
        <p:spPr>
          <a:xfrm>
            <a:off x="3890269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직사각형 148"/>
          <p:cNvSpPr/>
          <p:nvPr/>
        </p:nvSpPr>
        <p:spPr>
          <a:xfrm>
            <a:off x="3890269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/>
          <p:cNvSpPr/>
          <p:nvPr/>
        </p:nvSpPr>
        <p:spPr>
          <a:xfrm>
            <a:off x="3890269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/>
          <p:cNvSpPr/>
          <p:nvPr/>
        </p:nvSpPr>
        <p:spPr>
          <a:xfrm>
            <a:off x="3890202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/>
          <p:cNvSpPr txBox="1"/>
          <p:nvPr/>
        </p:nvSpPr>
        <p:spPr>
          <a:xfrm>
            <a:off x="3830871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3</a:t>
            </a:r>
            <a:r>
              <a:rPr lang="ko-KR" altLang="en-US" dirty="0"/>
              <a:t>번 항목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</a:t>
            </a:r>
            <a:r>
              <a:rPr lang="ko-KR" altLang="en-US" dirty="0"/>
              <a:t> 해제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다음부터 묻지 않기를 통해 앱 </a:t>
            </a:r>
            <a:r>
              <a:rPr lang="ko-KR" altLang="en-US" dirty="0" err="1"/>
              <a:t>스토리지에</a:t>
            </a:r>
            <a:r>
              <a:rPr lang="ko-KR" altLang="en-US" dirty="0"/>
              <a:t> 내역 저장하고</a:t>
            </a:r>
            <a:r>
              <a:rPr lang="en-US" altLang="ko-KR" dirty="0"/>
              <a:t>, </a:t>
            </a:r>
            <a:r>
              <a:rPr lang="ko-KR" altLang="en-US" dirty="0"/>
              <a:t>클릭 이후 즉시 </a:t>
            </a:r>
            <a:r>
              <a:rPr lang="ko-KR" altLang="en-US" dirty="0" err="1"/>
              <a:t>즐겨찾기</a:t>
            </a:r>
            <a:r>
              <a:rPr lang="ko-KR" altLang="en-US" dirty="0"/>
              <a:t> 해제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관심공고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스케줄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등록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삭제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있는 경우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806173"/>
            <a:chOff x="781461" y="2610063"/>
            <a:chExt cx="2473257" cy="806173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3245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4" name="그룹 73"/>
          <p:cNvGrpSpPr/>
          <p:nvPr/>
        </p:nvGrpSpPr>
        <p:grpSpPr>
          <a:xfrm>
            <a:off x="781461" y="3436694"/>
            <a:ext cx="2473257" cy="821562"/>
            <a:chOff x="781461" y="2610063"/>
            <a:chExt cx="2473257" cy="821562"/>
          </a:xfrm>
        </p:grpSpPr>
        <p:sp>
          <p:nvSpPr>
            <p:cNvPr id="7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수신처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송신일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확인일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보낸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4" name="모서리가 둥근 직사각형 83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564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6" name="그룹 85"/>
          <p:cNvGrpSpPr/>
          <p:nvPr/>
        </p:nvGrpSpPr>
        <p:grpSpPr>
          <a:xfrm>
            <a:off x="781461" y="4493250"/>
            <a:ext cx="2473257" cy="532810"/>
            <a:chOff x="781461" y="2610063"/>
            <a:chExt cx="2473257" cy="532810"/>
          </a:xfrm>
        </p:grpSpPr>
        <p:sp>
          <p:nvSpPr>
            <p:cNvPr id="8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2199"/>
              <a:ext cx="230832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8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006810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</p:txBody>
        </p:sp>
        <p:sp>
          <p:nvSpPr>
            <p:cNvPr id="90" name="모서리가 둥근 직사각형 8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임시저장</a:t>
              </a:r>
              <a:endParaRPr lang="ko-KR" altLang="en-US" sz="600" dirty="0"/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4081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103" name="그룹 102"/>
          <p:cNvGrpSpPr/>
          <p:nvPr/>
        </p:nvGrpSpPr>
        <p:grpSpPr>
          <a:xfrm>
            <a:off x="3896624" y="1979532"/>
            <a:ext cx="2473258" cy="806173"/>
            <a:chOff x="781460" y="2610063"/>
            <a:chExt cx="2473258" cy="806173"/>
          </a:xfrm>
        </p:grpSpPr>
        <p:sp>
          <p:nvSpPr>
            <p:cNvPr id="10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781460" y="2610063"/>
              <a:ext cx="575363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반려받은</a:t>
              </a:r>
              <a:r>
                <a:rPr lang="ko-KR" altLang="en-US" sz="600" dirty="0"/>
                <a:t> 문서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2908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/>
          <p:cNvGrpSpPr/>
          <p:nvPr/>
        </p:nvGrpSpPr>
        <p:grpSpPr>
          <a:xfrm>
            <a:off x="3896625" y="3020581"/>
            <a:ext cx="2473257" cy="821562"/>
            <a:chOff x="781461" y="2610063"/>
            <a:chExt cx="2473257" cy="821562"/>
          </a:xfrm>
        </p:grpSpPr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781461" y="2610063"/>
              <a:ext cx="51345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반려한 문서</a:t>
              </a:r>
            </a:p>
          </p:txBody>
        </p:sp>
      </p:grp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39495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err="1"/>
              <a:t>있는경우</a:t>
            </a:r>
            <a:r>
              <a:rPr lang="ko-KR" altLang="en-US" dirty="0"/>
              <a:t>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초기값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문서구분</a:t>
            </a:r>
            <a:r>
              <a:rPr lang="en-US" altLang="ko-KR" dirty="0"/>
              <a:t>: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 여부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기간</a:t>
            </a:r>
            <a:r>
              <a:rPr lang="en-US" altLang="ko-KR" dirty="0"/>
              <a:t>: 1</a:t>
            </a:r>
            <a:r>
              <a:rPr lang="ko-KR" altLang="en-US" dirty="0"/>
              <a:t>개월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672112" y="3614651"/>
            <a:ext cx="2712027" cy="1085258"/>
            <a:chOff x="675399" y="1921801"/>
            <a:chExt cx="2712027" cy="1085258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첨언</a:t>
              </a:r>
              <a:r>
                <a:rPr lang="en-US" altLang="ko-KR" sz="700" b="1" dirty="0">
                  <a:latin typeface="+mn-ea"/>
                </a:rPr>
                <a:t>, </a:t>
              </a:r>
              <a:r>
                <a:rPr lang="ko-KR" altLang="en-US" sz="700" b="1" dirty="0">
                  <a:latin typeface="+mn-ea"/>
                </a:rPr>
                <a:t>첨부 여부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직사각형 111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23" name="직선 연결선 1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9" name="직선 연결선 1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6" name="직사각형 115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00705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672112" y="4775939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0" name="그룹 149"/>
          <p:cNvGrpSpPr/>
          <p:nvPr/>
        </p:nvGrpSpPr>
        <p:grpSpPr>
          <a:xfrm>
            <a:off x="797174" y="1977748"/>
            <a:ext cx="2468249" cy="1536487"/>
            <a:chOff x="3898850" y="4660546"/>
            <a:chExt cx="2468249" cy="1536487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문서 구분</a:t>
              </a:r>
            </a:p>
          </p:txBody>
        </p:sp>
        <p:grpSp>
          <p:nvGrpSpPr>
            <p:cNvPr id="152" name="그룹 151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보낸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반려한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임시 저장</a:t>
              </a:r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69934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/>
          <p:cNvSpPr/>
          <p:nvPr/>
        </p:nvSpPr>
        <p:spPr>
          <a:xfrm>
            <a:off x="769934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/>
          <p:cNvSpPr/>
          <p:nvPr/>
        </p:nvSpPr>
        <p:spPr>
          <a:xfrm>
            <a:off x="769934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/>
          <p:cNvSpPr/>
          <p:nvPr/>
        </p:nvSpPr>
        <p:spPr>
          <a:xfrm>
            <a:off x="769867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/>
          <p:cNvSpPr txBox="1"/>
          <p:nvPr/>
        </p:nvSpPr>
        <p:spPr>
          <a:xfrm>
            <a:off x="710536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1" name="직사각형 160"/>
          <p:cNvSpPr/>
          <p:nvPr/>
        </p:nvSpPr>
        <p:spPr>
          <a:xfrm>
            <a:off x="769934" y="3144406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69934" y="33590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3209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이슈가 발생하는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17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80" name="모서리가 둥근 직사각형 179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228979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첨언 상세 내용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58764" y="3188926"/>
            <a:ext cx="65201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113316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6" name="모서리가 둥근 직사각형 85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첨부파일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25704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" name="그룹 7"/>
          <p:cNvGrpSpPr/>
          <p:nvPr/>
        </p:nvGrpSpPr>
        <p:grpSpPr>
          <a:xfrm>
            <a:off x="3795734" y="2600243"/>
            <a:ext cx="2712027" cy="1351549"/>
            <a:chOff x="675399" y="1880640"/>
            <a:chExt cx="2712027" cy="1351549"/>
          </a:xfrm>
        </p:grpSpPr>
        <p:grpSp>
          <p:nvGrpSpPr>
            <p:cNvPr id="94" name="그룹 93"/>
            <p:cNvGrpSpPr/>
            <p:nvPr/>
          </p:nvGrpSpPr>
          <p:grpSpPr>
            <a:xfrm>
              <a:off x="705041" y="1880640"/>
              <a:ext cx="2652743" cy="906290"/>
              <a:chOff x="675929" y="1954020"/>
              <a:chExt cx="2652743" cy="906290"/>
            </a:xfrm>
          </p:grpSpPr>
          <p:sp>
            <p:nvSpPr>
              <p:cNvPr id="95" name="모서리가 둥근 직사각형 94"/>
              <p:cNvSpPr/>
              <p:nvPr/>
            </p:nvSpPr>
            <p:spPr>
              <a:xfrm>
                <a:off x="675929" y="2089138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163659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217520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1</a:t>
                </a:r>
              </a:p>
            </p:txBody>
          </p:sp>
          <p:sp>
            <p:nvSpPr>
              <p:cNvPr id="98" name="타원 97"/>
              <p:cNvSpPr/>
              <p:nvPr/>
            </p:nvSpPr>
            <p:spPr>
              <a:xfrm>
                <a:off x="3063926" y="2199381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모서리가 둥근 직사각형 98"/>
              <p:cNvSpPr/>
              <p:nvPr/>
            </p:nvSpPr>
            <p:spPr>
              <a:xfrm>
                <a:off x="675929" y="2495824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570345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624206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2</a:t>
                </a:r>
              </a:p>
            </p:txBody>
          </p:sp>
          <p:sp>
            <p:nvSpPr>
              <p:cNvPr id="103" name="타원 102"/>
              <p:cNvSpPr/>
              <p:nvPr/>
            </p:nvSpPr>
            <p:spPr>
              <a:xfrm>
                <a:off x="3063926" y="2606067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1954020"/>
                <a:ext cx="47434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6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73442" y="1954020"/>
                <a:ext cx="32496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다운로드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1074" y="195402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번호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1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321897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UI-CM-06-P08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UI-CM-06-P09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321898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UI-CM-06-P08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UI-CM-06-P09</a:t>
                      </a: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가능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0927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658504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213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942258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71811"/>
              </p:ext>
            </p:extLst>
          </p:nvPr>
        </p:nvGraphicFramePr>
        <p:xfrm>
          <a:off x="453000" y="3567814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해제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노출 메시지는 아래로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err="1"/>
              <a:t>즐겨찾기를</a:t>
            </a:r>
            <a:r>
              <a:rPr lang="ko-KR" altLang="en-US" dirty="0"/>
              <a:t> 해제하면</a:t>
            </a:r>
            <a:r>
              <a:rPr lang="en-US" altLang="ko-KR" dirty="0"/>
              <a:t>, </a:t>
            </a:r>
            <a:r>
              <a:rPr lang="ko-KR" altLang="en-US" dirty="0"/>
              <a:t>그 즉시 목록에서 사라집니다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정말 </a:t>
            </a:r>
            <a:r>
              <a:rPr lang="ko-KR" altLang="en-US" dirty="0" err="1"/>
              <a:t>즐겨찾기를</a:t>
            </a:r>
            <a:r>
              <a:rPr lang="ko-KR" altLang="en-US" dirty="0"/>
              <a:t> 해제할까요</a:t>
            </a:r>
            <a:r>
              <a:rPr lang="en-US" altLang="ko-KR" dirty="0"/>
              <a:t>?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다시 묻지 않기 설정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다시 묻지 않기 설정된 경우 바로 해제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28591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4075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97118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842932"/>
              </p:ext>
            </p:extLst>
          </p:nvPr>
        </p:nvGraphicFramePr>
        <p:xfrm>
          <a:off x="453000" y="446547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위치정보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권한 관리는 업체 대표자에게만 표시됨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설정 권한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내 파일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조달원 확인서 신청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585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조달원등록증 신청안내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8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수의계약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/>
              <a:t>개월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20490" y="2564359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0" name="그룹 119"/>
          <p:cNvGrpSpPr/>
          <p:nvPr/>
        </p:nvGrpSpPr>
        <p:grpSpPr>
          <a:xfrm>
            <a:off x="3795734" y="1496869"/>
            <a:ext cx="2717198" cy="1014120"/>
            <a:chOff x="3892639" y="1846937"/>
            <a:chExt cx="2717198" cy="1014120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93773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모서리가 둥근 직사각형 129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31" name="모서리가 둥근 직사각형 130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32" name="모서리가 둥근 직사각형 131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13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3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37" name="모서리가 둥근 직사각형 136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38" name="모서리가 둥근 직사각형 137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43" name="그룹 142"/>
          <p:cNvGrpSpPr/>
          <p:nvPr/>
        </p:nvGrpSpPr>
        <p:grpSpPr>
          <a:xfrm>
            <a:off x="675399" y="1496869"/>
            <a:ext cx="2717198" cy="1014120"/>
            <a:chOff x="3892639" y="1846937"/>
            <a:chExt cx="2717198" cy="1014120"/>
          </a:xfrm>
        </p:grpSpPr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93773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모서리가 둥근 직사각형 151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16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65" name="모서리가 둥근 직사각형 164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3828452" y="2559544"/>
            <a:ext cx="2630093" cy="1384703"/>
            <a:chOff x="720490" y="2967388"/>
            <a:chExt cx="2630093" cy="1384703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106711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대표자영문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890123-1******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851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4222259"/>
            <a:ext cx="2630093" cy="1169259"/>
            <a:chOff x="720490" y="2967388"/>
            <a:chExt cx="2630093" cy="1169259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890123-1******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7" name="직선 연결선 2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212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81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24095" y="2606794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/>
        </p:nvGraphicFramePr>
        <p:xfrm>
          <a:off x="425692" y="5031719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278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조달확인서</a:t>
            </a:r>
            <a:r>
              <a:rPr lang="ko-KR" altLang="en-US" dirty="0"/>
              <a:t> 신청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240" y="58712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0563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물품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내자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4510094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2567841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76205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4572062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096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442789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269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93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5070191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5132010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5136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조달원확인서 신청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5734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118961" y="2861057"/>
              <a:ext cx="1857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2567841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22207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4118122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5571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5018483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693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2861057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923520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557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5734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443363" y="2861057"/>
              <a:ext cx="57952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3580837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2861057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3261658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2585092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3222207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0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191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국외조달원등록증 신청 안내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675399" y="1493927"/>
            <a:ext cx="2717198" cy="1014120"/>
            <a:chOff x="3892639" y="1846937"/>
            <a:chExt cx="2717198" cy="1014120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443363" y="2861057"/>
              <a:ext cx="57952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모서리가 둥근 직사각형 133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35" name="모서리가 둥근 직사각형 134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36" name="모서리가 둥근 직사각형 135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국내소재상사</a:t>
              </a:r>
            </a:p>
          </p:txBody>
        </p:sp>
        <p:sp>
          <p:nvSpPr>
            <p:cNvPr id="14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43" name="모서리가 둥근 직사각형 142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716366" y="2585092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8378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914362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976180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98091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13178" y="4510925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chemeClr val="bg1"/>
                </a:solidFill>
              </a:rPr>
              <a:t>국외조달원등록증 신청 안내</a:t>
            </a: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519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조달원 확인서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닫기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1471775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82491510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384704"/>
            <a:chOff x="720490" y="4465173"/>
            <a:chExt cx="2630093" cy="1384704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기관명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5195846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7883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되돌림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검색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팝업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프로세스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삭제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449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44783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527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71021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067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56429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791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50335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50335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52989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법인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52989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개인</a:t>
            </a: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2618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359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622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795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52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892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02762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30161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1596718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1710049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19042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034134"/>
            <a:ext cx="2630093" cy="1607134"/>
            <a:chOff x="3836700" y="3066437"/>
            <a:chExt cx="2630093" cy="1607134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48484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166009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297" y="61640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232" y="582104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8100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캐비닛 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호출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첨부파일 명 입력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업로드 파일 삭제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862197"/>
            <a:chOff x="3836700" y="3380909"/>
            <a:chExt cx="2630093" cy="862197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431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30706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3082988"/>
            <a:ext cx="134873" cy="137278"/>
          </a:xfrm>
          <a:prstGeom prst="rect">
            <a:avLst/>
          </a:prstGeom>
        </p:spPr>
      </p:pic>
      <p:sp>
        <p:nvSpPr>
          <p:cNvPr id="14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32184" y="265223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주민번호 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89160" y="267112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1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0367" y="265223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생년월일 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6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8699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928192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132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주민등록번호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로드가 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/>
              <a:t>로드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468167"/>
            <a:chOff x="716366" y="3768757"/>
            <a:chExt cx="2630093" cy="24681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2154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반려사유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사유가 있는 경우 내역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2369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292662"/>
            <a:chOff x="3836700" y="3380909"/>
            <a:chExt cx="2630093" cy="1292662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531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7718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292662"/>
            <a:chOff x="3836700" y="3380909"/>
            <a:chExt cx="2630093" cy="1292662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531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2318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진입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목록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194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39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진입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팝업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600795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3297721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459550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대상 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196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/>
              <a:t>바로가기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4745273"/>
              </p:ext>
            </p:extLst>
          </p:nvPr>
        </p:nvGraphicFramePr>
        <p:xfrm>
          <a:off x="635474" y="1413419"/>
          <a:ext cx="8701200" cy="4667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자료실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상세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자료실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제출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43140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PrfmncPrdoc_srchCtrt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발급할 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PrfmncPrdoc_srchCtrt.tsx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목록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91585" y="152904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상세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403476" y="1938391"/>
            <a:ext cx="410369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자료실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확인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19879" y="303886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48876" y="284820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신청</a:t>
            </a:r>
          </a:p>
        </p:txBody>
      </p: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1" idx="1"/>
          </p:cNvCxnSpPr>
          <p:nvPr/>
        </p:nvCxnSpPr>
        <p:spPr>
          <a:xfrm>
            <a:off x="3266608" y="2938208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2115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자주묻는</a:t>
            </a:r>
            <a:r>
              <a:rPr lang="ko-KR" altLang="en-US" sz="800" dirty="0">
                <a:solidFill>
                  <a:schemeClr val="tx1"/>
                </a:solidFill>
              </a:rPr>
              <a:t> 질문 목록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민원서류 발급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 목록</a:t>
            </a: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신청절자</a:t>
            </a:r>
            <a:r>
              <a:rPr lang="ko-KR" altLang="en-US" sz="800" dirty="0">
                <a:solidFill>
                  <a:schemeClr val="tx1"/>
                </a:solidFill>
              </a:rPr>
              <a:t> 및 안내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8" idx="1"/>
          </p:cNvCxnSpPr>
          <p:nvPr/>
        </p:nvCxnSpPr>
        <p:spPr>
          <a:xfrm>
            <a:off x="3266608" y="2938208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57" idx="1"/>
          </p:cNvCxnSpPr>
          <p:nvPr/>
        </p:nvCxnSpPr>
        <p:spPr>
          <a:xfrm>
            <a:off x="1435474" y="177296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60" idx="1"/>
          </p:cNvCxnSpPr>
          <p:nvPr/>
        </p:nvCxnSpPr>
        <p:spPr>
          <a:xfrm>
            <a:off x="1435474" y="1772964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7073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목록</a:t>
            </a: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75" idx="1"/>
          </p:cNvCxnSpPr>
          <p:nvPr/>
        </p:nvCxnSpPr>
        <p:spPr>
          <a:xfrm>
            <a:off x="1435474" y="1772964"/>
            <a:ext cx="931134" cy="40783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731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상세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외부링크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80" idx="1"/>
          </p:cNvCxnSpPr>
          <p:nvPr/>
        </p:nvCxnSpPr>
        <p:spPr>
          <a:xfrm>
            <a:off x="3266608" y="58513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0" idx="3"/>
            <a:endCxn id="62" idx="1"/>
          </p:cNvCxnSpPr>
          <p:nvPr/>
        </p:nvCxnSpPr>
        <p:spPr>
          <a:xfrm>
            <a:off x="3266608" y="293820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목록</a:t>
            </a:r>
          </a:p>
        </p:txBody>
      </p: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3" idx="1"/>
          </p:cNvCxnSpPr>
          <p:nvPr/>
        </p:nvCxnSpPr>
        <p:spPr>
          <a:xfrm>
            <a:off x="1435474" y="1772964"/>
            <a:ext cx="931134" cy="29131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51" idx="1"/>
          </p:cNvCxnSpPr>
          <p:nvPr/>
        </p:nvCxnSpPr>
        <p:spPr>
          <a:xfrm>
            <a:off x="3266608" y="468607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2" idx="3"/>
            <a:endCxn id="104" idx="2"/>
          </p:cNvCxnSpPr>
          <p:nvPr/>
        </p:nvCxnSpPr>
        <p:spPr>
          <a:xfrm>
            <a:off x="5097742" y="2938208"/>
            <a:ext cx="255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04" idx="2"/>
          </p:cNvCxnSpPr>
          <p:nvPr/>
        </p:nvCxnSpPr>
        <p:spPr>
          <a:xfrm>
            <a:off x="5097742" y="1772964"/>
            <a:ext cx="2551134" cy="1165244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04" idx="2"/>
          </p:cNvCxnSpPr>
          <p:nvPr/>
        </p:nvCxnSpPr>
        <p:spPr>
          <a:xfrm>
            <a:off x="3266608" y="2355586"/>
            <a:ext cx="4382268" cy="582622"/>
          </a:xfrm>
          <a:prstGeom prst="bentConnector3">
            <a:avLst>
              <a:gd name="adj1" fmla="val 9193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7" idx="3"/>
            <a:endCxn id="104" idx="2"/>
          </p:cNvCxnSpPr>
          <p:nvPr/>
        </p:nvCxnSpPr>
        <p:spPr>
          <a:xfrm flipV="1">
            <a:off x="6931639" y="2938208"/>
            <a:ext cx="71723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04" idx="2"/>
          </p:cNvCxnSpPr>
          <p:nvPr/>
        </p:nvCxnSpPr>
        <p:spPr>
          <a:xfrm flipV="1">
            <a:off x="6931639" y="2938208"/>
            <a:ext cx="717237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4" idx="2"/>
          </p:cNvCxnSpPr>
          <p:nvPr/>
        </p:nvCxnSpPr>
        <p:spPr>
          <a:xfrm flipV="1">
            <a:off x="5097742" y="2938208"/>
            <a:ext cx="2551134" cy="1747866"/>
          </a:xfrm>
          <a:prstGeom prst="bentConnector3">
            <a:avLst>
              <a:gd name="adj1" fmla="val 8652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04" idx="2"/>
          </p:cNvCxnSpPr>
          <p:nvPr/>
        </p:nvCxnSpPr>
        <p:spPr>
          <a:xfrm flipV="1">
            <a:off x="5097742" y="2938208"/>
            <a:ext cx="2551134" cy="2913109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검색</a:t>
            </a: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실적증명서제출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47" idx="1"/>
          </p:cNvCxnSpPr>
          <p:nvPr/>
        </p:nvCxnSpPr>
        <p:spPr>
          <a:xfrm>
            <a:off x="5097742" y="3520830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48" idx="1"/>
          </p:cNvCxnSpPr>
          <p:nvPr/>
        </p:nvCxnSpPr>
        <p:spPr>
          <a:xfrm>
            <a:off x="5097742" y="4103452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게시판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게시판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자주묻는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질문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민원서류 발급 신청 목록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신청절자</a:t>
            </a:r>
            <a:r>
              <a:rPr lang="ko-KR" altLang="en-US" sz="1000" dirty="0">
                <a:solidFill>
                  <a:schemeClr val="tx1"/>
                </a:solidFill>
              </a:rPr>
              <a:t> 및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 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 </a:t>
            </a:r>
            <a:r>
              <a:rPr lang="ko-KR" altLang="en-US" sz="1000" dirty="0" smtClean="0">
                <a:solidFill>
                  <a:schemeClr val="tx1"/>
                </a:solidFill>
              </a:rPr>
              <a:t>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국외 조달원 등록증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국외 조달원 등록증 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096492" y="5443501"/>
            <a:ext cx="138832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실적증명서 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568339" y="5443501"/>
            <a:ext cx="138832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계약 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PrfmncPrdoc_srchCtrt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49319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000" dirty="0"/>
              <a:t>&lt;&lt;</a:t>
            </a:r>
            <a:r>
              <a:rPr lang="ko-KR" altLang="en-US" sz="1000" dirty="0"/>
              <a:t>법령정보</a:t>
            </a:r>
            <a:r>
              <a:rPr lang="en-US" altLang="ko-KR" sz="1000" dirty="0"/>
              <a:t>Controller&gt;&gt;</a:t>
            </a:r>
          </a:p>
          <a:p>
            <a:pPr algn="ctr"/>
            <a:r>
              <a:rPr lang="en-US" altLang="ko-KR" sz="1000" dirty="0" err="1"/>
              <a:t>SttInfoController</a:t>
            </a:r>
            <a:endParaRPr lang="en-US" altLang="ko-KR" sz="1000" dirty="0"/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5" idx="1"/>
          </p:cNvCxnSpPr>
          <p:nvPr/>
        </p:nvCxnSpPr>
        <p:spPr>
          <a:xfrm>
            <a:off x="5687291" y="2990174"/>
            <a:ext cx="1226127" cy="1402125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85237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000" dirty="0"/>
              <a:t>&lt;&lt;</a:t>
            </a:r>
            <a:r>
              <a:rPr lang="ko-KR" altLang="en-US" sz="1000" dirty="0"/>
              <a:t>민원서류관리</a:t>
            </a:r>
            <a:r>
              <a:rPr lang="en-US" altLang="ko-KR" sz="1000" dirty="0"/>
              <a:t>Controller&gt;&gt;</a:t>
            </a:r>
          </a:p>
          <a:p>
            <a:pPr algn="ctr"/>
            <a:r>
              <a:rPr lang="en-US" altLang="ko-KR" sz="1000" dirty="0" err="1"/>
              <a:t>CvlcptDcmntMngController</a:t>
            </a:r>
            <a:endParaRPr lang="en-US" altLang="ko-KR" sz="1000" dirty="0"/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7" idx="1"/>
          </p:cNvCxnSpPr>
          <p:nvPr/>
        </p:nvCxnSpPr>
        <p:spPr>
          <a:xfrm>
            <a:off x="5687291" y="2990174"/>
            <a:ext cx="1226127" cy="210517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555542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000" dirty="0"/>
              <a:t>&lt;&lt;</a:t>
            </a:r>
            <a:r>
              <a:rPr lang="ko-KR" altLang="en-US" sz="1000" dirty="0"/>
              <a:t>업체정보관리</a:t>
            </a:r>
            <a:r>
              <a:rPr lang="en-US" altLang="ko-KR" sz="1000" dirty="0"/>
              <a:t>Controller&gt;&gt;</a:t>
            </a:r>
          </a:p>
          <a:p>
            <a:pPr algn="ctr"/>
            <a:r>
              <a:rPr lang="en-US" altLang="ko-KR" sz="1000" dirty="0" err="1"/>
              <a:t>PrcmBzentyInfoMngController</a:t>
            </a:r>
            <a:endParaRPr lang="en-US" altLang="ko-KR" sz="1000" dirty="0"/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4" idx="1"/>
          </p:cNvCxnSpPr>
          <p:nvPr/>
        </p:nvCxnSpPr>
        <p:spPr>
          <a:xfrm>
            <a:off x="5687291" y="2990174"/>
            <a:ext cx="1226127" cy="2808231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수요부대별자료실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계약관련서식자료실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시스템개선안내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공통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376986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0385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7205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5898778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59046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082855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08869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59429"/>
            <a:ext cx="2473257" cy="960061"/>
            <a:chOff x="781461" y="2610063"/>
            <a:chExt cx="2473257" cy="960061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공통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상세 내용 표시</a:t>
            </a: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/>
              <a:t>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아코디언으로 최대 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(PDF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탭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및 수정은 </a:t>
            </a:r>
            <a:r>
              <a:rPr lang="ko-KR" altLang="en-US" dirty="0" err="1"/>
              <a:t>저장상태</a:t>
            </a:r>
            <a:r>
              <a:rPr lang="ko-KR" altLang="en-US" dirty="0"/>
              <a:t> 일 때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</a:t>
            </a:r>
            <a:r>
              <a:rPr lang="en-US" altLang="ko-KR" dirty="0"/>
              <a:t>,</a:t>
            </a:r>
            <a:r>
              <a:rPr lang="ko-KR" altLang="en-US" dirty="0"/>
              <a:t>제출은 </a:t>
            </a:r>
            <a:r>
              <a:rPr lang="ko-KR" altLang="en-US" dirty="0" err="1"/>
              <a:t>발급상태</a:t>
            </a:r>
            <a:r>
              <a:rPr lang="ko-KR" altLang="en-US" dirty="0"/>
              <a:t> 일 때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실적증명서 제출 </a:t>
            </a:r>
            <a:r>
              <a:rPr lang="en-US" altLang="ko-KR" dirty="0"/>
              <a:t>(MUI-CM-04-P20)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삭제는 반려</a:t>
            </a:r>
            <a:r>
              <a:rPr lang="en-US" altLang="ko-KR" dirty="0"/>
              <a:t>/</a:t>
            </a:r>
            <a:r>
              <a:rPr lang="ko-KR" altLang="en-US" dirty="0"/>
              <a:t>저장</a:t>
            </a:r>
            <a:r>
              <a:rPr lang="en-US" altLang="ko-KR" dirty="0"/>
              <a:t>/</a:t>
            </a:r>
            <a:r>
              <a:rPr lang="ko-KR" altLang="en-US" dirty="0" err="1"/>
              <a:t>회송상태</a:t>
            </a:r>
            <a:r>
              <a:rPr lang="ko-KR" altLang="en-US" dirty="0"/>
              <a:t> 일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확인 팝업 </a:t>
            </a:r>
            <a:r>
              <a:rPr lang="en-US" altLang="ko-KR" dirty="0"/>
              <a:t>– </a:t>
            </a:r>
            <a:r>
              <a:rPr lang="ko-KR" altLang="en-US" dirty="0"/>
              <a:t>정말 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5" name="평행 사변형 164"/>
          <p:cNvSpPr/>
          <p:nvPr/>
        </p:nvSpPr>
        <p:spPr>
          <a:xfrm rot="16200000" flipH="1">
            <a:off x="3105747" y="1776324"/>
            <a:ext cx="971670" cy="408309"/>
          </a:xfrm>
          <a:prstGeom prst="parallelogram">
            <a:avLst>
              <a:gd name="adj" fmla="val 8680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906771" y="2615839"/>
            <a:ext cx="1369624" cy="408308"/>
          </a:xfrm>
          <a:prstGeom prst="parallelogram">
            <a:avLst>
              <a:gd name="adj" fmla="val 24560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255724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675400" y="2590223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3" name="그룹 22"/>
          <p:cNvGrpSpPr/>
          <p:nvPr/>
        </p:nvGrpSpPr>
        <p:grpSpPr>
          <a:xfrm>
            <a:off x="720490" y="3930133"/>
            <a:ext cx="2630093" cy="2302166"/>
            <a:chOff x="720490" y="3930133"/>
            <a:chExt cx="2630093" cy="2302166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9946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착수금신청금액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착수금발급금액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중도금신청금액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처리사유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310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4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84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853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897709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1911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48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85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54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412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487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624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676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8898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611674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349764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93190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436752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7666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520429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561485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9277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39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1842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55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4369934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5319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6234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555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25752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39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6354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06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25752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2590223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4489784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2590223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338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458528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5481915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613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04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27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55005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25902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92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25863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34829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43833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35931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45872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55906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059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6167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630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92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2590223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5395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495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6367" y="25902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239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6049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357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9" name="그룹 68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3795734" y="25902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6800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6366" y="25902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800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8038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335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40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615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743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25902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25902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2576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335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40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615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743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25902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25902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2576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638846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839616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5399" y="2607641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15195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06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347503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60764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89770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89770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252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55753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41072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63018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8559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535871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923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6146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347503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56611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60764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89770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89770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9770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391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252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37447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74264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535871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340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43645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74923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 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 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33491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657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618937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2590223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89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642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09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5866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MUI-CM-04-M09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/>
        </p:nvGraphicFramePr>
        <p:xfrm>
          <a:off x="402754" y="927298"/>
          <a:ext cx="8995591" cy="177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 신청 목록 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scwin.btn_ovsSosAplyDtlInfo_onclick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상세 정보가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닫기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622109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등록증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79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981944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430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4564592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2565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42565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405191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89105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신청인 </a:t>
            </a:r>
            <a:r>
              <a:rPr lang="en-US" altLang="ko-KR" sz="900" b="1" dirty="0">
                <a:latin typeface="+mn-ea"/>
              </a:rPr>
              <a:t>(Applicant)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996183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" name="양쪽 모서리가 둥근 사각형 81"/>
          <p:cNvSpPr/>
          <p:nvPr/>
        </p:nvSpPr>
        <p:spPr>
          <a:xfrm>
            <a:off x="379573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488174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284673" y="2622109"/>
            <a:ext cx="94010" cy="94010"/>
            <a:chOff x="6812560" y="3297172"/>
            <a:chExt cx="94010" cy="94010"/>
          </a:xfrm>
        </p:grpSpPr>
        <p:cxnSp>
          <p:nvCxnSpPr>
            <p:cNvPr id="85" name="직선 연결선 8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6" name="직선 연결선 8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등록증 신청서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모서리가 둥근 직사각형 89"/>
          <p:cNvSpPr/>
          <p:nvPr/>
        </p:nvSpPr>
        <p:spPr>
          <a:xfrm>
            <a:off x="4019461" y="4287897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43871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4148962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4148962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4019461" y="3405191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0" y="2989105"/>
            <a:ext cx="22191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조달원 등록증</a:t>
            </a:r>
            <a:r>
              <a:rPr lang="en-US" altLang="ko-KR" sz="9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325805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028373" y="3794919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11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3744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2549297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 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가져온 이후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인증서 관리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인증서 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비밀번호 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/>
              <a:t>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067478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5097742" y="273203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5126739" y="2516031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3788168" y="2606031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2606031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2606031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5097742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2366608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2366608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4"/>
            <a:endCxn id="40" idx="1"/>
          </p:cNvCxnSpPr>
          <p:nvPr/>
        </p:nvCxnSpPr>
        <p:spPr>
          <a:xfrm rot="16200000" flipH="1">
            <a:off x="346599" y="2398432"/>
            <a:ext cx="305442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4"/>
            <a:endCxn id="41" idx="1"/>
          </p:cNvCxnSpPr>
          <p:nvPr/>
        </p:nvCxnSpPr>
        <p:spPr>
          <a:xfrm rot="16200000" flipH="1">
            <a:off x="84564" y="2660467"/>
            <a:ext cx="3578497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2366608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4"/>
            <a:endCxn id="133" idx="1"/>
          </p:cNvCxnSpPr>
          <p:nvPr/>
        </p:nvCxnSpPr>
        <p:spPr>
          <a:xfrm rot="16200000" flipH="1">
            <a:off x="-177472" y="2922503"/>
            <a:ext cx="4102568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2366608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4"/>
            <a:endCxn id="136" idx="1"/>
          </p:cNvCxnSpPr>
          <p:nvPr/>
        </p:nvCxnSpPr>
        <p:spPr>
          <a:xfrm rot="16200000" flipH="1">
            <a:off x="-439506" y="3184537"/>
            <a:ext cx="462663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3788168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3788168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3788168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3788168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3788168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089385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1581494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72219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776198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7863972" y="2664163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866198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224133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329441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132838" y="171726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3788168" y="1866198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022376" y="3149934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3348411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1471017" y="3438411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3788168" y="1861261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29441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8081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3788168" y="3438411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3788168" y="3438411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6554398" y="1861261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6554398" y="2385332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6554398" y="2754163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6554398" y="2754163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13883</TotalTime>
  <Words>47300</Words>
  <Application>Microsoft Office PowerPoint</Application>
  <PresentationFormat>A4 용지(210x297mm)</PresentationFormat>
  <Paragraphs>20952</Paragraphs>
  <Slides>357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357</vt:i4>
      </vt:variant>
    </vt:vector>
  </HeadingPairs>
  <TitlesOfParts>
    <vt:vector size="368" baseType="lpstr"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810</cp:revision>
  <cp:lastPrinted>2016-10-27T08:57:39Z</cp:lastPrinted>
  <dcterms:created xsi:type="dcterms:W3CDTF">2016-10-27T07:41:55Z</dcterms:created>
  <dcterms:modified xsi:type="dcterms:W3CDTF">2026-06-22T01:31:28Z</dcterms:modified>
  <cp:category>서브시스템/업무명</cp:category>
  <cp:contentStatus>0.1</cp:contentStatus>
</cp:coreProperties>
</file>