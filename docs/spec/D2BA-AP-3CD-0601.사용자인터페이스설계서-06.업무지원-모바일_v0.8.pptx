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3"/>
  </p:notesMasterIdLst>
  <p:handoutMasterIdLst>
    <p:handoutMasterId r:id="rId34"/>
  </p:handoutMasterIdLst>
  <p:sldIdLst>
    <p:sldId id="256" r:id="rId2"/>
    <p:sldId id="676" r:id="rId3"/>
    <p:sldId id="356" r:id="rId4"/>
    <p:sldId id="260" r:id="rId5"/>
    <p:sldId id="264" r:id="rId6"/>
    <p:sldId id="291" r:id="rId7"/>
    <p:sldId id="358" r:id="rId8"/>
    <p:sldId id="273" r:id="rId9"/>
    <p:sldId id="292" r:id="rId10"/>
    <p:sldId id="677" r:id="rId11"/>
    <p:sldId id="306" r:id="rId12"/>
    <p:sldId id="328" r:id="rId13"/>
    <p:sldId id="678" r:id="rId14"/>
    <p:sldId id="679" r:id="rId15"/>
    <p:sldId id="680" r:id="rId16"/>
    <p:sldId id="660" r:id="rId17"/>
    <p:sldId id="661" r:id="rId18"/>
    <p:sldId id="662" r:id="rId19"/>
    <p:sldId id="663" r:id="rId20"/>
    <p:sldId id="666" r:id="rId21"/>
    <p:sldId id="664" r:id="rId22"/>
    <p:sldId id="681" r:id="rId23"/>
    <p:sldId id="682" r:id="rId24"/>
    <p:sldId id="683" r:id="rId25"/>
    <p:sldId id="665" r:id="rId26"/>
    <p:sldId id="684" r:id="rId27"/>
    <p:sldId id="685" r:id="rId28"/>
    <p:sldId id="671" r:id="rId29"/>
    <p:sldId id="674" r:id="rId30"/>
    <p:sldId id="686" r:id="rId31"/>
    <p:sldId id="687" r:id="rId32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17E9566-FE8C-4BF9-8A43-99A4B4FC8091}">
          <p14:sldIdLst>
            <p14:sldId id="256"/>
            <p14:sldId id="676"/>
            <p14:sldId id="356"/>
            <p14:sldId id="260"/>
          </p14:sldIdLst>
        </p14:section>
        <p14:section name="1.사전의향서" id="{A88D8C4A-42D5-488C-851B-9A15CEB54A60}">
          <p14:sldIdLst>
            <p14:sldId id="264"/>
            <p14:sldId id="291"/>
            <p14:sldId id="358"/>
            <p14:sldId id="273"/>
            <p14:sldId id="292"/>
            <p14:sldId id="677"/>
            <p14:sldId id="306"/>
            <p14:sldId id="328"/>
            <p14:sldId id="678"/>
            <p14:sldId id="679"/>
            <p14:sldId id="680"/>
          </p14:sldIdLst>
        </p14:section>
        <p14:section name="2.세금계산서" id="{019FD015-75A8-4452-8691-168FACA46FB5}">
          <p14:sldIdLst>
            <p14:sldId id="660"/>
            <p14:sldId id="661"/>
            <p14:sldId id="662"/>
            <p14:sldId id="663"/>
            <p14:sldId id="666"/>
            <p14:sldId id="664"/>
            <p14:sldId id="681"/>
            <p14:sldId id="682"/>
            <p14:sldId id="683"/>
            <p14:sldId id="665"/>
            <p14:sldId id="684"/>
            <p14:sldId id="685"/>
            <p14:sldId id="671"/>
            <p14:sldId id="674"/>
            <p14:sldId id="686"/>
            <p14:sldId id="6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38" y="102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86772-663E-498C-98A4-55676C0C79D5}" type="datetimeFigureOut">
              <a:rPr lang="ko-KR" altLang="en-US" smtClean="0"/>
              <a:t>2026-06-19 (Friday)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28BB6-27BE-4996-B82F-8E6CE9833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904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80DED-BD55-4631-A63F-CC2459F192F4}" type="datetimeFigureOut">
              <a:rPr lang="ko-KR" altLang="en-US" smtClean="0"/>
              <a:t>2026-06-19 (Friday)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14ED1-D705-4645-B89F-2D03A70CC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7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18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666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50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56036D5-DD5F-441E-9594-5002CA0E85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5427" y="5938279"/>
            <a:ext cx="1331674" cy="1648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694" y="1306235"/>
            <a:ext cx="8640000" cy="612000"/>
          </a:xfrm>
          <a:prstGeom prst="rect">
            <a:avLst/>
          </a:prstGeom>
          <a:ln w="12700">
            <a:noFill/>
          </a:ln>
        </p:spPr>
        <p:txBody>
          <a:bodyPr anchor="b"/>
          <a:lstStyle>
            <a:lvl1pPr algn="r">
              <a:lnSpc>
                <a:spcPct val="100000"/>
              </a:lnSpc>
              <a:defRPr sz="2400" b="1" u="none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669" y="1942226"/>
            <a:ext cx="8649025" cy="396376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  <a:endParaRPr 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37669" y="1925053"/>
            <a:ext cx="86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3922239"/>
              </p:ext>
            </p:extLst>
          </p:nvPr>
        </p:nvGraphicFramePr>
        <p:xfrm>
          <a:off x="4551204" y="3815479"/>
          <a:ext cx="4744543" cy="952503"/>
        </p:xfrm>
        <a:graphic>
          <a:graphicData uri="http://schemas.openxmlformats.org/drawingml/2006/table">
            <a:tbl>
              <a:tblPr firstRow="1" firstCol="1" bandRow="1"/>
              <a:tblGrid>
                <a:gridCol w="971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3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프로젝트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문서번호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제개정이력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183031"/>
                  </a:ext>
                </a:extLst>
              </a:tr>
            </a:tbl>
          </a:graphicData>
        </a:graphic>
      </p:graphicFrame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5540722" y="3848071"/>
            <a:ext cx="3736946" cy="2520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5540722" y="416352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1527804" y="6225242"/>
            <a:ext cx="6858548" cy="408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ko-KR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Copyright © 2025 by </a:t>
            </a: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</a:t>
            </a:r>
            <a:endParaRPr lang="en-US" altLang="ko-KR" sz="9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방위사업청의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사전 승인 없이 본 내용의 전부 또는 일부에 대한 복사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전재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배포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사용을 금합니다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5540722" y="447994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pic>
        <p:nvPicPr>
          <p:cNvPr id="17" name="그림 16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9D3F7C-59D2-46B0-9671-095C3D9268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641" y="465349"/>
            <a:ext cx="1005840" cy="3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0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이력/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622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u="sng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7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57199" y="612000"/>
            <a:ext cx="9001125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4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660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&amp;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734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67025" y="612000"/>
            <a:ext cx="9000000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2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1038808"/>
            <a:ext cx="9000000" cy="542419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03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내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612000"/>
            <a:ext cx="9000000" cy="585100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1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96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서식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47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인터페이스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72137626"/>
              </p:ext>
            </p:extLst>
          </p:nvPr>
        </p:nvGraphicFramePr>
        <p:xfrm>
          <a:off x="458167" y="719999"/>
          <a:ext cx="8988374" cy="5755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6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</a:t>
                      </a:r>
                      <a:r>
                        <a:rPr lang="en-US" altLang="ko-KR" sz="900" b="1" baseline="0" dirty="0"/>
                        <a:t> ID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 </a:t>
                      </a:r>
                      <a:r>
                        <a:rPr lang="ko-KR" altLang="en-US" sz="900" b="1" dirty="0"/>
                        <a:t>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화면경로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개요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22">
                <a:tc rowSpan="2"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및 특이사항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007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7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9DF8E3FD-B4FB-473B-BCAD-C4534B9A9D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10"/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10"/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971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11E9F2C-2481-4ADA-BED0-11F45689328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685200" y="6640342"/>
            <a:ext cx="738733" cy="9148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445168" y="540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465216" y="6588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 userDrawn="1"/>
        </p:nvSpPr>
        <p:spPr>
          <a:xfrm>
            <a:off x="4950372" y="376754"/>
            <a:ext cx="451992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ko-KR" altLang="en-US" sz="1000" b="1" kern="100" dirty="0" smtClean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사용자인터페이스설계서 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– 06.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업무지원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-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모바일</a:t>
            </a:r>
            <a:endParaRPr lang="ko-KR" altLang="en-US" sz="1000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45168" y="376754"/>
            <a:ext cx="39394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000" b="1" kern="100" dirty="0">
                <a:effectLst/>
              </a:rPr>
              <a:t>국방전자조달시스템 고도화 구축사업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3BECD7E0-1778-4975-BFA0-E9C4CE243F5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74463" y="6577231"/>
            <a:ext cx="668534" cy="23371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1401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4" r:id="rId4"/>
    <p:sldLayoutId id="2147483665" r:id="rId5"/>
    <p:sldLayoutId id="2147483666" r:id="rId6"/>
    <p:sldLayoutId id="2147483668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5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사용자인터페이스 설계서 </a:t>
            </a:r>
            <a:r>
              <a:rPr lang="en-US" altLang="ko-KR" dirty="0"/>
              <a:t>- </a:t>
            </a:r>
            <a:r>
              <a:rPr lang="ko-KR" altLang="en-US" dirty="0"/>
              <a:t>모바일</a:t>
            </a:r>
          </a:p>
        </p:txBody>
      </p:sp>
      <p:sp>
        <p:nvSpPr>
          <p:cNvPr id="54" name="부제목 5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06.</a:t>
            </a:r>
            <a:r>
              <a:rPr lang="ko-KR" altLang="en-US" dirty="0"/>
              <a:t>업무지원</a:t>
            </a:r>
          </a:p>
        </p:txBody>
      </p:sp>
      <p:sp>
        <p:nvSpPr>
          <p:cNvPr id="56" name="텍스트 개체 틀 5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국방전자조달시스템 고도화 구축사업</a:t>
            </a:r>
          </a:p>
        </p:txBody>
      </p:sp>
      <p:sp>
        <p:nvSpPr>
          <p:cNvPr id="57" name="텍스트 개체 틀 5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D2BA-AP_3CD-0601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2026.06.18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563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</a:t>
            </a:fld>
            <a:endParaRPr lang="ko-KR" altLang="en-US"/>
          </a:p>
        </p:txBody>
      </p:sp>
      <p:sp>
        <p:nvSpPr>
          <p:cNvPr id="4" name="텍스트 개체 틀 15">
            <a:extLst>
              <a:ext uri="{FF2B5EF4-FFF2-40B4-BE49-F238E27FC236}">
                <a16:creationId xmlns:a16="http://schemas.microsoft.com/office/drawing/2014/main" id="{44A815B9-A3EA-BA0B-410C-A69AB9D1A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</p:spPr>
        <p:txBody>
          <a:bodyPr/>
          <a:lstStyle/>
          <a:p>
            <a:r>
              <a:rPr lang="ko-KR" altLang="en-US" dirty="0" err="1"/>
              <a:t>제</a:t>
            </a:r>
            <a:r>
              <a:rPr lang="ko-KR" altLang="en-US" dirty="0" err="1">
                <a:sym typeface="Wingdings" panose="05000000000000000000" pitchFamily="2" charset="2"/>
              </a:rPr>
              <a:t></a:t>
            </a:r>
            <a:r>
              <a:rPr lang="ko-KR" altLang="en-US" dirty="0" err="1"/>
              <a:t>개</a:t>
            </a:r>
            <a:r>
              <a:rPr lang="ko-KR" altLang="en-US" dirty="0"/>
              <a:t>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2831990E-7701-AF86-804F-42A7268A9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84934"/>
              </p:ext>
            </p:extLst>
          </p:nvPr>
        </p:nvGraphicFramePr>
        <p:xfrm>
          <a:off x="652374" y="1286787"/>
          <a:ext cx="8782571" cy="3480835"/>
        </p:xfrm>
        <a:graphic>
          <a:graphicData uri="http://schemas.openxmlformats.org/drawingml/2006/table">
            <a:tbl>
              <a:tblPr/>
              <a:tblGrid>
                <a:gridCol w="784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9745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제개정일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버전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제개정내용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승인자 및 관련근거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2025.11.03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작성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신미영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2026.03.16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수정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김민재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2026.04.23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차 작성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0.4.1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작성 완료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내부 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0.6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PL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황종서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2026.06.17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0.7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품질 검토</a:t>
                      </a:r>
                    </a:p>
                  </a:txBody>
                  <a:tcPr marL="53975" marR="5397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0.8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박재욱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53975" marR="53975" marT="53975" marB="53975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0.9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PMO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 및 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TF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검토요청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김민재</a:t>
                      </a:r>
                    </a:p>
                  </a:txBody>
                  <a:tcPr marL="53975" marR="53975" marT="53975" marB="5397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939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430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402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02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390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022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598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7" name="텍스트 개체 틀 15">
            <a:extLst>
              <a:ext uri="{FF2B5EF4-FFF2-40B4-BE49-F238E27FC236}">
                <a16:creationId xmlns:a16="http://schemas.microsoft.com/office/drawing/2014/main" id="{74E68DA1-2E20-231A-31AD-28EAC2F24FE9}"/>
              </a:ext>
            </a:extLst>
          </p:cNvPr>
          <p:cNvSpPr txBox="1">
            <a:spLocks/>
          </p:cNvSpPr>
          <p:nvPr/>
        </p:nvSpPr>
        <p:spPr>
          <a:xfrm>
            <a:off x="2250485" y="959912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신구 변경 </a:t>
            </a:r>
            <a:r>
              <a:rPr lang="ko-KR" altLang="en-US" dirty="0" err="1"/>
              <a:t>내용표</a:t>
            </a:r>
            <a:endParaRPr lang="ko-KR" altLang="en-US" dirty="0"/>
          </a:p>
        </p:txBody>
      </p:sp>
      <p:graphicFrame>
        <p:nvGraphicFramePr>
          <p:cNvPr id="2" name="Group 759">
            <a:extLst>
              <a:ext uri="{FF2B5EF4-FFF2-40B4-BE49-F238E27FC236}">
                <a16:creationId xmlns:a16="http://schemas.microsoft.com/office/drawing/2014/main" id="{E11E0974-0B2E-0EBE-E5C5-FA7CE978C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457119"/>
              </p:ext>
            </p:extLst>
          </p:nvPr>
        </p:nvGraphicFramePr>
        <p:xfrm>
          <a:off x="652374" y="1416776"/>
          <a:ext cx="8782571" cy="457182"/>
        </p:xfrm>
        <a:graphic>
          <a:graphicData uri="http://schemas.openxmlformats.org/drawingml/2006/table">
            <a:tbl>
              <a:tblPr/>
              <a:tblGrid>
                <a:gridCol w="5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4489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  <a:gridCol w="938150">
                  <a:extLst>
                    <a:ext uri="{9D8B030D-6E8A-4147-A177-3AD203B41FA5}">
                      <a16:colId xmlns:a16="http://schemas.microsoft.com/office/drawing/2014/main" val="3926415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순번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신버전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변경 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860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목     차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401144"/>
              </p:ext>
            </p:extLst>
          </p:nvPr>
        </p:nvGraphicFramePr>
        <p:xfrm>
          <a:off x="988586" y="1265003"/>
          <a:ext cx="7926814" cy="5102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9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2241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사전의향서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 목록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메뉴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세금계산서 목록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메뉴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endParaRPr lang="en-US" altLang="ko-KR" sz="120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6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7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15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15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16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17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18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97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 err="1">
                <a:latin typeface="+mn-ea"/>
              </a:rPr>
              <a:t>사전의향서</a:t>
            </a:r>
            <a:r>
              <a:rPr lang="ko-KR" altLang="en-US" dirty="0">
                <a:latin typeface="+mn-ea"/>
              </a:rPr>
              <a:t> 목록</a:t>
            </a:r>
            <a:r>
              <a:rPr lang="ko-KR" altLang="en-US" dirty="0"/>
              <a:t> 메뉴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목록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845071"/>
              </p:ext>
            </p:extLst>
          </p:nvPr>
        </p:nvGraphicFramePr>
        <p:xfrm>
          <a:off x="635474" y="1413419"/>
          <a:ext cx="8701200" cy="233470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MUI-TS-01-M01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사전의향서목록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BfhdLoiListPage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통합 목록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MUI-TS-01-M01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BfhdLoiList_SrchFilter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BfhdLoiList_SrchFilter.tsx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12339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MUI-TS-01-M02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사전의향서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사전의향서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상세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BfhdLoiDtlPage.tsx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965343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MUI-TS-01-M02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상세내용 탭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사전의향서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상세 화면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상세내용 탭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/BfhdLoiDtl2.tsx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UC-SB-01-01</a:t>
                      </a:r>
                    </a:p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MUI-TS-01-M02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품목명세서탭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사전의향서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상세 화면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품목명세서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탭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/BfhdLoiDtl3.tsx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UC-SB-01-01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UC-SB-01-02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71406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MUI-TS-01-P03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의견작성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BfhdLoiWrt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사전의향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의견 작성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bfhdLoiDtl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BfhdLoiWrt.tsx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153768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39683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사전의향서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228614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435474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검색 필터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266608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7651013" y="2572029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7680010" y="2364537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사전의향서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cxnSp>
        <p:nvCxnSpPr>
          <p:cNvPr id="1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162" idx="1"/>
          </p:cNvCxnSpPr>
          <p:nvPr/>
        </p:nvCxnSpPr>
        <p:spPr>
          <a:xfrm>
            <a:off x="3266608" y="1772964"/>
            <a:ext cx="931134" cy="6815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3732175" y="713397"/>
            <a:ext cx="12700" cy="183113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191585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2816608" y="1261938"/>
            <a:ext cx="447238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검색 반영</a:t>
            </a:r>
          </a:p>
        </p:txBody>
      </p:sp>
      <p:sp>
        <p:nvSpPr>
          <p:cNvPr id="2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1686562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상세내용</a:t>
            </a:r>
          </a:p>
        </p:txBody>
      </p:sp>
      <p:sp>
        <p:nvSpPr>
          <p:cNvPr id="2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품목명세서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162" idx="3"/>
            <a:endCxn id="25" idx="1"/>
          </p:cNvCxnSpPr>
          <p:nvPr/>
        </p:nvCxnSpPr>
        <p:spPr>
          <a:xfrm>
            <a:off x="5097742" y="2454537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62" idx="3"/>
            <a:endCxn id="24" idx="1"/>
          </p:cNvCxnSpPr>
          <p:nvPr/>
        </p:nvCxnSpPr>
        <p:spPr>
          <a:xfrm flipV="1">
            <a:off x="5097742" y="1830562"/>
            <a:ext cx="931134" cy="6239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25" idx="3"/>
            <a:endCxn id="158" idx="2"/>
          </p:cNvCxnSpPr>
          <p:nvPr/>
        </p:nvCxnSpPr>
        <p:spPr>
          <a:xfrm>
            <a:off x="6928876" y="2454537"/>
            <a:ext cx="75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4" idx="3"/>
            <a:endCxn id="158" idx="2"/>
          </p:cNvCxnSpPr>
          <p:nvPr/>
        </p:nvCxnSpPr>
        <p:spPr>
          <a:xfrm>
            <a:off x="6928876" y="1830562"/>
            <a:ext cx="751134" cy="6239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934791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사전의향서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의견작성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25" idx="2"/>
            <a:endCxn id="30" idx="0"/>
          </p:cNvCxnSpPr>
          <p:nvPr/>
        </p:nvCxnSpPr>
        <p:spPr>
          <a:xfrm>
            <a:off x="6478876" y="2598537"/>
            <a:ext cx="0" cy="33625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0" idx="3"/>
            <a:endCxn id="158" idx="2"/>
          </p:cNvCxnSpPr>
          <p:nvPr/>
        </p:nvCxnSpPr>
        <p:spPr>
          <a:xfrm flipV="1">
            <a:off x="6928876" y="2454537"/>
            <a:ext cx="751134" cy="62425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961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화면 영역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12" name="그룹 11"/>
          <p:cNvGrpSpPr/>
          <p:nvPr/>
        </p:nvGrpSpPr>
        <p:grpSpPr>
          <a:xfrm>
            <a:off x="1265382" y="1890475"/>
            <a:ext cx="1727200" cy="3005537"/>
            <a:chOff x="1265382" y="2170157"/>
            <a:chExt cx="1727200" cy="224214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FD7B626-4B5C-AE29-EFB9-628750B32B78}"/>
                </a:ext>
              </a:extLst>
            </p:cNvPr>
            <p:cNvSpPr/>
            <p:nvPr/>
          </p:nvSpPr>
          <p:spPr>
            <a:xfrm>
              <a:off x="1265382" y="2170157"/>
              <a:ext cx="1727200" cy="442253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사전의향서목록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+mn-ea"/>
                </a:rPr>
                <a:t>BfhdLoiListPage</a:t>
              </a:r>
              <a:r>
                <a:rPr lang="en-US" altLang="ko-KR" sz="1000" dirty="0" err="1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 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4F2CFBC-290B-2E89-63C0-62C22747051D}"/>
                </a:ext>
              </a:extLst>
            </p:cNvPr>
            <p:cNvSpPr/>
            <p:nvPr/>
          </p:nvSpPr>
          <p:spPr>
            <a:xfrm>
              <a:off x="1265382" y="2770475"/>
              <a:ext cx="1727200" cy="442253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검색필터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+mn-ea"/>
                </a:rPr>
                <a:t>BfhdLoiList_SrchFilter</a:t>
              </a:r>
              <a:r>
                <a:rPr lang="en-US" altLang="ko-KR" sz="1000" dirty="0" err="1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 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3370793"/>
              <a:ext cx="1727200" cy="442253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사전의향서상세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+mn-ea"/>
                </a:rPr>
                <a:t>BfhdLoiDtlPage</a:t>
              </a:r>
              <a:r>
                <a:rPr lang="en-US" altLang="ko-KR" sz="1000" dirty="0" err="1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 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26CB017-8967-4DC4-0EAD-ADB3B9EAB841}"/>
                </a:ext>
              </a:extLst>
            </p:cNvPr>
            <p:cNvSpPr/>
            <p:nvPr/>
          </p:nvSpPr>
          <p:spPr>
            <a:xfrm>
              <a:off x="1265382" y="3970045"/>
              <a:ext cx="1727200" cy="442253"/>
            </a:xfrm>
            <a:prstGeom prst="rect">
              <a:avLst/>
            </a:prstGeom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&lt;&lt;App Page&gt;&gt;</a:t>
              </a:r>
            </a:p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+mn-ea"/>
                </a:rPr>
                <a:t>사전의향서의견작성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+mn-ea"/>
                </a:rPr>
                <a:t>BfhdLoiWrt</a:t>
              </a:r>
              <a:r>
                <a:rPr lang="en-US" altLang="ko-KR" sz="1000" dirty="0" err="1">
                  <a:solidFill>
                    <a:schemeClr val="tx1"/>
                  </a:solidFill>
                </a:rPr>
                <a:t>.tsx</a:t>
              </a:r>
              <a:r>
                <a:rPr lang="en-US" altLang="ko-KR" sz="1000" b="1" baseline="30000" dirty="0">
                  <a:solidFill>
                    <a:schemeClr val="tx1"/>
                  </a:solidFill>
                  <a:latin typeface="+mn-ea"/>
                </a:rPr>
                <a:t> 1)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671293" y="2747194"/>
            <a:ext cx="221145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&lt;&lt;</a:t>
            </a:r>
            <a:r>
              <a:rPr lang="ko-KR" altLang="en-US" sz="1000" dirty="0" err="1"/>
              <a:t>사전의향서</a:t>
            </a:r>
            <a:r>
              <a:rPr lang="en-US" altLang="ko-KR" sz="1000" dirty="0"/>
              <a:t>Controller&gt;&gt;</a:t>
            </a:r>
          </a:p>
          <a:p>
            <a:pPr algn="ctr"/>
            <a:r>
              <a:rPr lang="en-US" altLang="ko-KR" sz="1000" dirty="0" err="1"/>
              <a:t>BfhdLoiController</a:t>
            </a:r>
            <a:endParaRPr lang="en-US" altLang="ko-KR" sz="10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2186890"/>
            <a:ext cx="967509" cy="803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992582" y="2990174"/>
            <a:ext cx="967509" cy="1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806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9840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6094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817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공지사항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필터</a:t>
            </a:r>
            <a:r>
              <a:rPr lang="en-US" altLang="ko-KR" dirty="0"/>
              <a:t>, </a:t>
            </a: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상세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</a:t>
            </a:r>
            <a:r>
              <a:rPr lang="ko-KR" altLang="en-US" dirty="0" err="1"/>
              <a:t>검색필터</a:t>
            </a:r>
            <a:r>
              <a:rPr lang="ko-KR" altLang="en-US" dirty="0"/>
              <a:t> 적용 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- 4</a:t>
            </a:r>
            <a:r>
              <a:rPr lang="ko-KR" altLang="en-US" dirty="0" err="1"/>
              <a:t>번항</a:t>
            </a:r>
            <a:r>
              <a:rPr lang="ko-KR" altLang="en-US" dirty="0"/>
              <a:t> 목록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스크롤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목록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사전의향서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/>
              <a:t>사전의향서</a:t>
            </a:r>
            <a:r>
              <a:rPr lang="ko-KR" altLang="en-US" sz="800" dirty="0"/>
              <a:t> </a:t>
            </a:r>
            <a:r>
              <a:rPr lang="ko-KR" altLang="en-US" sz="800" dirty="0">
                <a:latin typeface="+mn-ea"/>
              </a:rPr>
              <a:t>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701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371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81461" y="3380453"/>
            <a:ext cx="2473257" cy="803737"/>
            <a:chOff x="781461" y="2610063"/>
            <a:chExt cx="2473257" cy="803737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접수일자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2025-05-01 ~ 2025-08-15</a:t>
              </a:r>
            </a:p>
            <a:p>
              <a:r>
                <a:rPr lang="ko-KR" altLang="en-US" sz="900" b="1" dirty="0"/>
                <a:t>변속기 부품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5917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발주부서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담당자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384721" cy="25917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총괄계약팀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제조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2610063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제출</a:t>
              </a:r>
            </a:p>
          </p:txBody>
        </p:sp>
        <p:sp>
          <p:nvSpPr>
            <p:cNvPr id="179" name="모서리가 둥근 직사각형 178"/>
            <p:cNvSpPr/>
            <p:nvPr/>
          </p:nvSpPr>
          <p:spPr>
            <a:xfrm>
              <a:off x="1376841" y="2610063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만료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04318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4430971"/>
            <a:ext cx="2476203" cy="803737"/>
            <a:chOff x="778515" y="2610063"/>
            <a:chExt cx="2476203" cy="803737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접수일자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2025-07-01 ~ 2025-10-30</a:t>
              </a:r>
            </a:p>
            <a:p>
              <a:r>
                <a:rPr lang="ko-KR" altLang="en-US" sz="900" b="1" dirty="0"/>
                <a:t>장갑차 부품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25917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발주부서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담당자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384721" cy="25917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운영계약팀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홍길순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구매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6" y="2610063"/>
              <a:ext cx="31737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미제출</a:t>
              </a:r>
              <a:endParaRPr lang="ko-KR" altLang="en-US" sz="600" dirty="0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1244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1015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4633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제조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구매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만료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제출기한</a:t>
            </a:r>
          </a:p>
        </p:txBody>
      </p:sp>
      <p:sp>
        <p:nvSpPr>
          <p:cNvPr id="182" name="모서리가 둥근 직사각형 181"/>
          <p:cNvSpPr/>
          <p:nvPr/>
        </p:nvSpPr>
        <p:spPr>
          <a:xfrm>
            <a:off x="4614060" y="3209690"/>
            <a:ext cx="32324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미제출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4318635" y="320969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제출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1552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제출여부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3633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94" name="그룹 93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95" name="직선 연결선 9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직선 연결선 9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8" name="그룹 97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99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1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02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03" name="그룹 102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04" name="직선 연결선 103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grpSp>
        <p:nvGrpSpPr>
          <p:cNvPr id="107" name="그룹 106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08" name="모서리가 둥근 직사각형 107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타원 108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11" name="그룹 110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18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제목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19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재고번호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12" name="타원 111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3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14" name="타원 113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5" name="그룹 114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16" name="직선 연결선 115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744573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각 </a:t>
            </a:r>
            <a:r>
              <a:rPr lang="ko-KR" altLang="en-US" dirty="0" err="1"/>
              <a:t>섹션명</a:t>
            </a:r>
            <a:r>
              <a:rPr lang="ko-KR" altLang="en-US" dirty="0"/>
              <a:t> 클릭 시 아코디언 동작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</a:t>
            </a:r>
            <a:r>
              <a:rPr lang="en-US" altLang="ko-KR" dirty="0"/>
              <a:t>, </a:t>
            </a:r>
            <a:r>
              <a:rPr lang="ko-KR" altLang="en-US" dirty="0"/>
              <a:t>닫기 버튼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일자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지정 설정으로 날짜 즉시 업데이트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사전의향서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사전의향서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5083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9" name="그룹 8"/>
          <p:cNvGrpSpPr/>
          <p:nvPr/>
        </p:nvGrpSpPr>
        <p:grpSpPr>
          <a:xfrm>
            <a:off x="675399" y="1926985"/>
            <a:ext cx="2712027" cy="797589"/>
            <a:chOff x="675399" y="3490553"/>
            <a:chExt cx="2712027" cy="79758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접수기간 설정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기간 설정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3740722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3760669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3971391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>
                    <a:latin typeface="+mn-ea"/>
                  </a:rPr>
                  <a:t>3</a:t>
                </a:r>
                <a:r>
                  <a:rPr kumimoji="1" lang="ko-KR" altLang="en-US" sz="700" kern="0" dirty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3740722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2026-01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28814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783287" y="2813628"/>
            <a:ext cx="2519558" cy="1370836"/>
            <a:chOff x="778515" y="4388257"/>
            <a:chExt cx="2519558" cy="1370836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제목을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발주부서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발주기관을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12" name="모서리가 둥근 직사각형 211"/>
            <p:cNvSpPr/>
            <p:nvPr/>
          </p:nvSpPr>
          <p:spPr>
            <a:xfrm>
              <a:off x="1452235" y="5571893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담당자를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품명을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41" name="그룹 140"/>
            <p:cNvGrpSpPr/>
            <p:nvPr/>
          </p:nvGrpSpPr>
          <p:grpSpPr>
            <a:xfrm rot="16200000">
              <a:off x="3140951" y="5406408"/>
              <a:ext cx="91438" cy="45719"/>
              <a:chOff x="6812560" y="3297172"/>
              <a:chExt cx="94010" cy="47005"/>
            </a:xfrm>
          </p:grpSpPr>
          <p:cxnSp>
            <p:nvCxnSpPr>
              <p:cNvPr id="142" name="직선 연결선 14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직선 연결선 14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3" name="그룹 162"/>
            <p:cNvGrpSpPr/>
            <p:nvPr/>
          </p:nvGrpSpPr>
          <p:grpSpPr>
            <a:xfrm rot="16200000">
              <a:off x="3140951" y="5184740"/>
              <a:ext cx="91438" cy="45719"/>
              <a:chOff x="6812560" y="3297172"/>
              <a:chExt cx="94010" cy="47005"/>
            </a:xfrm>
          </p:grpSpPr>
          <p:cxnSp>
            <p:nvCxnSpPr>
              <p:cNvPr id="164" name="직선 연결선 16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31388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7118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12775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사전의향서 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1601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(FROM)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 (본문)"/>
                          <a:ea typeface="맑은 고딕" panose="020B0503020000020004" pitchFamily="50" charset="-127"/>
                          <a:cs typeface="+mn-cs"/>
                        </a:rPr>
                        <a:t>rcptYmdFr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사전의향서 제출 시작일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접수기간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rcptYmdTo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사전의향서 제출 종료일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달력 버튼을 누르면 달력 팝업 오픈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704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bfhdLoiTtl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271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mdfcnInvtNo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374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발주부서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호출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629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4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2706355"/>
            <a:ext cx="22832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사전의향서 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2927349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사전의향서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yyyy-mm-dd</a:t>
                      </a:r>
                      <a:r>
                        <a:rPr lang="en-US" altLang="ko-KR" sz="800" dirty="0" err="1">
                          <a:latin typeface="+mn-ea"/>
                        </a:rPr>
                        <a:t>~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bfhdLoiTtl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42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prgrsStcd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+mn-ea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미제출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286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발주부서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242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1100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93BF57-30C4-D2B9-87E2-11DC15807358}"/>
              </a:ext>
            </a:extLst>
          </p:cNvPr>
          <p:cNvSpPr txBox="1"/>
          <p:nvPr/>
        </p:nvSpPr>
        <p:spPr>
          <a:xfrm>
            <a:off x="458117" y="437707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66B705-20E7-7761-8102-6609B0A1F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779402"/>
              </p:ext>
            </p:extLst>
          </p:nvPr>
        </p:nvGraphicFramePr>
        <p:xfrm>
          <a:off x="453000" y="4612378"/>
          <a:ext cx="8995591" cy="1335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접수기간을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현재일자로 세팅한다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초기화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scwin.btn_init_onclikc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검색조건이 기본값으로 초기화된다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522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scwin.btn_srch_onclick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검색조건에 부합하는 데이터가 조회된다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666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/>
                        <a:t>scwin.grd_</a:t>
                      </a:r>
                      <a:r>
                        <a:rPr lang="en-US" altLang="ko-KR" sz="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bfhdLoiTtl</a:t>
                      </a:r>
                      <a:r>
                        <a:rPr lang="en-US" altLang="ko-KR" sz="800" dirty="0" err="1"/>
                        <a:t>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상세화면으로 이동한다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800" dirty="0"/>
                        <a:t>UI-TS-01-M02) </a:t>
                      </a:r>
                      <a:r>
                        <a:rPr lang="ko-KR" altLang="en-US" sz="800" dirty="0"/>
                        <a:t>사전의향서 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45986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2F135EB-F5B9-1B5B-A5DF-50EE71F5B30C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  <a:endParaRPr lang="ko-KR" altLang="en-US" sz="1000" b="1" dirty="0"/>
          </a:p>
        </p:txBody>
      </p:sp>
      <p:sp>
        <p:nvSpPr>
          <p:cNvPr id="14" name="Text Box 73">
            <a:extLst>
              <a:ext uri="{FF2B5EF4-FFF2-40B4-BE49-F238E27FC236}">
                <a16:creationId xmlns:a16="http://schemas.microsoft.com/office/drawing/2014/main" id="{7425F7B3-7DAE-3B72-855C-DEA9777BB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89320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공고가 지명경쟁계약일 경우 </a:t>
            </a:r>
            <a:r>
              <a:rPr lang="ko-KR" altLang="en-US" dirty="0" err="1"/>
              <a:t>상세화면은</a:t>
            </a:r>
            <a:r>
              <a:rPr lang="ko-KR" altLang="en-US" dirty="0"/>
              <a:t> 계약업무담당자 또는 지명경쟁업체로 등록된 업체만 </a:t>
            </a:r>
            <a:r>
              <a:rPr lang="ko-KR" altLang="en-US" dirty="0" err="1"/>
              <a:t>조회가능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타이틀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우측 버튼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클릭 시 </a:t>
            </a:r>
            <a:r>
              <a:rPr lang="ko-KR" altLang="en-US" dirty="0" err="1">
                <a:sym typeface="Wingdings" panose="05000000000000000000" pitchFamily="2" charset="2"/>
              </a:rPr>
              <a:t>바텀</a:t>
            </a:r>
            <a:r>
              <a:rPr lang="ko-KR" altLang="en-US" dirty="0">
                <a:sym typeface="Wingdings" panose="05000000000000000000" pitchFamily="2" charset="2"/>
              </a:rPr>
              <a:t> 시트에서 출력 가능 </a:t>
            </a:r>
            <a:r>
              <a:rPr lang="ko-KR" altLang="en-US" dirty="0" err="1">
                <a:sym typeface="Wingdings" panose="05000000000000000000" pitchFamily="2" charset="2"/>
              </a:rPr>
              <a:t>레포트</a:t>
            </a:r>
            <a:r>
              <a:rPr lang="ko-KR" altLang="en-US" dirty="0">
                <a:sym typeface="Wingdings" panose="05000000000000000000" pitchFamily="2" charset="2"/>
              </a:rPr>
              <a:t> 목록 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상세내용 </a:t>
            </a:r>
            <a:r>
              <a:rPr lang="en-US" altLang="ko-KR" dirty="0"/>
              <a:t>Tab</a:t>
            </a:r>
            <a:r>
              <a:rPr lang="ko-KR" altLang="en-US" dirty="0"/>
              <a:t>은 진입 시 고정 노출</a:t>
            </a:r>
            <a:r>
              <a:rPr lang="en-US" altLang="ko-KR" dirty="0"/>
              <a:t>- </a:t>
            </a:r>
            <a:r>
              <a:rPr lang="ko-KR" altLang="en-US" dirty="0"/>
              <a:t>탭 </a:t>
            </a:r>
            <a:r>
              <a:rPr lang="en-US" altLang="ko-KR" dirty="0"/>
              <a:t>- </a:t>
            </a:r>
            <a:r>
              <a:rPr lang="ko-KR" altLang="en-US" dirty="0"/>
              <a:t>상세내용</a:t>
            </a:r>
            <a:r>
              <a:rPr lang="en-US" altLang="ko-KR" dirty="0"/>
              <a:t>, </a:t>
            </a:r>
            <a:r>
              <a:rPr lang="ko-KR" altLang="en-US" dirty="0" err="1"/>
              <a:t>품목명세서</a:t>
            </a:r>
            <a:r>
              <a:rPr lang="en-US" altLang="ko-KR" dirty="0"/>
              <a:t> </a:t>
            </a:r>
            <a:r>
              <a:rPr lang="ko-KR" altLang="en-US" dirty="0"/>
              <a:t>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상세내용에</a:t>
            </a:r>
            <a:r>
              <a:rPr lang="ko-KR" altLang="en-US" dirty="0"/>
              <a:t> 포함된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섹션마다 아코디언 기능 사용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섹션 도움말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 </a:t>
            </a:r>
            <a:r>
              <a:rPr lang="ko-KR" altLang="en-US" dirty="0"/>
              <a:t>영역이 사용되는 경우 도움말 아코디언 기능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문의처 정보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사전의향서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/>
              <a:t>상세내용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사전의향서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MUI-TS-01-M02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사전의향서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0851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158410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접수일자</a:t>
            </a:r>
            <a:r>
              <a:rPr lang="ko-KR" altLang="en-US" sz="700" dirty="0"/>
              <a:t> </a:t>
            </a:r>
            <a:r>
              <a:rPr lang="en-US" altLang="ko-KR" sz="700" dirty="0"/>
              <a:t>2025-05-01 ~ 2025-08-15</a:t>
            </a:r>
          </a:p>
          <a:p>
            <a:r>
              <a:rPr lang="ko-KR" altLang="en-US" sz="900" b="1" dirty="0"/>
              <a:t>변속기 부품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493475"/>
            <a:ext cx="307777" cy="2591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발주부서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담당자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478086"/>
            <a:ext cx="384721" cy="2591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총괄계약팀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홍길동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612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0243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89495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292629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00828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55685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3340244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>
                <a:latin typeface="+mn-ea"/>
              </a:rPr>
              <a:t>상세내용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3340244"/>
            <a:ext cx="44777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 err="1">
                <a:latin typeface="+mn-ea"/>
              </a:rPr>
              <a:t>품목명세서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556851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3302121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3663182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집행계획</a:t>
            </a: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3776513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3970667"/>
            <a:ext cx="792000" cy="658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970667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3970667"/>
            <a:ext cx="670770" cy="612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제목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접수시작일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접수종료일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3970667"/>
            <a:ext cx="1814470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변속기 부품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2025-05-01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2025-08-15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201772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415479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629186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4522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1" name="타원 18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67086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접수일자</a:t>
            </a:r>
            <a:r>
              <a:rPr lang="ko-KR" altLang="en-US" sz="700" dirty="0"/>
              <a:t> </a:t>
            </a:r>
            <a:r>
              <a:rPr lang="en-US" altLang="ko-KR" sz="700" dirty="0"/>
              <a:t>2025-05-01 ~ 2025-08-15</a:t>
            </a:r>
          </a:p>
          <a:p>
            <a:r>
              <a:rPr lang="ko-KR" altLang="en-US" sz="900" b="1" dirty="0"/>
              <a:t>변속기 부품</a:t>
            </a:r>
          </a:p>
        </p:txBody>
      </p: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2" name="타원 33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260718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5" name="그룹 4"/>
          <p:cNvGrpSpPr/>
          <p:nvPr/>
        </p:nvGrpSpPr>
        <p:grpSpPr>
          <a:xfrm>
            <a:off x="3827360" y="2211584"/>
            <a:ext cx="2626449" cy="254730"/>
            <a:chOff x="3821140" y="2217804"/>
            <a:chExt cx="2626449" cy="254730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64819" y="2255927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>
                  <a:latin typeface="+mn-ea"/>
                </a:rPr>
                <a:t>상세내용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319195" y="2255927"/>
              <a:ext cx="4477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품목명세서</a:t>
              </a:r>
              <a:endParaRPr lang="ko-KR" altLang="en-US" sz="700" dirty="0">
                <a:latin typeface="+mn-ea"/>
              </a:endParaRPr>
            </a:p>
          </p:txBody>
        </p: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21140" y="2472534"/>
              <a:ext cx="435210" cy="0"/>
            </a:xfrm>
            <a:prstGeom prst="lin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92" name="그룹 191"/>
            <p:cNvGrpSpPr/>
            <p:nvPr/>
          </p:nvGrpSpPr>
          <p:grpSpPr>
            <a:xfrm>
              <a:off x="6024736" y="2217804"/>
              <a:ext cx="422853" cy="187961"/>
              <a:chOff x="3641308" y="2234886"/>
              <a:chExt cx="422853" cy="187961"/>
            </a:xfrm>
          </p:grpSpPr>
          <p:sp>
            <p:nvSpPr>
              <p:cNvPr id="193" name="타원 192"/>
              <p:cNvSpPr/>
              <p:nvPr/>
            </p:nvSpPr>
            <p:spPr>
              <a:xfrm flipH="1">
                <a:off x="3641308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0" name="그룹 199"/>
              <p:cNvGrpSpPr/>
              <p:nvPr/>
            </p:nvGrpSpPr>
            <p:grpSpPr>
              <a:xfrm rot="5400000" flipH="1">
                <a:off x="3679895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5" name="직선 연결선 20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1" name="타원 20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2" name="그룹 20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3" name="직선 연결선 202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" name="그룹 2"/>
          <p:cNvGrpSpPr/>
          <p:nvPr/>
        </p:nvGrpSpPr>
        <p:grpSpPr>
          <a:xfrm>
            <a:off x="779007" y="1971228"/>
            <a:ext cx="841905" cy="119400"/>
            <a:chOff x="781461" y="3087955"/>
            <a:chExt cx="841905" cy="119400"/>
          </a:xfrm>
        </p:grpSpPr>
        <p:sp>
          <p:nvSpPr>
            <p:cNvPr id="156" name="모서리가 둥근 직사각형 155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제조</a:t>
              </a:r>
            </a:p>
          </p:txBody>
        </p:sp>
        <p:sp>
          <p:nvSpPr>
            <p:cNvPr id="157" name="모서리가 둥근 직사각형 156"/>
            <p:cNvSpPr/>
            <p:nvPr/>
          </p:nvSpPr>
          <p:spPr>
            <a:xfrm>
              <a:off x="1075655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제출</a:t>
              </a:r>
            </a:p>
          </p:txBody>
        </p:sp>
        <p:sp>
          <p:nvSpPr>
            <p:cNvPr id="158" name="모서리가 둥근 직사각형 157"/>
            <p:cNvSpPr/>
            <p:nvPr/>
          </p:nvSpPr>
          <p:spPr>
            <a:xfrm>
              <a:off x="1376841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만료</a:t>
              </a:r>
            </a:p>
          </p:txBody>
        </p:sp>
      </p:grpSp>
      <p:grpSp>
        <p:nvGrpSpPr>
          <p:cNvPr id="160" name="그룹 159"/>
          <p:cNvGrpSpPr/>
          <p:nvPr/>
        </p:nvGrpSpPr>
        <p:grpSpPr>
          <a:xfrm>
            <a:off x="3881876" y="1598978"/>
            <a:ext cx="841905" cy="119400"/>
            <a:chOff x="781461" y="3087955"/>
            <a:chExt cx="841905" cy="119400"/>
          </a:xfrm>
        </p:grpSpPr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제조</a:t>
              </a:r>
            </a:p>
          </p:txBody>
        </p:sp>
        <p:sp>
          <p:nvSpPr>
            <p:cNvPr id="162" name="모서리가 둥근 직사각형 161"/>
            <p:cNvSpPr/>
            <p:nvPr/>
          </p:nvSpPr>
          <p:spPr>
            <a:xfrm>
              <a:off x="1075655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제출</a:t>
              </a:r>
            </a:p>
          </p:txBody>
        </p:sp>
        <p:sp>
          <p:nvSpPr>
            <p:cNvPr id="163" name="모서리가 둥근 직사각형 162"/>
            <p:cNvSpPr/>
            <p:nvPr/>
          </p:nvSpPr>
          <p:spPr>
            <a:xfrm>
              <a:off x="1376841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만료</a:t>
              </a: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3795735" y="2576379"/>
            <a:ext cx="2712026" cy="899454"/>
            <a:chOff x="675400" y="2576379"/>
            <a:chExt cx="2712026" cy="899454"/>
          </a:xfrm>
        </p:grpSpPr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57745" y="2576379"/>
              <a:ext cx="728875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spc="-52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문의처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65" name="그룹 164"/>
            <p:cNvGrpSpPr/>
            <p:nvPr/>
          </p:nvGrpSpPr>
          <p:grpSpPr>
            <a:xfrm flipV="1">
              <a:off x="3119832" y="2689710"/>
              <a:ext cx="94010" cy="47005"/>
              <a:chOff x="6812560" y="3297172"/>
              <a:chExt cx="94010" cy="47005"/>
            </a:xfrm>
          </p:grpSpPr>
          <p:cxnSp>
            <p:nvCxnSpPr>
              <p:cNvPr id="166" name="직선 연결선 16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7" name="직선 연결선 16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400" y="3475833"/>
              <a:ext cx="2712026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9" name="모서리가 둥근 직사각형 168"/>
            <p:cNvSpPr/>
            <p:nvPr/>
          </p:nvSpPr>
          <p:spPr>
            <a:xfrm>
              <a:off x="705042" y="3048695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0" name="그룹 169"/>
            <p:cNvGrpSpPr/>
            <p:nvPr/>
          </p:nvGrpSpPr>
          <p:grpSpPr>
            <a:xfrm>
              <a:off x="854871" y="2888603"/>
              <a:ext cx="2353084" cy="440219"/>
              <a:chOff x="854511" y="2888603"/>
              <a:chExt cx="2353084" cy="440219"/>
            </a:xfrm>
          </p:grpSpPr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854511" y="2888603"/>
                <a:ext cx="49390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부서명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647519" y="2888603"/>
                <a:ext cx="49390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담당자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560081" y="2888603"/>
                <a:ext cx="49390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연락처</a:t>
                </a:r>
                <a:endPara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854511" y="3167239"/>
                <a:ext cx="493904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 err="1">
                    <a:latin typeface="+mn-ea"/>
                  </a:rPr>
                  <a:t>총괄계약팀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1647519" y="3167239"/>
                <a:ext cx="638280" cy="107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홍길동</a:t>
                </a:r>
                <a:endPara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2560081" y="3113378"/>
                <a:ext cx="647514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02-1234-5678</a:t>
                </a:r>
              </a:p>
              <a:p>
                <a:r>
                  <a:rPr lang="en-US" altLang="ko-KR" sz="7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맑은 고딕" panose="020B0503020000020004" pitchFamily="50" charset="-127"/>
                  </a:rPr>
                  <a:t>010-1234-5678</a:t>
                </a:r>
              </a:p>
            </p:txBody>
          </p:sp>
        </p:grpSp>
      </p:grp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69439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06806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품목명세서</a:t>
            </a:r>
            <a:r>
              <a:rPr lang="ko-KR" altLang="en-US" dirty="0"/>
              <a:t> 목록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엑셀다운</a:t>
            </a:r>
            <a:r>
              <a:rPr lang="ko-KR" altLang="en-US" dirty="0"/>
              <a:t> 버튼 클릭 이벤트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제조</a:t>
            </a:r>
            <a:r>
              <a:rPr lang="en-US" altLang="ko-KR" dirty="0"/>
              <a:t>/</a:t>
            </a:r>
            <a:r>
              <a:rPr lang="ko-KR" altLang="en-US" dirty="0"/>
              <a:t>구매 및 의견 클릭 시 팝업으로 의견 작성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 작성 내역은 화면에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팝업에서 </a:t>
            </a:r>
            <a:r>
              <a:rPr lang="ko-KR" altLang="en-US" dirty="0" err="1"/>
              <a:t>임시저장</a:t>
            </a:r>
            <a:r>
              <a:rPr lang="ko-KR" altLang="en-US" dirty="0"/>
              <a:t> 또는 제출 클릭 시 본 화면에 내용 반영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제출 기간이 지난 경우 </a:t>
            </a:r>
            <a:r>
              <a:rPr lang="ko-KR" altLang="en-US" dirty="0" err="1"/>
              <a:t>입력폼</a:t>
            </a:r>
            <a:r>
              <a:rPr lang="ko-KR" altLang="en-US" dirty="0"/>
              <a:t> 노출하지 않으며</a:t>
            </a:r>
            <a:r>
              <a:rPr lang="en-US" altLang="ko-KR" dirty="0"/>
              <a:t>, </a:t>
            </a:r>
            <a:r>
              <a:rPr lang="ko-KR" altLang="en-US" dirty="0"/>
              <a:t>입력된 내역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재고번호</a:t>
            </a:r>
            <a:r>
              <a:rPr lang="ko-KR" altLang="en-US" dirty="0"/>
              <a:t> 팝업 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더보기</a:t>
            </a:r>
            <a:r>
              <a:rPr lang="ko-KR" altLang="en-US" dirty="0"/>
              <a:t> 버튼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사전의향서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사전의향서</a:t>
            </a:r>
            <a:r>
              <a:rPr lang="ko-KR" altLang="en-US" dirty="0"/>
              <a:t> 상세 화면 </a:t>
            </a:r>
            <a:r>
              <a:rPr lang="en-US" altLang="ko-KR" dirty="0"/>
              <a:t>– </a:t>
            </a:r>
            <a:r>
              <a:rPr lang="ko-KR" altLang="en-US" dirty="0" err="1"/>
              <a:t>품목명세서</a:t>
            </a:r>
            <a:r>
              <a:rPr lang="ko-KR" altLang="en-US" dirty="0"/>
              <a:t> 탭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/>
              <a:t>사전의향서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MUI-TS-01-M02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527996"/>
            <a:ext cx="127819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품목명세서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57" name="그룹 156"/>
          <p:cNvGrpSpPr/>
          <p:nvPr/>
        </p:nvGrpSpPr>
        <p:grpSpPr>
          <a:xfrm flipV="1">
            <a:off x="3124233" y="1641327"/>
            <a:ext cx="94010" cy="47005"/>
            <a:chOff x="6812560" y="3297172"/>
            <a:chExt cx="94010" cy="47005"/>
          </a:xfrm>
        </p:grpSpPr>
        <p:cxnSp>
          <p:nvCxnSpPr>
            <p:cNvPr id="158" name="직선 연결선 15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716366" y="2192581"/>
            <a:ext cx="2630094" cy="2154437"/>
            <a:chOff x="701175" y="1924233"/>
            <a:chExt cx="2630094" cy="2154437"/>
          </a:xfrm>
        </p:grpSpPr>
        <p:sp>
          <p:nvSpPr>
            <p:cNvPr id="160" name="직사각형 159"/>
            <p:cNvSpPr/>
            <p:nvPr/>
          </p:nvSpPr>
          <p:spPr>
            <a:xfrm>
              <a:off x="703268" y="1924233"/>
              <a:ext cx="792000" cy="21544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90331" y="1924234"/>
              <a:ext cx="725552" cy="21544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순번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구매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의견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조달요구번호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재고번호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부서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최초조달월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47180" y="1924234"/>
              <a:ext cx="1775839" cy="215443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</a:t>
              </a:r>
            </a:p>
            <a:p>
              <a:pPr>
                <a:lnSpc>
                  <a:spcPct val="200000"/>
                </a:lnSpc>
              </a:pPr>
              <a:endParaRPr lang="ko-KR" altLang="en-US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A7005265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srgbClr val="0070C0"/>
                  </a:solidFill>
                  <a:latin typeface="+mn-ea"/>
                </a:rPr>
                <a:t>4240-3753116870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AA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EA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총괄계약팀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2025-08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⁞</a:t>
              </a: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701175" y="1924234"/>
              <a:ext cx="2630093" cy="2147400"/>
              <a:chOff x="701175" y="1835481"/>
              <a:chExt cx="2630093" cy="2147400"/>
            </a:xfrm>
          </p:grpSpPr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183548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05022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2649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" name="직선 연결선 16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479162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" name="직선 연결선 16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6944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" name="직선 연결선 16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29091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1175" y="3123921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33866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1" name="직선 연결선 17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55340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2" name="직선 연결선 1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76814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73" name="직선 연결선 1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703268" y="398288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2836921" y="2813082"/>
              <a:ext cx="494347" cy="162000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rPr>
                <a:t>보기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67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547181" y="2384913"/>
              <a:ext cx="1784088" cy="162000"/>
            </a:xfrm>
            <a:prstGeom prst="roundRect">
              <a:avLst/>
            </a:prstGeom>
            <a:noFill/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맑은 고딕"/>
                </a:rPr>
                <a:t>의견을 작성해 주세</a:t>
              </a:r>
              <a:r>
                <a:rPr kumimoji="1" lang="ko-KR" altLang="en-US" sz="700" b="0" i="0" u="none" strike="noStrike" kern="0" cap="none" spc="0" normalizeH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맑은 고딕"/>
                </a:rPr>
                <a:t>요</a:t>
              </a:r>
              <a:r>
                <a:rPr kumimoji="1" lang="en-US" altLang="ko-KR" sz="700" b="0" i="0" u="none" strike="noStrike" kern="0" cap="none" spc="0" normalizeH="0" noProof="0" dirty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맑은 고딕"/>
                </a:rPr>
                <a:t>.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68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547181" y="2168862"/>
              <a:ext cx="1784088" cy="162000"/>
            </a:xfrm>
            <a:prstGeom prst="roundRect">
              <a:avLst/>
            </a:prstGeom>
            <a:noFill/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kern="0" dirty="0">
                  <a:solidFill>
                    <a:schemeClr val="bg1">
                      <a:lumMod val="65000"/>
                    </a:schemeClr>
                  </a:solidFill>
                  <a:latin typeface="맑은 고딕"/>
                </a:rPr>
                <a:t>선택해주세요</a:t>
              </a:r>
              <a:r>
                <a:rPr kumimoji="1" lang="en-US" altLang="ko-KR" sz="700" kern="0" dirty="0">
                  <a:solidFill>
                    <a:schemeClr val="bg1">
                      <a:lumMod val="65000"/>
                    </a:schemeClr>
                  </a:solidFill>
                  <a:latin typeface="맑은 고딕"/>
                </a:rPr>
                <a:t>.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맑은 고딕"/>
              </a:endParaRPr>
            </a:p>
          </p:txBody>
        </p:sp>
      </p:grp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8365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1901536"/>
            <a:ext cx="42578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3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832070"/>
            <a:ext cx="76863" cy="292489"/>
            <a:chOff x="3750067" y="4683795"/>
            <a:chExt cx="76863" cy="292489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3082766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7282" y="5472979"/>
            <a:ext cx="2448261" cy="1407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700" dirty="0">
                <a:solidFill>
                  <a:srgbClr val="FF0000"/>
                </a:solidFill>
              </a:rPr>
              <a:t>※ </a:t>
            </a:r>
            <a:r>
              <a:rPr lang="ko-KR" altLang="en-US" sz="700" dirty="0">
                <a:solidFill>
                  <a:srgbClr val="FF0000"/>
                </a:solidFill>
              </a:rPr>
              <a:t>제조</a:t>
            </a:r>
            <a:r>
              <a:rPr lang="en-US" altLang="ko-KR" sz="700" dirty="0">
                <a:solidFill>
                  <a:srgbClr val="FF0000"/>
                </a:solidFill>
              </a:rPr>
              <a:t>/</a:t>
            </a:r>
            <a:r>
              <a:rPr lang="ko-KR" altLang="en-US" sz="700" dirty="0">
                <a:solidFill>
                  <a:srgbClr val="FF0000"/>
                </a:solidFill>
              </a:rPr>
              <a:t>구매에서 </a:t>
            </a:r>
            <a:r>
              <a:rPr lang="en-US" altLang="ko-KR" sz="700" dirty="0">
                <a:solidFill>
                  <a:srgbClr val="FF0000"/>
                </a:solidFill>
              </a:rPr>
              <a:t>[</a:t>
            </a:r>
            <a:r>
              <a:rPr lang="ko-KR" altLang="en-US" sz="700" dirty="0" err="1">
                <a:solidFill>
                  <a:srgbClr val="FF0000"/>
                </a:solidFill>
              </a:rPr>
              <a:t>의견작성</a:t>
            </a:r>
            <a:r>
              <a:rPr lang="en-US" altLang="ko-KR" sz="700" dirty="0">
                <a:solidFill>
                  <a:srgbClr val="FF0000"/>
                </a:solidFill>
              </a:rPr>
              <a:t>] </a:t>
            </a:r>
            <a:r>
              <a:rPr lang="ko-KR" altLang="en-US" sz="700" dirty="0">
                <a:solidFill>
                  <a:srgbClr val="FF0000"/>
                </a:solidFill>
              </a:rPr>
              <a:t>선택 시 의견 작성 가능합니다</a:t>
            </a:r>
            <a:r>
              <a:rPr lang="en-US" altLang="ko-KR" sz="7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193627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70" name="그룹 69"/>
          <p:cNvGrpSpPr/>
          <p:nvPr/>
        </p:nvGrpSpPr>
        <p:grpSpPr>
          <a:xfrm>
            <a:off x="3124233" y="2484826"/>
            <a:ext cx="94010" cy="47005"/>
            <a:chOff x="6812560" y="3297172"/>
            <a:chExt cx="94010" cy="47005"/>
          </a:xfrm>
        </p:grpSpPr>
        <p:cxnSp>
          <p:nvCxnSpPr>
            <p:cNvPr id="71" name="직선 연결선 7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직선 연결선 7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3" name="양쪽 모서리가 둥근 사각형 82"/>
          <p:cNvSpPr/>
          <p:nvPr/>
        </p:nvSpPr>
        <p:spPr>
          <a:xfrm>
            <a:off x="3799479" y="3011653"/>
            <a:ext cx="2712027" cy="3215510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885492" y="3048280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85" name="그룹 84"/>
          <p:cNvGrpSpPr/>
          <p:nvPr/>
        </p:nvGrpSpPr>
        <p:grpSpPr>
          <a:xfrm>
            <a:off x="6288418" y="3182696"/>
            <a:ext cx="94010" cy="94010"/>
            <a:chOff x="6812560" y="3297172"/>
            <a:chExt cx="94010" cy="94010"/>
          </a:xfrm>
        </p:grpSpPr>
        <p:cxnSp>
          <p:nvCxnSpPr>
            <p:cNvPr id="95" name="직선 연결선 94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직선 연결선 95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8556" y="3163375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제조</a:t>
            </a:r>
            <a:r>
              <a:rPr lang="en-US" altLang="ko-KR" sz="900" dirty="0">
                <a:latin typeface="+mn-ea"/>
              </a:rPr>
              <a:t>/</a:t>
            </a:r>
            <a:r>
              <a:rPr lang="ko-KR" altLang="en-US" sz="900" dirty="0">
                <a:latin typeface="+mn-ea"/>
              </a:rPr>
              <a:t>구매</a:t>
            </a:r>
            <a:r>
              <a:rPr lang="en-US" altLang="ko-KR" sz="900" dirty="0">
                <a:latin typeface="+mn-ea"/>
              </a:rPr>
              <a:t>/</a:t>
            </a:r>
            <a:r>
              <a:rPr lang="ko-KR" altLang="en-US" sz="900" dirty="0" err="1">
                <a:latin typeface="+mn-ea"/>
              </a:rPr>
              <a:t>의견작성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9479" y="342477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8" name="모서리가 둥근 직사각형 87"/>
          <p:cNvSpPr/>
          <p:nvPr/>
        </p:nvSpPr>
        <p:spPr>
          <a:xfrm>
            <a:off x="4567958" y="3563324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선택해주세요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8556" y="3631637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제조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>
                <a:latin typeface="+mn-ea"/>
              </a:rPr>
              <a:t>구매</a:t>
            </a:r>
            <a:endParaRPr lang="en-US" altLang="ko-KR" sz="700" dirty="0">
              <a:latin typeface="+mn-ea"/>
            </a:endParaRPr>
          </a:p>
        </p:txBody>
      </p:sp>
      <p:sp>
        <p:nvSpPr>
          <p:cNvPr id="90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4567958" y="4193223"/>
            <a:ext cx="1845838" cy="244350"/>
          </a:xfrm>
          <a:prstGeom prst="roundRect">
            <a:avLst/>
          </a:prstGeom>
          <a:solidFill>
            <a:srgbClr val="0070C0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>
                <a:solidFill>
                  <a:schemeClr val="bg1"/>
                </a:solidFill>
                <a:latin typeface="맑은 고딕"/>
                <a:ea typeface="맑은 고딕" panose="020B0503020000020004" pitchFamily="50" charset="-127"/>
              </a:rPr>
              <a:t>제출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802040" y="4506743"/>
            <a:ext cx="2712027" cy="172042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가상 </a:t>
            </a:r>
            <a:r>
              <a:rPr lang="ko-KR" altLang="en-US" dirty="0" err="1">
                <a:solidFill>
                  <a:sysClr val="windowText" lastClr="000000"/>
                </a:solidFill>
              </a:rPr>
              <a:t>키패드</a:t>
            </a:r>
            <a:r>
              <a:rPr lang="ko-KR" altLang="en-US" dirty="0">
                <a:solidFill>
                  <a:sysClr val="windowText" lastClr="000000"/>
                </a:solidFill>
              </a:rPr>
              <a:t> 영역</a:t>
            </a:r>
          </a:p>
        </p:txBody>
      </p:sp>
      <p:sp>
        <p:nvSpPr>
          <p:cNvPr id="98" name="모서리가 둥근 직사각형 97"/>
          <p:cNvSpPr/>
          <p:nvPr/>
        </p:nvSpPr>
        <p:spPr>
          <a:xfrm>
            <a:off x="4567958" y="3872360"/>
            <a:ext cx="1845838" cy="244348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700" kern="0" dirty="0">
                <a:solidFill>
                  <a:schemeClr val="bg1">
                    <a:lumMod val="65000"/>
                  </a:schemeClr>
                </a:solidFill>
              </a:rPr>
              <a:t>의견을 작성하세요</a:t>
            </a:r>
            <a:r>
              <a:rPr kumimoji="1" lang="en-US" altLang="ko-KR" sz="700" kern="0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8556" y="3940673"/>
            <a:ext cx="6707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의견</a:t>
            </a:r>
            <a:endParaRPr lang="en-US" altLang="ko-KR" sz="700" dirty="0">
              <a:latin typeface="+mn-ea"/>
            </a:endParaRPr>
          </a:p>
        </p:txBody>
      </p:sp>
      <p:sp>
        <p:nvSpPr>
          <p:cNvPr id="105" name="사각형: 둥근 모서리 15">
            <a:extLst>
              <a:ext uri="{FF2B5EF4-FFF2-40B4-BE49-F238E27FC236}">
                <a16:creationId xmlns:a16="http://schemas.microsoft.com/office/drawing/2014/main" id="{E2B61CFB-AD16-68D0-8752-50D9C5E01971}"/>
              </a:ext>
            </a:extLst>
          </p:cNvPr>
          <p:cNvSpPr/>
          <p:nvPr/>
        </p:nvSpPr>
        <p:spPr>
          <a:xfrm>
            <a:off x="3928556" y="4193223"/>
            <a:ext cx="586688" cy="244350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임시저장</a:t>
            </a:r>
            <a:endParaRPr kumimoji="1" lang="en-US" sz="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</a:endParaRPr>
          </a:p>
        </p:txBody>
      </p:sp>
      <p:grpSp>
        <p:nvGrpSpPr>
          <p:cNvPr id="106" name="그룹 105"/>
          <p:cNvGrpSpPr/>
          <p:nvPr/>
        </p:nvGrpSpPr>
        <p:grpSpPr>
          <a:xfrm>
            <a:off x="6194408" y="3661996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직선 연결선 109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1" name="그룹 110"/>
          <p:cNvGrpSpPr/>
          <p:nvPr/>
        </p:nvGrpSpPr>
        <p:grpSpPr>
          <a:xfrm>
            <a:off x="6252303" y="3761146"/>
            <a:ext cx="776938" cy="1131139"/>
            <a:chOff x="3004764" y="2490533"/>
            <a:chExt cx="776938" cy="1131139"/>
          </a:xfrm>
        </p:grpSpPr>
        <p:sp>
          <p:nvSpPr>
            <p:cNvPr id="112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3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선택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39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257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제조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40" name="TextBox 227">
              <a:extLst>
                <a:ext uri="{FF2B5EF4-FFF2-40B4-BE49-F238E27FC236}">
                  <a16:creationId xmlns:a16="http://schemas.microsoft.com/office/drawing/2014/main" id="{16FE1925-95A9-0AB2-6154-E506938CFD04}"/>
                </a:ext>
              </a:extLst>
            </p:cNvPr>
            <p:cNvSpPr txBox="1"/>
            <p:nvPr/>
          </p:nvSpPr>
          <p:spPr>
            <a:xfrm>
              <a:off x="3063151" y="3325305"/>
              <a:ext cx="641770" cy="257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ko-KR" altLang="en-US" sz="700" kern="0" dirty="0" err="1">
                  <a:solidFill>
                    <a:prstClr val="black"/>
                  </a:solidFill>
                </a:rPr>
                <a:t>의견작성</a:t>
              </a:r>
              <a:endParaRPr lang="en-US" altLang="ko-KR" sz="700" kern="0" dirty="0">
                <a:solidFill>
                  <a:prstClr val="black"/>
                </a:solidFill>
              </a:endParaRPr>
            </a:p>
          </p:txBody>
        </p:sp>
        <p:sp>
          <p:nvSpPr>
            <p:cNvPr id="141" name="TextBox 230">
              <a:extLst>
                <a:ext uri="{FF2B5EF4-FFF2-40B4-BE49-F238E27FC236}">
                  <a16:creationId xmlns:a16="http://schemas.microsoft.com/office/drawing/2014/main" id="{DC4EA8A9-095A-0AC6-FEBF-364DA2336F3D}"/>
                </a:ext>
              </a:extLst>
            </p:cNvPr>
            <p:cNvSpPr txBox="1"/>
            <p:nvPr/>
          </p:nvSpPr>
          <p:spPr>
            <a:xfrm>
              <a:off x="3063151" y="3079596"/>
              <a:ext cx="641770" cy="257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latinLnBrk="0">
                <a:lnSpc>
                  <a:spcPct val="180000"/>
                </a:lnSpc>
                <a:defRPr/>
              </a:pPr>
              <a:r>
                <a:rPr lang="ko-KR" altLang="en-US" sz="700" kern="0" dirty="0">
                  <a:solidFill>
                    <a:prstClr val="black"/>
                  </a:solidFill>
                </a:rPr>
                <a:t>구매</a:t>
              </a:r>
              <a:endParaRPr lang="en-US" altLang="ko-KR" sz="700" kern="0" dirty="0">
                <a:solidFill>
                  <a:prstClr val="black"/>
                </a:solidFill>
              </a:endParaRPr>
            </a:p>
          </p:txBody>
        </p:sp>
        <p:grpSp>
          <p:nvGrpSpPr>
            <p:cNvPr id="142" name="그룹 141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43" name="직선 연결선 142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직선 연결선 143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45" name="타원 14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370835" y="2552429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5" name="직사각형 4"/>
          <p:cNvSpPr/>
          <p:nvPr/>
        </p:nvSpPr>
        <p:spPr>
          <a:xfrm>
            <a:off x="3799479" y="1280418"/>
            <a:ext cx="99257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latin typeface="+mn-ea"/>
              </a:rPr>
              <a:t>MUI-TS-01-P03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95064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12775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사전의향서 상세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사전의향서 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bfhdLoiNo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사전의향서 식별을 위한 사전의향서 번호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4F85CA-096A-8D3B-930E-59C75F3DDFBB}"/>
              </a:ext>
            </a:extLst>
          </p:cNvPr>
          <p:cNvSpPr txBox="1"/>
          <p:nvPr/>
        </p:nvSpPr>
        <p:spPr>
          <a:xfrm>
            <a:off x="444290" y="1474858"/>
            <a:ext cx="189692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집행계획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A644FDB-5A9B-8507-D8BC-C4428E92034B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695852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bfhdLoiTtl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접수시작일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rcptBgngYmd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접수시작일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yyyy-mm-dd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51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접수종료일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rcptEndYmd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접수종료일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0061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CA7E6DC-64DA-F832-9B8C-583A3EE86AB5}"/>
              </a:ext>
            </a:extLst>
          </p:cNvPr>
          <p:cNvSpPr txBox="1"/>
          <p:nvPr/>
        </p:nvSpPr>
        <p:spPr>
          <a:xfrm>
            <a:off x="444290" y="2552943"/>
            <a:ext cx="1781504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문의처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D129D29-12E7-EC4C-5A21-9EA7614AFC21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2765228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5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userNm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담당자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83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telNum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47B5F06-C68F-2911-0D19-44F26088A7FB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(1/2)</a:t>
            </a:r>
            <a:endParaRPr lang="ko-KR" altLang="en-US" sz="1000" b="1" dirty="0"/>
          </a:p>
        </p:txBody>
      </p:sp>
      <p:sp>
        <p:nvSpPr>
          <p:cNvPr id="10" name="Text Box 73">
            <a:extLst>
              <a:ext uri="{FF2B5EF4-FFF2-40B4-BE49-F238E27FC236}">
                <a16:creationId xmlns:a16="http://schemas.microsoft.com/office/drawing/2014/main" id="{608CDF3B-5A29-9ECB-44E4-5F1BF253D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04824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62D770-B0E9-489E-BEA0-EE1CC1E3753C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/>
              <a:t>(2/2)</a:t>
            </a:r>
            <a:endParaRPr lang="ko-KR" altLang="en-US" sz="1000" b="1" dirty="0"/>
          </a:p>
        </p:txBody>
      </p:sp>
      <p:sp>
        <p:nvSpPr>
          <p:cNvPr id="7" name="Text Box 73">
            <a:extLst>
              <a:ext uri="{FF2B5EF4-FFF2-40B4-BE49-F238E27FC236}">
                <a16:creationId xmlns:a16="http://schemas.microsoft.com/office/drawing/2014/main" id="{3366E91D-66A4-9A5D-F342-3775D21BD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239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352534-CB1C-39EB-E291-645AA1AC444B}"/>
              </a:ext>
            </a:extLst>
          </p:cNvPr>
          <p:cNvSpPr txBox="1"/>
          <p:nvPr/>
        </p:nvSpPr>
        <p:spPr>
          <a:xfrm>
            <a:off x="444290" y="805190"/>
            <a:ext cx="22832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물품명세서 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82828CA-950F-BA1E-29D3-FFAF98E4A084}"/>
              </a:ext>
            </a:extLst>
          </p:cNvPr>
          <p:cNvGraphicFramePr>
            <a:graphicFrameLocks noGrp="1"/>
          </p:cNvGraphicFramePr>
          <p:nvPr/>
        </p:nvGraphicFramePr>
        <p:xfrm>
          <a:off x="444290" y="1026184"/>
          <a:ext cx="8994883" cy="38784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물품명세서 목록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mnftrPrchsSecd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의견작성 선택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의견작성 선택 가능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290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etcOpnnCn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항목의 선택 값이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입력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194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prcmRqtNo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조달요구번호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03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mdfcnInvtNo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재고번호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086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itemNm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51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unitCd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006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deptCd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5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최초조달원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frstSosCd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최초조달원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SPU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83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현재조달원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implInstCd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현재조달원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PRS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16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장기사업구분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lshtmSecd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장기사업구분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UB50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16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bgtSecd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KB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919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정비품목구분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mtncItemSecd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정비품목구분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RCC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379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spcfctNo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규격번호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506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rqtYmd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762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조달지시구분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prcmDrctnSecd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조달지시구분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POD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83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rqtQty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344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rqtUntprc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640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맑은 고딕" panose="020B0503020000020004" pitchFamily="50" charset="-127"/>
                        </a:rPr>
                        <a:t>rqtAmt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 (본문)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요구금액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289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8378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71EBCAA-7B98-9BE9-EE25-662CA3DE8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160993"/>
              </p:ext>
            </p:extLst>
          </p:nvPr>
        </p:nvGraphicFramePr>
        <p:xfrm>
          <a:off x="453000" y="851801"/>
          <a:ext cx="8995591" cy="1335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9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 그리드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scwin.grp_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mnftrPrchsSecd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의견작성 을 선택할 수 있는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selectBox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가 활성화된다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823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임시저장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scwin.grp_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save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입력한 내역이 저장된다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020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scwin.grp_</a:t>
                      </a:r>
                      <a:r>
                        <a:rPr lang="en-U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 (본문)"/>
                          <a:ea typeface="+mn-ea"/>
                        </a:rPr>
                        <a:t>submit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입력한 내역이 저장되며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제출처리 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9319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48532B5-4519-DD07-2B67-714EA926EFF9}"/>
              </a:ext>
            </a:extLst>
          </p:cNvPr>
          <p:cNvSpPr txBox="1"/>
          <p:nvPr/>
        </p:nvSpPr>
        <p:spPr>
          <a:xfrm>
            <a:off x="458117" y="590378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1C13369B-4248-C066-3634-FD775F16E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5768" y="649812"/>
            <a:ext cx="1368329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1956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2. </a:t>
            </a:r>
            <a:r>
              <a:rPr lang="ko-KR" altLang="en-US" dirty="0">
                <a:latin typeface="+mn-ea"/>
              </a:rPr>
              <a:t>세금계산서</a:t>
            </a:r>
            <a:r>
              <a:rPr lang="ko-KR" altLang="en-US" dirty="0"/>
              <a:t> 메뉴</a:t>
            </a:r>
            <a:endParaRPr lang="en-US" altLang="ko-KR" dirty="0"/>
          </a:p>
          <a:p>
            <a:r>
              <a:rPr lang="en-US" altLang="ko-KR" dirty="0"/>
              <a:t>2.1 </a:t>
            </a:r>
            <a:r>
              <a:rPr lang="ko-KR" altLang="en-US" dirty="0"/>
              <a:t>화면 목록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15946"/>
              </p:ext>
            </p:extLst>
          </p:nvPr>
        </p:nvGraphicFramePr>
        <p:xfrm>
          <a:off x="635474" y="1413419"/>
          <a:ext cx="8701200" cy="17750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MUI-TS-04-M01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계약목록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TxivList_CtrtList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세금계산서가 있는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계약정보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목록 조회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txivList_CtrtList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TxivList_CtrtListPage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MUI-TS-04-M01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TxivList_SrchFilter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txivList_CtrtList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TxivList_SrchFilter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82166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MUI-TS-04-P02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세금계산서목록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TxivList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계약정보에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포함된 세금계산서 목록 조회 팝업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txivListPage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TxivListPage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624777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MUI-TS-04-M03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세금계산서상세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TxivDtlPage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계약건에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대한 일반 또는 수정세금계산서 조회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txivDtl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TxivDtlPage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MUI-TS-04-M04</a:t>
                      </a:r>
                      <a:endParaRPr 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세금계산서진행현황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TxivPrgrsPrst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발행일자별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세금계산서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진행현황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목록 조회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txivPrgrsPrst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TxivPrgrsPrstPage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UC-SB-08-01</a:t>
                      </a:r>
                    </a:p>
                    <a:p>
                      <a:pPr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UC-SB-08-02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788523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69281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계약 목록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228614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435474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검색 필터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266608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3732175" y="713397"/>
            <a:ext cx="12700" cy="183113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191585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2816608" y="1261938"/>
            <a:ext cx="447238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검색 반영</a:t>
            </a:r>
          </a:p>
        </p:txBody>
      </p:sp>
      <p:cxnSp>
        <p:nvCxnSpPr>
          <p:cNvPr id="3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48" idx="1"/>
          </p:cNvCxnSpPr>
          <p:nvPr/>
        </p:nvCxnSpPr>
        <p:spPr>
          <a:xfrm>
            <a:off x="3266608" y="1772964"/>
            <a:ext cx="931134" cy="6815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 목록</a:t>
            </a: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48" idx="3"/>
            <a:endCxn id="55" idx="1"/>
          </p:cNvCxnSpPr>
          <p:nvPr/>
        </p:nvCxnSpPr>
        <p:spPr>
          <a:xfrm>
            <a:off x="5097742" y="2454537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7651013" y="2573313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7680010" y="2364537"/>
            <a:ext cx="180000" cy="180000"/>
            <a:chOff x="5058274" y="2498299"/>
            <a:chExt cx="180000" cy="180000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55" idx="3"/>
            <a:endCxn id="53" idx="2"/>
          </p:cNvCxnSpPr>
          <p:nvPr/>
        </p:nvCxnSpPr>
        <p:spPr>
          <a:xfrm>
            <a:off x="6928876" y="2454537"/>
            <a:ext cx="75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299211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세금계산서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진행현황</a:t>
            </a:r>
            <a:r>
              <a:rPr lang="ko-KR" altLang="en-US" sz="800" dirty="0">
                <a:solidFill>
                  <a:schemeClr val="tx1"/>
                </a:solidFill>
              </a:rPr>
              <a:t> 목록</a:t>
            </a:r>
          </a:p>
        </p:txBody>
      </p:sp>
      <p:cxnSp>
        <p:nvCxnSpPr>
          <p:cNvPr id="7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1" idx="3"/>
            <a:endCxn id="55" idx="1"/>
          </p:cNvCxnSpPr>
          <p:nvPr/>
        </p:nvCxnSpPr>
        <p:spPr>
          <a:xfrm flipV="1">
            <a:off x="3266608" y="2454537"/>
            <a:ext cx="2762268" cy="681573"/>
          </a:xfrm>
          <a:prstGeom prst="bentConnector3">
            <a:avLst>
              <a:gd name="adj1" fmla="val 8379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" idx="6"/>
            <a:endCxn id="61" idx="1"/>
          </p:cNvCxnSpPr>
          <p:nvPr/>
        </p:nvCxnSpPr>
        <p:spPr>
          <a:xfrm>
            <a:off x="1435474" y="1772964"/>
            <a:ext cx="931134" cy="136314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197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706127" y="2747194"/>
            <a:ext cx="2141782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</a:t>
            </a:r>
            <a:r>
              <a:rPr lang="ko-KR" altLang="en-US" sz="1100" dirty="0"/>
              <a:t> 세금계산서</a:t>
            </a:r>
            <a:r>
              <a:rPr lang="en-US" altLang="ko-KR" sz="1100" dirty="0"/>
              <a:t>Controller&gt;&gt;</a:t>
            </a:r>
          </a:p>
          <a:p>
            <a:pPr algn="ctr"/>
            <a:r>
              <a:rPr lang="en-US" altLang="ko-KR" sz="1100" dirty="0" err="1"/>
              <a:t>TaxivController</a:t>
            </a:r>
            <a:endParaRPr lang="en-US" altLang="ko-KR" sz="11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2186890"/>
            <a:ext cx="967509" cy="803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992582" y="2990174"/>
            <a:ext cx="967509" cy="1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992582" y="2990174"/>
            <a:ext cx="967509" cy="806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0188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890475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계약목록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TxivList_CtrtListPage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614712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세금계산서목록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TxivListPage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338948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검색필터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TxivList_SrchFilter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061899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세금계산서진행현황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TxivPrgrsPrstPage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784851"/>
            <a:ext cx="1727200" cy="533544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세금계산서상세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TxivDtlPage</a:t>
            </a:r>
            <a:r>
              <a:rPr lang="en-US" altLang="ko-KR" sz="1000" dirty="0" err="1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 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1338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2061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172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공지사항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필터</a:t>
            </a:r>
            <a:r>
              <a:rPr lang="en-US" altLang="ko-KR" dirty="0"/>
              <a:t>, </a:t>
            </a: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상세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세금계산서 </a:t>
            </a:r>
            <a:r>
              <a:rPr lang="ko-KR" altLang="en-US" dirty="0" err="1"/>
              <a:t>여러건이</a:t>
            </a:r>
            <a:r>
              <a:rPr lang="ko-KR" altLang="en-US" dirty="0"/>
              <a:t> 물려 있는 경우 </a:t>
            </a:r>
            <a:r>
              <a:rPr lang="ko-KR" altLang="en-US" dirty="0" err="1"/>
              <a:t>바텀</a:t>
            </a:r>
            <a:r>
              <a:rPr lang="ko-KR" altLang="en-US" dirty="0"/>
              <a:t> 시트를 통해 세금계산서 발행 목록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</a:t>
            </a:r>
            <a:r>
              <a:rPr lang="ko-KR" altLang="en-US" dirty="0" err="1"/>
              <a:t>검색필터</a:t>
            </a:r>
            <a:r>
              <a:rPr lang="ko-KR" altLang="en-US" dirty="0"/>
              <a:t> 적용 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- 4</a:t>
            </a:r>
            <a:r>
              <a:rPr lang="ko-KR" altLang="en-US" dirty="0" err="1"/>
              <a:t>번항</a:t>
            </a:r>
            <a:r>
              <a:rPr lang="ko-KR" altLang="en-US" dirty="0"/>
              <a:t> 목록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스크롤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세금계산서 계약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세금계산서 계약 목록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세금계산서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MUI-TS-04-M01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세금계산서 </a:t>
            </a:r>
            <a:r>
              <a:rPr lang="ko-KR" altLang="en-US" sz="800" dirty="0">
                <a:latin typeface="+mn-ea"/>
              </a:rPr>
              <a:t>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2401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3895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81461" y="3369565"/>
            <a:ext cx="2473257" cy="821562"/>
            <a:chOff x="781461" y="2610063"/>
            <a:chExt cx="2473257" cy="821562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 000 000 - 01</a:t>
              </a:r>
            </a:p>
            <a:p>
              <a:r>
                <a:rPr lang="ko-KR" altLang="en-US" sz="900" b="1" dirty="0"/>
                <a:t>변속기 부품 계약의 건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432811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업체코드</a:t>
              </a:r>
              <a:r>
                <a:rPr lang="en-US" altLang="ko-KR" sz="600" dirty="0">
                  <a:latin typeface="+mn-ea"/>
                </a:rPr>
                <a:t>(</a:t>
              </a:r>
              <a:r>
                <a:rPr lang="ko-KR" altLang="en-US" sz="600" dirty="0">
                  <a:latin typeface="+mn-ea"/>
                </a:rPr>
                <a:t>명</a:t>
              </a:r>
              <a:r>
                <a:rPr lang="en-US" altLang="ko-KR" sz="600" dirty="0">
                  <a:latin typeface="+mn-ea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계약담당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230832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 </a:t>
              </a:r>
              <a:r>
                <a:rPr lang="ko-KR" altLang="en-US" sz="600" dirty="0">
                  <a:latin typeface="+mn-ea"/>
                </a:rPr>
                <a:t>업체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제조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2610063"/>
              <a:ext cx="39641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60914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4420083"/>
            <a:ext cx="2476203" cy="803737"/>
            <a:chOff x="778515" y="2610063"/>
            <a:chExt cx="2476203" cy="803737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 000 000 - 01</a:t>
              </a:r>
            </a:p>
            <a:p>
              <a:r>
                <a:rPr lang="ko-KR" altLang="en-US" sz="900" b="1" dirty="0"/>
                <a:t>변속기 부품 계약의 건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432811" cy="25917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업체코드</a:t>
              </a:r>
              <a:r>
                <a:rPr lang="en-US" altLang="ko-KR" sz="600" dirty="0">
                  <a:latin typeface="+mn-ea"/>
                </a:rPr>
                <a:t>(</a:t>
              </a:r>
              <a:r>
                <a:rPr lang="ko-KR" altLang="en-US" sz="600" dirty="0">
                  <a:latin typeface="+mn-ea"/>
                </a:rPr>
                <a:t>명</a:t>
              </a:r>
              <a:r>
                <a:rPr lang="en-US" altLang="ko-KR" sz="600" dirty="0">
                  <a:latin typeface="+mn-ea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계약담당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232436" cy="25917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A </a:t>
              </a:r>
              <a:r>
                <a:rPr lang="ko-KR" altLang="en-US" sz="600" dirty="0">
                  <a:latin typeface="+mn-ea"/>
                </a:rPr>
                <a:t>업체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홍길동</a:t>
              </a: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구매</a:t>
              </a: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075655" y="2610063"/>
              <a:ext cx="396417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경쟁입찰</a:t>
              </a:r>
              <a:endParaRPr lang="ko-KR" altLang="en-US" sz="600" dirty="0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01560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537860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1015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3544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만료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제출기한</a:t>
            </a:r>
          </a:p>
        </p:txBody>
      </p:sp>
      <p:sp>
        <p:nvSpPr>
          <p:cNvPr id="182" name="모서리가 둥근 직사각형 181"/>
          <p:cNvSpPr/>
          <p:nvPr/>
        </p:nvSpPr>
        <p:spPr>
          <a:xfrm>
            <a:off x="4614060" y="3209690"/>
            <a:ext cx="32324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미제출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4318635" y="320969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제출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1552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제출여부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614060" y="3542221"/>
            <a:ext cx="32324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>
                <a:solidFill>
                  <a:schemeClr val="dk1"/>
                </a:solidFill>
              </a:rPr>
              <a:t>미제출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46" name="모서리가 둥근 직사각형 145"/>
          <p:cNvSpPr/>
          <p:nvPr/>
        </p:nvSpPr>
        <p:spPr>
          <a:xfrm>
            <a:off x="4318635" y="354222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제출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548060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계약종류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8" name="모서리가 둥근 직사각형 147"/>
          <p:cNvSpPr/>
          <p:nvPr/>
        </p:nvSpPr>
        <p:spPr>
          <a:xfrm>
            <a:off x="4318635" y="388283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149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88867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4776097" y="388283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5232765" y="388283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5690227" y="388283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6147576" y="388283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4318635" y="405521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5199541" y="4055214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5885028" y="4055214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318635" y="4223183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4876890" y="4223183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9" name="모서리가 둥근 직사각형 158"/>
          <p:cNvSpPr/>
          <p:nvPr/>
        </p:nvSpPr>
        <p:spPr>
          <a:xfrm>
            <a:off x="5767485" y="4223183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4608594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62" name="모서리가 둥근 직사각형 161"/>
          <p:cNvSpPr/>
          <p:nvPr/>
        </p:nvSpPr>
        <p:spPr>
          <a:xfrm>
            <a:off x="490952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521050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5513581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431316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93" name="그룹 92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94" name="직선 연결선 9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직선 연결선 9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7" name="그룹 96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98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9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01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02" name="그룹 101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03" name="직선 연결선 102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grpSp>
        <p:nvGrpSpPr>
          <p:cNvPr id="106" name="그룹 105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07" name="모서리가 둥근 직사각형 106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타원 107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10" name="그룹 109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17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18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11" name="타원 110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12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13" name="타원 112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14" name="그룹 113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15" name="직선 연결선 114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74432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세금계산서목록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세금계산서 </a:t>
            </a:r>
            <a:r>
              <a:rPr lang="ko-KR" altLang="en-US" dirty="0" err="1"/>
              <a:t>여러건이</a:t>
            </a:r>
            <a:r>
              <a:rPr lang="ko-KR" altLang="en-US" dirty="0"/>
              <a:t> 물려있는 경우 팝업에서 목록을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세부 목록 선택 시 상세 페이지 이동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세금계산서 목록 팝업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세금계산서 목록 팝업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세금계산서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MUI-TS-04-P02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세금계산서 </a:t>
            </a:r>
            <a:r>
              <a:rPr lang="ko-KR" altLang="en-US" sz="800" dirty="0">
                <a:latin typeface="+mn-ea"/>
              </a:rPr>
              <a:t>목록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양쪽 모서리가 둥근 사각형 165"/>
          <p:cNvSpPr/>
          <p:nvPr/>
        </p:nvSpPr>
        <p:spPr>
          <a:xfrm>
            <a:off x="675399" y="1914401"/>
            <a:ext cx="2712027" cy="4317897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1761412" y="195102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168" name="그룹 167"/>
          <p:cNvGrpSpPr/>
          <p:nvPr/>
        </p:nvGrpSpPr>
        <p:grpSpPr>
          <a:xfrm>
            <a:off x="3164338" y="2085445"/>
            <a:ext cx="94010" cy="94010"/>
            <a:chOff x="6812560" y="3297172"/>
            <a:chExt cx="94010" cy="94010"/>
          </a:xfrm>
        </p:grpSpPr>
        <p:cxnSp>
          <p:nvCxnSpPr>
            <p:cNvPr id="169" name="직선 연결선 16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직선 연결선 16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2" name="TextBox 1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4476" y="206612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세부 세금계산서 목록</a:t>
            </a: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3275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0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13061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191" name="그룹 190"/>
          <p:cNvGrpSpPr/>
          <p:nvPr/>
        </p:nvGrpSpPr>
        <p:grpSpPr>
          <a:xfrm>
            <a:off x="781461" y="3199121"/>
            <a:ext cx="2473257" cy="807615"/>
            <a:chOff x="781461" y="2610063"/>
            <a:chExt cx="2473257" cy="807615"/>
          </a:xfrm>
        </p:grpSpPr>
        <p:sp>
          <p:nvSpPr>
            <p:cNvPr id="19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계산서 </a:t>
              </a:r>
              <a:r>
                <a:rPr lang="ko-KR" altLang="en-US" sz="700" dirty="0" err="1"/>
                <a:t>발행번호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2118F-0000-0000</a:t>
              </a:r>
              <a:endParaRPr lang="ko-KR" altLang="en-US" sz="900" b="1" dirty="0"/>
            </a:p>
          </p:txBody>
        </p:sp>
        <p:sp>
          <p:nvSpPr>
            <p:cNvPr id="193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02180"/>
              <a:ext cx="307777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공급가액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발행일자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194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2986791"/>
              <a:ext cx="657231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2025-10-15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95" name="모서리가 둥근 직사각형 194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일반</a:t>
              </a:r>
            </a:p>
          </p:txBody>
        </p:sp>
        <p:sp>
          <p:nvSpPr>
            <p:cNvPr id="196" name="모서리가 둥근 직사각형 195"/>
            <p:cNvSpPr/>
            <p:nvPr/>
          </p:nvSpPr>
          <p:spPr>
            <a:xfrm>
              <a:off x="1075654" y="2610063"/>
              <a:ext cx="47453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/>
                <a:t>국세청승인</a:t>
              </a:r>
              <a:endParaRPr lang="ko-KR" altLang="en-US" sz="600" dirty="0"/>
            </a:p>
          </p:txBody>
        </p:sp>
      </p:grp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314962"/>
            <a:ext cx="76863" cy="292489"/>
            <a:chOff x="3750067" y="4683795"/>
            <a:chExt cx="76863" cy="292489"/>
          </a:xfrm>
        </p:grpSpPr>
        <p:sp>
          <p:nvSpPr>
            <p:cNvPr id="198" name="타원 19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99" name="타원 19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00" name="타원 19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13111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9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46715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 000 000 - 01</a:t>
            </a:r>
          </a:p>
          <a:p>
            <a:r>
              <a:rPr lang="ko-KR" altLang="en-US" sz="900" b="1" dirty="0"/>
              <a:t>변속기 부품 계약의 건</a:t>
            </a:r>
          </a:p>
        </p:txBody>
      </p: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75932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11" name="그룹 210"/>
          <p:cNvGrpSpPr/>
          <p:nvPr/>
        </p:nvGrpSpPr>
        <p:grpSpPr>
          <a:xfrm>
            <a:off x="781461" y="4261376"/>
            <a:ext cx="2473257" cy="807615"/>
            <a:chOff x="781461" y="2610063"/>
            <a:chExt cx="2473257" cy="807615"/>
          </a:xfrm>
        </p:grpSpPr>
        <p:sp>
          <p:nvSpPr>
            <p:cNvPr id="212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계산서 </a:t>
              </a:r>
              <a:r>
                <a:rPr lang="ko-KR" altLang="en-US" sz="700" dirty="0" err="1"/>
                <a:t>발행번호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2118F-0000-0000</a:t>
              </a:r>
              <a:endParaRPr lang="ko-KR" altLang="en-US" sz="900" b="1" dirty="0"/>
            </a:p>
          </p:txBody>
        </p:sp>
        <p:sp>
          <p:nvSpPr>
            <p:cNvPr id="213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002180"/>
              <a:ext cx="307777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공급가액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발행일자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214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2986791"/>
              <a:ext cx="657231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2025-10-15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15" name="모서리가 둥근 직사각형 214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수정</a:t>
              </a:r>
            </a:p>
          </p:txBody>
        </p:sp>
        <p:sp>
          <p:nvSpPr>
            <p:cNvPr id="216" name="모서리가 둥근 직사각형 215"/>
            <p:cNvSpPr/>
            <p:nvPr/>
          </p:nvSpPr>
          <p:spPr>
            <a:xfrm>
              <a:off x="1075655" y="2610063"/>
              <a:ext cx="245146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저장</a:t>
              </a:r>
            </a:p>
          </p:txBody>
        </p:sp>
        <p:sp>
          <p:nvSpPr>
            <p:cNvPr id="220" name="모서리가 둥근 직사각형 219"/>
            <p:cNvSpPr/>
            <p:nvPr/>
          </p:nvSpPr>
          <p:spPr>
            <a:xfrm>
              <a:off x="1373979" y="2610063"/>
              <a:ext cx="66595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ko-KR" altLang="en-US" sz="600" spc="-60" dirty="0">
                  <a:solidFill>
                    <a:schemeClr val="tx1"/>
                  </a:solidFill>
                  <a:latin typeface="Verdana" panose="020B0604030504040204" pitchFamily="34" charset="0"/>
                </a:rPr>
                <a:t>기재사항 </a:t>
              </a:r>
              <a:r>
                <a:rPr kumimoji="1" lang="ko-KR" altLang="en-US" sz="600" spc="-60" dirty="0" err="1">
                  <a:solidFill>
                    <a:schemeClr val="tx1"/>
                  </a:solidFill>
                  <a:latin typeface="Verdana" panose="020B0604030504040204" pitchFamily="34" charset="0"/>
                </a:rPr>
                <a:t>착오정정</a:t>
              </a:r>
              <a:endParaRPr kumimoji="1" lang="ko-KR" altLang="en-US" sz="600" spc="-60" dirty="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</p:grp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04507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2146" y="2771812"/>
            <a:ext cx="42578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0,000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구분</a:t>
            </a:r>
          </a:p>
        </p:txBody>
      </p:sp>
      <p:sp>
        <p:nvSpPr>
          <p:cNvPr id="222" name="모서리가 둥근 직사각형 221"/>
          <p:cNvSpPr/>
          <p:nvPr/>
        </p:nvSpPr>
        <p:spPr>
          <a:xfrm>
            <a:off x="4608594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수정</a:t>
            </a:r>
          </a:p>
        </p:txBody>
      </p:sp>
      <p:sp>
        <p:nvSpPr>
          <p:cNvPr id="226" name="모서리가 둥근 직사각형 225"/>
          <p:cNvSpPr/>
          <p:nvPr/>
        </p:nvSpPr>
        <p:spPr>
          <a:xfrm>
            <a:off x="431316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/>
              <a:t>일반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228" name="모서리가 둥근 직사각형 227"/>
          <p:cNvSpPr/>
          <p:nvPr/>
        </p:nvSpPr>
        <p:spPr>
          <a:xfrm>
            <a:off x="4318634" y="2877159"/>
            <a:ext cx="475615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국세청승인</a:t>
            </a:r>
            <a:endParaRPr lang="ko-KR" altLang="en-US" sz="600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진행상태</a:t>
            </a:r>
          </a:p>
        </p:txBody>
      </p:sp>
      <p:sp>
        <p:nvSpPr>
          <p:cNvPr id="230" name="모서리가 둥근 직사각형 229"/>
          <p:cNvSpPr/>
          <p:nvPr/>
        </p:nvSpPr>
        <p:spPr>
          <a:xfrm>
            <a:off x="4840814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작성</a:t>
            </a:r>
            <a:endParaRPr lang="ko-KR" altLang="en-US" sz="600" dirty="0"/>
          </a:p>
        </p:txBody>
      </p:sp>
      <p:sp>
        <p:nvSpPr>
          <p:cNvPr id="231" name="모서리가 둥근 직사각형 230"/>
          <p:cNvSpPr/>
          <p:nvPr/>
        </p:nvSpPr>
        <p:spPr>
          <a:xfrm>
            <a:off x="5130857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저장</a:t>
            </a:r>
          </a:p>
        </p:txBody>
      </p:sp>
      <p:sp>
        <p:nvSpPr>
          <p:cNvPr id="232" name="모서리가 둥근 직사각형 231"/>
          <p:cNvSpPr/>
          <p:nvPr/>
        </p:nvSpPr>
        <p:spPr>
          <a:xfrm>
            <a:off x="5099260" y="3209690"/>
            <a:ext cx="57287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공급가액 변동</a:t>
            </a:r>
          </a:p>
        </p:txBody>
      </p:sp>
      <p:sp>
        <p:nvSpPr>
          <p:cNvPr id="233" name="모서리가 둥근 직사각형 232"/>
          <p:cNvSpPr/>
          <p:nvPr/>
        </p:nvSpPr>
        <p:spPr>
          <a:xfrm>
            <a:off x="4318635" y="3209690"/>
            <a:ext cx="72644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기재사항 </a:t>
            </a:r>
            <a:r>
              <a:rPr lang="ko-KR" altLang="en-US" sz="600" dirty="0" err="1"/>
              <a:t>착오정정</a:t>
            </a:r>
            <a:endParaRPr lang="ko-KR" altLang="en-US" sz="60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1552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수정사유</a:t>
            </a:r>
            <a:endParaRPr lang="ko-KR" altLang="en-US" sz="700" dirty="0">
              <a:latin typeface="+mn-ea"/>
            </a:endParaRPr>
          </a:p>
        </p:txBody>
      </p:sp>
      <p:sp>
        <p:nvSpPr>
          <p:cNvPr id="235" name="모서리가 둥근 직사각형 234"/>
          <p:cNvSpPr/>
          <p:nvPr/>
        </p:nvSpPr>
        <p:spPr>
          <a:xfrm>
            <a:off x="6023985" y="3209690"/>
            <a:ext cx="51229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계약의 해제</a:t>
            </a:r>
          </a:p>
        </p:txBody>
      </p:sp>
      <p:sp>
        <p:nvSpPr>
          <p:cNvPr id="236" name="모서리가 둥근 직사각형 235"/>
          <p:cNvSpPr/>
          <p:nvPr/>
        </p:nvSpPr>
        <p:spPr>
          <a:xfrm>
            <a:off x="5726322" y="320969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kumimoji="1" lang="ko-KR" altLang="en-US" sz="600" spc="-60" dirty="0">
                <a:solidFill>
                  <a:schemeClr val="tx1"/>
                </a:solidFill>
                <a:latin typeface="Verdana" panose="020B0604030504040204" pitchFamily="34" charset="0"/>
              </a:rPr>
              <a:t>환입</a:t>
            </a:r>
            <a:endParaRPr lang="ko-KR" altLang="en-US" sz="600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45425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729149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각 </a:t>
            </a:r>
            <a:r>
              <a:rPr lang="ko-KR" altLang="en-US" dirty="0" err="1"/>
              <a:t>섹션명</a:t>
            </a:r>
            <a:r>
              <a:rPr lang="ko-KR" altLang="en-US" dirty="0"/>
              <a:t> 클릭 시 아코디언 동작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</a:t>
            </a:r>
            <a:r>
              <a:rPr lang="en-US" altLang="ko-KR" dirty="0"/>
              <a:t>, </a:t>
            </a:r>
            <a:r>
              <a:rPr lang="ko-KR" altLang="en-US" dirty="0"/>
              <a:t>닫기 버튼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연도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바텀시트</a:t>
            </a:r>
            <a:r>
              <a:rPr lang="ko-KR" altLang="en-US" dirty="0"/>
              <a:t> 시스템 </a:t>
            </a:r>
            <a:r>
              <a:rPr lang="ko-KR" altLang="en-US" dirty="0" err="1"/>
              <a:t>드롭다운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다이얼</a:t>
            </a:r>
            <a:r>
              <a:rPr lang="en-US" altLang="ko-KR" dirty="0"/>
              <a:t>) </a:t>
            </a:r>
            <a:r>
              <a:rPr lang="ko-KR" altLang="en-US" dirty="0"/>
              <a:t>활용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세금계산서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세금계산서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MUI-TS-04-M01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20253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9" name="그룹 8"/>
          <p:cNvGrpSpPr/>
          <p:nvPr/>
        </p:nvGrpSpPr>
        <p:grpSpPr>
          <a:xfrm>
            <a:off x="675399" y="1926985"/>
            <a:ext cx="2712027" cy="543589"/>
            <a:chOff x="675399" y="3490553"/>
            <a:chExt cx="2712027" cy="54358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계약연도</a:t>
              </a:r>
              <a:r>
                <a:rPr lang="ko-KR" altLang="en-US" sz="700" b="1" dirty="0">
                  <a:latin typeface="+mn-ea"/>
                </a:rPr>
                <a:t> 설정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연도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1464780" y="3740722"/>
              <a:ext cx="1845146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03414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783287" y="2507850"/>
            <a:ext cx="2516607" cy="1134611"/>
            <a:chOff x="778515" y="4388257"/>
            <a:chExt cx="2516607" cy="1134611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계약건명을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계약건명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계약담당자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33566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담당자를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6" name="모서리가 둥근 직사각형 265"/>
            <p:cNvSpPr/>
            <p:nvPr/>
          </p:nvSpPr>
          <p:spPr>
            <a:xfrm>
              <a:off x="1449284" y="511302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업체명을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63" name="그룹 162"/>
            <p:cNvGrpSpPr/>
            <p:nvPr/>
          </p:nvGrpSpPr>
          <p:grpSpPr>
            <a:xfrm rot="16200000">
              <a:off x="3140952" y="5184741"/>
              <a:ext cx="91438" cy="45719"/>
              <a:chOff x="6812560" y="3297172"/>
              <a:chExt cx="94010" cy="47005"/>
            </a:xfrm>
          </p:grpSpPr>
          <p:cxnSp>
            <p:nvCxnSpPr>
              <p:cNvPr id="164" name="직선 연결선 16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63" name="그룹 62"/>
          <p:cNvGrpSpPr/>
          <p:nvPr/>
        </p:nvGrpSpPr>
        <p:grpSpPr>
          <a:xfrm>
            <a:off x="3145721" y="2247351"/>
            <a:ext cx="91438" cy="45719"/>
            <a:chOff x="6812560" y="3297172"/>
            <a:chExt cx="94010" cy="47005"/>
          </a:xfrm>
        </p:grpSpPr>
        <p:cxnSp>
          <p:nvCxnSpPr>
            <p:cNvPr id="70" name="직선 연결선 6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2" name="그룹 71"/>
          <p:cNvGrpSpPr/>
          <p:nvPr/>
        </p:nvGrpSpPr>
        <p:grpSpPr>
          <a:xfrm>
            <a:off x="3282878" y="2211357"/>
            <a:ext cx="776938" cy="1211284"/>
            <a:chOff x="3004764" y="2490533"/>
            <a:chExt cx="776938" cy="1211284"/>
          </a:xfrm>
        </p:grpSpPr>
        <p:sp>
          <p:nvSpPr>
            <p:cNvPr id="73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2025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75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8679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2026</a:t>
              </a: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2025</a:t>
              </a: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2024</a:t>
              </a: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⁞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78" name="그룹 77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79" name="직선 연결선 78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직선 연결선 79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277954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228965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dml_SrchCtrtList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1736891"/>
            <a:ext cx="214698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dlt_CtrtList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kumimoji="1" lang="ko-KR" altLang="en-US" sz="800" b="0" kern="1200" spc="-60" dirty="0" err="1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계약년도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계약년도</a:t>
                      </a:r>
                      <a:r>
                        <a:rPr lang="ko-KR" altLang="en-US" sz="800" dirty="0">
                          <a:latin typeface="+mn-ea"/>
                        </a:rPr>
                        <a:t> 항목 검색 조건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CTRT_YMD like ‘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%’ 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020645"/>
          <a:ext cx="8994883" cy="2183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bidxMtnm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:BDTC (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bidMthdCd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rpstItnm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(WTB_PDB411.RPRS_ITEM_NM)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4541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(WTB_PDB500N.CTRT_NM)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84579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(WTB_PEB500N.CSTRN_NM)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301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업체코드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업체코드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WTB_PVB134(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조달원공통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M/S)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7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계약담당자명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userNm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계약담당자명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WTB_PDB500N.FINL_USER_IDEN = WTB_PDU101.USER_ID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07616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E3D9436D-3099-6420-C71A-FD88C714F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6449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4ED41C-68AE-71CB-D704-F4F444AAD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68ED3A-F52A-F319-8372-292D836D881F}"/>
              </a:ext>
            </a:extLst>
          </p:cNvPr>
          <p:cNvSpPr txBox="1"/>
          <p:nvPr/>
        </p:nvSpPr>
        <p:spPr>
          <a:xfrm>
            <a:off x="458117" y="797452"/>
            <a:ext cx="251568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dlt_TxivList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3787482-7219-3755-3826-A59DE5690C5F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81206"/>
          <a:ext cx="8994883" cy="30806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71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34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1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6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290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reqDivsNm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일반</a:t>
                      </a:r>
                      <a:r>
                        <a:rPr lang="en-US" altLang="ko-KR" sz="800" dirty="0">
                          <a:latin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</a:rPr>
                        <a:t>수정 세금계산서 </a:t>
                      </a:r>
                      <a:r>
                        <a:rPr lang="ko-KR" altLang="en-US" sz="800" dirty="0" err="1">
                          <a:latin typeface="+mn-ea"/>
                        </a:rPr>
                        <a:t>구분명</a:t>
                      </a:r>
                      <a:r>
                        <a:rPr lang="ko-KR" altLang="en-US" sz="800" dirty="0">
                          <a:latin typeface="+mn-ea"/>
                        </a:rPr>
                        <a:t>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조건에 따라 일반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수정으로 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reqDivs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= “R”, “U“ 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“UR” 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txivPrgrsStcd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진행상태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C: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폐기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F: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서명실패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,S: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전자서명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Y: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승인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R: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T: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국세청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SEND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txivMdfcnRncd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수정세금계산서 작성사유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01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착오정정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취소분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수정분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)_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02: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변동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03: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환입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04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계약해제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pblcnNo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세금계산서발행번호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454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bllPblcnYmd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 발행일자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76545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rpstItnm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(WTB_PDB411.RPST_ITNM)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076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(WTB_PDB500N.CTRT_NM)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345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(WTB_PEB500N.CSTRN_NM)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714990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contAmnt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(WTB_PDB411.CONT_AMNT)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917876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(WTB_PDB500N.CONT_AMNT)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41176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공사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(WTB_PEB500N.TOTL_CSRT_BOKP_AMNT)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8758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공급가액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5055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47130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4ED41C-68AE-71CB-D704-F4F444AAD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2D8766-B0CF-E3FC-5CB7-0DD8FA296C4A}"/>
              </a:ext>
            </a:extLst>
          </p:cNvPr>
          <p:cNvSpPr txBox="1"/>
          <p:nvPr/>
        </p:nvSpPr>
        <p:spPr>
          <a:xfrm>
            <a:off x="458117" y="569330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2F93EEE-7D89-1BFE-50CE-DBAA63850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122238"/>
              </p:ext>
            </p:extLst>
          </p:nvPr>
        </p:nvGraphicFramePr>
        <p:xfrm>
          <a:off x="453000" y="847461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36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20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056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5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공통코드정보를 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 err="1"/>
                        <a:t>계약년도를</a:t>
                      </a:r>
                      <a:r>
                        <a:rPr lang="ko-KR" altLang="en-US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현재월로 세팅한다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scwin.btn_srchCtrtList_onclick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</a:rPr>
                        <a:t>계약목록 데이터를 조회한다</a:t>
                      </a:r>
                      <a:r>
                        <a:rPr lang="en-US" altLang="ko-KR" sz="800" dirty="0">
                          <a:latin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Box 73">
            <a:extLst>
              <a:ext uri="{FF2B5EF4-FFF2-40B4-BE49-F238E27FC236}">
                <a16:creationId xmlns:a16="http://schemas.microsoft.com/office/drawing/2014/main" id="{231A2900-1B18-F8AD-23EB-3B23E6023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636445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1740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세금계산서작성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세금계산서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상세내용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세금계산서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세금계산서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latin typeface="맑은 고딕" panose="020B0503020000020004" pitchFamily="50" charset="-127"/>
              </a:rPr>
              <a:t>MUI-TS-04-M03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세금계산서</a:t>
            </a:r>
            <a:r>
              <a:rPr lang="ko-KR" altLang="en-US" sz="800" dirty="0">
                <a:latin typeface="+mn-ea"/>
              </a:rPr>
              <a:t> 상세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31772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158410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접수일자</a:t>
            </a:r>
            <a:r>
              <a:rPr lang="ko-KR" altLang="en-US" sz="700" dirty="0"/>
              <a:t> </a:t>
            </a:r>
            <a:r>
              <a:rPr lang="en-US" altLang="ko-KR" sz="700" dirty="0"/>
              <a:t>2025-05-01 ~ 2025-08-15</a:t>
            </a:r>
          </a:p>
          <a:p>
            <a:r>
              <a:rPr lang="ko-KR" altLang="en-US" sz="900" b="1" dirty="0"/>
              <a:t>변속기 부품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493475"/>
            <a:ext cx="307777" cy="2591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발주부서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담당자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478086"/>
            <a:ext cx="384721" cy="2591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총괄계약팀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홍길동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6120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0243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289495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292629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00828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3303981"/>
            <a:ext cx="128863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계약정보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07" name="그룹 106"/>
          <p:cNvGrpSpPr/>
          <p:nvPr/>
        </p:nvGrpSpPr>
        <p:grpSpPr>
          <a:xfrm flipV="1">
            <a:off x="3143548" y="3417312"/>
            <a:ext cx="94010" cy="47005"/>
            <a:chOff x="6812560" y="3297172"/>
            <a:chExt cx="94010" cy="47005"/>
          </a:xfrm>
        </p:grpSpPr>
        <p:cxnSp>
          <p:nvCxnSpPr>
            <p:cNvPr id="108" name="직선 연결선 107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직선 연결선 108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직사각형 15"/>
          <p:cNvSpPr/>
          <p:nvPr/>
        </p:nvSpPr>
        <p:spPr>
          <a:xfrm>
            <a:off x="722583" y="3611466"/>
            <a:ext cx="792000" cy="8681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61146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3611466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발행번호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책번호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일련번호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3611466"/>
            <a:ext cx="18144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1234-4567-7890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0000 000 00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00000-00000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384257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05627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269985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7" name="타원 276"/>
          <p:cNvSpPr/>
          <p:nvPr/>
        </p:nvSpPr>
        <p:spPr>
          <a:xfrm>
            <a:off x="6596790" y="468520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4802272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170451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299917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80060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접수일자</a:t>
            </a:r>
            <a:r>
              <a:rPr lang="ko-KR" altLang="en-US" sz="700" dirty="0"/>
              <a:t> </a:t>
            </a:r>
            <a:r>
              <a:rPr lang="en-US" altLang="ko-KR" sz="700" dirty="0"/>
              <a:t>2025-05-01 ~ 2025-08-15</a:t>
            </a:r>
          </a:p>
          <a:p>
            <a:r>
              <a:rPr lang="ko-KR" altLang="en-US" sz="900" b="1" dirty="0"/>
              <a:t>변속기 부품</a:t>
            </a:r>
          </a:p>
        </p:txBody>
      </p: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" name="그룹 2"/>
          <p:cNvGrpSpPr/>
          <p:nvPr/>
        </p:nvGrpSpPr>
        <p:grpSpPr>
          <a:xfrm>
            <a:off x="779007" y="1971228"/>
            <a:ext cx="841905" cy="119400"/>
            <a:chOff x="781461" y="3087955"/>
            <a:chExt cx="841905" cy="119400"/>
          </a:xfrm>
        </p:grpSpPr>
        <p:sp>
          <p:nvSpPr>
            <p:cNvPr id="156" name="모서리가 둥근 직사각형 155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제조</a:t>
              </a:r>
            </a:p>
          </p:txBody>
        </p:sp>
        <p:sp>
          <p:nvSpPr>
            <p:cNvPr id="157" name="모서리가 둥근 직사각형 156"/>
            <p:cNvSpPr/>
            <p:nvPr/>
          </p:nvSpPr>
          <p:spPr>
            <a:xfrm>
              <a:off x="1075655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제출</a:t>
              </a:r>
            </a:p>
          </p:txBody>
        </p:sp>
        <p:sp>
          <p:nvSpPr>
            <p:cNvPr id="158" name="모서리가 둥근 직사각형 157"/>
            <p:cNvSpPr/>
            <p:nvPr/>
          </p:nvSpPr>
          <p:spPr>
            <a:xfrm>
              <a:off x="1376841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만료</a:t>
              </a:r>
            </a:p>
          </p:txBody>
        </p:sp>
      </p:grpSp>
      <p:grpSp>
        <p:nvGrpSpPr>
          <p:cNvPr id="160" name="그룹 159"/>
          <p:cNvGrpSpPr/>
          <p:nvPr/>
        </p:nvGrpSpPr>
        <p:grpSpPr>
          <a:xfrm>
            <a:off x="3881876" y="1598978"/>
            <a:ext cx="841905" cy="119400"/>
            <a:chOff x="781461" y="3087955"/>
            <a:chExt cx="841905" cy="119400"/>
          </a:xfrm>
        </p:grpSpPr>
        <p:sp>
          <p:nvSpPr>
            <p:cNvPr id="161" name="모서리가 둥근 직사각형 160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제조</a:t>
              </a:r>
            </a:p>
          </p:txBody>
        </p:sp>
        <p:sp>
          <p:nvSpPr>
            <p:cNvPr id="162" name="모서리가 둥근 직사각형 161"/>
            <p:cNvSpPr/>
            <p:nvPr/>
          </p:nvSpPr>
          <p:spPr>
            <a:xfrm>
              <a:off x="1075655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제출</a:t>
              </a:r>
            </a:p>
          </p:txBody>
        </p:sp>
        <p:sp>
          <p:nvSpPr>
            <p:cNvPr id="163" name="모서리가 둥근 직사각형 162"/>
            <p:cNvSpPr/>
            <p:nvPr/>
          </p:nvSpPr>
          <p:spPr>
            <a:xfrm>
              <a:off x="1376841" y="3087955"/>
              <a:ext cx="246525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만료</a:t>
              </a:r>
            </a:p>
          </p:txBody>
        </p:sp>
      </p:grp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4479590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1461" y="4596974"/>
            <a:ext cx="123783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공급자 정보</a:t>
            </a:r>
          </a:p>
        </p:txBody>
      </p:sp>
      <p:grpSp>
        <p:nvGrpSpPr>
          <p:cNvPr id="95" name="그룹 94"/>
          <p:cNvGrpSpPr/>
          <p:nvPr/>
        </p:nvGrpSpPr>
        <p:grpSpPr>
          <a:xfrm flipV="1">
            <a:off x="3143548" y="4710305"/>
            <a:ext cx="94010" cy="47005"/>
            <a:chOff x="6812560" y="3297172"/>
            <a:chExt cx="94010" cy="47005"/>
          </a:xfrm>
        </p:grpSpPr>
        <p:cxnSp>
          <p:nvCxnSpPr>
            <p:cNvPr id="96" name="직선 연결선 9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직선 연결선 9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8" name="직사각형 97"/>
          <p:cNvSpPr/>
          <p:nvPr/>
        </p:nvSpPr>
        <p:spPr>
          <a:xfrm>
            <a:off x="722583" y="4904459"/>
            <a:ext cx="792000" cy="132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90445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9647" y="4904459"/>
            <a:ext cx="6707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사업자번호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대표명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상호</a:t>
            </a:r>
            <a:r>
              <a:rPr lang="en-US" altLang="ko-KR" sz="700" dirty="0">
                <a:latin typeface="+mn-ea"/>
              </a:rPr>
              <a:t>(</a:t>
            </a:r>
            <a:r>
              <a:rPr lang="ko-KR" altLang="en-US" sz="700" dirty="0" err="1">
                <a:latin typeface="+mn-ea"/>
              </a:rPr>
              <a:t>업체명</a:t>
            </a:r>
            <a:r>
              <a:rPr lang="en-US" altLang="ko-KR" sz="700" dirty="0">
                <a:latin typeface="+mn-ea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업태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주소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566495" y="4904459"/>
            <a:ext cx="1814470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123-45-67890</a:t>
            </a: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홍길동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A </a:t>
            </a:r>
            <a:r>
              <a:rPr lang="ko-KR" altLang="en-US" sz="700" dirty="0">
                <a:latin typeface="+mn-ea"/>
              </a:rPr>
              <a:t>업체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제조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서울특별시 종로구</a:t>
            </a:r>
            <a:r>
              <a:rPr lang="en-US" altLang="ko-KR" sz="700" dirty="0">
                <a:latin typeface="+mn-ea"/>
              </a:rPr>
              <a:t>…</a:t>
            </a:r>
          </a:p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⁞</a:t>
            </a: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135564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349271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562978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77258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56768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2583" y="5994833"/>
            <a:ext cx="2628000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>
                <a:solidFill>
                  <a:srgbClr val="0070C0"/>
                </a:solidFill>
                <a:latin typeface="+mn-ea"/>
              </a:rPr>
              <a:t>다음에 </a:t>
            </a:r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계속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3839085" y="2137232"/>
            <a:ext cx="2660475" cy="1612847"/>
            <a:chOff x="3970705" y="3216762"/>
            <a:chExt cx="2660475" cy="1612847"/>
          </a:xfrm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31676" y="3216762"/>
              <a:ext cx="114113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공급받는자</a:t>
              </a:r>
              <a:r>
                <a:rPr lang="ko-KR" altLang="en-US" sz="700" dirty="0">
                  <a:latin typeface="+mn-ea"/>
                </a:rPr>
                <a:t> 정보</a:t>
              </a:r>
            </a:p>
          </p:txBody>
        </p:sp>
        <p:grpSp>
          <p:nvGrpSpPr>
            <p:cNvPr id="140" name="그룹 139"/>
            <p:cNvGrpSpPr/>
            <p:nvPr/>
          </p:nvGrpSpPr>
          <p:grpSpPr>
            <a:xfrm flipV="1">
              <a:off x="6393763" y="3330093"/>
              <a:ext cx="94010" cy="47005"/>
              <a:chOff x="6812560" y="3297172"/>
              <a:chExt cx="94010" cy="47005"/>
            </a:xfrm>
          </p:grpSpPr>
          <p:cxnSp>
            <p:nvCxnSpPr>
              <p:cNvPr id="141" name="직선 연결선 14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3" name="직사각형 142"/>
            <p:cNvSpPr/>
            <p:nvPr/>
          </p:nvSpPr>
          <p:spPr>
            <a:xfrm>
              <a:off x="3972798" y="3524247"/>
              <a:ext cx="792000" cy="13053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0705" y="352424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59862" y="3524247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사업자번호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업태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업종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16710" y="3524247"/>
              <a:ext cx="18144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123-45-67890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제조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75535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96905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" name="직선 연결선 1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18276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3923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1" name="직선 연결선 15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6146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8296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53" name="그룹 152"/>
          <p:cNvGrpSpPr/>
          <p:nvPr/>
        </p:nvGrpSpPr>
        <p:grpSpPr>
          <a:xfrm>
            <a:off x="3839085" y="3863113"/>
            <a:ext cx="2660475" cy="752297"/>
            <a:chOff x="3970705" y="3216762"/>
            <a:chExt cx="2660475" cy="752297"/>
          </a:xfrm>
        </p:grpSpPr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31676" y="3216762"/>
              <a:ext cx="114113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계약서 일반정보</a:t>
              </a:r>
            </a:p>
          </p:txBody>
        </p:sp>
        <p:grpSp>
          <p:nvGrpSpPr>
            <p:cNvPr id="155" name="그룹 154"/>
            <p:cNvGrpSpPr/>
            <p:nvPr/>
          </p:nvGrpSpPr>
          <p:grpSpPr>
            <a:xfrm flipV="1">
              <a:off x="6393763" y="3330093"/>
              <a:ext cx="94010" cy="47005"/>
              <a:chOff x="6812560" y="3297172"/>
              <a:chExt cx="94010" cy="47005"/>
            </a:xfrm>
          </p:grpSpPr>
          <p:cxnSp>
            <p:nvCxnSpPr>
              <p:cNvPr id="198" name="직선 연결선 19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9" name="직선 연결선 19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9" name="직사각형 158"/>
            <p:cNvSpPr/>
            <p:nvPr/>
          </p:nvSpPr>
          <p:spPr>
            <a:xfrm>
              <a:off x="3972798" y="3524247"/>
              <a:ext cx="792000" cy="4435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0705" y="352424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59862" y="3524247"/>
              <a:ext cx="670770" cy="396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16710" y="3524247"/>
              <a:ext cx="1814470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 </a:t>
              </a:r>
            </a:p>
          </p:txBody>
        </p:sp>
        <p:cxnSp>
          <p:nvCxnSpPr>
            <p:cNvPr id="176" name="직선 연결선 1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75535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96905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381717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8" name="그룹 207"/>
          <p:cNvGrpSpPr/>
          <p:nvPr/>
        </p:nvGrpSpPr>
        <p:grpSpPr>
          <a:xfrm>
            <a:off x="4751839" y="4237240"/>
            <a:ext cx="1499574" cy="107722"/>
            <a:chOff x="1597442" y="5895087"/>
            <a:chExt cx="1499574" cy="107722"/>
          </a:xfrm>
        </p:grpSpPr>
        <p:sp>
          <p:nvSpPr>
            <p:cNvPr id="209" name="타원 208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0" name="타원 209"/>
            <p:cNvSpPr/>
            <p:nvPr/>
          </p:nvSpPr>
          <p:spPr>
            <a:xfrm>
              <a:off x="2169202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과세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326930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>
                  <a:latin typeface="+mn-ea"/>
                </a:rPr>
                <a:t>면세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213" name="타원 212"/>
            <p:cNvSpPr/>
            <p:nvPr/>
          </p:nvSpPr>
          <p:spPr>
            <a:xfrm>
              <a:off x="2759752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17480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>
                  <a:latin typeface="+mn-ea"/>
                </a:rPr>
                <a:t>영세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215" name="그룹 214"/>
          <p:cNvGrpSpPr/>
          <p:nvPr/>
        </p:nvGrpSpPr>
        <p:grpSpPr>
          <a:xfrm>
            <a:off x="4751839" y="4457464"/>
            <a:ext cx="1088560" cy="107722"/>
            <a:chOff x="1597442" y="5895087"/>
            <a:chExt cx="1088560" cy="107722"/>
          </a:xfrm>
        </p:grpSpPr>
        <p:sp>
          <p:nvSpPr>
            <p:cNvPr id="216" name="타원 215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" name="타원 216"/>
            <p:cNvSpPr/>
            <p:nvPr/>
          </p:nvSpPr>
          <p:spPr>
            <a:xfrm>
              <a:off x="2348738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확정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0646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예정</a:t>
              </a:r>
            </a:p>
          </p:txBody>
        </p:sp>
      </p:grpSp>
      <p:grpSp>
        <p:nvGrpSpPr>
          <p:cNvPr id="220" name="그룹 219"/>
          <p:cNvGrpSpPr/>
          <p:nvPr/>
        </p:nvGrpSpPr>
        <p:grpSpPr>
          <a:xfrm>
            <a:off x="3839085" y="4717075"/>
            <a:ext cx="2660475" cy="1508106"/>
            <a:chOff x="3970705" y="3524246"/>
            <a:chExt cx="2660475" cy="1508106"/>
          </a:xfrm>
        </p:grpSpPr>
        <p:sp>
          <p:nvSpPr>
            <p:cNvPr id="223" name="직사각형 222"/>
            <p:cNvSpPr/>
            <p:nvPr/>
          </p:nvSpPr>
          <p:spPr>
            <a:xfrm>
              <a:off x="3972798" y="3524246"/>
              <a:ext cx="792000" cy="15081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0705" y="3524247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059862" y="3524247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계약서일자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 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계약건명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816710" y="3524247"/>
              <a:ext cx="18144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 2025-01-10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변속기 부품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</p:txBody>
        </p: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75535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8" name="직선 연결선 2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396905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1" name="직선 연결선 2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16434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2" name="직선 연결선 2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37804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3" name="직선 연결선 2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59657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4" name="직선 연결선 2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972798" y="48102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419021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818536"/>
            <a:ext cx="280903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세금계산서작성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</a:t>
            </a:r>
            <a:r>
              <a:rPr lang="en-US" altLang="ko-KR" sz="900" b="1" dirty="0" err="1"/>
              <a:t>TxivWrtInfo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54790"/>
          <a:ext cx="8994883" cy="5457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항목 조회 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의 경우 조건에 따라 변경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As-is :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commandMap.sOption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1) “1: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 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,2: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 시설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,3: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2) “5:FMS”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재무관증빙번호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3) “4: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상업조달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”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]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pblcnNo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발행번호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책번호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bookNo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책번호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일련번호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regSn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일련번호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454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splrBrno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7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4473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splrBzstatCd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:MBTC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569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splrAddr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056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splrTpbizNm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1517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splrPicNm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155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splrEntlno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암호화처리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96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splrTkcgDeptNm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5583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E-Mail(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splrEmlAddr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E-Mail(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7548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splrcpBrno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사업자번호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3594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794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140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splrcpBzstatCd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:MBTC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3504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splrcpAddr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854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splrcpTpbizNm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공급받는자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069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세액구분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:VATA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251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cfmtnYn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신고구분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2: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9232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계산서일자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계산서일자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006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07616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191FAC9D-E4E4-9782-8F9B-459B88AF5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824861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E4ED41C-68AE-71CB-D704-F4F444AAD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2D8766-B0CF-E3FC-5CB7-0DD8FA296C4A}"/>
              </a:ext>
            </a:extLst>
          </p:cNvPr>
          <p:cNvSpPr txBox="1"/>
          <p:nvPr/>
        </p:nvSpPr>
        <p:spPr>
          <a:xfrm>
            <a:off x="458117" y="245037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2F93EEE-7D89-1BFE-50CE-DBAA63850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040091"/>
              </p:ext>
            </p:extLst>
          </p:nvPr>
        </p:nvGraphicFramePr>
        <p:xfrm>
          <a:off x="453000" y="2728504"/>
          <a:ext cx="8995591" cy="947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725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100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9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공통코드정보를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세금계산서구분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화면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Title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은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‘. 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 경우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Title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은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수정세금계산서작성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‘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으로 변경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상세조회 및 작성화면은 동일한 화면 사용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출력 버튼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scwin.btn_TxivDtlOtpt_onclick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세금계산서상세내용 팝업을 호출하여 해당 화면을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 ( Window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print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처리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971762"/>
                  </a:ext>
                </a:extLst>
              </a:tr>
            </a:tbl>
          </a:graphicData>
        </a:graphic>
      </p:graphicFrame>
      <p:sp>
        <p:nvSpPr>
          <p:cNvPr id="6" name="Text Box 73">
            <a:extLst>
              <a:ext uri="{FF2B5EF4-FFF2-40B4-BE49-F238E27FC236}">
                <a16:creationId xmlns:a16="http://schemas.microsoft.com/office/drawing/2014/main" id="{231A2900-1B18-F8AD-23EB-3B23E6023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2517488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63A7A-3C64-D8D7-2D49-13287D99CFD9}"/>
              </a:ext>
            </a:extLst>
          </p:cNvPr>
          <p:cNvSpPr txBox="1"/>
          <p:nvPr/>
        </p:nvSpPr>
        <p:spPr>
          <a:xfrm>
            <a:off x="458117" y="818536"/>
            <a:ext cx="280903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세금계산서작성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</a:t>
            </a:r>
            <a:r>
              <a:rPr lang="en-US" altLang="ko-KR" sz="900" b="1" dirty="0" err="1"/>
              <a:t>TxivWrtInfo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3422736-CCA7-9469-9BA9-B941106107D0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54790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dlvgdsQty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ctrtUntprc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454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항목 조회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</a:tbl>
          </a:graphicData>
        </a:graphic>
      </p:graphicFrame>
      <p:sp>
        <p:nvSpPr>
          <p:cNvPr id="9" name="Text Box 73">
            <a:extLst>
              <a:ext uri="{FF2B5EF4-FFF2-40B4-BE49-F238E27FC236}">
                <a16:creationId xmlns:a16="http://schemas.microsoft.com/office/drawing/2014/main" id="{EE39B7DB-6549-D18B-849E-7ED7453CA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880682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80780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공지사항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필터</a:t>
            </a:r>
            <a:r>
              <a:rPr lang="en-US" altLang="ko-KR" dirty="0"/>
              <a:t>, </a:t>
            </a: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상세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</a:t>
            </a:r>
            <a:r>
              <a:rPr lang="ko-KR" altLang="en-US" dirty="0" err="1"/>
              <a:t>검색필터</a:t>
            </a:r>
            <a:r>
              <a:rPr lang="ko-KR" altLang="en-US" dirty="0"/>
              <a:t> 적용 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- 4</a:t>
            </a:r>
            <a:r>
              <a:rPr lang="ko-KR" altLang="en-US" dirty="0" err="1"/>
              <a:t>번항</a:t>
            </a:r>
            <a:r>
              <a:rPr lang="ko-KR" altLang="en-US" dirty="0"/>
              <a:t> 목록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스크롤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세금계산서 </a:t>
            </a:r>
            <a:r>
              <a:rPr lang="ko-KR" altLang="en-US" dirty="0" err="1"/>
              <a:t>진행현황</a:t>
            </a:r>
            <a:r>
              <a:rPr lang="ko-KR" altLang="en-US" dirty="0"/>
              <a:t> 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세금계산서 </a:t>
            </a:r>
            <a:r>
              <a:rPr lang="ko-KR" altLang="en-US" dirty="0" err="1"/>
              <a:t>진행현황</a:t>
            </a:r>
            <a:r>
              <a:rPr lang="ko-KR" altLang="en-US" dirty="0"/>
              <a:t> 목록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세금계산서 </a:t>
            </a:r>
            <a:r>
              <a:rPr lang="en-US" altLang="ko-KR" dirty="0"/>
              <a:t>&gt; </a:t>
            </a:r>
            <a:r>
              <a:rPr lang="ko-KR" altLang="en-US" dirty="0" err="1"/>
              <a:t>진행현황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MUI-TS-04-M04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/>
              <a:t>세금계산서 </a:t>
            </a:r>
            <a:r>
              <a:rPr lang="ko-KR" altLang="en-US" sz="800" dirty="0" err="1"/>
              <a:t>진행현황</a:t>
            </a:r>
            <a:r>
              <a:rPr lang="ko-KR" altLang="en-US" sz="800" dirty="0"/>
              <a:t> 목록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89471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28262"/>
            <a:ext cx="2446613" cy="279492"/>
          </a:xfrm>
          <a:prstGeom prst="roundRect">
            <a:avLst/>
          </a:prstGeom>
          <a:noFill/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781461" y="3367501"/>
            <a:ext cx="2473257" cy="1098561"/>
            <a:chOff x="781461" y="2610063"/>
            <a:chExt cx="2473257" cy="10985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 000 000 - 01</a:t>
              </a:r>
            </a:p>
            <a:p>
              <a:r>
                <a:rPr lang="ko-KR" altLang="en-US" sz="900" b="1" dirty="0"/>
                <a:t>변속기 부품 계약의 건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공급가액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/>
                <a:t>발행번호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발행일자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5723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2118F-0000-0000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2025-10-15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2610063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일반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4" y="2610063"/>
              <a:ext cx="48621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 err="1"/>
                <a:t>국세청승인</a:t>
              </a:r>
              <a:endParaRPr lang="ko-KR" altLang="en-US" sz="600" dirty="0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506648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778515" y="4667875"/>
            <a:ext cx="2476203" cy="1080735"/>
            <a:chOff x="778515" y="2610063"/>
            <a:chExt cx="2476203" cy="1080735"/>
          </a:xfrm>
        </p:grpSpPr>
        <p:sp>
          <p:nvSpPr>
            <p:cNvPr id="74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2794394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 000 000 - 01</a:t>
              </a:r>
            </a:p>
            <a:p>
              <a:r>
                <a:rPr lang="ko-KR" altLang="en-US" sz="900" b="1" dirty="0"/>
                <a:t>변속기 부품 계약의 건</a:t>
              </a:r>
            </a:p>
          </p:txBody>
        </p:sp>
        <p:sp>
          <p:nvSpPr>
            <p:cNvPr id="75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154626"/>
              <a:ext cx="307777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공급가액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/>
                <a:t>발행번호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발행일자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76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139237"/>
              <a:ext cx="657231" cy="5361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000,000,000,000 </a:t>
              </a:r>
              <a:r>
                <a:rPr lang="ko-KR" altLang="en-US" sz="600" dirty="0">
                  <a:latin typeface="+mn-ea"/>
                </a:rPr>
                <a:t>원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600" dirty="0"/>
                <a:t>2118F-0000-0000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2025-10-15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7" name="모서리가 둥근 직사각형 76"/>
            <p:cNvSpPr/>
            <p:nvPr/>
          </p:nvSpPr>
          <p:spPr>
            <a:xfrm>
              <a:off x="778515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수정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1379571" y="2610063"/>
              <a:ext cx="67377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ko-KR" altLang="en-US" sz="600" spc="-60" dirty="0">
                  <a:solidFill>
                    <a:schemeClr val="tx1"/>
                  </a:solidFill>
                  <a:latin typeface="Verdana" panose="020B0604030504040204" pitchFamily="34" charset="0"/>
                </a:rPr>
                <a:t>기재사항 </a:t>
              </a:r>
              <a:r>
                <a:rPr kumimoji="1" lang="ko-KR" altLang="en-US" sz="600" spc="-60" dirty="0" err="1">
                  <a:solidFill>
                    <a:schemeClr val="tx1"/>
                  </a:solidFill>
                  <a:latin typeface="Verdana" panose="020B0604030504040204" pitchFamily="34" charset="0"/>
                </a:rPr>
                <a:t>착오정정</a:t>
              </a:r>
              <a:endParaRPr kumimoji="1" lang="ko-KR" altLang="en-US" sz="600" spc="-60" dirty="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66" name="모서리가 둥근 직사각형 165"/>
            <p:cNvSpPr/>
            <p:nvPr/>
          </p:nvSpPr>
          <p:spPr>
            <a:xfrm>
              <a:off x="1077463" y="2610063"/>
              <a:ext cx="241300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저장</a:t>
              </a:r>
              <a:endParaRPr lang="ko-KR" altLang="en-US" sz="600" dirty="0">
                <a:solidFill>
                  <a:schemeClr val="dk1"/>
                </a:solidFill>
              </a:endParaRPr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54935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068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2210158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47996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구분</a:t>
            </a: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608594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수정</a:t>
            </a: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4313169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00" dirty="0"/>
              <a:t>일반</a:t>
            </a:r>
            <a:endParaRPr lang="ko-KR" altLang="en-US" sz="600" dirty="0">
              <a:solidFill>
                <a:schemeClr val="dk1"/>
              </a:solidFill>
            </a:endParaRPr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4318634" y="2877159"/>
            <a:ext cx="475615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국세청승인</a:t>
            </a:r>
            <a:endParaRPr lang="ko-KR" altLang="en-US" sz="60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진행상태</a:t>
            </a: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4840814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작성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5130857" y="2877159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저장</a:t>
            </a:r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5099260" y="3209690"/>
            <a:ext cx="57287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공급가액 변동</a:t>
            </a:r>
          </a:p>
        </p:txBody>
      </p:sp>
      <p:sp>
        <p:nvSpPr>
          <p:cNvPr id="177" name="모서리가 둥근 직사각형 176"/>
          <p:cNvSpPr/>
          <p:nvPr/>
        </p:nvSpPr>
        <p:spPr>
          <a:xfrm>
            <a:off x="4318635" y="3209690"/>
            <a:ext cx="72644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기재사항 </a:t>
            </a:r>
            <a:r>
              <a:rPr lang="ko-KR" altLang="en-US" sz="600" dirty="0" err="1"/>
              <a:t>착오정정</a:t>
            </a:r>
            <a:endParaRPr lang="ko-KR" altLang="en-US" sz="60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15529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수정사유</a:t>
            </a:r>
            <a:endParaRPr lang="ko-KR" altLang="en-US" sz="700" dirty="0">
              <a:latin typeface="+mn-ea"/>
            </a:endParaRPr>
          </a:p>
        </p:txBody>
      </p:sp>
      <p:sp>
        <p:nvSpPr>
          <p:cNvPr id="179" name="모서리가 둥근 직사각형 178"/>
          <p:cNvSpPr/>
          <p:nvPr/>
        </p:nvSpPr>
        <p:spPr>
          <a:xfrm>
            <a:off x="6023985" y="3209690"/>
            <a:ext cx="51229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계약의 해제</a:t>
            </a:r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5726322" y="3209690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kumimoji="1" lang="ko-KR" altLang="en-US" sz="600" spc="-60" dirty="0">
                <a:solidFill>
                  <a:schemeClr val="tx1"/>
                </a:solidFill>
                <a:latin typeface="Verdana" panose="020B0604030504040204" pitchFamily="34" charset="0"/>
              </a:rPr>
              <a:t>환입</a:t>
            </a:r>
            <a:endParaRPr lang="ko-KR" altLang="en-US" sz="6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82" name="그룹 81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84" name="직선 연결선 8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직선 연결선 8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7" name="그룹 86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88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9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90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91" name="그룹 90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92" name="직선 연결선 91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직선 연결선 92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grpSp>
        <p:nvGrpSpPr>
          <p:cNvPr id="95" name="그룹 94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96" name="모서리가 둥근 직사각형 95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타원 96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99" name="그룹 98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0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07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00" name="타원 99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01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02" name="타원 101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3" name="그룹 10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04" name="직선 연결선 10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93761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각 </a:t>
            </a:r>
            <a:r>
              <a:rPr lang="ko-KR" altLang="en-US" dirty="0" err="1"/>
              <a:t>섹션명</a:t>
            </a:r>
            <a:r>
              <a:rPr lang="ko-KR" altLang="en-US" dirty="0"/>
              <a:t> 클릭 시 아코디언 동작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</a:t>
            </a:r>
            <a:r>
              <a:rPr lang="en-US" altLang="ko-KR" dirty="0"/>
              <a:t>, </a:t>
            </a:r>
            <a:r>
              <a:rPr lang="ko-KR" altLang="en-US" dirty="0"/>
              <a:t>닫기 버튼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일자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지정 설정으로 날짜 즉시 업데이트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세금계산서진행현황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업무지원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세금계산서 </a:t>
            </a:r>
            <a:r>
              <a:rPr lang="en-US" altLang="ko-KR" dirty="0"/>
              <a:t>&gt; </a:t>
            </a:r>
            <a:r>
              <a:rPr lang="ko-KR" altLang="en-US" dirty="0" err="1"/>
              <a:t>진행현황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MUI-TS-04-M04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50831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9" name="그룹 8"/>
          <p:cNvGrpSpPr/>
          <p:nvPr/>
        </p:nvGrpSpPr>
        <p:grpSpPr>
          <a:xfrm>
            <a:off x="675399" y="1926985"/>
            <a:ext cx="2712027" cy="797589"/>
            <a:chOff x="675399" y="3490553"/>
            <a:chExt cx="2712027" cy="797589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490553"/>
              <a:ext cx="230514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기간 설정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3713091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발행일자 설정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빠른 설정</a:t>
              </a:r>
              <a:endParaRPr lang="en-US" altLang="ko-KR" sz="700" dirty="0">
                <a:latin typeface="+mn-ea"/>
              </a:endParaRPr>
            </a:p>
          </p:txBody>
        </p:sp>
        <p:grpSp>
          <p:nvGrpSpPr>
            <p:cNvPr id="159" name="그룹 158"/>
            <p:cNvGrpSpPr/>
            <p:nvPr/>
          </p:nvGrpSpPr>
          <p:grpSpPr>
            <a:xfrm flipV="1">
              <a:off x="3140949" y="3588243"/>
              <a:ext cx="91438" cy="45719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1464781" y="3740722"/>
              <a:ext cx="859319" cy="188244"/>
              <a:chOff x="5613534" y="2854836"/>
              <a:chExt cx="804671" cy="188244"/>
            </a:xfrm>
          </p:grpSpPr>
          <p:sp>
            <p:nvSpPr>
              <p:cNvPr id="181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2025-10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82" name="그림 181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sp>
          <p:nvSpPr>
            <p:cNvPr id="178" name="TextBox 91">
              <a:extLst>
                <a:ext uri="{FF2B5EF4-FFF2-40B4-BE49-F238E27FC236}">
                  <a16:creationId xmlns:a16="http://schemas.microsoft.com/office/drawing/2014/main" id="{02490888-B81F-0F94-5D5F-078AEEB39DDB}"/>
                </a:ext>
              </a:extLst>
            </p:cNvPr>
            <p:cNvSpPr txBox="1"/>
            <p:nvPr/>
          </p:nvSpPr>
          <p:spPr>
            <a:xfrm>
              <a:off x="2347279" y="3760669"/>
              <a:ext cx="80150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dirty="0">
                  <a:solidFill>
                    <a:prstClr val="black"/>
                  </a:solidFill>
                  <a:cs typeface="Pretendard Medium" panose="02000603000000020004" pitchFamily="50" charset="-127"/>
                </a:rPr>
                <a:t>~</a:t>
              </a:r>
              <a:endParaRPr lang="ko-KR" altLang="en-US" sz="900" dirty="0">
                <a:solidFill>
                  <a:prstClr val="black"/>
                </a:solidFill>
                <a:cs typeface="Pretendard Medium" panose="02000603000000020004" pitchFamily="50" charset="-127"/>
              </a:endParaRP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464781" y="3971391"/>
              <a:ext cx="1845146" cy="188135"/>
              <a:chOff x="1430277" y="4057651"/>
              <a:chExt cx="1845146" cy="188135"/>
            </a:xfrm>
          </p:grpSpPr>
          <p:sp>
            <p:nvSpPr>
              <p:cNvPr id="189" name="사각형: 둥근 모서리 169">
                <a:extLst>
                  <a:ext uri="{FF2B5EF4-FFF2-40B4-BE49-F238E27FC236}">
                    <a16:creationId xmlns:a16="http://schemas.microsoft.com/office/drawing/2014/main" id="{A28DD831-0E4B-31EE-CB08-9E188754698D}"/>
                  </a:ext>
                </a:extLst>
              </p:cNvPr>
              <p:cNvSpPr/>
              <p:nvPr/>
            </p:nvSpPr>
            <p:spPr>
              <a:xfrm>
                <a:off x="1430277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최근 </a:t>
                </a:r>
                <a:r>
                  <a:rPr kumimoji="1" lang="en-US" altLang="ko-KR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1</a:t>
                </a:r>
                <a:r>
                  <a:rPr kumimoji="1" lang="ko-KR" altLang="en-US" sz="700" kern="0" dirty="0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개월</a:t>
                </a:r>
                <a:endParaRPr kumimoji="1" 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0" name="사각형: 둥근 모서리 171">
                <a:extLst>
                  <a:ext uri="{FF2B5EF4-FFF2-40B4-BE49-F238E27FC236}">
                    <a16:creationId xmlns:a16="http://schemas.microsoft.com/office/drawing/2014/main" id="{75BECEC6-4045-95B1-98C2-242CA0FC5A06}"/>
                  </a:ext>
                </a:extLst>
              </p:cNvPr>
              <p:cNvSpPr/>
              <p:nvPr/>
            </p:nvSpPr>
            <p:spPr>
              <a:xfrm>
                <a:off x="2061841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latin typeface="+mn-ea"/>
                  </a:rPr>
                  <a:t>최근 </a:t>
                </a:r>
                <a:r>
                  <a:rPr kumimoji="1" lang="en-US" altLang="ko-KR" sz="700" kern="0" dirty="0">
                    <a:latin typeface="+mn-ea"/>
                  </a:rPr>
                  <a:t>3</a:t>
                </a:r>
                <a:r>
                  <a:rPr kumimoji="1" lang="ko-KR" altLang="en-US" sz="700" kern="0" dirty="0">
                    <a:latin typeface="+mn-ea"/>
                  </a:rPr>
                  <a:t>개월</a:t>
                </a:r>
                <a:endParaRPr kumimoji="1" lang="en-US" altLang="ko-KR" sz="700" kern="0" dirty="0">
                  <a:latin typeface="+mn-ea"/>
                </a:endParaRPr>
              </a:p>
            </p:txBody>
          </p:sp>
          <p:sp>
            <p:nvSpPr>
              <p:cNvPr id="191" name="사각형: 둥근 모서리 172">
                <a:extLst>
                  <a:ext uri="{FF2B5EF4-FFF2-40B4-BE49-F238E27FC236}">
                    <a16:creationId xmlns:a16="http://schemas.microsoft.com/office/drawing/2014/main" id="{7F182F00-C81F-5F02-6A1E-826222B231A9}"/>
                  </a:ext>
                </a:extLst>
              </p:cNvPr>
              <p:cNvSpPr/>
              <p:nvPr/>
            </p:nvSpPr>
            <p:spPr>
              <a:xfrm>
                <a:off x="2693406" y="4057651"/>
                <a:ext cx="582017" cy="188135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lvl="0" algn="ctr" fontAlgn="base" latinLnBrk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최근 </a:t>
                </a:r>
                <a:r>
                  <a:rPr kumimoji="1" lang="en-US" altLang="ko-KR" sz="700" kern="0" dirty="0">
                    <a:solidFill>
                      <a:prstClr val="black"/>
                    </a:solidFill>
                    <a:latin typeface="+mn-ea"/>
                  </a:rPr>
                  <a:t>6</a:t>
                </a:r>
                <a:r>
                  <a:rPr kumimoji="1" lang="ko-KR" altLang="en-US" sz="700" kern="0" dirty="0">
                    <a:solidFill>
                      <a:prstClr val="black"/>
                    </a:solidFill>
                    <a:latin typeface="+mn-ea"/>
                  </a:rPr>
                  <a:t>개월</a:t>
                </a:r>
                <a:endParaRPr kumimoji="1" lang="en-US" altLang="ko-KR" sz="7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8F2F56C4-B606-212C-F131-A4A30AE19BC8}"/>
                </a:ext>
              </a:extLst>
            </p:cNvPr>
            <p:cNvGrpSpPr/>
            <p:nvPr/>
          </p:nvGrpSpPr>
          <p:grpSpPr>
            <a:xfrm>
              <a:off x="2450608" y="3740722"/>
              <a:ext cx="859319" cy="188244"/>
              <a:chOff x="5613534" y="2854836"/>
              <a:chExt cx="804671" cy="188244"/>
            </a:xfrm>
          </p:grpSpPr>
          <p:sp>
            <p:nvSpPr>
              <p:cNvPr id="196" name="사각형: 둥근 모서리 86">
                <a:extLst>
                  <a:ext uri="{FF2B5EF4-FFF2-40B4-BE49-F238E27FC236}">
                    <a16:creationId xmlns:a16="http://schemas.microsoft.com/office/drawing/2014/main" id="{C84908FA-11D4-E687-3603-3EA5852F6FAE}"/>
                  </a:ext>
                </a:extLst>
              </p:cNvPr>
              <p:cNvSpPr/>
              <p:nvPr/>
            </p:nvSpPr>
            <p:spPr>
              <a:xfrm>
                <a:off x="5613534" y="2854836"/>
                <a:ext cx="804671" cy="188244"/>
              </a:xfrm>
              <a:prstGeom prst="roundRect">
                <a:avLst>
                  <a:gd name="adj" fmla="val 18659"/>
                </a:avLst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sz="700" kern="0" dirty="0">
                    <a:latin typeface="맑은 고딕"/>
                  </a:rPr>
                  <a:t>2026-01</a:t>
                </a:r>
                <a:endParaRPr kumimoji="1" 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  <p:pic>
            <p:nvPicPr>
              <p:cNvPr id="197" name="그림 196">
                <a:extLst>
                  <a:ext uri="{FF2B5EF4-FFF2-40B4-BE49-F238E27FC236}">
                    <a16:creationId xmlns:a16="http://schemas.microsoft.com/office/drawing/2014/main" id="{B217D5BC-8335-EED4-D47A-F3F4110845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65649" y="2876004"/>
                <a:ext cx="126296" cy="137278"/>
              </a:xfrm>
              <a:prstGeom prst="rect">
                <a:avLst/>
              </a:prstGeom>
            </p:spPr>
          </p:pic>
        </p:grpSp>
        <p:cxnSp>
          <p:nvCxnSpPr>
            <p:cNvPr id="199" name="직선 연결선 19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675399" y="4288142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1" name="그룹 220"/>
          <p:cNvGrpSpPr/>
          <p:nvPr/>
        </p:nvGrpSpPr>
        <p:grpSpPr>
          <a:xfrm>
            <a:off x="675399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sp>
        <p:nvSpPr>
          <p:cNvPr id="200" name="TextBox 1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2813628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검색어</a:t>
            </a:r>
            <a:r>
              <a:rPr lang="ko-KR" altLang="en-US" sz="700" b="1" dirty="0">
                <a:latin typeface="+mn-ea"/>
              </a:rPr>
              <a:t> </a:t>
            </a:r>
            <a:r>
              <a:rPr lang="en-US" altLang="ko-KR" sz="700" b="1" dirty="0">
                <a:latin typeface="+mn-ea"/>
              </a:rPr>
              <a:t>(</a:t>
            </a:r>
            <a:r>
              <a:rPr lang="ko-KR" altLang="en-US" sz="700" b="1" dirty="0">
                <a:latin typeface="+mn-ea"/>
              </a:rPr>
              <a:t>일부 입력 가능</a:t>
            </a:r>
            <a:r>
              <a:rPr lang="en-US" altLang="ko-KR" sz="700" b="1" dirty="0">
                <a:latin typeface="+mn-ea"/>
              </a:rPr>
              <a:t>)</a:t>
            </a:r>
            <a:endParaRPr lang="ko-KR" altLang="en-US" sz="700" b="1" dirty="0">
              <a:latin typeface="+mn-ea"/>
            </a:endParaRPr>
          </a:p>
        </p:txBody>
      </p:sp>
      <p:grpSp>
        <p:nvGrpSpPr>
          <p:cNvPr id="201" name="그룹 200"/>
          <p:cNvGrpSpPr/>
          <p:nvPr/>
        </p:nvGrpSpPr>
        <p:grpSpPr>
          <a:xfrm flipV="1">
            <a:off x="3145721" y="2911318"/>
            <a:ext cx="91438" cy="45719"/>
            <a:chOff x="6812560" y="3297172"/>
            <a:chExt cx="94010" cy="47005"/>
          </a:xfrm>
        </p:grpSpPr>
        <p:cxnSp>
          <p:nvCxnSpPr>
            <p:cNvPr id="202" name="직선 연결선 20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3" name="직선 연결선 20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4" name="모서리가 둥근 직사각형 203"/>
          <p:cNvSpPr/>
          <p:nvPr/>
        </p:nvSpPr>
        <p:spPr>
          <a:xfrm>
            <a:off x="1454056" y="3094119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계약건명을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3287" y="3050619"/>
            <a:ext cx="6707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계약건명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계약번호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수정구분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진행상태</a:t>
            </a:r>
            <a:endParaRPr lang="en-US" altLang="ko-KR" sz="700" dirty="0">
              <a:latin typeface="+mn-ea"/>
            </a:endParaRPr>
          </a:p>
        </p:txBody>
      </p:sp>
      <p:sp>
        <p:nvSpPr>
          <p:cNvPr id="207" name="모서리가 둥근 직사각형 206"/>
          <p:cNvSpPr/>
          <p:nvPr/>
        </p:nvSpPr>
        <p:spPr>
          <a:xfrm>
            <a:off x="1454056" y="3315676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 err="1">
                <a:solidFill>
                  <a:schemeClr val="bg1">
                    <a:lumMod val="65000"/>
                  </a:schemeClr>
                </a:solidFill>
              </a:rPr>
              <a:t>계약번호를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 입력하세요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8" name="모서리가 둥근 직사각형 207"/>
          <p:cNvSpPr/>
          <p:nvPr/>
        </p:nvSpPr>
        <p:spPr>
          <a:xfrm>
            <a:off x="1454056" y="3761039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상태를 선택하세요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66" name="모서리가 둥근 직사각형 265"/>
          <p:cNvSpPr/>
          <p:nvPr/>
        </p:nvSpPr>
        <p:spPr>
          <a:xfrm>
            <a:off x="1454056" y="3538395"/>
            <a:ext cx="1845838" cy="187200"/>
          </a:xfrm>
          <a:prstGeom prst="roundRect">
            <a:avLst>
              <a:gd name="adj" fmla="val 1746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구분을 선택하세요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41" name="그룹 140"/>
          <p:cNvGrpSpPr/>
          <p:nvPr/>
        </p:nvGrpSpPr>
        <p:grpSpPr>
          <a:xfrm>
            <a:off x="3145723" y="3831779"/>
            <a:ext cx="91438" cy="45719"/>
            <a:chOff x="6812560" y="3297172"/>
            <a:chExt cx="94010" cy="47005"/>
          </a:xfrm>
        </p:grpSpPr>
        <p:cxnSp>
          <p:nvCxnSpPr>
            <p:cNvPr id="142" name="직선 연결선 1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직선 연결선 143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3" name="그룹 162"/>
          <p:cNvGrpSpPr/>
          <p:nvPr/>
        </p:nvGrpSpPr>
        <p:grpSpPr>
          <a:xfrm>
            <a:off x="3145723" y="3610111"/>
            <a:ext cx="91438" cy="45719"/>
            <a:chOff x="6812560" y="3297172"/>
            <a:chExt cx="94010" cy="47005"/>
          </a:xfrm>
        </p:grpSpPr>
        <p:cxnSp>
          <p:nvCxnSpPr>
            <p:cNvPr id="164" name="직선 연결선 16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5" name="직선 연결선 16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5" name="타원 11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581786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41770494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75A36F-8CF4-EB9C-5A08-D4ED701E4D3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4C714-DB2B-74A0-19DB-0F8D1DEAF3E0}"/>
              </a:ext>
            </a:extLst>
          </p:cNvPr>
          <p:cNvSpPr txBox="1"/>
          <p:nvPr/>
        </p:nvSpPr>
        <p:spPr>
          <a:xfrm>
            <a:off x="458117" y="803113"/>
            <a:ext cx="320497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세금계산서진행현황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dmt_SrchTxivPrgrsPrst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58D31-792E-1F31-CE2A-A2AE122E42CC}"/>
              </a:ext>
            </a:extLst>
          </p:cNvPr>
          <p:cNvSpPr txBox="1"/>
          <p:nvPr/>
        </p:nvSpPr>
        <p:spPr>
          <a:xfrm>
            <a:off x="458117" y="2273660"/>
            <a:ext cx="304948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세금계산서진행현황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dlt_TxivPrgrsPrst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CD30E0B-FD0E-6A3E-85E1-627E1B18E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594744"/>
              </p:ext>
            </p:extLst>
          </p:nvPr>
        </p:nvGraphicFramePr>
        <p:xfrm>
          <a:off x="452999" y="1014316"/>
          <a:ext cx="8994883" cy="1091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4252529446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7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발행일자시작일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bllPblcnYmd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세금계산서의 발행일자 시작일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발행일자종료일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bllPblcnYmd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세금계산서의 발행일자 종료일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세금계산서의 계약번호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txivPrgrsStcd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세금계산서의 발행 진행상태 항목 검색 조건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C: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폐기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F: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서명실패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,S: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전자서명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Y: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승인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R: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T: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국세청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SEND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717819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69C2BD-BAE7-E4E1-6BA5-91005212D745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2557414"/>
          <a:ext cx="8994883" cy="3540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3427634697"/>
                    </a:ext>
                  </a:extLst>
                </a:gridCol>
                <a:gridCol w="2671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1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15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8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reqDivsNm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계산서구분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조건에 따라 일반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수정으로 구분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txivPrgrsStcd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진행상태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C: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폐기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F: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서명실패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,S: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전자서명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Y: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승인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R: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T: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국세청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SEND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1851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수정사유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txivMdfcnRncd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수정사유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01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착오정정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취소분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수정분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)_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02: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변동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03: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환입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04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계약해제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pblcnNo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계산서발행번호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17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9701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발행일자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bllPblcnYmd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발행일자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yyyymmdd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4389359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rpstItnm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(WTB_PDB411.RPST_ITNM)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796194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(WTB_PDB500N.CTRT_NM)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19996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계약건명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(WTB_PEB500N.CSTRN_NM)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909177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contAmnt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물품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(WTB_PDB411.CONT_AMNT)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727654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(WTB_PDB500N.CONT_AMNT)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1633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공사 계약금액 항목 조회 결과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차수별계약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Table)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Alias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항목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(WTB_PEB500N.TOTL_CSRT_BOKP_AMNT)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264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공급가액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17,2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007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비고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353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제출일시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splrWrtDt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제출일시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Date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As-is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작성일자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 WTB_XDT611.SUP_SIGN_DATE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2178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국세청결과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elsgnRsltCd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국세청결과 항목 조회 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817005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40D4824D-7A8A-6FF7-E945-AA3DA642D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809724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9DF87B-BE52-25C3-5A23-EA02F4F92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</p:spPr>
        <p:txBody>
          <a:bodyPr/>
          <a:lstStyle/>
          <a:p>
            <a:fld id="{9DF8E3FD-B4FB-473B-BCAD-C4534B9A9D97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65F124-9EBA-E119-105D-59BDEB46042A}"/>
              </a:ext>
            </a:extLst>
          </p:cNvPr>
          <p:cNvSpPr txBox="1"/>
          <p:nvPr/>
        </p:nvSpPr>
        <p:spPr>
          <a:xfrm>
            <a:off x="458117" y="577797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09C01E7-E3D6-734F-7BFE-91353DFEF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054746"/>
              </p:ext>
            </p:extLst>
          </p:nvPr>
        </p:nvGraphicFramePr>
        <p:xfrm>
          <a:off x="453000" y="855928"/>
          <a:ext cx="8995591" cy="1019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7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906">
                  <a:extLst>
                    <a:ext uri="{9D8B030D-6E8A-4147-A177-3AD203B41FA5}">
                      <a16:colId xmlns:a16="http://schemas.microsoft.com/office/drawing/2014/main" val="624624882"/>
                    </a:ext>
                  </a:extLst>
                </a:gridCol>
                <a:gridCol w="363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0" dirty="0" err="1"/>
                        <a:t>scwin.btn_Srch</a:t>
                      </a:r>
                      <a:r>
                        <a:rPr lang="en-US" altLang="ko-KR" sz="800" b="0" dirty="0" err="1">
                          <a:solidFill>
                            <a:prstClr val="black"/>
                          </a:solidFill>
                        </a:rPr>
                        <a:t>TxivPrgrsPrst_onclick</a:t>
                      </a:r>
                      <a:endParaRPr lang="ko-KR" altLang="en-US" sz="800" b="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검색 조건에 따른 세금계산서진행현황 목록 정보를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카드 클릭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scwin.grd_TxivPrgrsPrst_onclick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세금계산서상세정보를 조회하는 팝업을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dirty="0"/>
                        <a:t>(UI-TS-04-M03) </a:t>
                      </a:r>
                      <a:r>
                        <a:rPr lang="ko-KR" altLang="en-US" sz="800" dirty="0"/>
                        <a:t>세금계산서작성 팝업으로 호출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924937"/>
                  </a:ext>
                </a:extLst>
              </a:tr>
            </a:tbl>
          </a:graphicData>
        </a:graphic>
      </p:graphicFrame>
      <p:sp>
        <p:nvSpPr>
          <p:cNvPr id="16" name="Text Box 73">
            <a:extLst>
              <a:ext uri="{FF2B5EF4-FFF2-40B4-BE49-F238E27FC236}">
                <a16:creationId xmlns:a16="http://schemas.microsoft.com/office/drawing/2014/main" id="{C50305C5-0706-6C5A-8776-896C01A4C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691092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78843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10811</TotalTime>
  <Words>3848</Words>
  <Application>Microsoft Office PowerPoint</Application>
  <PresentationFormat>A4 용지(210x297mm)</PresentationFormat>
  <Paragraphs>1718</Paragraphs>
  <Slides>31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9" baseType="lpstr">
      <vt:lpstr>Pretendard Medium</vt:lpstr>
      <vt:lpstr>맑은 고딕</vt:lpstr>
      <vt:lpstr>맑은 고딕 (본문)</vt:lpstr>
      <vt:lpstr>Arial</vt:lpstr>
      <vt:lpstr>Times New Roman</vt:lpstr>
      <vt:lpstr>Verdana</vt:lpstr>
      <vt:lpstr>Wingdings</vt:lpstr>
      <vt:lpstr>Office 테마</vt:lpstr>
      <vt:lpstr>사용자인터페이스 설계서 - 모바일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LIG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표준서식-PPTX-A4-Landscape</dc:title>
  <dc:subject>프로젝트 명</dc:subject>
  <dc:creator>LIG SYSTEM</dc:creator>
  <cp:keywords>표준서식-PPTX-A4-Landscape</cp:keywords>
  <cp:lastModifiedBy>User</cp:lastModifiedBy>
  <cp:revision>680</cp:revision>
  <cp:lastPrinted>2016-10-27T08:57:39Z</cp:lastPrinted>
  <dcterms:created xsi:type="dcterms:W3CDTF">2016-10-27T07:41:55Z</dcterms:created>
  <dcterms:modified xsi:type="dcterms:W3CDTF">2026-06-19T04:27:26Z</dcterms:modified>
  <cp:category>서브시스템/업무명</cp:category>
  <cp:contentStatus>0.1</cp:contentStatus>
</cp:coreProperties>
</file>