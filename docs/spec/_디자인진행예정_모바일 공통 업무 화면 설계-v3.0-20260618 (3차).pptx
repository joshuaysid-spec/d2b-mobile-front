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330" r:id="rId4"/>
    <p:sldId id="331" r:id="rId5"/>
    <p:sldId id="332" r:id="rId6"/>
    <p:sldId id="333" r:id="rId7"/>
    <p:sldId id="335" r:id="rId8"/>
    <p:sldId id="336" r:id="rId9"/>
    <p:sldId id="337" r:id="rId10"/>
    <p:sldId id="338" r:id="rId11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5F5"/>
    <a:srgbClr val="0000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36" autoAdjust="0"/>
  </p:normalViewPr>
  <p:slideViewPr>
    <p:cSldViewPr snapToGrid="0">
      <p:cViewPr varScale="1">
        <p:scale>
          <a:sx n="110" d="100"/>
          <a:sy n="110" d="100"/>
        </p:scale>
        <p:origin x="12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7CAC259-09F3-46AD-85A1-C9A77B67F4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E348D-5EF7-4E23-9F24-447BB6BDFA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FB85A-5989-4D4A-8723-AF1924C743ED}" type="datetimeFigureOut">
              <a:rPr lang="ko-KR" altLang="en-US" smtClean="0"/>
              <a:t>2026-06-22 (Monday)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62D0C3-7B92-4DCA-9FA4-384A3D9714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0DCA45-227C-4C07-B19A-807C67BFB4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83-9B5E-45B7-A575-C4DA1111D4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0309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6EAA3-FECC-4787-A620-25BD31DD8BA7}" type="datetimeFigureOut">
              <a:rPr lang="ko-KR" altLang="en-US" smtClean="0"/>
              <a:t>2026-06-22 (Monday)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B97B7-C28C-42D7-9DD8-B80758790D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4238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16DBB0-C0FF-4500-B2F2-D9AC0C7D5443}"/>
              </a:ext>
            </a:extLst>
          </p:cNvPr>
          <p:cNvSpPr txBox="1">
            <a:spLocks/>
          </p:cNvSpPr>
          <p:nvPr userDrawn="1"/>
        </p:nvSpPr>
        <p:spPr>
          <a:xfrm>
            <a:off x="981947" y="1141374"/>
            <a:ext cx="7794361" cy="534757"/>
          </a:xfrm>
          <a:prstGeom prst="rect">
            <a:avLst/>
          </a:prstGeom>
          <a:ln w="12700"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097" b="1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/>
              <a:t>별첨 </a:t>
            </a:r>
            <a:r>
              <a:rPr lang="en-US" altLang="ko-KR" sz="2400" dirty="0"/>
              <a:t>7.</a:t>
            </a:r>
            <a:r>
              <a:rPr lang="en-US" altLang="ko-KR" sz="2400" baseline="0" dirty="0"/>
              <a:t> 4. </a:t>
            </a:r>
            <a:r>
              <a:rPr lang="ko-KR" altLang="en-US" sz="2400" dirty="0"/>
              <a:t>모바일 공통 화면</a:t>
            </a:r>
            <a:endParaRPr lang="en-US" altLang="ko-KR" sz="24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BEE0F8E-B21E-4E0A-9B46-D09A774E5B7B}"/>
              </a:ext>
            </a:extLst>
          </p:cNvPr>
          <p:cNvSpPr txBox="1">
            <a:spLocks/>
          </p:cNvSpPr>
          <p:nvPr userDrawn="1"/>
        </p:nvSpPr>
        <p:spPr>
          <a:xfrm>
            <a:off x="977876" y="1697091"/>
            <a:ext cx="7802503" cy="346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9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501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9003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8504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005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97507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7008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9651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96011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98" dirty="0" err="1"/>
              <a:t>Powerpoint</a:t>
            </a:r>
            <a:endParaRPr lang="ko-KR" altLang="en-US" sz="1398" dirty="0"/>
          </a:p>
        </p:txBody>
      </p:sp>
      <p:pic>
        <p:nvPicPr>
          <p:cNvPr id="9" name="그림 8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2133FE-826B-4E15-BF47-4988063AF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862" y="527296"/>
            <a:ext cx="760838" cy="2971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5930CA8-9124-45A2-A18B-E65328D3D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57046" y="5776258"/>
            <a:ext cx="1201337" cy="14408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6F0455-C0A7-4F69-91F7-C71C1713E9EA}"/>
              </a:ext>
            </a:extLst>
          </p:cNvPr>
          <p:cNvSpPr/>
          <p:nvPr userDrawn="1"/>
        </p:nvSpPr>
        <p:spPr>
          <a:xfrm>
            <a:off x="1864080" y="6146829"/>
            <a:ext cx="6187269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2025 by </a:t>
            </a:r>
            <a:r>
              <a:rPr lang="ko-KR" altLang="en-US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방위사업청</a:t>
            </a:r>
            <a:endParaRPr lang="en-US" altLang="ko-KR" sz="786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방위사업청의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사용을 금합니다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786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1C40BB-71BA-4ADE-B293-5E8CA2AF9A58}"/>
              </a:ext>
            </a:extLst>
          </p:cNvPr>
          <p:cNvCxnSpPr/>
          <p:nvPr userDrawn="1"/>
        </p:nvCxnSpPr>
        <p:spPr>
          <a:xfrm>
            <a:off x="981947" y="1682085"/>
            <a:ext cx="77943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13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1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1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18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8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3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75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1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5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49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305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BB4D9-1547-4C41-B4DC-8EC85149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E6A9B0-EFF8-4CE5-9EDA-4B0DF90B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Line 37">
            <a:extLst>
              <a:ext uri="{FF2B5EF4-FFF2-40B4-BE49-F238E27FC236}">
                <a16:creationId xmlns:a16="http://schemas.microsoft.com/office/drawing/2014/main" id="{EC8B912F-6D59-4581-B186-511571BD872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5355" y="6531802"/>
            <a:ext cx="9265880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spcBef>
                <a:spcPct val="50000"/>
              </a:spcBef>
              <a:defRPr/>
            </a:pPr>
            <a:endParaRPr lang="ko-KR" altLang="en-US" sz="1356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6B871D4-FB1A-415B-94DB-EBEDCD1F0935}"/>
              </a:ext>
            </a:extLst>
          </p:cNvPr>
          <p:cNvCxnSpPr/>
          <p:nvPr userDrawn="1"/>
        </p:nvCxnSpPr>
        <p:spPr>
          <a:xfrm flipV="1">
            <a:off x="401598" y="425516"/>
            <a:ext cx="9033161" cy="34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FEAF56-028D-4CA4-A8C1-0807C154DE61}"/>
              </a:ext>
            </a:extLst>
          </p:cNvPr>
          <p:cNvSpPr/>
          <p:nvPr userDrawn="1"/>
        </p:nvSpPr>
        <p:spPr>
          <a:xfrm>
            <a:off x="5381690" y="261286"/>
            <a:ext cx="4077541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UI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표준정의서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체계통합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/UIUX)</a:t>
            </a:r>
            <a:endParaRPr kumimoji="1" lang="ko-KR" altLang="en-US" sz="961" b="1" kern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61CE84-F7DB-476B-B957-87920A14CEFC}"/>
              </a:ext>
            </a:extLst>
          </p:cNvPr>
          <p:cNvSpPr/>
          <p:nvPr userDrawn="1"/>
        </p:nvSpPr>
        <p:spPr>
          <a:xfrm>
            <a:off x="401597" y="261286"/>
            <a:ext cx="3553877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99003" rtl="0" eaLnBrk="1" fontAlgn="auto" latinLnBrk="1" hangingPunct="1">
              <a:lnSpc>
                <a:spcPct val="100000"/>
              </a:lnSpc>
              <a:spcBef>
                <a:spcPts val="87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sz="961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국방전자조달시스템 고도화 사업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F944483-699E-4C85-96B1-99D013B61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9153" y="6654942"/>
            <a:ext cx="666430" cy="79934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8556E4D9-060A-4262-BC84-0FDA32EDE4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356" y="6599800"/>
            <a:ext cx="603102" cy="20421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슬라이드 번호 개체 틀 6">
            <a:extLst>
              <a:ext uri="{FF2B5EF4-FFF2-40B4-BE49-F238E27FC236}">
                <a16:creationId xmlns:a16="http://schemas.microsoft.com/office/drawing/2014/main" id="{DF43AC31-2262-45FC-9F26-62BA3AA1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</p:spPr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0E9C94A0-1A44-41C8-97F0-615776503D14}"/>
              </a:ext>
            </a:extLst>
          </p:cNvPr>
          <p:cNvSpPr txBox="1">
            <a:spLocks/>
          </p:cNvSpPr>
          <p:nvPr userDrawn="1"/>
        </p:nvSpPr>
        <p:spPr>
          <a:xfrm>
            <a:off x="4627565" y="6599799"/>
            <a:ext cx="650875" cy="200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7F6BABFE-8B90-43AD-B867-C59B0A1DE750}" type="slidenum">
              <a:rPr lang="en-US" altLang="ko-KR" sz="1200" smtClean="0">
                <a:ea typeface="Verdana" panose="020B0604030504040204" pitchFamily="34" charset="0"/>
              </a:rPr>
              <a:pPr algn="ctr">
                <a:defRPr/>
              </a:pPr>
              <a:t>‹#›</a:t>
            </a:fld>
            <a:endParaRPr lang="en-US" altLang="ko-KR" sz="12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44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5F84076-CC3A-4E98-AD56-4ABB3FBB4140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372261" y="720000"/>
          <a:ext cx="9188531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88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marL="74295" marR="742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29250" marR="2925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텍스트 개체 틀 5">
            <a:extLst>
              <a:ext uri="{FF2B5EF4-FFF2-40B4-BE49-F238E27FC236}">
                <a16:creationId xmlns:a16="http://schemas.microsoft.com/office/drawing/2014/main" id="{B8BA90AC-14DB-41EE-BF8F-B266992854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0881" y="1493927"/>
            <a:ext cx="2272859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8025056F-0170-4049-ACD6-2BCBE0595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5255" y="755765"/>
            <a:ext cx="1707753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16776E7-32CE-41B6-8B01-CB68BA6F16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330" y="1010025"/>
            <a:ext cx="685303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6E1E275D-B44D-475F-9A62-DC3CCD773D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4590" y="755764"/>
            <a:ext cx="2551312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AB811939-74B3-42A1-BDCA-7309F46D45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329" y="755764"/>
            <a:ext cx="1359309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5D824F3-11C8-460B-9DB0-D444023D3118}"/>
              </a:ext>
            </a:extLst>
          </p:cNvPr>
          <p:cNvCxnSpPr/>
          <p:nvPr userDrawn="1"/>
        </p:nvCxnSpPr>
        <p:spPr>
          <a:xfrm flipV="1">
            <a:off x="401598" y="425516"/>
            <a:ext cx="9033161" cy="34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A00756-0B3B-4FEC-88DA-C979940B777A}"/>
              </a:ext>
            </a:extLst>
          </p:cNvPr>
          <p:cNvSpPr/>
          <p:nvPr userDrawn="1"/>
        </p:nvSpPr>
        <p:spPr>
          <a:xfrm>
            <a:off x="5381690" y="261286"/>
            <a:ext cx="4077541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UI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표준정의서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체계통합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/UIUX)</a:t>
            </a:r>
            <a:endParaRPr kumimoji="1" lang="ko-KR" altLang="en-US" sz="961" b="1" kern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BE3F96-048A-439C-82F3-919D0A904ADB}"/>
              </a:ext>
            </a:extLst>
          </p:cNvPr>
          <p:cNvSpPr/>
          <p:nvPr userDrawn="1"/>
        </p:nvSpPr>
        <p:spPr>
          <a:xfrm>
            <a:off x="401597" y="261286"/>
            <a:ext cx="3553877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99003" rtl="0" eaLnBrk="1" fontAlgn="auto" latinLnBrk="1" hangingPunct="1">
              <a:lnSpc>
                <a:spcPct val="100000"/>
              </a:lnSpc>
              <a:spcBef>
                <a:spcPts val="87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sz="961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국방전자조달시스템 고도화 사업</a:t>
            </a:r>
          </a:p>
        </p:txBody>
      </p:sp>
      <p:sp>
        <p:nvSpPr>
          <p:cNvPr id="17" name="Line 37">
            <a:extLst>
              <a:ext uri="{FF2B5EF4-FFF2-40B4-BE49-F238E27FC236}">
                <a16:creationId xmlns:a16="http://schemas.microsoft.com/office/drawing/2014/main" id="{63AE1FAD-C2A9-4493-8832-99FF5EE6B2E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5355" y="6531802"/>
            <a:ext cx="9265880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spcBef>
                <a:spcPct val="50000"/>
              </a:spcBef>
              <a:defRPr/>
            </a:pPr>
            <a:endParaRPr lang="ko-KR" altLang="en-US" sz="1356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6C57EE-09E9-4D29-95AA-2BA83D461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9153" y="6654942"/>
            <a:ext cx="666430" cy="79934"/>
          </a:xfrm>
          <a:prstGeom prst="rect">
            <a:avLst/>
          </a:prstGeom>
        </p:spPr>
      </p:pic>
      <p:pic>
        <p:nvPicPr>
          <p:cNvPr id="19" name="Picture 1">
            <a:extLst>
              <a:ext uri="{FF2B5EF4-FFF2-40B4-BE49-F238E27FC236}">
                <a16:creationId xmlns:a16="http://schemas.microsoft.com/office/drawing/2014/main" id="{5B18AEB0-5EFE-4A6C-BEEC-B5C91F733F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356" y="6599800"/>
            <a:ext cx="603102" cy="204217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D62880-B8CB-457F-B35B-F337BFA812BF}"/>
              </a:ext>
            </a:extLst>
          </p:cNvPr>
          <p:cNvGrpSpPr/>
          <p:nvPr userDrawn="1"/>
        </p:nvGrpSpPr>
        <p:grpSpPr>
          <a:xfrm>
            <a:off x="675401" y="1493927"/>
            <a:ext cx="2712026" cy="4738372"/>
            <a:chOff x="675401" y="1493927"/>
            <a:chExt cx="2712026" cy="4738372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8BA4F8-1FF1-47C4-A881-C51DF2D91156}"/>
                </a:ext>
              </a:extLst>
            </p:cNvPr>
            <p:cNvCxnSpPr/>
            <p:nvPr/>
          </p:nvCxnSpPr>
          <p:spPr>
            <a:xfrm>
              <a:off x="675401" y="1868943"/>
              <a:ext cx="27120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3858C7F-DDA8-4E36-AE3F-E26B18123A3C}"/>
                </a:ext>
              </a:extLst>
            </p:cNvPr>
            <p:cNvGrpSpPr/>
            <p:nvPr/>
          </p:nvGrpSpPr>
          <p:grpSpPr>
            <a:xfrm>
              <a:off x="675401" y="1493927"/>
              <a:ext cx="2712026" cy="4738372"/>
              <a:chOff x="675401" y="1493927"/>
              <a:chExt cx="2712026" cy="4738372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F5EEB015-4AAC-4F17-9614-36D255773A28}"/>
                  </a:ext>
                </a:extLst>
              </p:cNvPr>
              <p:cNvSpPr/>
              <p:nvPr/>
            </p:nvSpPr>
            <p:spPr>
              <a:xfrm>
                <a:off x="675401" y="1493927"/>
                <a:ext cx="2712026" cy="4738372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99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9508A1-8DC1-4FC6-B5D4-2A1FB186E3AC}"/>
                  </a:ext>
                </a:extLst>
              </p:cNvPr>
              <p:cNvSpPr txBox="1"/>
              <p:nvPr/>
            </p:nvSpPr>
            <p:spPr>
              <a:xfrm>
                <a:off x="921539" y="1608357"/>
                <a:ext cx="873394" cy="123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altLang="ko-KR" sz="801" dirty="0">
                  <a:latin typeface="+mn-ea"/>
                </a:endParaRPr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5D914C48-04BC-4732-BEC1-73FDA364E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5120" y="1568778"/>
                <a:ext cx="742307" cy="322519"/>
              </a:xfrm>
              <a:prstGeom prst="rect">
                <a:avLst/>
              </a:prstGeom>
            </p:spPr>
          </p:pic>
          <p:sp>
            <p:nvSpPr>
              <p:cNvPr id="30" name="Chevron Left">
                <a:extLst>
                  <a:ext uri="{FF2B5EF4-FFF2-40B4-BE49-F238E27FC236}">
                    <a16:creationId xmlns:a16="http://schemas.microsoft.com/office/drawing/2014/main" id="{EDF8D2DB-7954-45EF-9FFC-F063192E55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6179" y="1595702"/>
                <a:ext cx="79375" cy="144462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1" name="슬라이드 번호 개체 틀 1">
            <a:extLst>
              <a:ext uri="{FF2B5EF4-FFF2-40B4-BE49-F238E27FC236}">
                <a16:creationId xmlns:a16="http://schemas.microsoft.com/office/drawing/2014/main" id="{1D4A8BE5-E8FD-4669-9802-33760070660B}"/>
              </a:ext>
            </a:extLst>
          </p:cNvPr>
          <p:cNvSpPr txBox="1">
            <a:spLocks/>
          </p:cNvSpPr>
          <p:nvPr userDrawn="1"/>
        </p:nvSpPr>
        <p:spPr>
          <a:xfrm>
            <a:off x="4627565" y="6599799"/>
            <a:ext cx="650875" cy="200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7F6BABFE-8B90-43AD-B867-C59B0A1DE750}" type="slidenum">
              <a:rPr lang="en-US" altLang="ko-KR" sz="1200" smtClean="0">
                <a:ea typeface="Verdana" panose="020B0604030504040204" pitchFamily="34" charset="0"/>
              </a:rPr>
              <a:pPr algn="ctr">
                <a:defRPr/>
              </a:pPr>
              <a:t>‹#›</a:t>
            </a:fld>
            <a:endParaRPr lang="en-US" altLang="ko-KR" sz="12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61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5F84076-CC3A-4E98-AD56-4ABB3FBB4140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372261" y="720000"/>
          <a:ext cx="9188531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88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marL="74295" marR="742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 marL="74295" marR="7429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29250" marR="2925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텍스트 개체 틀 5">
            <a:extLst>
              <a:ext uri="{FF2B5EF4-FFF2-40B4-BE49-F238E27FC236}">
                <a16:creationId xmlns:a16="http://schemas.microsoft.com/office/drawing/2014/main" id="{B8BA90AC-14DB-41EE-BF8F-B266992854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0881" y="1493927"/>
            <a:ext cx="2272859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8025056F-0170-4049-ACD6-2BCBE0595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5255" y="755765"/>
            <a:ext cx="1707753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16776E7-32CE-41B6-8B01-CB68BA6F16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330" y="1010025"/>
            <a:ext cx="685303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6E1E275D-B44D-475F-9A62-DC3CCD773D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4590" y="755764"/>
            <a:ext cx="2551312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AB811939-74B3-42A1-BDCA-7309F46D45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329" y="755764"/>
            <a:ext cx="1359309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5D824F3-11C8-460B-9DB0-D444023D3118}"/>
              </a:ext>
            </a:extLst>
          </p:cNvPr>
          <p:cNvCxnSpPr/>
          <p:nvPr userDrawn="1"/>
        </p:nvCxnSpPr>
        <p:spPr>
          <a:xfrm flipV="1">
            <a:off x="401598" y="425516"/>
            <a:ext cx="9033161" cy="34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A00756-0B3B-4FEC-88DA-C979940B777A}"/>
              </a:ext>
            </a:extLst>
          </p:cNvPr>
          <p:cNvSpPr/>
          <p:nvPr userDrawn="1"/>
        </p:nvSpPr>
        <p:spPr>
          <a:xfrm>
            <a:off x="5381690" y="261286"/>
            <a:ext cx="4077541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UI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표준정의서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1" lang="ko-KR" altLang="en-US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체계통합</a:t>
            </a:r>
            <a:r>
              <a:rPr kumimoji="1" lang="en-US" altLang="ko-KR" sz="961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/UIUX)</a:t>
            </a:r>
            <a:endParaRPr kumimoji="1" lang="ko-KR" altLang="en-US" sz="961" b="1" kern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BE3F96-048A-439C-82F3-919D0A904ADB}"/>
              </a:ext>
            </a:extLst>
          </p:cNvPr>
          <p:cNvSpPr/>
          <p:nvPr userDrawn="1"/>
        </p:nvSpPr>
        <p:spPr>
          <a:xfrm>
            <a:off x="401597" y="261286"/>
            <a:ext cx="3553877" cy="147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99003" rtl="0" eaLnBrk="1" fontAlgn="auto" latinLnBrk="1" hangingPunct="1">
              <a:lnSpc>
                <a:spcPct val="100000"/>
              </a:lnSpc>
              <a:spcBef>
                <a:spcPts val="87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sz="961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국방전자조달시스템 고도화 사업</a:t>
            </a:r>
          </a:p>
        </p:txBody>
      </p:sp>
      <p:sp>
        <p:nvSpPr>
          <p:cNvPr id="17" name="Line 37">
            <a:extLst>
              <a:ext uri="{FF2B5EF4-FFF2-40B4-BE49-F238E27FC236}">
                <a16:creationId xmlns:a16="http://schemas.microsoft.com/office/drawing/2014/main" id="{63AE1FAD-C2A9-4493-8832-99FF5EE6B2E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5355" y="6531802"/>
            <a:ext cx="9265880" cy="0"/>
          </a:xfrm>
          <a:prstGeom prst="line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spcBef>
                <a:spcPct val="50000"/>
              </a:spcBef>
              <a:defRPr/>
            </a:pPr>
            <a:endParaRPr lang="ko-KR" altLang="en-US" sz="1356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6C57EE-09E9-4D29-95AA-2BA83D4616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9153" y="6654942"/>
            <a:ext cx="666430" cy="79934"/>
          </a:xfrm>
          <a:prstGeom prst="rect">
            <a:avLst/>
          </a:prstGeom>
        </p:spPr>
      </p:pic>
      <p:pic>
        <p:nvPicPr>
          <p:cNvPr id="19" name="Picture 1">
            <a:extLst>
              <a:ext uri="{FF2B5EF4-FFF2-40B4-BE49-F238E27FC236}">
                <a16:creationId xmlns:a16="http://schemas.microsoft.com/office/drawing/2014/main" id="{5B18AEB0-5EFE-4A6C-BEEC-B5C91F733F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356" y="6599800"/>
            <a:ext cx="603102" cy="20421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슬라이드 번호 개체 틀 1">
            <a:extLst>
              <a:ext uri="{FF2B5EF4-FFF2-40B4-BE49-F238E27FC236}">
                <a16:creationId xmlns:a16="http://schemas.microsoft.com/office/drawing/2014/main" id="{1D4A8BE5-E8FD-4669-9802-33760070660B}"/>
              </a:ext>
            </a:extLst>
          </p:cNvPr>
          <p:cNvSpPr txBox="1">
            <a:spLocks/>
          </p:cNvSpPr>
          <p:nvPr userDrawn="1"/>
        </p:nvSpPr>
        <p:spPr>
          <a:xfrm>
            <a:off x="4627565" y="6599799"/>
            <a:ext cx="650875" cy="200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7F6BABFE-8B90-43AD-B867-C59B0A1DE750}" type="slidenum">
              <a:rPr lang="en-US" altLang="ko-KR" sz="1200" smtClean="0">
                <a:ea typeface="Verdana" panose="020B0604030504040204" pitchFamily="34" charset="0"/>
              </a:rPr>
              <a:pPr algn="ctr">
                <a:defRPr/>
              </a:pPr>
              <a:t>‹#›</a:t>
            </a:fld>
            <a:endParaRPr lang="en-US" altLang="ko-KR" sz="12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32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8FD49-4B8D-4D48-813D-89D64CF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5E88D1-AD22-4F4D-9F50-7486F725C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CF339-8852-4BA6-8926-A92596F2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93197-4359-4E2B-9105-D94C854E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8579EB-A013-4244-9149-CA2B7181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48EF44-D650-44A4-8C7C-F73416B967BA}"/>
              </a:ext>
            </a:extLst>
          </p:cNvPr>
          <p:cNvSpPr txBox="1">
            <a:spLocks/>
          </p:cNvSpPr>
          <p:nvPr userDrawn="1"/>
        </p:nvSpPr>
        <p:spPr>
          <a:xfrm>
            <a:off x="981947" y="1141374"/>
            <a:ext cx="7794361" cy="534757"/>
          </a:xfrm>
          <a:prstGeom prst="rect">
            <a:avLst/>
          </a:prstGeom>
          <a:ln w="12700"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097" b="1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/>
              <a:t>별첨 </a:t>
            </a:r>
            <a:r>
              <a:rPr lang="en-US" altLang="ko-KR" sz="2400" dirty="0"/>
              <a:t>7.</a:t>
            </a:r>
            <a:r>
              <a:rPr lang="en-US" altLang="ko-KR" sz="2400" baseline="0" dirty="0"/>
              <a:t> 4. </a:t>
            </a:r>
            <a:r>
              <a:rPr lang="ko-KR" altLang="en-US" sz="2400" dirty="0"/>
              <a:t>모바일 공통 </a:t>
            </a:r>
            <a:r>
              <a:rPr lang="en-US" altLang="ko-KR" sz="2400" dirty="0"/>
              <a:t>UI </a:t>
            </a:r>
            <a:r>
              <a:rPr lang="ko-KR" altLang="en-US" sz="2400" dirty="0"/>
              <a:t>표준정의서</a:t>
            </a:r>
            <a:endParaRPr lang="en-US" altLang="ko-KR" sz="24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82F1DFD-5359-4D3C-B44C-5431E3183365}"/>
              </a:ext>
            </a:extLst>
          </p:cNvPr>
          <p:cNvSpPr txBox="1">
            <a:spLocks/>
          </p:cNvSpPr>
          <p:nvPr userDrawn="1"/>
        </p:nvSpPr>
        <p:spPr>
          <a:xfrm>
            <a:off x="977876" y="1697091"/>
            <a:ext cx="7802503" cy="346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98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501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9003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98504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005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97507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7008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9651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96011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398" dirty="0" err="1"/>
              <a:t>Powerpoint</a:t>
            </a:r>
            <a:endParaRPr lang="ko-KR" altLang="en-US" sz="1398" dirty="0"/>
          </a:p>
        </p:txBody>
      </p:sp>
      <p:pic>
        <p:nvPicPr>
          <p:cNvPr id="12" name="그림 11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21C682-683B-4F5D-865A-D48BDE814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862" y="527296"/>
            <a:ext cx="760838" cy="2971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C503955-A4B5-403D-A2AB-E726BF3DC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57046" y="5776258"/>
            <a:ext cx="1201337" cy="14408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B8DC8A-F62F-4BB1-8071-64C3C790D9AB}"/>
              </a:ext>
            </a:extLst>
          </p:cNvPr>
          <p:cNvSpPr/>
          <p:nvPr userDrawn="1"/>
        </p:nvSpPr>
        <p:spPr>
          <a:xfrm>
            <a:off x="1864080" y="6146829"/>
            <a:ext cx="6187269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2025 by </a:t>
            </a:r>
            <a:r>
              <a:rPr lang="ko-KR" altLang="en-US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방위사업청</a:t>
            </a:r>
            <a:endParaRPr lang="en-US" altLang="ko-KR" sz="786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786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방위사업청의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배포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사용을 금합니다</a:t>
            </a:r>
            <a:r>
              <a:rPr lang="en-US" altLang="ko-KR" sz="786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786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195E1BE-1391-4572-B47E-C1B9A846A41D}"/>
              </a:ext>
            </a:extLst>
          </p:cNvPr>
          <p:cNvCxnSpPr/>
          <p:nvPr userDrawn="1"/>
        </p:nvCxnSpPr>
        <p:spPr>
          <a:xfrm>
            <a:off x="981947" y="1682085"/>
            <a:ext cx="779436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BA86B-4F73-409C-8ECB-E6EE25591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93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49" r:id="rId15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80754"/>
            <a:ext cx="5991498" cy="402336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권순태 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기획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코멘트 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- 260622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현재 페이지에 작성된 사항은 디자인을 진행함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현재 페이지에 작성되지 아니하고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 dirty="0" err="1" smtClean="0">
                <a:solidFill>
                  <a:schemeClr val="bg1"/>
                </a:solidFill>
                <a:latin typeface="+mn-ea"/>
              </a:rPr>
              <a:t>앱메뉴에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 체크된 사항은 디자인에서 내용을 확인</a:t>
            </a:r>
            <a:endParaRPr lang="en-US" altLang="ko-KR" sz="1000" dirty="0" smtClean="0">
              <a:solidFill>
                <a:schemeClr val="bg1"/>
              </a:solidFill>
              <a:latin typeface="+mn-ea"/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이후 기획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또는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00" dirty="0" err="1" smtClean="0">
                <a:solidFill>
                  <a:schemeClr val="bg1"/>
                </a:solidFill>
                <a:latin typeface="+mn-ea"/>
              </a:rPr>
              <a:t>퍼블에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 문의하여 내용을 확인하고 진행할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예정임</a:t>
            </a:r>
            <a:endParaRPr lang="en-US" altLang="ko-KR" sz="1000" dirty="0" smtClean="0">
              <a:solidFill>
                <a:schemeClr val="bg1"/>
              </a:solidFill>
              <a:latin typeface="+mn-ea"/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 marL="228600" indent="-2286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앱 메뉴에 작성된 사항 중 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디자인 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불필요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]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또는 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[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디자인 제외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]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로 작성한 사항의 경우는 추가 디자인 안함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.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0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887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759">
            <a:extLst>
              <a:ext uri="{FF2B5EF4-FFF2-40B4-BE49-F238E27FC236}">
                <a16:creationId xmlns:a16="http://schemas.microsoft.com/office/drawing/2014/main" id="{97652F8C-C106-4E9B-AF22-24C706A07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97000"/>
              </p:ext>
            </p:extLst>
          </p:nvPr>
        </p:nvGraphicFramePr>
        <p:xfrm>
          <a:off x="389468" y="1354083"/>
          <a:ext cx="9042400" cy="2797757"/>
        </p:xfrm>
        <a:graphic>
          <a:graphicData uri="http://schemas.openxmlformats.org/drawingml/2006/table">
            <a:tbl>
              <a:tblPr/>
              <a:tblGrid>
                <a:gridCol w="115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제개정일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개정내용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관련근거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2026. 6.18</a:t>
                      </a: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46378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31349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878146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1456" marR="31456" marT="31456" marB="3145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382199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276647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5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869" marR="34869" marT="34869" marB="3486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BD540810-9F9C-4DEB-A489-9F9ACBA49BF4}"/>
              </a:ext>
            </a:extLst>
          </p:cNvPr>
          <p:cNvSpPr txBox="1">
            <a:spLocks/>
          </p:cNvSpPr>
          <p:nvPr/>
        </p:nvSpPr>
        <p:spPr>
          <a:xfrm>
            <a:off x="1626830" y="821363"/>
            <a:ext cx="6646153" cy="4178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b="1" dirty="0" err="1">
                <a:solidFill>
                  <a:schemeClr val="tx1"/>
                </a:solidFill>
              </a:rPr>
              <a:t>제</a:t>
            </a:r>
            <a:r>
              <a:rPr lang="ko-KR" altLang="en-US" sz="1500" b="1" dirty="0" err="1">
                <a:solidFill>
                  <a:schemeClr val="tx1"/>
                </a:solidFill>
                <a:sym typeface="Wingdings" panose="05000000000000000000" pitchFamily="2" charset="2"/>
              </a:rPr>
              <a:t></a:t>
            </a:r>
            <a:r>
              <a:rPr lang="ko-KR" altLang="en-US" sz="1500" b="1" dirty="0" err="1">
                <a:solidFill>
                  <a:schemeClr val="tx1"/>
                </a:solidFill>
              </a:rPr>
              <a:t>개</a:t>
            </a:r>
            <a:r>
              <a:rPr lang="ko-KR" altLang="en-US" sz="1500" b="1" dirty="0">
                <a:solidFill>
                  <a:schemeClr val="tx1"/>
                </a:solidFill>
              </a:rPr>
              <a:t> 정 이 력</a:t>
            </a:r>
          </a:p>
        </p:txBody>
      </p:sp>
    </p:spTree>
    <p:extLst>
      <p:ext uri="{BB962C8B-B14F-4D97-AF65-F5344CB8AC3E}">
        <p14:creationId xmlns:p14="http://schemas.microsoft.com/office/powerpoint/2010/main" val="36894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A519466A-AF1A-487D-A55F-52AFFC5F2DBF}"/>
              </a:ext>
            </a:extLst>
          </p:cNvPr>
          <p:cNvSpPr txBox="1">
            <a:spLocks/>
          </p:cNvSpPr>
          <p:nvPr/>
        </p:nvSpPr>
        <p:spPr>
          <a:xfrm>
            <a:off x="457198" y="612000"/>
            <a:ext cx="8991601" cy="84727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1. </a:t>
            </a:r>
            <a:r>
              <a:rPr lang="ko-KR" altLang="en-US"/>
              <a:t>앱실행</a:t>
            </a:r>
            <a:r>
              <a:rPr lang="en-US" altLang="ko-KR"/>
              <a:t>, </a:t>
            </a:r>
            <a:r>
              <a:rPr lang="ko-KR" altLang="en-US"/>
              <a:t>로그인 메뉴</a:t>
            </a:r>
            <a:endParaRPr lang="en-US" altLang="ko-KR"/>
          </a:p>
          <a:p>
            <a:r>
              <a:rPr lang="en-US" altLang="ko-KR"/>
              <a:t>1.1 </a:t>
            </a:r>
            <a:r>
              <a:rPr lang="ko-KR" altLang="en-US"/>
              <a:t>화면 목록 </a:t>
            </a:r>
            <a:r>
              <a:rPr lang="en-US" altLang="ko-KR"/>
              <a:t>(1/2)</a:t>
            </a:r>
            <a:endParaRPr lang="ko-KR" altLang="en-US" dirty="0"/>
          </a:p>
        </p:txBody>
      </p:sp>
      <p:sp>
        <p:nvSpPr>
          <p:cNvPr id="3" name="Text Box 73">
            <a:extLst>
              <a:ext uri="{FF2B5EF4-FFF2-40B4-BE49-F238E27FC236}">
                <a16:creationId xmlns:a16="http://schemas.microsoft.com/office/drawing/2014/main" id="{D931B4F5-279A-4812-BE80-AA1675766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DE37FB-9D0C-412C-9080-59DB3F067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713632"/>
              </p:ext>
            </p:extLst>
          </p:nvPr>
        </p:nvGraphicFramePr>
        <p:xfrm>
          <a:off x="635474" y="1413419"/>
          <a:ext cx="8701199" cy="21849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5859">
                  <a:extLst>
                    <a:ext uri="{9D8B030D-6E8A-4147-A177-3AD203B41FA5}">
                      <a16:colId xmlns:a16="http://schemas.microsoft.com/office/drawing/2014/main" val="2492903506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3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MUI-MS-01-M13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알림현황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푸시알림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 알림 발생 현황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MUI-BD-01-P03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지역검색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시군구까지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지역 검색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731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MUI-BD-04-M21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신청서 작성 완료 시 공동인증서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72525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MUI-BD-06-M08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 참가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(PQ)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표준정의서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5721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MUI-BD-10-M06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억원미만물품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중기청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입찰결과상세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이행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적격심사결과 탭 </a:t>
                      </a:r>
                      <a:r>
                        <a:rPr lang="en-US" altLang="ko-KR" sz="800" dirty="0"/>
                        <a:t>- 10</a:t>
                      </a:r>
                      <a:r>
                        <a:rPr lang="ko-KR" altLang="en-US" sz="800" dirty="0"/>
                        <a:t>억원미만물품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중기청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en-US" sz="800" dirty="0"/>
                        <a:t>일 때 조회 화면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콘텐츠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디자인 작업 전 패턴 확인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MUI-BD-01-M74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환율정보조회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8162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MUI-CT-01-P78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상업계약서명세서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2546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MUI-EX-02-P79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계약번호조회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Native App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6889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MUI-MS-02-M01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표준정의서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75290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0C4CACF5-F3F2-4614-94D0-0D1BFE1A3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8304" y="1140446"/>
            <a:ext cx="2346262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2) </a:t>
            </a:r>
            <a:r>
              <a:rPr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MUI-MS </a:t>
            </a:r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모바일 시스템은 </a:t>
            </a:r>
            <a:r>
              <a:rPr lang="ko-KR" altLang="en-US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유스케이스</a:t>
            </a:r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ID</a:t>
            </a:r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가</a:t>
            </a:r>
            <a:r>
              <a:rPr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부존재함</a:t>
            </a:r>
            <a:r>
              <a:rPr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6214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0A1E1531-D733-4BC9-A7C1-2290AF5E5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81089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알림 표시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ko-KR" altLang="en-US" dirty="0" err="1"/>
              <a:t>딥링크를</a:t>
            </a:r>
            <a:r>
              <a:rPr lang="ko-KR" altLang="en-US" dirty="0"/>
              <a:t> 통해 해당 내역으로 이동</a:t>
            </a:r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A710AC8C-84DA-4838-BBAC-728D0FE714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>
                <a:latin typeface="+mn-ea"/>
              </a:rPr>
              <a:t>알림 현황</a:t>
            </a:r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8FA2D8D7-B527-4DEC-A819-4C99FC245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+mn-ea"/>
              </a:rPr>
              <a:t>모바일 푸시 알림 현황 화면</a:t>
            </a: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6D740792-477D-43D0-865B-8B54EE3EA8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>
                <a:latin typeface="+mn-ea"/>
              </a:rPr>
              <a:t>메인 홈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알림현황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E1913DF5-0498-4E6B-95F0-504C2E7410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MUI-MS-01-M13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57ABF0-E63F-48FA-A34B-02B10B438392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3E661-4094-4529-9B28-64236E3184F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알림현황</a:t>
            </a:r>
            <a:endParaRPr lang="en-US" altLang="ko-KR" sz="800" dirty="0"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C6480D3-DD69-4B63-953D-DCDD4AA9B99B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0D2FCEE-2E23-4767-A6DF-7D3C7FE2C295}"/>
              </a:ext>
            </a:extLst>
          </p:cNvPr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5FD749A-FF0F-4E51-9CFF-4D3D35C0950A}"/>
                </a:ext>
              </a:extLst>
            </p:cNvPr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32AFB55-2080-4A65-B0F4-45BB9E6BA572}"/>
                </a:ext>
              </a:extLst>
            </p:cNvPr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E188B004-68C2-4FB0-8ED7-F87B1F9A49C8}"/>
              </a:ext>
            </a:extLst>
          </p:cNvPr>
          <p:cNvSpPr/>
          <p:nvPr/>
        </p:nvSpPr>
        <p:spPr>
          <a:xfrm>
            <a:off x="571127" y="159620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27A0112-AE31-4A4C-849B-ABCC0B3495AF}"/>
              </a:ext>
            </a:extLst>
          </p:cNvPr>
          <p:cNvSpPr/>
          <p:nvPr/>
        </p:nvSpPr>
        <p:spPr>
          <a:xfrm>
            <a:off x="571127" y="278517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4961D6-9A39-406D-8D3B-873B21E9985F}"/>
              </a:ext>
            </a:extLst>
          </p:cNvPr>
          <p:cNvSpPr txBox="1"/>
          <p:nvPr/>
        </p:nvSpPr>
        <p:spPr>
          <a:xfrm>
            <a:off x="878892" y="196993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조달계획이</a:t>
            </a:r>
            <a:r>
              <a:rPr lang="ko-KR" altLang="en-US" sz="800" dirty="0">
                <a:latin typeface="+mn-ea"/>
              </a:rPr>
              <a:t> 등록되었습니다</a:t>
            </a:r>
            <a:r>
              <a:rPr lang="en-US" altLang="ko-KR" sz="800" dirty="0">
                <a:latin typeface="+mn-ea"/>
              </a:rPr>
              <a:t>.</a:t>
            </a:r>
            <a:endParaRPr lang="ko-KR" altLang="en-US" sz="800" dirty="0">
              <a:latin typeface="+mn-ea"/>
            </a:endParaRPr>
          </a:p>
        </p:txBody>
      </p:sp>
      <p:sp>
        <p:nvSpPr>
          <p:cNvPr id="22" name="모서리가 둥근 직사각형 29">
            <a:extLst>
              <a:ext uri="{FF2B5EF4-FFF2-40B4-BE49-F238E27FC236}">
                <a16:creationId xmlns:a16="http://schemas.microsoft.com/office/drawing/2014/main" id="{E7649880-D5DF-4D03-8B78-73F905DC64D1}"/>
              </a:ext>
            </a:extLst>
          </p:cNvPr>
          <p:cNvSpPr/>
          <p:nvPr/>
        </p:nvSpPr>
        <p:spPr>
          <a:xfrm>
            <a:off x="891228" y="2169025"/>
            <a:ext cx="1817682" cy="12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BEE071-B25C-40CD-8D46-A216A39B5413}"/>
              </a:ext>
            </a:extLst>
          </p:cNvPr>
          <p:cNvSpPr txBox="1"/>
          <p:nvPr/>
        </p:nvSpPr>
        <p:spPr>
          <a:xfrm>
            <a:off x="878892" y="2585150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입찰참가 신청 결과가 등록되었습니다</a:t>
            </a:r>
            <a:r>
              <a:rPr lang="en-US" altLang="ko-KR" sz="800" dirty="0">
                <a:latin typeface="+mn-ea"/>
              </a:rPr>
              <a:t>.</a:t>
            </a:r>
            <a:endParaRPr lang="ko-KR" altLang="en-US" sz="800" dirty="0">
              <a:latin typeface="+mn-ea"/>
            </a:endParaRPr>
          </a:p>
        </p:txBody>
      </p:sp>
      <p:sp>
        <p:nvSpPr>
          <p:cNvPr id="24" name="모서리가 둥근 직사각형 31">
            <a:extLst>
              <a:ext uri="{FF2B5EF4-FFF2-40B4-BE49-F238E27FC236}">
                <a16:creationId xmlns:a16="http://schemas.microsoft.com/office/drawing/2014/main" id="{6D9E1DC3-6F59-45E7-B72E-0D678B8A08B5}"/>
              </a:ext>
            </a:extLst>
          </p:cNvPr>
          <p:cNvSpPr/>
          <p:nvPr/>
        </p:nvSpPr>
        <p:spPr>
          <a:xfrm>
            <a:off x="891228" y="2784239"/>
            <a:ext cx="1817682" cy="12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98509D-CC38-4F43-8562-D2A4AAAD32E5}"/>
              </a:ext>
            </a:extLst>
          </p:cNvPr>
          <p:cNvSpPr txBox="1"/>
          <p:nvPr/>
        </p:nvSpPr>
        <p:spPr>
          <a:xfrm>
            <a:off x="878892" y="3255435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계약이 완료되었습니다</a:t>
            </a:r>
            <a:r>
              <a:rPr lang="en-US" altLang="ko-KR" sz="800" dirty="0">
                <a:latin typeface="+mn-ea"/>
              </a:rPr>
              <a:t>.</a:t>
            </a:r>
            <a:endParaRPr lang="ko-KR" altLang="en-US" sz="800" dirty="0">
              <a:latin typeface="+mn-ea"/>
            </a:endParaRPr>
          </a:p>
        </p:txBody>
      </p:sp>
      <p:sp>
        <p:nvSpPr>
          <p:cNvPr id="26" name="모서리가 둥근 직사각형 33">
            <a:extLst>
              <a:ext uri="{FF2B5EF4-FFF2-40B4-BE49-F238E27FC236}">
                <a16:creationId xmlns:a16="http://schemas.microsoft.com/office/drawing/2014/main" id="{E5335458-C07C-44F6-B7F5-B347BD4210C5}"/>
              </a:ext>
            </a:extLst>
          </p:cNvPr>
          <p:cNvSpPr/>
          <p:nvPr/>
        </p:nvSpPr>
        <p:spPr>
          <a:xfrm>
            <a:off x="891228" y="3454524"/>
            <a:ext cx="1817682" cy="12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3515D51-FD6E-44C5-8FC5-697F6DB7665C}"/>
              </a:ext>
            </a:extLst>
          </p:cNvPr>
          <p:cNvCxnSpPr/>
          <p:nvPr/>
        </p:nvCxnSpPr>
        <p:spPr>
          <a:xfrm>
            <a:off x="721832" y="2530716"/>
            <a:ext cx="2624283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2795033-2B71-46E8-8DE4-A128D81AE70E}"/>
              </a:ext>
            </a:extLst>
          </p:cNvPr>
          <p:cNvCxnSpPr/>
          <p:nvPr/>
        </p:nvCxnSpPr>
        <p:spPr>
          <a:xfrm>
            <a:off x="721832" y="3167642"/>
            <a:ext cx="2624283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F0B750-86AE-4222-BFD8-A27F25D23906}"/>
              </a:ext>
            </a:extLst>
          </p:cNvPr>
          <p:cNvSpPr txBox="1"/>
          <p:nvPr/>
        </p:nvSpPr>
        <p:spPr>
          <a:xfrm>
            <a:off x="878892" y="3928964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</a:t>
            </a:r>
            <a:r>
              <a:rPr lang="en-US" altLang="ko-KR" sz="800" dirty="0">
                <a:latin typeface="+mn-ea"/>
              </a:rPr>
              <a:t>/</a:t>
            </a:r>
            <a:r>
              <a:rPr lang="ko-KR" altLang="en-US" sz="800" dirty="0">
                <a:latin typeface="+mn-ea"/>
              </a:rPr>
              <a:t>사후 수정 내역이 처리되었습니다</a:t>
            </a:r>
            <a:r>
              <a:rPr lang="en-US" altLang="ko-KR" sz="800" dirty="0">
                <a:latin typeface="+mn-ea"/>
              </a:rPr>
              <a:t>.</a:t>
            </a:r>
            <a:endParaRPr lang="ko-KR" altLang="en-US" sz="800" dirty="0">
              <a:latin typeface="+mn-ea"/>
            </a:endParaRPr>
          </a:p>
        </p:txBody>
      </p:sp>
      <p:sp>
        <p:nvSpPr>
          <p:cNvPr id="30" name="모서리가 둥근 직사각형 37">
            <a:extLst>
              <a:ext uri="{FF2B5EF4-FFF2-40B4-BE49-F238E27FC236}">
                <a16:creationId xmlns:a16="http://schemas.microsoft.com/office/drawing/2014/main" id="{6AF9D859-CEB4-4D56-BDF3-3AD4D09A4558}"/>
              </a:ext>
            </a:extLst>
          </p:cNvPr>
          <p:cNvSpPr/>
          <p:nvPr/>
        </p:nvSpPr>
        <p:spPr>
          <a:xfrm>
            <a:off x="891228" y="4128053"/>
            <a:ext cx="1817682" cy="12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D6B5DC-87A9-4184-9E71-FE392C3D75C7}"/>
              </a:ext>
            </a:extLst>
          </p:cNvPr>
          <p:cNvCxnSpPr/>
          <p:nvPr/>
        </p:nvCxnSpPr>
        <p:spPr>
          <a:xfrm>
            <a:off x="721832" y="3841171"/>
            <a:ext cx="2624283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560BD6C-541E-4294-AB3C-1BB0417DD58F}"/>
              </a:ext>
            </a:extLst>
          </p:cNvPr>
          <p:cNvGrpSpPr/>
          <p:nvPr/>
        </p:nvGrpSpPr>
        <p:grpSpPr>
          <a:xfrm>
            <a:off x="1992981" y="4950686"/>
            <a:ext cx="76863" cy="292489"/>
            <a:chOff x="3750067" y="4683795"/>
            <a:chExt cx="76863" cy="292489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DDD21D28-5205-40FA-A206-B705CCA421CC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4EDA48F-7DD7-4976-A139-1A269843FC67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806AA40-D709-4700-B9E9-A120A568B6F1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D3D838C-15D6-44B3-AFE1-AECD0D124F07}"/>
              </a:ext>
            </a:extLst>
          </p:cNvPr>
          <p:cNvSpPr txBox="1"/>
          <p:nvPr/>
        </p:nvSpPr>
        <p:spPr>
          <a:xfrm>
            <a:off x="878892" y="2335073"/>
            <a:ext cx="9919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2025-10-30 13:42:22</a:t>
            </a:r>
            <a:endParaRPr lang="ko-KR" altLang="en-US" sz="70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7E2D68-1455-465E-8B5F-BDA9CC4A5ECA}"/>
              </a:ext>
            </a:extLst>
          </p:cNvPr>
          <p:cNvSpPr txBox="1"/>
          <p:nvPr/>
        </p:nvSpPr>
        <p:spPr>
          <a:xfrm>
            <a:off x="878892" y="2998031"/>
            <a:ext cx="9919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2025-10-30 13:42:22</a:t>
            </a:r>
            <a:endParaRPr lang="ko-KR" altLang="en-US" sz="70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8AA865-6510-40A9-83B1-051DF4ED7B2F}"/>
              </a:ext>
            </a:extLst>
          </p:cNvPr>
          <p:cNvSpPr txBox="1"/>
          <p:nvPr/>
        </p:nvSpPr>
        <p:spPr>
          <a:xfrm>
            <a:off x="878892" y="3634956"/>
            <a:ext cx="9919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2025-10-30 13:42:22</a:t>
            </a:r>
            <a:endParaRPr lang="ko-KR" altLang="en-US" sz="700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8F7D3-42D9-447D-BBBD-C632DDC0135A}"/>
              </a:ext>
            </a:extLst>
          </p:cNvPr>
          <p:cNvSpPr txBox="1"/>
          <p:nvPr/>
        </p:nvSpPr>
        <p:spPr>
          <a:xfrm>
            <a:off x="878892" y="4331596"/>
            <a:ext cx="9919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2025-10-30 13:42:22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92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BFAF79-200E-4716-B2B3-CC310E4423B8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CBEA69-1EE7-47A0-879E-011DD9262E1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C7970B3D-1EDE-42A7-9FD6-57CBE9E71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622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지역명칭으로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</a:t>
            </a:r>
            <a:r>
              <a:rPr lang="ko-KR" altLang="en-US" dirty="0" err="1"/>
              <a:t>지역명</a:t>
            </a:r>
            <a:r>
              <a:rPr lang="ko-KR" altLang="en-US" dirty="0"/>
              <a:t>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선택 시 </a:t>
            </a:r>
            <a:r>
              <a:rPr lang="ko-KR" altLang="en-US" dirty="0" err="1"/>
              <a:t>바텀</a:t>
            </a:r>
            <a:r>
              <a:rPr lang="ko-KR" altLang="en-US" dirty="0"/>
              <a:t> 시트 닫힘</a:t>
            </a:r>
            <a:endParaRPr lang="en-US" altLang="ko-KR" dirty="0"/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A30980D5-78FD-479E-8615-CF43CD0F22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>
                <a:latin typeface="+mn-ea"/>
              </a:rPr>
              <a:t>지역 검색</a:t>
            </a:r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2FE7DD15-C5A4-4E23-9F1B-82EF9A4B53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검색 필터에서 </a:t>
            </a:r>
            <a:r>
              <a:rPr lang="ko-KR" altLang="en-US" dirty="0" err="1"/>
              <a:t>지역검색을</a:t>
            </a:r>
            <a:r>
              <a:rPr lang="ko-KR" altLang="en-US" dirty="0"/>
              <a:t> 선택하는 경우 뜨는 팝업</a:t>
            </a: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21B3CC2F-D041-40BB-9952-78EC2D21C2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지역검색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3D15F656-96AF-4667-AE0F-7126723080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n-ea"/>
              </a:rPr>
              <a:t>MUI-BD-01-P03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9B55BAF-7C75-4545-B61E-0C86797302EB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D386632-7002-456E-BB50-D4C6D6DD6E7C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35BD8C8-9E59-4F1C-8A42-19A7F32E01E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A64616A-8B38-460D-B857-E5C85D46EC43}"/>
              </a:ext>
            </a:extLst>
          </p:cNvPr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BB1E867-DADD-43FE-8A4E-7E7C1F19E835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763FB1F-F266-4B5B-957C-E3711DD4B82F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BC990F09-D61E-46E4-B502-513D2056C023}"/>
              </a:ext>
            </a:extLst>
          </p:cNvPr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8FF0A1-EA93-4534-89B7-A620417A8DAC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43E58-1427-4476-9A9D-513B092AC4B9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39" name="양쪽 모서리가 둥근 사각형 4">
            <a:extLst>
              <a:ext uri="{FF2B5EF4-FFF2-40B4-BE49-F238E27FC236}">
                <a16:creationId xmlns:a16="http://schemas.microsoft.com/office/drawing/2014/main" id="{EA26A60F-744F-45A5-90D2-4CCD12049E66}"/>
              </a:ext>
            </a:extLst>
          </p:cNvPr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40" name="모서리가 둥근 직사각형 149">
            <a:extLst>
              <a:ext uri="{FF2B5EF4-FFF2-40B4-BE49-F238E27FC236}">
                <a16:creationId xmlns:a16="http://schemas.microsoft.com/office/drawing/2014/main" id="{742F1F0C-3348-4B10-9EBB-F63BFB735D40}"/>
              </a:ext>
            </a:extLst>
          </p:cNvPr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212EBC-2C0E-45B2-A6DC-C2816CBE5E8E}"/>
              </a:ext>
            </a:extLst>
          </p:cNvPr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A0B0A6EA-D733-444B-A2C1-2C5E1FEED8B4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A8C24A5-08DC-41A6-9D7D-AA7DBC3421FE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3BD5B68-1FEB-4D1C-9E73-840A89E80376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지역 검색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8029272-1B3D-464F-928C-DD74FC447607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모서리가 둥근 직사각형 168">
            <a:extLst>
              <a:ext uri="{FF2B5EF4-FFF2-40B4-BE49-F238E27FC236}">
                <a16:creationId xmlns:a16="http://schemas.microsoft.com/office/drawing/2014/main" id="{28341FE9-A54D-4743-A624-8C939F02AE1F}"/>
              </a:ext>
            </a:extLst>
          </p:cNvPr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시군구를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51B687-C1C2-4DD3-BC9B-81120D6790A8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지역명칭</a:t>
            </a:r>
            <a:endParaRPr lang="en-US" altLang="ko-KR" sz="700" dirty="0">
              <a:latin typeface="+mn-ea"/>
            </a:endParaRPr>
          </a:p>
        </p:txBody>
      </p:sp>
      <p:sp>
        <p:nvSpPr>
          <p:cNvPr id="48" name="사각형: 둥근 모서리 15">
            <a:extLst>
              <a:ext uri="{FF2B5EF4-FFF2-40B4-BE49-F238E27FC236}">
                <a16:creationId xmlns:a16="http://schemas.microsoft.com/office/drawing/2014/main" id="{F6CB1D5F-9904-4B8B-9A1F-7C5FFEC605C2}"/>
              </a:ext>
            </a:extLst>
          </p:cNvPr>
          <p:cNvSpPr/>
          <p:nvPr/>
        </p:nvSpPr>
        <p:spPr>
          <a:xfrm>
            <a:off x="767702" y="3897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013040A-C5BF-4328-8082-E51D3E18E2AE}"/>
              </a:ext>
            </a:extLst>
          </p:cNvPr>
          <p:cNvSpPr/>
          <p:nvPr/>
        </p:nvSpPr>
        <p:spPr>
          <a:xfrm>
            <a:off x="3112794" y="3601610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8D16E05-CA52-45B7-8B7A-D5B9FDFE93F8}"/>
              </a:ext>
            </a:extLst>
          </p:cNvPr>
          <p:cNvGrpSpPr/>
          <p:nvPr/>
        </p:nvGrpSpPr>
        <p:grpSpPr>
          <a:xfrm>
            <a:off x="3156699" y="3645514"/>
            <a:ext cx="58075" cy="58074"/>
            <a:chOff x="6812560" y="3297172"/>
            <a:chExt cx="94010" cy="94010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88C64BC4-A8C1-4567-AB9E-EBE909FDADC4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7956952-C676-45BF-83A6-881AFF4F6E48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6" name="타원 75">
            <a:extLst>
              <a:ext uri="{FF2B5EF4-FFF2-40B4-BE49-F238E27FC236}">
                <a16:creationId xmlns:a16="http://schemas.microsoft.com/office/drawing/2014/main" id="{74B32659-BFD4-42CF-8250-FBDCA7845359}"/>
              </a:ext>
            </a:extLst>
          </p:cNvPr>
          <p:cNvSpPr/>
          <p:nvPr/>
        </p:nvSpPr>
        <p:spPr>
          <a:xfrm>
            <a:off x="573754" y="35848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2C06DC6-022B-4164-BA45-DC2F3B8E7D0F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AABE0F6-2E7B-44FD-900F-0671C9975CDF}"/>
              </a:ext>
            </a:extLst>
          </p:cNvPr>
          <p:cNvSpPr/>
          <p:nvPr/>
        </p:nvSpPr>
        <p:spPr>
          <a:xfrm>
            <a:off x="573754" y="39093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C1D094-C68C-402F-A7D7-36B8A42A410E}"/>
              </a:ext>
            </a:extLst>
          </p:cNvPr>
          <p:cNvSpPr txBox="1"/>
          <p:nvPr/>
        </p:nvSpPr>
        <p:spPr>
          <a:xfrm>
            <a:off x="837866" y="1664497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F332765-62D4-4CCD-B062-C6B82CAAC556}"/>
              </a:ext>
            </a:extLst>
          </p:cNvPr>
          <p:cNvGrpSpPr/>
          <p:nvPr/>
        </p:nvGrpSpPr>
        <p:grpSpPr>
          <a:xfrm>
            <a:off x="3204807" y="1657976"/>
            <a:ext cx="94010" cy="94010"/>
            <a:chOff x="6812560" y="3297172"/>
            <a:chExt cx="94010" cy="94010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F8C1BFE5-AD67-4E29-966F-FA09E3D9286D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586D9A89-1AB4-490A-8996-EBB8CD99F980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5" name="타원 84">
            <a:extLst>
              <a:ext uri="{FF2B5EF4-FFF2-40B4-BE49-F238E27FC236}">
                <a16:creationId xmlns:a16="http://schemas.microsoft.com/office/drawing/2014/main" id="{55994FFA-0D42-4B4D-903F-4C163E7C7945}"/>
              </a:ext>
            </a:extLst>
          </p:cNvPr>
          <p:cNvSpPr/>
          <p:nvPr/>
        </p:nvSpPr>
        <p:spPr>
          <a:xfrm>
            <a:off x="2839529" y="1613924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69312B0-8B37-438C-96E2-69964D6F7EB9}"/>
              </a:ext>
            </a:extLst>
          </p:cNvPr>
          <p:cNvSpPr txBox="1"/>
          <p:nvPr/>
        </p:nvSpPr>
        <p:spPr>
          <a:xfrm>
            <a:off x="2513887" y="1654043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" name="양쪽 모서리가 둥근 사각형 295">
            <a:extLst>
              <a:ext uri="{FF2B5EF4-FFF2-40B4-BE49-F238E27FC236}">
                <a16:creationId xmlns:a16="http://schemas.microsoft.com/office/drawing/2014/main" id="{23E995A9-A405-4DC8-BD57-970ABCA177F8}"/>
              </a:ext>
            </a:extLst>
          </p:cNvPr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30" name="모서리가 둥근 직사각형 296">
            <a:extLst>
              <a:ext uri="{FF2B5EF4-FFF2-40B4-BE49-F238E27FC236}">
                <a16:creationId xmlns:a16="http://schemas.microsoft.com/office/drawing/2014/main" id="{238D2B33-A1A2-42DE-8033-B608C10438AC}"/>
              </a:ext>
            </a:extLst>
          </p:cNvPr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4CF89AC-561C-41D0-A5A2-7B9C9DAA3D97}"/>
              </a:ext>
            </a:extLst>
          </p:cNvPr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7C24F3F-C114-49D7-8B0D-7F09406CAA5F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BEA8D6FA-F474-45A2-8E94-C37065472EAC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120AB3E-61C8-409D-84E9-FC855CB42489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지역검색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66A3A6B-7410-4F3D-8DD4-4AB06C5D183B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모서리가 둥근 직사각형 306">
            <a:extLst>
              <a:ext uri="{FF2B5EF4-FFF2-40B4-BE49-F238E27FC236}">
                <a16:creationId xmlns:a16="http://schemas.microsoft.com/office/drawing/2014/main" id="{E6B3C828-DC17-4AF6-B3A4-99100F39144A}"/>
              </a:ext>
            </a:extLst>
          </p:cNvPr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>
                <a:solidFill>
                  <a:schemeClr val="tx1"/>
                </a:solidFill>
              </a:rPr>
              <a:t>서울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B78FC0-17B9-4D8F-BD42-9234F97CD2C2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지역명칭</a:t>
            </a:r>
            <a:endParaRPr lang="en-US" altLang="ko-KR" sz="700" dirty="0">
              <a:latin typeface="+mn-ea"/>
            </a:endParaRPr>
          </a:p>
        </p:txBody>
      </p:sp>
      <p:sp>
        <p:nvSpPr>
          <p:cNvPr id="38" name="사각형: 둥근 모서리 15">
            <a:extLst>
              <a:ext uri="{FF2B5EF4-FFF2-40B4-BE49-F238E27FC236}">
                <a16:creationId xmlns:a16="http://schemas.microsoft.com/office/drawing/2014/main" id="{1703B078-C4FE-4164-966D-C08DF24F4F5D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800" kern="0" dirty="0">
                <a:solidFill>
                  <a:srgbClr val="0070C0"/>
                </a:solidFill>
              </a:rPr>
              <a:t>검색</a:t>
            </a:r>
            <a:endParaRPr kumimoji="1" lang="en-US" altLang="ko-KR" sz="800" kern="0" dirty="0">
              <a:solidFill>
                <a:srgbClr val="0070C0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7BCAF2FC-C533-4D4E-8B30-572E0E9C62F2}"/>
              </a:ext>
            </a:extLst>
          </p:cNvPr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49F2995-D081-4FFE-99B7-FDCACFBE1E66}"/>
              </a:ext>
            </a:extLst>
          </p:cNvPr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2D77FD0-C906-4225-9425-AEECE73FE00E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678C57A8-22FC-4AA3-8DF4-E11E946B0C68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2F89CA1-D635-45BB-BA04-B88E7D2251CD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4729D64-8EC6-4584-8D01-FB3477F736F1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91D017-3CDD-41DB-8853-B6101CCE87DE}"/>
              </a:ext>
            </a:extLst>
          </p:cNvPr>
          <p:cNvSpPr txBox="1"/>
          <p:nvPr/>
        </p:nvSpPr>
        <p:spPr>
          <a:xfrm>
            <a:off x="3924811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지역코드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30E461-A593-4485-B6A2-B999B0FE81BD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지역명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0EC1E2-8023-4F3C-8B80-1FF10B9D41FA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163CC00-356D-4D00-AE70-AAD12285B905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BF85D8D-8D31-4A7D-B19D-8395D909FA39}"/>
              </a:ext>
            </a:extLst>
          </p:cNvPr>
          <p:cNvSpPr txBox="1"/>
          <p:nvPr/>
        </p:nvSpPr>
        <p:spPr>
          <a:xfrm>
            <a:off x="3924811" y="3983744"/>
            <a:ext cx="6707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11740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11140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11170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11200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11215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11230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11260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11290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11305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DF1C05-21D7-4399-8A35-AA60A3769CE5}"/>
              </a:ext>
            </a:extLst>
          </p:cNvPr>
          <p:cNvSpPr txBox="1"/>
          <p:nvPr/>
        </p:nvSpPr>
        <p:spPr>
          <a:xfrm>
            <a:off x="4564213" y="3983744"/>
            <a:ext cx="172046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강동구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중구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용산구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성동구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광진구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동대문구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중랑구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성북구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강북구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298EA60-532E-4B8B-9BF4-79394D766EC7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EB3571E-4F11-44D3-8A72-D988EE8CC5BC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48B1808-9D26-41A9-8384-7BE9E5C72ECE}"/>
              </a:ext>
            </a:extLst>
          </p:cNvPr>
          <p:cNvCxnSpPr/>
          <p:nvPr/>
        </p:nvCxnSpPr>
        <p:spPr>
          <a:xfrm>
            <a:off x="3837747" y="46422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57C160C-80D4-4FDB-9162-F35E5F4E11ED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D4C71DB-59F3-4242-B032-863FF6DBEFC6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0DCEBB2-725D-4FE3-A6BC-6345CBD1CDBF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1AE23C8E-E34E-44E3-915B-7541489A8D00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F45F43F-218F-40D2-BCF1-BF16C04244D7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44B2E84-48B8-45DC-BBBF-8B7632E4F211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D9B4AF6-5966-403A-884A-D94F5B8801DC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모서리가 둥근 직사각형 335">
            <a:extLst>
              <a:ext uri="{FF2B5EF4-FFF2-40B4-BE49-F238E27FC236}">
                <a16:creationId xmlns:a16="http://schemas.microsoft.com/office/drawing/2014/main" id="{8BAFE1F8-B3AF-4DD6-935F-7A73E5DC4694}"/>
              </a:ext>
            </a:extLst>
          </p:cNvPr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7C9752B3-8629-42BC-9500-30454D7E4671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95C2274D-5CD2-4571-B2F6-AE9C2FDEA62E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21937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FE9CD8AD-9CE3-474F-9055-026D94AD2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4153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전자서명 진행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사전심사</a:t>
            </a:r>
            <a:r>
              <a:rPr lang="en-US" altLang="ko-KR" dirty="0"/>
              <a:t>(PQ), </a:t>
            </a:r>
            <a:r>
              <a:rPr lang="ko-KR" altLang="en-US" dirty="0"/>
              <a:t>입찰참가신청</a:t>
            </a:r>
            <a:r>
              <a:rPr lang="en-US" altLang="ko-KR" dirty="0"/>
              <a:t>, </a:t>
            </a:r>
            <a:r>
              <a:rPr lang="ko-KR" altLang="en-US" dirty="0"/>
              <a:t>입찰서에 전자서명 처리 화면</a:t>
            </a:r>
            <a:endParaRPr lang="en-US" altLang="ko-KR" dirty="0"/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01E296E3-0397-44A2-9C7D-5FAA1770A9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pPr fontAlgn="ctr"/>
            <a:r>
              <a:rPr lang="ko-KR" altLang="en-US" dirty="0">
                <a:latin typeface="+mn-ea"/>
              </a:rPr>
              <a:t>전자서명</a:t>
            </a:r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DA6B3B3E-25A7-4B7B-809B-8E9A90626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+mn-ea"/>
              </a:rPr>
              <a:t>신청 </a:t>
            </a:r>
            <a:r>
              <a:rPr lang="ko-KR" altLang="en-US" dirty="0"/>
              <a:t>프로세스 중 </a:t>
            </a:r>
            <a:r>
              <a:rPr lang="ko-KR" altLang="en-US" dirty="0">
                <a:latin typeface="+mn-ea"/>
              </a:rPr>
              <a:t>전자서명 화면</a:t>
            </a:r>
            <a:endParaRPr lang="ko-KR" altLang="en-US" dirty="0"/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67893652-7265-478C-B2FF-1FFD7ED4E7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pPr fontAlgn="ctr"/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진행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입찰서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견적서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작성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전자서명</a:t>
            </a: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61980933-777D-48D0-97DF-827751343C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MUI-BD-04-M21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160F85-7831-4D65-82A1-412622A7151D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51568FD-B24C-4307-ACB4-2028816B2F2B}"/>
              </a:ext>
            </a:extLst>
          </p:cNvPr>
          <p:cNvSpPr/>
          <p:nvPr/>
        </p:nvSpPr>
        <p:spPr>
          <a:xfrm>
            <a:off x="571127" y="273130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EB16A-4A61-4CDD-AE83-3BEC81C47AD7}"/>
              </a:ext>
            </a:extLst>
          </p:cNvPr>
          <p:cNvSpPr txBox="1"/>
          <p:nvPr/>
        </p:nvSpPr>
        <p:spPr>
          <a:xfrm>
            <a:off x="764658" y="3127233"/>
            <a:ext cx="2497672" cy="396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전자서명 창이 닫혔을 경우 아래 버튼을 통해</a:t>
            </a: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 서명을 다시 띄울 수 있습니다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237">
            <a:extLst>
              <a:ext uri="{FF2B5EF4-FFF2-40B4-BE49-F238E27FC236}">
                <a16:creationId xmlns:a16="http://schemas.microsoft.com/office/drawing/2014/main" id="{02194485-8637-420D-9D18-2A3F3E0BD95F}"/>
              </a:ext>
            </a:extLst>
          </p:cNvPr>
          <p:cNvSpPr/>
          <p:nvPr/>
        </p:nvSpPr>
        <p:spPr>
          <a:xfrm rot="5400000">
            <a:off x="2662242" y="31350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05441-C443-4E5F-BE9C-C1E4EF1C3341}"/>
              </a:ext>
            </a:extLst>
          </p:cNvPr>
          <p:cNvSpPr txBox="1"/>
          <p:nvPr/>
        </p:nvSpPr>
        <p:spPr>
          <a:xfrm>
            <a:off x="764658" y="2690414"/>
            <a:ext cx="2497672" cy="258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000" b="1" dirty="0">
                <a:latin typeface="+mn-ea"/>
              </a:rPr>
              <a:t>전자서명을 진행합니다</a:t>
            </a:r>
            <a:r>
              <a:rPr lang="en-US" altLang="ko-KR" sz="1000" b="1" dirty="0">
                <a:latin typeface="+mn-ea"/>
              </a:rPr>
              <a:t>.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1E632E14-B267-4391-AC13-C9D080DB7583}"/>
              </a:ext>
            </a:extLst>
          </p:cNvPr>
          <p:cNvSpPr/>
          <p:nvPr/>
        </p:nvSpPr>
        <p:spPr>
          <a:xfrm>
            <a:off x="1072005" y="4794205"/>
            <a:ext cx="1882977" cy="317083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전자서명 하기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24794B-3816-46B8-917B-EBB947DF9816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62652EB-C141-49E1-9137-B5BB4841BF99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537A6EA-902F-426C-9BB9-F32BEF8A77FC}"/>
              </a:ext>
            </a:extLst>
          </p:cNvPr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5A76EE0E-63F0-4FF1-99A1-D0A5932080B8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6D40228-F94E-4BA3-A41E-DA35CF12E8B9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09E2D3F-184E-4A3A-ACD8-639B046FD0AC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전자서명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A7A29A-6E3F-42AF-9204-B6D39C977EAB}"/>
              </a:ext>
            </a:extLst>
          </p:cNvPr>
          <p:cNvSpPr txBox="1"/>
          <p:nvPr/>
        </p:nvSpPr>
        <p:spPr>
          <a:xfrm>
            <a:off x="3898850" y="195683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인증서 목록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A5BA39-262B-40CE-B7D9-60C9704CEC74}"/>
              </a:ext>
            </a:extLst>
          </p:cNvPr>
          <p:cNvSpPr txBox="1"/>
          <p:nvPr/>
        </p:nvSpPr>
        <p:spPr>
          <a:xfrm>
            <a:off x="3898850" y="2185197"/>
            <a:ext cx="670770" cy="6786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인증서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인증서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인증서 </a:t>
            </a:r>
            <a:r>
              <a:rPr lang="en-US" altLang="ko-KR" sz="700" dirty="0">
                <a:latin typeface="+mn-ea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C1B49C-698F-4192-8221-19817F2D862A}"/>
              </a:ext>
            </a:extLst>
          </p:cNvPr>
          <p:cNvSpPr txBox="1"/>
          <p:nvPr/>
        </p:nvSpPr>
        <p:spPr>
          <a:xfrm>
            <a:off x="5114610" y="2185197"/>
            <a:ext cx="1238112" cy="6786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유효기간</a:t>
            </a:r>
            <a:r>
              <a:rPr lang="en-US" altLang="ko-KR" sz="700" dirty="0">
                <a:latin typeface="+mn-ea"/>
              </a:rPr>
              <a:t>: 2025-10-30</a:t>
            </a:r>
          </a:p>
          <a:p>
            <a:pPr algn="r"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유효기간</a:t>
            </a:r>
            <a:r>
              <a:rPr lang="en-US" altLang="ko-KR" sz="700" dirty="0">
                <a:latin typeface="+mn-ea"/>
              </a:rPr>
              <a:t>: 2025-10-30</a:t>
            </a:r>
          </a:p>
          <a:p>
            <a:pPr algn="r"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유효기간</a:t>
            </a:r>
            <a:r>
              <a:rPr lang="en-US" altLang="ko-KR" sz="700" dirty="0">
                <a:latin typeface="+mn-ea"/>
              </a:rPr>
              <a:t>: 2025-10-30</a:t>
            </a:r>
          </a:p>
        </p:txBody>
      </p:sp>
      <p:sp>
        <p:nvSpPr>
          <p:cNvPr id="32" name="사각형: 둥근 모서리 15">
            <a:extLst>
              <a:ext uri="{FF2B5EF4-FFF2-40B4-BE49-F238E27FC236}">
                <a16:creationId xmlns:a16="http://schemas.microsoft.com/office/drawing/2014/main" id="{5886A32B-E085-4AB4-AC3A-83450D287C14}"/>
              </a:ext>
            </a:extLst>
          </p:cNvPr>
          <p:cNvSpPr/>
          <p:nvPr/>
        </p:nvSpPr>
        <p:spPr>
          <a:xfrm>
            <a:off x="4567958" y="4020146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전자서명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DC11B4-B7AB-4B3C-8310-1CF9686DE80C}"/>
              </a:ext>
            </a:extLst>
          </p:cNvPr>
          <p:cNvSpPr/>
          <p:nvPr/>
        </p:nvSpPr>
        <p:spPr>
          <a:xfrm>
            <a:off x="380204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4" name="사각형: 둥근 모서리 15">
            <a:extLst>
              <a:ext uri="{FF2B5EF4-FFF2-40B4-BE49-F238E27FC236}">
                <a16:creationId xmlns:a16="http://schemas.microsoft.com/office/drawing/2014/main" id="{D13CB86A-E5DD-47DA-9AD1-70D3D126516B}"/>
              </a:ext>
            </a:extLst>
          </p:cNvPr>
          <p:cNvSpPr/>
          <p:nvPr/>
        </p:nvSpPr>
        <p:spPr>
          <a:xfrm>
            <a:off x="3928556" y="4020146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latin typeface="맑은 고딕"/>
                <a:ea typeface="맑은 고딕" panose="020B0503020000020004" pitchFamily="50" charset="-127"/>
              </a:rPr>
              <a:t>취소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35" name="사각형: 둥근 모서리 15">
            <a:extLst>
              <a:ext uri="{FF2B5EF4-FFF2-40B4-BE49-F238E27FC236}">
                <a16:creationId xmlns:a16="http://schemas.microsoft.com/office/drawing/2014/main" id="{0C6B7A18-40A7-420E-9839-B45E482D6BFF}"/>
              </a:ext>
            </a:extLst>
          </p:cNvPr>
          <p:cNvSpPr/>
          <p:nvPr/>
        </p:nvSpPr>
        <p:spPr>
          <a:xfrm>
            <a:off x="3868242" y="2207142"/>
            <a:ext cx="2567010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9E26BE-B889-46C6-A118-0988CF4F86AC}"/>
              </a:ext>
            </a:extLst>
          </p:cNvPr>
          <p:cNvSpPr txBox="1"/>
          <p:nvPr/>
        </p:nvSpPr>
        <p:spPr>
          <a:xfrm>
            <a:off x="3898850" y="305517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비밀번호 입력</a:t>
            </a:r>
          </a:p>
        </p:txBody>
      </p:sp>
      <p:sp>
        <p:nvSpPr>
          <p:cNvPr id="37" name="사각형: 둥근 모서리 15">
            <a:extLst>
              <a:ext uri="{FF2B5EF4-FFF2-40B4-BE49-F238E27FC236}">
                <a16:creationId xmlns:a16="http://schemas.microsoft.com/office/drawing/2014/main" id="{CB0C3B82-6D18-4F6C-9A6C-4ECFB469A706}"/>
              </a:ext>
            </a:extLst>
          </p:cNvPr>
          <p:cNvSpPr/>
          <p:nvPr/>
        </p:nvSpPr>
        <p:spPr>
          <a:xfrm>
            <a:off x="3868242" y="3305483"/>
            <a:ext cx="2567010" cy="244350"/>
          </a:xfrm>
          <a:prstGeom prst="roundRect">
            <a:avLst/>
          </a:prstGeom>
          <a:noFill/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0F26942-F0FC-4007-8AAB-97A7C21ECFE2}"/>
              </a:ext>
            </a:extLst>
          </p:cNvPr>
          <p:cNvSpPr/>
          <p:nvPr/>
        </p:nvSpPr>
        <p:spPr>
          <a:xfrm>
            <a:off x="706558" y="1510861"/>
            <a:ext cx="2680868" cy="49536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DE6B3A4-029C-4C17-B414-A1625C44485F}"/>
              </a:ext>
            </a:extLst>
          </p:cNvPr>
          <p:cNvGrpSpPr/>
          <p:nvPr/>
        </p:nvGrpSpPr>
        <p:grpSpPr>
          <a:xfrm>
            <a:off x="675399" y="1578465"/>
            <a:ext cx="2712027" cy="508898"/>
            <a:chOff x="3795734" y="1602341"/>
            <a:chExt cx="2712027" cy="508898"/>
          </a:xfrm>
        </p:grpSpPr>
        <p:sp>
          <p:nvSpPr>
            <p:cNvPr id="41" name="TextBox 58">
              <a:extLst>
                <a:ext uri="{FF2B5EF4-FFF2-40B4-BE49-F238E27FC236}">
                  <a16:creationId xmlns:a16="http://schemas.microsoft.com/office/drawing/2014/main" id="{7F01DA0F-3622-4F26-AFA3-3CB829AC0277}"/>
                </a:ext>
              </a:extLst>
            </p:cNvPr>
            <p:cNvSpPr txBox="1"/>
            <p:nvPr/>
          </p:nvSpPr>
          <p:spPr>
            <a:xfrm>
              <a:off x="3884993" y="1786672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긴급공고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LDG0097-1</a:t>
              </a:r>
            </a:p>
            <a:p>
              <a:r>
                <a:rPr lang="ko-KR" altLang="en-US" sz="900" b="1" dirty="0" err="1"/>
                <a:t>특수작전용대물타격무인향</a:t>
              </a:r>
              <a:endParaRPr lang="ko-KR" altLang="en-US" sz="900" b="1" dirty="0"/>
            </a:p>
          </p:txBody>
        </p:sp>
        <p:sp>
          <p:nvSpPr>
            <p:cNvPr id="42" name="모서리가 둥근 직사각형 94">
              <a:extLst>
                <a:ext uri="{FF2B5EF4-FFF2-40B4-BE49-F238E27FC236}">
                  <a16:creationId xmlns:a16="http://schemas.microsoft.com/office/drawing/2014/main" id="{C431B30B-1A93-4B21-9977-F6E97A0DB0F6}"/>
                </a:ext>
              </a:extLst>
            </p:cNvPr>
            <p:cNvSpPr/>
            <p:nvPr/>
          </p:nvSpPr>
          <p:spPr>
            <a:xfrm>
              <a:off x="3884993" y="160234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43" name="모서리가 둥근 직사각형 95">
              <a:extLst>
                <a:ext uri="{FF2B5EF4-FFF2-40B4-BE49-F238E27FC236}">
                  <a16:creationId xmlns:a16="http://schemas.microsoft.com/office/drawing/2014/main" id="{27BCFE5E-31B1-457D-9F4B-46D13CB69A77}"/>
                </a:ext>
              </a:extLst>
            </p:cNvPr>
            <p:cNvSpPr/>
            <p:nvPr/>
          </p:nvSpPr>
          <p:spPr>
            <a:xfrm>
              <a:off x="4179187" y="160234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경쟁입찰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04A62CE-5D55-48C8-AF67-6D3D7E3A43FA}"/>
                </a:ext>
              </a:extLst>
            </p:cNvPr>
            <p:cNvCxnSpPr/>
            <p:nvPr/>
          </p:nvCxnSpPr>
          <p:spPr>
            <a:xfrm>
              <a:off x="3795734" y="21112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22351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9A1F0F84-0B7D-45E1-9F8B-19F684DA50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622" y="1493927"/>
            <a:ext cx="2300284" cy="4981517"/>
          </a:xfrm>
        </p:spPr>
        <p:txBody>
          <a:bodyPr/>
          <a:lstStyle/>
          <a:p>
            <a:pPr marL="228600" indent="-228600">
              <a:buFont typeface="+mj-ea"/>
              <a:buAutoNum type="arabicPeriod"/>
            </a:pPr>
            <a:r>
              <a:rPr lang="ko-KR" altLang="en-US" dirty="0"/>
              <a:t>심사결과</a:t>
            </a:r>
            <a:r>
              <a:rPr lang="en-US" altLang="ko-KR" dirty="0"/>
              <a:t> </a:t>
            </a:r>
            <a:r>
              <a:rPr lang="ko-KR" altLang="en-US" dirty="0"/>
              <a:t>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 업체 정보만 표시함</a:t>
            </a:r>
            <a:r>
              <a:rPr lang="en-US" altLang="ko-KR" dirty="0"/>
              <a:t>.</a:t>
            </a:r>
          </a:p>
          <a:p>
            <a:pPr marL="228600" indent="-228600">
              <a:buFont typeface="+mj-ea"/>
              <a:buAutoNum type="arabicPeriod"/>
            </a:pPr>
            <a:endParaRPr lang="en-US" altLang="ko-KR" dirty="0"/>
          </a:p>
          <a:p>
            <a:pPr marL="228600" indent="-228600">
              <a:buFont typeface="+mj-ea"/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* </a:t>
            </a:r>
            <a:r>
              <a:rPr lang="ko-KR" altLang="en-US" dirty="0">
                <a:solidFill>
                  <a:srgbClr val="FF0000"/>
                </a:solidFill>
              </a:rPr>
              <a:t>디자인 작업 관련 </a:t>
            </a:r>
            <a:r>
              <a:rPr lang="ko-KR" altLang="en-US" dirty="0" err="1">
                <a:solidFill>
                  <a:srgbClr val="FF0000"/>
                </a:solidFill>
              </a:rPr>
              <a:t>퍼블과</a:t>
            </a:r>
            <a:r>
              <a:rPr lang="ko-KR" altLang="en-US" dirty="0">
                <a:solidFill>
                  <a:srgbClr val="FF0000"/>
                </a:solidFill>
              </a:rPr>
              <a:t> 협의 후 진행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테이블 구조 관련 우측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열까지 보여지는 패턴이 꼭 디자인 필요한지 확인 필요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(</a:t>
            </a:r>
            <a:r>
              <a:rPr lang="ko-KR" altLang="en-US" dirty="0" err="1">
                <a:solidFill>
                  <a:srgbClr val="FF0000"/>
                </a:solidFill>
              </a:rPr>
              <a:t>퍼블에서</a:t>
            </a:r>
            <a:r>
              <a:rPr lang="ko-KR" altLang="en-US" dirty="0">
                <a:solidFill>
                  <a:srgbClr val="FF0000"/>
                </a:solidFill>
              </a:rPr>
              <a:t> 할 수 있는 부분이면 </a:t>
            </a:r>
            <a:r>
              <a:rPr lang="ko-KR" altLang="en-US" dirty="0" err="1">
                <a:solidFill>
                  <a:srgbClr val="FF0000"/>
                </a:solidFill>
              </a:rPr>
              <a:t>퍼블에서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  </a:t>
            </a:r>
            <a:r>
              <a:rPr lang="ko-KR" altLang="en-US" dirty="0">
                <a:solidFill>
                  <a:srgbClr val="FF0000"/>
                </a:solidFill>
              </a:rPr>
              <a:t>할 수 있도록 디자인에서 요청 하도록</a:t>
            </a:r>
            <a:r>
              <a:rPr lang="en-US" altLang="ko-KR" dirty="0">
                <a:solidFill>
                  <a:srgbClr val="FF0000"/>
                </a:solidFill>
              </a:rPr>
              <a:t>….)</a:t>
            </a:r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AD8AE1DA-E258-40B6-BF19-E301EBDE40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이행</a:t>
            </a:r>
            <a:r>
              <a:rPr lang="en-US" altLang="ko-KR" dirty="0"/>
              <a:t>/</a:t>
            </a:r>
            <a:r>
              <a:rPr lang="ko-KR" altLang="en-US" dirty="0"/>
              <a:t>적격심사결과상세 </a:t>
            </a:r>
            <a:r>
              <a:rPr lang="en-US" altLang="ko-KR" dirty="0"/>
              <a:t>- 10</a:t>
            </a:r>
            <a:r>
              <a:rPr lang="ko-KR" altLang="en-US" dirty="0"/>
              <a:t>억원미만물품</a:t>
            </a:r>
            <a:r>
              <a:rPr lang="en-US" altLang="ko-KR" dirty="0"/>
              <a:t>(</a:t>
            </a:r>
            <a:r>
              <a:rPr lang="ko-KR" altLang="en-US" dirty="0" err="1"/>
              <a:t>중기청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97021A2E-549C-4F3B-B5CE-A16B1AF72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입찰결과상세 </a:t>
            </a:r>
            <a:r>
              <a:rPr lang="en-US" altLang="ko-KR" dirty="0"/>
              <a:t>- </a:t>
            </a:r>
            <a:r>
              <a:rPr lang="ko-KR" altLang="en-US" dirty="0"/>
              <a:t>이행</a:t>
            </a:r>
            <a:r>
              <a:rPr lang="en-US" altLang="ko-KR" dirty="0"/>
              <a:t>/</a:t>
            </a:r>
            <a:r>
              <a:rPr lang="ko-KR" altLang="en-US" dirty="0"/>
              <a:t>적격심사결과 탭 </a:t>
            </a:r>
            <a:r>
              <a:rPr lang="en-US" altLang="ko-KR" dirty="0"/>
              <a:t>- 10</a:t>
            </a:r>
            <a:r>
              <a:rPr lang="ko-KR" altLang="en-US" dirty="0"/>
              <a:t>억원미만물품</a:t>
            </a:r>
            <a:r>
              <a:rPr lang="en-US" altLang="ko-KR" dirty="0"/>
              <a:t>(</a:t>
            </a:r>
            <a:r>
              <a:rPr lang="ko-KR" altLang="en-US" dirty="0" err="1"/>
              <a:t>중기청</a:t>
            </a:r>
            <a:r>
              <a:rPr lang="en-US" altLang="ko-KR" dirty="0"/>
              <a:t>)</a:t>
            </a:r>
            <a:r>
              <a:rPr lang="ko-KR" altLang="en-US" dirty="0"/>
              <a:t>일 때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98722408-59B9-486E-801B-0B30C6E333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개찰목록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입찰결과상세 </a:t>
            </a:r>
            <a:r>
              <a:rPr lang="en-US" altLang="ko-KR" dirty="0"/>
              <a:t>- </a:t>
            </a:r>
            <a:r>
              <a:rPr lang="ko-KR" altLang="en-US" dirty="0"/>
              <a:t>이행</a:t>
            </a:r>
            <a:r>
              <a:rPr lang="en-US" altLang="ko-KR" dirty="0"/>
              <a:t>/</a:t>
            </a:r>
            <a:r>
              <a:rPr lang="ko-KR" altLang="en-US" dirty="0"/>
              <a:t>적격심사결과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D7ACEF2C-A7EB-4EEC-8253-CC6D1171FB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n-ea"/>
              </a:rPr>
              <a:t>MUI-BD-10-M06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4C4B75-D5E6-4A5E-A1EF-CD687C2069B4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839A02-9180-4408-86DB-17F653F5CEB4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4D32BC-DAE4-432B-AD91-F7AFBB64110E}"/>
              </a:ext>
            </a:extLst>
          </p:cNvPr>
          <p:cNvSpPr/>
          <p:nvPr/>
        </p:nvSpPr>
        <p:spPr>
          <a:xfrm>
            <a:off x="3823602" y="1981278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5981D-376F-4D66-9C4E-F84617E917FB}"/>
              </a:ext>
            </a:extLst>
          </p:cNvPr>
          <p:cNvSpPr txBox="1"/>
          <p:nvPr/>
        </p:nvSpPr>
        <p:spPr>
          <a:xfrm>
            <a:off x="3910665" y="1981279"/>
            <a:ext cx="148019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007D6-EF9C-43A7-91AC-E59C7F82EEAF}"/>
              </a:ext>
            </a:extLst>
          </p:cNvPr>
          <p:cNvSpPr txBox="1"/>
          <p:nvPr/>
        </p:nvSpPr>
        <p:spPr>
          <a:xfrm>
            <a:off x="5492833" y="1981279"/>
            <a:ext cx="32541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+3 ~ -2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556CA5-85C1-4CF6-902E-2A3AB39231D9}"/>
              </a:ext>
            </a:extLst>
          </p:cNvPr>
          <p:cNvGrpSpPr/>
          <p:nvPr/>
        </p:nvGrpSpPr>
        <p:grpSpPr>
          <a:xfrm>
            <a:off x="3821510" y="1981279"/>
            <a:ext cx="2630093" cy="429480"/>
            <a:chOff x="701175" y="1835481"/>
            <a:chExt cx="2630093" cy="42948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B2D7A6D-168D-4891-81F4-DB0322D616C5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CC61573-E4F4-4358-B381-C9A09FAECA15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621CB06-2C6B-4E60-8C89-2EBDE9976E7F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8B03205-B34C-4CA7-9DFB-A4FA65F37B12}"/>
              </a:ext>
            </a:extLst>
          </p:cNvPr>
          <p:cNvSpPr txBox="1"/>
          <p:nvPr/>
        </p:nvSpPr>
        <p:spPr>
          <a:xfrm>
            <a:off x="3882481" y="1493927"/>
            <a:ext cx="2535669" cy="180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 b="1">
                <a:latin typeface="+mn-ea"/>
              </a:defRPr>
            </a:lvl1pPr>
          </a:lstStyle>
          <a:p>
            <a:r>
              <a:rPr lang="en-US" altLang="ko-KR" dirty="0"/>
              <a:t>III.</a:t>
            </a:r>
            <a:r>
              <a:rPr lang="ko-KR" altLang="en-US" dirty="0"/>
              <a:t>신인도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3237F-2F01-4F98-9238-A0A2B9E419CD}"/>
              </a:ext>
            </a:extLst>
          </p:cNvPr>
          <p:cNvSpPr txBox="1"/>
          <p:nvPr/>
        </p:nvSpPr>
        <p:spPr>
          <a:xfrm>
            <a:off x="3882481" y="1694164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소계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C27A3C-AB18-4A71-AC0C-7CC8E763FFE4}"/>
              </a:ext>
            </a:extLst>
          </p:cNvPr>
          <p:cNvSpPr txBox="1"/>
          <p:nvPr/>
        </p:nvSpPr>
        <p:spPr>
          <a:xfrm>
            <a:off x="6059077" y="1981279"/>
            <a:ext cx="359073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3B2F2D-EB8F-40FE-AB7A-13E0B37A2BC4}"/>
              </a:ext>
            </a:extLst>
          </p:cNvPr>
          <p:cNvSpPr txBox="1"/>
          <p:nvPr/>
        </p:nvSpPr>
        <p:spPr>
          <a:xfrm>
            <a:off x="892797" y="1546492"/>
            <a:ext cx="1598477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심사결과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9F92F53-6FA2-45DF-AE03-A3447A821995}"/>
              </a:ext>
            </a:extLst>
          </p:cNvPr>
          <p:cNvGrpSpPr/>
          <p:nvPr/>
        </p:nvGrpSpPr>
        <p:grpSpPr>
          <a:xfrm flipV="1">
            <a:off x="3125575" y="1641327"/>
            <a:ext cx="94010" cy="47005"/>
            <a:chOff x="6812560" y="3297172"/>
            <a:chExt cx="94010" cy="47005"/>
          </a:xfrm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E318E70D-B0F5-4978-B069-05DCAC29487F}"/>
                </a:ext>
              </a:extLst>
            </p:cNvPr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1013741-3B44-4D4D-9C33-244466558847}"/>
                </a:ext>
              </a:extLst>
            </p:cNvPr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02DC45C-A998-4816-B8B2-0A893A92D1AD}"/>
              </a:ext>
            </a:extLst>
          </p:cNvPr>
          <p:cNvSpPr/>
          <p:nvPr/>
        </p:nvSpPr>
        <p:spPr>
          <a:xfrm>
            <a:off x="704609" y="2356749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0CBBEC-FAB3-4DE6-810D-E8860FB20512}"/>
              </a:ext>
            </a:extLst>
          </p:cNvPr>
          <p:cNvSpPr txBox="1"/>
          <p:nvPr/>
        </p:nvSpPr>
        <p:spPr>
          <a:xfrm>
            <a:off x="791672" y="2356750"/>
            <a:ext cx="148019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C3A0A6-A2A4-44C2-B35E-244ED473AFE4}"/>
              </a:ext>
            </a:extLst>
          </p:cNvPr>
          <p:cNvSpPr txBox="1"/>
          <p:nvPr/>
        </p:nvSpPr>
        <p:spPr>
          <a:xfrm>
            <a:off x="2519714" y="2356750"/>
            <a:ext cx="179536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80D8E5D-5FA7-438D-97CD-E54A5F95D2AB}"/>
              </a:ext>
            </a:extLst>
          </p:cNvPr>
          <p:cNvGrpSpPr/>
          <p:nvPr/>
        </p:nvGrpSpPr>
        <p:grpSpPr>
          <a:xfrm>
            <a:off x="702517" y="2356750"/>
            <a:ext cx="2630093" cy="429480"/>
            <a:chOff x="701175" y="1835481"/>
            <a:chExt cx="2630093" cy="429480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5624BE7-73BF-44F2-AB96-C39DF83E43FB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A659192C-18EC-4C21-8AE0-3CEE61828276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823AFBC-CD8A-4A9F-BBD5-35E25E135A41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6A1CDD5-0459-44C0-994A-56E49A6ED269}"/>
              </a:ext>
            </a:extLst>
          </p:cNvPr>
          <p:cNvCxnSpPr/>
          <p:nvPr/>
        </p:nvCxnSpPr>
        <p:spPr>
          <a:xfrm>
            <a:off x="676741" y="28683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86BCD64-D58C-4DBA-801C-6DF0C5D6DF55}"/>
              </a:ext>
            </a:extLst>
          </p:cNvPr>
          <p:cNvSpPr txBox="1"/>
          <p:nvPr/>
        </p:nvSpPr>
        <p:spPr>
          <a:xfrm>
            <a:off x="763488" y="1869398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적격여부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19BA5F-6DBC-4BE0-9512-2212FF7C4E0C}"/>
              </a:ext>
            </a:extLst>
          </p:cNvPr>
          <p:cNvSpPr txBox="1"/>
          <p:nvPr/>
        </p:nvSpPr>
        <p:spPr>
          <a:xfrm>
            <a:off x="763488" y="2069635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-</a:t>
            </a:r>
            <a:endParaRPr lang="ko-KR" altLang="en-US" sz="70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9507-D2F8-4D42-9AEA-80EC9C8F8731}"/>
              </a:ext>
            </a:extLst>
          </p:cNvPr>
          <p:cNvSpPr txBox="1"/>
          <p:nvPr/>
        </p:nvSpPr>
        <p:spPr>
          <a:xfrm>
            <a:off x="2940084" y="2356750"/>
            <a:ext cx="359073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63728A9-3A71-4791-B36E-F66F06CF8162}"/>
              </a:ext>
            </a:extLst>
          </p:cNvPr>
          <p:cNvSpPr/>
          <p:nvPr/>
        </p:nvSpPr>
        <p:spPr>
          <a:xfrm>
            <a:off x="704609" y="3398187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03237C-38FC-4243-8FBF-E3EB44E61BAB}"/>
              </a:ext>
            </a:extLst>
          </p:cNvPr>
          <p:cNvSpPr txBox="1"/>
          <p:nvPr/>
        </p:nvSpPr>
        <p:spPr>
          <a:xfrm>
            <a:off x="791672" y="3398188"/>
            <a:ext cx="1480199" cy="396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84F08B-FC41-4800-A925-8D2DCA20F55A}"/>
              </a:ext>
            </a:extLst>
          </p:cNvPr>
          <p:cNvSpPr txBox="1"/>
          <p:nvPr/>
        </p:nvSpPr>
        <p:spPr>
          <a:xfrm>
            <a:off x="2519714" y="3398188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4F3C801-0696-4C86-A561-D393690FC29D}"/>
              </a:ext>
            </a:extLst>
          </p:cNvPr>
          <p:cNvGrpSpPr/>
          <p:nvPr/>
        </p:nvGrpSpPr>
        <p:grpSpPr>
          <a:xfrm>
            <a:off x="702517" y="3398188"/>
            <a:ext cx="2630093" cy="429480"/>
            <a:chOff x="701175" y="1835481"/>
            <a:chExt cx="2630093" cy="42948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1B0C1D5-CBEA-4B20-82E0-8A4B0ACE9071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4AFE3423-B1EA-414A-AC88-43686B83DF61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31FB4E7-D643-4CCB-890B-7DE70B241AC8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AE34060-35C0-4636-A551-9E457BB2E609}"/>
              </a:ext>
            </a:extLst>
          </p:cNvPr>
          <p:cNvSpPr txBox="1"/>
          <p:nvPr/>
        </p:nvSpPr>
        <p:spPr>
          <a:xfrm>
            <a:off x="763488" y="2910836"/>
            <a:ext cx="253566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심사평점</a:t>
            </a:r>
            <a:r>
              <a:rPr lang="ko-KR" altLang="en-US" sz="700" b="1" dirty="0">
                <a:latin typeface="+mn-ea"/>
              </a:rPr>
              <a:t> 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D9F6CA-FA83-41ED-809E-13C64F43CCE3}"/>
              </a:ext>
            </a:extLst>
          </p:cNvPr>
          <p:cNvSpPr txBox="1"/>
          <p:nvPr/>
        </p:nvSpPr>
        <p:spPr>
          <a:xfrm>
            <a:off x="763488" y="3111073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-</a:t>
            </a:r>
            <a:endParaRPr lang="ko-KR" altLang="en-US" sz="700" dirty="0"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DBE5E1-CB01-48DD-9369-91C1BF7B0074}"/>
              </a:ext>
            </a:extLst>
          </p:cNvPr>
          <p:cNvSpPr txBox="1"/>
          <p:nvPr/>
        </p:nvSpPr>
        <p:spPr>
          <a:xfrm>
            <a:off x="2940020" y="3398188"/>
            <a:ext cx="359137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C593B60-60E0-4922-9F3F-D93B6164E157}"/>
              </a:ext>
            </a:extLst>
          </p:cNvPr>
          <p:cNvCxnSpPr/>
          <p:nvPr/>
        </p:nvCxnSpPr>
        <p:spPr>
          <a:xfrm>
            <a:off x="676741" y="39104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16CC159-10B9-44B8-9977-719FAA8F90C5}"/>
              </a:ext>
            </a:extLst>
          </p:cNvPr>
          <p:cNvSpPr/>
          <p:nvPr/>
        </p:nvSpPr>
        <p:spPr>
          <a:xfrm>
            <a:off x="704609" y="4440329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B16675-57D1-4BAD-91F6-959B7FD28E0A}"/>
              </a:ext>
            </a:extLst>
          </p:cNvPr>
          <p:cNvSpPr txBox="1"/>
          <p:nvPr/>
        </p:nvSpPr>
        <p:spPr>
          <a:xfrm>
            <a:off x="791672" y="4440330"/>
            <a:ext cx="157029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신용평가등급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회사채</a:t>
            </a:r>
            <a:r>
              <a:rPr lang="en-US" altLang="ko-KR" sz="700" dirty="0">
                <a:latin typeface="+mn-ea"/>
              </a:rPr>
              <a:t>,</a:t>
            </a:r>
            <a:r>
              <a:rPr lang="ko-KR" altLang="en-US" sz="700" dirty="0">
                <a:latin typeface="+mn-ea"/>
              </a:rPr>
              <a:t>기업신용평가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6D35DC-45EE-47BC-B867-B7E5BB2FD1BC}"/>
              </a:ext>
            </a:extLst>
          </p:cNvPr>
          <p:cNvSpPr txBox="1"/>
          <p:nvPr/>
        </p:nvSpPr>
        <p:spPr>
          <a:xfrm>
            <a:off x="2519714" y="4440330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30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EB5F87E-9CF2-4A58-B282-FE3FEB82C301}"/>
              </a:ext>
            </a:extLst>
          </p:cNvPr>
          <p:cNvGrpSpPr/>
          <p:nvPr/>
        </p:nvGrpSpPr>
        <p:grpSpPr>
          <a:xfrm>
            <a:off x="702517" y="4440330"/>
            <a:ext cx="2630093" cy="429480"/>
            <a:chOff x="701175" y="1835481"/>
            <a:chExt cx="2630093" cy="429480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7455CB4-0F27-4A48-9E2C-86A4C18E7CD0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C8BB2724-B3C1-4B6D-AEE2-54DB9594CD11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CB2687D7-F511-4D5E-A47F-3AAA38D2702F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D395A2B-8342-48A1-92C5-395800AF4B14}"/>
              </a:ext>
            </a:extLst>
          </p:cNvPr>
          <p:cNvSpPr txBox="1"/>
          <p:nvPr/>
        </p:nvSpPr>
        <p:spPr>
          <a:xfrm>
            <a:off x="763488" y="3952978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 b="1">
                <a:latin typeface="+mn-ea"/>
              </a:defRPr>
            </a:lvl1pPr>
          </a:lstStyle>
          <a:p>
            <a:r>
              <a:rPr lang="en-US" altLang="ko-KR" dirty="0"/>
              <a:t>I.</a:t>
            </a:r>
            <a:r>
              <a:rPr lang="ko-KR" altLang="en-US" dirty="0" err="1"/>
              <a:t>당해물품납품이행능력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3F976C-DE37-4B94-BBE0-803F9E127FE3}"/>
              </a:ext>
            </a:extLst>
          </p:cNvPr>
          <p:cNvSpPr txBox="1"/>
          <p:nvPr/>
        </p:nvSpPr>
        <p:spPr>
          <a:xfrm>
            <a:off x="763488" y="4153215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1)</a:t>
            </a:r>
            <a:r>
              <a:rPr lang="ko-KR" altLang="en-US" sz="700" dirty="0">
                <a:latin typeface="+mn-ea"/>
              </a:rPr>
              <a:t>경영상태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A955DF-2495-4F75-B9DB-1BF28F37F762}"/>
              </a:ext>
            </a:extLst>
          </p:cNvPr>
          <p:cNvSpPr txBox="1"/>
          <p:nvPr/>
        </p:nvSpPr>
        <p:spPr>
          <a:xfrm>
            <a:off x="2940020" y="4440330"/>
            <a:ext cx="359137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D1913B4-A1B2-4728-9B5A-5EEED2DF61A5}"/>
              </a:ext>
            </a:extLst>
          </p:cNvPr>
          <p:cNvCxnSpPr/>
          <p:nvPr/>
        </p:nvCxnSpPr>
        <p:spPr>
          <a:xfrm>
            <a:off x="676741" y="49486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C7CB44C-5111-467D-89F4-BCCBE72D1361}"/>
              </a:ext>
            </a:extLst>
          </p:cNvPr>
          <p:cNvSpPr/>
          <p:nvPr/>
        </p:nvSpPr>
        <p:spPr>
          <a:xfrm>
            <a:off x="704609" y="5478505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1A3EB7-9B8A-4A39-BDF2-455C034F8E99}"/>
              </a:ext>
            </a:extLst>
          </p:cNvPr>
          <p:cNvSpPr txBox="1"/>
          <p:nvPr/>
        </p:nvSpPr>
        <p:spPr>
          <a:xfrm>
            <a:off x="791672" y="5478506"/>
            <a:ext cx="157029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44128F-EB8B-4126-831D-CC9BAF0F304A}"/>
              </a:ext>
            </a:extLst>
          </p:cNvPr>
          <p:cNvSpPr txBox="1"/>
          <p:nvPr/>
        </p:nvSpPr>
        <p:spPr>
          <a:xfrm>
            <a:off x="2519714" y="5478506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5500EFF-8604-4F38-BC84-5C1D5140F26B}"/>
              </a:ext>
            </a:extLst>
          </p:cNvPr>
          <p:cNvGrpSpPr/>
          <p:nvPr/>
        </p:nvGrpSpPr>
        <p:grpSpPr>
          <a:xfrm>
            <a:off x="702517" y="5478506"/>
            <a:ext cx="2630093" cy="429480"/>
            <a:chOff x="701175" y="1835481"/>
            <a:chExt cx="2630093" cy="429480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5766B6E-ADDC-4CB2-BD56-F408487273A9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6055412D-6E84-436D-8433-2DF1E43CFA1F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95B5BDE4-083F-4114-8A76-3B663596132A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B6318B9-AFAB-46F5-9783-26CD6FF7A36B}"/>
              </a:ext>
            </a:extLst>
          </p:cNvPr>
          <p:cNvSpPr txBox="1"/>
          <p:nvPr/>
        </p:nvSpPr>
        <p:spPr>
          <a:xfrm>
            <a:off x="763488" y="4991154"/>
            <a:ext cx="253566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 b="1">
                <a:latin typeface="+mn-ea"/>
              </a:defRPr>
            </a:lvl1pPr>
          </a:lstStyle>
          <a:p>
            <a:r>
              <a:rPr lang="en-US" altLang="ko-KR" dirty="0"/>
              <a:t>II.</a:t>
            </a:r>
            <a:r>
              <a:rPr lang="ko-KR" altLang="en-US" dirty="0"/>
              <a:t>입찰가격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40B7A7-515A-4DD7-86CB-24902C527F9F}"/>
              </a:ext>
            </a:extLst>
          </p:cNvPr>
          <p:cNvSpPr txBox="1"/>
          <p:nvPr/>
        </p:nvSpPr>
        <p:spPr>
          <a:xfrm>
            <a:off x="763488" y="5191391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-</a:t>
            </a:r>
            <a:endParaRPr lang="ko-KR" altLang="en-US" sz="700" dirty="0"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609994-2C16-4E3E-916B-80257E4CEB60}"/>
              </a:ext>
            </a:extLst>
          </p:cNvPr>
          <p:cNvSpPr txBox="1"/>
          <p:nvPr/>
        </p:nvSpPr>
        <p:spPr>
          <a:xfrm>
            <a:off x="2940020" y="5478506"/>
            <a:ext cx="359137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54492A6-9C03-4AC0-AEC2-656272F5820E}"/>
              </a:ext>
            </a:extLst>
          </p:cNvPr>
          <p:cNvCxnSpPr/>
          <p:nvPr/>
        </p:nvCxnSpPr>
        <p:spPr>
          <a:xfrm>
            <a:off x="676741" y="181480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7AA5667-225D-4167-9A7B-E0EB66CC6F3B}"/>
              </a:ext>
            </a:extLst>
          </p:cNvPr>
          <p:cNvSpPr/>
          <p:nvPr/>
        </p:nvSpPr>
        <p:spPr>
          <a:xfrm>
            <a:off x="3823602" y="2737961"/>
            <a:ext cx="1639886" cy="14996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2B8D9E-2124-4A61-8F7B-9DACAECDC0AE}"/>
              </a:ext>
            </a:extLst>
          </p:cNvPr>
          <p:cNvSpPr txBox="1"/>
          <p:nvPr/>
        </p:nvSpPr>
        <p:spPr>
          <a:xfrm>
            <a:off x="3910665" y="2737962"/>
            <a:ext cx="1480199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 lvl="0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기술 및 디자인 </a:t>
            </a:r>
            <a:r>
              <a:rPr lang="ko-KR" altLang="en-US" sz="700" dirty="0" err="1">
                <a:latin typeface="+mn-ea"/>
              </a:rPr>
              <a:t>인증보유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나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품질보증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다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환경관리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라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사후관리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마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영세기업 지원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바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기타</a:t>
            </a:r>
            <a:endParaRPr lang="en-US" altLang="ko-KR" sz="700" dirty="0"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5B4810-9EE8-43AD-9821-239BFC5E942A}"/>
              </a:ext>
            </a:extLst>
          </p:cNvPr>
          <p:cNvSpPr txBox="1"/>
          <p:nvPr/>
        </p:nvSpPr>
        <p:spPr>
          <a:xfrm>
            <a:off x="5638643" y="2737962"/>
            <a:ext cx="179600" cy="15081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1.5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312E6E9-87BC-4109-8D16-186876325D04}"/>
              </a:ext>
            </a:extLst>
          </p:cNvPr>
          <p:cNvGrpSpPr/>
          <p:nvPr/>
        </p:nvGrpSpPr>
        <p:grpSpPr>
          <a:xfrm>
            <a:off x="3821510" y="2737962"/>
            <a:ext cx="2630093" cy="1499614"/>
            <a:chOff x="701175" y="1835481"/>
            <a:chExt cx="2630093" cy="149961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42B050B8-9C6C-4F51-B3D5-DD88109B93AC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A9301246-260F-4AC7-9302-1B23EC42829A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4FE8D661-3572-497A-87A1-B08335FC4F5F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2D13DBAE-A0FE-462C-85BA-6D5F3724A689}"/>
                </a:ext>
              </a:extLst>
            </p:cNvPr>
            <p:cNvCxnSpPr/>
            <p:nvPr/>
          </p:nvCxnSpPr>
          <p:spPr>
            <a:xfrm>
              <a:off x="701175" y="246397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8522D1C-DB22-4D54-9F9A-9F47E43A6C84}"/>
                </a:ext>
              </a:extLst>
            </p:cNvPr>
            <p:cNvCxnSpPr/>
            <p:nvPr/>
          </p:nvCxnSpPr>
          <p:spPr>
            <a:xfrm>
              <a:off x="703268" y="2678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628BB9C1-FC47-4BF4-BDDE-293AD0775C15}"/>
                </a:ext>
              </a:extLst>
            </p:cNvPr>
            <p:cNvCxnSpPr/>
            <p:nvPr/>
          </p:nvCxnSpPr>
          <p:spPr>
            <a:xfrm>
              <a:off x="703268" y="28934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5E9ED0A4-594F-4AAD-AB09-14B76D6A83CA}"/>
                </a:ext>
              </a:extLst>
            </p:cNvPr>
            <p:cNvCxnSpPr/>
            <p:nvPr/>
          </p:nvCxnSpPr>
          <p:spPr>
            <a:xfrm>
              <a:off x="703268" y="3120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0F40ADD4-B7A4-4689-A88F-49A74636E645}"/>
                </a:ext>
              </a:extLst>
            </p:cNvPr>
            <p:cNvCxnSpPr/>
            <p:nvPr/>
          </p:nvCxnSpPr>
          <p:spPr>
            <a:xfrm>
              <a:off x="703268" y="33350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2F37564-CB32-4A02-8BC0-AB7243CF3805}"/>
              </a:ext>
            </a:extLst>
          </p:cNvPr>
          <p:cNvSpPr txBox="1"/>
          <p:nvPr/>
        </p:nvSpPr>
        <p:spPr>
          <a:xfrm>
            <a:off x="3882481" y="2450847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1.</a:t>
            </a:r>
            <a:r>
              <a:rPr lang="ko-KR" altLang="en-US" sz="700" dirty="0">
                <a:latin typeface="+mn-ea"/>
              </a:rPr>
              <a:t>품질관리 등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신뢰정도</a:t>
            </a:r>
            <a:endParaRPr lang="ko-KR" altLang="en-US" sz="700" dirty="0">
              <a:latin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F63754-09DF-4EA8-BA14-FF0BD86F147A}"/>
              </a:ext>
            </a:extLst>
          </p:cNvPr>
          <p:cNvSpPr txBox="1"/>
          <p:nvPr/>
        </p:nvSpPr>
        <p:spPr>
          <a:xfrm>
            <a:off x="6059077" y="2737962"/>
            <a:ext cx="359073" cy="15081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E58769-2720-4F32-9D03-603F2C533C58}"/>
              </a:ext>
            </a:extLst>
          </p:cNvPr>
          <p:cNvSpPr/>
          <p:nvPr/>
        </p:nvSpPr>
        <p:spPr>
          <a:xfrm>
            <a:off x="3823602" y="4566330"/>
            <a:ext cx="1639886" cy="439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DB893B-3B43-4542-A081-4FF2DC29DE47}"/>
              </a:ext>
            </a:extLst>
          </p:cNvPr>
          <p:cNvSpPr txBox="1"/>
          <p:nvPr/>
        </p:nvSpPr>
        <p:spPr>
          <a:xfrm>
            <a:off x="3910665" y="4566331"/>
            <a:ext cx="148019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</a:t>
            </a:r>
            <a:r>
              <a:rPr lang="en-US" altLang="ko-KR" sz="700" dirty="0">
                <a:latin typeface="+mn-ea"/>
              </a:rPr>
              <a:t>.</a:t>
            </a:r>
            <a:r>
              <a:rPr lang="ko-KR" altLang="en-US" sz="700" dirty="0" err="1">
                <a:latin typeface="+mn-ea"/>
              </a:rPr>
              <a:t>납품지연</a:t>
            </a:r>
            <a:endParaRPr lang="en-US" altLang="ko-KR" sz="700" dirty="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FB6F71-5071-4AFE-B087-2560515EAFCF}"/>
              </a:ext>
            </a:extLst>
          </p:cNvPr>
          <p:cNvSpPr txBox="1"/>
          <p:nvPr/>
        </p:nvSpPr>
        <p:spPr>
          <a:xfrm>
            <a:off x="5638707" y="4566331"/>
            <a:ext cx="1795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-2.0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7DBFA1E1-3EF9-4EFF-9EA3-010BA9DF7BE4}"/>
              </a:ext>
            </a:extLst>
          </p:cNvPr>
          <p:cNvGrpSpPr/>
          <p:nvPr/>
        </p:nvGrpSpPr>
        <p:grpSpPr>
          <a:xfrm>
            <a:off x="3821510" y="4566331"/>
            <a:ext cx="2630093" cy="429480"/>
            <a:chOff x="701175" y="1835481"/>
            <a:chExt cx="2630093" cy="429480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C0108744-84C2-4004-90D3-46CEA765685A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3B85591-BC56-409B-B5FF-D440CA3C27AD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BE90B376-AB48-4D33-BED7-0D01C9AD21A0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3BC40408-4F61-420B-91E4-B88C09D52D83}"/>
              </a:ext>
            </a:extLst>
          </p:cNvPr>
          <p:cNvSpPr txBox="1"/>
          <p:nvPr/>
        </p:nvSpPr>
        <p:spPr>
          <a:xfrm>
            <a:off x="3882481" y="4279216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2.</a:t>
            </a:r>
            <a:r>
              <a:rPr lang="ko-KR" altLang="en-US" sz="700" dirty="0">
                <a:latin typeface="+mn-ea"/>
              </a:rPr>
              <a:t>계약이행 성실도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7DF845-C619-4783-AE19-B45B2956F807}"/>
              </a:ext>
            </a:extLst>
          </p:cNvPr>
          <p:cNvSpPr txBox="1"/>
          <p:nvPr/>
        </p:nvSpPr>
        <p:spPr>
          <a:xfrm>
            <a:off x="6059077" y="4566331"/>
            <a:ext cx="359073" cy="396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A752052E-FF55-4893-B41B-BA1EB636260F}"/>
              </a:ext>
            </a:extLst>
          </p:cNvPr>
          <p:cNvSpPr/>
          <p:nvPr/>
        </p:nvSpPr>
        <p:spPr>
          <a:xfrm>
            <a:off x="3823602" y="5624020"/>
            <a:ext cx="1639886" cy="608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460EF8-5CF2-4B05-8511-C0029F089E05}"/>
              </a:ext>
            </a:extLst>
          </p:cNvPr>
          <p:cNvSpPr txBox="1"/>
          <p:nvPr/>
        </p:nvSpPr>
        <p:spPr>
          <a:xfrm>
            <a:off x="3910665" y="5624021"/>
            <a:ext cx="148019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심사항목</a:t>
            </a:r>
            <a:endParaRPr lang="ko-KR" altLang="en-US" sz="700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00FB3A4-0C04-4B67-B65D-3372C2E2A578}"/>
              </a:ext>
            </a:extLst>
          </p:cNvPr>
          <p:cNvSpPr txBox="1"/>
          <p:nvPr/>
        </p:nvSpPr>
        <p:spPr>
          <a:xfrm>
            <a:off x="5638707" y="5624021"/>
            <a:ext cx="179536" cy="1811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배점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8F7465E-C008-4829-8ED8-3A93C46027E1}"/>
              </a:ext>
            </a:extLst>
          </p:cNvPr>
          <p:cNvGrpSpPr/>
          <p:nvPr/>
        </p:nvGrpSpPr>
        <p:grpSpPr>
          <a:xfrm>
            <a:off x="3821510" y="5624021"/>
            <a:ext cx="2630093" cy="214740"/>
            <a:chOff x="701175" y="1835481"/>
            <a:chExt cx="2630093" cy="214740"/>
          </a:xfrm>
        </p:grpSpPr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D5628A36-B076-43C5-88D7-1CF08415B257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66453C5C-8028-4339-9C3B-BEDCE38AC763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3EE77BF-E61F-426E-8182-E0F0014D4431}"/>
              </a:ext>
            </a:extLst>
          </p:cNvPr>
          <p:cNvSpPr txBox="1"/>
          <p:nvPr/>
        </p:nvSpPr>
        <p:spPr>
          <a:xfrm>
            <a:off x="3882481" y="5136669"/>
            <a:ext cx="2535669" cy="180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 b="1">
                <a:latin typeface="+mn-ea"/>
              </a:defRPr>
            </a:lvl1pPr>
          </a:lstStyle>
          <a:p>
            <a:r>
              <a:rPr lang="en-US" altLang="ko-KR" dirty="0"/>
              <a:t>IV.</a:t>
            </a:r>
            <a:r>
              <a:rPr lang="ko-KR" altLang="en-US" dirty="0"/>
              <a:t>결격사유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F386A18-DA84-47BB-9017-A9DE40060787}"/>
              </a:ext>
            </a:extLst>
          </p:cNvPr>
          <p:cNvSpPr txBox="1"/>
          <p:nvPr/>
        </p:nvSpPr>
        <p:spPr>
          <a:xfrm>
            <a:off x="3882481" y="5336906"/>
            <a:ext cx="253566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심사분야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: 1.</a:t>
            </a:r>
            <a:r>
              <a:rPr lang="ko-KR" altLang="en-US" sz="700" dirty="0" err="1">
                <a:latin typeface="+mn-ea"/>
              </a:rPr>
              <a:t>당해물품</a:t>
            </a:r>
            <a:r>
              <a:rPr lang="ko-KR" altLang="en-US" sz="700" dirty="0">
                <a:latin typeface="+mn-ea"/>
              </a:rPr>
              <a:t> 납품이행능력 </a:t>
            </a:r>
            <a:r>
              <a:rPr lang="ko-KR" altLang="en-US" sz="700" dirty="0" err="1">
                <a:latin typeface="+mn-ea"/>
              </a:rPr>
              <a:t>결격여부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A77F267-EF70-4BD2-B43A-237339C1E9D4}"/>
              </a:ext>
            </a:extLst>
          </p:cNvPr>
          <p:cNvSpPr txBox="1"/>
          <p:nvPr/>
        </p:nvSpPr>
        <p:spPr>
          <a:xfrm>
            <a:off x="6059077" y="5624021"/>
            <a:ext cx="359073" cy="1811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심사평점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B9D6EDC0-7314-4255-B2AF-75EC55D80A85}"/>
              </a:ext>
            </a:extLst>
          </p:cNvPr>
          <p:cNvCxnSpPr/>
          <p:nvPr/>
        </p:nvCxnSpPr>
        <p:spPr>
          <a:xfrm>
            <a:off x="3795734" y="508207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모서리가 둥근 직사각형 205">
            <a:extLst>
              <a:ext uri="{FF2B5EF4-FFF2-40B4-BE49-F238E27FC236}">
                <a16:creationId xmlns:a16="http://schemas.microsoft.com/office/drawing/2014/main" id="{B1634AC9-0427-443C-B29B-9A533BF82240}"/>
              </a:ext>
            </a:extLst>
          </p:cNvPr>
          <p:cNvSpPr/>
          <p:nvPr/>
        </p:nvSpPr>
        <p:spPr>
          <a:xfrm rot="5400000">
            <a:off x="2991886" y="193116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F740D22-334D-4442-BF73-14E33D0F2A6E}"/>
              </a:ext>
            </a:extLst>
          </p:cNvPr>
          <p:cNvSpPr txBox="1"/>
          <p:nvPr/>
        </p:nvSpPr>
        <p:spPr>
          <a:xfrm>
            <a:off x="3919560" y="5934097"/>
            <a:ext cx="1480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가</a:t>
            </a:r>
            <a:r>
              <a:rPr lang="en-US" altLang="ko-KR" sz="700" dirty="0">
                <a:latin typeface="+mn-ea"/>
              </a:rPr>
              <a:t>. </a:t>
            </a:r>
            <a:r>
              <a:rPr lang="ko-KR" altLang="en-US" sz="700" dirty="0">
                <a:latin typeface="+mn-ea"/>
              </a:rPr>
              <a:t>부도 또는 파산상태로 당해 계약이행이 어렵다고 판단되는 경우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33B949-BC06-4024-9CB8-38A65B0DE4D6}"/>
              </a:ext>
            </a:extLst>
          </p:cNvPr>
          <p:cNvSpPr txBox="1"/>
          <p:nvPr/>
        </p:nvSpPr>
        <p:spPr>
          <a:xfrm>
            <a:off x="5708516" y="5987958"/>
            <a:ext cx="11862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</a:rPr>
              <a:t>1.0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F745497-2F4E-4FA2-8919-99C2D5D8DDD6}"/>
              </a:ext>
            </a:extLst>
          </p:cNvPr>
          <p:cNvSpPr txBox="1"/>
          <p:nvPr/>
        </p:nvSpPr>
        <p:spPr>
          <a:xfrm>
            <a:off x="6390176" y="5987958"/>
            <a:ext cx="3686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</a:rPr>
              <a:t>-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0F54AB7-3DCE-448A-A980-CDDE3A595CB6}"/>
              </a:ext>
            </a:extLst>
          </p:cNvPr>
          <p:cNvSpPr txBox="1"/>
          <p:nvPr/>
        </p:nvSpPr>
        <p:spPr>
          <a:xfrm>
            <a:off x="2772830" y="6235069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375C983-F2C3-479C-B75C-FE64F9A15A07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73A672A-8514-484F-9607-8BE358836A23}"/>
              </a:ext>
            </a:extLst>
          </p:cNvPr>
          <p:cNvSpPr/>
          <p:nvPr/>
        </p:nvSpPr>
        <p:spPr>
          <a:xfrm>
            <a:off x="638110" y="2285079"/>
            <a:ext cx="2749316" cy="6112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CBB705CC-0265-4DA7-8A89-32286EA44493}"/>
              </a:ext>
            </a:extLst>
          </p:cNvPr>
          <p:cNvCxnSpPr>
            <a:cxnSpLocks/>
            <a:stCxn id="112" idx="3"/>
          </p:cNvCxnSpPr>
          <p:nvPr/>
        </p:nvCxnSpPr>
        <p:spPr>
          <a:xfrm flipV="1">
            <a:off x="3387426" y="2410759"/>
            <a:ext cx="3961641" cy="17994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0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D9CC250D-2920-4E7B-BB32-09C45B6D31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621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조회일자</a:t>
            </a:r>
            <a:r>
              <a:rPr lang="ko-KR" altLang="en-US" dirty="0"/>
              <a:t>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직접입력</a:t>
            </a:r>
            <a:r>
              <a:rPr lang="en-US" altLang="ko-KR" dirty="0"/>
              <a:t>, </a:t>
            </a:r>
            <a:r>
              <a:rPr lang="ko-KR" altLang="en-US" dirty="0"/>
              <a:t>날짜 설정을 통한 검색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총 건수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목록에서 기준이 되는 </a:t>
            </a:r>
            <a:r>
              <a:rPr lang="ko-KR" altLang="en-US" dirty="0" err="1"/>
              <a:t>미국환</a:t>
            </a:r>
            <a:r>
              <a:rPr lang="ko-KR" altLang="en-US" dirty="0"/>
              <a:t> 정보 </a:t>
            </a:r>
            <a:r>
              <a:rPr lang="ko-KR" altLang="en-US" dirty="0" err="1"/>
              <a:t>최상단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이후 </a:t>
            </a:r>
            <a:r>
              <a:rPr lang="en-US" altLang="ko-KR" dirty="0"/>
              <a:t>DB</a:t>
            </a:r>
            <a:r>
              <a:rPr lang="ko-KR" altLang="en-US" dirty="0"/>
              <a:t>상에 존재하는 순서대로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매도율</a:t>
            </a:r>
            <a:r>
              <a:rPr lang="en-US" altLang="ko-KR" dirty="0"/>
              <a:t>, </a:t>
            </a:r>
            <a:r>
              <a:rPr lang="ko-KR" altLang="en-US" dirty="0"/>
              <a:t>기준율</a:t>
            </a:r>
            <a:r>
              <a:rPr lang="en-US" altLang="ko-KR" dirty="0"/>
              <a:t>, </a:t>
            </a:r>
            <a:r>
              <a:rPr lang="ko-KR" altLang="en-US" dirty="0"/>
              <a:t>달러환산율에서 기준율</a:t>
            </a:r>
            <a:r>
              <a:rPr lang="en-US" altLang="ko-KR" dirty="0"/>
              <a:t>, </a:t>
            </a:r>
            <a:r>
              <a:rPr lang="ko-KR" altLang="en-US" dirty="0" err="1"/>
              <a:t>달러환산율</a:t>
            </a:r>
            <a:r>
              <a:rPr lang="ko-KR" altLang="en-US" dirty="0"/>
              <a:t> 뒤 </a:t>
            </a:r>
            <a:r>
              <a:rPr lang="en-US" altLang="ko-KR" dirty="0"/>
              <a:t>KRW, USD </a:t>
            </a:r>
            <a:r>
              <a:rPr lang="ko-KR" altLang="en-US" dirty="0"/>
              <a:t>표시를 고정하여 추가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4C01D1B4-C2C5-4E3D-9A8C-3F6BE69E41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pPr fontAlgn="ctr"/>
            <a:r>
              <a:rPr lang="ko-KR" altLang="en-US" dirty="0" err="1">
                <a:latin typeface="+mn-ea"/>
              </a:rPr>
              <a:t>환율정보</a:t>
            </a:r>
            <a:r>
              <a:rPr lang="ko-KR" altLang="en-US" dirty="0">
                <a:latin typeface="+mn-ea"/>
              </a:rPr>
              <a:t> 조회</a:t>
            </a:r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DC4D8ED7-5FF4-4E65-8088-A340904B59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>
                <a:latin typeface="+mn-ea"/>
              </a:rPr>
              <a:t>환율정보</a:t>
            </a:r>
            <a:r>
              <a:rPr lang="ko-KR" altLang="en-US" dirty="0">
                <a:latin typeface="+mn-ea"/>
              </a:rPr>
              <a:t> 조회</a:t>
            </a:r>
            <a:r>
              <a:rPr lang="ko-KR" altLang="en-US" dirty="0"/>
              <a:t> 화면</a:t>
            </a:r>
            <a:endParaRPr lang="ko-KR" altLang="en-US" dirty="0">
              <a:latin typeface="+mn-ea"/>
            </a:endParaRP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09C9D96A-B822-4CB0-9E91-6BD72CB282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환율정보</a:t>
            </a:r>
            <a:r>
              <a:rPr lang="ko-KR" altLang="en-US" dirty="0">
                <a:latin typeface="+mn-ea"/>
              </a:rPr>
              <a:t> 조회</a:t>
            </a: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BF9008FA-E602-42AD-B68F-75E7DD06E5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MUI-BD-01-M74</a:t>
            </a:r>
            <a:endParaRPr lang="ko-KR" altLang="en-US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E853EB-49C2-4C59-83E1-8255992BBECB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E4EC2-CD72-4E29-88AC-8177F600B684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ctr"/>
            <a:r>
              <a:rPr lang="ko-KR" altLang="en-US" sz="800" dirty="0" err="1">
                <a:latin typeface="+mn-ea"/>
              </a:rPr>
              <a:t>환율정보</a:t>
            </a:r>
            <a:r>
              <a:rPr lang="ko-KR" altLang="en-US" sz="800" dirty="0">
                <a:latin typeface="+mn-ea"/>
              </a:rPr>
              <a:t> 조회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7EEDCB2-83A3-4A57-BEEA-09C2C789B637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75B541A-1105-4FF1-8D0C-013EA56A8E92}"/>
              </a:ext>
            </a:extLst>
          </p:cNvPr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15BD17B-215C-4522-91AC-2F87257DCA34}"/>
                </a:ext>
              </a:extLst>
            </p:cNvPr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0066BBA-91DC-40B0-BA70-10C2B14618D1}"/>
                </a:ext>
              </a:extLst>
            </p:cNvPr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668B0B-C270-4830-9B0A-1F32D991D2C6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5E4447B-DFC5-473B-A61C-AADCA884733B}"/>
              </a:ext>
            </a:extLst>
          </p:cNvPr>
          <p:cNvCxnSpPr/>
          <p:nvPr/>
        </p:nvCxnSpPr>
        <p:spPr>
          <a:xfrm>
            <a:off x="675399" y="617004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B915EB-258D-4D4D-B3AE-86FDE6C90ED2}"/>
              </a:ext>
            </a:extLst>
          </p:cNvPr>
          <p:cNvSpPr txBox="1"/>
          <p:nvPr/>
        </p:nvSpPr>
        <p:spPr>
          <a:xfrm>
            <a:off x="748417" y="2797553"/>
            <a:ext cx="2477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순번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3A7B93-A7DA-4B54-9C08-2F7D81DC2891}"/>
              </a:ext>
            </a:extLst>
          </p:cNvPr>
          <p:cNvSpPr txBox="1"/>
          <p:nvPr/>
        </p:nvSpPr>
        <p:spPr>
          <a:xfrm>
            <a:off x="1041640" y="2797553"/>
            <a:ext cx="498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국가 및 화폐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B77FA-2E1A-4F54-8399-1CD75E04CEEB}"/>
              </a:ext>
            </a:extLst>
          </p:cNvPr>
          <p:cNvSpPr txBox="1"/>
          <p:nvPr/>
        </p:nvSpPr>
        <p:spPr>
          <a:xfrm>
            <a:off x="2289144" y="2797553"/>
            <a:ext cx="97986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매도율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기준율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달러환산율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EA43C57-57A0-4827-AF91-8C325DEF9B83}"/>
              </a:ext>
            </a:extLst>
          </p:cNvPr>
          <p:cNvGrpSpPr/>
          <p:nvPr/>
        </p:nvGrpSpPr>
        <p:grpSpPr>
          <a:xfrm>
            <a:off x="715616" y="2961907"/>
            <a:ext cx="2652743" cy="467510"/>
            <a:chOff x="715616" y="3407067"/>
            <a:chExt cx="2652743" cy="467510"/>
          </a:xfrm>
        </p:grpSpPr>
        <p:sp>
          <p:nvSpPr>
            <p:cNvPr id="26" name="모서리가 둥근 직사각형 135">
              <a:extLst>
                <a:ext uri="{FF2B5EF4-FFF2-40B4-BE49-F238E27FC236}">
                  <a16:creationId xmlns:a16="http://schemas.microsoft.com/office/drawing/2014/main" id="{D0A2C3F5-F8E6-4E19-98AA-01DBFB7B19BE}"/>
                </a:ext>
              </a:extLst>
            </p:cNvPr>
            <p:cNvSpPr/>
            <p:nvPr/>
          </p:nvSpPr>
          <p:spPr>
            <a:xfrm>
              <a:off x="715616" y="3407067"/>
              <a:ext cx="2652743" cy="4675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349C75-116B-47C8-A9ED-5EE6381DCE64}"/>
                </a:ext>
              </a:extLst>
            </p:cNvPr>
            <p:cNvSpPr txBox="1"/>
            <p:nvPr/>
          </p:nvSpPr>
          <p:spPr>
            <a:xfrm>
              <a:off x="748417" y="3586961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CAA2E6-4F22-4EBA-B416-9181CB00352B}"/>
                </a:ext>
              </a:extLst>
            </p:cNvPr>
            <p:cNvSpPr txBox="1"/>
            <p:nvPr/>
          </p:nvSpPr>
          <p:spPr>
            <a:xfrm>
              <a:off x="1041640" y="3533100"/>
              <a:ext cx="123307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US-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미국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/>
              </a:r>
              <a:b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</a:b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USD-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미 달러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B7AF9A-5235-4024-8CB0-156518CC837C}"/>
                </a:ext>
              </a:extLst>
            </p:cNvPr>
            <p:cNvSpPr txBox="1"/>
            <p:nvPr/>
          </p:nvSpPr>
          <p:spPr>
            <a:xfrm>
              <a:off x="2460625" y="3479240"/>
              <a:ext cx="808388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0.00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1,464.30 KRW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1.0000 USD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E32AE62-5EB9-48C2-A8D4-D93B7315B9CA}"/>
              </a:ext>
            </a:extLst>
          </p:cNvPr>
          <p:cNvGrpSpPr/>
          <p:nvPr/>
        </p:nvGrpSpPr>
        <p:grpSpPr>
          <a:xfrm>
            <a:off x="715616" y="3485414"/>
            <a:ext cx="2652743" cy="467510"/>
            <a:chOff x="715616" y="3407067"/>
            <a:chExt cx="2652743" cy="467510"/>
          </a:xfrm>
        </p:grpSpPr>
        <p:sp>
          <p:nvSpPr>
            <p:cNvPr id="31" name="모서리가 둥근 직사각형 146">
              <a:extLst>
                <a:ext uri="{FF2B5EF4-FFF2-40B4-BE49-F238E27FC236}">
                  <a16:creationId xmlns:a16="http://schemas.microsoft.com/office/drawing/2014/main" id="{A2388293-2498-4674-A6FA-5D4B48BB1B1B}"/>
                </a:ext>
              </a:extLst>
            </p:cNvPr>
            <p:cNvSpPr/>
            <p:nvPr/>
          </p:nvSpPr>
          <p:spPr>
            <a:xfrm>
              <a:off x="715616" y="3407067"/>
              <a:ext cx="2652743" cy="4675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2DCF68-A1E3-460A-BE09-C41F609B0C3D}"/>
                </a:ext>
              </a:extLst>
            </p:cNvPr>
            <p:cNvSpPr txBox="1"/>
            <p:nvPr/>
          </p:nvSpPr>
          <p:spPr>
            <a:xfrm>
              <a:off x="748417" y="3586961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30AF1F-62BC-4C56-A473-5110FB11C7B5}"/>
                </a:ext>
              </a:extLst>
            </p:cNvPr>
            <p:cNvSpPr txBox="1"/>
            <p:nvPr/>
          </p:nvSpPr>
          <p:spPr>
            <a:xfrm>
              <a:off x="1041640" y="3533100"/>
              <a:ext cx="123307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NO-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노르웨이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/>
              </a:r>
              <a:b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</a:b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NOK-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노르웨이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크로네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7F8C93-5F64-4A32-A3EA-43B64D3F09CD}"/>
                </a:ext>
              </a:extLst>
            </p:cNvPr>
            <p:cNvSpPr txBox="1"/>
            <p:nvPr/>
          </p:nvSpPr>
          <p:spPr>
            <a:xfrm>
              <a:off x="2460625" y="3479240"/>
              <a:ext cx="808388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0.00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151.33 KRW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0.1033 USD</a:t>
              </a:r>
            </a:p>
          </p:txBody>
        </p:sp>
      </p:grpSp>
      <p:sp>
        <p:nvSpPr>
          <p:cNvPr id="35" name="양쪽 모서리가 둥근 사각형 152">
            <a:extLst>
              <a:ext uri="{FF2B5EF4-FFF2-40B4-BE49-F238E27FC236}">
                <a16:creationId xmlns:a16="http://schemas.microsoft.com/office/drawing/2014/main" id="{77CCAF93-EEA8-4CD0-9293-51ACFA001156}"/>
              </a:ext>
            </a:extLst>
          </p:cNvPr>
          <p:cNvSpPr/>
          <p:nvPr/>
        </p:nvSpPr>
        <p:spPr>
          <a:xfrm>
            <a:off x="3795734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153">
            <a:extLst>
              <a:ext uri="{FF2B5EF4-FFF2-40B4-BE49-F238E27FC236}">
                <a16:creationId xmlns:a16="http://schemas.microsoft.com/office/drawing/2014/main" id="{E9E16101-E898-4899-A81A-854A791188D9}"/>
              </a:ext>
            </a:extLst>
          </p:cNvPr>
          <p:cNvSpPr/>
          <p:nvPr/>
        </p:nvSpPr>
        <p:spPr>
          <a:xfrm>
            <a:off x="4881747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15BC854-D517-4A22-A014-DBB31D154CCA}"/>
              </a:ext>
            </a:extLst>
          </p:cNvPr>
          <p:cNvGrpSpPr/>
          <p:nvPr/>
        </p:nvGrpSpPr>
        <p:grpSpPr>
          <a:xfrm>
            <a:off x="6284673" y="3182696"/>
            <a:ext cx="94010" cy="94010"/>
            <a:chOff x="6812560" y="3297172"/>
            <a:chExt cx="94010" cy="9401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77A2150-2FE9-4D7A-B752-4D903A770DAC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F54F96E6-3B4C-4855-AF84-D8C26652191D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4E2CFD9-11D1-4323-82CC-0BBAF3AB1974}"/>
              </a:ext>
            </a:extLst>
          </p:cNvPr>
          <p:cNvSpPr txBox="1"/>
          <p:nvPr/>
        </p:nvSpPr>
        <p:spPr>
          <a:xfrm>
            <a:off x="3924811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날짜 설정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221370E-6E22-47E3-92CD-FD8E6C5F72A3}"/>
              </a:ext>
            </a:extLst>
          </p:cNvPr>
          <p:cNvCxnSpPr/>
          <p:nvPr/>
        </p:nvCxnSpPr>
        <p:spPr>
          <a:xfrm>
            <a:off x="3795734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6BD8D3F-D93D-41DB-AFFD-B87497DC34E7}"/>
              </a:ext>
            </a:extLst>
          </p:cNvPr>
          <p:cNvGrpSpPr/>
          <p:nvPr/>
        </p:nvGrpSpPr>
        <p:grpSpPr>
          <a:xfrm>
            <a:off x="3949297" y="3591898"/>
            <a:ext cx="2404900" cy="1793599"/>
            <a:chOff x="853448" y="3591898"/>
            <a:chExt cx="2404900" cy="179359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50421147-0141-470D-84A6-4192A65B56F8}"/>
                </a:ext>
              </a:extLst>
            </p:cNvPr>
            <p:cNvGrpSpPr/>
            <p:nvPr/>
          </p:nvGrpSpPr>
          <p:grpSpPr>
            <a:xfrm>
              <a:off x="853448" y="3591898"/>
              <a:ext cx="2404900" cy="1793599"/>
              <a:chOff x="6330232" y="1877976"/>
              <a:chExt cx="1507175" cy="1793599"/>
            </a:xfrm>
          </p:grpSpPr>
          <p:sp>
            <p:nvSpPr>
              <p:cNvPr id="45" name="자유형: 도형 138">
                <a:extLst>
                  <a:ext uri="{FF2B5EF4-FFF2-40B4-BE49-F238E27FC236}">
                    <a16:creationId xmlns:a16="http://schemas.microsoft.com/office/drawing/2014/main" id="{84DAC65D-D112-4F94-A72D-30E5741B41CA}"/>
                  </a:ext>
                </a:extLst>
              </p:cNvPr>
              <p:cNvSpPr/>
              <p:nvPr/>
            </p:nvSpPr>
            <p:spPr>
              <a:xfrm>
                <a:off x="6330232" y="2230424"/>
                <a:ext cx="1507175" cy="1441151"/>
              </a:xfrm>
              <a:custGeom>
                <a:avLst/>
                <a:gdLst>
                  <a:gd name="connsiteX0" fmla="*/ 0 w 1598734"/>
                  <a:gd name="connsiteY0" fmla="*/ 0 h 1380106"/>
                  <a:gd name="connsiteX1" fmla="*/ 1598734 w 1598734"/>
                  <a:gd name="connsiteY1" fmla="*/ 0 h 1380106"/>
                  <a:gd name="connsiteX2" fmla="*/ 1598734 w 1598734"/>
                  <a:gd name="connsiteY2" fmla="*/ 102684 h 1380106"/>
                  <a:gd name="connsiteX3" fmla="*/ 1598734 w 1598734"/>
                  <a:gd name="connsiteY3" fmla="*/ 146050 h 1380106"/>
                  <a:gd name="connsiteX4" fmla="*/ 1598734 w 1598734"/>
                  <a:gd name="connsiteY4" fmla="*/ 1321871 h 1380106"/>
                  <a:gd name="connsiteX5" fmla="*/ 1540499 w 1598734"/>
                  <a:gd name="connsiteY5" fmla="*/ 1380106 h 1380106"/>
                  <a:gd name="connsiteX6" fmla="*/ 58235 w 1598734"/>
                  <a:gd name="connsiteY6" fmla="*/ 1380106 h 1380106"/>
                  <a:gd name="connsiteX7" fmla="*/ 0 w 1598734"/>
                  <a:gd name="connsiteY7" fmla="*/ 1321871 h 1380106"/>
                  <a:gd name="connsiteX8" fmla="*/ 0 w 1598734"/>
                  <a:gd name="connsiteY8" fmla="*/ 146050 h 1380106"/>
                  <a:gd name="connsiteX9" fmla="*/ 0 w 1598734"/>
                  <a:gd name="connsiteY9" fmla="*/ 102684 h 138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98734" h="1380106">
                    <a:moveTo>
                      <a:pt x="0" y="0"/>
                    </a:moveTo>
                    <a:lnTo>
                      <a:pt x="1598734" y="0"/>
                    </a:lnTo>
                    <a:lnTo>
                      <a:pt x="1598734" y="102684"/>
                    </a:lnTo>
                    <a:lnTo>
                      <a:pt x="1598734" y="146050"/>
                    </a:lnTo>
                    <a:lnTo>
                      <a:pt x="1598734" y="1321871"/>
                    </a:lnTo>
                    <a:cubicBezTo>
                      <a:pt x="1598734" y="1354033"/>
                      <a:pt x="1572661" y="1380106"/>
                      <a:pt x="1540499" y="1380106"/>
                    </a:cubicBezTo>
                    <a:lnTo>
                      <a:pt x="58235" y="1380106"/>
                    </a:lnTo>
                    <a:cubicBezTo>
                      <a:pt x="26073" y="1380106"/>
                      <a:pt x="0" y="1354033"/>
                      <a:pt x="0" y="1321871"/>
                    </a:cubicBezTo>
                    <a:lnTo>
                      <a:pt x="0" y="146050"/>
                    </a:lnTo>
                    <a:lnTo>
                      <a:pt x="0" y="10268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endParaRPr>
              </a:p>
            </p:txBody>
          </p:sp>
          <p:sp>
            <p:nvSpPr>
              <p:cNvPr id="46" name="자유형: 도형 139">
                <a:extLst>
                  <a:ext uri="{FF2B5EF4-FFF2-40B4-BE49-F238E27FC236}">
                    <a16:creationId xmlns:a16="http://schemas.microsoft.com/office/drawing/2014/main" id="{4D5FEE4D-9C3C-4844-B5A4-3D84F48C3901}"/>
                  </a:ext>
                </a:extLst>
              </p:cNvPr>
              <p:cNvSpPr/>
              <p:nvPr/>
            </p:nvSpPr>
            <p:spPr>
              <a:xfrm>
                <a:off x="6330232" y="1877976"/>
                <a:ext cx="1507174" cy="352448"/>
              </a:xfrm>
              <a:custGeom>
                <a:avLst/>
                <a:gdLst>
                  <a:gd name="connsiteX0" fmla="*/ 68452 w 1598734"/>
                  <a:gd name="connsiteY0" fmla="*/ 0 h 306657"/>
                  <a:gd name="connsiteX1" fmla="*/ 1530282 w 1598734"/>
                  <a:gd name="connsiteY1" fmla="*/ 0 h 306657"/>
                  <a:gd name="connsiteX2" fmla="*/ 1598734 w 1598734"/>
                  <a:gd name="connsiteY2" fmla="*/ 68452 h 306657"/>
                  <a:gd name="connsiteX3" fmla="*/ 1598734 w 1598734"/>
                  <a:gd name="connsiteY3" fmla="*/ 160607 h 306657"/>
                  <a:gd name="connsiteX4" fmla="*/ 1598734 w 1598734"/>
                  <a:gd name="connsiteY4" fmla="*/ 193756 h 306657"/>
                  <a:gd name="connsiteX5" fmla="*/ 1598734 w 1598734"/>
                  <a:gd name="connsiteY5" fmla="*/ 306657 h 306657"/>
                  <a:gd name="connsiteX6" fmla="*/ 0 w 1598734"/>
                  <a:gd name="connsiteY6" fmla="*/ 306657 h 306657"/>
                  <a:gd name="connsiteX7" fmla="*/ 0 w 1598734"/>
                  <a:gd name="connsiteY7" fmla="*/ 193756 h 306657"/>
                  <a:gd name="connsiteX8" fmla="*/ 0 w 1598734"/>
                  <a:gd name="connsiteY8" fmla="*/ 160607 h 306657"/>
                  <a:gd name="connsiteX9" fmla="*/ 0 w 1598734"/>
                  <a:gd name="connsiteY9" fmla="*/ 68452 h 306657"/>
                  <a:gd name="connsiteX10" fmla="*/ 68452 w 1598734"/>
                  <a:gd name="connsiteY10" fmla="*/ 0 h 306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8734" h="306657">
                    <a:moveTo>
                      <a:pt x="68452" y="0"/>
                    </a:moveTo>
                    <a:lnTo>
                      <a:pt x="1530282" y="0"/>
                    </a:lnTo>
                    <a:cubicBezTo>
                      <a:pt x="1568087" y="0"/>
                      <a:pt x="1598734" y="30647"/>
                      <a:pt x="1598734" y="68452"/>
                    </a:cubicBezTo>
                    <a:lnTo>
                      <a:pt x="1598734" y="160607"/>
                    </a:lnTo>
                    <a:lnTo>
                      <a:pt x="1598734" y="193756"/>
                    </a:lnTo>
                    <a:lnTo>
                      <a:pt x="1598734" y="306657"/>
                    </a:lnTo>
                    <a:lnTo>
                      <a:pt x="0" y="306657"/>
                    </a:lnTo>
                    <a:lnTo>
                      <a:pt x="0" y="193756"/>
                    </a:lnTo>
                    <a:lnTo>
                      <a:pt x="0" y="160607"/>
                    </a:lnTo>
                    <a:lnTo>
                      <a:pt x="0" y="68452"/>
                    </a:lnTo>
                    <a:cubicBezTo>
                      <a:pt x="0" y="30647"/>
                      <a:pt x="30647" y="0"/>
                      <a:pt x="6845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맑은 고딕"/>
                  <a:ea typeface="+mn-ea"/>
                  <a:cs typeface="+mn-cs"/>
                </a:endParaRPr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0A38E874-7B44-4019-A668-E4B609EF7588}"/>
                  </a:ext>
                </a:extLst>
              </p:cNvPr>
              <p:cNvGrpSpPr/>
              <p:nvPr/>
            </p:nvGrpSpPr>
            <p:grpSpPr>
              <a:xfrm>
                <a:off x="6585805" y="1935304"/>
                <a:ext cx="996029" cy="251744"/>
                <a:chOff x="6656745" y="1935304"/>
                <a:chExt cx="996029" cy="251744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6B7F098F-3BA5-4E48-A1FA-D53A671F32BC}"/>
                    </a:ext>
                  </a:extLst>
                </p:cNvPr>
                <p:cNvGrpSpPr/>
                <p:nvPr/>
              </p:nvGrpSpPr>
              <p:grpSpPr>
                <a:xfrm>
                  <a:off x="6656745" y="1935304"/>
                  <a:ext cx="391505" cy="251744"/>
                  <a:chOff x="14465912" y="2621448"/>
                  <a:chExt cx="373142" cy="251744"/>
                </a:xfrm>
              </p:grpSpPr>
              <p:sp>
                <p:nvSpPr>
                  <p:cNvPr id="58" name="사각형: 둥근 모서리 144">
                    <a:extLst>
                      <a:ext uri="{FF2B5EF4-FFF2-40B4-BE49-F238E27FC236}">
                        <a16:creationId xmlns:a16="http://schemas.microsoft.com/office/drawing/2014/main" id="{5855410A-E1C4-4150-83EB-E4DA3114D8AA}"/>
                      </a:ext>
                    </a:extLst>
                  </p:cNvPr>
                  <p:cNvSpPr/>
                  <p:nvPr/>
                </p:nvSpPr>
                <p:spPr>
                  <a:xfrm>
                    <a:off x="14465912" y="2621448"/>
                    <a:ext cx="373142" cy="251744"/>
                  </a:xfrm>
                  <a:prstGeom prst="roundRect">
                    <a:avLst>
                      <a:gd name="adj" fmla="val 18659"/>
                    </a:avLst>
                  </a:prstGeom>
                  <a:solidFill>
                    <a:sysClr val="window" lastClr="FFFFFF"/>
                  </a:solidFill>
                  <a:ln w="9525" cap="flat" cmpd="sng" algn="ctr">
                    <a:solidFill>
                      <a:sysClr val="window" lastClr="FFFFFF">
                        <a:lumMod val="75000"/>
                      </a:sysClr>
                    </a:solidFill>
                    <a:prstDash val="solid"/>
                  </a:ln>
                  <a:effectLst/>
                </p:spPr>
                <p:txBody>
                  <a:bodyPr lIns="36000"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800" kern="0">
                        <a:latin typeface="맑은 고딕"/>
                      </a:rPr>
                      <a:t>2026</a:t>
                    </a:r>
                    <a:endParaRPr kumimoji="1" lang="en-US" sz="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맑은 고딕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" name="이등변 삼각형 58">
                    <a:extLst>
                      <a:ext uri="{FF2B5EF4-FFF2-40B4-BE49-F238E27FC236}">
                        <a16:creationId xmlns:a16="http://schemas.microsoft.com/office/drawing/2014/main" id="{09F23015-2B8F-47D7-B31E-6AA010C199DC}"/>
                      </a:ext>
                    </a:extLst>
                  </p:cNvPr>
                  <p:cNvSpPr/>
                  <p:nvPr/>
                </p:nvSpPr>
                <p:spPr>
                  <a:xfrm flipV="1">
                    <a:off x="14730144" y="2724461"/>
                    <a:ext cx="85725" cy="45719"/>
                  </a:xfrm>
                  <a:prstGeom prst="triangle">
                    <a:avLst/>
                  </a:prstGeom>
                  <a:solidFill>
                    <a:sysClr val="windowText" lastClr="000000">
                      <a:lumMod val="50000"/>
                      <a:lumOff val="50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5869662D-905F-4F8E-A381-1FCFBFF33C01}"/>
                    </a:ext>
                  </a:extLst>
                </p:cNvPr>
                <p:cNvGrpSpPr/>
                <p:nvPr/>
              </p:nvGrpSpPr>
              <p:grpSpPr>
                <a:xfrm>
                  <a:off x="7227970" y="1935304"/>
                  <a:ext cx="283649" cy="251744"/>
                  <a:chOff x="6204909" y="3981827"/>
                  <a:chExt cx="283649" cy="251744"/>
                </a:xfrm>
              </p:grpSpPr>
              <p:sp>
                <p:nvSpPr>
                  <p:cNvPr id="56" name="사각형: 둥근 모서리 147">
                    <a:extLst>
                      <a:ext uri="{FF2B5EF4-FFF2-40B4-BE49-F238E27FC236}">
                        <a16:creationId xmlns:a16="http://schemas.microsoft.com/office/drawing/2014/main" id="{691599B4-6D52-4F00-A94D-E26251B2812E}"/>
                      </a:ext>
                    </a:extLst>
                  </p:cNvPr>
                  <p:cNvSpPr/>
                  <p:nvPr/>
                </p:nvSpPr>
                <p:spPr>
                  <a:xfrm>
                    <a:off x="6204909" y="3981827"/>
                    <a:ext cx="283649" cy="251744"/>
                  </a:xfrm>
                  <a:prstGeom prst="roundRect">
                    <a:avLst>
                      <a:gd name="adj" fmla="val 18659"/>
                    </a:avLst>
                  </a:prstGeom>
                  <a:solidFill>
                    <a:sysClr val="window" lastClr="FFFFFF"/>
                  </a:solidFill>
                  <a:ln w="9525" cap="flat" cmpd="sng" algn="ctr">
                    <a:solidFill>
                      <a:sysClr val="window" lastClr="FFFFFF">
                        <a:lumMod val="75000"/>
                      </a:sysClr>
                    </a:solidFill>
                    <a:prstDash val="solid"/>
                  </a:ln>
                  <a:effectLst/>
                </p:spPr>
                <p:txBody>
                  <a:bodyPr lIns="36000"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ko-KR" sz="800" kern="0">
                        <a:latin typeface="맑은 고딕"/>
                      </a:rPr>
                      <a:t>1</a:t>
                    </a:r>
                    <a:endParaRPr kumimoji="1" lang="en-US" sz="8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맑은 고딕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" name="이등변 삼각형 56">
                    <a:extLst>
                      <a:ext uri="{FF2B5EF4-FFF2-40B4-BE49-F238E27FC236}">
                        <a16:creationId xmlns:a16="http://schemas.microsoft.com/office/drawing/2014/main" id="{65F1984A-4DE1-45CE-AD1C-9D38752CC753}"/>
                      </a:ext>
                    </a:extLst>
                  </p:cNvPr>
                  <p:cNvSpPr/>
                  <p:nvPr/>
                </p:nvSpPr>
                <p:spPr>
                  <a:xfrm flipV="1">
                    <a:off x="6372421" y="4084840"/>
                    <a:ext cx="89944" cy="45719"/>
                  </a:xfrm>
                  <a:prstGeom prst="triangle">
                    <a:avLst/>
                  </a:prstGeom>
                  <a:solidFill>
                    <a:sysClr val="windowText" lastClr="000000">
                      <a:lumMod val="50000"/>
                      <a:lumOff val="50000"/>
                    </a:sys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0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4" name="TextBox 149">
                  <a:extLst>
                    <a:ext uri="{FF2B5EF4-FFF2-40B4-BE49-F238E27FC236}">
                      <a16:creationId xmlns:a16="http://schemas.microsoft.com/office/drawing/2014/main" id="{2A131E99-380D-47D7-A5EF-7801270B884A}"/>
                    </a:ext>
                  </a:extLst>
                </p:cNvPr>
                <p:cNvSpPr txBox="1"/>
                <p:nvPr/>
              </p:nvSpPr>
              <p:spPr>
                <a:xfrm>
                  <a:off x="7086814" y="1999621"/>
                  <a:ext cx="10259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>
                      <a:solidFill>
                        <a:prstClr val="black"/>
                      </a:solidFill>
                      <a:cs typeface="Pretendard Medium" panose="02000603000000020004" pitchFamily="50" charset="-127"/>
                    </a:rPr>
                    <a:t>년</a:t>
                  </a:r>
                </a:p>
              </p:txBody>
            </p:sp>
            <p:sp>
              <p:nvSpPr>
                <p:cNvPr id="55" name="TextBox 152">
                  <a:extLst>
                    <a:ext uri="{FF2B5EF4-FFF2-40B4-BE49-F238E27FC236}">
                      <a16:creationId xmlns:a16="http://schemas.microsoft.com/office/drawing/2014/main" id="{A442AAA9-696B-4F34-B3FF-812AC1FE1774}"/>
                    </a:ext>
                  </a:extLst>
                </p:cNvPr>
                <p:cNvSpPr txBox="1"/>
                <p:nvPr/>
              </p:nvSpPr>
              <p:spPr>
                <a:xfrm>
                  <a:off x="7550182" y="1999621"/>
                  <a:ext cx="102592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>
                      <a:solidFill>
                        <a:prstClr val="black"/>
                      </a:solidFill>
                      <a:cs typeface="Pretendard Medium" panose="02000603000000020004" pitchFamily="50" charset="-127"/>
                    </a:rPr>
                    <a:t>월</a:t>
                  </a:r>
                </a:p>
              </p:txBody>
            </p:sp>
          </p:grpSp>
          <p:pic>
            <p:nvPicPr>
              <p:cNvPr id="48" name="그래픽 159">
                <a:extLst>
                  <a:ext uri="{FF2B5EF4-FFF2-40B4-BE49-F238E27FC236}">
                    <a16:creationId xmlns:a16="http://schemas.microsoft.com/office/drawing/2014/main" id="{43F38E41-9B18-4ABC-990B-29814F1ACD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43575" y="2011321"/>
                <a:ext cx="124829" cy="124829"/>
              </a:xfrm>
              <a:prstGeom prst="rect">
                <a:avLst/>
              </a:prstGeom>
            </p:spPr>
          </p:pic>
          <p:pic>
            <p:nvPicPr>
              <p:cNvPr id="49" name="그래픽 161">
                <a:extLst>
                  <a:ext uri="{FF2B5EF4-FFF2-40B4-BE49-F238E27FC236}">
                    <a16:creationId xmlns:a16="http://schemas.microsoft.com/office/drawing/2014/main" id="{DA79C38A-C307-462A-AEF4-CDE55C377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337510" y="2006235"/>
                <a:ext cx="135001" cy="135001"/>
              </a:xfrm>
              <a:prstGeom prst="rect">
                <a:avLst/>
              </a:prstGeom>
            </p:spPr>
          </p:pic>
          <p:pic>
            <p:nvPicPr>
              <p:cNvPr id="50" name="그래픽 166">
                <a:extLst>
                  <a:ext uri="{FF2B5EF4-FFF2-40B4-BE49-F238E27FC236}">
                    <a16:creationId xmlns:a16="http://schemas.microsoft.com/office/drawing/2014/main" id="{44B645A0-83CE-4442-BFF4-51CB2DFA0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7582427" y="2011321"/>
                <a:ext cx="124829" cy="124829"/>
              </a:xfrm>
              <a:prstGeom prst="rect">
                <a:avLst/>
              </a:prstGeom>
            </p:spPr>
          </p:pic>
          <p:pic>
            <p:nvPicPr>
              <p:cNvPr id="51" name="그래픽 167">
                <a:extLst>
                  <a:ext uri="{FF2B5EF4-FFF2-40B4-BE49-F238E27FC236}">
                    <a16:creationId xmlns:a16="http://schemas.microsoft.com/office/drawing/2014/main" id="{564CB39B-ECFF-40E7-90DB-A7881F000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7685706" y="2006235"/>
                <a:ext cx="135001" cy="135001"/>
              </a:xfrm>
              <a:prstGeom prst="rect">
                <a:avLst/>
              </a:prstGeom>
            </p:spPr>
          </p:pic>
        </p:grpSp>
        <p:pic>
          <p:nvPicPr>
            <p:cNvPr id="44" name="table">
              <a:extLst>
                <a:ext uri="{FF2B5EF4-FFF2-40B4-BE49-F238E27FC236}">
                  <a16:creationId xmlns:a16="http://schemas.microsoft.com/office/drawing/2014/main" id="{2D3DDFFE-504F-47EA-93E7-CB5FA7206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1664" y="3994890"/>
              <a:ext cx="2346766" cy="1352526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1BE6D50-827D-457B-8152-AD4E3CF4AFAF}"/>
              </a:ext>
            </a:extLst>
          </p:cNvPr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FAA7725-C01A-4772-A5B8-56861B474B98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사각형: 둥근 모서리 15">
              <a:extLst>
                <a:ext uri="{FF2B5EF4-FFF2-40B4-BE49-F238E27FC236}">
                  <a16:creationId xmlns:a16="http://schemas.microsoft.com/office/drawing/2014/main" id="{EF130DA5-9939-430C-911B-27E314663BFF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3" name="사각형: 둥근 모서리 15">
              <a:extLst>
                <a:ext uri="{FF2B5EF4-FFF2-40B4-BE49-F238E27FC236}">
                  <a16:creationId xmlns:a16="http://schemas.microsoft.com/office/drawing/2014/main" id="{310415DC-124A-4908-81C8-AD2840E636EF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9359652-8F23-4200-8925-657BB5BCA320}"/>
              </a:ext>
            </a:extLst>
          </p:cNvPr>
          <p:cNvSpPr txBox="1"/>
          <p:nvPr/>
        </p:nvSpPr>
        <p:spPr>
          <a:xfrm>
            <a:off x="3795734" y="1352885"/>
            <a:ext cx="133824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MUI-BD-01-P06</a:t>
            </a:r>
            <a:endParaRPr lang="ko-KR" altLang="en-US" sz="900" dirty="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E3DBAC-54D8-493A-87A0-11E9FA51BFBE}"/>
              </a:ext>
            </a:extLst>
          </p:cNvPr>
          <p:cNvSpPr txBox="1"/>
          <p:nvPr/>
        </p:nvSpPr>
        <p:spPr>
          <a:xfrm>
            <a:off x="5169520" y="1352885"/>
            <a:ext cx="133824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날짜 설정</a:t>
            </a:r>
            <a:endParaRPr lang="ko-KR" altLang="en-US" sz="900" dirty="0">
              <a:latin typeface="+mn-ea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0C4860A2-A5DA-490F-BF0B-8FFD6071FEEE}"/>
              </a:ext>
            </a:extLst>
          </p:cNvPr>
          <p:cNvSpPr/>
          <p:nvPr/>
        </p:nvSpPr>
        <p:spPr>
          <a:xfrm>
            <a:off x="573754" y="195050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5788F3-23C6-47B2-BE5A-C2B7B5663653}"/>
              </a:ext>
            </a:extLst>
          </p:cNvPr>
          <p:cNvSpPr txBox="1"/>
          <p:nvPr/>
        </p:nvSpPr>
        <p:spPr>
          <a:xfrm>
            <a:off x="778515" y="193274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>
                <a:latin typeface="+mn-ea"/>
              </a:rPr>
              <a:t>조회일자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D0C5AD2-7032-4A92-85D5-827EA506D2F4}"/>
              </a:ext>
            </a:extLst>
          </p:cNvPr>
          <p:cNvGrpSpPr/>
          <p:nvPr/>
        </p:nvGrpSpPr>
        <p:grpSpPr>
          <a:xfrm>
            <a:off x="1464780" y="1955177"/>
            <a:ext cx="1845146" cy="188244"/>
            <a:chOff x="5613534" y="2854836"/>
            <a:chExt cx="1727805" cy="188244"/>
          </a:xfrm>
        </p:grpSpPr>
        <p:sp>
          <p:nvSpPr>
            <p:cNvPr id="69" name="사각형: 둥근 모서리 86">
              <a:extLst>
                <a:ext uri="{FF2B5EF4-FFF2-40B4-BE49-F238E27FC236}">
                  <a16:creationId xmlns:a16="http://schemas.microsoft.com/office/drawing/2014/main" id="{125126F8-E3AD-41A2-B796-390F677F6C00}"/>
                </a:ext>
              </a:extLst>
            </p:cNvPr>
            <p:cNvSpPr/>
            <p:nvPr/>
          </p:nvSpPr>
          <p:spPr>
            <a:xfrm>
              <a:off x="5613534" y="2854836"/>
              <a:ext cx="1727805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2026-03-06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1714944F-0743-448E-8B1D-04CF3573C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5110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71" name="사각형: 둥근 모서리 169">
            <a:extLst>
              <a:ext uri="{FF2B5EF4-FFF2-40B4-BE49-F238E27FC236}">
                <a16:creationId xmlns:a16="http://schemas.microsoft.com/office/drawing/2014/main" id="{2B4DCFD7-7014-425B-B148-A3A429EDE4DA}"/>
              </a:ext>
            </a:extLst>
          </p:cNvPr>
          <p:cNvSpPr/>
          <p:nvPr/>
        </p:nvSpPr>
        <p:spPr>
          <a:xfrm>
            <a:off x="1464781" y="2185846"/>
            <a:ext cx="1845145" cy="188135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76C47F7-79FD-4B92-AE4C-299743D0C354}"/>
              </a:ext>
            </a:extLst>
          </p:cNvPr>
          <p:cNvCxnSpPr/>
          <p:nvPr/>
        </p:nvCxnSpPr>
        <p:spPr>
          <a:xfrm>
            <a:off x="714149" y="2505964"/>
            <a:ext cx="26345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사각형: 둥근 모서리 31">
            <a:extLst>
              <a:ext uri="{FF2B5EF4-FFF2-40B4-BE49-F238E27FC236}">
                <a16:creationId xmlns:a16="http://schemas.microsoft.com/office/drawing/2014/main" id="{4BB9C0B6-0C68-4496-B278-B0E5E85BA426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(10/43)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5A5A797-BE60-4A13-83F7-2DB6A977C318}"/>
              </a:ext>
            </a:extLst>
          </p:cNvPr>
          <p:cNvGrpSpPr/>
          <p:nvPr/>
        </p:nvGrpSpPr>
        <p:grpSpPr>
          <a:xfrm>
            <a:off x="1992981" y="5255461"/>
            <a:ext cx="76863" cy="292489"/>
            <a:chOff x="3750067" y="4683795"/>
            <a:chExt cx="76863" cy="292489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9E40FD8B-B593-4DE6-AF37-F985C5DB3E09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B48BC3A7-E2EF-43FA-8435-048F42D004E7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F31CA5F1-4EC2-4657-B2FE-F1BE286569CC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0E9F22A-08AB-4D25-8518-93EB0836CD4E}"/>
              </a:ext>
            </a:extLst>
          </p:cNvPr>
          <p:cNvGrpSpPr/>
          <p:nvPr/>
        </p:nvGrpSpPr>
        <p:grpSpPr>
          <a:xfrm>
            <a:off x="715616" y="4001679"/>
            <a:ext cx="2652743" cy="467510"/>
            <a:chOff x="715616" y="3407067"/>
            <a:chExt cx="2652743" cy="467510"/>
          </a:xfrm>
        </p:grpSpPr>
        <p:sp>
          <p:nvSpPr>
            <p:cNvPr id="79" name="모서리가 둥근 직사각형 236">
              <a:extLst>
                <a:ext uri="{FF2B5EF4-FFF2-40B4-BE49-F238E27FC236}">
                  <a16:creationId xmlns:a16="http://schemas.microsoft.com/office/drawing/2014/main" id="{EE5B42EF-1EF3-4B81-8293-7465B4811092}"/>
                </a:ext>
              </a:extLst>
            </p:cNvPr>
            <p:cNvSpPr/>
            <p:nvPr/>
          </p:nvSpPr>
          <p:spPr>
            <a:xfrm>
              <a:off x="715616" y="3407067"/>
              <a:ext cx="2652743" cy="4675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0B9E46-54BC-4927-A6E2-219E24493DD8}"/>
                </a:ext>
              </a:extLst>
            </p:cNvPr>
            <p:cNvSpPr txBox="1"/>
            <p:nvPr/>
          </p:nvSpPr>
          <p:spPr>
            <a:xfrm>
              <a:off x="748417" y="3586961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3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2FD8830-D9DA-47C3-B41C-DEEB24884E2D}"/>
                </a:ext>
              </a:extLst>
            </p:cNvPr>
            <p:cNvSpPr txBox="1"/>
            <p:nvPr/>
          </p:nvSpPr>
          <p:spPr>
            <a:xfrm>
              <a:off x="1041640" y="3533100"/>
              <a:ext cx="123307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NZ-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뉴질랜드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NZD-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뉴질랜드 달러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92C6AE2-1124-44CC-80B1-92A33A458C86}"/>
                </a:ext>
              </a:extLst>
            </p:cNvPr>
            <p:cNvSpPr txBox="1"/>
            <p:nvPr/>
          </p:nvSpPr>
          <p:spPr>
            <a:xfrm>
              <a:off x="2460625" y="3479240"/>
              <a:ext cx="808388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0.00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863.28 KRW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0.5896 USD</a:t>
              </a: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B3A9765-98D6-4AD3-BCB2-B1178BDF2D68}"/>
              </a:ext>
            </a:extLst>
          </p:cNvPr>
          <p:cNvGrpSpPr/>
          <p:nvPr/>
        </p:nvGrpSpPr>
        <p:grpSpPr>
          <a:xfrm>
            <a:off x="715616" y="4507638"/>
            <a:ext cx="2652743" cy="467510"/>
            <a:chOff x="715616" y="3407067"/>
            <a:chExt cx="2652743" cy="467510"/>
          </a:xfrm>
        </p:grpSpPr>
        <p:sp>
          <p:nvSpPr>
            <p:cNvPr id="84" name="모서리가 둥근 직사각형 241">
              <a:extLst>
                <a:ext uri="{FF2B5EF4-FFF2-40B4-BE49-F238E27FC236}">
                  <a16:creationId xmlns:a16="http://schemas.microsoft.com/office/drawing/2014/main" id="{017334BC-2EF4-4412-ABD8-B5F8BBE98A07}"/>
                </a:ext>
              </a:extLst>
            </p:cNvPr>
            <p:cNvSpPr/>
            <p:nvPr/>
          </p:nvSpPr>
          <p:spPr>
            <a:xfrm>
              <a:off x="715616" y="3407067"/>
              <a:ext cx="2652743" cy="4675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484DEBD-28E2-405A-8274-DC64AD2D9E6E}"/>
                </a:ext>
              </a:extLst>
            </p:cNvPr>
            <p:cNvSpPr txBox="1"/>
            <p:nvPr/>
          </p:nvSpPr>
          <p:spPr>
            <a:xfrm>
              <a:off x="748417" y="3586961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4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BDD26E1-38EA-4CF7-9481-FA7E37D0361A}"/>
                </a:ext>
              </a:extLst>
            </p:cNvPr>
            <p:cNvSpPr txBox="1"/>
            <p:nvPr/>
          </p:nvSpPr>
          <p:spPr>
            <a:xfrm>
              <a:off x="1041640" y="3533100"/>
              <a:ext cx="123307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TW-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대만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TWD-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뉴 타이완 달러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766A233-B4EC-4655-8B79-56B77A778A33}"/>
                </a:ext>
              </a:extLst>
            </p:cNvPr>
            <p:cNvSpPr txBox="1"/>
            <p:nvPr/>
          </p:nvSpPr>
          <p:spPr>
            <a:xfrm>
              <a:off x="2460625" y="3479240"/>
              <a:ext cx="808388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0.00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46.08 KRW</a:t>
              </a:r>
            </a:p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0.0315 USD</a:t>
              </a:r>
            </a:p>
          </p:txBody>
        </p:sp>
      </p:grp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5E13022-E7ED-48D4-8835-EDD764D40388}"/>
              </a:ext>
            </a:extLst>
          </p:cNvPr>
          <p:cNvCxnSpPr/>
          <p:nvPr/>
        </p:nvCxnSpPr>
        <p:spPr>
          <a:xfrm>
            <a:off x="714149" y="2739427"/>
            <a:ext cx="26345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BB70377-0548-4011-AA16-FD9CF2ACEA94}"/>
              </a:ext>
            </a:extLst>
          </p:cNvPr>
          <p:cNvSpPr txBox="1"/>
          <p:nvPr/>
        </p:nvSpPr>
        <p:spPr>
          <a:xfrm>
            <a:off x="748417" y="2576529"/>
            <a:ext cx="98959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43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7810003-34E3-4A27-BE0A-C731D4678322}"/>
              </a:ext>
            </a:extLst>
          </p:cNvPr>
          <p:cNvSpPr/>
          <p:nvPr/>
        </p:nvSpPr>
        <p:spPr>
          <a:xfrm>
            <a:off x="573754" y="309236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9260B6B1-C447-4CC8-B5A6-A33016B468DB}"/>
              </a:ext>
            </a:extLst>
          </p:cNvPr>
          <p:cNvSpPr/>
          <p:nvPr/>
        </p:nvSpPr>
        <p:spPr>
          <a:xfrm>
            <a:off x="573754" y="252785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95223804-87B4-4AFF-A183-DD9CED00A7B7}"/>
              </a:ext>
            </a:extLst>
          </p:cNvPr>
          <p:cNvSpPr/>
          <p:nvPr/>
        </p:nvSpPr>
        <p:spPr>
          <a:xfrm>
            <a:off x="573754" y="588070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5503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A982DB7-4554-4A3E-900E-F4D71D5085FF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7DFCA5-F970-42AF-A1E2-14872D0CD353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69532491-88ED-4B96-A910-8BC1D4856B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623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* </a:t>
            </a:r>
            <a:r>
              <a:rPr lang="ko-KR" altLang="en-US" dirty="0">
                <a:solidFill>
                  <a:srgbClr val="FF0000"/>
                </a:solidFill>
              </a:rPr>
              <a:t>디자인 작업 관련 </a:t>
            </a:r>
            <a:r>
              <a:rPr lang="ko-KR" altLang="en-US" dirty="0" err="1">
                <a:solidFill>
                  <a:srgbClr val="FF0000"/>
                </a:solidFill>
              </a:rPr>
              <a:t>퍼블과</a:t>
            </a:r>
            <a:r>
              <a:rPr lang="ko-KR" altLang="en-US" dirty="0">
                <a:solidFill>
                  <a:srgbClr val="FF0000"/>
                </a:solidFill>
              </a:rPr>
              <a:t> 협의 후 진행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-  </a:t>
            </a:r>
            <a:r>
              <a:rPr lang="ko-KR" altLang="en-US" dirty="0">
                <a:solidFill>
                  <a:srgbClr val="FF0000"/>
                </a:solidFill>
              </a:rPr>
              <a:t>박스 부분 패턴 추가 </a:t>
            </a:r>
            <a:endParaRPr lang="ko-KR" altLang="en-US" dirty="0"/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ADE05C8E-3842-4068-AEEF-8D74261D3C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>
                <a:latin typeface="+mn-ea"/>
              </a:rPr>
              <a:t>상업계약서명세서</a:t>
            </a:r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0DDD5053-D03D-458E-971F-1C684F6FD9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상업계약명세서 </a:t>
            </a:r>
            <a:r>
              <a:rPr lang="ko-KR" altLang="en-US" dirty="0" err="1">
                <a:latin typeface="+mn-ea"/>
              </a:rPr>
              <a:t>목록정보를</a:t>
            </a:r>
            <a:r>
              <a:rPr lang="ko-KR" altLang="en-US" dirty="0">
                <a:latin typeface="+mn-ea"/>
              </a:rPr>
              <a:t> 조회하는 화면</a:t>
            </a:r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4951F775-DC5E-4AA7-B594-1FDEBDE1E0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계약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상업계약서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상업계약서명세서 팝업</a:t>
            </a:r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DDE080D6-622D-41CD-AEC8-81CBB3FF85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n-ea"/>
              </a:rPr>
              <a:t>MUI-CT-01-P78</a:t>
            </a:r>
            <a:endParaRPr lang="ko-KR" altLang="en-US" dirty="0"/>
          </a:p>
        </p:txBody>
      </p:sp>
      <p:sp>
        <p:nvSpPr>
          <p:cNvPr id="15" name="양쪽 모서리가 둥근 사각형 64">
            <a:extLst>
              <a:ext uri="{FF2B5EF4-FFF2-40B4-BE49-F238E27FC236}">
                <a16:creationId xmlns:a16="http://schemas.microsoft.com/office/drawing/2014/main" id="{E364A6A0-AE39-44DC-A570-F975E9FAC61D}"/>
              </a:ext>
            </a:extLst>
          </p:cNvPr>
          <p:cNvSpPr/>
          <p:nvPr/>
        </p:nvSpPr>
        <p:spPr>
          <a:xfrm>
            <a:off x="669777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65">
            <a:extLst>
              <a:ext uri="{FF2B5EF4-FFF2-40B4-BE49-F238E27FC236}">
                <a16:creationId xmlns:a16="http://schemas.microsoft.com/office/drawing/2014/main" id="{9BB091B8-B56D-43D2-81F1-186A4E55F5CF}"/>
              </a:ext>
            </a:extLst>
          </p:cNvPr>
          <p:cNvSpPr/>
          <p:nvPr/>
        </p:nvSpPr>
        <p:spPr>
          <a:xfrm>
            <a:off x="1755790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8BCCB8-7891-4570-98DD-4C9C7C71954D}"/>
              </a:ext>
            </a:extLst>
          </p:cNvPr>
          <p:cNvGrpSpPr/>
          <p:nvPr/>
        </p:nvGrpSpPr>
        <p:grpSpPr>
          <a:xfrm>
            <a:off x="3158716" y="2273335"/>
            <a:ext cx="94010" cy="94010"/>
            <a:chOff x="6812560" y="3297172"/>
            <a:chExt cx="94010" cy="9401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8CC8BDB-1B41-4175-9259-87B2534732B1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31FA718-5467-4D07-867F-34A7A549E550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B57942F-2BF8-42AC-91B0-76A218E0962E}"/>
              </a:ext>
            </a:extLst>
          </p:cNvPr>
          <p:cNvSpPr txBox="1"/>
          <p:nvPr/>
        </p:nvSpPr>
        <p:spPr>
          <a:xfrm>
            <a:off x="798854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계약명세서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EFD6C8A-4A78-42E9-A22B-A0E51BE0E0A0}"/>
              </a:ext>
            </a:extLst>
          </p:cNvPr>
          <p:cNvCxnSpPr/>
          <p:nvPr/>
        </p:nvCxnSpPr>
        <p:spPr>
          <a:xfrm>
            <a:off x="669777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C0DEBE9-FA18-4AB7-BD9E-45835110069E}"/>
              </a:ext>
            </a:extLst>
          </p:cNvPr>
          <p:cNvGrpSpPr/>
          <p:nvPr/>
        </p:nvGrpSpPr>
        <p:grpSpPr>
          <a:xfrm>
            <a:off x="716366" y="3617463"/>
            <a:ext cx="2630093" cy="2154436"/>
            <a:chOff x="3865118" y="2946204"/>
            <a:chExt cx="2630093" cy="215443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23B44BB-4EA3-4DB2-B595-4DB596B3D4D1}"/>
                </a:ext>
              </a:extLst>
            </p:cNvPr>
            <p:cNvSpPr/>
            <p:nvPr/>
          </p:nvSpPr>
          <p:spPr>
            <a:xfrm>
              <a:off x="3867211" y="2946204"/>
              <a:ext cx="792000" cy="21315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41CAFC9-DE95-4DCC-8C8D-B6C5D381CD6A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9470D3-66D7-4999-AF60-B56B2337FF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L/I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Stock-No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Part-No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Nomenclature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Budget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Unit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Qnty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Unit Price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Total Price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8530C9-45A1-45B3-BB41-DAE2A837EBFB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MBCLMH13630691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012305317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958AS535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LAUNCHER,ROCKET,AI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17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10.00 USD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170.00 USD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268660B-A4CD-4846-A634-E2789E02F71C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774AB39-907F-431D-A958-5120041B7C7B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55C87910-1CB5-4A39-A285-9F8743B56F6E}"/>
                </a:ext>
              </a:extLst>
            </p:cNvPr>
            <p:cNvCxnSpPr/>
            <p:nvPr/>
          </p:nvCxnSpPr>
          <p:spPr>
            <a:xfrm>
              <a:off x="3867211" y="361405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32F7D54-A9E3-47AD-8DA0-62348B315AB8}"/>
                </a:ext>
              </a:extLst>
            </p:cNvPr>
            <p:cNvCxnSpPr/>
            <p:nvPr/>
          </p:nvCxnSpPr>
          <p:spPr>
            <a:xfrm>
              <a:off x="3867211" y="381773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FE2C7AF-F76A-421F-898B-9ECB7E0C6E3C}"/>
                </a:ext>
              </a:extLst>
            </p:cNvPr>
            <p:cNvCxnSpPr/>
            <p:nvPr/>
          </p:nvCxnSpPr>
          <p:spPr>
            <a:xfrm>
              <a:off x="3867211" y="40227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CB9E7C14-C830-442C-B9A3-191AE85F2D72}"/>
                </a:ext>
              </a:extLst>
            </p:cNvPr>
            <p:cNvCxnSpPr/>
            <p:nvPr/>
          </p:nvCxnSpPr>
          <p:spPr>
            <a:xfrm>
              <a:off x="3867211" y="42364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B70019C-9F63-40C9-BDD0-5D7D293B6ADB}"/>
                </a:ext>
              </a:extLst>
            </p:cNvPr>
            <p:cNvCxnSpPr/>
            <p:nvPr/>
          </p:nvCxnSpPr>
          <p:spPr>
            <a:xfrm>
              <a:off x="3867211" y="44594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5DF2CD9-1E4A-4DA0-86D7-C117F3EC9019}"/>
                </a:ext>
              </a:extLst>
            </p:cNvPr>
            <p:cNvCxnSpPr/>
            <p:nvPr/>
          </p:nvCxnSpPr>
          <p:spPr>
            <a:xfrm>
              <a:off x="3867211" y="466312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98F652A1-2E1B-4F85-9F59-DDB45AA649BB}"/>
                </a:ext>
              </a:extLst>
            </p:cNvPr>
            <p:cNvCxnSpPr/>
            <p:nvPr/>
          </p:nvCxnSpPr>
          <p:spPr>
            <a:xfrm>
              <a:off x="3867211" y="48728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D312A94E-16BA-4E0C-85B9-A8ED55C75236}"/>
                </a:ext>
              </a:extLst>
            </p:cNvPr>
            <p:cNvCxnSpPr/>
            <p:nvPr/>
          </p:nvCxnSpPr>
          <p:spPr>
            <a:xfrm>
              <a:off x="3867211" y="50827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1454365-6A8B-419B-BE52-B2554BA20505}"/>
              </a:ext>
            </a:extLst>
          </p:cNvPr>
          <p:cNvSpPr txBox="1"/>
          <p:nvPr/>
        </p:nvSpPr>
        <p:spPr>
          <a:xfrm>
            <a:off x="777337" y="2546367"/>
            <a:ext cx="12868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명세서 품목 정보</a:t>
            </a:r>
          </a:p>
        </p:txBody>
      </p:sp>
      <p:sp>
        <p:nvSpPr>
          <p:cNvPr id="38" name="모서리가 둥근 직사각형 97">
            <a:extLst>
              <a:ext uri="{FF2B5EF4-FFF2-40B4-BE49-F238E27FC236}">
                <a16:creationId xmlns:a16="http://schemas.microsoft.com/office/drawing/2014/main" id="{2DABAD80-DC0C-4D1E-924D-C32217EDA4C9}"/>
              </a:ext>
            </a:extLst>
          </p:cNvPr>
          <p:cNvSpPr/>
          <p:nvPr/>
        </p:nvSpPr>
        <p:spPr>
          <a:xfrm rot="5400000">
            <a:off x="2656620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2EB0462-386F-4EF0-A3E4-19ED36911D1E}"/>
              </a:ext>
            </a:extLst>
          </p:cNvPr>
          <p:cNvGrpSpPr/>
          <p:nvPr/>
        </p:nvGrpSpPr>
        <p:grpSpPr>
          <a:xfrm>
            <a:off x="711214" y="2938870"/>
            <a:ext cx="2652743" cy="364486"/>
            <a:chOff x="711214" y="2744368"/>
            <a:chExt cx="2652743" cy="364486"/>
          </a:xfrm>
        </p:grpSpPr>
        <p:sp>
          <p:nvSpPr>
            <p:cNvPr id="40" name="모서리가 둥근 직사각형 60">
              <a:extLst>
                <a:ext uri="{FF2B5EF4-FFF2-40B4-BE49-F238E27FC236}">
                  <a16:creationId xmlns:a16="http://schemas.microsoft.com/office/drawing/2014/main" id="{71D8BB19-868A-453F-B045-F2C98E0E30EC}"/>
                </a:ext>
              </a:extLst>
            </p:cNvPr>
            <p:cNvSpPr/>
            <p:nvPr/>
          </p:nvSpPr>
          <p:spPr>
            <a:xfrm>
              <a:off x="711214" y="274436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A64C01-6816-45C2-8CD0-2D0D0AB10BBF}"/>
                </a:ext>
              </a:extLst>
            </p:cNvPr>
            <p:cNvSpPr txBox="1"/>
            <p:nvPr/>
          </p:nvSpPr>
          <p:spPr>
            <a:xfrm>
              <a:off x="1211882" y="2818889"/>
              <a:ext cx="101775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AAA12345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001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546F1CF-00C1-4633-BB46-7BD0ABC34598}"/>
                </a:ext>
              </a:extLst>
            </p:cNvPr>
            <p:cNvSpPr txBox="1"/>
            <p:nvPr/>
          </p:nvSpPr>
          <p:spPr>
            <a:xfrm>
              <a:off x="789410" y="287275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F773E9-0CF6-4F98-903B-4DC93D0B9968}"/>
                </a:ext>
              </a:extLst>
            </p:cNvPr>
            <p:cNvSpPr txBox="1"/>
            <p:nvPr/>
          </p:nvSpPr>
          <p:spPr>
            <a:xfrm>
              <a:off x="2169643" y="2872750"/>
              <a:ext cx="862539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340.00</a:t>
              </a: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7A1B4EE7-67A5-487A-9087-9D6504FE63F8}"/>
                </a:ext>
              </a:extLst>
            </p:cNvPr>
            <p:cNvGrpSpPr/>
            <p:nvPr/>
          </p:nvGrpSpPr>
          <p:grpSpPr>
            <a:xfrm rot="5400000" flipV="1">
              <a:off x="3124235" y="2914790"/>
              <a:ext cx="94010" cy="47005"/>
              <a:chOff x="6812560" y="3297172"/>
              <a:chExt cx="94010" cy="47005"/>
            </a:xfrm>
          </p:grpSpPr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AD1686C-224F-4243-BF36-04196CFB9565}"/>
                  </a:ext>
                </a:extLst>
              </p:cNvPr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9469CD12-D50E-49C4-A8EE-BDBA20E366F8}"/>
                  </a:ext>
                </a:extLst>
              </p:cNvPr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타원 46">
            <a:extLst>
              <a:ext uri="{FF2B5EF4-FFF2-40B4-BE49-F238E27FC236}">
                <a16:creationId xmlns:a16="http://schemas.microsoft.com/office/drawing/2014/main" id="{446F2855-342E-478A-A966-EB32E8B3099C}"/>
              </a:ext>
            </a:extLst>
          </p:cNvPr>
          <p:cNvSpPr/>
          <p:nvPr/>
        </p:nvSpPr>
        <p:spPr>
          <a:xfrm>
            <a:off x="573754" y="26209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93625D-A3CE-4C2F-A5D0-5C466FAC76D0}"/>
              </a:ext>
            </a:extLst>
          </p:cNvPr>
          <p:cNvSpPr txBox="1"/>
          <p:nvPr/>
        </p:nvSpPr>
        <p:spPr>
          <a:xfrm>
            <a:off x="777337" y="3375528"/>
            <a:ext cx="12868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명세서 목록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C2D5405-BE8B-41A1-AEDB-76A9AE115CC0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8223E39-E579-499F-ABD6-2167E977856D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C22402-88E1-4648-A4EA-BE4056F0F16F}"/>
              </a:ext>
            </a:extLst>
          </p:cNvPr>
          <p:cNvSpPr txBox="1"/>
          <p:nvPr/>
        </p:nvSpPr>
        <p:spPr>
          <a:xfrm>
            <a:off x="1211882" y="2816823"/>
            <a:ext cx="13058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PR No. / Group No.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C3C4C4-34CE-4F1B-9921-36ADB4F585D1}"/>
              </a:ext>
            </a:extLst>
          </p:cNvPr>
          <p:cNvSpPr txBox="1"/>
          <p:nvPr/>
        </p:nvSpPr>
        <p:spPr>
          <a:xfrm>
            <a:off x="2620986" y="2816823"/>
            <a:ext cx="411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SUB-TOTAL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B52EA9-BF8F-498A-AB8B-DC190B69F481}"/>
              </a:ext>
            </a:extLst>
          </p:cNvPr>
          <p:cNvSpPr txBox="1"/>
          <p:nvPr/>
        </p:nvSpPr>
        <p:spPr>
          <a:xfrm>
            <a:off x="717978" y="2816823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양쪽 모서리가 둥근 사각형 80">
            <a:extLst>
              <a:ext uri="{FF2B5EF4-FFF2-40B4-BE49-F238E27FC236}">
                <a16:creationId xmlns:a16="http://schemas.microsoft.com/office/drawing/2014/main" id="{A8B11B50-6E0F-46DE-BB28-34B4A9BA3815}"/>
              </a:ext>
            </a:extLst>
          </p:cNvPr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55" name="모서리가 둥근 직사각형 81">
            <a:extLst>
              <a:ext uri="{FF2B5EF4-FFF2-40B4-BE49-F238E27FC236}">
                <a16:creationId xmlns:a16="http://schemas.microsoft.com/office/drawing/2014/main" id="{6F9AC4C6-DD37-4D78-9007-7A6393A58A4C}"/>
              </a:ext>
            </a:extLst>
          </p:cNvPr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B63DDA7-F016-4FF4-9A93-E37E717B15F0}"/>
              </a:ext>
            </a:extLst>
          </p:cNvPr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07E97930-FB8A-4316-B059-9B6ACBC24D86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37CD6FB2-31DF-40E0-B446-B469F7B85E1E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29885F0-99FC-4104-AF2B-0EAB4E1897CC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계약명세서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FC3441C-259D-43C9-8268-08C06DE9F3E6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2511538-EAC6-47BC-89BF-DC302C815B8B}"/>
              </a:ext>
            </a:extLst>
          </p:cNvPr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59FAC4A-6335-4DF3-97C5-9C2513A4A394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사각형: 둥근 모서리 15">
              <a:extLst>
                <a:ext uri="{FF2B5EF4-FFF2-40B4-BE49-F238E27FC236}">
                  <a16:creationId xmlns:a16="http://schemas.microsoft.com/office/drawing/2014/main" id="{0EDFDC68-CDD1-420F-831D-9CBEC090ADA0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950D46E-831C-4D17-93A7-1E92B01C1E74}"/>
              </a:ext>
            </a:extLst>
          </p:cNvPr>
          <p:cNvGrpSpPr/>
          <p:nvPr/>
        </p:nvGrpSpPr>
        <p:grpSpPr>
          <a:xfrm>
            <a:off x="3836701" y="2663484"/>
            <a:ext cx="2630093" cy="2154436"/>
            <a:chOff x="3865118" y="2946204"/>
            <a:chExt cx="2630093" cy="215443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1CE41CA-CF97-45AA-9550-AAB135339D48}"/>
                </a:ext>
              </a:extLst>
            </p:cNvPr>
            <p:cNvSpPr/>
            <p:nvPr/>
          </p:nvSpPr>
          <p:spPr>
            <a:xfrm>
              <a:off x="3867211" y="2946204"/>
              <a:ext cx="792000" cy="21315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4F743BAA-34B0-4AE6-876B-7BA15BFB3BBB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B6527C8-6D99-4B89-912D-20F2B6B849F9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L/I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Stock-No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Part-No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Nomenclature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Budget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Unit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Qnty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Unit Price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Total Price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0AF0000-4366-48AD-A354-7F96A57D3780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MBCLMH13630691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012305317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958AS535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LAUNCHER,ROCKET,AI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17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10.00 USD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170.00 USD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FF0A5F45-6E1C-4CF9-9786-F6C0E272116D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3BF1199C-94F6-4D9D-8A85-CF74F3091389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840B6F63-CCAD-46FC-964B-8F0186AAEF2E}"/>
                </a:ext>
              </a:extLst>
            </p:cNvPr>
            <p:cNvCxnSpPr/>
            <p:nvPr/>
          </p:nvCxnSpPr>
          <p:spPr>
            <a:xfrm>
              <a:off x="3867211" y="361405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510D76B2-4531-496C-9B94-C097C1FD93FF}"/>
                </a:ext>
              </a:extLst>
            </p:cNvPr>
            <p:cNvCxnSpPr/>
            <p:nvPr/>
          </p:nvCxnSpPr>
          <p:spPr>
            <a:xfrm>
              <a:off x="3867211" y="381773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6E91EE01-5702-402D-8C9B-8B2DAA1FAA4F}"/>
                </a:ext>
              </a:extLst>
            </p:cNvPr>
            <p:cNvCxnSpPr/>
            <p:nvPr/>
          </p:nvCxnSpPr>
          <p:spPr>
            <a:xfrm>
              <a:off x="3867211" y="40227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FFB1C852-81D2-4110-AC87-5632AD33EDB3}"/>
                </a:ext>
              </a:extLst>
            </p:cNvPr>
            <p:cNvCxnSpPr/>
            <p:nvPr/>
          </p:nvCxnSpPr>
          <p:spPr>
            <a:xfrm>
              <a:off x="3867211" y="42364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3A3769EE-5062-4D7C-B849-879281EFB6B5}"/>
                </a:ext>
              </a:extLst>
            </p:cNvPr>
            <p:cNvCxnSpPr/>
            <p:nvPr/>
          </p:nvCxnSpPr>
          <p:spPr>
            <a:xfrm>
              <a:off x="3867211" y="44594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87566269-BED4-4D55-B516-71A499327D8B}"/>
                </a:ext>
              </a:extLst>
            </p:cNvPr>
            <p:cNvCxnSpPr/>
            <p:nvPr/>
          </p:nvCxnSpPr>
          <p:spPr>
            <a:xfrm>
              <a:off x="3867211" y="466312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9829B1F9-D9B3-4E22-AFEB-8A0464414604}"/>
                </a:ext>
              </a:extLst>
            </p:cNvPr>
            <p:cNvCxnSpPr/>
            <p:nvPr/>
          </p:nvCxnSpPr>
          <p:spPr>
            <a:xfrm>
              <a:off x="3867211" y="48728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99E2CF75-E33C-43FA-A036-558132D81EEA}"/>
                </a:ext>
              </a:extLst>
            </p:cNvPr>
            <p:cNvCxnSpPr/>
            <p:nvPr/>
          </p:nvCxnSpPr>
          <p:spPr>
            <a:xfrm>
              <a:off x="3867211" y="50827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E7C2B84-1023-4901-94F6-4DA2452370C4}"/>
              </a:ext>
            </a:extLst>
          </p:cNvPr>
          <p:cNvGrpSpPr/>
          <p:nvPr/>
        </p:nvGrpSpPr>
        <p:grpSpPr>
          <a:xfrm>
            <a:off x="5113316" y="5021597"/>
            <a:ext cx="76863" cy="292489"/>
            <a:chOff x="3750067" y="4683795"/>
            <a:chExt cx="76863" cy="292489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3F44AC6F-ACE7-4C8E-B7D7-8566E67FDD43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1F15708D-2C6A-4037-9225-B9515037C1CE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90E4C537-5320-4F97-887B-AD37CA71A771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33004DC-8D2F-4DAA-BB58-E95A6C2EAFCC}"/>
              </a:ext>
            </a:extLst>
          </p:cNvPr>
          <p:cNvSpPr/>
          <p:nvPr/>
        </p:nvSpPr>
        <p:spPr>
          <a:xfrm>
            <a:off x="645812" y="2760074"/>
            <a:ext cx="2749316" cy="6112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4EE8C7F6-A662-462F-BFAA-23F87528F019}"/>
              </a:ext>
            </a:extLst>
          </p:cNvPr>
          <p:cNvCxnSpPr>
            <a:stCxn id="83" idx="3"/>
          </p:cNvCxnSpPr>
          <p:nvPr/>
        </p:nvCxnSpPr>
        <p:spPr>
          <a:xfrm flipV="1">
            <a:off x="3395128" y="2273335"/>
            <a:ext cx="3911605" cy="79236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59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92DB557B-6641-403F-AC11-822FE4BBD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621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검색조건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클릭 이벤트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계약정보목록 데이터 영역</a:t>
            </a:r>
          </a:p>
        </p:txBody>
      </p:sp>
      <p:sp>
        <p:nvSpPr>
          <p:cNvPr id="8" name="텍스트 개체 틀 9">
            <a:extLst>
              <a:ext uri="{FF2B5EF4-FFF2-40B4-BE49-F238E27FC236}">
                <a16:creationId xmlns:a16="http://schemas.microsoft.com/office/drawing/2014/main" id="{AB56ABCC-3F32-45E9-87A2-0EE623B9EF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91506D8-823B-4A34-AFD2-3B3E8468B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7C8E4C7D-07B1-461C-9C4D-62CF4ADFA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57ACFB54-1D1D-4136-940A-452C796288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75C960-0374-4071-88EE-AB7F3C7179A9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A10801-987B-414E-8CDE-2007129BE740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015BC-CDA6-4959-BEBE-81EDBE1CC111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" name="양쪽 모서리가 둥근 사각형 295">
            <a:extLst>
              <a:ext uri="{FF2B5EF4-FFF2-40B4-BE49-F238E27FC236}">
                <a16:creationId xmlns:a16="http://schemas.microsoft.com/office/drawing/2014/main" id="{29CED0B1-1FA4-4ED1-9B18-2305D6567787}"/>
              </a:ext>
            </a:extLst>
          </p:cNvPr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296">
            <a:extLst>
              <a:ext uri="{FF2B5EF4-FFF2-40B4-BE49-F238E27FC236}">
                <a16:creationId xmlns:a16="http://schemas.microsoft.com/office/drawing/2014/main" id="{B7118C5E-A9D7-445D-BF37-C2F0B6806647}"/>
              </a:ext>
            </a:extLst>
          </p:cNvPr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A60DA0A-59A6-48B7-9F03-5DE1AA4A52C3}"/>
              </a:ext>
            </a:extLst>
          </p:cNvPr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33484C0-58C0-4A3F-94D2-1AF217162768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F21539A-7C6A-4B2C-A928-977C2C69B7A3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895ADA6-19B5-4116-97AB-EC2B870A3A76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BD12DF4-7F0B-47C2-9A22-3B1350020C64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71907F6B-EE9D-4B8C-8E9B-B8E2591A647B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1864B2E-A99A-47F0-8721-221DC304A128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3DAA91C-B08D-4A62-B02A-2241E8AE864E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1DD63-650E-4F60-ADE4-2B8069DA16E2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6" name="양쪽 모서리가 둥근 사각형 118">
            <a:extLst>
              <a:ext uri="{FF2B5EF4-FFF2-40B4-BE49-F238E27FC236}">
                <a16:creationId xmlns:a16="http://schemas.microsoft.com/office/drawing/2014/main" id="{096751A7-843F-4763-93A4-2AAED6FA9188}"/>
              </a:ext>
            </a:extLst>
          </p:cNvPr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" name="모서리가 둥근 직사각형 121">
            <a:extLst>
              <a:ext uri="{FF2B5EF4-FFF2-40B4-BE49-F238E27FC236}">
                <a16:creationId xmlns:a16="http://schemas.microsoft.com/office/drawing/2014/main" id="{F6161369-F524-4D17-BE94-44622EFEC97A}"/>
              </a:ext>
            </a:extLst>
          </p:cNvPr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DDD469F-1D04-42BA-95E8-6192C0DB3AB0}"/>
              </a:ext>
            </a:extLst>
          </p:cNvPr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7E81B75-B350-4522-B281-C78385F84C69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F7738FF-F72C-4CF2-9CD4-56DCDF00CC78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1ED0758-036A-4236-B4AF-F85D404340EC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B775A17-9894-48D9-A6AB-C07D42235F48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모서리가 둥근 직사각형 125">
            <a:extLst>
              <a:ext uri="{FF2B5EF4-FFF2-40B4-BE49-F238E27FC236}">
                <a16:creationId xmlns:a16="http://schemas.microsoft.com/office/drawing/2014/main" id="{4A5D9F2C-F535-4108-891B-15F905B17198}"/>
              </a:ext>
            </a:extLst>
          </p:cNvPr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35E60-6531-4CDB-A761-AAAF9964A2F4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5" name="사각형: 둥근 모서리 15">
            <a:extLst>
              <a:ext uri="{FF2B5EF4-FFF2-40B4-BE49-F238E27FC236}">
                <a16:creationId xmlns:a16="http://schemas.microsoft.com/office/drawing/2014/main" id="{CBEF03CE-4539-4747-AF2E-48CC981B791D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F7509B1-4038-4B43-8A5A-57AEB4E2B499}"/>
              </a:ext>
            </a:extLst>
          </p:cNvPr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838EA36-5BBF-4EFA-81E5-2C3D0644B0D7}"/>
              </a:ext>
            </a:extLst>
          </p:cNvPr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1716FFF8-25E6-4D01-BF45-788C871A5C10}"/>
                </a:ext>
              </a:extLst>
            </p:cNvPr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71E864B-EDB2-4D45-95DC-FE3073196FCD}"/>
                </a:ext>
              </a:extLst>
            </p:cNvPr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EFA7B2B-D18B-4AA9-A460-6E9291521934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FD4D98B-1EAB-4C67-B167-A979C76947BC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2" name="모서리가 둥근 직사각형 66">
            <a:extLst>
              <a:ext uri="{FF2B5EF4-FFF2-40B4-BE49-F238E27FC236}">
                <a16:creationId xmlns:a16="http://schemas.microsoft.com/office/drawing/2014/main" id="{230C8B6A-C144-4BEF-B6F5-FD5A74127B5F}"/>
              </a:ext>
            </a:extLst>
          </p:cNvPr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6ADAC8-41B9-498A-A034-3B60A3DAEF28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계약연도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4E1554D-5916-4173-87FD-D1568E2BF03C}"/>
              </a:ext>
            </a:extLst>
          </p:cNvPr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B3144819-4E5E-4D78-988D-84B927A2F81F}"/>
                </a:ext>
              </a:extLst>
            </p:cNvPr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732163E0-63BD-4713-83D3-CB2AD23A986D}"/>
                </a:ext>
              </a:extLst>
            </p:cNvPr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8669DC9-2186-423E-B4DE-F37B67DFBCA7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8C2032-1911-4D59-AB8B-684F7E51830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모서리가 둥근 직사각형 78">
            <a:extLst>
              <a:ext uri="{FF2B5EF4-FFF2-40B4-BE49-F238E27FC236}">
                <a16:creationId xmlns:a16="http://schemas.microsoft.com/office/drawing/2014/main" id="{6F6241BF-E114-4FA7-8DD5-F284A8DC5BB3}"/>
              </a:ext>
            </a:extLst>
          </p:cNvPr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1F850D-E81B-47B5-B013-19BB62C6D478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61C748-219F-4DCE-B4A3-145D02AB8FAF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8C970C3-72B8-4EFE-B445-091EEE98CF82}"/>
              </a:ext>
            </a:extLst>
          </p:cNvPr>
          <p:cNvSpPr/>
          <p:nvPr/>
        </p:nvSpPr>
        <p:spPr>
          <a:xfrm>
            <a:off x="573754" y="416080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D9AA8D-2D22-43FE-91AF-4F18A7C4B1B0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F6BC34-9B70-466F-8754-D82E6881E83B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55" name="모서리가 둥근 직사각형 91">
            <a:extLst>
              <a:ext uri="{FF2B5EF4-FFF2-40B4-BE49-F238E27FC236}">
                <a16:creationId xmlns:a16="http://schemas.microsoft.com/office/drawing/2014/main" id="{FA478C22-2A84-4BC8-B986-0F9D4AA9A9DA}"/>
              </a:ext>
            </a:extLst>
          </p:cNvPr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3FA1EF-A3C1-45FC-936E-225823B10CD9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F0EFC7-3322-47EB-A230-ED8C4F4B39AD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B474C7-4201-458B-84DE-582DA81B7AF0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59" name="모서리가 둥근 직사각형 95">
            <a:extLst>
              <a:ext uri="{FF2B5EF4-FFF2-40B4-BE49-F238E27FC236}">
                <a16:creationId xmlns:a16="http://schemas.microsoft.com/office/drawing/2014/main" id="{717F8A9F-F884-471C-AB78-6343F1FD4F81}"/>
              </a:ext>
            </a:extLst>
          </p:cNvPr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93CB63-3E95-4392-9EBA-2EDB4DFC51FE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899E21-8B27-44DF-A7D5-5814307ECE66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1BC526-6F62-4E71-943B-153AE86AEB95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63" name="모서리가 둥근 직사각형 99">
            <a:extLst>
              <a:ext uri="{FF2B5EF4-FFF2-40B4-BE49-F238E27FC236}">
                <a16:creationId xmlns:a16="http://schemas.microsoft.com/office/drawing/2014/main" id="{23CE9B6C-D68B-4639-8BD3-EC0AB0FEAD64}"/>
              </a:ext>
            </a:extLst>
          </p:cNvPr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670BD4-7DB1-4F15-A269-67AF3EE4F20B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E7FE4B-3E5A-4A3B-9307-15130387C964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DF9363-31A0-4B96-A9E2-47D6B523243D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67" name="사각형: 둥근 모서리 31">
            <a:extLst>
              <a:ext uri="{FF2B5EF4-FFF2-40B4-BE49-F238E27FC236}">
                <a16:creationId xmlns:a16="http://schemas.microsoft.com/office/drawing/2014/main" id="{00BFC27B-74B5-46B5-B57F-0C735B600A13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CB79754-FE0A-4040-9BEA-E54F738D4AF5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84129B9-53E1-4457-9706-2395120CF418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3EA8C4D-E5E7-406D-9920-54888B925ACA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AE497A1-D33D-4BC7-BBCF-D67387137946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2CB0059F-7C30-4C56-80E3-4F4144876253}"/>
              </a:ext>
            </a:extLst>
          </p:cNvPr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41746B1-FE20-4CFA-959D-BAD01A089847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사각형: 둥근 모서리 15">
              <a:extLst>
                <a:ext uri="{FF2B5EF4-FFF2-40B4-BE49-F238E27FC236}">
                  <a16:creationId xmlns:a16="http://schemas.microsoft.com/office/drawing/2014/main" id="{078DE555-8FEC-4623-827D-D3B81D2FC28A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사각형: 둥근 모서리 15">
              <a:extLst>
                <a:ext uri="{FF2B5EF4-FFF2-40B4-BE49-F238E27FC236}">
                  <a16:creationId xmlns:a16="http://schemas.microsoft.com/office/drawing/2014/main" id="{53BBB429-5EF1-4967-A23C-DEBF3670DE8C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76" name="모서리가 둥근 직사각형 335">
            <a:extLst>
              <a:ext uri="{FF2B5EF4-FFF2-40B4-BE49-F238E27FC236}">
                <a16:creationId xmlns:a16="http://schemas.microsoft.com/office/drawing/2014/main" id="{AA05F0F1-D1E4-4138-8C62-C7903D7F954F}"/>
              </a:ext>
            </a:extLst>
          </p:cNvPr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6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>
          <a:solidFill>
            <a:schemeClr val="bg1">
              <a:lumMod val="75000"/>
            </a:schemeClr>
          </a:solidFill>
        </a:ln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8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16468</TotalTime>
  <Words>923</Words>
  <Application>Microsoft Office PowerPoint</Application>
  <PresentationFormat>A4 용지(210x297mm)</PresentationFormat>
  <Paragraphs>422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Pretendard Medium</vt:lpstr>
      <vt:lpstr>맑은 고딕</vt:lpstr>
      <vt:lpstr>Arial</vt:lpstr>
      <vt:lpstr>Calibri</vt:lpstr>
      <vt:lpstr>Calibri Light</vt:lpstr>
      <vt:lpstr>Segoe UI</vt:lpstr>
      <vt:lpstr>Times New Roman</vt:lpstr>
      <vt:lpstr>Verdana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User</cp:lastModifiedBy>
  <cp:revision>751</cp:revision>
  <dcterms:created xsi:type="dcterms:W3CDTF">2026-04-02T04:35:53Z</dcterms:created>
  <dcterms:modified xsi:type="dcterms:W3CDTF">2026-06-22T08:18:58Z</dcterms:modified>
</cp:coreProperties>
</file>