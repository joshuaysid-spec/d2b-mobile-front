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0" r:id="rId1"/>
  </p:sldMasterIdLst>
  <p:notesMasterIdLst>
    <p:notesMasterId r:id="rId65"/>
  </p:notesMasterIdLst>
  <p:handoutMasterIdLst>
    <p:handoutMasterId r:id="rId66"/>
  </p:handoutMasterIdLst>
  <p:sldIdLst>
    <p:sldId id="256" r:id="rId2"/>
    <p:sldId id="759" r:id="rId3"/>
    <p:sldId id="356" r:id="rId4"/>
    <p:sldId id="260" r:id="rId5"/>
    <p:sldId id="264" r:id="rId6"/>
    <p:sldId id="624" r:id="rId7"/>
    <p:sldId id="358" r:id="rId8"/>
    <p:sldId id="758" r:id="rId9"/>
    <p:sldId id="292" r:id="rId10"/>
    <p:sldId id="760" r:id="rId11"/>
    <p:sldId id="761" r:id="rId12"/>
    <p:sldId id="630" r:id="rId13"/>
    <p:sldId id="631" r:id="rId14"/>
    <p:sldId id="633" r:id="rId15"/>
    <p:sldId id="709" r:id="rId16"/>
    <p:sldId id="762" r:id="rId17"/>
    <p:sldId id="763" r:id="rId18"/>
    <p:sldId id="764" r:id="rId19"/>
    <p:sldId id="713" r:id="rId20"/>
    <p:sldId id="714" r:id="rId21"/>
    <p:sldId id="715" r:id="rId22"/>
    <p:sldId id="716" r:id="rId23"/>
    <p:sldId id="765" r:id="rId24"/>
    <p:sldId id="766" r:id="rId25"/>
    <p:sldId id="767" r:id="rId26"/>
    <p:sldId id="700" r:id="rId27"/>
    <p:sldId id="768" r:id="rId28"/>
    <p:sldId id="722" r:id="rId29"/>
    <p:sldId id="723" r:id="rId30"/>
    <p:sldId id="724" r:id="rId31"/>
    <p:sldId id="725" r:id="rId32"/>
    <p:sldId id="726" r:id="rId33"/>
    <p:sldId id="769" r:id="rId34"/>
    <p:sldId id="770" r:id="rId35"/>
    <p:sldId id="771" r:id="rId36"/>
    <p:sldId id="730" r:id="rId37"/>
    <p:sldId id="731" r:id="rId38"/>
    <p:sldId id="732" r:id="rId39"/>
    <p:sldId id="733" r:id="rId40"/>
    <p:sldId id="734" r:id="rId41"/>
    <p:sldId id="772" r:id="rId42"/>
    <p:sldId id="773" r:id="rId43"/>
    <p:sldId id="774" r:id="rId44"/>
    <p:sldId id="738" r:id="rId45"/>
    <p:sldId id="739" r:id="rId46"/>
    <p:sldId id="740" r:id="rId47"/>
    <p:sldId id="742" r:id="rId48"/>
    <p:sldId id="775" r:id="rId49"/>
    <p:sldId id="776" r:id="rId50"/>
    <p:sldId id="745" r:id="rId51"/>
    <p:sldId id="746" r:id="rId52"/>
    <p:sldId id="748" r:id="rId53"/>
    <p:sldId id="749" r:id="rId54"/>
    <p:sldId id="750" r:id="rId55"/>
    <p:sldId id="777" r:id="rId56"/>
    <p:sldId id="778" r:id="rId57"/>
    <p:sldId id="779" r:id="rId58"/>
    <p:sldId id="720" r:id="rId59"/>
    <p:sldId id="704" r:id="rId60"/>
    <p:sldId id="670" r:id="rId61"/>
    <p:sldId id="780" r:id="rId62"/>
    <p:sldId id="756" r:id="rId63"/>
    <p:sldId id="781" r:id="rId64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E17E9566-FE8C-4BF9-8A43-99A4B4FC8091}">
          <p14:sldIdLst>
            <p14:sldId id="256"/>
            <p14:sldId id="759"/>
            <p14:sldId id="356"/>
            <p14:sldId id="260"/>
          </p14:sldIdLst>
        </p14:section>
        <p14:section name="목록" id="{A88D8C4A-42D5-488C-851B-9A15CEB54A60}">
          <p14:sldIdLst>
            <p14:sldId id="264"/>
            <p14:sldId id="624"/>
          </p14:sldIdLst>
        </p14:section>
        <p14:section name="1.계약통합목록" id="{BB5718C8-07C1-4018-9189-79486BE9C0C5}">
          <p14:sldIdLst>
            <p14:sldId id="358"/>
            <p14:sldId id="758"/>
            <p14:sldId id="292"/>
            <p14:sldId id="760"/>
            <p14:sldId id="761"/>
            <p14:sldId id="630"/>
            <p14:sldId id="631"/>
            <p14:sldId id="633"/>
            <p14:sldId id="709"/>
            <p14:sldId id="762"/>
            <p14:sldId id="763"/>
            <p14:sldId id="764"/>
            <p14:sldId id="713"/>
            <p14:sldId id="714"/>
            <p14:sldId id="715"/>
            <p14:sldId id="716"/>
            <p14:sldId id="765"/>
            <p14:sldId id="766"/>
            <p14:sldId id="767"/>
            <p14:sldId id="700"/>
            <p14:sldId id="768"/>
            <p14:sldId id="722"/>
            <p14:sldId id="723"/>
            <p14:sldId id="724"/>
            <p14:sldId id="725"/>
            <p14:sldId id="726"/>
            <p14:sldId id="769"/>
            <p14:sldId id="770"/>
            <p14:sldId id="771"/>
            <p14:sldId id="730"/>
            <p14:sldId id="731"/>
            <p14:sldId id="732"/>
            <p14:sldId id="733"/>
            <p14:sldId id="734"/>
            <p14:sldId id="772"/>
            <p14:sldId id="773"/>
            <p14:sldId id="774"/>
            <p14:sldId id="738"/>
            <p14:sldId id="739"/>
            <p14:sldId id="740"/>
            <p14:sldId id="742"/>
            <p14:sldId id="775"/>
            <p14:sldId id="776"/>
            <p14:sldId id="745"/>
            <p14:sldId id="746"/>
            <p14:sldId id="748"/>
            <p14:sldId id="749"/>
            <p14:sldId id="750"/>
            <p14:sldId id="777"/>
            <p14:sldId id="778"/>
            <p14:sldId id="779"/>
            <p14:sldId id="720"/>
            <p14:sldId id="704"/>
          </p14:sldIdLst>
        </p14:section>
        <p14:section name="2.대금지불정보(반납)" id="{ADA4911A-617C-45D8-B34E-F8DEC2891795}">
          <p14:sldIdLst>
            <p14:sldId id="670"/>
            <p14:sldId id="780"/>
            <p14:sldId id="756"/>
            <p14:sldId id="7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D0D0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84" autoAdjust="0"/>
    <p:restoredTop sz="94660"/>
  </p:normalViewPr>
  <p:slideViewPr>
    <p:cSldViewPr snapToGrid="0">
      <p:cViewPr varScale="1">
        <p:scale>
          <a:sx n="177" d="100"/>
          <a:sy n="177" d="100"/>
        </p:scale>
        <p:origin x="1072" y="104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996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86772-663E-498C-98A4-55676C0C79D5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28BB6-27BE-4996-B82F-8E6CE98335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904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80DED-BD55-4631-A63F-CC2459F192F4}" type="datetimeFigureOut">
              <a:rPr lang="ko-KR" altLang="en-US" smtClean="0"/>
              <a:t>2026-06-12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E14ED1-D705-4645-B89F-2D03A70CCA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7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018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650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1250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E14ED1-D705-4645-B89F-2D03A70CCA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57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D56036D5-DD5F-441E-9594-5002CA0E85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95427" y="5938279"/>
            <a:ext cx="1331674" cy="1648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6694" y="1306235"/>
            <a:ext cx="8640000" cy="612000"/>
          </a:xfrm>
          <a:prstGeom prst="rect">
            <a:avLst/>
          </a:prstGeom>
          <a:ln w="12700">
            <a:noFill/>
          </a:ln>
        </p:spPr>
        <p:txBody>
          <a:bodyPr anchor="b"/>
          <a:lstStyle>
            <a:lvl1pPr algn="r">
              <a:lnSpc>
                <a:spcPct val="100000"/>
              </a:lnSpc>
              <a:defRPr sz="2400" b="1" u="none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669" y="1942226"/>
            <a:ext cx="8649025" cy="396376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00000"/>
              </a:lnSpc>
              <a:buNone/>
              <a:defRPr sz="16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마스터 부제목 스타일 편집</a:t>
            </a:r>
            <a:endParaRPr lang="en-US" dirty="0"/>
          </a:p>
        </p:txBody>
      </p:sp>
      <p:cxnSp>
        <p:nvCxnSpPr>
          <p:cNvPr id="8" name="직선 연결선 7"/>
          <p:cNvCxnSpPr/>
          <p:nvPr userDrawn="1"/>
        </p:nvCxnSpPr>
        <p:spPr>
          <a:xfrm>
            <a:off x="637669" y="1925053"/>
            <a:ext cx="864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표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922239"/>
              </p:ext>
            </p:extLst>
          </p:nvPr>
        </p:nvGraphicFramePr>
        <p:xfrm>
          <a:off x="4551204" y="3815479"/>
          <a:ext cx="4744543" cy="952503"/>
        </p:xfrm>
        <a:graphic>
          <a:graphicData uri="http://schemas.openxmlformats.org/drawingml/2006/table">
            <a:tbl>
              <a:tblPr firstRow="1" firstCol="1" bandRow="1"/>
              <a:tblGrid>
                <a:gridCol w="971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31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프로젝트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sz="1000" b="1" kern="100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Times New Roman" panose="02020603050405020304" pitchFamily="18" charset="0"/>
                        </a:rPr>
                        <a:t>문서번호</a:t>
                      </a: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ko-KR" altLang="en-US" sz="1000" b="1" kern="100" dirty="0" err="1">
                          <a:effectLst/>
                          <a:latin typeface="맑은 고딕" panose="020B0503020000020004" pitchFamily="50" charset="-127"/>
                          <a:ea typeface="+mn-ea"/>
                          <a:cs typeface="Times New Roman" panose="02020603050405020304" pitchFamily="18" charset="0"/>
                        </a:rPr>
                        <a:t>제개정이력</a:t>
                      </a:r>
                      <a:endParaRPr lang="ko-KR" sz="1000" b="1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ko-KR" sz="10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36195" marR="36195" marT="36195" marB="3619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5183031"/>
                  </a:ext>
                </a:extLst>
              </a:tr>
            </a:tbl>
          </a:graphicData>
        </a:graphic>
      </p:graphicFrame>
      <p:sp>
        <p:nvSpPr>
          <p:cNvPr id="14" name="텍스트 개체 틀 12"/>
          <p:cNvSpPr>
            <a:spLocks noGrp="1"/>
          </p:cNvSpPr>
          <p:nvPr>
            <p:ph type="body" sz="quarter" idx="11"/>
          </p:nvPr>
        </p:nvSpPr>
        <p:spPr>
          <a:xfrm>
            <a:off x="5540722" y="3848071"/>
            <a:ext cx="3736946" cy="2520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ko-KR" altLang="ko-KR" sz="1000" kern="100" dirty="0">
              <a:effectLst/>
              <a:latin typeface="맑은 고딕" panose="020B0503020000020004" pitchFamily="50" charset="-127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텍스트 개체 틀 12"/>
          <p:cNvSpPr>
            <a:spLocks noGrp="1"/>
          </p:cNvSpPr>
          <p:nvPr>
            <p:ph type="body" sz="quarter" idx="12"/>
          </p:nvPr>
        </p:nvSpPr>
        <p:spPr>
          <a:xfrm>
            <a:off x="5540722" y="416352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직사각형 12"/>
          <p:cNvSpPr/>
          <p:nvPr userDrawn="1"/>
        </p:nvSpPr>
        <p:spPr>
          <a:xfrm>
            <a:off x="1527804" y="6225242"/>
            <a:ext cx="6858548" cy="408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en-US" altLang="ko-KR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Copyright © 2025 by </a:t>
            </a: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</a:t>
            </a:r>
            <a:endParaRPr lang="en-US" altLang="ko-KR" sz="900" kern="100" dirty="0">
              <a:effectLst/>
              <a:latin typeface="+mn-ea"/>
              <a:ea typeface="+mn-ea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lang="ko-KR" altLang="en-US" sz="900" kern="1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방위사업청의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사전 승인 없이 본 내용의 전부 또는 일부에 대한 복사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전재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배포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, </a:t>
            </a:r>
            <a:r>
              <a:rPr lang="ko-KR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사용을 금합니다</a:t>
            </a:r>
            <a:r>
              <a:rPr lang="en-US" altLang="ko-KR" sz="900" dirty="0">
                <a:effectLst/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endParaRPr lang="ko-KR" altLang="en-US" sz="900" dirty="0">
              <a:latin typeface="+mn-ea"/>
              <a:ea typeface="+mn-ea"/>
            </a:endParaRPr>
          </a:p>
        </p:txBody>
      </p:sp>
      <p:sp>
        <p:nvSpPr>
          <p:cNvPr id="12" name="텍스트 개체 틀 12"/>
          <p:cNvSpPr>
            <a:spLocks noGrp="1"/>
          </p:cNvSpPr>
          <p:nvPr>
            <p:ph type="body" sz="quarter" idx="13"/>
          </p:nvPr>
        </p:nvSpPr>
        <p:spPr>
          <a:xfrm>
            <a:off x="5540722" y="4479945"/>
            <a:ext cx="3736946" cy="252000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10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  <p:pic>
        <p:nvPicPr>
          <p:cNvPr id="17" name="그림 16" descr="그래픽, 폰트, 그래픽 디자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9D3F7C-59D2-46B0-9671-095C3D9268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641" y="465349"/>
            <a:ext cx="1005840" cy="340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303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정이력/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622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0" name="텍스트 개체 틀 12"/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u="sng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577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57199" y="612000"/>
            <a:ext cx="9001125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4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66025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제목&amp;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734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>
          <a:xfrm>
            <a:off x="467025" y="612000"/>
            <a:ext cx="9000000" cy="324000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200" b="1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1038808"/>
            <a:ext cx="9000000" cy="5424196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10315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457200" y="612000"/>
            <a:ext cx="9000000" cy="5851004"/>
          </a:xfrm>
          <a:prstGeom prst="rect">
            <a:avLst/>
          </a:prstGeom>
        </p:spPr>
        <p:txBody>
          <a:bodyPr anchor="t"/>
          <a:lstStyle>
            <a:lvl1pPr marL="0" indent="0">
              <a:lnSpc>
                <a:spcPct val="150000"/>
              </a:lnSpc>
              <a:buNone/>
              <a:defRPr sz="1100" b="0"/>
            </a:lvl1pPr>
            <a:lvl2pPr marL="457200" indent="0">
              <a:buNone/>
              <a:defRPr sz="1200" b="1"/>
            </a:lvl2pPr>
            <a:lvl3pPr marL="914400" indent="0">
              <a:buNone/>
              <a:defRPr sz="1200" b="1"/>
            </a:lvl3pPr>
            <a:lvl4pPr marL="1371600" indent="0">
              <a:buNone/>
              <a:defRPr sz="1200" b="1"/>
            </a:lvl4pPr>
            <a:lvl5pPr marL="1828800" indent="0">
              <a:buNone/>
              <a:defRPr sz="12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396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서식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34C8E023-7346-48FC-AB24-9A3388C5320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547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인터페이스 이미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72137626"/>
              </p:ext>
            </p:extLst>
          </p:nvPr>
        </p:nvGraphicFramePr>
        <p:xfrm>
          <a:off x="458167" y="719999"/>
          <a:ext cx="8988374" cy="57554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9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1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5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8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4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433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765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</a:t>
                      </a:r>
                      <a:r>
                        <a:rPr lang="en-US" altLang="ko-KR" sz="900" b="1" baseline="0" dirty="0"/>
                        <a:t> ID</a:t>
                      </a:r>
                      <a:endParaRPr lang="ko-KR" altLang="en-US" sz="900" b="1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UI </a:t>
                      </a:r>
                      <a:r>
                        <a:rPr lang="ko-KR" altLang="en-US" sz="900" b="1" dirty="0"/>
                        <a:t>명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화면경로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개요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322">
                <a:tc rowSpan="2" gridSpan="6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/>
                        <a:t>설명 및 특이사항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81007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텍스트 개체 틀 5"/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  <a:prstGeom prst="rect">
            <a:avLst/>
          </a:prstGeom>
        </p:spPr>
        <p:txBody>
          <a:bodyPr/>
          <a:lstStyle>
            <a:lvl1pPr marL="87313" indent="-87313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7" name="슬라이드 번호 개체 틀 10"/>
          <p:cNvSpPr>
            <a:spLocks noGrp="1"/>
          </p:cNvSpPr>
          <p:nvPr>
            <p:ph type="sldNum" sz="quarter" idx="4"/>
          </p:nvPr>
        </p:nvSpPr>
        <p:spPr>
          <a:xfrm>
            <a:off x="4327200" y="6590501"/>
            <a:ext cx="125812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fld id="{9DF8E3FD-B4FB-473B-BCAD-C4534B9A9D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1" name="텍스트 개체 틀 10"/>
          <p:cNvSpPr>
            <a:spLocks noGrp="1"/>
          </p:cNvSpPr>
          <p:nvPr>
            <p:ph type="body" sz="quarter" idx="12"/>
          </p:nvPr>
        </p:nvSpPr>
        <p:spPr>
          <a:xfrm>
            <a:off x="3390640" y="755764"/>
            <a:ext cx="2101850" cy="162201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10"/>
          <p:cNvSpPr>
            <a:spLocks noGrp="1"/>
          </p:cNvSpPr>
          <p:nvPr>
            <p:ph type="body" sz="quarter" idx="13"/>
          </p:nvPr>
        </p:nvSpPr>
        <p:spPr>
          <a:xfrm>
            <a:off x="956623" y="1010025"/>
            <a:ext cx="8434506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3" name="텍스트 개체 틀 10"/>
          <p:cNvSpPr>
            <a:spLocks noGrp="1"/>
          </p:cNvSpPr>
          <p:nvPr>
            <p:ph type="body" sz="quarter" idx="14"/>
          </p:nvPr>
        </p:nvSpPr>
        <p:spPr>
          <a:xfrm>
            <a:off x="6238614" y="755764"/>
            <a:ext cx="3140076" cy="177622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5"/>
          </p:nvPr>
        </p:nvSpPr>
        <p:spPr>
          <a:xfrm>
            <a:off x="956623" y="755764"/>
            <a:ext cx="1404000" cy="193878"/>
          </a:xfrm>
          <a:prstGeom prst="rect">
            <a:avLst/>
          </a:prstGeom>
        </p:spPr>
        <p:txBody>
          <a:bodyPr lIns="72000" tIns="36000" rIns="72000" bIns="3600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9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9716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11E9F2C-2481-4ADA-BED0-11F45689328C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8685200" y="6640342"/>
            <a:ext cx="738733" cy="91480"/>
          </a:xfrm>
          <a:prstGeom prst="rect">
            <a:avLst/>
          </a:prstGeom>
        </p:spPr>
      </p:pic>
      <p:cxnSp>
        <p:nvCxnSpPr>
          <p:cNvPr id="8" name="직선 연결선 7"/>
          <p:cNvCxnSpPr/>
          <p:nvPr userDrawn="1"/>
        </p:nvCxnSpPr>
        <p:spPr>
          <a:xfrm>
            <a:off x="445168" y="540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 userDrawn="1"/>
        </p:nvCxnSpPr>
        <p:spPr>
          <a:xfrm>
            <a:off x="465216" y="6588000"/>
            <a:ext cx="900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 userDrawn="1"/>
        </p:nvSpPr>
        <p:spPr>
          <a:xfrm>
            <a:off x="4950372" y="376754"/>
            <a:ext cx="4519928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r"/>
            <a:r>
              <a:rPr lang="ko-KR" altLang="en-US" sz="1000" b="1" kern="100" dirty="0" err="1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사용자인터페이스정의서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 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– 05.</a:t>
            </a:r>
            <a:r>
              <a:rPr lang="ko-KR" altLang="en-US" sz="1000" b="1" kern="100" dirty="0" err="1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대금청구및사후</a:t>
            </a:r>
            <a:r>
              <a:rPr lang="en-US" altLang="ko-KR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-</a:t>
            </a:r>
            <a:r>
              <a:rPr lang="ko-KR" altLang="en-US" sz="1000" b="1" kern="100" dirty="0">
                <a:effectLst/>
                <a:latin typeface="맑은 고딕" panose="020B0503020000020004" pitchFamily="50" charset="-127"/>
                <a:ea typeface="+mn-ea"/>
                <a:cs typeface="Times New Roman" panose="02020603050405020304" pitchFamily="18" charset="0"/>
              </a:rPr>
              <a:t>모바일</a:t>
            </a:r>
            <a:endParaRPr lang="ko-KR" altLang="en-US" sz="1000" dirty="0"/>
          </a:p>
        </p:txBody>
      </p:sp>
      <p:sp>
        <p:nvSpPr>
          <p:cNvPr id="10" name="직사각형 9"/>
          <p:cNvSpPr/>
          <p:nvPr userDrawn="1"/>
        </p:nvSpPr>
        <p:spPr>
          <a:xfrm>
            <a:off x="445168" y="376754"/>
            <a:ext cx="393945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1000" b="1" kern="100" dirty="0">
                <a:effectLst/>
              </a:rPr>
              <a:t>국방전자조달시스템 고도화 구축사업</a:t>
            </a:r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3BECD7E0-1778-4975-BFA0-E9C4CE243F54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474463" y="6577231"/>
            <a:ext cx="668534" cy="233715"/>
          </a:xfrm>
          <a:prstGeom prst="rect">
            <a:avLst/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401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7" r:id="rId3"/>
    <p:sldLayoutId id="2147483664" r:id="rId4"/>
    <p:sldLayoutId id="2147483665" r:id="rId5"/>
    <p:sldLayoutId id="2147483666" r:id="rId6"/>
    <p:sldLayoutId id="2147483668" r:id="rId7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제목 5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사용자인터페이스 설계서 </a:t>
            </a:r>
            <a:r>
              <a:rPr lang="en-US" altLang="ko-KR" dirty="0"/>
              <a:t>- </a:t>
            </a:r>
            <a:r>
              <a:rPr lang="ko-KR" altLang="en-US" dirty="0"/>
              <a:t>모바일</a:t>
            </a:r>
          </a:p>
        </p:txBody>
      </p:sp>
      <p:sp>
        <p:nvSpPr>
          <p:cNvPr id="54" name="부제목 5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05.</a:t>
            </a:r>
            <a:r>
              <a:rPr lang="ko-KR" altLang="en-US" dirty="0" err="1"/>
              <a:t>대금청구및사후</a:t>
            </a:r>
            <a:endParaRPr lang="ko-KR" altLang="en-US" dirty="0"/>
          </a:p>
        </p:txBody>
      </p:sp>
      <p:sp>
        <p:nvSpPr>
          <p:cNvPr id="56" name="텍스트 개체 틀 55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국방전자조달시스템 고도화 구축사업</a:t>
            </a:r>
          </a:p>
        </p:txBody>
      </p:sp>
      <p:sp>
        <p:nvSpPr>
          <p:cNvPr id="57" name="텍스트 개체 틀 5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D2BA-AP-3CD-0601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2026.06.19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5632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4" name="텍스트 개체 틀 15">
            <a:extLst>
              <a:ext uri="{FF2B5EF4-FFF2-40B4-BE49-F238E27FC236}">
                <a16:creationId xmlns:a16="http://schemas.microsoft.com/office/drawing/2014/main" id="{44A815B9-A3EA-BA0B-410C-A69AB9D1A0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50485" y="821363"/>
            <a:ext cx="5400000" cy="417890"/>
          </a:xfrm>
        </p:spPr>
        <p:txBody>
          <a:bodyPr/>
          <a:lstStyle/>
          <a:p>
            <a:r>
              <a:rPr lang="ko-KR" altLang="en-US" dirty="0" err="1"/>
              <a:t>제</a:t>
            </a:r>
            <a:r>
              <a:rPr lang="ko-KR" altLang="en-US" dirty="0" err="1">
                <a:sym typeface="Wingdings" panose="05000000000000000000" pitchFamily="2" charset="2"/>
              </a:rPr>
              <a:t></a:t>
            </a:r>
            <a:r>
              <a:rPr lang="ko-KR" altLang="en-US" dirty="0" err="1"/>
              <a:t>개</a:t>
            </a:r>
            <a:r>
              <a:rPr lang="ko-KR" altLang="en-US" dirty="0"/>
              <a:t>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2831990E-7701-AF86-804F-42A7268A9043}"/>
              </a:ext>
            </a:extLst>
          </p:cNvPr>
          <p:cNvGraphicFramePr>
            <a:graphicFrameLocks noGrp="1"/>
          </p:cNvGraphicFramePr>
          <p:nvPr/>
        </p:nvGraphicFramePr>
        <p:xfrm>
          <a:off x="652374" y="1286787"/>
          <a:ext cx="8782571" cy="2188764"/>
        </p:xfrm>
        <a:graphic>
          <a:graphicData uri="http://schemas.openxmlformats.org/drawingml/2006/table">
            <a:tbl>
              <a:tblPr/>
              <a:tblGrid>
                <a:gridCol w="784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19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9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5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제개정일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버전</a:t>
                      </a:r>
                      <a:endParaRPr lang="ko-KR" altLang="en-US" sz="1000" b="1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제개정내용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작성자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승인자 및 관련근거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2025.11.03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작성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</a:rPr>
                        <a:t>신미영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2026.03.16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0.3.2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서식 수정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김민재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2026.04.23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차 작성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2026.06.16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0.4.1</a:t>
                      </a: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작성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0.5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내부 검토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김영수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권순태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2026.06.19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0.6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설계단계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PL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/>
                          <a:cs typeface="+mn-cs"/>
                        </a:rPr>
                        <a:t>검토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kern="1200" dirty="0" err="1" smtClean="0">
                          <a:solidFill>
                            <a:srgbClr val="000000"/>
                          </a:solidFill>
                          <a:latin typeface="+mn-lt"/>
                          <a:ea typeface="맑은 고딕"/>
                          <a:cs typeface="+mn-cs"/>
                        </a:rPr>
                        <a:t>황종서</a:t>
                      </a:r>
                      <a:endParaRPr lang="ko-KR" altLang="en-US" sz="9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82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0" i="0" u="none" strike="noStrike" kern="120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 kern="1200" dirty="0" smtClean="0">
                        <a:solidFill>
                          <a:srgbClr val="000000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7192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7" name="텍스트 개체 틀 15">
            <a:extLst>
              <a:ext uri="{FF2B5EF4-FFF2-40B4-BE49-F238E27FC236}">
                <a16:creationId xmlns:a16="http://schemas.microsoft.com/office/drawing/2014/main" id="{74E68DA1-2E20-231A-31AD-28EAC2F24FE9}"/>
              </a:ext>
            </a:extLst>
          </p:cNvPr>
          <p:cNvSpPr txBox="1">
            <a:spLocks/>
          </p:cNvSpPr>
          <p:nvPr/>
        </p:nvSpPr>
        <p:spPr>
          <a:xfrm>
            <a:off x="2250485" y="959912"/>
            <a:ext cx="5400000" cy="41789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신구 변경 </a:t>
            </a:r>
            <a:r>
              <a:rPr lang="ko-KR" altLang="en-US" dirty="0" err="1"/>
              <a:t>내용표</a:t>
            </a:r>
            <a:endParaRPr lang="ko-KR" altLang="en-US" dirty="0"/>
          </a:p>
        </p:txBody>
      </p:sp>
      <p:graphicFrame>
        <p:nvGraphicFramePr>
          <p:cNvPr id="8" name="Group 759">
            <a:extLst>
              <a:ext uri="{FF2B5EF4-FFF2-40B4-BE49-F238E27FC236}">
                <a16:creationId xmlns:a16="http://schemas.microsoft.com/office/drawing/2014/main" id="{319C15BD-6050-0EF7-51D6-033B70274342}"/>
              </a:ext>
            </a:extLst>
          </p:cNvPr>
          <p:cNvGraphicFramePr>
            <a:graphicFrameLocks noGrp="1"/>
          </p:cNvGraphicFramePr>
          <p:nvPr/>
        </p:nvGraphicFramePr>
        <p:xfrm>
          <a:off x="652374" y="1416776"/>
          <a:ext cx="8782571" cy="964656"/>
        </p:xfrm>
        <a:graphic>
          <a:graphicData uri="http://schemas.openxmlformats.org/drawingml/2006/table">
            <a:tbl>
              <a:tblPr/>
              <a:tblGrid>
                <a:gridCol w="5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03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5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84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44489">
                  <a:extLst>
                    <a:ext uri="{9D8B030D-6E8A-4147-A177-3AD203B41FA5}">
                      <a16:colId xmlns:a16="http://schemas.microsoft.com/office/drawing/2014/main" val="3538833938"/>
                    </a:ext>
                  </a:extLst>
                </a:gridCol>
                <a:gridCol w="938150">
                  <a:extLst>
                    <a:ext uri="{9D8B030D-6E8A-4147-A177-3AD203B41FA5}">
                      <a16:colId xmlns:a16="http://schemas.microsoft.com/office/drawing/2014/main" val="3926415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순번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구버전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신버전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변경 항목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변경 내용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작성자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6839116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defRPr/>
                      </a:pP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5844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7860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     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960415"/>
              </p:ext>
            </p:extLst>
          </p:nvPr>
        </p:nvGraphicFramePr>
        <p:xfrm>
          <a:off x="988586" y="1265003"/>
          <a:ext cx="7926814" cy="51022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197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02241">
                <a:tc>
                  <a:txBody>
                    <a:bodyPr/>
                    <a:lstStyle/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대금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사후통합목록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1.1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목록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1.2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흐름도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1.3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앱 구성 다이어그램</a:t>
                      </a:r>
                      <a:endParaRPr lang="en-US" altLang="ko-KR" sz="1200" dirty="0">
                        <a:latin typeface="+mn-ea"/>
                        <a:ea typeface="+mn-ea"/>
                      </a:endParaRPr>
                    </a:p>
                    <a:p>
                      <a:pPr marL="0" indent="0" algn="l" latinLnBrk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1.4 </a:t>
                      </a:r>
                      <a:r>
                        <a:rPr lang="ko-KR" altLang="en-US" sz="1200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Layout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4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5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6</a:t>
                      </a:r>
                    </a:p>
                    <a:p>
                      <a:pPr algn="r" latinLnBrk="1">
                        <a:lnSpc>
                          <a:spcPct val="150000"/>
                        </a:lnSpc>
                      </a:pPr>
                      <a:r>
                        <a:rPr lang="en-US" altLang="ko-KR" sz="1200" dirty="0"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9697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2122368-0202-31C8-C260-22B3270E0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27200" y="6588000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E9582C-E43E-5A8F-8BC8-AB0EA50F2DF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8" y="612000"/>
            <a:ext cx="8991601" cy="847274"/>
          </a:xfrm>
        </p:spPr>
        <p:txBody>
          <a:bodyPr anchor="t"/>
          <a:lstStyle/>
          <a:p>
            <a:r>
              <a:rPr lang="en-US" altLang="ko-KR" dirty="0"/>
              <a:t>1.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통합</a:t>
            </a:r>
            <a:r>
              <a:rPr lang="ko-KR" altLang="en-US" dirty="0"/>
              <a:t> 목록</a:t>
            </a:r>
            <a:endParaRPr lang="en-US" altLang="ko-KR" dirty="0"/>
          </a:p>
          <a:p>
            <a:r>
              <a:rPr lang="en-US" altLang="ko-KR" dirty="0"/>
              <a:t>1.1 </a:t>
            </a:r>
            <a:r>
              <a:rPr lang="ko-KR" altLang="en-US" dirty="0"/>
              <a:t>화면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4034666"/>
              </p:ext>
            </p:extLst>
          </p:nvPr>
        </p:nvGraphicFramePr>
        <p:xfrm>
          <a:off x="635474" y="1365204"/>
          <a:ext cx="8701200" cy="6008625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77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5825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화면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>
                          <a:latin typeface="+mn-ea"/>
                          <a:ea typeface="+mn-ea"/>
                        </a:rPr>
                        <a:t>화면명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웹페이지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경로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 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유스케이스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ID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MUI-WM-01-M01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대금청구통합목록조회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PymtClmIntgListPage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진행한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계약목록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조회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MUI-WM-01-M01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검색필터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PymtClmIntgList_SrchFilter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상세 검색을 위한 검색 필터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PymtClmIntgList_SrchFilter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32035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MUI-WM-01-M02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선금신청서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PrpayApfrDtlPage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계약당시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선급지급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조건에 따라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선급신청을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진행한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PymtClmIntgList_SrchFilter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UC-WM-01-01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632487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MUI-WM-01-M03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중도금신청서 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DpsmnItrpyApfrDtlPage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계약당시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지급조건에 따라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대금 신청을</a:t>
                      </a:r>
                      <a:r>
                        <a:rPr lang="ko-KR" altLang="en-US" sz="8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진행한 조회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dpsmnItrpyApfrDtl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DpsmnItrpyApfrDtlPage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UC-WM-01-02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15931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en-US" altLang="ko-KR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MUI-WM-01-P04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착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중도금 지급 상태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선금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착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〮중도금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지급 상태를 조회하는 팝업 화면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PrpayDpsmnItrpyGiveStts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366545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MUI-WM-01-M05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endParaRPr lang="en-US" altLang="ko-KR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 내용에 따라 세부 내용이 변경되어 표시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548756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MUI-WM-01-M05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상세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중앙조달</a:t>
                      </a:r>
                      <a:r>
                        <a:rPr lang="en-US" altLang="ko-KR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en-US" altLang="ko-KR" sz="8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320861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MUI-WM-01-M06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SbsdPrcmPymtClmDtl</a:t>
                      </a:r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SbsdPrcmPymtClmDtlPage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40808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CstrnPymtClmDtl</a:t>
                      </a:r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CstrnPymtClmDtlPage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694996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MUI-WM-01-M08</a:t>
                      </a:r>
                      <a:endParaRPr lang="en-US" sz="7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상세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PxcndCstPymtClmDtl</a:t>
                      </a:r>
                      <a:r>
                        <a:rPr lang="en-US" altLang="ko-KR" sz="9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확인하고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출납완료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된 검사 및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납품조서를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근거로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대금청구를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작성한 내역 조회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PxcndCstPymtClmDtlPage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397847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MUI-WM-01-P09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대금청구</a:t>
                      </a:r>
                      <a:r>
                        <a:rPr lang="ko-KR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안내문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9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PymtClmGdntc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안내문을 확인하는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centerPrcmPymtClmDtl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PymtClmGdntc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5783404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MUI-WM-01-M10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대금지불정보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반납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조달업체에서 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과지급된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대금에 대하여 반납해야하는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정보를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RtnPymtDfryInfo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UC-WM-01-05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180518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MUI-WM-01-M11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대금청구진행현황</a:t>
                      </a:r>
                      <a:endParaRPr lang="en-US" altLang="ko-KR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대금청구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진행상태를 조회하는 화면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src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/biz/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wm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PymtClmPrgrsPrst</a:t>
                      </a:r>
                      <a:r>
                        <a:rPr lang="en-US" altLang="ko-KR" sz="8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Page</a:t>
                      </a:r>
                      <a:endParaRPr lang="ko-KR" altLang="en-US" sz="8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8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en-US" altLang="ko-KR" sz="8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tsx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defRPr/>
                      </a:pP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UC-WM-01-03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1512742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D7ECE73-1C00-0BE7-EBF7-4F2FAD6CFA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6550" y="97519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3968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1.2. </a:t>
            </a:r>
            <a:r>
              <a:rPr lang="ko-KR" altLang="en-US" dirty="0"/>
              <a:t>화면 흐름도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사후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통합목록조회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4256C95A-5B12-C9E0-F2B5-BC9D5BAB5422}"/>
              </a:ext>
            </a:extLst>
          </p:cNvPr>
          <p:cNvGrpSpPr/>
          <p:nvPr/>
        </p:nvGrpSpPr>
        <p:grpSpPr>
          <a:xfrm>
            <a:off x="1228614" y="1682964"/>
            <a:ext cx="237994" cy="316983"/>
            <a:chOff x="4762389" y="1663914"/>
            <a:chExt cx="237994" cy="316983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65003F43-FF09-9E6F-5743-EDAC953723CE}"/>
                </a:ext>
              </a:extLst>
            </p:cNvPr>
            <p:cNvSpPr/>
            <p:nvPr/>
          </p:nvSpPr>
          <p:spPr>
            <a:xfrm>
              <a:off x="4789249" y="1663914"/>
              <a:ext cx="180000" cy="180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89742BB0-8FB4-9410-125F-B3304E0DFFA4}"/>
                </a:ext>
              </a:extLst>
            </p:cNvPr>
            <p:cNvSpPr/>
            <p:nvPr/>
          </p:nvSpPr>
          <p:spPr>
            <a:xfrm>
              <a:off x="4762389" y="1857786"/>
              <a:ext cx="237994" cy="12311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>
              <a:spAutoFit/>
            </a:bodyPr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시작</a:t>
              </a:r>
            </a:p>
          </p:txBody>
        </p:sp>
      </p:grp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>
            <a:off x="1435474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617D047-5413-1F47-3FD7-CCCD3C0C98ED}"/>
              </a:ext>
            </a:extLst>
          </p:cNvPr>
          <p:cNvSpPr/>
          <p:nvPr/>
        </p:nvSpPr>
        <p:spPr>
          <a:xfrm>
            <a:off x="758775" y="1231161"/>
            <a:ext cx="58669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목록</a:t>
            </a:r>
            <a:r>
              <a:rPr lang="en-US" altLang="ko-KR" sz="1000" b="1" dirty="0">
                <a:solidFill>
                  <a:schemeClr val="tx1"/>
                </a:solidFill>
              </a:rPr>
              <a:t> </a:t>
            </a:r>
            <a:r>
              <a:rPr lang="ko-KR" altLang="en-US" sz="1000" b="1" dirty="0">
                <a:solidFill>
                  <a:schemeClr val="tx1"/>
                </a:solidFill>
              </a:rPr>
              <a:t>작성</a:t>
            </a:r>
            <a:r>
              <a:rPr lang="en-US" altLang="ko-KR" sz="1000" b="1" dirty="0">
                <a:solidFill>
                  <a:schemeClr val="tx1"/>
                </a:solidFill>
              </a:rPr>
              <a:t>.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69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검색 필터</a:t>
            </a: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stCxn id="6" idx="3"/>
            <a:endCxn id="69" idx="1"/>
          </p:cNvCxnSpPr>
          <p:nvPr/>
        </p:nvCxnSpPr>
        <p:spPr>
          <a:xfrm>
            <a:off x="3266608" y="1772964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FB9FCCA-B5F3-C0E2-F563-4F0CE0FC24CF}"/>
              </a:ext>
            </a:extLst>
          </p:cNvPr>
          <p:cNvSpPr/>
          <p:nvPr/>
        </p:nvSpPr>
        <p:spPr>
          <a:xfrm>
            <a:off x="7634561" y="2570565"/>
            <a:ext cx="237994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끝</a:t>
            </a:r>
          </a:p>
        </p:txBody>
      </p: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E7279F6C-9434-7961-8F6B-B7AE44CE5FCD}"/>
              </a:ext>
            </a:extLst>
          </p:cNvPr>
          <p:cNvGrpSpPr/>
          <p:nvPr/>
        </p:nvGrpSpPr>
        <p:grpSpPr>
          <a:xfrm>
            <a:off x="7663558" y="2363073"/>
            <a:ext cx="180000" cy="180000"/>
            <a:chOff x="5058274" y="2498299"/>
            <a:chExt cx="180000" cy="180000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67DBC56A-CBCC-C3A1-2B65-581D8735D2FA}"/>
                </a:ext>
              </a:extLst>
            </p:cNvPr>
            <p:cNvSpPr/>
            <p:nvPr/>
          </p:nvSpPr>
          <p:spPr>
            <a:xfrm>
              <a:off x="5058274" y="2498299"/>
              <a:ext cx="180000" cy="180000"/>
            </a:xfrm>
            <a:prstGeom prst="ellipse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타원 158">
              <a:extLst>
                <a:ext uri="{FF2B5EF4-FFF2-40B4-BE49-F238E27FC236}">
                  <a16:creationId xmlns:a16="http://schemas.microsoft.com/office/drawing/2014/main" id="{63C46758-AEBC-A78C-E468-C4FFF5E2B33D}"/>
                </a:ext>
              </a:extLst>
            </p:cNvPr>
            <p:cNvSpPr/>
            <p:nvPr/>
          </p:nvSpPr>
          <p:spPr>
            <a:xfrm>
              <a:off x="5094274" y="2534299"/>
              <a:ext cx="108000" cy="108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31053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r>
              <a:rPr lang="ko-KR" altLang="en-US" sz="800" dirty="0">
                <a:solidFill>
                  <a:schemeClr val="tx1"/>
                </a:solidFill>
              </a:rPr>
              <a:t> 안내문</a:t>
            </a:r>
          </a:p>
        </p:txBody>
      </p:sp>
      <p:cxnSp>
        <p:nvCxnSpPr>
          <p:cNvPr id="16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162" idx="1"/>
          </p:cNvCxnSpPr>
          <p:nvPr/>
        </p:nvCxnSpPr>
        <p:spPr>
          <a:xfrm>
            <a:off x="3266608" y="1772964"/>
            <a:ext cx="931134" cy="68157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9" idx="0"/>
            <a:endCxn id="6" idx="0"/>
          </p:cNvCxnSpPr>
          <p:nvPr/>
        </p:nvCxnSpPr>
        <p:spPr>
          <a:xfrm rot="16200000" flipV="1">
            <a:off x="3732175" y="713397"/>
            <a:ext cx="12700" cy="1831134"/>
          </a:xfrm>
          <a:prstGeom prst="bentConnector3">
            <a:avLst>
              <a:gd name="adj1" fmla="val 180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직사각형 172">
            <a:extLst>
              <a:ext uri="{FF2B5EF4-FFF2-40B4-BE49-F238E27FC236}">
                <a16:creationId xmlns:a16="http://schemas.microsoft.com/office/drawing/2014/main" id="{23C86455-E84C-0CEA-5C6B-05BE50ADCEF5}"/>
              </a:ext>
            </a:extLst>
          </p:cNvPr>
          <p:cNvSpPr/>
          <p:nvPr/>
        </p:nvSpPr>
        <p:spPr>
          <a:xfrm>
            <a:off x="1191586" y="1514853"/>
            <a:ext cx="30777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b="1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174" name="직사각형 173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2816608" y="1261938"/>
            <a:ext cx="1897955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검색 반영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계약진행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 err="1">
                <a:solidFill>
                  <a:schemeClr val="tx1"/>
                </a:solidFill>
              </a:rPr>
              <a:t>계약수정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 err="1">
                <a:solidFill>
                  <a:schemeClr val="tx1"/>
                </a:solidFill>
              </a:rPr>
              <a:t>계약확정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3233576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공사</a:t>
            </a:r>
          </a:p>
        </p:txBody>
      </p:sp>
      <p:sp>
        <p:nvSpPr>
          <p:cNvPr id="2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선금신청서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431270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중앙조달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363472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기성대가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4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4197742" y="293993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대금청구</a:t>
            </a:r>
            <a:r>
              <a:rPr lang="ko-KR" altLang="en-US" sz="800" dirty="0">
                <a:solidFill>
                  <a:schemeClr val="tx1"/>
                </a:solidFill>
              </a:rPr>
              <a:t> 상세</a:t>
            </a:r>
          </a:p>
        </p:txBody>
      </p:sp>
      <p:cxnSp>
        <p:nvCxnSpPr>
          <p:cNvPr id="3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" idx="3"/>
            <a:endCxn id="34" idx="1"/>
          </p:cNvCxnSpPr>
          <p:nvPr/>
        </p:nvCxnSpPr>
        <p:spPr>
          <a:xfrm>
            <a:off x="3266608" y="1772964"/>
            <a:ext cx="931134" cy="1310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24" idx="1"/>
          </p:cNvCxnSpPr>
          <p:nvPr/>
        </p:nvCxnSpPr>
        <p:spPr>
          <a:xfrm flipV="1">
            <a:off x="5097742" y="1772964"/>
            <a:ext cx="931134" cy="131097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25" idx="1"/>
          </p:cNvCxnSpPr>
          <p:nvPr/>
        </p:nvCxnSpPr>
        <p:spPr>
          <a:xfrm flipV="1">
            <a:off x="5097742" y="2575270"/>
            <a:ext cx="931134" cy="50866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30" idx="1"/>
          </p:cNvCxnSpPr>
          <p:nvPr/>
        </p:nvCxnSpPr>
        <p:spPr>
          <a:xfrm>
            <a:off x="5097742" y="3083939"/>
            <a:ext cx="931134" cy="69479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4" idx="3"/>
            <a:endCxn id="158" idx="2"/>
          </p:cNvCxnSpPr>
          <p:nvPr/>
        </p:nvCxnSpPr>
        <p:spPr>
          <a:xfrm>
            <a:off x="6928876" y="1772964"/>
            <a:ext cx="734682" cy="680109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3" idx="3"/>
            <a:endCxn id="158" idx="2"/>
          </p:cNvCxnSpPr>
          <p:nvPr/>
        </p:nvCxnSpPr>
        <p:spPr>
          <a:xfrm flipV="1">
            <a:off x="6928876" y="2453073"/>
            <a:ext cx="734682" cy="924503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0" idx="3"/>
            <a:endCxn id="158" idx="2"/>
          </p:cNvCxnSpPr>
          <p:nvPr/>
        </p:nvCxnSpPr>
        <p:spPr>
          <a:xfrm flipV="1">
            <a:off x="6928876" y="2453073"/>
            <a:ext cx="734682" cy="13256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7C1E8D88-E9A4-C688-7101-A25821FC8D9D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1.2.1 </a:t>
            </a:r>
            <a:r>
              <a:rPr lang="ko-KR" altLang="en-US" sz="1200" dirty="0" err="1">
                <a:solidFill>
                  <a:schemeClr val="tx1"/>
                </a:solidFill>
              </a:rPr>
              <a:t>대금상세</a:t>
            </a:r>
            <a:r>
              <a:rPr lang="ko-KR" altLang="en-US" sz="1200" dirty="0">
                <a:solidFill>
                  <a:schemeClr val="tx1"/>
                </a:solidFill>
              </a:rPr>
              <a:t> 정보 조회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F249990F-1DE5-C694-BDBD-2DE7009D57EA}"/>
              </a:ext>
            </a:extLst>
          </p:cNvPr>
          <p:cNvSpPr/>
          <p:nvPr/>
        </p:nvSpPr>
        <p:spPr>
          <a:xfrm>
            <a:off x="6028876" y="1490269"/>
            <a:ext cx="1033937" cy="12311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r>
              <a:rPr lang="ko-KR" altLang="en-US" sz="800" dirty="0">
                <a:solidFill>
                  <a:schemeClr val="tx1"/>
                </a:solidFill>
              </a:rPr>
              <a:t>신청 내역에 따라 분기</a:t>
            </a:r>
          </a:p>
        </p:txBody>
      </p:sp>
      <p:sp>
        <p:nvSpPr>
          <p:cNvPr id="42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030117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착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r>
              <a:rPr lang="ko-KR" altLang="en-US" sz="800" dirty="0">
                <a:solidFill>
                  <a:schemeClr val="tx1"/>
                </a:solidFill>
              </a:rPr>
              <a:t>중도금신청서</a:t>
            </a:r>
          </a:p>
        </p:txBody>
      </p:sp>
      <p:sp>
        <p:nvSpPr>
          <p:cNvPr id="4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6028876" y="2832423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</a:rPr>
              <a:t>부대조달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4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42" idx="1"/>
          </p:cNvCxnSpPr>
          <p:nvPr/>
        </p:nvCxnSpPr>
        <p:spPr>
          <a:xfrm flipV="1">
            <a:off x="5097742" y="2174117"/>
            <a:ext cx="931134" cy="909822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43" idx="1"/>
          </p:cNvCxnSpPr>
          <p:nvPr/>
        </p:nvCxnSpPr>
        <p:spPr>
          <a:xfrm flipV="1">
            <a:off x="5097742" y="2976423"/>
            <a:ext cx="931134" cy="10751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34" idx="3"/>
            <a:endCxn id="23" idx="1"/>
          </p:cNvCxnSpPr>
          <p:nvPr/>
        </p:nvCxnSpPr>
        <p:spPr>
          <a:xfrm>
            <a:off x="5097742" y="3083939"/>
            <a:ext cx="931134" cy="29363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3" idx="3"/>
            <a:endCxn id="158" idx="2"/>
          </p:cNvCxnSpPr>
          <p:nvPr/>
        </p:nvCxnSpPr>
        <p:spPr>
          <a:xfrm flipV="1">
            <a:off x="6928876" y="2453073"/>
            <a:ext cx="734682" cy="523350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25" idx="3"/>
            <a:endCxn id="158" idx="2"/>
          </p:cNvCxnSpPr>
          <p:nvPr/>
        </p:nvCxnSpPr>
        <p:spPr>
          <a:xfrm flipV="1">
            <a:off x="6928876" y="2453073"/>
            <a:ext cx="734682" cy="122197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42" idx="3"/>
            <a:endCxn id="158" idx="2"/>
          </p:cNvCxnSpPr>
          <p:nvPr/>
        </p:nvCxnSpPr>
        <p:spPr>
          <a:xfrm>
            <a:off x="6928876" y="2174117"/>
            <a:ext cx="734682" cy="278956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363472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사후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대금청구진행현황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6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67" idx="1"/>
          </p:cNvCxnSpPr>
          <p:nvPr/>
        </p:nvCxnSpPr>
        <p:spPr>
          <a:xfrm>
            <a:off x="1435474" y="1772964"/>
            <a:ext cx="931134" cy="200576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2366608" y="4264399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대금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사후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대금지불정보</a:t>
            </a:r>
            <a:r>
              <a:rPr lang="en-US" altLang="ko-KR" sz="700" dirty="0">
                <a:solidFill>
                  <a:schemeClr val="tx1"/>
                </a:solidFill>
              </a:rPr>
              <a:t>(</a:t>
            </a:r>
            <a:r>
              <a:rPr lang="ko-KR" altLang="en-US" sz="700" dirty="0">
                <a:solidFill>
                  <a:schemeClr val="tx1"/>
                </a:solidFill>
              </a:rPr>
              <a:t>반납</a:t>
            </a:r>
            <a:r>
              <a:rPr lang="en-US" altLang="ko-KR" sz="7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86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9" idx="6"/>
            <a:endCxn id="85" idx="1"/>
          </p:cNvCxnSpPr>
          <p:nvPr/>
        </p:nvCxnSpPr>
        <p:spPr>
          <a:xfrm>
            <a:off x="1435474" y="1772964"/>
            <a:ext cx="931134" cy="2635435"/>
          </a:xfrm>
          <a:prstGeom prst="bentConnector3">
            <a:avLst>
              <a:gd name="adj1" fmla="val 50000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67" idx="3"/>
            <a:endCxn id="34" idx="2"/>
          </p:cNvCxnSpPr>
          <p:nvPr/>
        </p:nvCxnSpPr>
        <p:spPr>
          <a:xfrm flipV="1">
            <a:off x="3266608" y="3227939"/>
            <a:ext cx="1381134" cy="55079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85" idx="3"/>
            <a:endCxn id="34" idx="2"/>
          </p:cNvCxnSpPr>
          <p:nvPr/>
        </p:nvCxnSpPr>
        <p:spPr>
          <a:xfrm flipV="1">
            <a:off x="3266608" y="3227939"/>
            <a:ext cx="1381134" cy="11804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사각형: 둥근 모서리 5">
            <a:extLst>
              <a:ext uri="{FF2B5EF4-FFF2-40B4-BE49-F238E27FC236}">
                <a16:creationId xmlns:a16="http://schemas.microsoft.com/office/drawing/2014/main" id="{410E5459-200D-7630-863C-88E5109259DF}"/>
              </a:ext>
            </a:extLst>
          </p:cNvPr>
          <p:cNvSpPr/>
          <p:nvPr/>
        </p:nvSpPr>
        <p:spPr>
          <a:xfrm>
            <a:off x="7828876" y="1628964"/>
            <a:ext cx="900000" cy="28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선금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ko-KR" altLang="en-US" sz="800" dirty="0">
                <a:solidFill>
                  <a:schemeClr val="tx1"/>
                </a:solidFill>
              </a:rPr>
              <a:t>착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r>
              <a:rPr lang="ko-KR" altLang="en-US" sz="800" dirty="0">
                <a:solidFill>
                  <a:schemeClr val="tx1"/>
                </a:solidFill>
              </a:rPr>
              <a:t>중도금 지급 상태</a:t>
            </a: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</p:cNvCxnSpPr>
          <p:nvPr/>
        </p:nvCxnSpPr>
        <p:spPr>
          <a:xfrm>
            <a:off x="6928876" y="1722771"/>
            <a:ext cx="9311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9A519F08-B829-E35F-09D8-DFCD1F68B911}"/>
              </a:ext>
            </a:extLst>
          </p:cNvPr>
          <p:cNvCxnSpPr>
            <a:cxnSpLocks/>
            <a:endCxn id="103" idx="1"/>
          </p:cNvCxnSpPr>
          <p:nvPr/>
        </p:nvCxnSpPr>
        <p:spPr>
          <a:xfrm flipV="1">
            <a:off x="6928876" y="1772964"/>
            <a:ext cx="900000" cy="3400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연결선: 꺾임 7">
            <a:extLst>
              <a:ext uri="{FF2B5EF4-FFF2-40B4-BE49-F238E27FC236}">
                <a16:creationId xmlns:a16="http://schemas.microsoft.com/office/drawing/2014/main" id="{89A2D828-4C18-4F90-6B31-722E89773AA8}"/>
              </a:ext>
            </a:extLst>
          </p:cNvPr>
          <p:cNvCxnSpPr>
            <a:cxnSpLocks/>
            <a:stCxn id="103" idx="2"/>
            <a:endCxn id="158" idx="6"/>
          </p:cNvCxnSpPr>
          <p:nvPr/>
        </p:nvCxnSpPr>
        <p:spPr>
          <a:xfrm rot="5400000">
            <a:off x="7793163" y="1967359"/>
            <a:ext cx="536109" cy="435318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609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>
            <a:extLst>
              <a:ext uri="{FF2B5EF4-FFF2-40B4-BE49-F238E27FC236}">
                <a16:creationId xmlns:a16="http://schemas.microsoft.com/office/drawing/2014/main" id="{B3001FFA-599C-959F-11FF-54498DB5D01F}"/>
              </a:ext>
            </a:extLst>
          </p:cNvPr>
          <p:cNvSpPr/>
          <p:nvPr/>
        </p:nvSpPr>
        <p:spPr>
          <a:xfrm>
            <a:off x="6266873" y="1283855"/>
            <a:ext cx="27432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서버 영역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DDF51E2-AA54-3898-F986-0D5FDFD8B700}"/>
              </a:ext>
            </a:extLst>
          </p:cNvPr>
          <p:cNvSpPr/>
          <p:nvPr/>
        </p:nvSpPr>
        <p:spPr>
          <a:xfrm>
            <a:off x="895927" y="1283855"/>
            <a:ext cx="5181600" cy="505822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ko-KR" altLang="en-US" sz="1400" dirty="0"/>
              <a:t>화면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D3B73B6-9533-B663-F47A-582CAB9DC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C8E023-7346-48FC-AB24-9A3388C53208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56693E-B362-1964-1F83-5ED0D9D162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1.3 </a:t>
            </a:r>
            <a:r>
              <a:rPr lang="ko-KR" altLang="en-US" dirty="0"/>
              <a:t>앱 구성 다이어그램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D7B626-4B5C-AE29-EFB9-628750B32B78}"/>
              </a:ext>
            </a:extLst>
          </p:cNvPr>
          <p:cNvSpPr/>
          <p:nvPr/>
        </p:nvSpPr>
        <p:spPr>
          <a:xfrm>
            <a:off x="1265382" y="1644140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대금청구통합목록조회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PymtClmIntgListPage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4F2CFBC-290B-2E89-63C0-62C22747051D}"/>
              </a:ext>
            </a:extLst>
          </p:cNvPr>
          <p:cNvSpPr/>
          <p:nvPr/>
        </p:nvSpPr>
        <p:spPr>
          <a:xfrm>
            <a:off x="1265382" y="2090735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70000" lnSpcReduction="20000"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/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선금신청서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PrpayApfrDtlPage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538442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착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중도금신청서 상세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DpsmnItrpyApfrDtlPage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EEC1B9-CC65-F7BE-5073-784BEE06A8EF}"/>
              </a:ext>
            </a:extLst>
          </p:cNvPr>
          <p:cNvSpPr/>
          <p:nvPr/>
        </p:nvSpPr>
        <p:spPr>
          <a:xfrm>
            <a:off x="3960091" y="2170157"/>
            <a:ext cx="1727200" cy="1640033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&lt;&lt;React Object&gt;&gt;</a:t>
            </a:r>
          </a:p>
          <a:p>
            <a:pPr algn="ctr"/>
            <a:endParaRPr lang="en-US" altLang="ko-KR" sz="1100" dirty="0"/>
          </a:p>
          <a:p>
            <a:pPr algn="ctr"/>
            <a:r>
              <a:rPr lang="en-US" altLang="ko-KR" sz="1100" dirty="0"/>
              <a:t>Forms</a:t>
            </a:r>
          </a:p>
          <a:p>
            <a:pPr algn="ctr"/>
            <a:r>
              <a:rPr lang="en-US" altLang="ko-KR" sz="1100" dirty="0"/>
              <a:t>Grid</a:t>
            </a:r>
          </a:p>
          <a:p>
            <a:pPr algn="ctr"/>
            <a:r>
              <a:rPr lang="en-US" altLang="ko-KR" sz="1100" dirty="0"/>
              <a:t>Container</a:t>
            </a:r>
          </a:p>
          <a:p>
            <a:pPr algn="ctr"/>
            <a:r>
              <a:rPr lang="en-US" altLang="ko-KR" sz="1100" dirty="0"/>
              <a:t>Navigation</a:t>
            </a:r>
          </a:p>
          <a:p>
            <a:pPr algn="ctr"/>
            <a:r>
              <a:rPr lang="en-US" altLang="ko-KR" sz="1100" dirty="0"/>
              <a:t>Chart</a:t>
            </a:r>
          </a:p>
          <a:p>
            <a:pPr algn="ctr"/>
            <a:r>
              <a:rPr lang="en-US" altLang="ko-KR" sz="1100" dirty="0"/>
              <a:t>Frame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2747194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 err="1"/>
              <a:t>대금청구및사후</a:t>
            </a:r>
            <a:r>
              <a:rPr lang="ko-KR" altLang="en-US" sz="1100" dirty="0"/>
              <a:t>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DD2481F-89D8-25C0-6E6F-7535C857EB4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992582" y="1830843"/>
            <a:ext cx="967509" cy="1159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AF6B56CB-1ACF-E509-9762-CFE025648775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>
            <a:off x="2992582" y="2277438"/>
            <a:ext cx="967509" cy="7127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2992582" y="2725145"/>
            <a:ext cx="967509" cy="265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10" idx="1"/>
          </p:cNvCxnSpPr>
          <p:nvPr/>
        </p:nvCxnSpPr>
        <p:spPr>
          <a:xfrm>
            <a:off x="5687291" y="2990174"/>
            <a:ext cx="122612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Box 73">
            <a:extLst>
              <a:ext uri="{FF2B5EF4-FFF2-40B4-BE49-F238E27FC236}">
                <a16:creationId xmlns:a16="http://schemas.microsoft.com/office/drawing/2014/main" id="{76C9ABC8-A4D3-5907-4020-49C93E468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694" y="1136459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2962386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선금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착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.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중도금 지급 상태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PrpayDpsmnItrpyGiveStts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376001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중앙조달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CenterPrcmPymtClmDtl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3789616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부대조달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SbsdPrcmPymtClmDtlPage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203231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공사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CstrnPymtClmDtlPage.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6CF8B0-B538-B16B-F0EB-F1F49287D1E5}"/>
              </a:ext>
            </a:extLst>
          </p:cNvPr>
          <p:cNvSpPr/>
          <p:nvPr/>
        </p:nvSpPr>
        <p:spPr>
          <a:xfrm>
            <a:off x="6913418" y="3455423"/>
            <a:ext cx="1727200" cy="485959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&lt;&lt;Controller&gt;&gt;</a:t>
            </a:r>
          </a:p>
          <a:p>
            <a:pPr algn="ctr"/>
            <a:r>
              <a:rPr lang="ko-KR" altLang="en-US" sz="1100" dirty="0" err="1"/>
              <a:t>검색필터</a:t>
            </a:r>
            <a:r>
              <a:rPr lang="ko-KR" altLang="en-US" sz="1100" dirty="0"/>
              <a:t> </a:t>
            </a:r>
            <a:r>
              <a:rPr lang="en-US" altLang="ko-KR" sz="1100" dirty="0"/>
              <a:t>Controller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A8B10782-0A07-A41D-DB15-978B72410A31}"/>
              </a:ext>
            </a:extLst>
          </p:cNvPr>
          <p:cNvCxnSpPr>
            <a:stCxn id="9" idx="3"/>
            <a:endCxn id="28" idx="1"/>
          </p:cNvCxnSpPr>
          <p:nvPr/>
        </p:nvCxnSpPr>
        <p:spPr>
          <a:xfrm>
            <a:off x="5687291" y="2990174"/>
            <a:ext cx="1226127" cy="70822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18" idx="3"/>
            <a:endCxn id="9" idx="1"/>
          </p:cNvCxnSpPr>
          <p:nvPr/>
        </p:nvCxnSpPr>
        <p:spPr>
          <a:xfrm flipV="1">
            <a:off x="2992582" y="2990174"/>
            <a:ext cx="967509" cy="158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0" idx="3"/>
            <a:endCxn id="9" idx="1"/>
          </p:cNvCxnSpPr>
          <p:nvPr/>
        </p:nvCxnSpPr>
        <p:spPr>
          <a:xfrm flipV="1">
            <a:off x="2992582" y="2990174"/>
            <a:ext cx="967509" cy="5725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2" idx="3"/>
            <a:endCxn id="9" idx="1"/>
          </p:cNvCxnSpPr>
          <p:nvPr/>
        </p:nvCxnSpPr>
        <p:spPr>
          <a:xfrm flipV="1">
            <a:off x="2992582" y="2990174"/>
            <a:ext cx="967509" cy="986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27" idx="3"/>
            <a:endCxn id="9" idx="1"/>
          </p:cNvCxnSpPr>
          <p:nvPr/>
        </p:nvCxnSpPr>
        <p:spPr>
          <a:xfrm flipV="1">
            <a:off x="2992582" y="2990174"/>
            <a:ext cx="967509" cy="13997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36975C9-B669-2E0F-A599-7B64FBAF2727}"/>
              </a:ext>
            </a:extLst>
          </p:cNvPr>
          <p:cNvSpPr/>
          <p:nvPr/>
        </p:nvSpPr>
        <p:spPr>
          <a:xfrm>
            <a:off x="749717" y="1026000"/>
            <a:ext cx="1946169" cy="1846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r>
              <a:rPr lang="en-US" altLang="ko-KR" sz="1200" dirty="0">
                <a:solidFill>
                  <a:schemeClr val="tx1"/>
                </a:solidFill>
              </a:rPr>
              <a:t>1.3.1 </a:t>
            </a:r>
            <a:r>
              <a:rPr lang="ko-KR" altLang="en-US" sz="1200" dirty="0" err="1">
                <a:solidFill>
                  <a:schemeClr val="tx1"/>
                </a:solidFill>
              </a:rPr>
              <a:t>대금청구및사후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4623261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상세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기성대가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PxcndCstPymtClmDtlPage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029886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대금청구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안내문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 smtClean="0">
                <a:solidFill>
                  <a:schemeClr val="tx1"/>
                </a:solidFill>
                <a:latin typeface="맑은 고딕" panose="020B0503020000020004" pitchFamily="50" charset="-127"/>
              </a:rPr>
              <a:t>PymtClmGdntc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443501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대금지불정보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반납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RtnPymtDfryInfo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326CB017-8967-4DC4-0EAD-ADB3B9EAB841}"/>
              </a:ext>
            </a:extLst>
          </p:cNvPr>
          <p:cNvSpPr/>
          <p:nvPr/>
        </p:nvSpPr>
        <p:spPr>
          <a:xfrm>
            <a:off x="1265382" y="5863531"/>
            <a:ext cx="1727200" cy="373406"/>
          </a:xfrm>
          <a:prstGeom prst="rect">
            <a:avLst/>
          </a:prstGeom>
          <a:ln w="952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62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altLang="ko-KR" sz="1000" dirty="0">
                <a:solidFill>
                  <a:schemeClr val="tx1"/>
                </a:solidFill>
              </a:rPr>
              <a:t>&lt;&lt;App Page&gt;&gt;</a:t>
            </a:r>
          </a:p>
          <a:p>
            <a:pPr algn="ctr">
              <a:lnSpc>
                <a:spcPct val="120000"/>
              </a:lnSpc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대금청구진행현황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>
              <a:lnSpc>
                <a:spcPct val="120000"/>
              </a:lnSpc>
            </a:pPr>
            <a:r>
              <a:rPr lang="en-US" altLang="ko-KR" sz="1000" dirty="0" err="1">
                <a:solidFill>
                  <a:schemeClr val="tx1"/>
                </a:solidFill>
                <a:latin typeface="+mn-ea"/>
              </a:rPr>
              <a:t>PymtClmPrgrsPrst</a:t>
            </a:r>
            <a:r>
              <a:rPr lang="en-US" altLang="ko-KR" sz="10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Page</a:t>
            </a:r>
            <a:r>
              <a:rPr lang="en-US" altLang="ko-KR" sz="1000" dirty="0" err="1" smtClean="0">
                <a:solidFill>
                  <a:schemeClr val="tx1"/>
                </a:solidFill>
              </a:rPr>
              <a:t>.tsx</a:t>
            </a:r>
            <a:r>
              <a:rPr lang="en-US" altLang="ko-KR" sz="1000" b="1" baseline="30000" dirty="0" smtClean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b="1" baseline="30000" dirty="0">
                <a:solidFill>
                  <a:schemeClr val="tx1"/>
                </a:solidFill>
                <a:latin typeface="+mn-ea"/>
              </a:rPr>
              <a:t>1)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30" idx="3"/>
            <a:endCxn id="9" idx="1"/>
          </p:cNvCxnSpPr>
          <p:nvPr/>
        </p:nvCxnSpPr>
        <p:spPr>
          <a:xfrm flipV="1">
            <a:off x="2992582" y="2990174"/>
            <a:ext cx="967509" cy="18197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7" idx="3"/>
            <a:endCxn id="9" idx="1"/>
          </p:cNvCxnSpPr>
          <p:nvPr/>
        </p:nvCxnSpPr>
        <p:spPr>
          <a:xfrm flipV="1">
            <a:off x="2992582" y="2990174"/>
            <a:ext cx="967509" cy="22264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8" idx="3"/>
            <a:endCxn id="9" idx="1"/>
          </p:cNvCxnSpPr>
          <p:nvPr/>
        </p:nvCxnSpPr>
        <p:spPr>
          <a:xfrm flipV="1">
            <a:off x="2992582" y="2990174"/>
            <a:ext cx="967509" cy="26400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직선 화살표 연결선 78">
            <a:extLst>
              <a:ext uri="{FF2B5EF4-FFF2-40B4-BE49-F238E27FC236}">
                <a16:creationId xmlns:a16="http://schemas.microsoft.com/office/drawing/2014/main" id="{418E1257-E5C2-5705-1378-45505004ABAF}"/>
              </a:ext>
            </a:extLst>
          </p:cNvPr>
          <p:cNvCxnSpPr>
            <a:cxnSpLocks/>
            <a:stCxn id="69" idx="3"/>
            <a:endCxn id="9" idx="1"/>
          </p:cNvCxnSpPr>
          <p:nvPr/>
        </p:nvCxnSpPr>
        <p:spPr>
          <a:xfrm flipV="1">
            <a:off x="2992582" y="2990174"/>
            <a:ext cx="967509" cy="30600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81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대금청구통합목록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대금청구통합목록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대금청구통합목록</a:t>
            </a: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19769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3143548" y="2992033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533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74704"/>
            <a:ext cx="2473257" cy="960061"/>
            <a:chOff x="781461" y="3087955"/>
            <a:chExt cx="2473257" cy="9600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계약일자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발주기관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2026-02-10</a:t>
              </a:r>
            </a:p>
            <a:p>
              <a:pPr algn="r"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제</a:t>
              </a:r>
              <a:r>
                <a:rPr lang="en-US" altLang="ko-KR" sz="600" dirty="0">
                  <a:latin typeface="+mn-ea"/>
                </a:rPr>
                <a:t>8385</a:t>
              </a:r>
              <a:r>
                <a:rPr lang="ko-KR" altLang="en-US" sz="600" dirty="0">
                  <a:latin typeface="+mn-ea"/>
                </a:rPr>
                <a:t>부대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4998818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37825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2527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업무도움</a:t>
            </a:r>
            <a:endParaRPr lang="ko-KR" altLang="en-US" sz="700" dirty="0">
              <a:latin typeface="+mn-ea"/>
            </a:endParaRP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4058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59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0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61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64" name="그룹 63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65" name="직선 연결선 64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2323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21930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762118" y="3220756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833259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대금수정</a:t>
            </a:r>
            <a:endParaRPr lang="ko-KR" altLang="en-US" sz="600" dirty="0"/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364593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r>
              <a:rPr lang="ko-KR" altLang="en-US" sz="600" dirty="0"/>
              <a:t>                          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6956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894264"/>
            <a:ext cx="1490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6286574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대금확정</a:t>
            </a:r>
            <a:endParaRPr lang="ko-KR" altLang="en-US" sz="600" dirty="0"/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4318634" y="341197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사후정산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grpSp>
        <p:nvGrpSpPr>
          <p:cNvPr id="114" name="그룹 113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17" name="모서리가 둥근 직사각형 116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1" name="타원 120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24" name="그룹 12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82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86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26" name="타원 125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33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40" name="타원 139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43" name="그룹 142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44" name="직선 연결선 143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540538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[</a:t>
            </a:r>
            <a:r>
              <a:rPr lang="ko-KR" altLang="en-US" dirty="0"/>
              <a:t>공통</a:t>
            </a:r>
            <a:r>
              <a:rPr lang="en-US" altLang="ko-KR" dirty="0"/>
              <a:t>] </a:t>
            </a:r>
            <a:r>
              <a:rPr lang="ko-KR" altLang="en-US" dirty="0"/>
              <a:t>각 </a:t>
            </a:r>
            <a:r>
              <a:rPr lang="ko-KR" altLang="en-US" dirty="0" err="1"/>
              <a:t>섹션명</a:t>
            </a:r>
            <a:r>
              <a:rPr lang="ko-KR" altLang="en-US" dirty="0"/>
              <a:t> 클릭 시 아코디언 동작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검색필터</a:t>
            </a:r>
            <a:r>
              <a:rPr lang="ko-KR" altLang="en-US" dirty="0"/>
              <a:t> 페이지 타이틀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초기화</a:t>
            </a:r>
            <a:r>
              <a:rPr lang="en-US" altLang="ko-KR" dirty="0"/>
              <a:t>, </a:t>
            </a:r>
            <a:r>
              <a:rPr lang="ko-KR" altLang="en-US" dirty="0"/>
              <a:t>닫기 버튼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업무 구분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전체 및 세부 항목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항목별 </a:t>
            </a:r>
            <a:r>
              <a:rPr lang="ko-KR" altLang="en-US" dirty="0" err="1"/>
              <a:t>개수표시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전체가 아닌 경우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나머지 중에서 최소 </a:t>
            </a:r>
            <a:r>
              <a:rPr lang="en-US" altLang="ko-KR" dirty="0"/>
              <a:t>1</a:t>
            </a:r>
            <a:r>
              <a:rPr lang="ko-KR" altLang="en-US" dirty="0"/>
              <a:t>개 이상 선택 필요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물품</a:t>
            </a:r>
            <a:r>
              <a:rPr lang="en-US" altLang="ko-KR" dirty="0"/>
              <a:t>, </a:t>
            </a:r>
            <a:r>
              <a:rPr lang="ko-KR" altLang="en-US" dirty="0"/>
              <a:t>용역</a:t>
            </a:r>
            <a:r>
              <a:rPr lang="en-US" altLang="ko-KR" dirty="0"/>
              <a:t>, </a:t>
            </a:r>
            <a:r>
              <a:rPr lang="ko-KR" altLang="en-US" dirty="0"/>
              <a:t>공사</a:t>
            </a:r>
            <a:r>
              <a:rPr lang="en-US" altLang="ko-KR" dirty="0"/>
              <a:t>, </a:t>
            </a:r>
            <a:r>
              <a:rPr lang="ko-KR" altLang="en-US" dirty="0"/>
              <a:t>국외 모두 개별 선택 시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전체 활성화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검색 설정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직접 입력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아이콘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데이트 </a:t>
            </a:r>
            <a:r>
              <a:rPr lang="ko-KR" altLang="en-US" dirty="0" err="1">
                <a:sym typeface="Wingdings" panose="05000000000000000000" pitchFamily="2" charset="2"/>
              </a:rPr>
              <a:t>피커</a:t>
            </a:r>
            <a:r>
              <a:rPr lang="ko-KR" altLang="en-US" dirty="0">
                <a:sym typeface="Wingdings" panose="05000000000000000000" pitchFamily="2" charset="2"/>
              </a:rPr>
              <a:t> 호출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지정 설정으로 날짜 즉시 업데이트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>
                <a:sym typeface="Wingdings" panose="05000000000000000000" pitchFamily="2" charset="2"/>
              </a:rPr>
              <a:t>검색어</a:t>
            </a:r>
            <a:r>
              <a:rPr lang="ko-KR" altLang="en-US" dirty="0">
                <a:sym typeface="Wingdings" panose="05000000000000000000" pitchFamily="2" charset="2"/>
              </a:rPr>
              <a:t> 영역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사용자가 입력하고자 하는 내역만 입력 후 검색 가능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번호 검색은 </a:t>
            </a:r>
            <a:r>
              <a:rPr lang="ko-KR" altLang="en-US" dirty="0" err="1">
                <a:sym typeface="Wingdings" panose="05000000000000000000" pitchFamily="2" charset="2"/>
              </a:rPr>
              <a:t>판단번호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계약 번호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구분 설정</a:t>
            </a:r>
            <a:r>
              <a:rPr lang="en-US" altLang="ko-KR" dirty="0">
                <a:sym typeface="Wingdings" panose="05000000000000000000" pitchFamily="2" charset="2"/>
              </a:rPr>
              <a:t/>
            </a:r>
            <a:br>
              <a:rPr lang="en-US" altLang="ko-KR" dirty="0">
                <a:sym typeface="Wingdings" panose="05000000000000000000" pitchFamily="2" charset="2"/>
              </a:rPr>
            </a:br>
            <a:r>
              <a:rPr lang="en-US" altLang="ko-KR" dirty="0">
                <a:sym typeface="Wingdings" panose="05000000000000000000" pitchFamily="2" charset="2"/>
              </a:rPr>
              <a:t>- </a:t>
            </a:r>
            <a:r>
              <a:rPr lang="ko-KR" altLang="en-US" dirty="0">
                <a:sym typeface="Wingdings" panose="05000000000000000000" pitchFamily="2" charset="2"/>
              </a:rPr>
              <a:t>드롭 다운으로 각 </a:t>
            </a:r>
            <a:r>
              <a:rPr lang="ko-KR" altLang="en-US" dirty="0" err="1">
                <a:sym typeface="Wingdings" panose="05000000000000000000" pitchFamily="2" charset="2"/>
              </a:rPr>
              <a:t>구분값</a:t>
            </a:r>
            <a:r>
              <a:rPr lang="ko-KR" altLang="en-US" dirty="0">
                <a:sym typeface="Wingdings" panose="05000000000000000000" pitchFamily="2" charset="2"/>
              </a:rPr>
              <a:t> 설정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228600" indent="-228600">
              <a:buFont typeface="+mj-lt"/>
              <a:buAutoNum type="arabicPeriod"/>
            </a:pPr>
            <a:r>
              <a:rPr lang="ko-KR" altLang="en-US" dirty="0">
                <a:sym typeface="Wingdings" panose="05000000000000000000" pitchFamily="2" charset="2"/>
              </a:rPr>
              <a:t>검색 버튼 영역은 화면 하단 </a:t>
            </a:r>
            <a:r>
              <a:rPr lang="ko-KR" altLang="en-US" dirty="0" err="1">
                <a:sym typeface="Wingdings" panose="05000000000000000000" pitchFamily="2" charset="2"/>
              </a:rPr>
              <a:t>플로팅</a:t>
            </a:r>
            <a:r>
              <a:rPr lang="ko-KR" altLang="en-US" dirty="0">
                <a:sym typeface="Wingdings" panose="05000000000000000000" pitchFamily="2" charset="2"/>
              </a:rPr>
              <a:t> 처리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검색 필터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계약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상세 검색을 위한 검색 필터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/>
              <a:t>계약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검색 필터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MUI-WM-01-M01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85" name="그룹 84"/>
          <p:cNvGrpSpPr/>
          <p:nvPr/>
        </p:nvGrpSpPr>
        <p:grpSpPr>
          <a:xfrm>
            <a:off x="6258712" y="1650089"/>
            <a:ext cx="94010" cy="94010"/>
            <a:chOff x="6812560" y="3297172"/>
            <a:chExt cx="94010" cy="94010"/>
          </a:xfrm>
        </p:grpSpPr>
        <p:cxnSp>
          <p:nvCxnSpPr>
            <p:cNvPr id="86" name="직선 연결선 85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직선 연결선 86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8" name="타원 87"/>
          <p:cNvSpPr/>
          <p:nvPr/>
        </p:nvSpPr>
        <p:spPr>
          <a:xfrm>
            <a:off x="5893434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8850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67792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16" name="타원 11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19708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117" name="타원 116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33213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직선 연결선 1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190693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8" name="그룹 117"/>
          <p:cNvGrpSpPr/>
          <p:nvPr/>
        </p:nvGrpSpPr>
        <p:grpSpPr>
          <a:xfrm>
            <a:off x="3138377" y="1650089"/>
            <a:ext cx="94010" cy="94010"/>
            <a:chOff x="6812560" y="3297172"/>
            <a:chExt cx="94010" cy="94010"/>
          </a:xfrm>
        </p:grpSpPr>
        <p:cxnSp>
          <p:nvCxnSpPr>
            <p:cNvPr id="119" name="직선 연결선 11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직선 연결선 122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7" name="타원 126"/>
          <p:cNvSpPr/>
          <p:nvPr/>
        </p:nvSpPr>
        <p:spPr>
          <a:xfrm>
            <a:off x="2773099" y="160603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630768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검색필터</a:t>
            </a:r>
            <a:endParaRPr lang="ko-KR" altLang="en-US" sz="900" dirty="0">
              <a:latin typeface="+mn-ea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47457" y="1646156"/>
            <a:ext cx="28505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초기화</a:t>
            </a: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159227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154" name="타원 15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04919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3706068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221" name="그룹 220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3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1412144" y="5745391"/>
              <a:ext cx="1882977" cy="317083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검색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224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2" y="5745391"/>
              <a:ext cx="552140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3795734" y="3231268"/>
            <a:ext cx="2712027" cy="949600"/>
            <a:chOff x="3795734" y="1919434"/>
            <a:chExt cx="2712027" cy="949600"/>
          </a:xfrm>
        </p:grpSpPr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50" y="1956832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>
                  <a:latin typeface="+mn-ea"/>
                </a:rPr>
                <a:t>구분 설정</a:t>
              </a:r>
            </a:p>
          </p:txBody>
        </p:sp>
        <p:grpSp>
          <p:nvGrpSpPr>
            <p:cNvPr id="226" name="그룹 225"/>
            <p:cNvGrpSpPr/>
            <p:nvPr/>
          </p:nvGrpSpPr>
          <p:grpSpPr>
            <a:xfrm flipV="1">
              <a:off x="6261284" y="2054522"/>
              <a:ext cx="91438" cy="45719"/>
              <a:chOff x="6812560" y="3297172"/>
              <a:chExt cx="94010" cy="47005"/>
            </a:xfrm>
          </p:grpSpPr>
          <p:cxnSp>
            <p:nvCxnSpPr>
              <p:cNvPr id="227" name="직선 연결선 22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8" name="직선 연결선 22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29" name="모서리가 둥근 직사각형 228"/>
            <p:cNvSpPr/>
            <p:nvPr/>
          </p:nvSpPr>
          <p:spPr>
            <a:xfrm>
              <a:off x="4569619" y="2237323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</a:rPr>
                <a:t>전체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50" y="2185197"/>
              <a:ext cx="670770" cy="67864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10000"/>
                </a:lnSpc>
              </a:pPr>
              <a:r>
                <a:rPr lang="ko-KR" altLang="en-US" sz="700" dirty="0">
                  <a:latin typeface="+mn-ea"/>
                </a:rPr>
                <a:t>진행상태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10000"/>
                </a:lnSpc>
              </a:pPr>
              <a:r>
                <a:rPr lang="ko-KR" altLang="en-US" sz="700" dirty="0" err="1">
                  <a:latin typeface="+mn-ea"/>
                </a:rPr>
                <a:t>입찰형태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10000"/>
                </a:lnSpc>
              </a:pPr>
              <a:r>
                <a:rPr lang="ko-KR" altLang="en-US" sz="700" dirty="0">
                  <a:latin typeface="+mn-ea"/>
                </a:rPr>
                <a:t>계약방법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31" name="모서리가 둥근 직사각형 230"/>
            <p:cNvSpPr/>
            <p:nvPr/>
          </p:nvSpPr>
          <p:spPr>
            <a:xfrm>
              <a:off x="4569619" y="2460260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</a:rPr>
                <a:t>전체</a:t>
              </a:r>
            </a:p>
          </p:txBody>
        </p:sp>
        <p:sp>
          <p:nvSpPr>
            <p:cNvPr id="232" name="모서리가 둥근 직사각형 231"/>
            <p:cNvSpPr/>
            <p:nvPr/>
          </p:nvSpPr>
          <p:spPr>
            <a:xfrm>
              <a:off x="4569619" y="2681834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tx1"/>
                  </a:solidFill>
                </a:rPr>
                <a:t>전체</a:t>
              </a:r>
            </a:p>
          </p:txBody>
        </p:sp>
        <p:grpSp>
          <p:nvGrpSpPr>
            <p:cNvPr id="241" name="그룹 240"/>
            <p:cNvGrpSpPr/>
            <p:nvPr/>
          </p:nvGrpSpPr>
          <p:grpSpPr>
            <a:xfrm>
              <a:off x="6261284" y="2754912"/>
              <a:ext cx="91438" cy="45719"/>
              <a:chOff x="6812560" y="3297172"/>
              <a:chExt cx="94010" cy="47005"/>
            </a:xfrm>
          </p:grpSpPr>
          <p:cxnSp>
            <p:nvCxnSpPr>
              <p:cNvPr id="242" name="직선 연결선 24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3" name="직선 연결선 24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4" name="그룹 243"/>
            <p:cNvGrpSpPr/>
            <p:nvPr/>
          </p:nvGrpSpPr>
          <p:grpSpPr>
            <a:xfrm>
              <a:off x="6261284" y="2538745"/>
              <a:ext cx="91438" cy="45719"/>
              <a:chOff x="6812560" y="3297172"/>
              <a:chExt cx="94010" cy="47005"/>
            </a:xfrm>
          </p:grpSpPr>
          <p:cxnSp>
            <p:nvCxnSpPr>
              <p:cNvPr id="245" name="직선 연결선 24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6" name="직선 연결선 24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47" name="그룹 246"/>
            <p:cNvGrpSpPr/>
            <p:nvPr/>
          </p:nvGrpSpPr>
          <p:grpSpPr>
            <a:xfrm>
              <a:off x="6261284" y="2308063"/>
              <a:ext cx="91438" cy="45719"/>
              <a:chOff x="6812560" y="3297172"/>
              <a:chExt cx="94010" cy="47005"/>
            </a:xfrm>
          </p:grpSpPr>
          <p:cxnSp>
            <p:nvCxnSpPr>
              <p:cNvPr id="248" name="직선 연결선 24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9" name="직선 연결선 24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67" name="직선 연결선 2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5734" y="1919434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6" name="그룹 5"/>
          <p:cNvGrpSpPr/>
          <p:nvPr/>
        </p:nvGrpSpPr>
        <p:grpSpPr>
          <a:xfrm>
            <a:off x="3903622" y="1956581"/>
            <a:ext cx="2519558" cy="1143069"/>
            <a:chOff x="778515" y="4388257"/>
            <a:chExt cx="2519558" cy="1143069"/>
          </a:xfrm>
        </p:grpSpPr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388257"/>
              <a:ext cx="230514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b="1" dirty="0" err="1">
                  <a:latin typeface="+mn-ea"/>
                </a:rPr>
                <a:t>검색어</a:t>
              </a:r>
              <a:r>
                <a:rPr lang="ko-KR" altLang="en-US" sz="700" b="1" dirty="0">
                  <a:latin typeface="+mn-ea"/>
                </a:rPr>
                <a:t> </a:t>
              </a:r>
              <a:r>
                <a:rPr lang="en-US" altLang="ko-KR" sz="700" b="1" dirty="0">
                  <a:latin typeface="+mn-ea"/>
                </a:rPr>
                <a:t>(</a:t>
              </a:r>
              <a:r>
                <a:rPr lang="ko-KR" altLang="en-US" sz="700" b="1" dirty="0">
                  <a:latin typeface="+mn-ea"/>
                </a:rPr>
                <a:t>일부 입력 가능</a:t>
              </a:r>
              <a:r>
                <a:rPr lang="en-US" altLang="ko-KR" sz="700" b="1" dirty="0">
                  <a:latin typeface="+mn-ea"/>
                </a:rPr>
                <a:t>)</a:t>
              </a:r>
              <a:endParaRPr lang="ko-KR" altLang="en-US" sz="700" b="1" dirty="0">
                <a:latin typeface="+mn-ea"/>
              </a:endParaRPr>
            </a:p>
          </p:txBody>
        </p:sp>
        <p:grpSp>
          <p:nvGrpSpPr>
            <p:cNvPr id="201" name="그룹 200"/>
            <p:cNvGrpSpPr/>
            <p:nvPr/>
          </p:nvGrpSpPr>
          <p:grpSpPr>
            <a:xfrm flipV="1">
              <a:off x="3140949" y="4485947"/>
              <a:ext cx="91438" cy="45719"/>
              <a:chOff x="6812560" y="3297172"/>
              <a:chExt cx="94010" cy="47005"/>
            </a:xfrm>
          </p:grpSpPr>
          <p:cxnSp>
            <p:nvCxnSpPr>
              <p:cNvPr id="202" name="직선 연결선 20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3" name="직선 연결선 20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04" name="모서리가 둥근 직사각형 203"/>
            <p:cNvSpPr/>
            <p:nvPr/>
          </p:nvSpPr>
          <p:spPr>
            <a:xfrm>
              <a:off x="1449284" y="4668748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계약건명을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78515" y="462524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발주기관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담당자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07" name="모서리가 둥근 직사각형 206"/>
            <p:cNvSpPr/>
            <p:nvPr/>
          </p:nvSpPr>
          <p:spPr>
            <a:xfrm>
              <a:off x="1449284" y="4890305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번호를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08" name="모서리가 둥근 직사각형 207"/>
            <p:cNvSpPr/>
            <p:nvPr/>
          </p:nvSpPr>
          <p:spPr>
            <a:xfrm>
              <a:off x="1449284" y="5107901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발주기관을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12" name="모서리가 둥근 직사각형 211"/>
            <p:cNvSpPr/>
            <p:nvPr/>
          </p:nvSpPr>
          <p:spPr>
            <a:xfrm>
              <a:off x="1452235" y="5344126"/>
              <a:ext cx="1845838" cy="187200"/>
            </a:xfrm>
            <a:prstGeom prst="roundRect">
              <a:avLst>
                <a:gd name="adj" fmla="val 17463"/>
              </a:avLst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ko-KR" altLang="en-US" sz="700" dirty="0" err="1">
                  <a:solidFill>
                    <a:schemeClr val="bg1">
                      <a:lumMod val="65000"/>
                    </a:schemeClr>
                  </a:solidFill>
                </a:rPr>
                <a:t>담당자을</a:t>
              </a:r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 입력하세요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141" name="그룹 140"/>
            <p:cNvGrpSpPr/>
            <p:nvPr/>
          </p:nvGrpSpPr>
          <p:grpSpPr>
            <a:xfrm rot="16200000">
              <a:off x="3140954" y="5178643"/>
              <a:ext cx="91437" cy="45720"/>
              <a:chOff x="7046734" y="3297172"/>
              <a:chExt cx="94009" cy="47006"/>
            </a:xfrm>
          </p:grpSpPr>
          <p:cxnSp>
            <p:nvCxnSpPr>
              <p:cNvPr id="142" name="직선 연결선 141"/>
              <p:cNvCxnSpPr/>
              <p:nvPr/>
            </p:nvCxnSpPr>
            <p:spPr>
              <a:xfrm>
                <a:off x="7046734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4" name="직선 연결선 143"/>
              <p:cNvCxnSpPr/>
              <p:nvPr/>
            </p:nvCxnSpPr>
            <p:spPr>
              <a:xfrm flipH="1">
                <a:off x="7093738" y="3297173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타원 11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694089" y="575137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1977748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2207906"/>
            <a:ext cx="2305144" cy="10772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물품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용역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공사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국외</a:t>
            </a:r>
            <a:endParaRPr lang="en-US" altLang="ko-KR" sz="700" dirty="0">
              <a:latin typeface="+mn-ea"/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772169" y="2274218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/>
          <p:cNvSpPr/>
          <p:nvPr/>
        </p:nvSpPr>
        <p:spPr>
          <a:xfrm>
            <a:off x="772169" y="2491444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/>
          <p:cNvGrpSpPr/>
          <p:nvPr/>
        </p:nvGrpSpPr>
        <p:grpSpPr>
          <a:xfrm flipV="1">
            <a:off x="3140949" y="2075438"/>
            <a:ext cx="91438" cy="45719"/>
            <a:chOff x="6812560" y="3297172"/>
            <a:chExt cx="94010" cy="47005"/>
          </a:xfrm>
        </p:grpSpPr>
        <p:cxnSp>
          <p:nvCxnSpPr>
            <p:cNvPr id="135" name="직선 연결선 13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직선 연결선 135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7" name="직사각형 136"/>
          <p:cNvSpPr/>
          <p:nvPr/>
        </p:nvSpPr>
        <p:spPr>
          <a:xfrm>
            <a:off x="772169" y="2688534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/>
          <p:cNvSpPr/>
          <p:nvPr/>
        </p:nvSpPr>
        <p:spPr>
          <a:xfrm>
            <a:off x="772169" y="2903195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/>
          <p:cNvSpPr/>
          <p:nvPr/>
        </p:nvSpPr>
        <p:spPr>
          <a:xfrm>
            <a:off x="772169" y="3115161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TextBox 139"/>
          <p:cNvSpPr txBox="1"/>
          <p:nvPr/>
        </p:nvSpPr>
        <p:spPr>
          <a:xfrm>
            <a:off x="712771" y="2453086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8087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472364"/>
            <a:ext cx="2305144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검색 설정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3694902"/>
            <a:ext cx="6707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계약일자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빠른 설정</a:t>
            </a:r>
            <a:endParaRPr lang="en-US" altLang="ko-KR" sz="700" dirty="0">
              <a:latin typeface="+mn-ea"/>
            </a:endParaRP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3140949" y="3570054"/>
            <a:ext cx="91438" cy="45719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1464781" y="3722533"/>
            <a:ext cx="859319" cy="188244"/>
            <a:chOff x="5613534" y="2854836"/>
            <a:chExt cx="804671" cy="188244"/>
          </a:xfrm>
        </p:grpSpPr>
        <p:sp>
          <p:nvSpPr>
            <p:cNvPr id="181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2025-10-15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82" name="그림 181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sp>
        <p:nvSpPr>
          <p:cNvPr id="178" name="TextBox 91">
            <a:extLst>
              <a:ext uri="{FF2B5EF4-FFF2-40B4-BE49-F238E27FC236}">
                <a16:creationId xmlns:a16="http://schemas.microsoft.com/office/drawing/2014/main" id="{02490888-B81F-0F94-5D5F-078AEEB39DDB}"/>
              </a:ext>
            </a:extLst>
          </p:cNvPr>
          <p:cNvSpPr txBox="1"/>
          <p:nvPr/>
        </p:nvSpPr>
        <p:spPr>
          <a:xfrm>
            <a:off x="2347279" y="3742480"/>
            <a:ext cx="80150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900" dirty="0">
                <a:solidFill>
                  <a:prstClr val="black"/>
                </a:solidFill>
                <a:cs typeface="Pretendard Medium" panose="02000603000000020004" pitchFamily="50" charset="-127"/>
              </a:rPr>
              <a:t>~</a:t>
            </a:r>
            <a:endParaRPr lang="ko-KR" altLang="en-US" sz="900" dirty="0">
              <a:solidFill>
                <a:prstClr val="black"/>
              </a:solidFill>
              <a:cs typeface="Pretendard Medium" panose="02000603000000020004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1464781" y="3953202"/>
            <a:ext cx="1845146" cy="188135"/>
            <a:chOff x="1430277" y="4057651"/>
            <a:chExt cx="1845146" cy="188135"/>
          </a:xfrm>
        </p:grpSpPr>
        <p:sp>
          <p:nvSpPr>
            <p:cNvPr id="189" name="사각형: 둥근 모서리 169">
              <a:extLst>
                <a:ext uri="{FF2B5EF4-FFF2-40B4-BE49-F238E27FC236}">
                  <a16:creationId xmlns:a16="http://schemas.microsoft.com/office/drawing/2014/main" id="{A28DD831-0E4B-31EE-CB08-9E188754698D}"/>
                </a:ext>
              </a:extLst>
            </p:cNvPr>
            <p:cNvSpPr/>
            <p:nvPr/>
          </p:nvSpPr>
          <p:spPr>
            <a:xfrm>
              <a:off x="1430277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최근 </a:t>
              </a:r>
              <a:r>
                <a:rPr kumimoji="1" lang="en-US" altLang="ko-KR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1</a:t>
              </a:r>
              <a:r>
                <a:rPr kumimoji="1" lang="ko-KR" altLang="en-US" sz="700" kern="0" dirty="0">
                  <a:solidFill>
                    <a:srgbClr val="0070C0"/>
                  </a:solidFill>
                  <a:latin typeface="맑은 고딕"/>
                  <a:ea typeface="맑은 고딕" panose="020B0503020000020004" pitchFamily="50" charset="-127"/>
                </a:rPr>
                <a:t>개월</a:t>
              </a:r>
              <a:endParaRPr kumimoji="1" lang="en-US" sz="7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90" name="사각형: 둥근 모서리 171">
              <a:extLst>
                <a:ext uri="{FF2B5EF4-FFF2-40B4-BE49-F238E27FC236}">
                  <a16:creationId xmlns:a16="http://schemas.microsoft.com/office/drawing/2014/main" id="{75BECEC6-4045-95B1-98C2-242CA0FC5A06}"/>
                </a:ext>
              </a:extLst>
            </p:cNvPr>
            <p:cNvSpPr/>
            <p:nvPr/>
          </p:nvSpPr>
          <p:spPr>
            <a:xfrm>
              <a:off x="2061841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latin typeface="+mn-ea"/>
                </a:rPr>
                <a:t>최근 </a:t>
              </a:r>
              <a:r>
                <a:rPr kumimoji="1" lang="en-US" altLang="ko-KR" sz="700" kern="0" dirty="0">
                  <a:latin typeface="+mn-ea"/>
                </a:rPr>
                <a:t>3</a:t>
              </a:r>
              <a:r>
                <a:rPr kumimoji="1" lang="ko-KR" altLang="en-US" sz="700" kern="0" dirty="0">
                  <a:latin typeface="+mn-ea"/>
                </a:rPr>
                <a:t>개월</a:t>
              </a:r>
              <a:endParaRPr kumimoji="1" lang="en-US" altLang="ko-KR" sz="700" kern="0" dirty="0">
                <a:latin typeface="+mn-ea"/>
              </a:endParaRPr>
            </a:p>
          </p:txBody>
        </p:sp>
        <p:sp>
          <p:nvSpPr>
            <p:cNvPr id="191" name="사각형: 둥근 모서리 172">
              <a:extLst>
                <a:ext uri="{FF2B5EF4-FFF2-40B4-BE49-F238E27FC236}">
                  <a16:creationId xmlns:a16="http://schemas.microsoft.com/office/drawing/2014/main" id="{7F182F00-C81F-5F02-6A1E-826222B231A9}"/>
                </a:ext>
              </a:extLst>
            </p:cNvPr>
            <p:cNvSpPr/>
            <p:nvPr/>
          </p:nvSpPr>
          <p:spPr>
            <a:xfrm>
              <a:off x="2693406" y="4057651"/>
              <a:ext cx="582017" cy="188135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lvl="0" algn="ctr" fontAlgn="base" latinLnBrk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최근 </a:t>
              </a:r>
              <a:r>
                <a:rPr kumimoji="1" lang="en-US" altLang="ko-KR" sz="700" kern="0" dirty="0">
                  <a:solidFill>
                    <a:prstClr val="black"/>
                  </a:solidFill>
                  <a:latin typeface="+mn-ea"/>
                </a:rPr>
                <a:t>6</a:t>
              </a:r>
              <a:r>
                <a:rPr kumimoji="1" lang="ko-KR" altLang="en-US" sz="700" kern="0" dirty="0">
                  <a:solidFill>
                    <a:prstClr val="black"/>
                  </a:solidFill>
                  <a:latin typeface="+mn-ea"/>
                </a:rPr>
                <a:t>개월</a:t>
              </a:r>
              <a:endParaRPr kumimoji="1" lang="en-US" altLang="ko-KR" sz="700" kern="0" dirty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195" name="그룹 194">
            <a:extLst>
              <a:ext uri="{FF2B5EF4-FFF2-40B4-BE49-F238E27FC236}">
                <a16:creationId xmlns:a16="http://schemas.microsoft.com/office/drawing/2014/main" id="{8F2F56C4-B606-212C-F131-A4A30AE19BC8}"/>
              </a:ext>
            </a:extLst>
          </p:cNvPr>
          <p:cNvGrpSpPr/>
          <p:nvPr/>
        </p:nvGrpSpPr>
        <p:grpSpPr>
          <a:xfrm>
            <a:off x="2450608" y="3722533"/>
            <a:ext cx="859319" cy="188244"/>
            <a:chOff x="5613534" y="2854836"/>
            <a:chExt cx="804671" cy="188244"/>
          </a:xfrm>
        </p:grpSpPr>
        <p:sp>
          <p:nvSpPr>
            <p:cNvPr id="196" name="사각형: 둥근 모서리 86">
              <a:extLst>
                <a:ext uri="{FF2B5EF4-FFF2-40B4-BE49-F238E27FC236}">
                  <a16:creationId xmlns:a16="http://schemas.microsoft.com/office/drawing/2014/main" id="{C84908FA-11D4-E687-3603-3EA5852F6FAE}"/>
                </a:ext>
              </a:extLst>
            </p:cNvPr>
            <p:cNvSpPr/>
            <p:nvPr/>
          </p:nvSpPr>
          <p:spPr>
            <a:xfrm>
              <a:off x="5613534" y="2854836"/>
              <a:ext cx="804671" cy="188244"/>
            </a:xfrm>
            <a:prstGeom prst="roundRect">
              <a:avLst>
                <a:gd name="adj" fmla="val 1865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sz="700" kern="0" dirty="0">
                  <a:latin typeface="맑은 고딕"/>
                </a:rPr>
                <a:t>2026-01-16</a:t>
              </a:r>
              <a:endParaRPr kumimoji="1" lang="en-US" sz="7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pic>
          <p:nvPicPr>
            <p:cNvPr id="197" name="그림 196">
              <a:extLst>
                <a:ext uri="{FF2B5EF4-FFF2-40B4-BE49-F238E27FC236}">
                  <a16:creationId xmlns:a16="http://schemas.microsoft.com/office/drawing/2014/main" id="{B217D5BC-8335-EED4-D47A-F3F411084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65649" y="2876004"/>
              <a:ext cx="126296" cy="137278"/>
            </a:xfrm>
            <a:prstGeom prst="rect">
              <a:avLst/>
            </a:prstGeom>
          </p:spPr>
        </p:pic>
      </p:grpSp>
      <p:cxnSp>
        <p:nvCxnSpPr>
          <p:cNvPr id="199" name="직선 연결선 19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361765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4496729"/>
            <a:ext cx="230514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 err="1">
                <a:latin typeface="+mn-ea"/>
              </a:rPr>
              <a:t>업무구분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41620" y="4726887"/>
            <a:ext cx="2305144" cy="12926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전체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선금신청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착중도금신청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수정</a:t>
            </a:r>
            <a:endParaRPr lang="en-US" altLang="ko-KR" sz="700" dirty="0">
              <a:latin typeface="+mn-ea"/>
            </a:endParaRPr>
          </a:p>
          <a:p>
            <a:pPr>
              <a:lnSpc>
                <a:spcPct val="200000"/>
              </a:lnSpc>
            </a:pP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확정</a:t>
            </a:r>
            <a:endParaRPr lang="en-US" altLang="ko-KR" sz="700" dirty="0">
              <a:latin typeface="+mn-ea"/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772169" y="4793199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3" name="직사각형 162"/>
          <p:cNvSpPr/>
          <p:nvPr/>
        </p:nvSpPr>
        <p:spPr>
          <a:xfrm>
            <a:off x="772169" y="5010425"/>
            <a:ext cx="107950" cy="10795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4" name="그룹 163"/>
          <p:cNvGrpSpPr/>
          <p:nvPr/>
        </p:nvGrpSpPr>
        <p:grpSpPr>
          <a:xfrm flipV="1">
            <a:off x="3140949" y="4594419"/>
            <a:ext cx="91438" cy="45719"/>
            <a:chOff x="6812560" y="3297172"/>
            <a:chExt cx="94010" cy="47005"/>
          </a:xfrm>
        </p:grpSpPr>
        <p:cxnSp>
          <p:nvCxnSpPr>
            <p:cNvPr id="165" name="직선 연결선 164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직선 연결선 16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68" name="직사각형 167"/>
          <p:cNvSpPr/>
          <p:nvPr/>
        </p:nvSpPr>
        <p:spPr>
          <a:xfrm>
            <a:off x="772169" y="5207515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직사각형 170"/>
          <p:cNvSpPr/>
          <p:nvPr/>
        </p:nvSpPr>
        <p:spPr>
          <a:xfrm>
            <a:off x="772169" y="5422176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직사각형 171"/>
          <p:cNvSpPr/>
          <p:nvPr/>
        </p:nvSpPr>
        <p:spPr>
          <a:xfrm>
            <a:off x="772169" y="5634142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9" name="TextBox 178"/>
          <p:cNvSpPr txBox="1"/>
          <p:nvPr/>
        </p:nvSpPr>
        <p:spPr>
          <a:xfrm>
            <a:off x="712771" y="4972067"/>
            <a:ext cx="221536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600" dirty="0">
                <a:solidFill>
                  <a:schemeClr val="bg1"/>
                </a:solidFill>
              </a:rPr>
              <a:t>v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cxnSp>
        <p:nvCxnSpPr>
          <p:cNvPr id="180" name="직선 연결선 17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61692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4" name="직사각형 113"/>
          <p:cNvSpPr/>
          <p:nvPr/>
        </p:nvSpPr>
        <p:spPr>
          <a:xfrm>
            <a:off x="772169" y="5846603"/>
            <a:ext cx="107950" cy="10795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118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08474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대금청구통합목록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dmt_PymtClmIntgSrch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2078900"/>
            <a:ext cx="26647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ctrtBgngYmd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-mm-dd((From-To))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301691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jntCtrtCdNm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하도급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주계약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B6E65A-2A9E-428A-5B6F-2D9A70A8AC9B}"/>
              </a:ext>
            </a:extLst>
          </p:cNvPr>
          <p:cNvSpPr txBox="1"/>
          <p:nvPr/>
        </p:nvSpPr>
        <p:spPr>
          <a:xfrm>
            <a:off x="458117" y="4308312"/>
            <a:ext cx="322901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 신청목록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dlt_pymtClmAplyList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AFEE4E0-F73E-BA2F-1662-ED68211F1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541300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그리드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국외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4921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1330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0053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업체명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807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bidMthdNm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입찰방법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:BDTC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18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jntCtrtCdNm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계약종류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하도급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공동계약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주계약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7" name="Text Box 73">
            <a:extLst>
              <a:ext uri="{FF2B5EF4-FFF2-40B4-BE49-F238E27FC236}">
                <a16:creationId xmlns:a16="http://schemas.microsoft.com/office/drawing/2014/main" id="{AC6556DB-F5FC-C865-D984-44E8158CA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31434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89E1827E-1988-380A-F9F3-3955A79B0F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848977"/>
              </p:ext>
            </p:extLst>
          </p:nvPr>
        </p:nvGraphicFramePr>
        <p:xfrm>
          <a:off x="453000" y="1041145"/>
          <a:ext cx="8995591" cy="1701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계약일자를 현재일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– M,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현재일로 기본 값 설정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업무구분은 전체로 설정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scwin.btn_search_onclick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조회조건에 해당하는 결과를 대금청구목록 그리드에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10183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대금청구안내문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scwin.btn_pymtClmGdntc_onclick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안내문을 팝업으로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(UI-WM-01-P22)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대금청구안내문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362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 err="1" smtClean="0"/>
                        <a:t>대금청구서</a:t>
                      </a:r>
                      <a:r>
                        <a:rPr lang="ko-KR" altLang="en-US" sz="800" dirty="0" smtClean="0"/>
                        <a:t> </a:t>
                      </a:r>
                      <a:r>
                        <a:rPr lang="ko-KR" altLang="en-US" sz="800" dirty="0"/>
                        <a:t>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scwin.btn_pymtClmMdfcnSbmsn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상세화면을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(UI-WM-01-M17)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(UI-WM-01-M18)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(UI-WM-01-M19)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(UI-WM-01-M20)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),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(UI-WM-01-M72)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대금청구서상세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27559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78B7293-4AE2-DAA5-5A01-3613EC5D2D2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6C2B2374-305A-4B28-5E32-57F40AE40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63745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1-2 </a:t>
            </a:r>
            <a:r>
              <a:rPr lang="en-US" altLang="ko-KR" dirty="0"/>
              <a:t>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 smtClean="0"/>
              <a:t>신청정보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</a:t>
            </a:r>
            <a:r>
              <a:rPr lang="ko-KR" altLang="en-US" dirty="0" smtClean="0"/>
              <a:t>내용에 </a:t>
            </a:r>
            <a:r>
              <a:rPr lang="ko-KR" altLang="en-US" dirty="0"/>
              <a:t>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정보 폼 변화는 </a:t>
            </a:r>
            <a:r>
              <a:rPr lang="ko-KR" altLang="en-US" dirty="0" smtClean="0"/>
              <a:t>별도 </a:t>
            </a:r>
            <a:r>
              <a:rPr lang="ko-KR" altLang="en-US" dirty="0"/>
              <a:t>정의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플로팅</a:t>
            </a:r>
            <a:r>
              <a:rPr lang="ko-KR" altLang="en-US" dirty="0"/>
              <a:t> 버튼은 후술함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2250612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2077" y="2250612"/>
            <a:ext cx="59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1" name="모서리가 둥근 직사각형 250"/>
          <p:cNvSpPr/>
          <p:nvPr/>
        </p:nvSpPr>
        <p:spPr>
          <a:xfrm>
            <a:off x="1516736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grpSp>
        <p:nvGrpSpPr>
          <p:cNvPr id="9" name="그룹 8"/>
          <p:cNvGrpSpPr/>
          <p:nvPr/>
        </p:nvGrpSpPr>
        <p:grpSpPr>
          <a:xfrm>
            <a:off x="3796091" y="4161857"/>
            <a:ext cx="2712027" cy="830059"/>
            <a:chOff x="3796091" y="4161857"/>
            <a:chExt cx="2712027" cy="830059"/>
          </a:xfrm>
        </p:grpSpPr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304" name="그룹 303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305" name="직선 연결선 3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1" name="모서리가 둥근 직사각형 310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6" name="모서리가 둥근 직사각형 155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grpSp>
        <p:nvGrpSpPr>
          <p:cNvPr id="6" name="그룹 5"/>
          <p:cNvGrpSpPr/>
          <p:nvPr/>
        </p:nvGrpSpPr>
        <p:grpSpPr>
          <a:xfrm>
            <a:off x="3836701" y="2540391"/>
            <a:ext cx="2630093" cy="1551225"/>
            <a:chOff x="3836701" y="2575831"/>
            <a:chExt cx="2630093" cy="1551225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600147"/>
            <a:chOff x="720490" y="4465173"/>
            <a:chExt cx="2630093" cy="160014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51" name="그룹 15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152" name="직선 연결선 15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3" name="직선 연결선 15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5" name="타원 154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8" name="그룹 157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62" name="직선 연결선 16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3" name="직선 연결선 16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4" name="그룹 16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65" name="직선 연결선 16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6" name="직선 연결선 16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7" name="타원 16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73" name="타원 172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TextBox 1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7" name="타원 176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0" name="그룹 179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1" name="타원 180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5" name="그룹 18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87" name="직선 연결선 186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직선 연결선 205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5824641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선금신청서</a:t>
            </a:r>
            <a:r>
              <a:rPr lang="ko-KR" altLang="en-US" dirty="0"/>
              <a:t> 차수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신청금액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계약내용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공급자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신청정보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675399" y="4899940"/>
            <a:ext cx="2712027" cy="830059"/>
            <a:chOff x="3796091" y="4161857"/>
            <a:chExt cx="2712027" cy="83005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716366" y="3243034"/>
            <a:ext cx="2630093" cy="1586665"/>
            <a:chOff x="3836701" y="2540391"/>
            <a:chExt cx="2630093" cy="158666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40391"/>
              <a:ext cx="139170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0" name="그룹 129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그룹 132"/>
          <p:cNvGrpSpPr/>
          <p:nvPr/>
        </p:nvGrpSpPr>
        <p:grpSpPr>
          <a:xfrm>
            <a:off x="716366" y="1528651"/>
            <a:ext cx="2630093" cy="1600147"/>
            <a:chOff x="720490" y="4465173"/>
            <a:chExt cx="2630093" cy="1600147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지출원인금액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0227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197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9660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548123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038797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기사용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사용예정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신청금액의</a:t>
              </a:r>
              <a:r>
                <a:rPr lang="ko-KR" altLang="en-US" sz="700" dirty="0">
                  <a:latin typeface="+mn-ea"/>
                </a:rPr>
                <a:t> 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1782724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16366" y="3413051"/>
            <a:ext cx="2630093" cy="1548736"/>
            <a:chOff x="716366" y="3441403"/>
            <a:chExt cx="2630093" cy="1548736"/>
          </a:xfrm>
        </p:grpSpPr>
        <p:grpSp>
          <p:nvGrpSpPr>
            <p:cNvPr id="53" name="그룹 52"/>
            <p:cNvGrpSpPr/>
            <p:nvPr/>
          </p:nvGrpSpPr>
          <p:grpSpPr>
            <a:xfrm>
              <a:off x="716366" y="3697476"/>
              <a:ext cx="2630093" cy="1292663"/>
              <a:chOff x="3865118" y="2946203"/>
              <a:chExt cx="2630093" cy="1292663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3363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국내 재료비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재료비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직접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36701" y="4784969"/>
            <a:ext cx="2630093" cy="1548736"/>
            <a:chOff x="3795734" y="3441403"/>
            <a:chExt cx="2630093" cy="1548736"/>
          </a:xfrm>
        </p:grpSpPr>
        <p:grpSp>
          <p:nvGrpSpPr>
            <p:cNvPr id="93" name="그룹 92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간접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3525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/>
              <a:t>선금신청서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선금신청서</a:t>
            </a:r>
            <a:r>
              <a:rPr lang="ko-KR" altLang="en-US" dirty="0">
                <a:latin typeface="+mn-ea"/>
              </a:rPr>
              <a:t>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MUI-WM-01-M02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6366" y="1527996"/>
            <a:ext cx="2630093" cy="1548736"/>
            <a:chOff x="3795734" y="3441403"/>
            <a:chExt cx="2630093" cy="1548736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직접 경비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16366" y="3154214"/>
            <a:ext cx="2630093" cy="1548736"/>
            <a:chOff x="3795734" y="3441403"/>
            <a:chExt cx="2630093" cy="15487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경비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716366" y="4784969"/>
            <a:ext cx="2630093" cy="1548736"/>
            <a:chOff x="3795734" y="3441403"/>
            <a:chExt cx="2630093" cy="1548736"/>
          </a:xfrm>
        </p:grpSpPr>
        <p:grpSp>
          <p:nvGrpSpPr>
            <p:cNvPr id="135" name="그룹 134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37" name="직사각형 136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일반 관리비</a:t>
              </a: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126327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20978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선금신청서 차수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dmt_prpayApfrCyclInfo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271CA1-8B7B-01B8-8587-605BE3417C65}"/>
              </a:ext>
            </a:extLst>
          </p:cNvPr>
          <p:cNvSpPr txBox="1"/>
          <p:nvPr/>
        </p:nvSpPr>
        <p:spPr>
          <a:xfrm>
            <a:off x="458117" y="1817648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dmndDt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FC692424-6A27-FF04-83B1-DBDD428A585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61466" y="2049148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60920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8369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mainBizCn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DCD4A05-B1B2-6704-0345-7056CB08D3D5}"/>
              </a:ext>
            </a:extLst>
          </p:cNvPr>
          <p:cNvSpPr txBox="1"/>
          <p:nvPr/>
        </p:nvSpPr>
        <p:spPr>
          <a:xfrm>
            <a:off x="458117" y="3466653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F33B436-336A-B501-0BE2-1B19942B1F9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698153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지출원인금액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지출원인금액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수정화면에서만 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F6F026C-B651-7520-0A7A-01E73FC938FC}"/>
              </a:ext>
            </a:extLst>
          </p:cNvPr>
          <p:cNvSpPr txBox="1"/>
          <p:nvPr/>
        </p:nvSpPr>
        <p:spPr>
          <a:xfrm>
            <a:off x="458117" y="4326026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7EE4C8C-1596-E135-E8B4-EB82C0699BF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557526"/>
          <a:ext cx="8994883" cy="1601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prpayAplyDsctnAmtSeNm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금액구분명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대상금액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9895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</a:t>
                      </a:r>
                      <a:r>
                        <a:rPr lang="ko-KR" altLang="en-US" sz="800" spc="0" dirty="0" err="1">
                          <a:latin typeface="+mn-ea"/>
                          <a:ea typeface="+mn-ea"/>
                        </a:rPr>
                        <a:t>기사용</a:t>
                      </a:r>
                      <a:endParaRPr lang="ko-KR" altLang="en-US" sz="800" spc="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arusAplyAmt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3550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사용예정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usePrnmntAplyAmt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사용예정 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6577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 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aplySumAmt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</a:t>
                      </a:r>
                      <a:r>
                        <a:rPr lang="ko-KR" altLang="en-US" sz="800" dirty="0" err="1">
                          <a:latin typeface="+mn-ea"/>
                        </a:rPr>
                        <a:t>기사용</a:t>
                      </a:r>
                      <a:r>
                        <a:rPr lang="ko-KR" altLang="en-US" sz="800" dirty="0">
                          <a:latin typeface="+mn-ea"/>
                        </a:rPr>
                        <a:t> 신청금액과 사용예정 신청금액의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271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aplyAmtRt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 일반관리비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합계의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*100(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화면에서 계산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3449522"/>
                  </a:ext>
                </a:extLst>
              </a:tr>
            </a:tbl>
          </a:graphicData>
        </a:graphic>
      </p:graphicFrame>
      <p:sp>
        <p:nvSpPr>
          <p:cNvPr id="10" name="Text Box 73">
            <a:extLst>
              <a:ext uri="{FF2B5EF4-FFF2-40B4-BE49-F238E27FC236}">
                <a16:creationId xmlns:a16="http://schemas.microsoft.com/office/drawing/2014/main" id="{5FFE7C35-2362-9481-0F6A-DA2217795C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096333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146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wrtrJbttlNm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EF13B1B-9846-067B-08DD-AB98FCEB3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3C33E4-E4DC-F17B-082F-B9C39DF76C95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52558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F0E94EC-9BAC-208C-9C16-356647B1F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512735"/>
              </p:ext>
            </p:extLst>
          </p:nvPr>
        </p:nvGraphicFramePr>
        <p:xfrm>
          <a:off x="453000" y="1049851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전자서명 검증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scwin.btn_elsgnVrfc_onclick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전자서명 검증 팝업을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800" dirty="0" err="1"/>
                        <a:t>scwin.btn_print_onclick</a:t>
                      </a:r>
                      <a:endParaRPr lang="ko-KR" altLang="en-US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증명서 출력 팝업을 호출한다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(UI-WM-01-P30)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증명서출력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4710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E4A288-7AB3-FB2A-21DF-A951B1303538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6" name="Text Box 73">
            <a:extLst>
              <a:ext uri="{FF2B5EF4-FFF2-40B4-BE49-F238E27FC236}">
                <a16:creationId xmlns:a16="http://schemas.microsoft.com/office/drawing/2014/main" id="{BC2CA564-7302-5E8B-9DF2-1E1715C112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44392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내용에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정보 폼 변화는 별도 정의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플로팅</a:t>
            </a:r>
            <a:r>
              <a:rPr lang="ko-KR" altLang="en-US" dirty="0"/>
              <a:t> 버튼은 후술함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142235"/>
            <a:ext cx="588990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2250612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신청정보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2077" y="2250612"/>
            <a:ext cx="590461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세부 </a:t>
            </a:r>
            <a:r>
              <a:rPr lang="ko-KR" altLang="en-US" sz="700" dirty="0" err="1">
                <a:latin typeface="+mn-ea"/>
              </a:rPr>
              <a:t>신청내역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9" name="그룹 8"/>
          <p:cNvGrpSpPr/>
          <p:nvPr/>
        </p:nvGrpSpPr>
        <p:grpSpPr>
          <a:xfrm>
            <a:off x="3796091" y="4161857"/>
            <a:ext cx="2712027" cy="830059"/>
            <a:chOff x="3796091" y="4161857"/>
            <a:chExt cx="2712027" cy="830059"/>
          </a:xfrm>
        </p:grpSpPr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304" name="그룹 303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305" name="직선 연결선 3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6" name="직선 연결선 3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1" name="모서리가 둥근 직사각형 310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314" name="TextBox 3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2540391"/>
            <a:ext cx="2630093" cy="1551225"/>
            <a:chOff x="3836701" y="2575831"/>
            <a:chExt cx="2630093" cy="1551225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618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 err="1">
                  <a:latin typeface="+mn-ea"/>
                </a:rPr>
                <a:t>대상금액</a:t>
              </a:r>
              <a:r>
                <a:rPr lang="en-US" altLang="ko-KR" sz="600" dirty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최종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600369"/>
            <a:chOff x="720490" y="4465173"/>
            <a:chExt cx="2630093" cy="1600369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2926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53" name="직선 연결선 15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55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1513040" y="2278058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623744" y="1602341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55" name="타원 154"/>
          <p:cNvSpPr/>
          <p:nvPr/>
        </p:nvSpPr>
        <p:spPr>
          <a:xfrm>
            <a:off x="1597442" y="5903948"/>
            <a:ext cx="90000" cy="900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타원 156"/>
          <p:cNvSpPr/>
          <p:nvPr/>
        </p:nvSpPr>
        <p:spPr>
          <a:xfrm>
            <a:off x="2348738" y="5903948"/>
            <a:ext cx="90000" cy="900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746956" y="5895087"/>
            <a:ext cx="269304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착수금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506466" y="5895087"/>
            <a:ext cx="37830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착</a:t>
            </a:r>
            <a:r>
              <a:rPr lang="en-US" altLang="ko-KR" sz="700" dirty="0">
                <a:latin typeface="+mn-ea"/>
              </a:rPr>
              <a:t>.</a:t>
            </a:r>
            <a:r>
              <a:rPr lang="ko-KR" altLang="en-US" sz="700" dirty="0">
                <a:latin typeface="+mn-ea"/>
              </a:rPr>
              <a:t>중도금</a:t>
            </a:r>
          </a:p>
        </p:txBody>
      </p:sp>
      <p:grpSp>
        <p:nvGrpSpPr>
          <p:cNvPr id="156" name="그룹 155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63" name="그룹 162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65" name="타원 164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그룹 167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9" name="타원 168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74" name="타원 173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8" name="타원 177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1" name="그룹 180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5" name="타원 184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87" name="그룹 186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060755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선금신청서</a:t>
            </a:r>
            <a:r>
              <a:rPr lang="ko-KR" altLang="en-US" dirty="0"/>
              <a:t> 차수 데이터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신청금액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계약내용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공급자 정보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신청정보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</a:t>
            </a:r>
            <a:r>
              <a:rPr lang="ko-KR" altLang="en-US" dirty="0"/>
              <a:t> 상세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99" name="그룹 98"/>
          <p:cNvGrpSpPr/>
          <p:nvPr/>
        </p:nvGrpSpPr>
        <p:grpSpPr>
          <a:xfrm>
            <a:off x="675399" y="4899940"/>
            <a:ext cx="2712027" cy="830059"/>
            <a:chOff x="3796091" y="4161857"/>
            <a:chExt cx="2712027" cy="830059"/>
          </a:xfrm>
        </p:grpSpPr>
        <p:cxnSp>
          <p:nvCxnSpPr>
            <p:cNvPr id="100" name="직선 연결선 9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96091" y="4161857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02153" y="4193387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02" name="그룹 101"/>
            <p:cNvGrpSpPr/>
            <p:nvPr/>
          </p:nvGrpSpPr>
          <p:grpSpPr>
            <a:xfrm flipV="1">
              <a:off x="6264240" y="4306718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작성자명</a:t>
              </a:r>
              <a:r>
                <a:rPr lang="en-US" altLang="ko-KR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/</a:t>
              </a:r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직책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524104"/>
              <a:ext cx="493904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휴대폰번호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5" name="모서리가 둥근 직사각형 104"/>
            <p:cNvSpPr/>
            <p:nvPr/>
          </p:nvSpPr>
          <p:spPr>
            <a:xfrm>
              <a:off x="3831550" y="4647106"/>
              <a:ext cx="2652743" cy="344810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63885" y="4765650"/>
              <a:ext cx="49390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홍길동 대리</a:t>
              </a:r>
              <a:endParaRPr lang="en-US" altLang="ko-KR" sz="7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5159018" y="4765650"/>
              <a:ext cx="64751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010-1234-5678</a:t>
              </a:r>
            </a:p>
          </p:txBody>
        </p:sp>
      </p:grpSp>
      <p:grpSp>
        <p:nvGrpSpPr>
          <p:cNvPr id="118" name="그룹 117"/>
          <p:cNvGrpSpPr/>
          <p:nvPr/>
        </p:nvGrpSpPr>
        <p:grpSpPr>
          <a:xfrm>
            <a:off x="716366" y="3243034"/>
            <a:ext cx="2630093" cy="1586665"/>
            <a:chOff x="3836701" y="2540391"/>
            <a:chExt cx="2630093" cy="1586665"/>
          </a:xfrm>
        </p:grpSpPr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1" y="2540391"/>
              <a:ext cx="1391705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계약내용</a:t>
              </a:r>
            </a:p>
          </p:txBody>
        </p:sp>
        <p:sp>
          <p:nvSpPr>
            <p:cNvPr id="120" name="직사각형 119"/>
            <p:cNvSpPr/>
            <p:nvPr/>
          </p:nvSpPr>
          <p:spPr>
            <a:xfrm>
              <a:off x="3838794" y="2827415"/>
              <a:ext cx="792000" cy="129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1" name="직선 연결선 12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2275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r>
                <a:rPr lang="en-US" altLang="ko-KR" sz="600" dirty="0">
                  <a:latin typeface="+mn-ea"/>
                </a:rPr>
                <a:t>(</a:t>
              </a:r>
              <a:r>
                <a:rPr lang="ko-KR" altLang="en-US" sz="600" dirty="0" err="1">
                  <a:latin typeface="+mn-ea"/>
                </a:rPr>
                <a:t>대상금액</a:t>
              </a:r>
              <a:r>
                <a:rPr lang="en-US" altLang="ko-KR" sz="600" dirty="0">
                  <a:latin typeface="+mn-ea"/>
                </a:rPr>
                <a:t>)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납기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최종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2025-11-23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 ~ 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5" name="직선 연결선 12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30" name="그룹 129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2" name="직선 연결선 13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3" name="그룹 132"/>
          <p:cNvGrpSpPr/>
          <p:nvPr/>
        </p:nvGrpSpPr>
        <p:grpSpPr>
          <a:xfrm>
            <a:off x="716366" y="1528651"/>
            <a:ext cx="2630093" cy="1600147"/>
            <a:chOff x="720490" y="4465173"/>
            <a:chExt cx="2630093" cy="1600147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2808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수신자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신청구분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방위사업청</a:t>
              </a:r>
              <a:r>
                <a:rPr lang="ko-KR" altLang="en-US" sz="700" dirty="0">
                  <a:latin typeface="+mn-ea"/>
                </a:rPr>
                <a:t> 계약관리본부 재무관 귀하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\ </a:t>
              </a:r>
              <a:r>
                <a:rPr lang="ko-KR" altLang="en-US" sz="700" dirty="0">
                  <a:latin typeface="+mn-ea"/>
                </a:rPr>
                <a:t>일백만 원정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5" name="직선 연결선 1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397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6" name="직선 연결선 1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534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0227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31977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176" name="타원 1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96603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grpSp>
        <p:nvGrpSpPr>
          <p:cNvPr id="3" name="그룹 2"/>
          <p:cNvGrpSpPr/>
          <p:nvPr/>
        </p:nvGrpSpPr>
        <p:grpSpPr>
          <a:xfrm>
            <a:off x="1597442" y="2961293"/>
            <a:ext cx="1287333" cy="107722"/>
            <a:chOff x="1597442" y="5895087"/>
            <a:chExt cx="1287333" cy="107722"/>
          </a:xfrm>
        </p:grpSpPr>
        <p:sp>
          <p:nvSpPr>
            <p:cNvPr id="55" name="타원 54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타원 55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269304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착수금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378309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착</a:t>
              </a:r>
              <a:r>
                <a:rPr lang="en-US" altLang="ko-KR" sz="700" dirty="0">
                  <a:latin typeface="+mn-ea"/>
                </a:rPr>
                <a:t>.</a:t>
              </a:r>
              <a:r>
                <a:rPr lang="ko-KR" altLang="en-US" sz="700" dirty="0">
                  <a:latin typeface="+mn-ea"/>
                </a:rPr>
                <a:t>중도금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17677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신청내역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2038797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대상금액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기사용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사용예정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신청금액의</a:t>
              </a:r>
              <a:r>
                <a:rPr lang="ko-KR" altLang="en-US" sz="700" dirty="0">
                  <a:latin typeface="+mn-ea"/>
                </a:rPr>
                <a:t> 비율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1782724"/>
            <a:ext cx="130897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재료비 </a:t>
            </a:r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수입 재료비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16366" y="3413051"/>
            <a:ext cx="2630093" cy="1548736"/>
            <a:chOff x="716366" y="3441403"/>
            <a:chExt cx="2630093" cy="1548736"/>
          </a:xfrm>
        </p:grpSpPr>
        <p:grpSp>
          <p:nvGrpSpPr>
            <p:cNvPr id="53" name="그룹 52"/>
            <p:cNvGrpSpPr/>
            <p:nvPr/>
          </p:nvGrpSpPr>
          <p:grpSpPr>
            <a:xfrm>
              <a:off x="716366" y="3697476"/>
              <a:ext cx="2630093" cy="1292663"/>
              <a:chOff x="3865118" y="2946203"/>
              <a:chExt cx="2630093" cy="1292663"/>
            </a:xfrm>
          </p:grpSpPr>
          <p:sp>
            <p:nvSpPr>
              <p:cNvPr id="54" name="직사각형 53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55" name="직선 연결선 5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58" name="직선 연결선 5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59" name="직선 연결선 5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2" name="직선 연결선 6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63" name="직선 연결선 6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3363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국내 재료비</a:t>
              </a:r>
            </a:p>
          </p:txBody>
        </p:sp>
      </p:grp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재료비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재료비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직접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3836701" y="4784969"/>
            <a:ext cx="2630093" cy="1548736"/>
            <a:chOff x="3795734" y="3441403"/>
            <a:chExt cx="2630093" cy="1548736"/>
          </a:xfrm>
        </p:grpSpPr>
        <p:grpSp>
          <p:nvGrpSpPr>
            <p:cNvPr id="93" name="그룹 92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95" name="직사각형 94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0" name="직선 연결선 9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1" name="직선 연결선 10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3" name="직선 연결선 10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 err="1">
                  <a:latin typeface="+mn-ea"/>
                </a:rPr>
                <a:t>노무비</a:t>
              </a:r>
              <a:r>
                <a:rPr lang="ko-KR" altLang="en-US" sz="700" dirty="0">
                  <a:latin typeface="+mn-ea"/>
                </a:rPr>
                <a:t> </a:t>
              </a:r>
              <a:r>
                <a:rPr lang="en-US" altLang="ko-KR" sz="700" dirty="0">
                  <a:latin typeface="+mn-ea"/>
                </a:rPr>
                <a:t>– </a:t>
              </a:r>
              <a:r>
                <a:rPr lang="ko-KR" altLang="en-US" sz="700" dirty="0">
                  <a:latin typeface="+mn-ea"/>
                </a:rPr>
                <a:t>간접 </a:t>
              </a:r>
              <a:r>
                <a:rPr lang="ko-KR" altLang="en-US" sz="700" dirty="0" err="1">
                  <a:latin typeface="+mn-ea"/>
                </a:rPr>
                <a:t>노무비</a:t>
              </a:r>
              <a:endParaRPr lang="ko-KR" altLang="en-US" sz="70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28526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신청내역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세부 </a:t>
            </a:r>
            <a:r>
              <a:rPr lang="ko-KR" altLang="en-US" dirty="0" err="1">
                <a:latin typeface="+mn-ea"/>
              </a:rPr>
              <a:t>신청내역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중도금신청서 상세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MUI-WM-01-M03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836701" y="1527996"/>
            <a:ext cx="2630093" cy="1548736"/>
            <a:chOff x="3795734" y="3441403"/>
            <a:chExt cx="2630093" cy="1548736"/>
          </a:xfrm>
        </p:grpSpPr>
        <p:grpSp>
          <p:nvGrpSpPr>
            <p:cNvPr id="67" name="그룹 66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68" name="직사각형 6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9" name="직선 연결선 6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72" name="직선 연결선 7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3" name="직선 연결선 7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5" name="직선 연결선 7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6" name="직선 연결선 7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" name="직선 연결선 7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기타</a:t>
              </a:r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3836701" y="3154214"/>
            <a:ext cx="2630093" cy="1548736"/>
            <a:chOff x="3795734" y="3441403"/>
            <a:chExt cx="2630093" cy="1548736"/>
          </a:xfrm>
        </p:grpSpPr>
        <p:grpSp>
          <p:nvGrpSpPr>
            <p:cNvPr id="80" name="그룹 7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82" name="직사각형 8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3" name="직선 연결선 8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86" name="직선 연결선 8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" name="직선 연결선 8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" name="직선 연결선 8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" name="직선 연결선 90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합계</a:t>
              </a: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716366" y="1527996"/>
            <a:ext cx="2630093" cy="1548736"/>
            <a:chOff x="3795734" y="3441403"/>
            <a:chExt cx="2630093" cy="1548736"/>
          </a:xfrm>
        </p:grpSpPr>
        <p:grpSp>
          <p:nvGrpSpPr>
            <p:cNvPr id="106" name="그룹 105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09" name="직선 연결선 10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4" name="직선 연결선 113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5" name="직선 연결선 11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6" name="직선 연결선 11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직접 경비</a:t>
              </a:r>
            </a:p>
          </p:txBody>
        </p:sp>
      </p:grpSp>
      <p:grpSp>
        <p:nvGrpSpPr>
          <p:cNvPr id="119" name="그룹 118"/>
          <p:cNvGrpSpPr/>
          <p:nvPr/>
        </p:nvGrpSpPr>
        <p:grpSpPr>
          <a:xfrm>
            <a:off x="716366" y="3154214"/>
            <a:ext cx="2630093" cy="1548736"/>
            <a:chOff x="3795734" y="3441403"/>
            <a:chExt cx="2630093" cy="1548736"/>
          </a:xfrm>
        </p:grpSpPr>
        <p:grpSp>
          <p:nvGrpSpPr>
            <p:cNvPr id="120" name="그룹 119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22" name="직사각형 121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23" name="직선 연결선 12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26" name="직선 연결선 12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7" name="직선 연결선 12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경비 </a:t>
              </a: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간접 경비</a:t>
              </a:r>
            </a:p>
          </p:txBody>
        </p:sp>
      </p:grpSp>
      <p:grpSp>
        <p:nvGrpSpPr>
          <p:cNvPr id="134" name="그룹 133"/>
          <p:cNvGrpSpPr/>
          <p:nvPr/>
        </p:nvGrpSpPr>
        <p:grpSpPr>
          <a:xfrm>
            <a:off x="716366" y="4784969"/>
            <a:ext cx="2630093" cy="1548736"/>
            <a:chOff x="3795734" y="3441403"/>
            <a:chExt cx="2630093" cy="1548736"/>
          </a:xfrm>
        </p:grpSpPr>
        <p:grpSp>
          <p:nvGrpSpPr>
            <p:cNvPr id="135" name="그룹 134"/>
            <p:cNvGrpSpPr/>
            <p:nvPr/>
          </p:nvGrpSpPr>
          <p:grpSpPr>
            <a:xfrm>
              <a:off x="3795734" y="3697476"/>
              <a:ext cx="2630093" cy="1292663"/>
              <a:chOff x="3865118" y="2946203"/>
              <a:chExt cx="2630093" cy="1292663"/>
            </a:xfrm>
          </p:grpSpPr>
          <p:sp>
            <p:nvSpPr>
              <p:cNvPr id="137" name="직사각형 136"/>
              <p:cNvSpPr/>
              <p:nvPr/>
            </p:nvSpPr>
            <p:spPr>
              <a:xfrm>
                <a:off x="3867211" y="2946203"/>
                <a:ext cx="792000" cy="128939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40" name="직선 연결선 13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5118" y="2946204"/>
                <a:ext cx="2621844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3954275" y="2946204"/>
                <a:ext cx="670770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대상금액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>
                    <a:latin typeface="+mn-ea"/>
                  </a:rPr>
                  <a:t>신청금액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기사용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 err="1">
                    <a:latin typeface="+mn-ea"/>
                  </a:rPr>
                  <a:t>사용예정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- </a:t>
                </a:r>
                <a:r>
                  <a:rPr lang="ko-KR" altLang="en-US" sz="700" dirty="0">
                    <a:latin typeface="+mn-ea"/>
                  </a:rPr>
                  <a:t>계</a:t>
                </a:r>
                <a:endParaRPr lang="en-US" altLang="ko-KR" sz="700" dirty="0">
                  <a:latin typeface="+mn-ea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ko-KR" altLang="en-US" sz="700" dirty="0" err="1">
                    <a:latin typeface="+mn-ea"/>
                  </a:rPr>
                  <a:t>신청금액의</a:t>
                </a:r>
                <a:r>
                  <a:rPr lang="ko-KR" altLang="en-US" sz="700" dirty="0">
                    <a:latin typeface="+mn-ea"/>
                  </a:rPr>
                  <a:t> 비율</a:t>
                </a:r>
                <a:endParaRPr lang="en-US" altLang="ko-KR" sz="700" dirty="0">
                  <a:latin typeface="+mn-ea"/>
                </a:endParaRP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FFC49AEA-2A8F-250C-A86A-A7751D9706C3}"/>
                  </a:ext>
                </a:extLst>
              </p:cNvPr>
              <p:cNvSpPr txBox="1"/>
              <p:nvPr/>
            </p:nvSpPr>
            <p:spPr>
              <a:xfrm>
                <a:off x="4711123" y="2946204"/>
                <a:ext cx="1775839" cy="129266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000,000,000 </a:t>
                </a:r>
                <a:r>
                  <a:rPr lang="ko-KR" altLang="en-US" sz="700" dirty="0">
                    <a:latin typeface="+mn-ea"/>
                  </a:rPr>
                  <a:t>원</a:t>
                </a:r>
                <a:endParaRPr lang="en-US" altLang="ko-KR" sz="700" dirty="0">
                  <a:latin typeface="+mn-ea"/>
                </a:endParaRPr>
              </a:p>
              <a:p>
                <a:pPr algn="r">
                  <a:lnSpc>
                    <a:spcPct val="200000"/>
                  </a:lnSpc>
                </a:pPr>
                <a:r>
                  <a:rPr lang="en-US" altLang="ko-KR" sz="700" dirty="0">
                    <a:latin typeface="+mn-ea"/>
                  </a:rPr>
                  <a:t>00 %</a:t>
                </a:r>
              </a:p>
            </p:txBody>
          </p:sp>
          <p:cxnSp>
            <p:nvCxnSpPr>
              <p:cNvPr id="145" name="직선 연결선 144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177309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6" name="직선 연결선 145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391016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7" name="직선 연결선 146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604723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3808184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021891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E9293055-D5CD-4B9E-7F64-64B2D2CA7A52}"/>
                  </a:ext>
                </a:extLst>
              </p:cNvPr>
              <p:cNvCxnSpPr/>
              <p:nvPr/>
            </p:nvCxnSpPr>
            <p:spPr>
              <a:xfrm>
                <a:off x="3867211" y="4235598"/>
                <a:ext cx="2628000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82731" y="3441403"/>
              <a:ext cx="1308971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</a:t>
              </a:r>
              <a:r>
                <a:rPr lang="ko-KR" altLang="en-US" sz="700" dirty="0">
                  <a:latin typeface="+mn-ea"/>
                </a:rPr>
                <a:t>일반 관리비</a:t>
              </a: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35366658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33588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착</a:t>
            </a:r>
            <a:r>
              <a:rPr lang="ko-KR" altLang="en-US" sz="9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</a:t>
            </a:r>
            <a:r>
              <a:rPr lang="ko-KR" altLang="en-US" sz="900" b="1" dirty="0">
                <a:solidFill>
                  <a:prstClr val="black"/>
                </a:solidFill>
              </a:rPr>
              <a:t> 중도금신청서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dmt_dpsmnItrpyApfrInfo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rcptnOgnzCd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:RIC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dmndDt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F784F8A-DE0A-31A1-3FBE-B085A42597A0}"/>
              </a:ext>
            </a:extLst>
          </p:cNvPr>
          <p:cNvSpPr txBox="1"/>
          <p:nvPr/>
        </p:nvSpPr>
        <p:spPr>
          <a:xfrm>
            <a:off x="458117" y="1914110"/>
            <a:ext cx="239705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계약내용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8BDE79-BF23-DB8C-B477-712120D11FE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125313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품명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50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4006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dudtYmd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납기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 ~ </a:t>
                      </a: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납기일을 최대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최소로 시작일과 종료일을 표기함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52269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mainBizCn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24286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fravItrpySecd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4631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fravItrpySecd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중도금 조회결과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착수금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2: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착</a:t>
                      </a:r>
                      <a:r>
                        <a:rPr lang="en-US" altLang="ko-KR" sz="800" dirty="0">
                          <a:latin typeface="맑은 고딕" panose="020B0503020000020004" pitchFamily="50" charset="-127"/>
                          <a:ea typeface="+mn-ea"/>
                        </a:rPr>
                        <a:t>·</a:t>
                      </a:r>
                      <a:r>
                        <a:rPr lang="ko-KR" altLang="en-US" sz="800" dirty="0">
                          <a:latin typeface="맑은 고딕" panose="020B0503020000020004" pitchFamily="50" charset="-127"/>
                          <a:ea typeface="+mn-ea"/>
                        </a:rPr>
                        <a:t>중도금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204670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B8630A2-8BAD-BA52-B8EB-F2B7E828C720}"/>
              </a:ext>
            </a:extLst>
          </p:cNvPr>
          <p:cNvSpPr txBox="1"/>
          <p:nvPr/>
        </p:nvSpPr>
        <p:spPr>
          <a:xfrm>
            <a:off x="458117" y="4055031"/>
            <a:ext cx="2525298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9879A10-7D9E-200F-57E7-3CC23071AFD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266234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ED3BEC8-5614-CD32-7841-0B599058EF8D}"/>
              </a:ext>
            </a:extLst>
          </p:cNvPr>
          <p:cNvSpPr txBox="1"/>
          <p:nvPr/>
        </p:nvSpPr>
        <p:spPr>
          <a:xfrm>
            <a:off x="458117" y="4687734"/>
            <a:ext cx="260384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신청내역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dmt_aplyDsctnInfo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3971E247-38D3-E4B4-4CAC-4149A98E15B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898937"/>
          <a:ext cx="8994883" cy="1529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dpsmnItrpyAplyDsctnSeNm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구분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합계는 자동계산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컬럼별로 분리되어 있음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대상금액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5525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신청금액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3805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승인된 전 차수 수령금액의 합계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aplyStotAmt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승인된 전 차수 수령금액의 합계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합산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8756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spc="-150" dirty="0">
                          <a:latin typeface="+mn-ea"/>
                          <a:ea typeface="+mn-ea"/>
                        </a:rPr>
                        <a:t>신청금액의 비율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aplyAmtRt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재료비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노무비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경비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일반 관리비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기타</a:t>
                      </a:r>
                      <a:r>
                        <a:rPr lang="en-US" altLang="ko-KR" sz="800" dirty="0">
                          <a:latin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</a:rPr>
                        <a:t>합계 항목 별 신청금액의 비율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대상금액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)*100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851853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A07E09A-342C-A174-B633-4277DA610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00305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0186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공급자 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작성자명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-</a:t>
                      </a:r>
                      <a:r>
                        <a:rPr lang="ko-KR" altLang="en-US" sz="800" dirty="0" err="1">
                          <a:latin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직책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wrtrJbttlNm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수신자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01888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휴대폰번호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wrtrEnmtno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269020"/>
                  </a:ext>
                </a:extLst>
              </a:tr>
            </a:tbl>
          </a:graphicData>
        </a:graphic>
      </p:graphicFrame>
      <p:sp>
        <p:nvSpPr>
          <p:cNvPr id="4" name="Text Box 73">
            <a:extLst>
              <a:ext uri="{FF2B5EF4-FFF2-40B4-BE49-F238E27FC236}">
                <a16:creationId xmlns:a16="http://schemas.microsoft.com/office/drawing/2014/main" id="{C2247987-57BA-439D-E6D0-F1A9DB86C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D5F5B-3B3B-60FA-DE22-5A8F752BB4BD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850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24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5E7B1B2-38C6-7614-0180-1BCA2E21FC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824838"/>
              </p:ext>
            </p:extLst>
          </p:nvPr>
        </p:nvGraphicFramePr>
        <p:xfrm>
          <a:off x="453000" y="1049844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차수정보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계약정보 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증명서 출력 팝업 화면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이 호출된다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(UI-WM-01-P30)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증명서출력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763917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BDED4E1-CEE0-2778-ED59-1E6C078C7501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DACD6C03-FC7A-E226-2943-55ABE7FC8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26438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진행상태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</a:rPr>
              <a:t>선금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착</a:t>
            </a:r>
            <a:r>
              <a:rPr lang="en-US" altLang="ko-KR" dirty="0">
                <a:latin typeface="+mn-ea"/>
              </a:rPr>
              <a:t>.</a:t>
            </a:r>
            <a:r>
              <a:rPr lang="ko-KR" altLang="en-US" dirty="0">
                <a:latin typeface="+mn-ea"/>
              </a:rPr>
              <a:t>중도금 지급 상태 팝업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화면의 선금</a:t>
            </a:r>
            <a:r>
              <a:rPr lang="en-US" altLang="ko-KR" dirty="0"/>
              <a:t>/</a:t>
            </a:r>
            <a:r>
              <a:rPr lang="ko-KR" altLang="en-US" dirty="0"/>
              <a:t>착</a:t>
            </a:r>
            <a:r>
              <a:rPr lang="en-US" altLang="ko-KR" dirty="0"/>
              <a:t>.</a:t>
            </a:r>
            <a:r>
              <a:rPr lang="ko-KR" altLang="en-US" dirty="0"/>
              <a:t>중도금 지급 상태 팝업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MUI-WM-01-P04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양쪽 모서리가 둥근 사각형 64"/>
          <p:cNvSpPr/>
          <p:nvPr/>
        </p:nvSpPr>
        <p:spPr>
          <a:xfrm>
            <a:off x="676601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762614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67" name="그룹 66"/>
          <p:cNvGrpSpPr/>
          <p:nvPr/>
        </p:nvGrpSpPr>
        <p:grpSpPr>
          <a:xfrm>
            <a:off x="3165540" y="2273335"/>
            <a:ext cx="94010" cy="94010"/>
            <a:chOff x="6812560" y="3297172"/>
            <a:chExt cx="94010" cy="94010"/>
          </a:xfrm>
        </p:grpSpPr>
        <p:cxnSp>
          <p:nvCxnSpPr>
            <p:cNvPr id="68" name="직선 연결선 67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5678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>
                <a:latin typeface="+mn-ea"/>
              </a:rPr>
              <a:t>선금</a:t>
            </a:r>
            <a:r>
              <a:rPr lang="en-US" altLang="ko-KR" sz="900" dirty="0">
                <a:latin typeface="+mn-ea"/>
              </a:rPr>
              <a:t>/</a:t>
            </a:r>
            <a:r>
              <a:rPr lang="ko-KR" altLang="en-US" sz="900" dirty="0">
                <a:latin typeface="+mn-ea"/>
              </a:rPr>
              <a:t>착</a:t>
            </a:r>
            <a:r>
              <a:rPr lang="en-US" altLang="ko-KR" sz="900" dirty="0">
                <a:latin typeface="+mn-ea"/>
              </a:rPr>
              <a:t>·</a:t>
            </a:r>
            <a:r>
              <a:rPr lang="ko-KR" altLang="en-US" sz="900" dirty="0">
                <a:latin typeface="+mn-ea"/>
              </a:rPr>
              <a:t>중도금지급상태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601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8" name="모서리가 둥근 직사각형 97"/>
          <p:cNvSpPr/>
          <p:nvPr/>
        </p:nvSpPr>
        <p:spPr>
          <a:xfrm rot="5400000">
            <a:off x="2663444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2572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grpSp>
        <p:nvGrpSpPr>
          <p:cNvPr id="93" name="그룹 92"/>
          <p:cNvGrpSpPr/>
          <p:nvPr/>
        </p:nvGrpSpPr>
        <p:grpSpPr>
          <a:xfrm>
            <a:off x="676601" y="5614711"/>
            <a:ext cx="2712027" cy="617588"/>
            <a:chOff x="675399" y="5614711"/>
            <a:chExt cx="2712027" cy="617588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716366" y="2638316"/>
            <a:ext cx="2630093" cy="1292663"/>
            <a:chOff x="3865118" y="2946203"/>
            <a:chExt cx="2630093" cy="1292663"/>
          </a:xfrm>
        </p:grpSpPr>
        <p:sp>
          <p:nvSpPr>
            <p:cNvPr id="37" name="직사각형 36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신청년도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신청차수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진행상태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30991038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26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243232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진행상태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dlt_prgrsSttsList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신청년도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rqstYr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신청년도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신청차수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신청차수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expndStcd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진행상태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EPDS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006116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6509AC63-573C-E312-A1CF-7408DD54E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912177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내용에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정보 폼 변화는 별도 정의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플로팅</a:t>
            </a:r>
            <a:r>
              <a:rPr lang="ko-KR" altLang="en-US" dirty="0"/>
              <a:t> 버튼은 후술함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4169" y="4142235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218545" y="4142235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4" name="TextBox 20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67701" y="2250612"/>
            <a:ext cx="359782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b="1" dirty="0" err="1">
                <a:latin typeface="+mn-ea"/>
              </a:rPr>
              <a:t>계약정보</a:t>
            </a:r>
            <a:endParaRPr lang="ko-KR" altLang="en-US" sz="700" b="1" dirty="0">
              <a:latin typeface="+mn-ea"/>
            </a:endParaRPr>
          </a:p>
        </p:txBody>
      </p: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2540391"/>
            <a:ext cx="2630093" cy="1975134"/>
            <a:chOff x="3836701" y="2575831"/>
            <a:chExt cx="2630093" cy="1975134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169259"/>
            <a:chOff x="720490" y="4465173"/>
            <a:chExt cx="2630093" cy="1169259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8534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808462" y="4142235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473173" y="414223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>
                <a:latin typeface="+mn-ea"/>
              </a:rPr>
              <a:t>세금계산서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21353" y="2257065"/>
            <a:ext cx="500574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dirty="0">
                <a:latin typeface="+mn-ea"/>
              </a:rPr>
              <a:t>공급자 정보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911270" y="2257065"/>
            <a:ext cx="5753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 err="1">
                <a:latin typeface="+mn-ea"/>
              </a:rPr>
              <a:t>대금신청</a:t>
            </a:r>
            <a:r>
              <a:rPr lang="ko-KR" altLang="en-US" sz="700" dirty="0">
                <a:latin typeface="+mn-ea"/>
              </a:rPr>
              <a:t> 금액</a:t>
            </a: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5575981" y="2257065"/>
            <a:ext cx="45444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700">
                <a:latin typeface="+mn-ea"/>
              </a:rPr>
              <a:t>세금계산서</a:t>
            </a:r>
            <a:endParaRPr lang="ko-KR" altLang="en-US" sz="700" dirty="0">
              <a:latin typeface="+mn-ea"/>
            </a:endParaRPr>
          </a:p>
        </p:txBody>
      </p: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48" name="그룹 147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9" name="그룹 148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2" name="직선 연결선 22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3" name="직선 연결선 22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53" name="그룹 152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0" name="직선 연결선 21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1" name="직선 연결선 22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4" name="그룹 153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18" name="직선 연결선 21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9" name="직선 연결선 21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5" name="타원 154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79" name="타원 178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85" name="그룹 184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87" name="타원 18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5" name="그룹 204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06" name="직선 연결선 205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직선 연결선 20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3452805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528651"/>
            <a:ext cx="2630093" cy="1160890"/>
            <a:chOff x="720490" y="4465173"/>
            <a:chExt cx="2630093" cy="1160890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9"/>
              <a:ext cx="792000" cy="8534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737491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675399" y="2816838"/>
            <a:ext cx="2630093" cy="1975134"/>
            <a:chOff x="3836701" y="2575831"/>
            <a:chExt cx="2630093" cy="197513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873206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77434"/>
            <a:ext cx="76863" cy="292489"/>
            <a:chOff x="3750067" y="4683795"/>
            <a:chExt cx="76863" cy="292489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7025242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공급자정보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공급자 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공급자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1292663"/>
            <a:chOff x="3865118" y="2946203"/>
            <a:chExt cx="2630093" cy="1292663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12893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SMS</a:t>
              </a:r>
              <a:r>
                <a:rPr lang="ko-KR" altLang="en-US" sz="700" dirty="0" err="1">
                  <a:latin typeface="+mn-ea"/>
                </a:rPr>
                <a:t>수신번호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3" y="3179706"/>
            <a:ext cx="245609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700" dirty="0">
                <a:latin typeface="+mn-ea"/>
              </a:rPr>
              <a:t>* SMS</a:t>
            </a:r>
            <a:r>
              <a:rPr lang="ko-KR" altLang="en-US" sz="700" dirty="0" err="1">
                <a:latin typeface="+mn-ea"/>
              </a:rPr>
              <a:t>수신번호는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[SMS</a:t>
            </a:r>
            <a:r>
              <a:rPr lang="ko-KR" altLang="en-US" sz="700" dirty="0" err="1">
                <a:latin typeface="+mn-ea"/>
              </a:rPr>
              <a:t>서비스신청</a:t>
            </a:r>
            <a:r>
              <a:rPr lang="en-US" altLang="ko-KR" sz="700" dirty="0">
                <a:latin typeface="+mn-ea"/>
              </a:rPr>
              <a:t>] </a:t>
            </a:r>
            <a:r>
              <a:rPr lang="ko-KR" altLang="en-US" sz="700" dirty="0">
                <a:latin typeface="+mn-ea"/>
              </a:rPr>
              <a:t>시 등록된 번호가 자동으로 입력됩니다</a:t>
            </a:r>
            <a:r>
              <a:rPr lang="en-US" altLang="ko-KR" sz="700" dirty="0">
                <a:latin typeface="+mn-ea"/>
              </a:rPr>
              <a:t>.</a:t>
            </a:r>
            <a:endParaRPr lang="ko-KR" altLang="en-US" sz="700" dirty="0">
              <a:latin typeface="+mn-ea"/>
            </a:endParaRP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51012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2478625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영역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있음 </a:t>
            </a:r>
            <a:r>
              <a:rPr lang="en-US" altLang="ko-KR" dirty="0"/>
              <a:t>: </a:t>
            </a:r>
            <a:r>
              <a:rPr lang="ko-KR" altLang="en-US" dirty="0"/>
              <a:t>과세</a:t>
            </a:r>
            <a:r>
              <a:rPr lang="en-US" altLang="ko-KR" dirty="0"/>
              <a:t>, </a:t>
            </a:r>
            <a:r>
              <a:rPr lang="ko-KR" altLang="en-US" dirty="0"/>
              <a:t>없음 </a:t>
            </a:r>
            <a:r>
              <a:rPr lang="en-US" altLang="ko-KR" dirty="0"/>
              <a:t>: </a:t>
            </a:r>
            <a:r>
              <a:rPr lang="ko-KR" altLang="en-US" dirty="0"/>
              <a:t>영세</a:t>
            </a:r>
            <a:r>
              <a:rPr lang="en-US" altLang="ko-KR" dirty="0"/>
              <a:t>/</a:t>
            </a:r>
            <a:r>
              <a:rPr lang="ko-KR" altLang="en-US" dirty="0"/>
              <a:t>면세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대금신청</a:t>
            </a:r>
            <a:r>
              <a:rPr lang="ko-KR" altLang="en-US" dirty="0">
                <a:latin typeface="+mn-ea"/>
              </a:rPr>
              <a:t> 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2804005"/>
            <a:chOff x="3865118" y="2946203"/>
            <a:chExt cx="2630093" cy="280400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280400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일자구분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청구금액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면제원제출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보증보험증권제출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80076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416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1597442" y="1878063"/>
            <a:ext cx="1268097" cy="107722"/>
            <a:chOff x="1597442" y="5895087"/>
            <a:chExt cx="1268097" cy="107722"/>
          </a:xfrm>
        </p:grpSpPr>
        <p:sp>
          <p:nvSpPr>
            <p:cNvPr id="38" name="타원 37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35907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합격일자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35907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납품일자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1597442" y="2103380"/>
            <a:ext cx="1088560" cy="107722"/>
            <a:chOff x="1597442" y="5895087"/>
            <a:chExt cx="1088560" cy="107722"/>
          </a:xfrm>
        </p:grpSpPr>
        <p:sp>
          <p:nvSpPr>
            <p:cNvPr id="43" name="타원 42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있음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없음</a:t>
              </a:r>
            </a:p>
          </p:txBody>
        </p:sp>
      </p:grpSp>
      <p:sp>
        <p:nvSpPr>
          <p:cNvPr id="47" name="타원 46"/>
          <p:cNvSpPr/>
          <p:nvPr/>
        </p:nvSpPr>
        <p:spPr>
          <a:xfrm flipH="1">
            <a:off x="1348969" y="210569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?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2071953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5172336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세금계산서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중앙조달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MUI-WM-01-M05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449637"/>
            <a:chOff x="3865118" y="2946203"/>
            <a:chExt cx="2630093" cy="449637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441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58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3083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1597442" y="1878063"/>
            <a:ext cx="1268097" cy="107722"/>
            <a:chOff x="1597442" y="5895087"/>
            <a:chExt cx="1268097" cy="107722"/>
          </a:xfrm>
        </p:grpSpPr>
        <p:sp>
          <p:nvSpPr>
            <p:cNvPr id="38" name="타원 37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선택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35907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선택안함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716366" y="2588153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314806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3988526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78169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57298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5997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regDt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일자구분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981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731292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086851"/>
            <a:ext cx="31616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대금신청대상목록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dlt_pymtAplyTrgtList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298054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avtsmtNo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dlvdocNo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srngYmd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:KB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ctbkAmt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lqdmg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444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0B8E2E-00BE-BADA-87DB-E8B83D44B4A0}"/>
              </a:ext>
            </a:extLst>
          </p:cNvPr>
          <p:cNvSpPr txBox="1"/>
          <p:nvPr/>
        </p:nvSpPr>
        <p:spPr>
          <a:xfrm>
            <a:off x="458117" y="4168979"/>
            <a:ext cx="237461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공급자정보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dmt_splrInfo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36CD16-3261-893C-33B1-952BDA63F53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380182"/>
          <a:ext cx="8994883" cy="1357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SMS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SMS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수신번호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암호화휴대전화번호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66273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bzentyAddr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주소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019130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554A4C22-E49D-27FC-D9FD-E7A0C6EBB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758016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33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30398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540156-D732-C40F-C9B7-89B56D01640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28368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ymdSeCd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I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합격월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D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납품월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ddcDsctnNm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면제원제출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exmptnSbmsnYn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면제원제출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보증보험증권제출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grnteInsrncScrtSbmsnYn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보증보험증권제출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제출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4000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1C4003-76ED-06D6-7598-4607A5689329}"/>
              </a:ext>
            </a:extLst>
          </p:cNvPr>
          <p:cNvSpPr txBox="1"/>
          <p:nvPr/>
        </p:nvSpPr>
        <p:spPr>
          <a:xfrm>
            <a:off x="458117" y="3959606"/>
            <a:ext cx="232171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dlt_txBllList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170809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txivChcYn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선택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선택안함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bllPblcnYmd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itemNm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dlvgdsQty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ctrtUntprc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4697EFF-DC34-4A4E-4B12-F5CFDC19D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E5E047-FC26-7018-1149-CADBEEF4059D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9938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34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9890D6-BEE5-DDAF-C6C1-19EF9FF5A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881853"/>
              </p:ext>
            </p:extLst>
          </p:nvPr>
        </p:nvGraphicFramePr>
        <p:xfrm>
          <a:off x="453000" y="1068365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65C7748-B9E7-B5A0-7232-092364D0174A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8" name="Text Box 73">
            <a:extLst>
              <a:ext uri="{FF2B5EF4-FFF2-40B4-BE49-F238E27FC236}">
                <a16:creationId xmlns:a16="http://schemas.microsoft.com/office/drawing/2014/main" id="{A611DD90-B471-FCCC-FD98-DC05C3AF3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285958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내용에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정보 폼 변화는 별도 정의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플로팅</a:t>
            </a:r>
            <a:r>
              <a:rPr lang="ko-KR" altLang="en-US" dirty="0"/>
              <a:t> 버튼은 후술함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2540391"/>
            <a:ext cx="2630093" cy="1975134"/>
            <a:chOff x="3836701" y="2575831"/>
            <a:chExt cx="2630093" cy="1975134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6" name="직선 연결선 2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8" name="직선 연결선 2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3" name="직선 연결선 1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384703"/>
            <a:chOff x="720490" y="4465173"/>
            <a:chExt cx="2630093" cy="1384703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10772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4081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2210710" cy="107722"/>
            <a:chOff x="764169" y="4142235"/>
            <a:chExt cx="2210710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9988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979307" y="4142235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10711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50" name="그룹 149"/>
          <p:cNvGrpSpPr/>
          <p:nvPr/>
        </p:nvGrpSpPr>
        <p:grpSpPr>
          <a:xfrm>
            <a:off x="3869962" y="2251398"/>
            <a:ext cx="2210710" cy="107722"/>
            <a:chOff x="764169" y="4142235"/>
            <a:chExt cx="2210710" cy="107722"/>
          </a:xfrm>
        </p:grpSpPr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9988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979307" y="4142235"/>
              <a:ext cx="5753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10711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그룹 154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57" name="그룹 156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25" name="직선 연결선 22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6" name="직선 연결선 22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62" name="타원 161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67" name="그룹 166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223" name="직선 연결선 222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4" name="직선 연결선 22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68" name="그룹 167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221" name="직선 연결선 22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2" name="직선 연결선 221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9" name="타원 168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80" name="타원 179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87" name="타원 186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206" name="그룹 205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207" name="타원 206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18" name="그룹 217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219" name="직선 연결선 21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직선 연결선 21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28319128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528651"/>
            <a:ext cx="2630093" cy="1358943"/>
            <a:chOff x="720490" y="4465173"/>
            <a:chExt cx="2630093" cy="1358943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0429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0429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신청일자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대금신청번호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0429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0000 0000</a:t>
              </a: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241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673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675399" y="3046651"/>
            <a:ext cx="2630093" cy="1975134"/>
            <a:chOff x="3836701" y="2575831"/>
            <a:chExt cx="2630093" cy="1975134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대금신청대상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170046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통지번호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조서발행번호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합격일자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납품일자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예산구분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감액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지체상금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20257135021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00 00 0000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2026-12~31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- 000,000,000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91334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12705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31417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452787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10301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377434"/>
            <a:ext cx="76863" cy="292489"/>
            <a:chOff x="3750067" y="4683795"/>
            <a:chExt cx="76863" cy="292489"/>
          </a:xfrm>
        </p:grpSpPr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330624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공급자정보</a:t>
            </a:r>
            <a:r>
              <a:rPr lang="ko-KR" altLang="en-US" dirty="0"/>
              <a:t>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공급자 정보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215444"/>
            <a:chOff x="763157" y="1527996"/>
            <a:chExt cx="2456097" cy="21544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대금신청업체 정보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1077218"/>
            <a:chOff x="3865118" y="2946204"/>
            <a:chExt cx="2630093" cy="1077218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10737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주소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07721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서울특별시 종로구</a:t>
              </a:r>
              <a:r>
                <a:rPr lang="en-US" altLang="ko-KR" sz="700" dirty="0">
                  <a:latin typeface="+mn-ea"/>
                </a:rPr>
                <a:t>…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99146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1458087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대금신청</a:t>
            </a:r>
            <a:r>
              <a:rPr lang="ko-KR" altLang="en-US" dirty="0"/>
              <a:t> 금액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38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대금신청</a:t>
            </a:r>
            <a:r>
              <a:rPr lang="ko-KR" altLang="en-US" dirty="0">
                <a:latin typeface="+mn-ea"/>
              </a:rPr>
              <a:t> 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2586565"/>
            <a:chOff x="3865118" y="2946204"/>
            <a:chExt cx="2630093" cy="258656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258532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납품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선급</a:t>
              </a:r>
              <a:r>
                <a:rPr lang="en-US" altLang="ko-KR" sz="700" dirty="0">
                  <a:latin typeface="+mn-ea"/>
                </a:rPr>
                <a:t>)</a:t>
              </a:r>
              <a:r>
                <a:rPr lang="ko-KR" altLang="en-US" sz="700" dirty="0">
                  <a:latin typeface="+mn-ea"/>
                </a:rPr>
                <a:t>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258532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69103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그룹 41"/>
          <p:cNvGrpSpPr/>
          <p:nvPr/>
        </p:nvGrpSpPr>
        <p:grpSpPr>
          <a:xfrm>
            <a:off x="1597442" y="2103380"/>
            <a:ext cx="1499574" cy="107722"/>
            <a:chOff x="1597442" y="5895087"/>
            <a:chExt cx="1499574" cy="107722"/>
          </a:xfrm>
        </p:grpSpPr>
        <p:sp>
          <p:nvSpPr>
            <p:cNvPr id="43" name="타원 42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/>
            <p:cNvSpPr/>
            <p:nvPr/>
          </p:nvSpPr>
          <p:spPr>
            <a:xfrm>
              <a:off x="216920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과세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면세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49" name="타원 48"/>
            <p:cNvSpPr/>
            <p:nvPr/>
          </p:nvSpPr>
          <p:spPr>
            <a:xfrm>
              <a:off x="275975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1748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영세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1597442" y="4038228"/>
            <a:ext cx="1088560" cy="107722"/>
            <a:chOff x="1597442" y="5895087"/>
            <a:chExt cx="1088560" cy="107722"/>
          </a:xfrm>
        </p:grpSpPr>
        <p:sp>
          <p:nvSpPr>
            <p:cNvPr id="53" name="타원 52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확정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예정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993699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39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첨부파일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부대조달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MUI-WM-01-M06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05040" y="1880640"/>
            <a:ext cx="2652744" cy="1212999"/>
            <a:chOff x="675928" y="1954020"/>
            <a:chExt cx="2652744" cy="1212999"/>
          </a:xfrm>
        </p:grpSpPr>
        <p:sp>
          <p:nvSpPr>
            <p:cNvPr id="63" name="모서리가 둥근 직사각형 62"/>
            <p:cNvSpPr/>
            <p:nvPr/>
          </p:nvSpPr>
          <p:spPr>
            <a:xfrm>
              <a:off x="675929" y="2089138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2217520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4125" y="2217520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67" name="타원 66"/>
            <p:cNvSpPr/>
            <p:nvPr/>
          </p:nvSpPr>
          <p:spPr>
            <a:xfrm>
              <a:off x="3063926" y="2199381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675929" y="2495824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2624206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4125" y="2624206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87" name="타원 86"/>
            <p:cNvSpPr/>
            <p:nvPr/>
          </p:nvSpPr>
          <p:spPr>
            <a:xfrm>
              <a:off x="3063926" y="2606067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1954020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73442" y="1954020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다운로드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682693" y="1954020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675928" y="2959245"/>
              <a:ext cx="2652743" cy="207774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>
                  <a:latin typeface="맑은 고딕"/>
                  <a:ea typeface="맑은 고딕" panose="020B0503020000020004" pitchFamily="50" charset="-127"/>
                </a:rPr>
                <a:t>일괄 다운로드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92" name="타원 91"/>
            <p:cNvSpPr/>
            <p:nvPr/>
          </p:nvSpPr>
          <p:spPr>
            <a:xfrm>
              <a:off x="1451334" y="299113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3218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48632165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40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</a:t>
                      </a:r>
                      <a:r>
                        <a:rPr lang="en-US" altLang="ko-KR" sz="800" dirty="0">
                          <a:latin typeface="+mn-ea"/>
                        </a:rPr>
                        <a:t> </a:t>
                      </a:r>
                      <a:r>
                        <a:rPr lang="ko-KR" altLang="en-US" sz="800" dirty="0">
                          <a:latin typeface="+mn-ea"/>
                        </a:rPr>
                        <a:t>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신청일자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3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계약금액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대금신청번호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0730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374242"/>
            <a:ext cx="3161690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대금신청대상목록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dlt_pymtAplyTrgtList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585445"/>
          <a:ext cx="8994883" cy="1867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통지번호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avtsmtNo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일자구분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조서발행번호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recrdPblcnNo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합격일자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rcpmDt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예산구분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bgtCd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UZ03</a:t>
                      </a:r>
                    </a:p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전년국채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본조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당년국체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감액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ctbkAmt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지체상금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lqdmg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724446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530B8E2E-00BE-BADA-87DB-E8B83D44B4A0}"/>
              </a:ext>
            </a:extLst>
          </p:cNvPr>
          <p:cNvSpPr txBox="1"/>
          <p:nvPr/>
        </p:nvSpPr>
        <p:spPr>
          <a:xfrm>
            <a:off x="458117" y="4608773"/>
            <a:ext cx="3410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C36CD16-3261-893C-33B1-952BDA63F53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819976"/>
          <a:ext cx="8994883" cy="1163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주소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bzentyAddr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주소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>
                          <a:latin typeface="+mn-ea"/>
                          <a:ea typeface="+mn-ea"/>
                        </a:rPr>
                        <a:t>120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9019130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D6CFD2F-4DC0-741E-BC14-138D4D7E43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232462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41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303986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5540156-D732-C40F-C9B7-89B56D01640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25209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EPNC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VATA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splyEqvl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txamtDdcAmt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ddcDsctnNm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2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1C4003-76ED-06D6-7598-4607A5689329}"/>
              </a:ext>
            </a:extLst>
          </p:cNvPr>
          <p:cNvSpPr txBox="1"/>
          <p:nvPr/>
        </p:nvSpPr>
        <p:spPr>
          <a:xfrm>
            <a:off x="458117" y="3641739"/>
            <a:ext cx="222072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852942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0344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C55AFAB6-A1E3-0681-D91C-DD3EB4FE06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050219-680A-6FD4-592F-C671CBA010BC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654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42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9890D6-BEE5-DDAF-C6C1-19EF9FF5A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247406"/>
              </p:ext>
            </p:extLst>
          </p:nvPr>
        </p:nvGraphicFramePr>
        <p:xfrm>
          <a:off x="453000" y="1050944"/>
          <a:ext cx="8995591" cy="825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인쇄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scwin.btn_print_onclick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대금청구서를 출력한다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(UI-WM-01-R31)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대금청구신청서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(UI-WM-01-R32)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대금청구신청서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242596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D6F3B62-1B8D-DA6D-119E-CFA240CD0032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5" name="Text Box 73">
            <a:extLst>
              <a:ext uri="{FF2B5EF4-FFF2-40B4-BE49-F238E27FC236}">
                <a16:creationId xmlns:a16="http://schemas.microsoft.com/office/drawing/2014/main" id="{7D6E6027-667C-05A1-A04E-9C98E44C99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1875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내용에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정보 폼 변화는 별도 정의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플로팅</a:t>
            </a:r>
            <a:r>
              <a:rPr lang="ko-KR" altLang="en-US" dirty="0"/>
              <a:t> 버튼은 후술함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en-US" altLang="ko-KR" sz="900" b="1" dirty="0"/>
              <a:t>000000 </a:t>
            </a:r>
            <a:r>
              <a:rPr lang="ko-KR" altLang="en-US" sz="900" b="1" dirty="0"/>
              <a:t>공사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en-US" altLang="ko-KR" sz="900" b="1" dirty="0"/>
              <a:t>000000 </a:t>
            </a:r>
            <a:r>
              <a:rPr lang="ko-KR" altLang="en-US" sz="900" b="1" dirty="0"/>
              <a:t>공사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공사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2" name="TextBox 2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97672" y="2540391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</a:p>
        </p:txBody>
      </p:sp>
      <p:grpSp>
        <p:nvGrpSpPr>
          <p:cNvPr id="159" name="그룹 158"/>
          <p:cNvGrpSpPr/>
          <p:nvPr/>
        </p:nvGrpSpPr>
        <p:grpSpPr>
          <a:xfrm flipV="1">
            <a:off x="6259759" y="2599744"/>
            <a:ext cx="94010" cy="47005"/>
            <a:chOff x="6812560" y="3297172"/>
            <a:chExt cx="94010" cy="47005"/>
          </a:xfrm>
        </p:grpSpPr>
        <p:cxnSp>
          <p:nvCxnSpPr>
            <p:cNvPr id="160" name="직선 연결선 159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직선 연결선 160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1815590"/>
            <a:chOff x="720490" y="4465173"/>
            <a:chExt cx="2630093" cy="1815590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7"/>
              <a:ext cx="792000" cy="145964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대표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 ~ 2026-12-30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7" name="직선 연결선 11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0" name="직선 연결선 16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8" name="직선 연결선 1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4081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604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1636582" cy="107722"/>
            <a:chOff x="764169" y="4142235"/>
            <a:chExt cx="1636582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302043" y="4142235"/>
              <a:ext cx="5564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36583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5113316" y="5274274"/>
            <a:ext cx="76863" cy="292489"/>
            <a:chOff x="3750067" y="4683795"/>
            <a:chExt cx="76863" cy="292489"/>
          </a:xfrm>
        </p:grpSpPr>
        <p:sp>
          <p:nvSpPr>
            <p:cNvPr id="176" name="타원 175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78" name="타원 177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5" name="그룹 154"/>
          <p:cNvGrpSpPr/>
          <p:nvPr/>
        </p:nvGrpSpPr>
        <p:grpSpPr>
          <a:xfrm>
            <a:off x="3869962" y="2251719"/>
            <a:ext cx="1636582" cy="107722"/>
            <a:chOff x="764169" y="4142235"/>
            <a:chExt cx="1636582" cy="107722"/>
          </a:xfrm>
        </p:grpSpPr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302043" y="4142235"/>
              <a:ext cx="5564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36583" y="4142235"/>
              <a:ext cx="36416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3795734" y="2803333"/>
            <a:ext cx="2712027" cy="1870733"/>
            <a:chOff x="3783912" y="2803333"/>
            <a:chExt cx="2712027" cy="1870733"/>
          </a:xfrm>
        </p:grpSpPr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83912" y="46740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44" y="2803333"/>
              <a:ext cx="253268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1. </a:t>
              </a:r>
              <a:r>
                <a:rPr lang="ko-KR" altLang="en-US" sz="700" dirty="0" err="1">
                  <a:latin typeface="+mn-ea"/>
                </a:rPr>
                <a:t>변경내역</a:t>
              </a:r>
              <a:r>
                <a:rPr lang="ko-KR" altLang="en-US" sz="700" dirty="0">
                  <a:latin typeface="+mn-ea"/>
                </a:rPr>
                <a:t> 표시</a:t>
              </a:r>
            </a:p>
          </p:txBody>
        </p:sp>
      </p:grpSp>
      <p:grpSp>
        <p:nvGrpSpPr>
          <p:cNvPr id="140" name="그룹 139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1" name="그룹 14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205" name="직선 연결선 20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5" name="그룹 144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87" name="직선 연결선 18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4" name="직선 연결선 203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그룹 145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81" name="직선 연결선 18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직선 연결선 18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타원 14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51" name="타원 150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54" name="타원 153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71" name="그룹 170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72" name="타원 171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73" name="그룹 172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79" name="직선 연결선 178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직선 연결선 179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40487399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비고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44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528651"/>
            <a:ext cx="2630093" cy="2031034"/>
            <a:chOff x="720490" y="4465173"/>
            <a:chExt cx="2630093" cy="2031034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8"/>
              <a:ext cx="792000" cy="16974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공사기간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대표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검사일자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계약금액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17235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 ~ 2026-12-30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2026-01-30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43117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6260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8241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8" name="직선 연결선 4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04603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27201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647007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3910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82357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89336" y="3686309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비고</a:t>
            </a:r>
          </a:p>
        </p:txBody>
      </p:sp>
      <p:grpSp>
        <p:nvGrpSpPr>
          <p:cNvPr id="53" name="그룹 52"/>
          <p:cNvGrpSpPr/>
          <p:nvPr/>
        </p:nvGrpSpPr>
        <p:grpSpPr>
          <a:xfrm flipV="1">
            <a:off x="3151423" y="3745662"/>
            <a:ext cx="94010" cy="47005"/>
            <a:chOff x="6812560" y="3297172"/>
            <a:chExt cx="94010" cy="47005"/>
          </a:xfrm>
        </p:grpSpPr>
        <p:cxnSp>
          <p:nvCxnSpPr>
            <p:cNvPr id="54" name="직선 연결선 53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직선 연결선 54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6" name="그룹 55"/>
          <p:cNvGrpSpPr/>
          <p:nvPr/>
        </p:nvGrpSpPr>
        <p:grpSpPr>
          <a:xfrm>
            <a:off x="687398" y="3949251"/>
            <a:ext cx="2712027" cy="1870733"/>
            <a:chOff x="3783912" y="2803333"/>
            <a:chExt cx="2712027" cy="1870733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783912" y="4674066"/>
              <a:ext cx="2712027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8844" y="2803333"/>
              <a:ext cx="2532688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1. </a:t>
              </a:r>
              <a:r>
                <a:rPr lang="ko-KR" altLang="en-US" sz="700" dirty="0" err="1">
                  <a:latin typeface="+mn-ea"/>
                </a:rPr>
                <a:t>변경내역</a:t>
              </a:r>
              <a:r>
                <a:rPr lang="ko-KR" altLang="en-US" sz="700" dirty="0">
                  <a:latin typeface="+mn-ea"/>
                </a:rPr>
                <a:t> 표시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741325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대가지급업체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상세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>
                <a:latin typeface="+mn-ea"/>
              </a:rPr>
              <a:t>공사</a:t>
            </a:r>
            <a:r>
              <a:rPr lang="en-US" altLang="ko-KR" sz="800" dirty="0">
                <a:latin typeface="+mn-ea"/>
              </a:rPr>
              <a:t>)</a:t>
            </a:r>
            <a:r>
              <a:rPr lang="ko-KR" altLang="en-US" sz="800" dirty="0">
                <a:latin typeface="+mn-ea"/>
              </a:rPr>
              <a:t> 상세 </a:t>
            </a:r>
            <a:r>
              <a:rPr lang="en-US" altLang="ko-KR" sz="800" dirty="0">
                <a:latin typeface="+mn-ea"/>
              </a:rPr>
              <a:t>– </a:t>
            </a:r>
            <a:r>
              <a:rPr lang="ko-KR" altLang="en-US" sz="800" dirty="0">
                <a:latin typeface="+mn-ea"/>
              </a:rPr>
              <a:t>대가지급업체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대가지급업체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1508105"/>
            <a:chOff x="3865118" y="2946204"/>
            <a:chExt cx="2630093" cy="1508105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15016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5" y="2946204"/>
              <a:ext cx="670770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업체유형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업체명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신청금액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>
                  <a:latin typeface="+mn-ea"/>
                </a:rPr>
                <a:t>원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은행명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계좌번호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계좌실명번호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예금주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50810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농협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1100-12345-02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11000-11200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739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5109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464609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3811854"/>
            <a:ext cx="76863" cy="292489"/>
            <a:chOff x="3750067" y="4683795"/>
            <a:chExt cx="76863" cy="292489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30" name="타원 29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969703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46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첨부파일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공사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MUI-WM-01-M07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05040" y="1880640"/>
            <a:ext cx="2652744" cy="1212999"/>
            <a:chOff x="675928" y="1954020"/>
            <a:chExt cx="2652744" cy="1212999"/>
          </a:xfrm>
        </p:grpSpPr>
        <p:sp>
          <p:nvSpPr>
            <p:cNvPr id="63" name="모서리가 둥근 직사각형 62"/>
            <p:cNvSpPr/>
            <p:nvPr/>
          </p:nvSpPr>
          <p:spPr>
            <a:xfrm>
              <a:off x="675929" y="2089138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2217520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4125" y="2217520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67" name="타원 66"/>
            <p:cNvSpPr/>
            <p:nvPr/>
          </p:nvSpPr>
          <p:spPr>
            <a:xfrm>
              <a:off x="3063926" y="2199381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675929" y="2495824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2624206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4125" y="2624206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87" name="타원 86"/>
            <p:cNvSpPr/>
            <p:nvPr/>
          </p:nvSpPr>
          <p:spPr>
            <a:xfrm>
              <a:off x="3063926" y="2606067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1954020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73442" y="1954020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다운로드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682693" y="1954020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675928" y="2959245"/>
              <a:ext cx="2652743" cy="207774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>
                  <a:latin typeface="맑은 고딕"/>
                  <a:ea typeface="맑은 고딕" panose="020B0503020000020004" pitchFamily="50" charset="-127"/>
                </a:rPr>
                <a:t>일괄 다운로드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92" name="타원 91"/>
            <p:cNvSpPr/>
            <p:nvPr/>
          </p:nvSpPr>
          <p:spPr>
            <a:xfrm>
              <a:off x="1451334" y="299113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3218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3028878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47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7452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맑은 고딕" panose="020B0503020000020004" pitchFamily="50" charset="-127"/>
                        </a:rPr>
                        <a:t>bgncstYmd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공사기간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대표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9831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244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inspYmd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검사일자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8707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pxcndAmt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4344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UB56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690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983343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6FF90CD-D44A-772D-5AAF-1061FC3E2661}"/>
              </a:ext>
            </a:extLst>
          </p:cNvPr>
          <p:cNvSpPr txBox="1"/>
          <p:nvPr/>
        </p:nvSpPr>
        <p:spPr>
          <a:xfrm>
            <a:off x="458117" y="2844506"/>
            <a:ext cx="2783382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대가지급업체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dlt_giveBzentyList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D5D6353D-3F6D-611B-EA75-CF444460DF17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3055709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업체유형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fbctnSecd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업체유형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UB54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업체명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aplyAmt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은행명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dlngFnstNm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은행명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enacno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79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계좌실명번호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enacno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계좌실명번호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64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암호화계좌번호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9902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예금주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dpstrNm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예금주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2887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86692DD-2BE6-B42B-B0B8-6EFA9C93C744}"/>
              </a:ext>
            </a:extLst>
          </p:cNvPr>
          <p:cNvSpPr txBox="1"/>
          <p:nvPr/>
        </p:nvSpPr>
        <p:spPr>
          <a:xfrm>
            <a:off x="458117" y="4678061"/>
            <a:ext cx="22014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C86E9A2-63C6-E25A-5752-9C00FC9D6E0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4889264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3956986"/>
                  </a:ext>
                </a:extLst>
              </a:tr>
            </a:tbl>
          </a:graphicData>
        </a:graphic>
      </p:graphicFrame>
      <p:sp>
        <p:nvSpPr>
          <p:cNvPr id="6" name="Text Box 73">
            <a:extLst>
              <a:ext uri="{FF2B5EF4-FFF2-40B4-BE49-F238E27FC236}">
                <a16:creationId xmlns:a16="http://schemas.microsoft.com/office/drawing/2014/main" id="{C27F1755-0C59-34E4-D8B1-C5316286E2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62573-9183-0B3A-6A93-3C857900E313}"/>
              </a:ext>
            </a:extLst>
          </p:cNvPr>
          <p:cNvSpPr txBox="1"/>
          <p:nvPr/>
        </p:nvSpPr>
        <p:spPr>
          <a:xfrm>
            <a:off x="458117" y="5758859"/>
            <a:ext cx="246919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비고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dmt_birqRmrkCnInfo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DC18F62-DCE3-5DF3-65FE-05BBE562069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5970062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비고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58161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48</a:t>
            </a:fld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8AB979B-14AB-5021-AD38-81AFF5B867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541040"/>
              </p:ext>
            </p:extLst>
          </p:nvPr>
        </p:nvGraphicFramePr>
        <p:xfrm>
          <a:off x="453000" y="1042241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D0B2BC4-AD71-7E59-D96E-28B493C7629B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4" name="Text Box 73">
            <a:extLst>
              <a:ext uri="{FF2B5EF4-FFF2-40B4-BE49-F238E27FC236}">
                <a16:creationId xmlns:a16="http://schemas.microsoft.com/office/drawing/2014/main" id="{FB61C3E7-13C7-F5C3-BE78-71C249A4A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401928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상세 화면 상단에 계약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1-1 – </a:t>
            </a:r>
            <a:r>
              <a:rPr lang="ko-KR" altLang="en-US" dirty="0"/>
              <a:t>최초 확장하여 목록과 동일한 정보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1-2 – </a:t>
            </a:r>
            <a:r>
              <a:rPr lang="ko-KR" altLang="en-US" dirty="0"/>
              <a:t>스크롤이 발생하는 경우 최소화하여 품목</a:t>
            </a:r>
            <a:r>
              <a:rPr lang="en-US" altLang="ko-KR" dirty="0"/>
              <a:t>, </a:t>
            </a:r>
            <a:r>
              <a:rPr lang="ko-KR" altLang="en-US" dirty="0"/>
              <a:t>제목 정보만 상단 상시 노출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공고의 공지사항이 있는 경우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공지사항은 기본으로 닫힘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열리고 닫힘 처리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탭 메뉴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좌우 이동 버튼 </a:t>
            </a:r>
            <a:r>
              <a:rPr lang="en-US" altLang="ko-KR" dirty="0"/>
              <a:t>(</a:t>
            </a:r>
            <a:r>
              <a:rPr lang="ko-KR" altLang="en-US" dirty="0"/>
              <a:t>좌우 스크롤</a:t>
            </a:r>
            <a:r>
              <a:rPr lang="en-US" altLang="ko-KR" dirty="0"/>
              <a:t>)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신청정보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각 내용에 맞춰 폼 변화에 유의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노출 정보 폼 변화는 별도 정의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스크롤 발생 시 변화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타이틀 영역 최소화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공지사항 단계 표시기는 스크롤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스크롤 시 탭 메뉴 타이틀 </a:t>
            </a:r>
            <a:r>
              <a:rPr lang="ko-KR" altLang="en-US" dirty="0" err="1"/>
              <a:t>하단고정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현재 탭 선택 시 </a:t>
            </a:r>
            <a:r>
              <a:rPr lang="ko-KR" altLang="en-US" dirty="0" err="1"/>
              <a:t>최상단</a:t>
            </a:r>
            <a:r>
              <a:rPr lang="ko-KR" altLang="en-US" dirty="0"/>
              <a:t> 이동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탭 메뉴 하단은 전부 스크롤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플로팅</a:t>
            </a:r>
            <a:r>
              <a:rPr lang="ko-KR" altLang="en-US" dirty="0"/>
              <a:t> 버튼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플로팅</a:t>
            </a:r>
            <a:r>
              <a:rPr lang="ko-KR" altLang="en-US" dirty="0"/>
              <a:t> 버튼은 후술함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아이콘</a:t>
            </a:r>
            <a:r>
              <a:rPr lang="en-US" altLang="ko-KR" dirty="0"/>
              <a:t> - </a:t>
            </a:r>
            <a:r>
              <a:rPr lang="ko-KR" altLang="en-US" dirty="0" err="1"/>
              <a:t>최상단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전체 화면 공통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더하기 아이콘 </a:t>
            </a:r>
            <a:r>
              <a:rPr lang="en-US" altLang="ko-KR" dirty="0"/>
              <a:t>- </a:t>
            </a:r>
            <a:r>
              <a:rPr lang="ko-KR" altLang="en-US" dirty="0"/>
              <a:t>버튼 표시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49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 err="1">
                <a:latin typeface="+mn-ea"/>
              </a:rPr>
              <a:t>대금청구</a:t>
            </a:r>
            <a:r>
              <a:rPr lang="ko-KR" altLang="en-US" sz="800" dirty="0">
                <a:latin typeface="+mn-ea"/>
              </a:rPr>
              <a:t> </a:t>
            </a:r>
            <a:r>
              <a:rPr lang="ko-KR" altLang="en-US" sz="800" dirty="0" err="1">
                <a:latin typeface="+mn-ea"/>
              </a:rPr>
              <a:t>상세조회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2124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5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781461" y="2462389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56" name="TextBox 59">
            <a:extLst>
              <a:ext uri="{FF2B5EF4-FFF2-40B4-BE49-F238E27FC236}">
                <a16:creationId xmlns:a16="http://schemas.microsoft.com/office/drawing/2014/main" id="{F77C802D-3BC8-270F-87FC-5F442BD8054D}"/>
              </a:ext>
            </a:extLst>
          </p:cNvPr>
          <p:cNvSpPr txBox="1"/>
          <p:nvPr/>
        </p:nvSpPr>
        <p:spPr>
          <a:xfrm>
            <a:off x="781461" y="2797454"/>
            <a:ext cx="307777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600" dirty="0" err="1">
                <a:latin typeface="+mn-ea"/>
              </a:rPr>
              <a:t>계약일자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발주기관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계약금액</a:t>
            </a:r>
            <a:endParaRPr lang="en-US" altLang="ko-KR" sz="600" dirty="0">
              <a:latin typeface="+mn-ea"/>
            </a:endParaRPr>
          </a:p>
        </p:txBody>
      </p:sp>
      <p:sp>
        <p:nvSpPr>
          <p:cNvPr id="57" name="TextBox 60">
            <a:extLst>
              <a:ext uri="{FF2B5EF4-FFF2-40B4-BE49-F238E27FC236}">
                <a16:creationId xmlns:a16="http://schemas.microsoft.com/office/drawing/2014/main" id="{8F5E3227-69E6-C89F-B8C5-534226E95EA8}"/>
              </a:ext>
            </a:extLst>
          </p:cNvPr>
          <p:cNvSpPr txBox="1"/>
          <p:nvPr/>
        </p:nvSpPr>
        <p:spPr>
          <a:xfrm>
            <a:off x="2596303" y="2782065"/>
            <a:ext cx="472886" cy="39767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2026-02-10</a:t>
            </a:r>
          </a:p>
          <a:p>
            <a:pPr>
              <a:lnSpc>
                <a:spcPct val="150000"/>
              </a:lnSpc>
            </a:pPr>
            <a:r>
              <a:rPr lang="ko-KR" altLang="en-US" sz="600" dirty="0">
                <a:latin typeface="+mn-ea"/>
              </a:rPr>
              <a:t>제</a:t>
            </a:r>
            <a:r>
              <a:rPr lang="en-US" altLang="ko-KR" sz="600" dirty="0">
                <a:latin typeface="+mn-ea"/>
              </a:rPr>
              <a:t>8385</a:t>
            </a:r>
            <a:r>
              <a:rPr lang="ko-KR" altLang="en-US" sz="600" dirty="0">
                <a:latin typeface="+mn-ea"/>
              </a:rPr>
              <a:t>부대</a:t>
            </a:r>
            <a:endParaRPr lang="en-US" altLang="ko-KR" sz="600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600" dirty="0">
                <a:latin typeface="+mn-ea"/>
              </a:rPr>
              <a:t>11,616,000 </a:t>
            </a:r>
            <a:r>
              <a:rPr lang="ko-KR" altLang="en-US" sz="600" dirty="0">
                <a:latin typeface="+mn-ea"/>
              </a:rPr>
              <a:t>원</a:t>
            </a:r>
            <a:endParaRPr lang="en-US" altLang="ko-KR" sz="600" dirty="0">
              <a:latin typeface="+mn-ea"/>
            </a:endParaRPr>
          </a:p>
        </p:txBody>
      </p:sp>
      <p:sp>
        <p:nvSpPr>
          <p:cNvPr id="67" name="모서리가 둥근 직사각형 66"/>
          <p:cNvSpPr/>
          <p:nvPr/>
        </p:nvSpPr>
        <p:spPr>
          <a:xfrm>
            <a:off x="781461" y="227805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075655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66319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00442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3696944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3728289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3810275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80" name="타원 79"/>
          <p:cNvSpPr/>
          <p:nvPr/>
        </p:nvSpPr>
        <p:spPr>
          <a:xfrm>
            <a:off x="2926040" y="2261650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모서리가 둥근 직사각형 81"/>
          <p:cNvSpPr/>
          <p:nvPr/>
        </p:nvSpPr>
        <p:spPr>
          <a:xfrm>
            <a:off x="3070040" y="2278058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4" name="직선 연결선 10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358842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3884993" y="1786672"/>
            <a:ext cx="247325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 err="1"/>
              <a:t>계약번호</a:t>
            </a:r>
            <a:r>
              <a:rPr lang="ko-KR" altLang="en-US" sz="700" dirty="0"/>
              <a:t> </a:t>
            </a:r>
            <a:r>
              <a:rPr lang="en-US" altLang="ko-KR" sz="700" dirty="0"/>
              <a:t>2025000000 - 01</a:t>
            </a:r>
          </a:p>
          <a:p>
            <a:r>
              <a:rPr lang="ko-KR" altLang="en-US" sz="900" b="1" dirty="0"/>
              <a:t>물품구매</a:t>
            </a:r>
          </a:p>
        </p:txBody>
      </p:sp>
      <p:sp>
        <p:nvSpPr>
          <p:cNvPr id="191" name="모서리가 둥근 직사각형 190"/>
          <p:cNvSpPr/>
          <p:nvPr/>
        </p:nvSpPr>
        <p:spPr>
          <a:xfrm>
            <a:off x="3884993" y="1602341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192" name="모서리가 둥근 직사각형 191"/>
          <p:cNvSpPr/>
          <p:nvPr/>
        </p:nvSpPr>
        <p:spPr>
          <a:xfrm>
            <a:off x="4179187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cxnSp>
        <p:nvCxnSpPr>
          <p:cNvPr id="193" name="직선 연결선 1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11123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01" name="타원 200"/>
          <p:cNvSpPr/>
          <p:nvPr/>
        </p:nvSpPr>
        <p:spPr>
          <a:xfrm>
            <a:off x="6029572" y="1585933"/>
            <a:ext cx="144000" cy="144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6173572" y="1602341"/>
            <a:ext cx="243478" cy="119400"/>
          </a:xfrm>
          <a:prstGeom prst="roundRect">
            <a:avLst>
              <a:gd name="adj" fmla="val 23409"/>
            </a:avLst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출력</a:t>
            </a:r>
          </a:p>
        </p:txBody>
      </p:sp>
      <p:cxnSp>
        <p:nvCxnSpPr>
          <p:cNvPr id="203" name="직선 연결선 20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8" name="직선 연결선 207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824022" y="2467219"/>
            <a:ext cx="435210" cy="0"/>
          </a:xfrm>
          <a:prstGeom prst="line">
            <a:avLst/>
          </a:prstGeom>
          <a:noFill/>
          <a:ln w="190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71" name="타원 27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28289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272" name="타원 27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106032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273" name="타원 27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4495830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274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439443" y="2535312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1-1</a:t>
            </a:r>
            <a:endParaRPr lang="ko-KR" altLang="en-US" sz="900" b="1" dirty="0"/>
          </a:p>
        </p:txBody>
      </p:sp>
      <p:sp>
        <p:nvSpPr>
          <p:cNvPr id="275" name="사각형: 둥근 모서리 25">
            <a:extLst>
              <a:ext uri="{FF2B5EF4-FFF2-40B4-BE49-F238E27FC236}">
                <a16:creationId xmlns:a16="http://schemas.microsoft.com/office/drawing/2014/main" id="{D17B50F9-89DD-C80C-4195-7E69A48DBE7F}"/>
              </a:ext>
            </a:extLst>
          </p:cNvPr>
          <p:cNvSpPr/>
          <p:nvPr/>
        </p:nvSpPr>
        <p:spPr>
          <a:xfrm>
            <a:off x="3527987" y="1860110"/>
            <a:ext cx="327084" cy="146280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1-2</a:t>
            </a:r>
            <a:endParaRPr lang="ko-KR" altLang="en-US" sz="900" b="1" dirty="0"/>
          </a:p>
        </p:txBody>
      </p:sp>
      <p:sp>
        <p:nvSpPr>
          <p:cNvPr id="276" name="타원 275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3717693" y="1399365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277" name="타원 276"/>
          <p:cNvSpPr/>
          <p:nvPr/>
        </p:nvSpPr>
        <p:spPr>
          <a:xfrm>
            <a:off x="6596790" y="515498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726256" y="5272060"/>
            <a:ext cx="124144" cy="148935"/>
            <a:chOff x="161606" y="5392781"/>
            <a:chExt cx="97885" cy="117432"/>
          </a:xfrm>
        </p:grpSpPr>
        <p:cxnSp>
          <p:nvCxnSpPr>
            <p:cNvPr id="279" name="직선 연결선 278"/>
            <p:cNvCxnSpPr/>
            <p:nvPr/>
          </p:nvCxnSpPr>
          <p:spPr>
            <a:xfrm flipV="1">
              <a:off x="163100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직선 연결선 279"/>
            <p:cNvCxnSpPr/>
            <p:nvPr/>
          </p:nvCxnSpPr>
          <p:spPr>
            <a:xfrm flipH="1" flipV="1">
              <a:off x="210105" y="5409099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연결선 24"/>
            <p:cNvCxnSpPr/>
            <p:nvPr/>
          </p:nvCxnSpPr>
          <p:spPr>
            <a:xfrm>
              <a:off x="210549" y="541232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3" name="직선 연결선 282"/>
            <p:cNvCxnSpPr/>
            <p:nvPr/>
          </p:nvCxnSpPr>
          <p:spPr>
            <a:xfrm rot="16200000">
              <a:off x="210549" y="5343838"/>
              <a:ext cx="0" cy="9788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84" name="타원 283"/>
          <p:cNvSpPr/>
          <p:nvPr/>
        </p:nvSpPr>
        <p:spPr>
          <a:xfrm>
            <a:off x="6596790" y="5640239"/>
            <a:ext cx="383077" cy="38307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" name="그룹 27"/>
          <p:cNvGrpSpPr/>
          <p:nvPr/>
        </p:nvGrpSpPr>
        <p:grpSpPr>
          <a:xfrm>
            <a:off x="6726257" y="5769705"/>
            <a:ext cx="124144" cy="124144"/>
            <a:chOff x="162544" y="5299917"/>
            <a:chExt cx="124144" cy="124144"/>
          </a:xfrm>
        </p:grpSpPr>
        <p:cxnSp>
          <p:nvCxnSpPr>
            <p:cNvPr id="288" name="직선 연결선 287"/>
            <p:cNvCxnSpPr/>
            <p:nvPr/>
          </p:nvCxnSpPr>
          <p:spPr>
            <a:xfrm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9" name="직선 연결선 288"/>
            <p:cNvCxnSpPr/>
            <p:nvPr/>
          </p:nvCxnSpPr>
          <p:spPr>
            <a:xfrm rot="16200000">
              <a:off x="224616" y="5299917"/>
              <a:ext cx="0" cy="12414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4" name="타원 29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6688284" y="48530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6</a:t>
            </a:r>
            <a:endParaRPr lang="ko-KR" altLang="en-US" sz="900" b="1" dirty="0"/>
          </a:p>
        </p:txBody>
      </p:sp>
      <p:cxnSp>
        <p:nvCxnSpPr>
          <p:cNvPr id="295" name="직선 연결선 29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305512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781461" y="1944348"/>
            <a:ext cx="243478" cy="119400"/>
          </a:xfrm>
          <a:prstGeom prst="roundRect">
            <a:avLst>
              <a:gd name="adj" fmla="val 2340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>
                <a:solidFill>
                  <a:srgbClr val="FF0000"/>
                </a:solidFill>
              </a:rPr>
              <a:t>중요</a:t>
            </a:r>
            <a:endParaRPr lang="ko-KR" altLang="en-US" sz="600" dirty="0">
              <a:solidFill>
                <a:srgbClr val="FF0000"/>
              </a:solidFill>
            </a:endParaRPr>
          </a:p>
        </p:txBody>
      </p:sp>
      <p:sp>
        <p:nvSpPr>
          <p:cNvPr id="338" name="TextBox 58">
            <a:extLst>
              <a:ext uri="{FF2B5EF4-FFF2-40B4-BE49-F238E27FC236}">
                <a16:creationId xmlns:a16="http://schemas.microsoft.com/office/drawing/2014/main" id="{02FC114B-B48B-345F-BD70-2B5A196F5B3E}"/>
              </a:ext>
            </a:extLst>
          </p:cNvPr>
          <p:cNvSpPr txBox="1"/>
          <p:nvPr/>
        </p:nvSpPr>
        <p:spPr>
          <a:xfrm>
            <a:off x="1082843" y="1950187"/>
            <a:ext cx="220200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ko-KR" altLang="en-US" sz="700" dirty="0">
                <a:solidFill>
                  <a:prstClr val="black"/>
                </a:solidFill>
              </a:rPr>
              <a:t>대금 신청</a:t>
            </a:r>
            <a:r>
              <a:rPr lang="en-US" altLang="ko-KR" sz="700" dirty="0">
                <a:solidFill>
                  <a:prstClr val="black"/>
                </a:solidFill>
              </a:rPr>
              <a:t>, </a:t>
            </a:r>
            <a:r>
              <a:rPr lang="ko-KR" altLang="en-US" sz="700" dirty="0">
                <a:solidFill>
                  <a:prstClr val="black"/>
                </a:solidFill>
              </a:rPr>
              <a:t>청구는 </a:t>
            </a:r>
            <a:r>
              <a:rPr lang="en-US" altLang="ko-KR" sz="700" dirty="0">
                <a:solidFill>
                  <a:prstClr val="black"/>
                </a:solidFill>
              </a:rPr>
              <a:t>PC </a:t>
            </a:r>
            <a:r>
              <a:rPr lang="ko-KR" altLang="en-US" sz="700" dirty="0">
                <a:solidFill>
                  <a:prstClr val="black"/>
                </a:solidFill>
              </a:rPr>
              <a:t>버전에서 가능합니다</a:t>
            </a:r>
            <a:r>
              <a:rPr lang="en-US" altLang="ko-KR" sz="700" dirty="0">
                <a:solidFill>
                  <a:prstClr val="black"/>
                </a:solidFill>
              </a:rPr>
              <a:t>.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cxnSp>
        <p:nvCxnSpPr>
          <p:cNvPr id="340" name="직선 연결선 339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5091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" name="그룹 5"/>
          <p:cNvGrpSpPr/>
          <p:nvPr/>
        </p:nvGrpSpPr>
        <p:grpSpPr>
          <a:xfrm>
            <a:off x="3836701" y="2540391"/>
            <a:ext cx="2630093" cy="1123811"/>
            <a:chOff x="3836701" y="2575831"/>
            <a:chExt cx="2630093" cy="1123811"/>
          </a:xfrm>
        </p:grpSpPr>
        <p:sp>
          <p:nvSpPr>
            <p:cNvPr id="252" name="TextBox 2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업체정보</a:t>
              </a:r>
            </a:p>
          </p:txBody>
        </p:sp>
        <p:sp>
          <p:nvSpPr>
            <p:cNvPr id="253" name="직사각형 252"/>
            <p:cNvSpPr/>
            <p:nvPr/>
          </p:nvSpPr>
          <p:spPr>
            <a:xfrm>
              <a:off x="3838794" y="2827415"/>
              <a:ext cx="792000" cy="8712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55" name="직선 연결선 2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262" name="직선 연결선 2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3" name="직선 연결선 2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4" name="직선 연결선 2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65" name="직선 연결선 2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59" name="그룹 158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160" name="직선 연결선 15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1" name="직선 연결선 16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" name="그룹 7"/>
          <p:cNvGrpSpPr/>
          <p:nvPr/>
        </p:nvGrpSpPr>
        <p:grpSpPr>
          <a:xfrm>
            <a:off x="720490" y="4465173"/>
            <a:ext cx="2630093" cy="752297"/>
            <a:chOff x="720490" y="4465173"/>
            <a:chExt cx="2630093" cy="752297"/>
          </a:xfrm>
        </p:grpSpPr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07" name="그룹 106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08" name="직선 연결선 10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9" name="직선 연결선 10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6" name="직사각형 15"/>
            <p:cNvSpPr/>
            <p:nvPr/>
          </p:nvSpPr>
          <p:spPr>
            <a:xfrm>
              <a:off x="722583" y="4772658"/>
              <a:ext cx="792000" cy="4395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sp>
        <p:nvSpPr>
          <p:cNvPr id="156" name="모서리가 둥근 직사각형 155"/>
          <p:cNvSpPr/>
          <p:nvPr/>
        </p:nvSpPr>
        <p:spPr>
          <a:xfrm>
            <a:off x="1522790" y="227805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626322" y="1602341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grpSp>
        <p:nvGrpSpPr>
          <p:cNvPr id="5" name="그룹 4"/>
          <p:cNvGrpSpPr/>
          <p:nvPr/>
        </p:nvGrpSpPr>
        <p:grpSpPr>
          <a:xfrm>
            <a:off x="764169" y="4142235"/>
            <a:ext cx="2210802" cy="107722"/>
            <a:chOff x="764169" y="4142235"/>
            <a:chExt cx="2210802" cy="107722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6001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신청금액</a:t>
              </a:r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51333" y="4142235"/>
              <a:ext cx="46270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06088" y="4142235"/>
              <a:ext cx="36888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>
                  <a:latin typeface="+mn-ea"/>
                </a:rPr>
                <a:t>첨부파일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7" name="그룹 6"/>
          <p:cNvGrpSpPr/>
          <p:nvPr/>
        </p:nvGrpSpPr>
        <p:grpSpPr>
          <a:xfrm>
            <a:off x="2924086" y="4104112"/>
            <a:ext cx="422853" cy="187961"/>
            <a:chOff x="3641308" y="2234886"/>
            <a:chExt cx="422853" cy="187961"/>
          </a:xfrm>
        </p:grpSpPr>
        <p:sp>
          <p:nvSpPr>
            <p:cNvPr id="88" name="타원 87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3" name="그룹 92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94" name="직선 연결선 9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직선 연결선 9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7" name="타원 96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8" name="그룹 97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99" name="직선 연결선 98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직선 연결선 99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0" name="그룹 179"/>
          <p:cNvGrpSpPr/>
          <p:nvPr/>
        </p:nvGrpSpPr>
        <p:grpSpPr>
          <a:xfrm>
            <a:off x="3866367" y="2251550"/>
            <a:ext cx="2210802" cy="107722"/>
            <a:chOff x="764169" y="4142235"/>
            <a:chExt cx="2210802" cy="107722"/>
          </a:xfrm>
        </p:grpSpPr>
        <p:sp>
          <p:nvSpPr>
            <p:cNvPr id="181" name="TextBox 18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4169" y="4142235"/>
              <a:ext cx="3597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b="1" dirty="0" err="1">
                  <a:latin typeface="+mn-ea"/>
                </a:rPr>
                <a:t>계약정보</a:t>
              </a:r>
              <a:endParaRPr lang="ko-KR" altLang="en-US" sz="700" b="1" dirty="0">
                <a:latin typeface="+mn-ea"/>
              </a:endParaRPr>
            </a:p>
          </p:txBody>
        </p:sp>
        <p:sp>
          <p:nvSpPr>
            <p:cNvPr id="185" name="TextBox 18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216001" y="4142235"/>
              <a:ext cx="743282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신청금액</a:t>
              </a:r>
            </a:p>
          </p:txBody>
        </p: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051333" y="4142235"/>
              <a:ext cx="462705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606088" y="4142235"/>
              <a:ext cx="368883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700">
                  <a:latin typeface="+mn-ea"/>
                </a:rPr>
                <a:t>첨부파일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209" name="그룹 208"/>
          <p:cNvGrpSpPr/>
          <p:nvPr/>
        </p:nvGrpSpPr>
        <p:grpSpPr>
          <a:xfrm>
            <a:off x="6027618" y="2212489"/>
            <a:ext cx="422853" cy="187961"/>
            <a:chOff x="3641308" y="2234886"/>
            <a:chExt cx="422853" cy="187961"/>
          </a:xfrm>
        </p:grpSpPr>
        <p:sp>
          <p:nvSpPr>
            <p:cNvPr id="210" name="타원 209"/>
            <p:cNvSpPr/>
            <p:nvPr/>
          </p:nvSpPr>
          <p:spPr>
            <a:xfrm flipH="1">
              <a:off x="3641308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1" name="그룹 210"/>
            <p:cNvGrpSpPr/>
            <p:nvPr/>
          </p:nvGrpSpPr>
          <p:grpSpPr>
            <a:xfrm rot="5400000" flipH="1">
              <a:off x="3679895" y="2305364"/>
              <a:ext cx="94010" cy="47005"/>
              <a:chOff x="6812560" y="3297172"/>
              <a:chExt cx="94010" cy="47005"/>
            </a:xfrm>
          </p:grpSpPr>
          <p:cxnSp>
            <p:nvCxnSpPr>
              <p:cNvPr id="216" name="직선 연결선 215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7" name="직선 연결선 216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212" name="타원 211"/>
            <p:cNvSpPr/>
            <p:nvPr/>
          </p:nvSpPr>
          <p:spPr>
            <a:xfrm>
              <a:off x="3876200" y="2234886"/>
              <a:ext cx="187961" cy="187961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13" name="그룹 212"/>
            <p:cNvGrpSpPr/>
            <p:nvPr/>
          </p:nvGrpSpPr>
          <p:grpSpPr>
            <a:xfrm rot="16200000">
              <a:off x="3931564" y="2305364"/>
              <a:ext cx="94010" cy="47005"/>
              <a:chOff x="6812560" y="3297172"/>
              <a:chExt cx="94010" cy="47005"/>
            </a:xfrm>
          </p:grpSpPr>
          <p:cxnSp>
            <p:nvCxnSpPr>
              <p:cNvPr id="214" name="직선 연결선 213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5" name="직선 연결선 214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그룹 139"/>
          <p:cNvGrpSpPr/>
          <p:nvPr/>
        </p:nvGrpSpPr>
        <p:grpSpPr>
          <a:xfrm>
            <a:off x="747925" y="3401909"/>
            <a:ext cx="2599014" cy="187961"/>
            <a:chOff x="747925" y="3393200"/>
            <a:chExt cx="2599014" cy="187961"/>
          </a:xfrm>
        </p:grpSpPr>
        <p:grpSp>
          <p:nvGrpSpPr>
            <p:cNvPr id="141" name="그룹 140"/>
            <p:cNvGrpSpPr/>
            <p:nvPr/>
          </p:nvGrpSpPr>
          <p:grpSpPr>
            <a:xfrm rot="16200000">
              <a:off x="1250697" y="3463679"/>
              <a:ext cx="94010" cy="47005"/>
              <a:chOff x="6812560" y="3297172"/>
              <a:chExt cx="94010" cy="47005"/>
            </a:xfrm>
          </p:grpSpPr>
          <p:cxnSp>
            <p:nvCxnSpPr>
              <p:cNvPr id="172" name="직선 연결선 171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3" name="직선 연결선 172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604170" y="3433319"/>
              <a:ext cx="40086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계약</a:t>
              </a:r>
            </a:p>
          </p:txBody>
        </p:sp>
        <p:sp>
          <p:nvSpPr>
            <p:cNvPr id="143" name="타원 142"/>
            <p:cNvSpPr/>
            <p:nvPr/>
          </p:nvSpPr>
          <p:spPr>
            <a:xfrm>
              <a:off x="140403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45909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3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45" name="그룹 144"/>
            <p:cNvGrpSpPr/>
            <p:nvPr/>
          </p:nvGrpSpPr>
          <p:grpSpPr>
            <a:xfrm rot="16200000">
              <a:off x="1906808" y="3463679"/>
              <a:ext cx="94010" cy="47005"/>
              <a:chOff x="6812560" y="3297172"/>
              <a:chExt cx="94010" cy="47005"/>
            </a:xfrm>
          </p:grpSpPr>
          <p:cxnSp>
            <p:nvCxnSpPr>
              <p:cNvPr id="170" name="직선 연결선 169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71" name="직선 연결선 170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6" name="그룹 145"/>
            <p:cNvGrpSpPr/>
            <p:nvPr/>
          </p:nvGrpSpPr>
          <p:grpSpPr>
            <a:xfrm rot="16200000">
              <a:off x="2562920" y="3463679"/>
              <a:ext cx="94010" cy="47005"/>
              <a:chOff x="6812560" y="3297172"/>
              <a:chExt cx="94010" cy="47005"/>
            </a:xfrm>
          </p:grpSpPr>
          <p:cxnSp>
            <p:nvCxnSpPr>
              <p:cNvPr id="168" name="직선 연결선 167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9" name="직선 연결선 168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47" name="타원 146"/>
            <p:cNvSpPr/>
            <p:nvPr/>
          </p:nvSpPr>
          <p:spPr>
            <a:xfrm>
              <a:off x="747925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2982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2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951350" y="3433319"/>
              <a:ext cx="39757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입찰</a:t>
              </a:r>
            </a:p>
          </p:txBody>
        </p:sp>
        <p:sp>
          <p:nvSpPr>
            <p:cNvPr id="150" name="타원 149"/>
            <p:cNvSpPr/>
            <p:nvPr/>
          </p:nvSpPr>
          <p:spPr>
            <a:xfrm>
              <a:off x="2058749" y="3393200"/>
              <a:ext cx="187961" cy="18796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113806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latin typeface="+mn-ea"/>
                </a:rPr>
                <a:t>4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263899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이행</a:t>
              </a:r>
            </a:p>
          </p:txBody>
        </p:sp>
        <p:sp>
          <p:nvSpPr>
            <p:cNvPr id="153" name="타원 152"/>
            <p:cNvSpPr/>
            <p:nvPr/>
          </p:nvSpPr>
          <p:spPr>
            <a:xfrm>
              <a:off x="2714860" y="3393200"/>
              <a:ext cx="187961" cy="187961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769917" y="3433319"/>
              <a:ext cx="77847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bg1"/>
                  </a:solidFill>
                  <a:latin typeface="+mn-ea"/>
                </a:rPr>
                <a:t>5</a:t>
              </a:r>
              <a:endParaRPr lang="ko-KR" altLang="en-US" sz="700" dirty="0">
                <a:solidFill>
                  <a:schemeClr val="bg1"/>
                </a:solidFill>
                <a:latin typeface="+mn-ea"/>
              </a:endParaRPr>
            </a:p>
          </p:txBody>
        </p:sp>
        <p:sp>
          <p:nvSpPr>
            <p:cNvPr id="155" name="TextBox 1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20010" y="3433319"/>
              <a:ext cx="39864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대금</a:t>
              </a:r>
              <a:r>
                <a:rPr lang="en-US" altLang="ko-KR" sz="700" dirty="0">
                  <a:latin typeface="+mn-ea"/>
                </a:rPr>
                <a:t>/</a:t>
              </a:r>
              <a:r>
                <a:rPr lang="ko-KR" altLang="en-US" sz="700" dirty="0">
                  <a:latin typeface="+mn-ea"/>
                </a:rPr>
                <a:t>사후</a:t>
              </a:r>
            </a:p>
          </p:txBody>
        </p:sp>
        <p:grpSp>
          <p:nvGrpSpPr>
            <p:cNvPr id="157" name="그룹 156"/>
            <p:cNvGrpSpPr/>
            <p:nvPr/>
          </p:nvGrpSpPr>
          <p:grpSpPr>
            <a:xfrm rot="5400000">
              <a:off x="3158978" y="3393200"/>
              <a:ext cx="187961" cy="187961"/>
              <a:chOff x="3876200" y="2234886"/>
              <a:chExt cx="187961" cy="187961"/>
            </a:xfrm>
          </p:grpSpPr>
          <p:sp>
            <p:nvSpPr>
              <p:cNvPr id="158" name="타원 157"/>
              <p:cNvSpPr/>
              <p:nvPr/>
            </p:nvSpPr>
            <p:spPr>
              <a:xfrm>
                <a:off x="3876200" y="2234886"/>
                <a:ext cx="187961" cy="187961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62" name="그룹 161"/>
              <p:cNvGrpSpPr/>
              <p:nvPr/>
            </p:nvGrpSpPr>
            <p:grpSpPr>
              <a:xfrm rot="16200000">
                <a:off x="3931564" y="2305364"/>
                <a:ext cx="94010" cy="47005"/>
                <a:chOff x="6812560" y="3297172"/>
                <a:chExt cx="94010" cy="47005"/>
              </a:xfrm>
            </p:grpSpPr>
            <p:cxnSp>
              <p:nvCxnSpPr>
                <p:cNvPr id="165" name="직선 연결선 164"/>
                <p:cNvCxnSpPr/>
                <p:nvPr/>
              </p:nvCxnSpPr>
              <p:spPr>
                <a:xfrm>
                  <a:off x="6812560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직선 연결선 166"/>
                <p:cNvCxnSpPr/>
                <p:nvPr/>
              </p:nvCxnSpPr>
              <p:spPr>
                <a:xfrm flipH="1">
                  <a:off x="6859565" y="3297172"/>
                  <a:ext cx="47005" cy="47005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</p:grpSp>
    </p:spTree>
    <p:extLst>
      <p:ext uri="{BB962C8B-B14F-4D97-AF65-F5344CB8AC3E}">
        <p14:creationId xmlns:p14="http://schemas.microsoft.com/office/powerpoint/2010/main" val="127426551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계약정보</a:t>
            </a:r>
            <a:r>
              <a:rPr lang="ko-KR" altLang="en-US" dirty="0"/>
              <a:t> 데이터 영역</a:t>
            </a:r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대금신청대상목록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50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계약정보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5766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133" name="그룹 132"/>
          <p:cNvGrpSpPr/>
          <p:nvPr/>
        </p:nvGrpSpPr>
        <p:grpSpPr>
          <a:xfrm>
            <a:off x="716366" y="1528651"/>
            <a:ext cx="2630093" cy="752298"/>
            <a:chOff x="720490" y="4465173"/>
            <a:chExt cx="2630093" cy="752298"/>
          </a:xfrm>
        </p:grpSpPr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81461" y="4465173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계약정보</a:t>
              </a:r>
              <a:endParaRPr lang="ko-KR" altLang="en-US" sz="700" dirty="0">
                <a:latin typeface="+mn-ea"/>
              </a:endParaRPr>
            </a:p>
          </p:txBody>
        </p:sp>
        <p:grpSp>
          <p:nvGrpSpPr>
            <p:cNvPr id="135" name="그룹 134"/>
            <p:cNvGrpSpPr/>
            <p:nvPr/>
          </p:nvGrpSpPr>
          <p:grpSpPr>
            <a:xfrm flipV="1">
              <a:off x="3143548" y="4578504"/>
              <a:ext cx="94010" cy="47005"/>
              <a:chOff x="6812560" y="3297172"/>
              <a:chExt cx="94010" cy="47005"/>
            </a:xfrm>
          </p:grpSpPr>
          <p:cxnSp>
            <p:nvCxnSpPr>
              <p:cNvPr id="147" name="직선 연결선 146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48" name="직선 연결선 14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36" name="직사각형 135"/>
            <p:cNvSpPr/>
            <p:nvPr/>
          </p:nvSpPr>
          <p:spPr>
            <a:xfrm>
              <a:off x="722583" y="4772659"/>
              <a:ext cx="792000" cy="44481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0490" y="4772658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09647" y="4772658"/>
              <a:ext cx="670770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계약번호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계약명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566495" y="4772658"/>
              <a:ext cx="1784088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2025 0000 00 - 01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배추김치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41" name="직선 연결선 14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00376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2" name="직선 연결선 14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722583" y="521747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354638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60" name="그룹 59"/>
          <p:cNvGrpSpPr/>
          <p:nvPr/>
        </p:nvGrpSpPr>
        <p:grpSpPr>
          <a:xfrm>
            <a:off x="716366" y="2433985"/>
            <a:ext cx="2630093" cy="1123811"/>
            <a:chOff x="3836701" y="2575831"/>
            <a:chExt cx="2630093" cy="1123811"/>
          </a:xfrm>
        </p:grpSpPr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897672" y="2575831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대금신청</a:t>
              </a:r>
              <a:r>
                <a:rPr lang="ko-KR" altLang="en-US" sz="700" dirty="0">
                  <a:latin typeface="+mn-ea"/>
                </a:rPr>
                <a:t> 업체정보</a:t>
              </a:r>
            </a:p>
          </p:txBody>
        </p:sp>
        <p:sp>
          <p:nvSpPr>
            <p:cNvPr id="62" name="직사각형 61"/>
            <p:cNvSpPr/>
            <p:nvPr/>
          </p:nvSpPr>
          <p:spPr>
            <a:xfrm>
              <a:off x="3838794" y="2827415"/>
              <a:ext cx="792000" cy="8722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6701" y="2827416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25858" y="2827416"/>
              <a:ext cx="670770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상호</a:t>
              </a:r>
              <a:r>
                <a:rPr lang="en-US" altLang="ko-KR" sz="700" dirty="0">
                  <a:latin typeface="+mn-ea"/>
                </a:rPr>
                <a:t>(</a:t>
              </a:r>
              <a:r>
                <a:rPr lang="ko-KR" altLang="en-US" sz="700" dirty="0" err="1">
                  <a:latin typeface="+mn-ea"/>
                </a:rPr>
                <a:t>업체명</a:t>
              </a:r>
              <a:r>
                <a:rPr lang="en-US" altLang="ko-KR" sz="700" dirty="0">
                  <a:latin typeface="+mn-ea"/>
                </a:rPr>
                <a:t>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대표명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청구인성명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연락처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682706" y="2827416"/>
              <a:ext cx="1775839" cy="82747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A </a:t>
              </a:r>
              <a:r>
                <a:rPr lang="ko-KR" altLang="en-US" sz="700" dirty="0">
                  <a:latin typeface="+mn-ea"/>
                </a:rPr>
                <a:t>업체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홍길동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010-1234-5678</a:t>
              </a:r>
            </a:p>
          </p:txBody>
        </p:sp>
        <p:cxnSp>
          <p:nvCxnSpPr>
            <p:cNvPr id="66" name="직선 연결선 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05852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7" name="직선 연결선 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27222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48593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38794" y="369964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72" name="그룹 71"/>
            <p:cNvGrpSpPr/>
            <p:nvPr/>
          </p:nvGrpSpPr>
          <p:grpSpPr>
            <a:xfrm flipV="1">
              <a:off x="6259759" y="2635184"/>
              <a:ext cx="94010" cy="47005"/>
              <a:chOff x="6812560" y="3297172"/>
              <a:chExt cx="94010" cy="47005"/>
            </a:xfrm>
          </p:grpSpPr>
          <p:cxnSp>
            <p:nvCxnSpPr>
              <p:cNvPr id="75" name="직선 연결선 74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직선 연결선 75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55" name="타원 15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49035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</p:spTree>
    <p:extLst>
      <p:ext uri="{BB962C8B-B14F-4D97-AF65-F5344CB8AC3E}">
        <p14:creationId xmlns:p14="http://schemas.microsoft.com/office/powerpoint/2010/main" val="28549606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 err="1"/>
              <a:t>기성대가</a:t>
            </a:r>
            <a:r>
              <a:rPr lang="ko-KR" altLang="en-US" dirty="0"/>
              <a:t> 신청 금액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ko-KR" altLang="en-US" dirty="0">
                <a:latin typeface="+mn-ea"/>
              </a:rPr>
              <a:t> 신청 금액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r>
                <a:rPr lang="ko-KR" altLang="en-US" sz="700" dirty="0">
                  <a:latin typeface="+mn-ea"/>
                </a:rPr>
                <a:t> 신청 금액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9"/>
            <a:ext cx="2630093" cy="3662541"/>
            <a:chOff x="3865118" y="2946204"/>
            <a:chExt cx="2630093" cy="3662541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4"/>
              <a:ext cx="792000" cy="363159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지급구분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세액여부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공제금액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공제내역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실지급금액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신고구분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선급금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총기성율</a:t>
              </a:r>
              <a:r>
                <a:rPr lang="en-US" altLang="ko-KR" sz="700" dirty="0">
                  <a:latin typeface="+mn-ea"/>
                </a:rPr>
                <a:t>(%)</a:t>
              </a: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총기성금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선금정산액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금회정산액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비고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366254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 err="1">
                  <a:latin typeface="+mn-ea"/>
                </a:rPr>
                <a:t>기성대가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00 %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3" name="직선 연결선 16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4" name="직선 연결선 16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67" name="직선 연결선 16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47448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68818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90189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10535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31906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53276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733215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5946922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15038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36409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6577797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53996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2" name="그룹 41"/>
          <p:cNvGrpSpPr/>
          <p:nvPr/>
        </p:nvGrpSpPr>
        <p:grpSpPr>
          <a:xfrm>
            <a:off x="1597442" y="2103380"/>
            <a:ext cx="1499574" cy="107722"/>
            <a:chOff x="1597442" y="5895087"/>
            <a:chExt cx="1499574" cy="107722"/>
          </a:xfrm>
        </p:grpSpPr>
        <p:sp>
          <p:nvSpPr>
            <p:cNvPr id="43" name="타원 42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타원 43"/>
            <p:cNvSpPr/>
            <p:nvPr/>
          </p:nvSpPr>
          <p:spPr>
            <a:xfrm>
              <a:off x="216920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과세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32693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면세</a:t>
              </a:r>
              <a:endParaRPr lang="ko-KR" altLang="en-US" sz="700" dirty="0">
                <a:latin typeface="+mn-ea"/>
              </a:endParaRPr>
            </a:p>
          </p:txBody>
        </p:sp>
        <p:sp>
          <p:nvSpPr>
            <p:cNvPr id="49" name="타원 48"/>
            <p:cNvSpPr/>
            <p:nvPr/>
          </p:nvSpPr>
          <p:spPr>
            <a:xfrm>
              <a:off x="2759752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17480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>
                  <a:latin typeface="+mn-ea"/>
                </a:rPr>
                <a:t>영세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52" name="그룹 51"/>
          <p:cNvGrpSpPr/>
          <p:nvPr/>
        </p:nvGrpSpPr>
        <p:grpSpPr>
          <a:xfrm>
            <a:off x="1597442" y="4038228"/>
            <a:ext cx="1088560" cy="107722"/>
            <a:chOff x="1597442" y="5895087"/>
            <a:chExt cx="1088560" cy="107722"/>
          </a:xfrm>
        </p:grpSpPr>
        <p:sp>
          <p:nvSpPr>
            <p:cNvPr id="53" name="타원 52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타원 53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확정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예정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139532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세금계산서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세금계산서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1" name="그룹 140"/>
          <p:cNvGrpSpPr/>
          <p:nvPr/>
        </p:nvGrpSpPr>
        <p:grpSpPr>
          <a:xfrm>
            <a:off x="716366" y="1820148"/>
            <a:ext cx="2630093" cy="449637"/>
            <a:chOff x="3865118" y="2946203"/>
            <a:chExt cx="2630093" cy="449637"/>
          </a:xfrm>
        </p:grpSpPr>
        <p:sp>
          <p:nvSpPr>
            <p:cNvPr id="142" name="직사각형 141"/>
            <p:cNvSpPr/>
            <p:nvPr/>
          </p:nvSpPr>
          <p:spPr>
            <a:xfrm>
              <a:off x="3867211" y="2946203"/>
              <a:ext cx="792000" cy="441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396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세금계산서번호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162" name="직선 연결선 16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5840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7303" y="2946204"/>
              <a:ext cx="1769659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1234-5678-9012</a:t>
              </a:r>
              <a:endParaRPr lang="ko-KR" altLang="en-US" sz="700" dirty="0">
                <a:latin typeface="+mn-ea"/>
              </a:endParaRPr>
            </a:p>
          </p:txBody>
        </p: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5930830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1597442" y="1878063"/>
            <a:ext cx="1268097" cy="107722"/>
            <a:chOff x="1597442" y="5895087"/>
            <a:chExt cx="1268097" cy="107722"/>
          </a:xfrm>
        </p:grpSpPr>
        <p:sp>
          <p:nvSpPr>
            <p:cNvPr id="38" name="타원 37"/>
            <p:cNvSpPr/>
            <p:nvPr/>
          </p:nvSpPr>
          <p:spPr>
            <a:xfrm>
              <a:off x="1597442" y="5903948"/>
              <a:ext cx="90000" cy="90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타원 38"/>
            <p:cNvSpPr/>
            <p:nvPr/>
          </p:nvSpPr>
          <p:spPr>
            <a:xfrm>
              <a:off x="2348738" y="5903948"/>
              <a:ext cx="90000" cy="90000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746956" y="5895087"/>
              <a:ext cx="179536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>
                  <a:latin typeface="+mn-ea"/>
                </a:rPr>
                <a:t>선택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506466" y="5895087"/>
              <a:ext cx="359073" cy="10772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ko-KR" altLang="en-US" sz="700" dirty="0" err="1">
                  <a:latin typeface="+mn-ea"/>
                </a:rPr>
                <a:t>선택안함</a:t>
              </a:r>
              <a:endParaRPr lang="ko-KR" altLang="en-US" sz="700" dirty="0">
                <a:latin typeface="+mn-ea"/>
              </a:endParaRPr>
            </a:p>
          </p:txBody>
        </p:sp>
      </p:grpSp>
      <p:grpSp>
        <p:nvGrpSpPr>
          <p:cNvPr id="49" name="그룹 48"/>
          <p:cNvGrpSpPr/>
          <p:nvPr/>
        </p:nvGrpSpPr>
        <p:grpSpPr>
          <a:xfrm>
            <a:off x="716366" y="2588153"/>
            <a:ext cx="2630093" cy="1292663"/>
            <a:chOff x="3865118" y="2946203"/>
            <a:chExt cx="2630093" cy="1292663"/>
          </a:xfrm>
        </p:grpSpPr>
        <p:sp>
          <p:nvSpPr>
            <p:cNvPr id="50" name="직사각형 49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6" name="직선 연결선 5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3364" y="2314806"/>
            <a:ext cx="843764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품목 정보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716366" y="3988526"/>
            <a:ext cx="2630093" cy="1292663"/>
            <a:chOff x="3865118" y="2946203"/>
            <a:chExt cx="2630093" cy="1292663"/>
          </a:xfrm>
        </p:grpSpPr>
        <p:sp>
          <p:nvSpPr>
            <p:cNvPr id="72" name="직사각형 71"/>
            <p:cNvSpPr/>
            <p:nvPr/>
          </p:nvSpPr>
          <p:spPr>
            <a:xfrm>
              <a:off x="3867211" y="2946203"/>
              <a:ext cx="792000" cy="129266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5118" y="2946204"/>
              <a:ext cx="2621844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3954274" y="2946204"/>
              <a:ext cx="715881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월일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품목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수량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단가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공급가액</a:t>
              </a:r>
              <a:endParaRPr lang="en-US" altLang="ko-KR" sz="700" dirty="0">
                <a:latin typeface="+mn-ea"/>
              </a:endParaRPr>
            </a:p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세액</a:t>
              </a:r>
              <a:endParaRPr lang="en-US" altLang="ko-KR" sz="700" dirty="0"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4711123" y="2946204"/>
              <a:ext cx="1775839" cy="1292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02-03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-</a:t>
              </a:r>
            </a:p>
            <a:p>
              <a:pPr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</a:t>
              </a: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  <a:p>
              <a:pPr algn="r">
                <a:lnSpc>
                  <a:spcPct val="200000"/>
                </a:lnSpc>
              </a:pPr>
              <a:r>
                <a:rPr lang="en-US" altLang="ko-KR" sz="700" dirty="0">
                  <a:latin typeface="+mn-ea"/>
                </a:rPr>
                <a:t>000,000,000 </a:t>
              </a:r>
              <a:r>
                <a:rPr lang="ko-KR" altLang="en-US" sz="700" dirty="0">
                  <a:latin typeface="+mn-ea"/>
                </a:rPr>
                <a:t>원</a:t>
              </a:r>
              <a:endParaRPr lang="en-US" altLang="ko-KR" sz="700" dirty="0">
                <a:latin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177309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7" name="직선 연결선 76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391016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604723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3808184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021891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81" name="직선 연결선 80">
              <a:extLst>
                <a:ext uri="{FF2B5EF4-FFF2-40B4-BE49-F238E27FC236}">
                  <a16:creationId xmlns:a16="http://schemas.microsoft.com/office/drawing/2014/main" id="{E9293055-D5CD-4B9E-7F64-64B2D2CA7A52}"/>
                </a:ext>
              </a:extLst>
            </p:cNvPr>
            <p:cNvCxnSpPr/>
            <p:nvPr/>
          </p:nvCxnSpPr>
          <p:spPr>
            <a:xfrm>
              <a:off x="3867211" y="4235598"/>
              <a:ext cx="2628000" cy="0"/>
            </a:xfrm>
            <a:prstGeom prst="line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478169"/>
            <a:ext cx="76863" cy="292489"/>
            <a:chOff x="3750067" y="4683795"/>
            <a:chExt cx="76863" cy="292489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14900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첨부파일 데이터 영역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53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 상세 </a:t>
            </a:r>
            <a:r>
              <a:rPr lang="en-US" altLang="ko-KR" dirty="0">
                <a:latin typeface="+mn-ea"/>
              </a:rPr>
              <a:t>– </a:t>
            </a:r>
            <a:r>
              <a:rPr lang="ko-KR" altLang="en-US" dirty="0">
                <a:latin typeface="+mn-ea"/>
              </a:rPr>
              <a:t>첨부파일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</a:t>
            </a:r>
            <a:r>
              <a:rPr lang="en-US" altLang="ko-KR" dirty="0"/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/>
              <a:t>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상세 조회 </a:t>
            </a:r>
            <a:r>
              <a:rPr lang="en-US" altLang="ko-KR" dirty="0">
                <a:latin typeface="+mn-ea"/>
              </a:rPr>
              <a:t>-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상세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 err="1">
                <a:latin typeface="+mn-ea"/>
              </a:rPr>
              <a:t>기성대가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MUI-WM-01-M08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803364" y="1527996"/>
            <a:ext cx="2456097" cy="181140"/>
            <a:chOff x="763157" y="1527996"/>
            <a:chExt cx="2456097" cy="181140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63157" y="1527996"/>
              <a:ext cx="843764" cy="18114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ko-KR" altLang="en-US" sz="700" dirty="0">
                  <a:latin typeface="+mn-ea"/>
                </a:rPr>
                <a:t>첨부파일</a:t>
              </a:r>
            </a:p>
          </p:txBody>
        </p:sp>
        <p:grpSp>
          <p:nvGrpSpPr>
            <p:cNvPr id="129" name="그룹 128"/>
            <p:cNvGrpSpPr/>
            <p:nvPr/>
          </p:nvGrpSpPr>
          <p:grpSpPr>
            <a:xfrm flipV="1">
              <a:off x="3125244" y="1641327"/>
              <a:ext cx="94010" cy="47005"/>
              <a:chOff x="6812560" y="3297172"/>
              <a:chExt cx="94010" cy="47005"/>
            </a:xfrm>
          </p:grpSpPr>
          <p:cxnSp>
            <p:nvCxnSpPr>
              <p:cNvPr id="131" name="직선 연결선 130"/>
              <p:cNvCxnSpPr/>
              <p:nvPr/>
            </p:nvCxnSpPr>
            <p:spPr>
              <a:xfrm>
                <a:off x="681256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8" name="직선 연결선 137"/>
              <p:cNvCxnSpPr/>
              <p:nvPr/>
            </p:nvCxnSpPr>
            <p:spPr>
              <a:xfrm flipH="1">
                <a:off x="685956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6160" y="1581676"/>
            <a:ext cx="162064" cy="162064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8786413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다음에 계속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705040" y="1880640"/>
            <a:ext cx="2652744" cy="1212999"/>
            <a:chOff x="675928" y="1954020"/>
            <a:chExt cx="2652744" cy="1212999"/>
          </a:xfrm>
        </p:grpSpPr>
        <p:sp>
          <p:nvSpPr>
            <p:cNvPr id="63" name="모서리가 둥근 직사각형 62"/>
            <p:cNvSpPr/>
            <p:nvPr/>
          </p:nvSpPr>
          <p:spPr>
            <a:xfrm>
              <a:off x="675929" y="2089138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2217520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4125" y="2217520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1</a:t>
              </a:r>
            </a:p>
          </p:txBody>
        </p:sp>
        <p:sp>
          <p:nvSpPr>
            <p:cNvPr id="67" name="타원 66"/>
            <p:cNvSpPr/>
            <p:nvPr/>
          </p:nvSpPr>
          <p:spPr>
            <a:xfrm>
              <a:off x="3063926" y="2199381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675929" y="2495824"/>
              <a:ext cx="2652743" cy="364486"/>
            </a:xfrm>
            <a:prstGeom prst="roundRect">
              <a:avLst>
                <a:gd name="adj" fmla="val 9062"/>
              </a:avLst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2624206"/>
              <a:ext cx="1682738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.</a:t>
              </a:r>
              <a:r>
                <a:rPr lang="en-US" altLang="ko-KR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hwp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 [</a:t>
              </a:r>
              <a:r>
                <a:rPr lang="ko-KR" altLang="en-US" sz="7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파일크기</a:t>
              </a:r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]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754125" y="2624206"/>
              <a:ext cx="247786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7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2</a:t>
              </a:r>
            </a:p>
          </p:txBody>
        </p:sp>
        <p:sp>
          <p:nvSpPr>
            <p:cNvPr id="87" name="타원 86"/>
            <p:cNvSpPr/>
            <p:nvPr/>
          </p:nvSpPr>
          <p:spPr>
            <a:xfrm>
              <a:off x="3063926" y="2606067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1176597" y="1954020"/>
              <a:ext cx="47434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첨부파일명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2973442" y="1954020"/>
              <a:ext cx="324968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다운로드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682693" y="1954020"/>
              <a:ext cx="390650" cy="9233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ko-KR" altLang="en-US" sz="600" dirty="0" err="1">
                  <a:solidFill>
                    <a:schemeClr val="tx1">
                      <a:lumMod val="85000"/>
                      <a:lumOff val="15000"/>
                    </a:schemeClr>
                  </a:solidFill>
                  <a:latin typeface="맑은 고딕" panose="020B0503020000020004" pitchFamily="50" charset="-127"/>
                </a:rPr>
                <a:t>항목번호</a:t>
              </a:r>
              <a:endParaRPr lang="en-US" altLang="ko-KR" sz="600" dirty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</a:endParaRPr>
            </a:p>
          </p:txBody>
        </p:sp>
        <p:sp>
          <p:nvSpPr>
            <p:cNvPr id="91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675928" y="2959245"/>
              <a:ext cx="2652743" cy="207774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>
                  <a:latin typeface="맑은 고딕"/>
                  <a:ea typeface="맑은 고딕" panose="020B0503020000020004" pitchFamily="50" charset="-127"/>
                </a:rPr>
                <a:t>일괄 다운로드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92" name="타원 91"/>
            <p:cNvSpPr/>
            <p:nvPr/>
          </p:nvSpPr>
          <p:spPr>
            <a:xfrm>
              <a:off x="1451334" y="2991132"/>
              <a:ext cx="144000" cy="144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3232189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34337629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54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(1/2)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25278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계약정보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dmt_ctrtInfo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581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174784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999250B-FAE2-1F51-9C67-0E7F19794195}"/>
              </a:ext>
            </a:extLst>
          </p:cNvPr>
          <p:cNvSpPr txBox="1"/>
          <p:nvPr/>
        </p:nvSpPr>
        <p:spPr>
          <a:xfrm>
            <a:off x="458117" y="1652198"/>
            <a:ext cx="341015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대금신청업체정보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dmt_pymtAplyBzentyInfo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9B73F11-43C8-323E-2BCE-3FE211E579A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863401"/>
          <a:ext cx="8994883" cy="969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bzentyNm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상호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대표명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rprsvNm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대표명</a:t>
                      </a:r>
                      <a:r>
                        <a:rPr lang="ko-KR" altLang="en-US" sz="800" dirty="0">
                          <a:latin typeface="+mn-ea"/>
                        </a:rPr>
                        <a:t>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9498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청구인성명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청구인성명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8323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연락처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clmtTelno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연락처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6708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BC6AD7A-7FEA-F809-E71E-27313A032F8A}"/>
              </a:ext>
            </a:extLst>
          </p:cNvPr>
          <p:cNvSpPr txBox="1"/>
          <p:nvPr/>
        </p:nvSpPr>
        <p:spPr>
          <a:xfrm>
            <a:off x="462469" y="2845273"/>
            <a:ext cx="3570456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1.3. </a:t>
            </a:r>
            <a:r>
              <a:rPr lang="ko-KR" altLang="en-US" sz="900" b="1" dirty="0">
                <a:solidFill>
                  <a:prstClr val="black"/>
                </a:solidFill>
              </a:rPr>
              <a:t>기성대가 신청 금액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dmt_PxcndCstAplyAmtInfo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6E49579-C1CC-D6B3-07FE-10A047B3DC5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7351" y="3056476"/>
          <a:ext cx="8994883" cy="34905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지급구분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상위코드 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: EPNC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vatSecd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세액여부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A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있음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B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없음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245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납품금액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6291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dlvgdsSplyEqvl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16502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dlvgdsTxamt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106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4475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ddcSplyEqvl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830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ddcDsctnNm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공제내역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giveClmAmt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실지급금액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cfmtnYn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신고부분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 :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확정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N :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미확정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선급금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선급금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3647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총기성율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tpxcndRt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총기성율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9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9648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총기성금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tpxcndAmt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총기성금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35662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선금정산액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prpayClclnAmt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선금정산액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7755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금회정산액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tstmClclnAmt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금회정산액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8899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birqRmrkCn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비고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D76F2115-AEA5-60DF-F20F-00DC038CE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8519867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55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3490B-4478-F735-A295-62F7CD63369D}"/>
              </a:ext>
            </a:extLst>
          </p:cNvPr>
          <p:cNvSpPr txBox="1"/>
          <p:nvPr/>
        </p:nvSpPr>
        <p:spPr>
          <a:xfrm>
            <a:off x="458117" y="803113"/>
            <a:ext cx="2201491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1.4. </a:t>
            </a:r>
            <a:r>
              <a:rPr lang="ko-KR" altLang="en-US" sz="900" b="1" dirty="0">
                <a:solidFill>
                  <a:prstClr val="black"/>
                </a:solidFill>
              </a:rPr>
              <a:t>첨부서류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dlt_adocList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6E19429-B9EE-3086-F85C-8D422E1AAC5F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3935"/>
          <a:ext cx="8994883" cy="775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첨부서류명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docNm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첨부서류명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200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fileNm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첨부파일명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fileSize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파일크기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740325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5A458C6-2001-CF3F-FE8A-1FE6B042F616}"/>
              </a:ext>
            </a:extLst>
          </p:cNvPr>
          <p:cNvSpPr txBox="1"/>
          <p:nvPr/>
        </p:nvSpPr>
        <p:spPr>
          <a:xfrm>
            <a:off x="458117" y="1879207"/>
            <a:ext cx="227843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1.5. </a:t>
            </a:r>
            <a:r>
              <a:rPr lang="ko-KR" altLang="en-US" sz="900" b="1" dirty="0">
                <a:solidFill>
                  <a:prstClr val="black"/>
                </a:solidFill>
              </a:rPr>
              <a:t>세금계산서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dlt_txivList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9933174-C333-B54F-7FFD-9E0BA3052E1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090410"/>
          <a:ext cx="8994883" cy="1551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세금계산서번호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txivChcYn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세금계산서번호 조회결과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 :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N : </a:t>
                      </a:r>
                      <a:r>
                        <a:rPr lang="ko-KR" alt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선택안함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bllPblcnYmd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월일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yyyy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-mm-dd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33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itemNm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품목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200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18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dlvgdsQty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수량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62779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ctrtUntprc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단가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5329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splyEqvl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공급가액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15350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txamt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세액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17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9525" marR="9525" marT="9525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4824845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56D7E0CC-76BD-6960-A965-C8968E78B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FD3C76-3065-7A09-0BCD-20F59635848B}"/>
              </a:ext>
            </a:extLst>
          </p:cNvPr>
          <p:cNvSpPr txBox="1"/>
          <p:nvPr/>
        </p:nvSpPr>
        <p:spPr>
          <a:xfrm>
            <a:off x="458117" y="572956"/>
            <a:ext cx="1124273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 </a:t>
            </a:r>
            <a:r>
              <a:rPr lang="en-US" altLang="ko-KR" sz="1000" b="1" dirty="0">
                <a:solidFill>
                  <a:prstClr val="black"/>
                </a:solidFill>
              </a:rPr>
              <a:t>(2/2)</a:t>
            </a:r>
            <a:endParaRPr lang="ko-KR" altLang="en-US" sz="1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6620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56</a:t>
            </a:fld>
            <a:endParaRPr lang="ko-KR" altLang="en-US" dirty="0"/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0D48BDBB-D0E4-C290-79F1-6E5379B7AF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1085978"/>
              </p:ext>
            </p:extLst>
          </p:nvPr>
        </p:nvGraphicFramePr>
        <p:xfrm>
          <a:off x="453000" y="1068364"/>
          <a:ext cx="8995591" cy="5097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공통코드정보를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로드한다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페이지 로딩 시</a:t>
                      </a:r>
                      <a:r>
                        <a:rPr lang="en-US" altLang="ko-KR" sz="800" dirty="0"/>
                        <a:t> </a:t>
                      </a:r>
                      <a:r>
                        <a:rPr lang="ko-KR" altLang="en-US" sz="800" dirty="0"/>
                        <a:t>계약 정보를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570381A-11EA-037D-2035-048FAEF0D9C1}"/>
              </a:ext>
            </a:extLst>
          </p:cNvPr>
          <p:cNvSpPr txBox="1"/>
          <p:nvPr/>
        </p:nvSpPr>
        <p:spPr>
          <a:xfrm>
            <a:off x="458117" y="760911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  <a:latin typeface="+mn-ea"/>
              </a:rPr>
              <a:t>2.</a:t>
            </a:r>
            <a:r>
              <a:rPr lang="ko-KR" altLang="en-US" sz="1000" b="1" dirty="0">
                <a:solidFill>
                  <a:prstClr val="black"/>
                </a:solidFill>
                <a:latin typeface="+mn-ea"/>
              </a:rPr>
              <a:t> 이벤트 설명</a:t>
            </a:r>
          </a:p>
        </p:txBody>
      </p:sp>
      <p:sp>
        <p:nvSpPr>
          <p:cNvPr id="9" name="Text Box 73">
            <a:extLst>
              <a:ext uri="{FF2B5EF4-FFF2-40B4-BE49-F238E27FC236}">
                <a16:creationId xmlns:a16="http://schemas.microsoft.com/office/drawing/2014/main" id="{0564137D-18F6-F736-06A0-678331B91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9866" y="828026"/>
            <a:ext cx="1678016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361738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안내문 데이터 영역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57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</a:t>
            </a:r>
            <a:r>
              <a:rPr lang="en-US" altLang="ko-KR" dirty="0"/>
              <a:t>/</a:t>
            </a:r>
            <a:r>
              <a:rPr lang="ko-KR" altLang="en-US" dirty="0"/>
              <a:t>사후 상세 화면의 </a:t>
            </a:r>
            <a:r>
              <a:rPr lang="ko-KR" altLang="en-US" dirty="0" err="1"/>
              <a:t>대금청구</a:t>
            </a:r>
            <a:r>
              <a:rPr lang="ko-KR" altLang="en-US" dirty="0"/>
              <a:t> 안내문 팝업 조회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 err="1">
                <a:latin typeface="+mn-ea"/>
              </a:rPr>
              <a:t>대금청구</a:t>
            </a:r>
            <a:r>
              <a:rPr lang="ko-KR" altLang="en-US" dirty="0">
                <a:latin typeface="+mn-ea"/>
              </a:rPr>
              <a:t> 안내문 팝업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MUI-WM-01-P09</a:t>
            </a:r>
            <a:endParaRPr lang="ko-KR" altLang="en-US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3795734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75DF28B5-84C4-84C3-4D62-98FEE71BEAA5}"/>
              </a:ext>
            </a:extLst>
          </p:cNvPr>
          <p:cNvSpPr txBox="1"/>
          <p:nvPr/>
        </p:nvSpPr>
        <p:spPr>
          <a:xfrm>
            <a:off x="2772830" y="6326480"/>
            <a:ext cx="61715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900" b="1" dirty="0">
                <a:solidFill>
                  <a:srgbClr val="0070C0"/>
                </a:solidFill>
                <a:latin typeface="+mn-ea"/>
              </a:rPr>
              <a:t>우측에 계속</a:t>
            </a:r>
          </a:p>
        </p:txBody>
      </p:sp>
      <p:sp>
        <p:nvSpPr>
          <p:cNvPr id="296" name="양쪽 모서리가 둥근 사각형 295"/>
          <p:cNvSpPr/>
          <p:nvPr/>
        </p:nvSpPr>
        <p:spPr>
          <a:xfrm>
            <a:off x="3795734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4881747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298" name="그룹 297"/>
          <p:cNvGrpSpPr/>
          <p:nvPr/>
        </p:nvGrpSpPr>
        <p:grpSpPr>
          <a:xfrm>
            <a:off x="6284673" y="2273335"/>
            <a:ext cx="94010" cy="94010"/>
            <a:chOff x="6812560" y="3297172"/>
            <a:chExt cx="94010" cy="94010"/>
          </a:xfrm>
        </p:grpSpPr>
        <p:cxnSp>
          <p:nvCxnSpPr>
            <p:cNvPr id="299" name="직선 연결선 298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0" name="직선 연결선 299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01" name="TextBox 300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924811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안내문</a:t>
            </a:r>
          </a:p>
        </p:txBody>
      </p:sp>
      <p:cxnSp>
        <p:nvCxnSpPr>
          <p:cNvPr id="302" name="직선 연결선 301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4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5" name="양쪽 모서리가 둥근 사각형 64"/>
          <p:cNvSpPr/>
          <p:nvPr/>
        </p:nvSpPr>
        <p:spPr>
          <a:xfrm>
            <a:off x="676601" y="2108521"/>
            <a:ext cx="2712027" cy="4123779"/>
          </a:xfrm>
          <a:prstGeom prst="round2SameRect">
            <a:avLst>
              <a:gd name="adj1" fmla="val 4887"/>
              <a:gd name="adj2" fmla="val 0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>
              <a:solidFill>
                <a:schemeClr val="tx1"/>
              </a:solidFill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1762614" y="2138919"/>
            <a:ext cx="540000" cy="45719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grpSp>
        <p:nvGrpSpPr>
          <p:cNvPr id="67" name="그룹 66"/>
          <p:cNvGrpSpPr/>
          <p:nvPr/>
        </p:nvGrpSpPr>
        <p:grpSpPr>
          <a:xfrm>
            <a:off x="3165540" y="2273335"/>
            <a:ext cx="94010" cy="94010"/>
            <a:chOff x="6812560" y="3297172"/>
            <a:chExt cx="94010" cy="94010"/>
          </a:xfrm>
        </p:grpSpPr>
        <p:cxnSp>
          <p:nvCxnSpPr>
            <p:cNvPr id="68" name="직선 연결선 67"/>
            <p:cNvCxnSpPr/>
            <p:nvPr/>
          </p:nvCxnSpPr>
          <p:spPr>
            <a:xfrm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 rot="5400000">
              <a:off x="6812560" y="3297172"/>
              <a:ext cx="94010" cy="940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805678" y="2254014"/>
            <a:ext cx="1798758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안내문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6601" y="2515414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8" name="모서리가 둥근 직사각형 97"/>
          <p:cNvSpPr/>
          <p:nvPr/>
        </p:nvSpPr>
        <p:spPr>
          <a:xfrm rot="5400000">
            <a:off x="2663444" y="3246783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53" name="타원 152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3754" y="225722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336" name="모서리가 둥근 직사각형 335"/>
          <p:cNvSpPr/>
          <p:nvPr/>
        </p:nvSpPr>
        <p:spPr>
          <a:xfrm rot="5400000">
            <a:off x="5782577" y="4236250"/>
            <a:ext cx="1352376" cy="3600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ko-KR" altLang="en-US" sz="700" dirty="0">
              <a:solidFill>
                <a:schemeClr val="tx1"/>
              </a:solidFill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3795735" y="3423369"/>
            <a:ext cx="2712026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66270" y="2612075"/>
            <a:ext cx="2532688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900" dirty="0">
                <a:latin typeface="+mn-ea"/>
              </a:rPr>
              <a:t>&lt;</a:t>
            </a:r>
            <a:r>
              <a:rPr lang="ko-KR" altLang="en-US" sz="900" dirty="0">
                <a:latin typeface="+mn-ea"/>
              </a:rPr>
              <a:t>계약업체 </a:t>
            </a:r>
            <a:r>
              <a:rPr lang="ko-KR" altLang="en-US" sz="900" dirty="0" err="1">
                <a:latin typeface="+mn-ea"/>
              </a:rPr>
              <a:t>대금청구</a:t>
            </a:r>
            <a:r>
              <a:rPr lang="ko-KR" altLang="en-US" sz="900" dirty="0">
                <a:latin typeface="+mn-ea"/>
              </a:rPr>
              <a:t> 시 안내문</a:t>
            </a:r>
            <a:r>
              <a:rPr lang="en-US" altLang="ko-KR" sz="900" dirty="0">
                <a:latin typeface="+mn-ea"/>
              </a:rPr>
              <a:t>&gt;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● </a:t>
            </a:r>
            <a:r>
              <a:rPr lang="ko-KR" altLang="en-US" sz="700" dirty="0">
                <a:latin typeface="+mn-ea"/>
              </a:rPr>
              <a:t>국민연금법 제</a:t>
            </a:r>
            <a:r>
              <a:rPr lang="en-US" altLang="ko-KR" sz="700" dirty="0">
                <a:latin typeface="+mn-ea"/>
              </a:rPr>
              <a:t>95</a:t>
            </a:r>
            <a:r>
              <a:rPr lang="ko-KR" altLang="en-US" sz="700" dirty="0">
                <a:latin typeface="+mn-ea"/>
              </a:rPr>
              <a:t>조의 </a:t>
            </a:r>
            <a:r>
              <a:rPr lang="en-US" altLang="ko-KR" sz="700" dirty="0">
                <a:latin typeface="+mn-ea"/>
              </a:rPr>
              <a:t>2(</a:t>
            </a:r>
            <a:r>
              <a:rPr lang="ko-KR" altLang="en-US" sz="700" dirty="0">
                <a:latin typeface="+mn-ea"/>
              </a:rPr>
              <a:t>연금보험료 등의 </a:t>
            </a:r>
            <a:r>
              <a:rPr lang="ko-KR" altLang="en-US" sz="700" dirty="0" err="1">
                <a:latin typeface="+mn-ea"/>
              </a:rPr>
              <a:t>납부증명</a:t>
            </a:r>
            <a:r>
              <a:rPr lang="en-US" altLang="ko-KR" sz="700" dirty="0">
                <a:latin typeface="+mn-ea"/>
              </a:rPr>
              <a:t>) </a:t>
            </a:r>
            <a:r>
              <a:rPr lang="ko-KR" altLang="en-US" sz="700" dirty="0">
                <a:latin typeface="+mn-ea"/>
              </a:rPr>
              <a:t>시행중인 제도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국민연금보험료 </a:t>
            </a:r>
            <a:r>
              <a:rPr lang="ko-KR" altLang="en-US" sz="700" dirty="0" err="1">
                <a:latin typeface="+mn-ea"/>
              </a:rPr>
              <a:t>납부증명은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대금청구시</a:t>
            </a:r>
            <a:r>
              <a:rPr lang="ko-KR" altLang="en-US" sz="700" dirty="0">
                <a:latin typeface="+mn-ea"/>
              </a:rPr>
              <a:t> </a:t>
            </a:r>
            <a:r>
              <a:rPr lang="ko-KR" altLang="en-US" sz="700" dirty="0" err="1">
                <a:latin typeface="+mn-ea"/>
              </a:rPr>
              <a:t>행정정보공동이용사전동의</a:t>
            </a:r>
            <a:r>
              <a:rPr lang="ko-KR" altLang="en-US" sz="700" dirty="0">
                <a:latin typeface="+mn-ea"/>
              </a:rPr>
              <a:t> 및 사업장관리번호 입력으로 갈음합니다</a:t>
            </a:r>
            <a:r>
              <a:rPr lang="en-US" altLang="ko-KR" sz="700" dirty="0">
                <a:latin typeface="+mn-ea"/>
              </a:rPr>
              <a:t>.(</a:t>
            </a:r>
            <a:r>
              <a:rPr lang="ko-KR" altLang="en-US" sz="700" dirty="0">
                <a:latin typeface="+mn-ea"/>
              </a:rPr>
              <a:t>사업장 관리번호 문의 </a:t>
            </a:r>
            <a:r>
              <a:rPr lang="en-US" altLang="ko-KR" sz="700" dirty="0">
                <a:latin typeface="+mn-ea"/>
              </a:rPr>
              <a:t>: </a:t>
            </a:r>
            <a:r>
              <a:rPr lang="ko-KR" altLang="en-US" sz="700" dirty="0">
                <a:latin typeface="+mn-ea"/>
              </a:rPr>
              <a:t>국민연금 콜센터 </a:t>
            </a:r>
            <a:r>
              <a:rPr lang="en-US" altLang="ko-KR" sz="700" dirty="0">
                <a:latin typeface="+mn-ea"/>
              </a:rPr>
              <a:t>1355)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● </a:t>
            </a:r>
            <a:r>
              <a:rPr lang="ko-KR" altLang="en-US" sz="700" dirty="0">
                <a:latin typeface="+mn-ea"/>
              </a:rPr>
              <a:t>국민건강보험법 제</a:t>
            </a:r>
            <a:r>
              <a:rPr lang="en-US" altLang="ko-KR" sz="700" dirty="0">
                <a:latin typeface="+mn-ea"/>
              </a:rPr>
              <a:t>81</a:t>
            </a:r>
            <a:r>
              <a:rPr lang="ko-KR" altLang="en-US" sz="700" dirty="0">
                <a:latin typeface="+mn-ea"/>
              </a:rPr>
              <a:t>조의</a:t>
            </a:r>
            <a:r>
              <a:rPr lang="en-US" altLang="ko-KR" sz="700" dirty="0">
                <a:latin typeface="+mn-ea"/>
              </a:rPr>
              <a:t>3 </a:t>
            </a:r>
            <a:r>
              <a:rPr lang="ko-KR" altLang="en-US" sz="700" dirty="0">
                <a:latin typeface="+mn-ea"/>
              </a:rPr>
              <a:t>및 시행령 제</a:t>
            </a:r>
            <a:r>
              <a:rPr lang="en-US" altLang="ko-KR" sz="700" dirty="0">
                <a:latin typeface="+mn-ea"/>
              </a:rPr>
              <a:t>47</a:t>
            </a:r>
            <a:r>
              <a:rPr lang="ko-KR" altLang="en-US" sz="700" dirty="0">
                <a:latin typeface="+mn-ea"/>
              </a:rPr>
              <a:t>조의</a:t>
            </a:r>
            <a:r>
              <a:rPr lang="en-US" altLang="ko-KR" sz="700" dirty="0">
                <a:latin typeface="+mn-ea"/>
              </a:rPr>
              <a:t>3(</a:t>
            </a:r>
            <a:r>
              <a:rPr lang="ko-KR" altLang="en-US" sz="700" dirty="0">
                <a:latin typeface="+mn-ea"/>
              </a:rPr>
              <a:t>보험료의 </a:t>
            </a:r>
            <a:r>
              <a:rPr lang="ko-KR" altLang="en-US" sz="700" dirty="0" err="1">
                <a:latin typeface="+mn-ea"/>
              </a:rPr>
              <a:t>납부증명</a:t>
            </a:r>
            <a:r>
              <a:rPr lang="ko-KR" altLang="en-US" sz="700" dirty="0">
                <a:latin typeface="+mn-ea"/>
              </a:rPr>
              <a:t> 등</a:t>
            </a:r>
            <a:r>
              <a:rPr lang="en-US" altLang="ko-KR" sz="700" dirty="0">
                <a:latin typeface="+mn-ea"/>
              </a:rPr>
              <a:t>) '16.8.4.</a:t>
            </a:r>
            <a:r>
              <a:rPr lang="ko-KR" altLang="en-US" sz="700" dirty="0">
                <a:latin typeface="+mn-ea"/>
              </a:rPr>
              <a:t>시행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대상 </a:t>
            </a:r>
            <a:r>
              <a:rPr lang="en-US" altLang="ko-KR" sz="700" dirty="0">
                <a:latin typeface="+mn-ea"/>
              </a:rPr>
              <a:t>: '16</a:t>
            </a:r>
            <a:r>
              <a:rPr lang="ko-KR" altLang="en-US" sz="700" dirty="0">
                <a:latin typeface="+mn-ea"/>
              </a:rPr>
              <a:t>년 </a:t>
            </a:r>
            <a:r>
              <a:rPr lang="en-US" altLang="ko-KR" sz="700" dirty="0">
                <a:latin typeface="+mn-ea"/>
              </a:rPr>
              <a:t>8</a:t>
            </a:r>
            <a:r>
              <a:rPr lang="ko-KR" altLang="en-US" sz="700" dirty="0">
                <a:latin typeface="+mn-ea"/>
              </a:rPr>
              <a:t>월 </a:t>
            </a:r>
            <a:r>
              <a:rPr lang="en-US" altLang="ko-KR" sz="700" dirty="0">
                <a:latin typeface="+mn-ea"/>
              </a:rPr>
              <a:t>4</a:t>
            </a:r>
            <a:r>
              <a:rPr lang="ko-KR" altLang="en-US" sz="700" dirty="0">
                <a:latin typeface="+mn-ea"/>
              </a:rPr>
              <a:t>일 이후 최초로 계약의 대가를 지급받는 자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>
                <a:latin typeface="+mn-ea"/>
              </a:rPr>
              <a:t>제출서류 </a:t>
            </a:r>
            <a:r>
              <a:rPr lang="en-US" altLang="ko-KR" sz="700" dirty="0">
                <a:latin typeface="+mn-ea"/>
              </a:rPr>
              <a:t>: </a:t>
            </a:r>
            <a:r>
              <a:rPr lang="ko-KR" altLang="en-US" sz="700" dirty="0">
                <a:latin typeface="+mn-ea"/>
              </a:rPr>
              <a:t>건강</a:t>
            </a:r>
            <a:r>
              <a:rPr lang="en-US" altLang="ko-KR" sz="700" dirty="0">
                <a:latin typeface="+mn-ea"/>
              </a:rPr>
              <a:t>·</a:t>
            </a:r>
            <a:r>
              <a:rPr lang="ko-KR" altLang="en-US" sz="700" dirty="0">
                <a:latin typeface="+mn-ea"/>
              </a:rPr>
              <a:t>장기요양보험료 </a:t>
            </a:r>
            <a:r>
              <a:rPr lang="ko-KR" altLang="en-US" sz="700" dirty="0" err="1">
                <a:latin typeface="+mn-ea"/>
              </a:rPr>
              <a:t>납부증명서</a:t>
            </a:r>
            <a:r>
              <a:rPr lang="ko-KR" altLang="en-US" sz="700" dirty="0">
                <a:latin typeface="+mn-ea"/>
              </a:rPr>
              <a:t> 또는 </a:t>
            </a:r>
            <a:r>
              <a:rPr lang="en-US" altLang="ko-KR" sz="700" dirty="0">
                <a:latin typeface="+mn-ea"/>
              </a:rPr>
              <a:t>4</a:t>
            </a:r>
            <a:r>
              <a:rPr lang="ko-KR" altLang="en-US" sz="700" dirty="0">
                <a:latin typeface="+mn-ea"/>
              </a:rPr>
              <a:t>대 사회보험료 </a:t>
            </a:r>
            <a:r>
              <a:rPr lang="ko-KR" altLang="en-US" sz="700" dirty="0" err="1">
                <a:latin typeface="+mn-ea"/>
              </a:rPr>
              <a:t>완납증명서</a:t>
            </a:r>
            <a:r>
              <a:rPr lang="ko-KR" altLang="en-US" sz="700" dirty="0">
                <a:latin typeface="+mn-ea"/>
              </a:rPr>
              <a:t> 발급 후 스캔하여 </a:t>
            </a: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첨부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란에 첨부하여 </a:t>
            </a:r>
            <a:r>
              <a:rPr lang="ko-KR" altLang="en-US" sz="700" dirty="0" err="1">
                <a:latin typeface="+mn-ea"/>
              </a:rPr>
              <a:t>대금청구</a:t>
            </a:r>
            <a:endParaRPr lang="ko-KR" altLang="en-US" sz="700" dirty="0">
              <a:latin typeface="+mn-ea"/>
            </a:endParaRP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［인터넷 국민건강보험공단 사회보험징수포털</a:t>
            </a:r>
            <a:r>
              <a:rPr lang="en-US" altLang="ko-KR" sz="700" dirty="0">
                <a:latin typeface="+mn-ea"/>
              </a:rPr>
              <a:t>(</a:t>
            </a:r>
            <a:r>
              <a:rPr lang="en-US" altLang="ko-KR" sz="700" dirty="0">
                <a:solidFill>
                  <a:srgbClr val="0070C0"/>
                </a:solidFill>
                <a:latin typeface="+mn-ea"/>
              </a:rPr>
              <a:t>http://si4n.nhis.or.kr</a:t>
            </a:r>
            <a:r>
              <a:rPr lang="en-US" altLang="ko-KR" sz="700" dirty="0">
                <a:latin typeface="+mn-ea"/>
              </a:rPr>
              <a:t>), </a:t>
            </a:r>
            <a:r>
              <a:rPr lang="ko-KR" altLang="en-US" sz="700" dirty="0">
                <a:latin typeface="+mn-ea"/>
              </a:rPr>
              <a:t>지사 방문 등 발급］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en-US" altLang="ko-KR" sz="700" dirty="0">
                <a:latin typeface="+mn-ea"/>
              </a:rPr>
              <a:t>- </a:t>
            </a:r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절차 </a:t>
            </a:r>
            <a:r>
              <a:rPr lang="en-US" altLang="ko-KR" sz="700" dirty="0">
                <a:latin typeface="+mn-ea"/>
              </a:rPr>
              <a:t>:</a:t>
            </a:r>
          </a:p>
          <a:p>
            <a:endParaRPr lang="en-US" altLang="ko-KR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방위사업청</a:t>
            </a:r>
            <a:r>
              <a:rPr lang="ko-KR" altLang="en-US" sz="700" dirty="0">
                <a:latin typeface="+mn-ea"/>
              </a:rPr>
              <a:t> 인터넷 홈페이지 국방전자조달시스템 → 물품</a:t>
            </a:r>
            <a:r>
              <a:rPr lang="en-US" altLang="ko-KR" sz="700" dirty="0">
                <a:latin typeface="+mn-ea"/>
              </a:rPr>
              <a:t>[</a:t>
            </a:r>
            <a:r>
              <a:rPr lang="ko-KR" altLang="en-US" sz="700" dirty="0">
                <a:latin typeface="+mn-ea"/>
              </a:rPr>
              <a:t>용역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공사</a:t>
            </a:r>
            <a:r>
              <a:rPr lang="en-US" altLang="ko-KR" sz="700" dirty="0">
                <a:latin typeface="+mn-ea"/>
              </a:rPr>
              <a:t>] → </a:t>
            </a:r>
            <a:r>
              <a:rPr lang="ko-KR" altLang="en-US" sz="700" dirty="0" err="1">
                <a:latin typeface="+mn-ea"/>
              </a:rPr>
              <a:t>대금청구</a:t>
            </a:r>
            <a:endParaRPr lang="ko-KR" altLang="en-US" sz="700" dirty="0">
              <a:latin typeface="+mn-ea"/>
            </a:endParaRP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→ 대금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>
                <a:latin typeface="+mn-ea"/>
              </a:rPr>
              <a:t>선금</a:t>
            </a:r>
            <a:r>
              <a:rPr lang="en-US" altLang="ko-KR" sz="700" dirty="0">
                <a:latin typeface="+mn-ea"/>
              </a:rPr>
              <a:t>/</a:t>
            </a:r>
            <a:r>
              <a:rPr lang="ko-KR" altLang="en-US" sz="700" dirty="0" err="1">
                <a:latin typeface="+mn-ea"/>
              </a:rPr>
              <a:t>착중도금</a:t>
            </a:r>
            <a:r>
              <a:rPr lang="ko-KR" altLang="en-US" sz="700" dirty="0">
                <a:latin typeface="+mn-ea"/>
              </a:rPr>
              <a:t> 신청 → 우측 </a:t>
            </a:r>
            <a:r>
              <a:rPr lang="en-US" altLang="ko-KR" sz="700" dirty="0">
                <a:latin typeface="+mn-ea"/>
              </a:rPr>
              <a:t>"</a:t>
            </a:r>
            <a:r>
              <a:rPr lang="ko-KR" altLang="en-US" sz="700" dirty="0">
                <a:latin typeface="+mn-ea"/>
              </a:rPr>
              <a:t>첨부</a:t>
            </a:r>
            <a:r>
              <a:rPr lang="en-US" altLang="ko-KR" sz="700" dirty="0">
                <a:latin typeface="+mn-ea"/>
              </a:rPr>
              <a:t>" </a:t>
            </a:r>
            <a:r>
              <a:rPr lang="ko-KR" altLang="en-US" sz="700" dirty="0">
                <a:latin typeface="+mn-ea"/>
              </a:rPr>
              <a:t>란</a:t>
            </a:r>
            <a:r>
              <a:rPr lang="en-US" altLang="ko-KR" sz="700" dirty="0">
                <a:latin typeface="+mn-ea"/>
              </a:rPr>
              <a:t>(</a:t>
            </a:r>
            <a:r>
              <a:rPr lang="ko-KR" altLang="en-US" sz="700" dirty="0" err="1">
                <a:latin typeface="+mn-ea"/>
              </a:rPr>
              <a:t>보험료납부</a:t>
            </a:r>
            <a:r>
              <a:rPr lang="ko-KR" altLang="en-US" sz="700" dirty="0">
                <a:latin typeface="+mn-ea"/>
              </a:rPr>
              <a:t> 증명서</a:t>
            </a:r>
            <a:r>
              <a:rPr lang="en-US" altLang="ko-KR" sz="700" dirty="0">
                <a:latin typeface="+mn-ea"/>
              </a:rPr>
              <a:t>) </a:t>
            </a:r>
            <a:r>
              <a:rPr lang="ko-KR" altLang="en-US" sz="700" dirty="0">
                <a:latin typeface="+mn-ea"/>
              </a:rPr>
              <a:t>첨부 제출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85403" y="2612075"/>
            <a:ext cx="2532688" cy="7540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 전 </a:t>
            </a:r>
            <a:r>
              <a:rPr lang="en-US" altLang="ko-KR" sz="700" dirty="0">
                <a:latin typeface="+mn-ea"/>
              </a:rPr>
              <a:t>: </a:t>
            </a:r>
          </a:p>
          <a:p>
            <a:r>
              <a:rPr lang="ko-KR" altLang="en-US" sz="700" dirty="0">
                <a:latin typeface="+mn-ea"/>
              </a:rPr>
              <a:t>기반</a:t>
            </a:r>
            <a:r>
              <a:rPr lang="en-US" altLang="ko-KR" sz="700" dirty="0">
                <a:latin typeface="+mn-ea"/>
              </a:rPr>
              <a:t>_</a:t>
            </a:r>
            <a:r>
              <a:rPr lang="ko-KR" altLang="en-US" sz="700" dirty="0" err="1">
                <a:latin typeface="+mn-ea"/>
              </a:rPr>
              <a:t>지출심사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02)2079-4791,4793,4794</a:t>
            </a:r>
            <a:r>
              <a:rPr lang="ko-KR" altLang="en-US" sz="700" dirty="0">
                <a:latin typeface="+mn-ea"/>
              </a:rPr>
              <a:t>］</a:t>
            </a:r>
            <a:endParaRPr lang="en-US" altLang="ko-KR" sz="700" dirty="0">
              <a:latin typeface="+mn-ea"/>
            </a:endParaRPr>
          </a:p>
          <a:p>
            <a:r>
              <a:rPr lang="ko-KR" altLang="en-US" sz="700" dirty="0">
                <a:latin typeface="+mn-ea"/>
              </a:rPr>
              <a:t>미래</a:t>
            </a:r>
            <a:r>
              <a:rPr lang="en-US" altLang="ko-KR" sz="700" dirty="0">
                <a:latin typeface="+mn-ea"/>
              </a:rPr>
              <a:t>_</a:t>
            </a:r>
            <a:r>
              <a:rPr lang="ko-KR" altLang="en-US" sz="700" dirty="0" err="1">
                <a:latin typeface="+mn-ea"/>
              </a:rPr>
              <a:t>지출심사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02)2079-4021,4023,4024</a:t>
            </a:r>
            <a:r>
              <a:rPr lang="ko-KR" altLang="en-US" sz="700" dirty="0">
                <a:latin typeface="+mn-ea"/>
              </a:rPr>
              <a:t>］</a:t>
            </a:r>
          </a:p>
          <a:p>
            <a:endParaRPr lang="ko-KR" altLang="en-US" sz="700" dirty="0">
              <a:latin typeface="+mn-ea"/>
            </a:endParaRPr>
          </a:p>
          <a:p>
            <a:r>
              <a:rPr lang="ko-KR" altLang="en-US" sz="700" dirty="0" err="1">
                <a:latin typeface="+mn-ea"/>
              </a:rPr>
              <a:t>대금청구</a:t>
            </a:r>
            <a:r>
              <a:rPr lang="ko-KR" altLang="en-US" sz="700" dirty="0">
                <a:latin typeface="+mn-ea"/>
              </a:rPr>
              <a:t> 신청 후 </a:t>
            </a:r>
            <a:r>
              <a:rPr lang="en-US" altLang="ko-KR" sz="700" dirty="0">
                <a:latin typeface="+mn-ea"/>
              </a:rPr>
              <a:t>: </a:t>
            </a:r>
          </a:p>
          <a:p>
            <a:r>
              <a:rPr lang="ko-KR" altLang="en-US" sz="700" dirty="0">
                <a:latin typeface="+mn-ea"/>
              </a:rPr>
              <a:t>운영지원과 </a:t>
            </a:r>
            <a:r>
              <a:rPr lang="ko-KR" altLang="en-US" sz="700" dirty="0" err="1">
                <a:latin typeface="+mn-ea"/>
              </a:rPr>
              <a:t>재무팀</a:t>
            </a:r>
            <a:r>
              <a:rPr lang="ko-KR" altLang="en-US" sz="700" dirty="0">
                <a:latin typeface="+mn-ea"/>
              </a:rPr>
              <a:t>［</a:t>
            </a:r>
            <a:r>
              <a:rPr lang="en-US" altLang="ko-KR" sz="700" dirty="0">
                <a:latin typeface="+mn-ea"/>
              </a:rPr>
              <a:t>Tel : 02)2079-6680,6681(</a:t>
            </a:r>
            <a:r>
              <a:rPr lang="ko-KR" altLang="en-US" sz="700" dirty="0">
                <a:latin typeface="+mn-ea"/>
              </a:rPr>
              <a:t>내자</a:t>
            </a:r>
            <a:r>
              <a:rPr lang="en-US" altLang="ko-KR" sz="700" dirty="0">
                <a:latin typeface="+mn-ea"/>
              </a:rPr>
              <a:t>), 02)2079-6670(</a:t>
            </a:r>
            <a:r>
              <a:rPr lang="ko-KR" altLang="en-US" sz="700" dirty="0">
                <a:latin typeface="+mn-ea"/>
              </a:rPr>
              <a:t>외자</a:t>
            </a:r>
            <a:r>
              <a:rPr lang="en-US" altLang="ko-KR" sz="700" dirty="0">
                <a:latin typeface="+mn-ea"/>
              </a:rPr>
              <a:t>)</a:t>
            </a:r>
            <a:r>
              <a:rPr lang="ko-KR" altLang="en-US" sz="700" dirty="0">
                <a:latin typeface="+mn-ea"/>
              </a:rPr>
              <a:t>］</a:t>
            </a:r>
          </a:p>
        </p:txBody>
      </p:sp>
      <p:grpSp>
        <p:nvGrpSpPr>
          <p:cNvPr id="93" name="그룹 92"/>
          <p:cNvGrpSpPr/>
          <p:nvPr/>
        </p:nvGrpSpPr>
        <p:grpSpPr>
          <a:xfrm>
            <a:off x="3795734" y="5614711"/>
            <a:ext cx="2712027" cy="617588"/>
            <a:chOff x="675399" y="5614711"/>
            <a:chExt cx="2712027" cy="617588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56F1743-11A0-EA94-9184-4E42C0A37F9C}"/>
                </a:ext>
              </a:extLst>
            </p:cNvPr>
            <p:cNvSpPr/>
            <p:nvPr/>
          </p:nvSpPr>
          <p:spPr>
            <a:xfrm>
              <a:off x="675399" y="5614711"/>
              <a:ext cx="2712027" cy="6175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사각형: 둥근 모서리 15">
              <a:extLst>
                <a:ext uri="{FF2B5EF4-FFF2-40B4-BE49-F238E27FC236}">
                  <a16:creationId xmlns:a16="http://schemas.microsoft.com/office/drawing/2014/main" id="{E2B61CFB-AD16-68D0-8752-50D9C5E01971}"/>
                </a:ext>
              </a:extLst>
            </p:cNvPr>
            <p:cNvSpPr/>
            <p:nvPr/>
          </p:nvSpPr>
          <p:spPr>
            <a:xfrm>
              <a:off x="767701" y="5745391"/>
              <a:ext cx="2527419" cy="317083"/>
            </a:xfrm>
            <a:prstGeom prst="round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dirty="0">
                  <a:latin typeface="맑은 고딕"/>
                  <a:ea typeface="맑은 고딕" panose="020B0503020000020004" pitchFamily="50" charset="-127"/>
                </a:rPr>
                <a:t>닫기</a:t>
              </a:r>
              <a:endParaRPr kumimoji="1" 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10712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47F42-24A6-AC12-410B-185FD576E1C3}"/>
              </a:ext>
            </a:extLst>
          </p:cNvPr>
          <p:cNvSpPr txBox="1"/>
          <p:nvPr/>
        </p:nvSpPr>
        <p:spPr>
          <a:xfrm>
            <a:off x="458117" y="803113"/>
            <a:ext cx="2406675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입찰</a:t>
            </a:r>
            <a:r>
              <a:rPr lang="en-US" altLang="ko-KR" sz="900" b="1" dirty="0">
                <a:solidFill>
                  <a:prstClr val="black"/>
                </a:solidFill>
              </a:rPr>
              <a:t>-</a:t>
            </a:r>
            <a:r>
              <a:rPr lang="ko-KR" altLang="en-US" sz="900" b="1" dirty="0">
                <a:solidFill>
                  <a:prstClr val="black"/>
                </a:solidFill>
              </a:rPr>
              <a:t>계약체결단계 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영문명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0D7D7297-5C46-7078-D2CB-A9F2A55503A6}"/>
              </a:ext>
            </a:extLst>
          </p:cNvPr>
          <p:cNvGraphicFramePr>
            <a:graphicFrameLocks noGrp="1"/>
          </p:cNvGraphicFramePr>
          <p:nvPr/>
        </p:nvGraphicFramePr>
        <p:xfrm>
          <a:off x="452999" y="1014316"/>
          <a:ext cx="8994883" cy="3878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59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3009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안내문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gdntc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안내문 내용 출력 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화면에 텍스트로 입력되어 있는 내용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AEF4FEA-15CD-69A2-4C8C-8BABCE3423EC}"/>
              </a:ext>
            </a:extLst>
          </p:cNvPr>
          <p:cNvSpPr txBox="1"/>
          <p:nvPr/>
        </p:nvSpPr>
        <p:spPr>
          <a:xfrm>
            <a:off x="458117" y="1504773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23D2C0FD-B7E6-BFF5-E0B8-21BA70A73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817151"/>
              </p:ext>
            </p:extLst>
          </p:nvPr>
        </p:nvGraphicFramePr>
        <p:xfrm>
          <a:off x="453000" y="1808593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 안내문 내용이 출력된다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닫기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scwin.btn_Idnty_onclick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안내문 팝업이 닫힌다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46D6EB85-208E-BA56-0A60-736C4614C7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601178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59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대금지불정보</a:t>
            </a:r>
            <a:r>
              <a:rPr lang="en-US" altLang="ko-KR" dirty="0"/>
              <a:t>(</a:t>
            </a:r>
            <a:r>
              <a:rPr lang="ko-KR" altLang="en-US" dirty="0"/>
              <a:t>반납</a:t>
            </a:r>
            <a:r>
              <a:rPr lang="en-US" altLang="ko-KR" dirty="0"/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대금지불정보</a:t>
            </a:r>
            <a:r>
              <a:rPr lang="en-US" altLang="ko-KR" dirty="0"/>
              <a:t>(</a:t>
            </a:r>
            <a:r>
              <a:rPr lang="ko-KR" altLang="en-US" dirty="0"/>
              <a:t>반납</a:t>
            </a:r>
            <a:r>
              <a:rPr lang="en-US" altLang="ko-KR" dirty="0"/>
              <a:t>)</a:t>
            </a:r>
            <a:r>
              <a:rPr lang="ko-KR" altLang="en-US" dirty="0"/>
              <a:t>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>
                <a:latin typeface="+mn-ea"/>
              </a:rPr>
              <a:t>대금지불정보</a:t>
            </a:r>
            <a:r>
              <a:rPr lang="en-US" altLang="ko-KR" dirty="0">
                <a:latin typeface="+mn-ea"/>
              </a:rPr>
              <a:t>(</a:t>
            </a:r>
            <a:r>
              <a:rPr lang="ko-KR" altLang="en-US" dirty="0">
                <a:latin typeface="+mn-ea"/>
              </a:rPr>
              <a:t>반납</a:t>
            </a:r>
            <a:r>
              <a:rPr lang="en-US" altLang="ko-KR" dirty="0">
                <a:latin typeface="+mn-ea"/>
              </a:rPr>
              <a:t>)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MUI-WM-01-M10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대금지불정보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>
                <a:latin typeface="+mn-ea"/>
              </a:rPr>
              <a:t>반납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43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3143548" y="300864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699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89662"/>
            <a:ext cx="2473257" cy="942236"/>
            <a:chOff x="781461" y="3087955"/>
            <a:chExt cx="2473257" cy="942236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신청번호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1234-5678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/ </a:t>
              </a:r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수령금액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 err="1">
                  <a:latin typeface="+mn-ea"/>
                </a:rPr>
                <a:t>반납금액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5426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278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418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555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2323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21930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762118" y="3220756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833259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대금수정</a:t>
            </a:r>
            <a:endParaRPr lang="ko-KR" altLang="en-US" sz="600" dirty="0"/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364593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r>
              <a:rPr lang="ko-KR" altLang="en-US" sz="600" dirty="0"/>
              <a:t>                          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84523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910872"/>
            <a:ext cx="127319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6286574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대금확정</a:t>
            </a:r>
            <a:endParaRPr lang="ko-KR" altLang="en-US" sz="600" dirty="0"/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4318634" y="341197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사후정산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1978768" y="3384523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대금반납</a:t>
            </a:r>
            <a:endParaRPr lang="ko-KR" altLang="en-US" sz="600" dirty="0"/>
          </a:p>
        </p:txBody>
      </p:sp>
      <p:grpSp>
        <p:nvGrpSpPr>
          <p:cNvPr id="126" name="그룹 12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44" name="그룹 14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9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91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48" name="타원 14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8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86" name="타원 185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7" name="그룹 186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88" name="직선 연결선 18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4" name="그룹 193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195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6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7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98" name="그룹 19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99" name="직선 연결선 19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86743494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60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3192147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반납</a:t>
            </a:r>
            <a:r>
              <a:rPr lang="en-US" altLang="ko-KR" sz="900" b="1" dirty="0">
                <a:solidFill>
                  <a:prstClr val="black"/>
                </a:solidFill>
              </a:rPr>
              <a:t>)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dmt_pymtDfryInfoSrch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C383C-55E0-D07A-4E04-846216D6522D}"/>
              </a:ext>
            </a:extLst>
          </p:cNvPr>
          <p:cNvSpPr txBox="1"/>
          <p:nvPr/>
        </p:nvSpPr>
        <p:spPr>
          <a:xfrm>
            <a:off x="458117" y="2157281"/>
            <a:ext cx="345664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대금지불정보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ko-KR" altLang="en-US" sz="900" b="1" dirty="0">
                <a:solidFill>
                  <a:prstClr val="black"/>
                </a:solidFill>
              </a:rPr>
              <a:t>반납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r>
              <a:rPr lang="ko-KR" altLang="en-US" sz="900" b="1" dirty="0">
                <a:solidFill>
                  <a:prstClr val="black"/>
                </a:solidFill>
              </a:rPr>
              <a:t>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dlt_pymtDfryInfoList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0915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ctrtBgngYmd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E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D46A5E-37F4-8517-D03E-37CE77A215D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441035"/>
          <a:ext cx="8994883" cy="19392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반납금액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rtnAmt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반납금액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 Box 73">
            <a:extLst>
              <a:ext uri="{FF2B5EF4-FFF2-40B4-BE49-F238E27FC236}">
                <a16:creationId xmlns:a16="http://schemas.microsoft.com/office/drawing/2014/main" id="{8E50FD7A-00F1-4BD9-507D-2C54F12D0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82DD0-1779-5E39-E529-9DDFC164E65F}"/>
              </a:ext>
            </a:extLst>
          </p:cNvPr>
          <p:cNvSpPr txBox="1"/>
          <p:nvPr/>
        </p:nvSpPr>
        <p:spPr>
          <a:xfrm>
            <a:off x="458117" y="446569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C11CE2-7F70-9E45-8C39-23589E2A992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3000" y="4769516"/>
          <a:ext cx="8995591" cy="7036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대금지불정보</a:t>
                      </a:r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반납</a:t>
                      </a:r>
                      <a:r>
                        <a:rPr lang="en-US" altLang="ko-KR" sz="800" dirty="0"/>
                        <a:t>) </a:t>
                      </a:r>
                      <a:r>
                        <a:rPr lang="ko-KR" altLang="en-US" sz="800" dirty="0"/>
                        <a:t>목록을 조회한다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154247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4F4725-C9F0-CBDB-8A92-4A6CEC4586D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103286" y="1493927"/>
            <a:ext cx="2300284" cy="4981517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상단 공지사항</a:t>
            </a:r>
            <a:r>
              <a:rPr lang="en-US" altLang="ko-KR" dirty="0"/>
              <a:t>(</a:t>
            </a:r>
            <a:r>
              <a:rPr lang="ko-KR" altLang="en-US" dirty="0" err="1"/>
              <a:t>업무도움</a:t>
            </a:r>
            <a:r>
              <a:rPr lang="en-US" altLang="ko-KR" dirty="0"/>
              <a:t>)</a:t>
            </a:r>
            <a:r>
              <a:rPr lang="ko-KR" altLang="en-US" dirty="0"/>
              <a:t>은 기본 값으로 접힘 상태로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기본값 </a:t>
            </a:r>
            <a:r>
              <a:rPr lang="en-US" altLang="ko-KR" dirty="0"/>
              <a:t>: </a:t>
            </a:r>
            <a:r>
              <a:rPr lang="ko-KR" altLang="en-US" dirty="0"/>
              <a:t>접힘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사용자 </a:t>
            </a:r>
            <a:r>
              <a:rPr lang="ko-KR" altLang="en-US" dirty="0" err="1"/>
              <a:t>클릭시</a:t>
            </a:r>
            <a:r>
              <a:rPr lang="ko-KR" altLang="en-US" dirty="0"/>
              <a:t> 확장하여 정보 표시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필터</a:t>
            </a:r>
            <a:r>
              <a:rPr lang="en-US" altLang="ko-KR" dirty="0"/>
              <a:t>, </a:t>
            </a:r>
            <a:r>
              <a:rPr lang="ko-KR" altLang="en-US" dirty="0"/>
              <a:t>표시 개수 영역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총 개수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표시 개수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목록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상단 레이블을 통한 정보 제공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제목 </a:t>
            </a:r>
            <a:r>
              <a:rPr lang="en-US" altLang="ko-KR" dirty="0"/>
              <a:t>2</a:t>
            </a:r>
            <a:r>
              <a:rPr lang="ko-KR" altLang="en-US" dirty="0"/>
              <a:t>줄 표시 이후 </a:t>
            </a:r>
            <a:r>
              <a:rPr lang="ko-KR" altLang="en-US" dirty="0" err="1"/>
              <a:t>말줄임표</a:t>
            </a:r>
            <a:r>
              <a:rPr lang="en-US" altLang="ko-KR" dirty="0"/>
              <a:t>(…)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클릭으로 상세 이동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en-US" altLang="ko-KR" dirty="0"/>
              <a:t>10</a:t>
            </a:r>
            <a:r>
              <a:rPr lang="ko-KR" altLang="en-US" dirty="0"/>
              <a:t>개 노출 이후 </a:t>
            </a:r>
            <a:r>
              <a:rPr lang="ko-KR" altLang="en-US" dirty="0" err="1"/>
              <a:t>더보기</a:t>
            </a:r>
            <a:r>
              <a:rPr lang="ko-KR" altLang="en-US" dirty="0"/>
              <a:t> 버튼 클릭으로 </a:t>
            </a:r>
            <a:r>
              <a:rPr lang="en-US" altLang="ko-KR" dirty="0"/>
              <a:t>10</a:t>
            </a:r>
            <a:r>
              <a:rPr lang="ko-KR" altLang="en-US" dirty="0"/>
              <a:t>개씩 추가 로드</a:t>
            </a:r>
            <a:endParaRPr lang="en-US" altLang="ko-KR" dirty="0"/>
          </a:p>
          <a:p>
            <a:pPr marL="228600" indent="-228600">
              <a:buFont typeface="+mj-lt"/>
              <a:buAutoNum type="arabicPeriod"/>
            </a:pPr>
            <a:r>
              <a:rPr lang="ko-KR" altLang="en-US" dirty="0"/>
              <a:t>표시 레이블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- 3</a:t>
            </a:r>
            <a:r>
              <a:rPr lang="ko-KR" altLang="en-US" dirty="0" err="1"/>
              <a:t>번항</a:t>
            </a:r>
            <a:r>
              <a:rPr lang="ko-KR" altLang="en-US" dirty="0"/>
              <a:t> </a:t>
            </a:r>
            <a:r>
              <a:rPr lang="ko-KR" altLang="en-US" dirty="0" err="1"/>
              <a:t>검색필터</a:t>
            </a:r>
            <a:r>
              <a:rPr lang="ko-KR" altLang="en-US" dirty="0"/>
              <a:t> 적용 시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좌우 </a:t>
            </a:r>
            <a:r>
              <a:rPr lang="ko-KR" altLang="en-US" dirty="0" err="1"/>
              <a:t>스와이프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- 4</a:t>
            </a:r>
            <a:r>
              <a:rPr lang="ko-KR" altLang="en-US" dirty="0" err="1"/>
              <a:t>번항</a:t>
            </a:r>
            <a:r>
              <a:rPr lang="ko-KR" altLang="en-US" dirty="0"/>
              <a:t> 목록 상단 표시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  &gt; </a:t>
            </a:r>
            <a:r>
              <a:rPr lang="ko-KR" altLang="en-US" dirty="0"/>
              <a:t>레이블이 화면을 넘치는 경우 드래그</a:t>
            </a:r>
            <a:r>
              <a:rPr lang="en-US" altLang="ko-KR" dirty="0"/>
              <a:t>(</a:t>
            </a:r>
            <a:r>
              <a:rPr lang="ko-KR" altLang="en-US" dirty="0"/>
              <a:t>스크롤</a:t>
            </a:r>
            <a:r>
              <a:rPr lang="en-US" altLang="ko-KR" dirty="0"/>
              <a:t>)</a:t>
            </a:r>
            <a:r>
              <a:rPr lang="ko-KR" altLang="en-US" dirty="0"/>
              <a:t>하여 확인 가능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CF34168-C6CD-46A8-A3C6-1A0350C93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336153" y="6596721"/>
            <a:ext cx="1258128" cy="216000"/>
          </a:xfrm>
        </p:spPr>
        <p:txBody>
          <a:bodyPr/>
          <a:lstStyle/>
          <a:p>
            <a:fld id="{34C8E023-7346-48FC-AB24-9A3388C53208}" type="slidenum">
              <a:rPr lang="ko-KR" altLang="en-US" smtClean="0"/>
              <a:pPr/>
              <a:t>61</a:t>
            </a:fld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72B1D79-CE3C-9F24-3515-FEB8E153DB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대금청구진행현황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1A39A19D-48F8-C100-E4B0-B66C476312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대금청구진행현황 화면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12A7EEAD-A494-801C-77B8-2B1A8A6F95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홈 </a:t>
            </a:r>
            <a:r>
              <a:rPr lang="en-US" altLang="ko-KR" dirty="0"/>
              <a:t>&gt; </a:t>
            </a:r>
            <a:r>
              <a:rPr lang="ko-KR" altLang="en-US" dirty="0">
                <a:latin typeface="+mn-ea"/>
              </a:rPr>
              <a:t>대금</a:t>
            </a:r>
            <a:r>
              <a:rPr lang="en-US" altLang="ko-KR" dirty="0">
                <a:latin typeface="+mn-ea"/>
              </a:rPr>
              <a:t>/</a:t>
            </a:r>
            <a:r>
              <a:rPr lang="ko-KR" altLang="en-US" dirty="0">
                <a:latin typeface="+mn-ea"/>
              </a:rPr>
              <a:t>사후 </a:t>
            </a:r>
            <a:r>
              <a:rPr lang="en-US" altLang="ko-KR" dirty="0">
                <a:latin typeface="+mn-ea"/>
              </a:rPr>
              <a:t>&gt; </a:t>
            </a:r>
            <a:r>
              <a:rPr lang="ko-KR" altLang="en-US" dirty="0"/>
              <a:t>대금청구진행현황</a:t>
            </a:r>
            <a:endParaRPr lang="ko-KR" altLang="en-US" dirty="0">
              <a:latin typeface="+mn-ea"/>
            </a:endParaRP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0643EE08-B324-56D6-CB41-C4D8C5E383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MUI-WM-01-M11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56F1743-11A0-EA94-9184-4E42C0A37F9C}"/>
              </a:ext>
            </a:extLst>
          </p:cNvPr>
          <p:cNvSpPr/>
          <p:nvPr/>
        </p:nvSpPr>
        <p:spPr>
          <a:xfrm>
            <a:off x="675399" y="1493927"/>
            <a:ext cx="2712027" cy="4738372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936072" y="1608356"/>
            <a:ext cx="2305144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800" dirty="0">
                <a:latin typeface="+mn-ea"/>
              </a:rPr>
              <a:t>대금지불정보</a:t>
            </a:r>
            <a:r>
              <a:rPr lang="en-US" altLang="ko-KR" sz="800" dirty="0">
                <a:latin typeface="+mn-ea"/>
              </a:rPr>
              <a:t>(</a:t>
            </a:r>
            <a:r>
              <a:rPr lang="ko-KR" altLang="en-US" sz="800" dirty="0">
                <a:latin typeface="+mn-ea"/>
              </a:rPr>
              <a:t>반납</a:t>
            </a:r>
            <a:r>
              <a:rPr lang="en-US" altLang="ko-KR" sz="800" dirty="0">
                <a:latin typeface="+mn-ea"/>
              </a:rPr>
              <a:t>)</a:t>
            </a:r>
            <a:endParaRPr lang="ko-KR" altLang="en-US" sz="800" dirty="0"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3214303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37" name="그룹 36"/>
          <p:cNvGrpSpPr/>
          <p:nvPr/>
        </p:nvGrpSpPr>
        <p:grpSpPr>
          <a:xfrm>
            <a:off x="3143548" y="3008641"/>
            <a:ext cx="94010" cy="47005"/>
            <a:chOff x="6812560" y="3297172"/>
            <a:chExt cx="94010" cy="47005"/>
          </a:xfrm>
        </p:grpSpPr>
        <p:cxnSp>
          <p:nvCxnSpPr>
            <p:cNvPr id="42" name="직선 연결선 41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직선 연결선 42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80570" y="184693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45" name="그룹 44"/>
          <p:cNvGrpSpPr/>
          <p:nvPr/>
        </p:nvGrpSpPr>
        <p:grpSpPr>
          <a:xfrm rot="5400000">
            <a:off x="755013" y="1640499"/>
            <a:ext cx="94010" cy="47005"/>
            <a:chOff x="6812560" y="3297172"/>
            <a:chExt cx="94010" cy="47005"/>
          </a:xfrm>
        </p:grpSpPr>
        <p:cxnSp>
          <p:nvCxnSpPr>
            <p:cNvPr id="46" name="직선 연결선 45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8" name="타원 47"/>
          <p:cNvSpPr/>
          <p:nvPr/>
        </p:nvSpPr>
        <p:spPr>
          <a:xfrm>
            <a:off x="3044537" y="1580377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1958844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1</a:t>
            </a:r>
            <a:endParaRPr lang="ko-KR" altLang="en-US" sz="900" b="1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296998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2</a:t>
            </a:r>
            <a:endParaRPr lang="ko-KR" altLang="en-US" sz="900" b="1" dirty="0"/>
          </a:p>
        </p:txBody>
      </p:sp>
      <p:sp>
        <p:nvSpPr>
          <p:cNvPr id="54" name="사각형: 둥근 모서리 31">
            <a:extLst>
              <a:ext uri="{FF2B5EF4-FFF2-40B4-BE49-F238E27FC236}">
                <a16:creationId xmlns:a16="http://schemas.microsoft.com/office/drawing/2014/main" id="{2AC143EE-93CF-3518-F0CB-8469E98507E0}"/>
              </a:ext>
            </a:extLst>
          </p:cNvPr>
          <p:cNvSpPr/>
          <p:nvPr/>
        </p:nvSpPr>
        <p:spPr>
          <a:xfrm>
            <a:off x="808106" y="5841494"/>
            <a:ext cx="2446613" cy="279492"/>
          </a:xfrm>
          <a:prstGeom prst="roundRect">
            <a:avLst/>
          </a:prstGeom>
          <a:solidFill>
            <a:schemeClr val="bg1"/>
          </a:solidFill>
          <a:ln w="12700" cap="flat" cmpd="sng" algn="ctr">
            <a:solidFill>
              <a:srgbClr val="0070C0"/>
            </a:solidFill>
            <a:prstDash val="solid"/>
          </a:ln>
          <a:effectLst/>
        </p:spPr>
        <p:txBody>
          <a:bodyPr lIns="0" tIns="0" rIns="0" bIns="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kern="0" dirty="0" err="1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더보기</a:t>
            </a:r>
            <a:r>
              <a:rPr kumimoji="1" lang="ko-KR" altLang="en-US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kumimoji="1" lang="en-US" altLang="ko-KR" sz="1000" kern="0" dirty="0">
                <a:solidFill>
                  <a:srgbClr val="0070C0"/>
                </a:solidFill>
                <a:latin typeface="맑은 고딕"/>
                <a:ea typeface="맑은 고딕" panose="020B0503020000020004" pitchFamily="50" charset="-127"/>
              </a:rPr>
              <a:t>(10/258)</a:t>
            </a:r>
            <a:endParaRPr kumimoji="1" lang="en-US" sz="1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/>
              <a:ea typeface="+mn-ea"/>
              <a:cs typeface="+mn-cs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81461" y="3389315"/>
            <a:ext cx="2473257" cy="960061"/>
            <a:chOff x="781461" y="3087955"/>
            <a:chExt cx="2473257" cy="960061"/>
          </a:xfrm>
        </p:grpSpPr>
        <p:sp>
          <p:nvSpPr>
            <p:cNvPr id="55" name="TextBox 58">
              <a:extLst>
                <a:ext uri="{FF2B5EF4-FFF2-40B4-BE49-F238E27FC236}">
                  <a16:creationId xmlns:a16="http://schemas.microsoft.com/office/drawing/2014/main" id="{02FC114B-B48B-345F-BD70-2B5A196F5B3E}"/>
                </a:ext>
              </a:extLst>
            </p:cNvPr>
            <p:cNvSpPr txBox="1"/>
            <p:nvPr/>
          </p:nvSpPr>
          <p:spPr>
            <a:xfrm>
              <a:off x="781461" y="3272286"/>
              <a:ext cx="247325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 err="1"/>
                <a:t>신청번호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1234-5678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/ </a:t>
              </a:r>
              <a:r>
                <a:rPr lang="ko-KR" altLang="en-US" sz="700" dirty="0" err="1"/>
                <a:t>계약번호</a:t>
              </a:r>
              <a:r>
                <a:rPr lang="ko-KR" altLang="en-US" sz="700" dirty="0"/>
                <a:t> </a:t>
              </a:r>
              <a:r>
                <a:rPr lang="en-US" altLang="ko-KR" sz="700" dirty="0"/>
                <a:t>2025000000 - 01</a:t>
              </a:r>
            </a:p>
            <a:p>
              <a:r>
                <a:rPr lang="ko-KR" altLang="en-US" sz="900" b="1" dirty="0">
                  <a:solidFill>
                    <a:srgbClr val="0070C0"/>
                  </a:solidFill>
                </a:rPr>
                <a:t>물품</a:t>
              </a:r>
              <a:r>
                <a:rPr lang="ko-KR" altLang="en-US" sz="900" b="1" dirty="0"/>
                <a:t>구매</a:t>
              </a:r>
            </a:p>
          </p:txBody>
        </p:sp>
        <p:sp>
          <p:nvSpPr>
            <p:cNvPr id="56" name="TextBox 59">
              <a:extLst>
                <a:ext uri="{FF2B5EF4-FFF2-40B4-BE49-F238E27FC236}">
                  <a16:creationId xmlns:a16="http://schemas.microsoft.com/office/drawing/2014/main" id="{F77C802D-3BC8-270F-87FC-5F442BD8054D}"/>
                </a:ext>
              </a:extLst>
            </p:cNvPr>
            <p:cNvSpPr txBox="1"/>
            <p:nvPr/>
          </p:nvSpPr>
          <p:spPr>
            <a:xfrm>
              <a:off x="781461" y="3632518"/>
              <a:ext cx="307777" cy="41549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계약금액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수령액</a:t>
              </a:r>
              <a:endParaRPr lang="en-US" altLang="ko-KR" sz="600" dirty="0">
                <a:latin typeface="+mn-ea"/>
              </a:endParaRPr>
            </a:p>
            <a:p>
              <a:pPr>
                <a:lnSpc>
                  <a:spcPct val="150000"/>
                </a:lnSpc>
              </a:pPr>
              <a:r>
                <a:rPr lang="ko-KR" altLang="en-US" sz="600" dirty="0">
                  <a:latin typeface="+mn-ea"/>
                </a:rPr>
                <a:t>청구금액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57" name="TextBox 60">
              <a:extLst>
                <a:ext uri="{FF2B5EF4-FFF2-40B4-BE49-F238E27FC236}">
                  <a16:creationId xmlns:a16="http://schemas.microsoft.com/office/drawing/2014/main" id="{8F5E3227-69E6-C89F-B8C5-534226E95EA8}"/>
                </a:ext>
              </a:extLst>
            </p:cNvPr>
            <p:cNvSpPr txBox="1"/>
            <p:nvPr/>
          </p:nvSpPr>
          <p:spPr>
            <a:xfrm>
              <a:off x="2596303" y="3617129"/>
              <a:ext cx="472886" cy="397673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ko-KR" sz="600" dirty="0">
                  <a:latin typeface="+mn-ea"/>
                </a:rPr>
                <a:t>11,616,000 </a:t>
              </a:r>
              <a:r>
                <a:rPr lang="ko-KR" altLang="en-US" sz="600" dirty="0">
                  <a:latin typeface="+mn-ea"/>
                </a:rPr>
                <a:t>원</a:t>
              </a:r>
              <a:endParaRPr lang="en-US" altLang="ko-KR" sz="600" dirty="0">
                <a:latin typeface="+mn-ea"/>
              </a:endParaRPr>
            </a:p>
          </p:txBody>
        </p:sp>
        <p:sp>
          <p:nvSpPr>
            <p:cNvPr id="67" name="모서리가 둥근 직사각형 66"/>
            <p:cNvSpPr/>
            <p:nvPr/>
          </p:nvSpPr>
          <p:spPr>
            <a:xfrm>
              <a:off x="781461" y="3087955"/>
              <a:ext cx="243478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>
                  <a:solidFill>
                    <a:schemeClr val="dk1"/>
                  </a:solidFill>
                </a:rPr>
                <a:t>물품</a:t>
              </a:r>
            </a:p>
          </p:txBody>
        </p:sp>
        <p:sp>
          <p:nvSpPr>
            <p:cNvPr id="68" name="모서리가 둥근 직사각형 67"/>
            <p:cNvSpPr/>
            <p:nvPr/>
          </p:nvSpPr>
          <p:spPr>
            <a:xfrm>
              <a:off x="1075655" y="3087955"/>
              <a:ext cx="396419" cy="119400"/>
            </a:xfrm>
            <a:prstGeom prst="roundRect">
              <a:avLst>
                <a:gd name="adj" fmla="val 23409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600" dirty="0"/>
                <a:t>수의계약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2BC05EE-C648-7CA2-4CCC-6E1C1A7E9BDA}"/>
              </a:ext>
            </a:extLst>
          </p:cNvPr>
          <p:cNvGrpSpPr/>
          <p:nvPr/>
        </p:nvGrpSpPr>
        <p:grpSpPr>
          <a:xfrm>
            <a:off x="1992981" y="5015426"/>
            <a:ext cx="76863" cy="292489"/>
            <a:chOff x="3750067" y="4683795"/>
            <a:chExt cx="76863" cy="292489"/>
          </a:xfrm>
        </p:grpSpPr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B62EC5A9-8616-6B01-4FB1-D38CF6C29F0E}"/>
                </a:ext>
              </a:extLst>
            </p:cNvPr>
            <p:cNvSpPr/>
            <p:nvPr/>
          </p:nvSpPr>
          <p:spPr>
            <a:xfrm>
              <a:off x="3750067" y="4683795"/>
              <a:ext cx="76863" cy="76863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0D32B1A6-219D-1D15-5FDD-889D3F5740C1}"/>
                </a:ext>
              </a:extLst>
            </p:cNvPr>
            <p:cNvSpPr/>
            <p:nvPr/>
          </p:nvSpPr>
          <p:spPr>
            <a:xfrm>
              <a:off x="3750067" y="4791517"/>
              <a:ext cx="76863" cy="7686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F347D62C-1828-433E-F5ED-51C6591859DD}"/>
                </a:ext>
              </a:extLst>
            </p:cNvPr>
            <p:cNvSpPr/>
            <p:nvPr/>
          </p:nvSpPr>
          <p:spPr>
            <a:xfrm>
              <a:off x="3750067" y="4899421"/>
              <a:ext cx="76863" cy="76863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720490" y="4452436"/>
            <a:ext cx="2621844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27" name="직선 연결선 126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841887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1019814" y="1902673"/>
            <a:ext cx="45225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공지사항</a:t>
            </a:r>
          </a:p>
        </p:txBody>
      </p:sp>
      <p:sp>
        <p:nvSpPr>
          <p:cNvPr id="129" name="타원 128"/>
          <p:cNvSpPr/>
          <p:nvPr/>
        </p:nvSpPr>
        <p:spPr>
          <a:xfrm>
            <a:off x="783686" y="1934018"/>
            <a:ext cx="187961" cy="187961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/>
          <p:cNvGrpSpPr/>
          <p:nvPr/>
        </p:nvGrpSpPr>
        <p:grpSpPr>
          <a:xfrm>
            <a:off x="3143548" y="2016004"/>
            <a:ext cx="94010" cy="47005"/>
            <a:chOff x="6812560" y="3297172"/>
            <a:chExt cx="94010" cy="47005"/>
          </a:xfrm>
        </p:grpSpPr>
        <p:cxnSp>
          <p:nvCxnSpPr>
            <p:cNvPr id="131" name="직선 연결선 130"/>
            <p:cNvCxnSpPr/>
            <p:nvPr/>
          </p:nvCxnSpPr>
          <p:spPr>
            <a:xfrm>
              <a:off x="6812560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직선 연결선 131"/>
            <p:cNvCxnSpPr/>
            <p:nvPr/>
          </p:nvCxnSpPr>
          <p:spPr>
            <a:xfrm flipH="1">
              <a:off x="6859565" y="3297172"/>
              <a:ext cx="47005" cy="4700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4" name="타원 133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3755197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3</a:t>
            </a:r>
            <a:endParaRPr lang="ko-KR" altLang="en-US" sz="900" b="1" dirty="0"/>
          </a:p>
        </p:txBody>
      </p:sp>
      <p:sp>
        <p:nvSpPr>
          <p:cNvPr id="135" name="타원 134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571127" y="5881943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4</a:t>
            </a:r>
            <a:endParaRPr lang="ko-KR" altLang="en-US" sz="900" b="1" dirty="0"/>
          </a:p>
        </p:txBody>
      </p:sp>
      <p:sp>
        <p:nvSpPr>
          <p:cNvPr id="80" name="모서리가 둥근 직사각형 79"/>
          <p:cNvSpPr/>
          <p:nvPr/>
        </p:nvSpPr>
        <p:spPr>
          <a:xfrm>
            <a:off x="4614060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물품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4318635" y="2025433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표시 레이블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4914986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용역</a:t>
            </a:r>
          </a:p>
        </p:txBody>
      </p:sp>
      <p:sp>
        <p:nvSpPr>
          <p:cNvPr id="85" name="모서리가 둥근 직사각형 84"/>
          <p:cNvSpPr/>
          <p:nvPr/>
        </p:nvSpPr>
        <p:spPr>
          <a:xfrm>
            <a:off x="521597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공사</a:t>
            </a:r>
          </a:p>
        </p:txBody>
      </p:sp>
      <p:sp>
        <p:nvSpPr>
          <p:cNvPr id="86" name="모서리가 둥근 직사각형 85"/>
          <p:cNvSpPr/>
          <p:nvPr/>
        </p:nvSpPr>
        <p:spPr>
          <a:xfrm>
            <a:off x="5519047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국외</a:t>
            </a:r>
          </a:p>
        </p:txBody>
      </p:sp>
      <p:sp>
        <p:nvSpPr>
          <p:cNvPr id="87" name="모서리가 둥근 직사각형 86"/>
          <p:cNvSpPr/>
          <p:nvPr/>
        </p:nvSpPr>
        <p:spPr>
          <a:xfrm>
            <a:off x="4318635" y="2544628"/>
            <a:ext cx="24347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>
                <a:solidFill>
                  <a:schemeClr val="dk1"/>
                </a:solidFill>
              </a:rPr>
              <a:t>전체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550467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업무구분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431863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일반경쟁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141375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계약방법</a:t>
            </a:r>
          </a:p>
        </p:txBody>
      </p:sp>
      <p:sp>
        <p:nvSpPr>
          <p:cNvPr id="147" name="모서리가 둥근 직사각형 146"/>
          <p:cNvSpPr/>
          <p:nvPr/>
        </p:nvSpPr>
        <p:spPr>
          <a:xfrm>
            <a:off x="477609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지명경쟁</a:t>
            </a:r>
          </a:p>
        </p:txBody>
      </p:sp>
      <p:sp>
        <p:nvSpPr>
          <p:cNvPr id="149" name="모서리가 둥근 직사각형 148"/>
          <p:cNvSpPr/>
          <p:nvPr/>
        </p:nvSpPr>
        <p:spPr>
          <a:xfrm>
            <a:off x="5232765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제한경쟁</a:t>
            </a:r>
          </a:p>
        </p:txBody>
      </p:sp>
      <p:sp>
        <p:nvSpPr>
          <p:cNvPr id="150" name="모서리가 둥근 직사각형 149"/>
          <p:cNvSpPr/>
          <p:nvPr/>
        </p:nvSpPr>
        <p:spPr>
          <a:xfrm>
            <a:off x="5690227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복수경쟁</a:t>
            </a:r>
            <a:endParaRPr lang="ko-KR" altLang="en-US" sz="600" dirty="0"/>
          </a:p>
        </p:txBody>
      </p:sp>
      <p:sp>
        <p:nvSpPr>
          <p:cNvPr id="151" name="모서리가 둥근 직사각형 150"/>
          <p:cNvSpPr/>
          <p:nvPr/>
        </p:nvSpPr>
        <p:spPr>
          <a:xfrm>
            <a:off x="6147576" y="513553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수의계약</a:t>
            </a:r>
          </a:p>
        </p:txBody>
      </p:sp>
      <p:sp>
        <p:nvSpPr>
          <p:cNvPr id="152" name="모서리가 둥근 직사각형 151"/>
          <p:cNvSpPr/>
          <p:nvPr/>
        </p:nvSpPr>
        <p:spPr>
          <a:xfrm>
            <a:off x="4318635" y="5307915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서류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3" name="모서리가 둥근 직사각형 152"/>
          <p:cNvSpPr/>
          <p:nvPr/>
        </p:nvSpPr>
        <p:spPr>
          <a:xfrm>
            <a:off x="5199541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동시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4" name="모서리가 둥근 직사각형 153"/>
          <p:cNvSpPr/>
          <p:nvPr/>
        </p:nvSpPr>
        <p:spPr>
          <a:xfrm>
            <a:off x="5885028" y="5307915"/>
            <a:ext cx="64459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en-US" altLang="ko-KR" sz="600" dirty="0"/>
              <a:t>2</a:t>
            </a:r>
            <a:r>
              <a:rPr lang="ko-KR" altLang="en-US" sz="600" dirty="0"/>
              <a:t>단계 경쟁</a:t>
            </a:r>
            <a:r>
              <a:rPr lang="en-US" altLang="ko-KR" sz="600" dirty="0"/>
              <a:t>(</a:t>
            </a:r>
            <a:r>
              <a:rPr lang="ko-KR" altLang="en-US" sz="600" dirty="0"/>
              <a:t>분리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5" name="모서리가 둥근 직사각형 154"/>
          <p:cNvSpPr/>
          <p:nvPr/>
        </p:nvSpPr>
        <p:spPr>
          <a:xfrm>
            <a:off x="4318635" y="5475884"/>
            <a:ext cx="501313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종합낙찰제</a:t>
            </a:r>
            <a:endParaRPr lang="ko-KR" altLang="en-US" sz="600" dirty="0"/>
          </a:p>
        </p:txBody>
      </p:sp>
      <p:sp>
        <p:nvSpPr>
          <p:cNvPr id="157" name="모서리가 둥근 직사각형 156"/>
          <p:cNvSpPr/>
          <p:nvPr/>
        </p:nvSpPr>
        <p:spPr>
          <a:xfrm>
            <a:off x="4876890" y="5475884"/>
            <a:ext cx="83407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협상에의한</a:t>
            </a:r>
            <a:r>
              <a:rPr lang="ko-KR" altLang="en-US" sz="600" dirty="0"/>
              <a:t> 계약</a:t>
            </a:r>
            <a:r>
              <a:rPr lang="en-US" altLang="ko-KR" sz="600" dirty="0"/>
              <a:t>(</a:t>
            </a:r>
            <a:r>
              <a:rPr lang="ko-KR" altLang="en-US" sz="600" dirty="0"/>
              <a:t>전자</a:t>
            </a:r>
            <a:r>
              <a:rPr lang="en-US" altLang="ko-KR" sz="600" dirty="0"/>
              <a:t>)</a:t>
            </a:r>
            <a:endParaRPr lang="ko-KR" altLang="en-US" sz="600" dirty="0"/>
          </a:p>
        </p:txBody>
      </p:sp>
      <p:sp>
        <p:nvSpPr>
          <p:cNvPr id="158" name="모서리가 둥근 직사각형 157"/>
          <p:cNvSpPr/>
          <p:nvPr/>
        </p:nvSpPr>
        <p:spPr>
          <a:xfrm>
            <a:off x="5767485" y="5475884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역경매</a:t>
            </a:r>
            <a:endParaRPr lang="ko-KR" altLang="en-US" sz="600" dirty="0"/>
          </a:p>
        </p:txBody>
      </p:sp>
      <p:sp>
        <p:nvSpPr>
          <p:cNvPr id="160" name="타원 159">
            <a:extLst>
              <a:ext uri="{FF2B5EF4-FFF2-40B4-BE49-F238E27FC236}">
                <a16:creationId xmlns:a16="http://schemas.microsoft.com/office/drawing/2014/main" id="{37A7FF4F-0EAA-1463-560A-D5EC24416103}"/>
              </a:ext>
            </a:extLst>
          </p:cNvPr>
          <p:cNvSpPr/>
          <p:nvPr/>
        </p:nvSpPr>
        <p:spPr>
          <a:xfrm>
            <a:off x="4304035" y="1759161"/>
            <a:ext cx="172130" cy="17213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900" b="1" dirty="0"/>
              <a:t>5</a:t>
            </a:r>
            <a:endParaRPr lang="ko-KR" altLang="en-US" sz="900" b="1" dirty="0"/>
          </a:p>
        </p:txBody>
      </p:sp>
      <p:sp>
        <p:nvSpPr>
          <p:cNvPr id="161" name="모서리가 둥근 직사각형 160"/>
          <p:cNvSpPr/>
          <p:nvPr/>
        </p:nvSpPr>
        <p:spPr>
          <a:xfrm>
            <a:off x="4318635" y="5847205"/>
            <a:ext cx="579917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발주기관 전체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5853044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>
                <a:latin typeface="+mn-ea"/>
              </a:rPr>
              <a:t>발주기관</a:t>
            </a:r>
          </a:p>
        </p:txBody>
      </p:sp>
      <p:sp>
        <p:nvSpPr>
          <p:cNvPr id="163" name="모서리가 둥근 직사각형 162"/>
          <p:cNvSpPr/>
          <p:nvPr/>
        </p:nvSpPr>
        <p:spPr>
          <a:xfrm>
            <a:off x="4946591" y="5847205"/>
            <a:ext cx="47052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방위사업청</a:t>
            </a:r>
            <a:endParaRPr lang="ko-KR" altLang="en-US" sz="600" dirty="0"/>
          </a:p>
        </p:txBody>
      </p:sp>
      <p:sp>
        <p:nvSpPr>
          <p:cNvPr id="164" name="모서리가 둥근 직사각형 163"/>
          <p:cNvSpPr/>
          <p:nvPr/>
        </p:nvSpPr>
        <p:spPr>
          <a:xfrm>
            <a:off x="5462635" y="584720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조달본부</a:t>
            </a:r>
          </a:p>
        </p:txBody>
      </p:sp>
      <p:sp>
        <p:nvSpPr>
          <p:cNvPr id="165" name="모서리가 둥근 직사각형 164"/>
          <p:cNvSpPr/>
          <p:nvPr/>
        </p:nvSpPr>
        <p:spPr>
          <a:xfrm>
            <a:off x="590936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경리단</a:t>
            </a:r>
            <a:endParaRPr lang="ko-KR" altLang="en-US" sz="600" dirty="0"/>
          </a:p>
        </p:txBody>
      </p:sp>
      <p:sp>
        <p:nvSpPr>
          <p:cNvPr id="166" name="모서리가 둥근 직사각형 165"/>
          <p:cNvSpPr/>
          <p:nvPr/>
        </p:nvSpPr>
        <p:spPr>
          <a:xfrm>
            <a:off x="6282921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군수사</a:t>
            </a:r>
            <a:endParaRPr lang="ko-KR" altLang="en-US" sz="600" dirty="0"/>
          </a:p>
        </p:txBody>
      </p:sp>
      <p:sp>
        <p:nvSpPr>
          <p:cNvPr id="167" name="모서리가 둥근 직사각형 166"/>
          <p:cNvSpPr/>
          <p:nvPr/>
        </p:nvSpPr>
        <p:spPr>
          <a:xfrm>
            <a:off x="6658148" y="5849480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교육사</a:t>
            </a:r>
          </a:p>
        </p:txBody>
      </p:sp>
      <p:sp>
        <p:nvSpPr>
          <p:cNvPr id="168" name="모서리가 둥근 직사각형 167"/>
          <p:cNvSpPr/>
          <p:nvPr/>
        </p:nvSpPr>
        <p:spPr>
          <a:xfrm>
            <a:off x="4321449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학교</a:t>
            </a:r>
          </a:p>
        </p:txBody>
      </p:sp>
      <p:sp>
        <p:nvSpPr>
          <p:cNvPr id="169" name="모서리가 둥근 직사각형 168"/>
          <p:cNvSpPr/>
          <p:nvPr/>
        </p:nvSpPr>
        <p:spPr>
          <a:xfrm>
            <a:off x="4639917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근지단</a:t>
            </a:r>
            <a:endParaRPr lang="ko-KR" altLang="en-US" sz="600" dirty="0"/>
          </a:p>
        </p:txBody>
      </p:sp>
      <p:sp>
        <p:nvSpPr>
          <p:cNvPr id="170" name="모서리가 둥근 직사각형 169"/>
          <p:cNvSpPr/>
          <p:nvPr/>
        </p:nvSpPr>
        <p:spPr>
          <a:xfrm>
            <a:off x="5025544" y="6010998"/>
            <a:ext cx="32323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/>
              <a:t>군병원</a:t>
            </a:r>
            <a:endParaRPr lang="ko-KR" altLang="en-US" sz="600" dirty="0"/>
          </a:p>
        </p:txBody>
      </p:sp>
      <p:sp>
        <p:nvSpPr>
          <p:cNvPr id="172" name="모서리가 둥근 직사각형 171"/>
          <p:cNvSpPr/>
          <p:nvPr/>
        </p:nvSpPr>
        <p:spPr>
          <a:xfrm>
            <a:off x="5413995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본부</a:t>
            </a:r>
          </a:p>
        </p:txBody>
      </p:sp>
      <p:sp>
        <p:nvSpPr>
          <p:cNvPr id="173" name="모서리가 둥근 직사각형 172"/>
          <p:cNvSpPr/>
          <p:nvPr/>
        </p:nvSpPr>
        <p:spPr>
          <a:xfrm>
            <a:off x="5727123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-9</a:t>
            </a:r>
            <a:endParaRPr lang="ko-KR" altLang="en-US" sz="600" dirty="0"/>
          </a:p>
        </p:txBody>
      </p:sp>
      <p:sp>
        <p:nvSpPr>
          <p:cNvPr id="174" name="모서리가 둥근 직사각형 173"/>
          <p:cNvSpPr/>
          <p:nvPr/>
        </p:nvSpPr>
        <p:spPr>
          <a:xfrm>
            <a:off x="6198542" y="6010998"/>
            <a:ext cx="40761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국방부</a:t>
            </a:r>
            <a:r>
              <a:rPr lang="en-US" altLang="ko-KR" sz="600" dirty="0"/>
              <a:t>-A</a:t>
            </a:r>
            <a:endParaRPr lang="ko-KR" altLang="en-US" sz="600" dirty="0"/>
          </a:p>
        </p:txBody>
      </p:sp>
      <p:sp>
        <p:nvSpPr>
          <p:cNvPr id="175" name="모서리가 둥근 직사각형 174"/>
          <p:cNvSpPr/>
          <p:nvPr/>
        </p:nvSpPr>
        <p:spPr>
          <a:xfrm>
            <a:off x="6669961" y="6010998"/>
            <a:ext cx="250838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기타</a:t>
            </a:r>
          </a:p>
        </p:txBody>
      </p:sp>
      <p:sp>
        <p:nvSpPr>
          <p:cNvPr id="180" name="모서리가 둥근 직사각형 179"/>
          <p:cNvSpPr/>
          <p:nvPr/>
        </p:nvSpPr>
        <p:spPr>
          <a:xfrm>
            <a:off x="4318635" y="2877159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총액제</a:t>
            </a:r>
            <a:endParaRPr lang="ko-KR" altLang="en-US" sz="600" dirty="0"/>
          </a:p>
        </p:txBody>
      </p:sp>
      <p:sp>
        <p:nvSpPr>
          <p:cNvPr id="181" name="모서리가 둥근 직사각형 180"/>
          <p:cNvSpPr/>
          <p:nvPr/>
        </p:nvSpPr>
        <p:spPr>
          <a:xfrm>
            <a:off x="4695883" y="2878607"/>
            <a:ext cx="325832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단가제</a:t>
            </a:r>
            <a:endParaRPr lang="ko-KR" altLang="en-US" sz="6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288299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입찰구분</a:t>
            </a:r>
            <a:endParaRPr lang="ko-KR" altLang="en-US" sz="700" dirty="0">
              <a:latin typeface="+mn-ea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3840447" y="3223238"/>
            <a:ext cx="547346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700" dirty="0" err="1">
                <a:latin typeface="+mn-ea"/>
              </a:rPr>
              <a:t>대금상태</a:t>
            </a:r>
            <a:endParaRPr lang="ko-KR" altLang="en-US" sz="700" dirty="0">
              <a:latin typeface="+mn-ea"/>
            </a:endParaRPr>
          </a:p>
        </p:txBody>
      </p:sp>
      <p:sp>
        <p:nvSpPr>
          <p:cNvPr id="112" name="모서리가 둥근 직사각형 111"/>
          <p:cNvSpPr/>
          <p:nvPr/>
        </p:nvSpPr>
        <p:spPr>
          <a:xfrm>
            <a:off x="4318634" y="3219308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선금신청</a:t>
            </a:r>
            <a:endParaRPr lang="ko-KR" altLang="en-US" sz="600" dirty="0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4762118" y="3220756"/>
            <a:ext cx="555911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착중도금신청</a:t>
            </a:r>
            <a:endParaRPr lang="ko-KR" altLang="en-US" sz="600" dirty="0"/>
          </a:p>
        </p:txBody>
      </p:sp>
      <p:sp>
        <p:nvSpPr>
          <p:cNvPr id="115" name="모서리가 둥근 직사각형 114"/>
          <p:cNvSpPr/>
          <p:nvPr/>
        </p:nvSpPr>
        <p:spPr>
          <a:xfrm>
            <a:off x="5833259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대금수정</a:t>
            </a:r>
            <a:endParaRPr lang="ko-KR" altLang="en-US" sz="600" dirty="0"/>
          </a:p>
        </p:txBody>
      </p:sp>
      <p:sp>
        <p:nvSpPr>
          <p:cNvPr id="118" name="모서리가 둥근 직사각형 117"/>
          <p:cNvSpPr/>
          <p:nvPr/>
        </p:nvSpPr>
        <p:spPr>
          <a:xfrm>
            <a:off x="5364593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r>
              <a:rPr lang="ko-KR" altLang="en-US" sz="600" dirty="0"/>
              <a:t>                          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1525063" y="338417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대금청구</a:t>
            </a:r>
            <a:endParaRPr lang="ko-KR" altLang="en-US" sz="600" dirty="0"/>
          </a:p>
        </p:txBody>
      </p:sp>
      <p:cxnSp>
        <p:nvCxnSpPr>
          <p:cNvPr id="141" name="직선 연결선 140">
            <a:extLst>
              <a:ext uri="{FF2B5EF4-FFF2-40B4-BE49-F238E27FC236}">
                <a16:creationId xmlns:a16="http://schemas.microsoft.com/office/drawing/2014/main" id="{E9293055-D5CD-4B9E-7F64-64B2D2CA7A52}"/>
              </a:ext>
            </a:extLst>
          </p:cNvPr>
          <p:cNvCxnSpPr/>
          <p:nvPr/>
        </p:nvCxnSpPr>
        <p:spPr>
          <a:xfrm>
            <a:off x="675399" y="2198086"/>
            <a:ext cx="2712027" cy="0"/>
          </a:xfrm>
          <a:prstGeom prst="line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778515" y="2910872"/>
            <a:ext cx="130550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dirty="0">
                <a:latin typeface="+mn-ea"/>
              </a:rPr>
              <a:t>총 </a:t>
            </a:r>
            <a:r>
              <a:rPr lang="en-US" altLang="ko-KR" sz="700" dirty="0">
                <a:solidFill>
                  <a:schemeClr val="accent1">
                    <a:lumMod val="75000"/>
                  </a:schemeClr>
                </a:solidFill>
                <a:latin typeface="+mn-ea"/>
              </a:rPr>
              <a:t>2,010</a:t>
            </a:r>
            <a:r>
              <a:rPr lang="en-US" altLang="ko-KR" sz="700" dirty="0">
                <a:latin typeface="+mn-ea"/>
              </a:rPr>
              <a:t> </a:t>
            </a:r>
            <a:r>
              <a:rPr lang="ko-KR" altLang="en-US" sz="700" dirty="0">
                <a:latin typeface="+mn-ea"/>
              </a:rPr>
              <a:t>건</a:t>
            </a:r>
          </a:p>
        </p:txBody>
      </p:sp>
      <p:sp>
        <p:nvSpPr>
          <p:cNvPr id="123" name="모서리가 둥근 직사각형 122"/>
          <p:cNvSpPr/>
          <p:nvPr/>
        </p:nvSpPr>
        <p:spPr>
          <a:xfrm>
            <a:off x="6286574" y="3220756"/>
            <a:ext cx="403390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대금확정</a:t>
            </a:r>
            <a:endParaRPr lang="ko-KR" altLang="en-US" sz="600" dirty="0"/>
          </a:p>
        </p:txBody>
      </p:sp>
      <p:sp>
        <p:nvSpPr>
          <p:cNvPr id="125" name="모서리가 둥근 직사각형 124"/>
          <p:cNvSpPr/>
          <p:nvPr/>
        </p:nvSpPr>
        <p:spPr>
          <a:xfrm>
            <a:off x="4318634" y="3411975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/>
              <a:t>사후정산</a:t>
            </a:r>
          </a:p>
        </p:txBody>
      </p:sp>
      <p:sp>
        <p:nvSpPr>
          <p:cNvPr id="185" name="타원 184"/>
          <p:cNvSpPr/>
          <p:nvPr/>
        </p:nvSpPr>
        <p:spPr>
          <a:xfrm>
            <a:off x="2741767" y="1580377"/>
            <a:ext cx="108000" cy="1080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699587" y="1709526"/>
            <a:ext cx="192360" cy="769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500" dirty="0">
                <a:latin typeface="+mn-ea"/>
              </a:rPr>
              <a:t>안내문</a:t>
            </a:r>
          </a:p>
        </p:txBody>
      </p:sp>
      <p:sp>
        <p:nvSpPr>
          <p:cNvPr id="124" name="모서리가 둥근 직사각형 123"/>
          <p:cNvSpPr/>
          <p:nvPr/>
        </p:nvSpPr>
        <p:spPr>
          <a:xfrm>
            <a:off x="1978768" y="3384176"/>
            <a:ext cx="396419" cy="119400"/>
          </a:xfrm>
          <a:prstGeom prst="roundRect">
            <a:avLst>
              <a:gd name="adj" fmla="val 23409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600" dirty="0" err="1"/>
              <a:t>대금반납</a:t>
            </a:r>
            <a:endParaRPr lang="ko-KR" altLang="en-US" sz="600" dirty="0"/>
          </a:p>
        </p:txBody>
      </p:sp>
      <p:grpSp>
        <p:nvGrpSpPr>
          <p:cNvPr id="126" name="그룹 125"/>
          <p:cNvGrpSpPr/>
          <p:nvPr/>
        </p:nvGrpSpPr>
        <p:grpSpPr>
          <a:xfrm>
            <a:off x="767702" y="2270279"/>
            <a:ext cx="2527420" cy="477995"/>
            <a:chOff x="786326" y="2270279"/>
            <a:chExt cx="2527420" cy="477995"/>
          </a:xfrm>
        </p:grpSpPr>
        <p:sp>
          <p:nvSpPr>
            <p:cNvPr id="133" name="모서리가 둥근 직사각형 132"/>
            <p:cNvSpPr/>
            <p:nvPr/>
          </p:nvSpPr>
          <p:spPr>
            <a:xfrm>
              <a:off x="786326" y="2481707"/>
              <a:ext cx="2527420" cy="266567"/>
            </a:xfrm>
            <a:prstGeom prst="roundRect">
              <a:avLst>
                <a:gd name="adj" fmla="val 50000"/>
              </a:avLst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0" name="타원 139"/>
            <p:cNvSpPr/>
            <p:nvPr/>
          </p:nvSpPr>
          <p:spPr>
            <a:xfrm>
              <a:off x="3071451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FFC49AEA-2A8F-250C-A86A-A7751D9706C3}"/>
                </a:ext>
              </a:extLst>
            </p:cNvPr>
            <p:cNvSpPr txBox="1"/>
            <p:nvPr/>
          </p:nvSpPr>
          <p:spPr>
            <a:xfrm>
              <a:off x="890013" y="2561129"/>
              <a:ext cx="1886364" cy="10772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검색할 내용을 입력하세요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  <a:latin typeface="+mn-ea"/>
                </a:rPr>
                <a:t>.</a:t>
              </a:r>
              <a:endParaRPr lang="ko-KR" altLang="en-US" sz="700" dirty="0">
                <a:solidFill>
                  <a:schemeClr val="bg1">
                    <a:lumMod val="50000"/>
                  </a:schemeClr>
                </a:solidFill>
                <a:latin typeface="+mn-ea"/>
              </a:endParaRPr>
            </a:p>
          </p:txBody>
        </p:sp>
        <p:grpSp>
          <p:nvGrpSpPr>
            <p:cNvPr id="144" name="그룹 143"/>
            <p:cNvGrpSpPr/>
            <p:nvPr/>
          </p:nvGrpSpPr>
          <p:grpSpPr>
            <a:xfrm>
              <a:off x="795624" y="2274581"/>
              <a:ext cx="1299303" cy="155984"/>
              <a:chOff x="808107" y="2288229"/>
              <a:chExt cx="1189739" cy="168318"/>
            </a:xfrm>
          </p:grpSpPr>
          <p:sp>
            <p:nvSpPr>
              <p:cNvPr id="190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808107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solidFill>
                      <a:srgbClr val="0070C0"/>
                    </a:solidFill>
                    <a:latin typeface="맑은 고딕"/>
                    <a:ea typeface="맑은 고딕" panose="020B0503020000020004" pitchFamily="50" charset="-127"/>
                  </a:rPr>
                  <a:t>계약명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맑은 고딕"/>
                </a:endParaRPr>
              </a:p>
            </p:txBody>
          </p:sp>
          <p:sp>
            <p:nvSpPr>
              <p:cNvPr id="191" name="사각형: 둥근 모서리 31">
                <a:extLst>
                  <a:ext uri="{FF2B5EF4-FFF2-40B4-BE49-F238E27FC236}">
                    <a16:creationId xmlns:a16="http://schemas.microsoft.com/office/drawing/2014/main" id="{2AC143EE-93CF-3518-F0CB-8469E98507E0}"/>
                  </a:ext>
                </a:extLst>
              </p:cNvPr>
              <p:cNvSpPr/>
              <p:nvPr/>
            </p:nvSpPr>
            <p:spPr>
              <a:xfrm>
                <a:off x="1434352" y="2288229"/>
                <a:ext cx="563494" cy="168318"/>
              </a:xfrm>
              <a:prstGeom prst="roundRect">
                <a:avLst/>
              </a:prstGeom>
              <a:solidFill>
                <a:schemeClr val="bg1"/>
              </a:solidFill>
              <a:ln w="12700" cap="flat" cmpd="sng" algn="ctr">
                <a:solidFill>
                  <a:schemeClr val="tx1"/>
                </a:solidFill>
                <a:prstDash val="solid"/>
              </a:ln>
              <a:effectLst/>
            </p:spPr>
            <p:txBody>
              <a:bodyPr lIns="0" tIns="0" rIns="0" bIns="0"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ko-KR" altLang="en-US" sz="800" kern="0" dirty="0" err="1">
                    <a:latin typeface="맑은 고딕"/>
                    <a:ea typeface="맑은 고딕" panose="020B0503020000020004" pitchFamily="50" charset="-127"/>
                  </a:rPr>
                  <a:t>계약번호</a:t>
                </a:r>
                <a:endParaRPr kumimoji="1" lang="en-US" sz="8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맑은 고딕"/>
                </a:endParaRPr>
              </a:p>
            </p:txBody>
          </p:sp>
        </p:grpSp>
        <p:sp>
          <p:nvSpPr>
            <p:cNvPr id="148" name="타원 147"/>
            <p:cNvSpPr/>
            <p:nvPr/>
          </p:nvSpPr>
          <p:spPr>
            <a:xfrm>
              <a:off x="814969" y="2290708"/>
              <a:ext cx="108000" cy="108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V</a:t>
              </a:r>
              <a:endParaRPr lang="ko-KR" altLang="en-US" sz="600" dirty="0"/>
            </a:p>
          </p:txBody>
        </p:sp>
        <p:sp>
          <p:nvSpPr>
            <p:cNvPr id="182" name="사각형: 둥근 모서리 31">
              <a:extLst>
                <a:ext uri="{FF2B5EF4-FFF2-40B4-BE49-F238E27FC236}">
                  <a16:creationId xmlns:a16="http://schemas.microsoft.com/office/drawing/2014/main" id="{2AC143EE-93CF-3518-F0CB-8469E98507E0}"/>
                </a:ext>
              </a:extLst>
            </p:cNvPr>
            <p:cNvSpPr/>
            <p:nvPr/>
          </p:nvSpPr>
          <p:spPr>
            <a:xfrm>
              <a:off x="2726021" y="2270279"/>
              <a:ext cx="582849" cy="154795"/>
            </a:xfrm>
            <a:prstGeom prst="roundRect">
              <a:avLst/>
            </a:prstGeom>
            <a:solidFill>
              <a:schemeClr val="bg1"/>
            </a:solidFill>
            <a:ln w="12700" cap="flat" cmpd="sng" algn="ctr">
              <a:solidFill>
                <a:schemeClr val="tx1"/>
              </a:solidFill>
              <a:prstDash val="solid"/>
            </a:ln>
            <a:effectLst/>
          </p:spPr>
          <p:txBody>
            <a:bodyPr lIns="0" tIns="0" rIns="0" b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800" kern="0" dirty="0" err="1">
                  <a:latin typeface="맑은 고딕"/>
                  <a:ea typeface="맑은 고딕" panose="020B0503020000020004" pitchFamily="50" charset="-127"/>
                </a:rPr>
                <a:t>검색필터</a:t>
              </a:r>
              <a:endParaRPr kumimoji="1" lang="en-US" sz="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/>
              </a:endParaRPr>
            </a:p>
          </p:txBody>
        </p:sp>
        <p:sp>
          <p:nvSpPr>
            <p:cNvPr id="186" name="타원 185"/>
            <p:cNvSpPr/>
            <p:nvPr/>
          </p:nvSpPr>
          <p:spPr>
            <a:xfrm>
              <a:off x="2857726" y="2551066"/>
              <a:ext cx="145884" cy="145882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7" name="그룹 186"/>
            <p:cNvGrpSpPr/>
            <p:nvPr/>
          </p:nvGrpSpPr>
          <p:grpSpPr>
            <a:xfrm>
              <a:off x="2901631" y="2585953"/>
              <a:ext cx="58075" cy="58074"/>
              <a:chOff x="6812560" y="3297172"/>
              <a:chExt cx="94010" cy="94010"/>
            </a:xfrm>
          </p:grpSpPr>
          <p:cxnSp>
            <p:nvCxnSpPr>
              <p:cNvPr id="188" name="직선 연결선 187"/>
              <p:cNvCxnSpPr/>
              <p:nvPr/>
            </p:nvCxnSpPr>
            <p:spPr>
              <a:xfrm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9" name="직선 연결선 188"/>
              <p:cNvCxnSpPr/>
              <p:nvPr/>
            </p:nvCxnSpPr>
            <p:spPr>
              <a:xfrm rot="5400000">
                <a:off x="6812560" y="3297172"/>
                <a:ext cx="94010" cy="9401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2" name="TextBox 191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278206" y="2890210"/>
            <a:ext cx="393849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700" b="1" dirty="0">
                <a:latin typeface="+mn-ea"/>
              </a:rPr>
              <a:t>표시 개수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FFC49AEA-2A8F-250C-A86A-A7751D9706C3}"/>
              </a:ext>
            </a:extLst>
          </p:cNvPr>
          <p:cNvSpPr txBox="1"/>
          <p:nvPr/>
        </p:nvSpPr>
        <p:spPr>
          <a:xfrm>
            <a:off x="2727990" y="2890210"/>
            <a:ext cx="505710" cy="1811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700" dirty="0">
                <a:latin typeface="+mn-ea"/>
              </a:rPr>
              <a:t>10 </a:t>
            </a:r>
            <a:r>
              <a:rPr lang="ko-KR" altLang="en-US" sz="700" dirty="0">
                <a:latin typeface="+mn-ea"/>
              </a:rPr>
              <a:t>개</a:t>
            </a:r>
          </a:p>
        </p:txBody>
      </p:sp>
      <p:grpSp>
        <p:nvGrpSpPr>
          <p:cNvPr id="194" name="그룹 193"/>
          <p:cNvGrpSpPr/>
          <p:nvPr/>
        </p:nvGrpSpPr>
        <p:grpSpPr>
          <a:xfrm>
            <a:off x="3004764" y="3105654"/>
            <a:ext cx="776938" cy="1131139"/>
            <a:chOff x="3004764" y="2490533"/>
            <a:chExt cx="776938" cy="1131139"/>
          </a:xfrm>
        </p:grpSpPr>
        <p:sp>
          <p:nvSpPr>
            <p:cNvPr id="195" name="사각형: 둥근 모서리 222">
              <a:extLst>
                <a:ext uri="{FF2B5EF4-FFF2-40B4-BE49-F238E27FC236}">
                  <a16:creationId xmlns:a16="http://schemas.microsoft.com/office/drawing/2014/main" id="{8AF9D577-0373-21E1-F7E1-B17AE839E882}"/>
                </a:ext>
              </a:extLst>
            </p:cNvPr>
            <p:cNvSpPr/>
            <p:nvPr/>
          </p:nvSpPr>
          <p:spPr>
            <a:xfrm>
              <a:off x="3004764" y="2833887"/>
              <a:ext cx="776938" cy="787785"/>
            </a:xfrm>
            <a:prstGeom prst="roundRect">
              <a:avLst>
                <a:gd name="adj" fmla="val 3899"/>
              </a:avLst>
            </a:prstGeom>
            <a:solidFill>
              <a:sysClr val="window" lastClr="FFFFFF"/>
            </a:solidFill>
            <a:ln w="9525" cap="flat" cmpd="sng" algn="ctr">
              <a:solidFill>
                <a:sysClr val="window" lastClr="FFFFFF">
                  <a:lumMod val="75000"/>
                </a:sys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9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6" name="사각형: 둥근 모서리 224">
              <a:extLst>
                <a:ext uri="{FF2B5EF4-FFF2-40B4-BE49-F238E27FC236}">
                  <a16:creationId xmlns:a16="http://schemas.microsoft.com/office/drawing/2014/main" id="{3EFB2C27-9C6F-8886-4247-7900976F7BD2}"/>
                </a:ext>
              </a:extLst>
            </p:cNvPr>
            <p:cNvSpPr/>
            <p:nvPr/>
          </p:nvSpPr>
          <p:spPr>
            <a:xfrm>
              <a:off x="3004764" y="2490533"/>
              <a:ext cx="775390" cy="343356"/>
            </a:xfrm>
            <a:prstGeom prst="roundRect">
              <a:avLst/>
            </a:prstGeom>
            <a:solidFill>
              <a:sysClr val="window" lastClr="FFFFFF"/>
            </a:solidFill>
            <a:ln w="9525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/>
                  <a:ea typeface="+mn-ea"/>
                  <a:cs typeface="+mn-cs"/>
                </a:rPr>
                <a:t>개</a:t>
              </a:r>
              <a:endParaRPr kumimoji="0" 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+mn-ea"/>
                <a:cs typeface="+mn-cs"/>
              </a:endParaRPr>
            </a:p>
          </p:txBody>
        </p:sp>
        <p:sp>
          <p:nvSpPr>
            <p:cNvPr id="197" name="TextBox 226">
              <a:extLst>
                <a:ext uri="{FF2B5EF4-FFF2-40B4-BE49-F238E27FC236}">
                  <a16:creationId xmlns:a16="http://schemas.microsoft.com/office/drawing/2014/main" id="{2D0EB093-7669-C055-4901-B28C987E9EF9}"/>
                </a:ext>
              </a:extLst>
            </p:cNvPr>
            <p:cNvSpPr txBox="1"/>
            <p:nvPr/>
          </p:nvSpPr>
          <p:spPr>
            <a:xfrm>
              <a:off x="3063151" y="2833887"/>
              <a:ext cx="641770" cy="6740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10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700" kern="0" dirty="0">
                  <a:solidFill>
                    <a:prstClr val="black"/>
                  </a:solidFill>
                </a:rPr>
                <a:t>30</a:t>
              </a:r>
              <a:r>
                <a:rPr lang="ko-KR" altLang="en-US" sz="700" kern="0" dirty="0">
                  <a:solidFill>
                    <a:prstClr val="black"/>
                  </a:solidFill>
                </a:rPr>
                <a:t> 개</a:t>
              </a:r>
              <a:endParaRPr lang="en-US" altLang="ko-KR" sz="700" kern="0" dirty="0">
                <a:solidFill>
                  <a:prstClr val="black"/>
                </a:solidFill>
              </a:endParaRPr>
            </a:p>
            <a:p>
              <a:pPr marL="0" marR="0" lvl="0" indent="0" defTabSz="914400" eaLnBrk="1" fontAlgn="auto" latinLnBrk="0" hangingPunct="1">
                <a:lnSpc>
                  <a:spcPct val="1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50 </a:t>
              </a:r>
              <a:r>
                <a:rPr kumimoji="0" lang="ko-KR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개</a:t>
              </a:r>
              <a:endPara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grpSp>
          <p:nvGrpSpPr>
            <p:cNvPr id="198" name="그룹 197"/>
            <p:cNvGrpSpPr/>
            <p:nvPr/>
          </p:nvGrpSpPr>
          <p:grpSpPr>
            <a:xfrm flipV="1">
              <a:off x="3584851" y="2638708"/>
              <a:ext cx="94010" cy="47005"/>
              <a:chOff x="6615710" y="3297172"/>
              <a:chExt cx="94010" cy="47005"/>
            </a:xfrm>
          </p:grpSpPr>
          <p:cxnSp>
            <p:nvCxnSpPr>
              <p:cNvPr id="199" name="직선 연결선 198"/>
              <p:cNvCxnSpPr/>
              <p:nvPr/>
            </p:nvCxnSpPr>
            <p:spPr>
              <a:xfrm>
                <a:off x="6615710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0" name="직선 연결선 199"/>
              <p:cNvCxnSpPr/>
              <p:nvPr/>
            </p:nvCxnSpPr>
            <p:spPr>
              <a:xfrm flipH="1">
                <a:off x="6662715" y="3297172"/>
                <a:ext cx="47005" cy="47005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116979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FD9DB9D-BEE3-7D00-725F-B5ADE65B74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DF8E3FD-B4FB-473B-BCAD-C4534B9A9D97}" type="slidenum">
              <a:rPr lang="ko-KR" altLang="en-US" smtClean="0"/>
              <a:pPr/>
              <a:t>62</a:t>
            </a:fld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B257CD-DFF9-C20A-42B1-86A5BD32A090}"/>
              </a:ext>
            </a:extLst>
          </p:cNvPr>
          <p:cNvSpPr txBox="1"/>
          <p:nvPr/>
        </p:nvSpPr>
        <p:spPr>
          <a:xfrm>
            <a:off x="458117" y="572956"/>
            <a:ext cx="78283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1. </a:t>
            </a:r>
            <a:r>
              <a:rPr lang="ko-KR" altLang="en-US" sz="1000" b="1" dirty="0">
                <a:solidFill>
                  <a:prstClr val="black"/>
                </a:solidFill>
              </a:rPr>
              <a:t>항목 설명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1E579C-7AF3-7BFE-7013-093144AFB794}"/>
              </a:ext>
            </a:extLst>
          </p:cNvPr>
          <p:cNvSpPr txBox="1"/>
          <p:nvPr/>
        </p:nvSpPr>
        <p:spPr>
          <a:xfrm>
            <a:off x="458117" y="803113"/>
            <a:ext cx="3360463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1.1.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대금청구진행현황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검색조건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dmt_pymtClmPrgrsPrstSrch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9C383C-55E0-D07A-4E04-846216D6522D}"/>
              </a:ext>
            </a:extLst>
          </p:cNvPr>
          <p:cNvSpPr txBox="1"/>
          <p:nvPr/>
        </p:nvSpPr>
        <p:spPr>
          <a:xfrm>
            <a:off x="458117" y="2490877"/>
            <a:ext cx="2664759" cy="211203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900" b="1" dirty="0">
                <a:solidFill>
                  <a:prstClr val="black"/>
                </a:solidFill>
              </a:rPr>
              <a:t>1.2. </a:t>
            </a:r>
            <a:r>
              <a:rPr lang="ko-KR" altLang="en-US" sz="900" b="1" dirty="0">
                <a:solidFill>
                  <a:prstClr val="black"/>
                </a:solidFill>
              </a:rPr>
              <a:t>대금청구목록</a:t>
            </a:r>
            <a:r>
              <a:rPr lang="en-US" altLang="ko-KR" sz="900" b="1" dirty="0">
                <a:solidFill>
                  <a:prstClr val="black"/>
                </a:solidFill>
              </a:rPr>
              <a:t> </a:t>
            </a:r>
            <a:r>
              <a:rPr lang="ko-KR" altLang="en-US" sz="900" b="1" dirty="0">
                <a:solidFill>
                  <a:prstClr val="black"/>
                </a:solidFill>
              </a:rPr>
              <a:t>데이터 영역 </a:t>
            </a:r>
            <a:r>
              <a:rPr lang="en-US" altLang="ko-KR" sz="900" b="1" dirty="0">
                <a:solidFill>
                  <a:prstClr val="black"/>
                </a:solidFill>
              </a:rPr>
              <a:t>(</a:t>
            </a:r>
            <a:r>
              <a:rPr lang="en-US" altLang="ko-KR" sz="900" b="1" dirty="0" err="1">
                <a:solidFill>
                  <a:prstClr val="black"/>
                </a:solidFill>
              </a:rPr>
              <a:t>dlt_pymtClmList</a:t>
            </a:r>
            <a:r>
              <a:rPr lang="en-US" altLang="ko-KR" sz="900" b="1" dirty="0">
                <a:solidFill>
                  <a:prstClr val="black"/>
                </a:solidFill>
              </a:rPr>
              <a:t>)</a:t>
            </a:r>
            <a:endParaRPr lang="ko-KR" altLang="en-US" sz="900" b="1" dirty="0">
              <a:solidFill>
                <a:prstClr val="black"/>
              </a:solidFill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76A37DB3-05EE-95CD-48CB-E4E9ABDEE5B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1014316"/>
          <a:ext cx="8994883" cy="1407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2834569402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ctrtBngnYmd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ctrtEndYmd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계약번호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계약번호검색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공통팝업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7732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 err="1">
                          <a:latin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</a:rPr>
                        <a:t>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업무구분을 선택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clmBngnYmd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clmEndYmd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청구일자 입력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Y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</a:p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-mm-dd(From-To)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1000611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F5D46A5E-37F4-8517-D03E-37CE77A215D9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2999" y="2740763"/>
          <a:ext cx="8994883" cy="213312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12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4360">
                  <a:extLst>
                    <a:ext uri="{9D8B030D-6E8A-4147-A177-3AD203B41FA5}">
                      <a16:colId xmlns:a16="http://schemas.microsoft.com/office/drawing/2014/main" val="1403555245"/>
                    </a:ext>
                  </a:extLst>
                </a:gridCol>
                <a:gridCol w="2998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9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4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48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항목명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속성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1)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필수여부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latin typeface="+mn-ea"/>
                          <a:ea typeface="+mn-ea"/>
                        </a:rPr>
                        <a:t>자리수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</a:rPr>
                        <a:t>조회결과 자료 순번</a:t>
                      </a:r>
                      <a:endParaRPr lang="en-US" altLang="ko-KR" sz="800" dirty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N/A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rownum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taskSeCd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업무구분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물품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용역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499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birqNo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신청번호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15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8325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clmYmd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청구일자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yyyy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-mm-dd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51094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ctrtNo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계약번호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11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0316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ctrtCycl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차수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18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881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ctrtNm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계약명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300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2347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ctrtAmt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계약금액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915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trgtAmt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수령금액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393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clmAmt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청구금액 조회결과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N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+mn-ea"/>
                          <a:ea typeface="+mn-ea"/>
                        </a:rPr>
                        <a:t>17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90463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93F0D25-F0ED-6C90-FFD8-CA354714AFA7}"/>
              </a:ext>
            </a:extLst>
          </p:cNvPr>
          <p:cNvSpPr txBox="1"/>
          <p:nvPr/>
        </p:nvSpPr>
        <p:spPr>
          <a:xfrm>
            <a:off x="458117" y="4974426"/>
            <a:ext cx="911074" cy="226591"/>
          </a:xfrm>
          <a:prstGeom prst="rect">
            <a:avLst/>
          </a:prstGeom>
          <a:noFill/>
        </p:spPr>
        <p:txBody>
          <a:bodyPr wrap="none" lIns="36000" tIns="36000" rIns="36000" bIns="36000" rtlCol="0">
            <a:spAutoFit/>
          </a:bodyPr>
          <a:lstStyle/>
          <a:p>
            <a:r>
              <a:rPr lang="en-US" altLang="ko-KR" sz="1000" b="1" dirty="0">
                <a:solidFill>
                  <a:prstClr val="black"/>
                </a:solidFill>
              </a:rPr>
              <a:t>2. </a:t>
            </a:r>
            <a:r>
              <a:rPr lang="ko-KR" altLang="en-US" sz="1000" b="1" dirty="0">
                <a:solidFill>
                  <a:prstClr val="black"/>
                </a:solidFill>
              </a:rPr>
              <a:t>이벤트 설명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A926DA9-86BF-3A57-B2B3-A50D61CC8A5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453000" y="5278246"/>
          <a:ext cx="8995591" cy="11414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4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4235">
                  <a:extLst>
                    <a:ext uri="{9D8B030D-6E8A-4147-A177-3AD203B41FA5}">
                      <a16:colId xmlns:a16="http://schemas.microsoft.com/office/drawing/2014/main" val="3103963203"/>
                    </a:ext>
                  </a:extLst>
                </a:gridCol>
                <a:gridCol w="37029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641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한글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이벤트명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영문</a:t>
                      </a:r>
                      <a:r>
                        <a:rPr lang="en-US" altLang="ko-KR" sz="8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en-US" altLang="ko-KR" sz="800" b="1" baseline="30000" dirty="0">
                          <a:latin typeface="+mn-ea"/>
                          <a:ea typeface="+mn-ea"/>
                        </a:rPr>
                        <a:t>2)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On-Load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공통코드를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7313" indent="-87313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상세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scwin.btn_dtl_onclick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대금청구 상세조회 화면을 호출한다</a:t>
                      </a:r>
                      <a:r>
                        <a:rPr lang="en-US" altLang="ko-KR" sz="800" dirty="0"/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(UI-WM-01-M17)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중앙조달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(UI-WM-01-M18)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부대조달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(UI-WM-01-M19)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(UI-WM-01-M20)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dirty="0" err="1">
                          <a:latin typeface="+mn-ea"/>
                          <a:ea typeface="+mn-ea"/>
                        </a:rPr>
                        <a:t>대금청구상세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800" dirty="0">
                          <a:latin typeface="+mn-ea"/>
                          <a:ea typeface="+mn-ea"/>
                        </a:rPr>
                        <a:t>기성대가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18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800" dirty="0"/>
                        <a:t>검색 클릭 이벤트</a:t>
                      </a:r>
                      <a:endParaRPr lang="en-US" altLang="ko-KR" sz="800" dirty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23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 err="1">
                          <a:latin typeface="+mn-ea"/>
                          <a:ea typeface="+mn-ea"/>
                        </a:rPr>
                        <a:t>scwin.btn_srch_onclick</a:t>
                      </a:r>
                      <a:endParaRPr lang="en-US" altLang="ko-KR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800" dirty="0">
                          <a:latin typeface="+mn-ea"/>
                          <a:ea typeface="+mn-ea"/>
                        </a:rPr>
                        <a:t>대금청구진행현황 목록을 조회한다</a:t>
                      </a:r>
                      <a:r>
                        <a:rPr lang="en-US" altLang="ko-KR" sz="8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7564871"/>
                  </a:ext>
                </a:extLst>
              </a:tr>
            </a:tbl>
          </a:graphicData>
        </a:graphic>
      </p:graphicFrame>
      <p:sp>
        <p:nvSpPr>
          <p:cNvPr id="5" name="Text Box 73">
            <a:extLst>
              <a:ext uri="{FF2B5EF4-FFF2-40B4-BE49-F238E27FC236}">
                <a16:creationId xmlns:a16="http://schemas.microsoft.com/office/drawing/2014/main" id="{BF0BCD30-B7AD-5863-DCBB-C31A8722B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2700" y="638760"/>
            <a:ext cx="3571398" cy="107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1)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속성 </a:t>
            </a:r>
            <a:r>
              <a:rPr lang="en-US" altLang="ko-KR" sz="700" dirty="0">
                <a:solidFill>
                  <a:prstClr val="black"/>
                </a:solidFill>
                <a:latin typeface="+mn-ea"/>
              </a:rPr>
              <a:t>R:ReadOnly  E:Editable  H:Hidden     2) </a:t>
            </a: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상세설계 기간에 작성 예정</a:t>
            </a:r>
            <a:endParaRPr lang="en-US" altLang="ko-KR" sz="700" dirty="0">
              <a:solidFill>
                <a:prstClr val="black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7533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13153</TotalTime>
  <Words>8082</Words>
  <Application>Microsoft Office PowerPoint</Application>
  <PresentationFormat>A4 용지(210x297mm)</PresentationFormat>
  <Paragraphs>3813</Paragraphs>
  <Slides>63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69" baseType="lpstr">
      <vt:lpstr>Pretendard Medium</vt:lpstr>
      <vt:lpstr>맑은 고딕</vt:lpstr>
      <vt:lpstr>Arial</vt:lpstr>
      <vt:lpstr>Times New Roman</vt:lpstr>
      <vt:lpstr>Wingdings</vt:lpstr>
      <vt:lpstr>Office 테마</vt:lpstr>
      <vt:lpstr>사용자인터페이스 설계서 - 모바일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LIG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표준서식-PPTX-A4-Landscape</dc:title>
  <dc:subject>프로젝트 명</dc:subject>
  <dc:creator>LIG SYSTEM</dc:creator>
  <cp:keywords>표준서식-PPTX-A4-Landscape</cp:keywords>
  <cp:lastModifiedBy>INSoft</cp:lastModifiedBy>
  <cp:revision>797</cp:revision>
  <cp:lastPrinted>2016-10-27T08:57:39Z</cp:lastPrinted>
  <dcterms:created xsi:type="dcterms:W3CDTF">2016-10-27T07:41:55Z</dcterms:created>
  <dcterms:modified xsi:type="dcterms:W3CDTF">2026-06-12T06:28:06Z</dcterms:modified>
  <cp:category>서브시스템/업무명</cp:category>
  <cp:contentStatus>0.1</cp:contentStatus>
</cp:coreProperties>
</file>