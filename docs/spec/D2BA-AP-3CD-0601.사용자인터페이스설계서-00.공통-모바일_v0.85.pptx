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60" r:id="rId1"/>
  </p:sldMasterIdLst>
  <p:notesMasterIdLst>
    <p:notesMasterId r:id="rId388"/>
  </p:notesMasterIdLst>
  <p:handoutMasterIdLst>
    <p:handoutMasterId r:id="rId389"/>
  </p:handoutMasterIdLst>
  <p:sldIdLst>
    <p:sldId id="256" r:id="rId2"/>
    <p:sldId id="300" r:id="rId3"/>
    <p:sldId id="502" r:id="rId4"/>
    <p:sldId id="295" r:id="rId5"/>
    <p:sldId id="741" r:id="rId6"/>
    <p:sldId id="742" r:id="rId7"/>
    <p:sldId id="294" r:id="rId8"/>
    <p:sldId id="745" r:id="rId9"/>
    <p:sldId id="281" r:id="rId10"/>
    <p:sldId id="265" r:id="rId11"/>
    <p:sldId id="304" r:id="rId12"/>
    <p:sldId id="287" r:id="rId13"/>
    <p:sldId id="270" r:id="rId14"/>
    <p:sldId id="271" r:id="rId15"/>
    <p:sldId id="757" r:id="rId16"/>
    <p:sldId id="743" r:id="rId17"/>
    <p:sldId id="758" r:id="rId18"/>
    <p:sldId id="273" r:id="rId19"/>
    <p:sldId id="275" r:id="rId20"/>
    <p:sldId id="276" r:id="rId21"/>
    <p:sldId id="277" r:id="rId22"/>
    <p:sldId id="279" r:id="rId23"/>
    <p:sldId id="744" r:id="rId24"/>
    <p:sldId id="301" r:id="rId25"/>
    <p:sldId id="503" r:id="rId26"/>
    <p:sldId id="284" r:id="rId27"/>
    <p:sldId id="288" r:id="rId28"/>
    <p:sldId id="289" r:id="rId29"/>
    <p:sldId id="290" r:id="rId30"/>
    <p:sldId id="308" r:id="rId31"/>
    <p:sldId id="309" r:id="rId32"/>
    <p:sldId id="310" r:id="rId33"/>
    <p:sldId id="724" r:id="rId34"/>
    <p:sldId id="780" r:id="rId35"/>
    <p:sldId id="386" r:id="rId36"/>
    <p:sldId id="782" r:id="rId37"/>
    <p:sldId id="313" r:id="rId38"/>
    <p:sldId id="783" r:id="rId39"/>
    <p:sldId id="779" r:id="rId40"/>
    <p:sldId id="420" r:id="rId41"/>
    <p:sldId id="311" r:id="rId42"/>
    <p:sldId id="777" r:id="rId43"/>
    <p:sldId id="778" r:id="rId44"/>
    <p:sldId id="314" r:id="rId45"/>
    <p:sldId id="715" r:id="rId46"/>
    <p:sldId id="317" r:id="rId47"/>
    <p:sldId id="322" r:id="rId48"/>
    <p:sldId id="716" r:id="rId49"/>
    <p:sldId id="781" r:id="rId50"/>
    <p:sldId id="318" r:id="rId51"/>
    <p:sldId id="323" r:id="rId52"/>
    <p:sldId id="717" r:id="rId53"/>
    <p:sldId id="324" r:id="rId54"/>
    <p:sldId id="718" r:id="rId55"/>
    <p:sldId id="319" r:id="rId56"/>
    <p:sldId id="315" r:id="rId57"/>
    <p:sldId id="316" r:id="rId58"/>
    <p:sldId id="321" r:id="rId59"/>
    <p:sldId id="320" r:id="rId60"/>
    <p:sldId id="326" r:id="rId61"/>
    <p:sldId id="325" r:id="rId62"/>
    <p:sldId id="759" r:id="rId63"/>
    <p:sldId id="327" r:id="rId64"/>
    <p:sldId id="328" r:id="rId65"/>
    <p:sldId id="330" r:id="rId66"/>
    <p:sldId id="329" r:id="rId67"/>
    <p:sldId id="331" r:id="rId68"/>
    <p:sldId id="746" r:id="rId69"/>
    <p:sldId id="374" r:id="rId70"/>
    <p:sldId id="375" r:id="rId71"/>
    <p:sldId id="760" r:id="rId72"/>
    <p:sldId id="332" r:id="rId73"/>
    <p:sldId id="371" r:id="rId74"/>
    <p:sldId id="372" r:id="rId75"/>
    <p:sldId id="373" r:id="rId76"/>
    <p:sldId id="747" r:id="rId77"/>
    <p:sldId id="762" r:id="rId78"/>
    <p:sldId id="748" r:id="rId79"/>
    <p:sldId id="761" r:id="rId80"/>
    <p:sldId id="749" r:id="rId81"/>
    <p:sldId id="378" r:id="rId82"/>
    <p:sldId id="379" r:id="rId83"/>
    <p:sldId id="725" r:id="rId84"/>
    <p:sldId id="380" r:id="rId85"/>
    <p:sldId id="381" r:id="rId86"/>
    <p:sldId id="382" r:id="rId87"/>
    <p:sldId id="383" r:id="rId88"/>
    <p:sldId id="726" r:id="rId89"/>
    <p:sldId id="727" r:id="rId90"/>
    <p:sldId id="384" r:id="rId91"/>
    <p:sldId id="728" r:id="rId92"/>
    <p:sldId id="385" r:id="rId93"/>
    <p:sldId id="400" r:id="rId94"/>
    <p:sldId id="401" r:id="rId95"/>
    <p:sldId id="729" r:id="rId96"/>
    <p:sldId id="402" r:id="rId97"/>
    <p:sldId id="504" r:id="rId98"/>
    <p:sldId id="403" r:id="rId99"/>
    <p:sldId id="770" r:id="rId100"/>
    <p:sldId id="404" r:id="rId101"/>
    <p:sldId id="771" r:id="rId102"/>
    <p:sldId id="730" r:id="rId103"/>
    <p:sldId id="731" r:id="rId104"/>
    <p:sldId id="732" r:id="rId105"/>
    <p:sldId id="733" r:id="rId106"/>
    <p:sldId id="734" r:id="rId107"/>
    <p:sldId id="735" r:id="rId108"/>
    <p:sldId id="736" r:id="rId109"/>
    <p:sldId id="405" r:id="rId110"/>
    <p:sldId id="737" r:id="rId111"/>
    <p:sldId id="406" r:id="rId112"/>
    <p:sldId id="738" r:id="rId113"/>
    <p:sldId id="626" r:id="rId114"/>
    <p:sldId id="407" r:id="rId115"/>
    <p:sldId id="408" r:id="rId116"/>
    <p:sldId id="739" r:id="rId117"/>
    <p:sldId id="409" r:id="rId118"/>
    <p:sldId id="740" r:id="rId119"/>
    <p:sldId id="410" r:id="rId120"/>
    <p:sldId id="577" r:id="rId121"/>
    <p:sldId id="411" r:id="rId122"/>
    <p:sldId id="772" r:id="rId123"/>
    <p:sldId id="412" r:id="rId124"/>
    <p:sldId id="505" r:id="rId125"/>
    <p:sldId id="506" r:id="rId126"/>
    <p:sldId id="507" r:id="rId127"/>
    <p:sldId id="508" r:id="rId128"/>
    <p:sldId id="413" r:id="rId129"/>
    <p:sldId id="719" r:id="rId130"/>
    <p:sldId id="414" r:id="rId131"/>
    <p:sldId id="509" r:id="rId132"/>
    <p:sldId id="510" r:id="rId133"/>
    <p:sldId id="511" r:id="rId134"/>
    <p:sldId id="512" r:id="rId135"/>
    <p:sldId id="513" r:id="rId136"/>
    <p:sldId id="514" r:id="rId137"/>
    <p:sldId id="515" r:id="rId138"/>
    <p:sldId id="516" r:id="rId139"/>
    <p:sldId id="415" r:id="rId140"/>
    <p:sldId id="518" r:id="rId141"/>
    <p:sldId id="519" r:id="rId142"/>
    <p:sldId id="517" r:id="rId143"/>
    <p:sldId id="521" r:id="rId144"/>
    <p:sldId id="773" r:id="rId145"/>
    <p:sldId id="524" r:id="rId146"/>
    <p:sldId id="522" r:id="rId147"/>
    <p:sldId id="525" r:id="rId148"/>
    <p:sldId id="526" r:id="rId149"/>
    <p:sldId id="720" r:id="rId150"/>
    <p:sldId id="528" r:id="rId151"/>
    <p:sldId id="529" r:id="rId152"/>
    <p:sldId id="530" r:id="rId153"/>
    <p:sldId id="531" r:id="rId154"/>
    <p:sldId id="532" r:id="rId155"/>
    <p:sldId id="541" r:id="rId156"/>
    <p:sldId id="756" r:id="rId157"/>
    <p:sldId id="536" r:id="rId158"/>
    <p:sldId id="537" r:id="rId159"/>
    <p:sldId id="538" r:id="rId160"/>
    <p:sldId id="539" r:id="rId161"/>
    <p:sldId id="540" r:id="rId162"/>
    <p:sldId id="533" r:id="rId163"/>
    <p:sldId id="535" r:id="rId164"/>
    <p:sldId id="542" r:id="rId165"/>
    <p:sldId id="543" r:id="rId166"/>
    <p:sldId id="544" r:id="rId167"/>
    <p:sldId id="545" r:id="rId168"/>
    <p:sldId id="546" r:id="rId169"/>
    <p:sldId id="547" r:id="rId170"/>
    <p:sldId id="548" r:id="rId171"/>
    <p:sldId id="549" r:id="rId172"/>
    <p:sldId id="550" r:id="rId173"/>
    <p:sldId id="551" r:id="rId174"/>
    <p:sldId id="552" r:id="rId175"/>
    <p:sldId id="553" r:id="rId176"/>
    <p:sldId id="556" r:id="rId177"/>
    <p:sldId id="557" r:id="rId178"/>
    <p:sldId id="560" r:id="rId179"/>
    <p:sldId id="558" r:id="rId180"/>
    <p:sldId id="559" r:id="rId181"/>
    <p:sldId id="555" r:id="rId182"/>
    <p:sldId id="554" r:id="rId183"/>
    <p:sldId id="561" r:id="rId184"/>
    <p:sldId id="562" r:id="rId185"/>
    <p:sldId id="563" r:id="rId186"/>
    <p:sldId id="564" r:id="rId187"/>
    <p:sldId id="565" r:id="rId188"/>
    <p:sldId id="566" r:id="rId189"/>
    <p:sldId id="569" r:id="rId190"/>
    <p:sldId id="567" r:id="rId191"/>
    <p:sldId id="568" r:id="rId192"/>
    <p:sldId id="570" r:id="rId193"/>
    <p:sldId id="571" r:id="rId194"/>
    <p:sldId id="572" r:id="rId195"/>
    <p:sldId id="722" r:id="rId196"/>
    <p:sldId id="574" r:id="rId197"/>
    <p:sldId id="578" r:id="rId198"/>
    <p:sldId id="575" r:id="rId199"/>
    <p:sldId id="576" r:id="rId200"/>
    <p:sldId id="590" r:id="rId201"/>
    <p:sldId id="591" r:id="rId202"/>
    <p:sldId id="592" r:id="rId203"/>
    <p:sldId id="588" r:id="rId204"/>
    <p:sldId id="589" r:id="rId205"/>
    <p:sldId id="593" r:id="rId206"/>
    <p:sldId id="595" r:id="rId207"/>
    <p:sldId id="596" r:id="rId208"/>
    <p:sldId id="594" r:id="rId209"/>
    <p:sldId id="579" r:id="rId210"/>
    <p:sldId id="583" r:id="rId211"/>
    <p:sldId id="580" r:id="rId212"/>
    <p:sldId id="582" r:id="rId213"/>
    <p:sldId id="584" r:id="rId214"/>
    <p:sldId id="587" r:id="rId215"/>
    <p:sldId id="586" r:id="rId216"/>
    <p:sldId id="585" r:id="rId217"/>
    <p:sldId id="337" r:id="rId218"/>
    <p:sldId id="763" r:id="rId219"/>
    <p:sldId id="764" r:id="rId220"/>
    <p:sldId id="765" r:id="rId221"/>
    <p:sldId id="338" r:id="rId222"/>
    <p:sldId id="766" r:id="rId223"/>
    <p:sldId id="750" r:id="rId224"/>
    <p:sldId id="767" r:id="rId225"/>
    <p:sldId id="768" r:id="rId226"/>
    <p:sldId id="388" r:id="rId227"/>
    <p:sldId id="611" r:id="rId228"/>
    <p:sldId id="612" r:id="rId229"/>
    <p:sldId id="613" r:id="rId230"/>
    <p:sldId id="614" r:id="rId231"/>
    <p:sldId id="615" r:id="rId232"/>
    <p:sldId id="616" r:id="rId233"/>
    <p:sldId id="617" r:id="rId234"/>
    <p:sldId id="389" r:id="rId235"/>
    <p:sldId id="618" r:id="rId236"/>
    <p:sldId id="619" r:id="rId237"/>
    <p:sldId id="620" r:id="rId238"/>
    <p:sldId id="621" r:id="rId239"/>
    <p:sldId id="622" r:id="rId240"/>
    <p:sldId id="623" r:id="rId241"/>
    <p:sldId id="624" r:id="rId242"/>
    <p:sldId id="390" r:id="rId243"/>
    <p:sldId id="627" r:id="rId244"/>
    <p:sldId id="774" r:id="rId245"/>
    <p:sldId id="392" r:id="rId246"/>
    <p:sldId id="393" r:id="rId247"/>
    <p:sldId id="787" r:id="rId248"/>
    <p:sldId id="628" r:id="rId249"/>
    <p:sldId id="629" r:id="rId250"/>
    <p:sldId id="394" r:id="rId251"/>
    <p:sldId id="775" r:id="rId252"/>
    <p:sldId id="630" r:id="rId253"/>
    <p:sldId id="631" r:id="rId254"/>
    <p:sldId id="632" r:id="rId255"/>
    <p:sldId id="633" r:id="rId256"/>
    <p:sldId id="634" r:id="rId257"/>
    <p:sldId id="635" r:id="rId258"/>
    <p:sldId id="636" r:id="rId259"/>
    <p:sldId id="637" r:id="rId260"/>
    <p:sldId id="638" r:id="rId261"/>
    <p:sldId id="639" r:id="rId262"/>
    <p:sldId id="640" r:id="rId263"/>
    <p:sldId id="641" r:id="rId264"/>
    <p:sldId id="642" r:id="rId265"/>
    <p:sldId id="643" r:id="rId266"/>
    <p:sldId id="644" r:id="rId267"/>
    <p:sldId id="645" r:id="rId268"/>
    <p:sldId id="646" r:id="rId269"/>
    <p:sldId id="647" r:id="rId270"/>
    <p:sldId id="668" r:id="rId271"/>
    <p:sldId id="669" r:id="rId272"/>
    <p:sldId id="670" r:id="rId273"/>
    <p:sldId id="648" r:id="rId274"/>
    <p:sldId id="649" r:id="rId275"/>
    <p:sldId id="650" r:id="rId276"/>
    <p:sldId id="723" r:id="rId277"/>
    <p:sldId id="652" r:id="rId278"/>
    <p:sldId id="653" r:id="rId279"/>
    <p:sldId id="654" r:id="rId280"/>
    <p:sldId id="655" r:id="rId281"/>
    <p:sldId id="656" r:id="rId282"/>
    <p:sldId id="657" r:id="rId283"/>
    <p:sldId id="658" r:id="rId284"/>
    <p:sldId id="659" r:id="rId285"/>
    <p:sldId id="660" r:id="rId286"/>
    <p:sldId id="661" r:id="rId287"/>
    <p:sldId id="662" r:id="rId288"/>
    <p:sldId id="663" r:id="rId289"/>
    <p:sldId id="664" r:id="rId290"/>
    <p:sldId id="665" r:id="rId291"/>
    <p:sldId id="666" r:id="rId292"/>
    <p:sldId id="667" r:id="rId293"/>
    <p:sldId id="776" r:id="rId294"/>
    <p:sldId id="395" r:id="rId295"/>
    <p:sldId id="671" r:id="rId296"/>
    <p:sldId id="672" r:id="rId297"/>
    <p:sldId id="673" r:id="rId298"/>
    <p:sldId id="674" r:id="rId299"/>
    <p:sldId id="675" r:id="rId300"/>
    <p:sldId id="676" r:id="rId301"/>
    <p:sldId id="677" r:id="rId302"/>
    <p:sldId id="678" r:id="rId303"/>
    <p:sldId id="679" r:id="rId304"/>
    <p:sldId id="680" r:id="rId305"/>
    <p:sldId id="681" r:id="rId306"/>
    <p:sldId id="682" r:id="rId307"/>
    <p:sldId id="683" r:id="rId308"/>
    <p:sldId id="684" r:id="rId309"/>
    <p:sldId id="685" r:id="rId310"/>
    <p:sldId id="686" r:id="rId311"/>
    <p:sldId id="687" r:id="rId312"/>
    <p:sldId id="688" r:id="rId313"/>
    <p:sldId id="689" r:id="rId314"/>
    <p:sldId id="690" r:id="rId315"/>
    <p:sldId id="691" r:id="rId316"/>
    <p:sldId id="692" r:id="rId317"/>
    <p:sldId id="693" r:id="rId318"/>
    <p:sldId id="694" r:id="rId319"/>
    <p:sldId id="695" r:id="rId320"/>
    <p:sldId id="696" r:id="rId321"/>
    <p:sldId id="697" r:id="rId322"/>
    <p:sldId id="698" r:id="rId323"/>
    <p:sldId id="699" r:id="rId324"/>
    <p:sldId id="700" r:id="rId325"/>
    <p:sldId id="701" r:id="rId326"/>
    <p:sldId id="702" r:id="rId327"/>
    <p:sldId id="703" r:id="rId328"/>
    <p:sldId id="704" r:id="rId329"/>
    <p:sldId id="705" r:id="rId330"/>
    <p:sldId id="706" r:id="rId331"/>
    <p:sldId id="707" r:id="rId332"/>
    <p:sldId id="708" r:id="rId333"/>
    <p:sldId id="709" r:id="rId334"/>
    <p:sldId id="710" r:id="rId335"/>
    <p:sldId id="711" r:id="rId336"/>
    <p:sldId id="712" r:id="rId337"/>
    <p:sldId id="713" r:id="rId338"/>
    <p:sldId id="597" r:id="rId339"/>
    <p:sldId id="599" r:id="rId340"/>
    <p:sldId id="600" r:id="rId341"/>
    <p:sldId id="598" r:id="rId342"/>
    <p:sldId id="601" r:id="rId343"/>
    <p:sldId id="602" r:id="rId344"/>
    <p:sldId id="603" r:id="rId345"/>
    <p:sldId id="604" r:id="rId346"/>
    <p:sldId id="605" r:id="rId347"/>
    <p:sldId id="340" r:id="rId348"/>
    <p:sldId id="341" r:id="rId349"/>
    <p:sldId id="751" r:id="rId350"/>
    <p:sldId id="365" r:id="rId351"/>
    <p:sldId id="366" r:id="rId352"/>
    <p:sldId id="367" r:id="rId353"/>
    <p:sldId id="368" r:id="rId354"/>
    <p:sldId id="369" r:id="rId355"/>
    <p:sldId id="370" r:id="rId356"/>
    <p:sldId id="387" r:id="rId357"/>
    <p:sldId id="356" r:id="rId358"/>
    <p:sldId id="357" r:id="rId359"/>
    <p:sldId id="753" r:id="rId360"/>
    <p:sldId id="359" r:id="rId361"/>
    <p:sldId id="360" r:id="rId362"/>
    <p:sldId id="361" r:id="rId363"/>
    <p:sldId id="755" r:id="rId364"/>
    <p:sldId id="363" r:id="rId365"/>
    <p:sldId id="364" r:id="rId366"/>
    <p:sldId id="344" r:id="rId367"/>
    <p:sldId id="345" r:id="rId368"/>
    <p:sldId id="752" r:id="rId369"/>
    <p:sldId id="343" r:id="rId370"/>
    <p:sldId id="347" r:id="rId371"/>
    <p:sldId id="348" r:id="rId372"/>
    <p:sldId id="349" r:id="rId373"/>
    <p:sldId id="350" r:id="rId374"/>
    <p:sldId id="351" r:id="rId375"/>
    <p:sldId id="352" r:id="rId376"/>
    <p:sldId id="353" r:id="rId377"/>
    <p:sldId id="354" r:id="rId378"/>
    <p:sldId id="786" r:id="rId379"/>
    <p:sldId id="769" r:id="rId380"/>
    <p:sldId id="784" r:id="rId381"/>
    <p:sldId id="785" r:id="rId382"/>
    <p:sldId id="608" r:id="rId383"/>
    <p:sldId id="609" r:id="rId384"/>
    <p:sldId id="754" r:id="rId385"/>
    <p:sldId id="607" r:id="rId386"/>
    <p:sldId id="625" r:id="rId387"/>
  </p:sldIdLst>
  <p:sldSz cx="9906000" cy="6858000" type="A4"/>
  <p:notesSz cx="6797675" cy="99266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B2DA4170-F762-425B-95F8-DAAFDEEB0953}">
          <p14:sldIdLst>
            <p14:sldId id="256"/>
            <p14:sldId id="300"/>
            <p14:sldId id="502"/>
            <p14:sldId id="295"/>
            <p14:sldId id="741"/>
            <p14:sldId id="742"/>
          </p14:sldIdLst>
        </p14:section>
        <p14:section name="01.앱실행, 로그인" id="{7E43C6AD-2135-422B-B2B2-E0906DF4CC1E}">
          <p14:sldIdLst>
            <p14:sldId id="294"/>
            <p14:sldId id="745"/>
            <p14:sldId id="281"/>
            <p14:sldId id="265"/>
            <p14:sldId id="304"/>
            <p14:sldId id="287"/>
            <p14:sldId id="270"/>
            <p14:sldId id="271"/>
            <p14:sldId id="757"/>
            <p14:sldId id="743"/>
            <p14:sldId id="758"/>
            <p14:sldId id="273"/>
            <p14:sldId id="275"/>
            <p14:sldId id="276"/>
            <p14:sldId id="277"/>
            <p14:sldId id="279"/>
            <p14:sldId id="744"/>
            <p14:sldId id="301"/>
            <p14:sldId id="503"/>
            <p14:sldId id="284"/>
            <p14:sldId id="288"/>
            <p14:sldId id="289"/>
            <p14:sldId id="290"/>
            <p14:sldId id="308"/>
            <p14:sldId id="309"/>
            <p14:sldId id="310"/>
            <p14:sldId id="724"/>
            <p14:sldId id="780"/>
            <p14:sldId id="386"/>
            <p14:sldId id="782"/>
            <p14:sldId id="313"/>
            <p14:sldId id="783"/>
            <p14:sldId id="779"/>
            <p14:sldId id="420"/>
            <p14:sldId id="311"/>
            <p14:sldId id="777"/>
            <p14:sldId id="778"/>
            <p14:sldId id="314"/>
            <p14:sldId id="715"/>
            <p14:sldId id="317"/>
            <p14:sldId id="322"/>
            <p14:sldId id="716"/>
            <p14:sldId id="781"/>
            <p14:sldId id="318"/>
            <p14:sldId id="323"/>
            <p14:sldId id="717"/>
            <p14:sldId id="324"/>
            <p14:sldId id="718"/>
            <p14:sldId id="319"/>
            <p14:sldId id="315"/>
            <p14:sldId id="316"/>
            <p14:sldId id="321"/>
            <p14:sldId id="320"/>
            <p14:sldId id="326"/>
            <p14:sldId id="325"/>
            <p14:sldId id="759"/>
            <p14:sldId id="327"/>
            <p14:sldId id="328"/>
            <p14:sldId id="330"/>
            <p14:sldId id="329"/>
          </p14:sldIdLst>
        </p14:section>
        <p14:section name="02.마이페이지" id="{0DFCED7B-14DB-43DA-80A6-9739242572F6}">
          <p14:sldIdLst>
            <p14:sldId id="331"/>
            <p14:sldId id="746"/>
            <p14:sldId id="374"/>
            <p14:sldId id="375"/>
            <p14:sldId id="760"/>
            <p14:sldId id="332"/>
            <p14:sldId id="371"/>
            <p14:sldId id="372"/>
            <p14:sldId id="373"/>
            <p14:sldId id="747"/>
            <p14:sldId id="762"/>
            <p14:sldId id="748"/>
            <p14:sldId id="761"/>
            <p14:sldId id="749"/>
            <p14:sldId id="378"/>
            <p14:sldId id="379"/>
            <p14:sldId id="725"/>
            <p14:sldId id="380"/>
            <p14:sldId id="381"/>
            <p14:sldId id="382"/>
            <p14:sldId id="383"/>
            <p14:sldId id="726"/>
            <p14:sldId id="727"/>
            <p14:sldId id="384"/>
            <p14:sldId id="728"/>
            <p14:sldId id="385"/>
            <p14:sldId id="400"/>
            <p14:sldId id="401"/>
            <p14:sldId id="729"/>
            <p14:sldId id="402"/>
            <p14:sldId id="504"/>
            <p14:sldId id="403"/>
            <p14:sldId id="770"/>
            <p14:sldId id="404"/>
            <p14:sldId id="771"/>
            <p14:sldId id="730"/>
            <p14:sldId id="731"/>
            <p14:sldId id="732"/>
            <p14:sldId id="733"/>
            <p14:sldId id="734"/>
            <p14:sldId id="735"/>
            <p14:sldId id="736"/>
            <p14:sldId id="405"/>
            <p14:sldId id="737"/>
            <p14:sldId id="406"/>
            <p14:sldId id="738"/>
            <p14:sldId id="626"/>
            <p14:sldId id="407"/>
            <p14:sldId id="408"/>
            <p14:sldId id="739"/>
            <p14:sldId id="409"/>
            <p14:sldId id="740"/>
          </p14:sldIdLst>
        </p14:section>
        <p14:section name="업체정보관리" id="{50D8D151-F082-4229-B97C-00A16B270850}">
          <p14:sldIdLst>
            <p14:sldId id="410"/>
            <p14:sldId id="577"/>
            <p14:sldId id="411"/>
            <p14:sldId id="772"/>
            <p14:sldId id="412"/>
            <p14:sldId id="505"/>
            <p14:sldId id="506"/>
            <p14:sldId id="507"/>
            <p14:sldId id="508"/>
            <p14:sldId id="413"/>
            <p14:sldId id="719"/>
            <p14:sldId id="414"/>
            <p14:sldId id="509"/>
            <p14:sldId id="510"/>
            <p14:sldId id="511"/>
            <p14:sldId id="512"/>
            <p14:sldId id="513"/>
            <p14:sldId id="514"/>
            <p14:sldId id="515"/>
            <p14:sldId id="516"/>
            <p14:sldId id="415"/>
            <p14:sldId id="518"/>
            <p14:sldId id="519"/>
            <p14:sldId id="517"/>
            <p14:sldId id="521"/>
            <p14:sldId id="773"/>
            <p14:sldId id="524"/>
            <p14:sldId id="522"/>
            <p14:sldId id="525"/>
            <p14:sldId id="526"/>
            <p14:sldId id="720"/>
            <p14:sldId id="528"/>
            <p14:sldId id="529"/>
            <p14:sldId id="530"/>
            <p14:sldId id="531"/>
            <p14:sldId id="532"/>
            <p14:sldId id="541"/>
            <p14:sldId id="756"/>
            <p14:sldId id="536"/>
            <p14:sldId id="537"/>
            <p14:sldId id="538"/>
            <p14:sldId id="539"/>
            <p14:sldId id="540"/>
            <p14:sldId id="533"/>
            <p14:sldId id="535"/>
            <p14:sldId id="542"/>
            <p14:sldId id="543"/>
            <p14:sldId id="544"/>
            <p14:sldId id="545"/>
            <p14:sldId id="546"/>
            <p14:sldId id="547"/>
            <p14:sldId id="548"/>
            <p14:sldId id="549"/>
            <p14:sldId id="550"/>
            <p14:sldId id="551"/>
            <p14:sldId id="552"/>
            <p14:sldId id="553"/>
            <p14:sldId id="556"/>
            <p14:sldId id="557"/>
            <p14:sldId id="560"/>
            <p14:sldId id="558"/>
            <p14:sldId id="559"/>
            <p14:sldId id="555"/>
            <p14:sldId id="554"/>
            <p14:sldId id="561"/>
            <p14:sldId id="562"/>
            <p14:sldId id="563"/>
            <p14:sldId id="564"/>
            <p14:sldId id="565"/>
            <p14:sldId id="566"/>
            <p14:sldId id="569"/>
            <p14:sldId id="567"/>
            <p14:sldId id="568"/>
            <p14:sldId id="570"/>
            <p14:sldId id="571"/>
            <p14:sldId id="572"/>
            <p14:sldId id="722"/>
          </p14:sldIdLst>
        </p14:section>
        <p14:section name="사용자정보관리" id="{41411C3E-8007-4445-AF0C-3F184754AE3A}">
          <p14:sldIdLst>
            <p14:sldId id="574"/>
            <p14:sldId id="578"/>
            <p14:sldId id="575"/>
            <p14:sldId id="576"/>
            <p14:sldId id="590"/>
            <p14:sldId id="591"/>
            <p14:sldId id="592"/>
            <p14:sldId id="588"/>
            <p14:sldId id="589"/>
            <p14:sldId id="593"/>
            <p14:sldId id="595"/>
            <p14:sldId id="596"/>
            <p14:sldId id="594"/>
            <p14:sldId id="579"/>
            <p14:sldId id="583"/>
            <p14:sldId id="580"/>
            <p14:sldId id="582"/>
            <p14:sldId id="584"/>
            <p14:sldId id="587"/>
            <p14:sldId id="586"/>
            <p14:sldId id="585"/>
          </p14:sldIdLst>
        </p14:section>
        <p14:section name="03.고객센터" id="{31AD4FE9-64B7-4CD8-8B66-89803A7FBCEB}">
          <p14:sldIdLst>
            <p14:sldId id="337"/>
            <p14:sldId id="763"/>
            <p14:sldId id="764"/>
            <p14:sldId id="765"/>
            <p14:sldId id="338"/>
            <p14:sldId id="766"/>
            <p14:sldId id="750"/>
            <p14:sldId id="767"/>
            <p14:sldId id="768"/>
            <p14:sldId id="388"/>
            <p14:sldId id="611"/>
            <p14:sldId id="612"/>
            <p14:sldId id="613"/>
            <p14:sldId id="614"/>
            <p14:sldId id="615"/>
            <p14:sldId id="616"/>
            <p14:sldId id="617"/>
            <p14:sldId id="389"/>
            <p14:sldId id="618"/>
            <p14:sldId id="619"/>
            <p14:sldId id="620"/>
            <p14:sldId id="621"/>
            <p14:sldId id="622"/>
            <p14:sldId id="623"/>
            <p14:sldId id="624"/>
            <p14:sldId id="390"/>
            <p14:sldId id="627"/>
            <p14:sldId id="774"/>
            <p14:sldId id="392"/>
            <p14:sldId id="393"/>
            <p14:sldId id="787"/>
            <p14:sldId id="628"/>
            <p14:sldId id="629"/>
            <p14:sldId id="394"/>
            <p14:sldId id="775"/>
            <p14:sldId id="630"/>
            <p14:sldId id="631"/>
            <p14:sldId id="632"/>
            <p14:sldId id="633"/>
            <p14:sldId id="634"/>
            <p14:sldId id="635"/>
            <p14:sldId id="636"/>
            <p14:sldId id="637"/>
            <p14:sldId id="638"/>
            <p14:sldId id="639"/>
            <p14:sldId id="640"/>
            <p14:sldId id="641"/>
            <p14:sldId id="642"/>
            <p14:sldId id="643"/>
            <p14:sldId id="644"/>
            <p14:sldId id="645"/>
            <p14:sldId id="646"/>
            <p14:sldId id="647"/>
            <p14:sldId id="668"/>
            <p14:sldId id="669"/>
            <p14:sldId id="670"/>
            <p14:sldId id="648"/>
            <p14:sldId id="649"/>
            <p14:sldId id="650"/>
            <p14:sldId id="723"/>
            <p14:sldId id="652"/>
            <p14:sldId id="653"/>
            <p14:sldId id="654"/>
            <p14:sldId id="655"/>
            <p14:sldId id="656"/>
            <p14:sldId id="657"/>
            <p14:sldId id="658"/>
            <p14:sldId id="659"/>
            <p14:sldId id="660"/>
            <p14:sldId id="661"/>
            <p14:sldId id="662"/>
            <p14:sldId id="663"/>
            <p14:sldId id="664"/>
            <p14:sldId id="665"/>
            <p14:sldId id="666"/>
            <p14:sldId id="667"/>
            <p14:sldId id="776"/>
            <p14:sldId id="395"/>
            <p14:sldId id="671"/>
            <p14:sldId id="672"/>
            <p14:sldId id="673"/>
            <p14:sldId id="674"/>
            <p14:sldId id="675"/>
            <p14:sldId id="676"/>
            <p14:sldId id="677"/>
            <p14:sldId id="678"/>
            <p14:sldId id="679"/>
            <p14:sldId id="680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689"/>
            <p14:sldId id="690"/>
            <p14:sldId id="691"/>
            <p14:sldId id="692"/>
            <p14:sldId id="693"/>
            <p14:sldId id="694"/>
            <p14:sldId id="695"/>
            <p14:sldId id="696"/>
            <p14:sldId id="697"/>
            <p14:sldId id="698"/>
            <p14:sldId id="699"/>
            <p14:sldId id="700"/>
            <p14:sldId id="701"/>
            <p14:sldId id="702"/>
            <p14:sldId id="703"/>
            <p14:sldId id="704"/>
            <p14:sldId id="705"/>
            <p14:sldId id="706"/>
            <p14:sldId id="707"/>
            <p14:sldId id="708"/>
            <p14:sldId id="709"/>
            <p14:sldId id="710"/>
            <p14:sldId id="711"/>
            <p14:sldId id="712"/>
            <p14:sldId id="713"/>
            <p14:sldId id="597"/>
            <p14:sldId id="599"/>
            <p14:sldId id="600"/>
            <p14:sldId id="598"/>
            <p14:sldId id="601"/>
            <p14:sldId id="602"/>
            <p14:sldId id="603"/>
            <p14:sldId id="604"/>
            <p14:sldId id="605"/>
          </p14:sldIdLst>
        </p14:section>
        <p14:section name="04.인증센터" id="{370026AB-4560-42C7-933C-20AD7FF7D4C7}">
          <p14:sldIdLst>
            <p14:sldId id="340"/>
            <p14:sldId id="341"/>
            <p14:sldId id="751"/>
            <p14:sldId id="365"/>
            <p14:sldId id="366"/>
            <p14:sldId id="367"/>
            <p14:sldId id="368"/>
            <p14:sldId id="369"/>
            <p14:sldId id="370"/>
            <p14:sldId id="387"/>
          </p14:sldIdLst>
        </p14:section>
        <p14:section name="05.국방전자조달 소개" id="{317907BD-AF37-4930-AA6E-11361BD27737}">
          <p14:sldIdLst>
            <p14:sldId id="356"/>
            <p14:sldId id="357"/>
            <p14:sldId id="753"/>
            <p14:sldId id="359"/>
            <p14:sldId id="360"/>
            <p14:sldId id="361"/>
            <p14:sldId id="755"/>
            <p14:sldId id="363"/>
            <p14:sldId id="364"/>
          </p14:sldIdLst>
        </p14:section>
        <p14:section name="06.이용안내" id="{2AA9B4A0-6D89-4E2A-BCBC-A38FB8486982}">
          <p14:sldIdLst>
            <p14:sldId id="344"/>
            <p14:sldId id="345"/>
            <p14:sldId id="752"/>
            <p14:sldId id="343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  <p14:sldId id="786"/>
            <p14:sldId id="769"/>
            <p14:sldId id="784"/>
            <p14:sldId id="785"/>
          </p14:sldIdLst>
        </p14:section>
        <p14:section name="07. 앱설정" id="{8336C8C1-3D30-4EFD-A9FE-B72CDC643A19}">
          <p14:sldIdLst>
            <p14:sldId id="608"/>
            <p14:sldId id="609"/>
            <p14:sldId id="754"/>
            <p14:sldId id="607"/>
            <p14:sldId id="625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D0D0D"/>
    <a:srgbClr val="FFFFFF"/>
    <a:srgbClr val="000000"/>
    <a:srgbClr val="5B9B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869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1770" y="10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81" d="100"/>
          <a:sy n="81" d="100"/>
        </p:scale>
        <p:origin x="3996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388" Type="http://schemas.openxmlformats.org/officeDocument/2006/relationships/notesMaster" Target="notesMasters/notesMaster1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390" Type="http://schemas.openxmlformats.org/officeDocument/2006/relationships/presProps" Target="presProps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theme" Target="theme/theme1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393" Type="http://schemas.openxmlformats.org/officeDocument/2006/relationships/tableStyles" Target="tableStyles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slide" Target="slides/slide382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slide" Target="slides/slide383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slide" Target="slides/slide38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handoutMaster" Target="handoutMasters/handoutMaster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viewProps" Target="viewProps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220" Type="http://schemas.openxmlformats.org/officeDocument/2006/relationships/slide" Target="slides/slide219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486772-663E-498C-98A4-55676C0C79D5}" type="datetimeFigureOut">
              <a:rPr lang="ko-KR" altLang="en-US" smtClean="0"/>
              <a:t>2026-07-29 (Wednesday)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728BB6-27BE-4996-B82F-8E6CE98335C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190483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880DED-BD55-4631-A63F-CC2459F192F4}" type="datetimeFigureOut">
              <a:rPr lang="ko-KR" altLang="en-US" smtClean="0"/>
              <a:t>2026-07-29 (Wednesday)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1425"/>
            <a:ext cx="48355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1E14ED1-D705-4645-B89F-2D03A70CCA7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77305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7018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607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32370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34359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07684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>
            <a:extLst>
              <a:ext uri="{FF2B5EF4-FFF2-40B4-BE49-F238E27FC236}">
                <a16:creationId xmlns:a16="http://schemas.microsoft.com/office/drawing/2014/main" id="{D56036D5-DD5F-441E-9594-5002CA0E85B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4295427" y="5938279"/>
            <a:ext cx="1331674" cy="16489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46694" y="1306235"/>
            <a:ext cx="8640000" cy="612000"/>
          </a:xfrm>
          <a:prstGeom prst="rect">
            <a:avLst/>
          </a:prstGeom>
          <a:ln w="12700">
            <a:noFill/>
          </a:ln>
        </p:spPr>
        <p:txBody>
          <a:bodyPr anchor="b"/>
          <a:lstStyle>
            <a:lvl1pPr algn="r">
              <a:lnSpc>
                <a:spcPct val="100000"/>
              </a:lnSpc>
              <a:defRPr sz="2400" b="1" u="none"/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669" y="1942226"/>
            <a:ext cx="8649025" cy="396376"/>
          </a:xfrm>
          <a:prstGeom prst="rect">
            <a:avLst/>
          </a:prstGeom>
        </p:spPr>
        <p:txBody>
          <a:bodyPr anchor="ctr"/>
          <a:lstStyle>
            <a:lvl1pPr marL="0" indent="0" algn="r">
              <a:lnSpc>
                <a:spcPct val="100000"/>
              </a:lnSpc>
              <a:buNone/>
              <a:defRPr sz="1600" b="1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637669" y="1925053"/>
            <a:ext cx="86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54155541"/>
              </p:ext>
            </p:extLst>
          </p:nvPr>
        </p:nvGraphicFramePr>
        <p:xfrm>
          <a:off x="4551204" y="3815479"/>
          <a:ext cx="4744543" cy="952503"/>
        </p:xfrm>
        <a:graphic>
          <a:graphicData uri="http://schemas.openxmlformats.org/drawingml/2006/table">
            <a:tbl>
              <a:tblPr firstRow="1" firstCol="1" bandRow="1"/>
              <a:tblGrid>
                <a:gridCol w="9713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31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프로젝트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000" b="1" kern="100" dirty="0"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Times New Roman" panose="02020603050405020304" pitchFamily="18" charset="0"/>
                        </a:rPr>
                        <a:t>문서번호</a:t>
                      </a: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1" kern="100" dirty="0">
                          <a:effectLst/>
                          <a:latin typeface="맑은 고딕" panose="020B0503020000020004" pitchFamily="50" charset="-127"/>
                          <a:ea typeface="+mn-ea"/>
                          <a:cs typeface="Times New Roman" panose="02020603050405020304" pitchFamily="18" charset="0"/>
                        </a:rPr>
                        <a:t>제개정일</a:t>
                      </a:r>
                      <a:endParaRPr lang="ko-KR" sz="1000" b="1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kern="1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36195" marR="3619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183031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5540722" y="3848071"/>
            <a:ext cx="3736946" cy="252000"/>
          </a:xfrm>
          <a:prstGeom prst="rect">
            <a:avLst/>
          </a:prstGeom>
        </p:spPr>
        <p:txBody>
          <a:bodyPr anchor="ctr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ko-KR" altLang="ko-KR" sz="1000" kern="100" dirty="0">
              <a:effectLst/>
              <a:latin typeface="맑은 고딕" panose="020B0503020000020004" pitchFamily="50" charset="-127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5540722" y="416352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1527804" y="6225242"/>
            <a:ext cx="6858548" cy="408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en-US" altLang="ko-KR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Copyright © 2025 by </a:t>
            </a: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</a:t>
            </a:r>
            <a:endParaRPr lang="en-US" altLang="ko-KR" sz="900" kern="100" dirty="0">
              <a:effectLst/>
              <a:latin typeface="+mn-ea"/>
              <a:ea typeface="+mn-ea"/>
              <a:cs typeface="Times New Roman" panose="02020603050405020304" pitchFamily="18" charset="0"/>
            </a:endParaRPr>
          </a:p>
          <a:p>
            <a:pPr algn="ctr">
              <a:lnSpc>
                <a:spcPct val="120000"/>
              </a:lnSpc>
              <a:spcAft>
                <a:spcPts val="0"/>
              </a:spcAft>
            </a:pPr>
            <a:r>
              <a:rPr lang="ko-KR" altLang="en-US" sz="900" kern="1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방위사업청의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사전 승인 없이 본 내용의 전부 또는 일부에 대한 복사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전재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배포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, </a:t>
            </a:r>
            <a:r>
              <a:rPr lang="ko-KR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사용을 금합니다</a:t>
            </a:r>
            <a:r>
              <a:rPr lang="en-US" altLang="ko-KR" sz="900" dirty="0">
                <a:effectLst/>
                <a:latin typeface="+mn-ea"/>
                <a:ea typeface="+mn-ea"/>
                <a:cs typeface="Times New Roman" panose="02020603050405020304" pitchFamily="18" charset="0"/>
              </a:rPr>
              <a:t>.</a:t>
            </a:r>
            <a:endParaRPr lang="ko-KR" altLang="en-US" sz="900" dirty="0">
              <a:latin typeface="+mn-ea"/>
              <a:ea typeface="+mn-ea"/>
            </a:endParaRPr>
          </a:p>
        </p:txBody>
      </p:sp>
      <p:sp>
        <p:nvSpPr>
          <p:cNvPr id="12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5540722" y="4479945"/>
            <a:ext cx="3736946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  <p:pic>
        <p:nvPicPr>
          <p:cNvPr id="17" name="그림 16" descr="그래픽, 폰트, 그래픽 디자인, 로고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9D3F7C-59D2-46B0-9671-095C3D9268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37641" y="465349"/>
            <a:ext cx="1005840" cy="340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430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622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400" b="1" u="sng"/>
            </a:lvl1pPr>
            <a:lvl2pPr marL="457200" indent="0">
              <a:buNone/>
              <a:defRPr sz="1000"/>
            </a:lvl2pPr>
            <a:lvl3pPr marL="914400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75775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4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660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제목&amp;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734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0"/>
          </p:nvPr>
        </p:nvSpPr>
        <p:spPr>
          <a:xfrm>
            <a:off x="467025" y="612000"/>
            <a:ext cx="9000000" cy="324000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200" b="1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1038808"/>
            <a:ext cx="9000000" cy="542419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0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031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내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7" name="텍스트 개체 틀 2"/>
          <p:cNvSpPr>
            <a:spLocks noGrp="1"/>
          </p:cNvSpPr>
          <p:nvPr>
            <p:ph type="body" sz="quarter" idx="11"/>
          </p:nvPr>
        </p:nvSpPr>
        <p:spPr>
          <a:xfrm>
            <a:off x="457200" y="612000"/>
            <a:ext cx="9000000" cy="5851004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50000"/>
              </a:lnSpc>
              <a:buNone/>
              <a:defRPr sz="1100" b="0"/>
            </a:lvl1pPr>
            <a:lvl2pPr marL="457200" indent="0">
              <a:buNone/>
              <a:defRPr sz="1200" b="1"/>
            </a:lvl2pPr>
            <a:lvl3pPr marL="914400" indent="0">
              <a:buNone/>
              <a:defRPr sz="1200" b="1"/>
            </a:lvl3pPr>
            <a:lvl4pPr marL="1371600" indent="0">
              <a:buNone/>
              <a:defRPr sz="1200" b="1"/>
            </a:lvl4pPr>
            <a:lvl5pPr marL="1828800" indent="0">
              <a:buNone/>
              <a:defRPr sz="1200" b="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39650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-서식없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34C8E023-7346-48FC-AB24-9A3388C5320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4753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인터페이스 이미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72137626"/>
              </p:ext>
            </p:extLst>
          </p:nvPr>
        </p:nvGraphicFramePr>
        <p:xfrm>
          <a:off x="458167" y="719999"/>
          <a:ext cx="8988374" cy="5755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1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59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80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42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3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37653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</a:t>
                      </a:r>
                      <a:r>
                        <a:rPr lang="en-US" altLang="ko-KR" sz="900" b="1" baseline="0" dirty="0"/>
                        <a:t> ID</a:t>
                      </a:r>
                      <a:endParaRPr lang="ko-KR" altLang="en-US" sz="900" b="1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/>
                        <a:t>UI </a:t>
                      </a:r>
                      <a:r>
                        <a:rPr lang="ko-KR" altLang="en-US" sz="900" b="1" dirty="0"/>
                        <a:t>명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화면경로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5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개요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7322">
                <a:tc rowSpan="2" gridSpan="6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설명 및 특이사항</a:t>
                      </a: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81007">
                <a:tc gridSpan="6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텍스트 개체 틀 5"/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  <a:prstGeom prst="rect">
            <a:avLst/>
          </a:prstGeom>
        </p:spPr>
        <p:txBody>
          <a:bodyPr/>
          <a:lstStyle>
            <a:lvl1pPr marL="87313" indent="-87313">
              <a:lnSpc>
                <a:spcPct val="100000"/>
              </a:lnSpc>
              <a:spcBef>
                <a:spcPts val="100"/>
              </a:spcBef>
              <a:spcAft>
                <a:spcPts val="100"/>
              </a:spcAft>
              <a:buFont typeface="Arial" panose="020B0604020202020204" pitchFamily="34" charset="0"/>
              <a:buChar char="•"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7" name="슬라이드 번호 개체 틀 10"/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fld id="{9DF8E3FD-B4FB-473B-BCAD-C4534B9A9D97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2"/>
          </p:nvPr>
        </p:nvSpPr>
        <p:spPr>
          <a:xfrm>
            <a:off x="3390640" y="755764"/>
            <a:ext cx="2101850" cy="162201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2" name="텍스트 개체 틀 10"/>
          <p:cNvSpPr>
            <a:spLocks noGrp="1"/>
          </p:cNvSpPr>
          <p:nvPr>
            <p:ph type="body" sz="quarter" idx="13"/>
          </p:nvPr>
        </p:nvSpPr>
        <p:spPr>
          <a:xfrm>
            <a:off x="956623" y="1010025"/>
            <a:ext cx="8434506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3" name="텍스트 개체 틀 10"/>
          <p:cNvSpPr>
            <a:spLocks noGrp="1"/>
          </p:cNvSpPr>
          <p:nvPr>
            <p:ph type="body" sz="quarter" idx="14"/>
          </p:nvPr>
        </p:nvSpPr>
        <p:spPr>
          <a:xfrm>
            <a:off x="6238614" y="755764"/>
            <a:ext cx="3140076" cy="177622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  <p:sp>
        <p:nvSpPr>
          <p:cNvPr id="10" name="텍스트 개체 틀 10"/>
          <p:cNvSpPr>
            <a:spLocks noGrp="1"/>
          </p:cNvSpPr>
          <p:nvPr>
            <p:ph type="body" sz="quarter" idx="15"/>
          </p:nvPr>
        </p:nvSpPr>
        <p:spPr>
          <a:xfrm>
            <a:off x="956623" y="755764"/>
            <a:ext cx="1404000" cy="193878"/>
          </a:xfrm>
          <a:prstGeom prst="rect">
            <a:avLst/>
          </a:prstGeom>
        </p:spPr>
        <p:txBody>
          <a:bodyPr lIns="72000" tIns="36000" rIns="72000" bIns="3600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900"/>
            </a:lvl1pPr>
            <a:lvl2pPr marL="457200" indent="0">
              <a:buNone/>
              <a:defRPr sz="900"/>
            </a:lvl2pPr>
            <a:lvl3pPr marL="914400" indent="0">
              <a:buNone/>
              <a:defRPr sz="9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71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11">
            <a:extLst>
              <a:ext uri="{FF2B5EF4-FFF2-40B4-BE49-F238E27FC236}">
                <a16:creationId xmlns:a16="http://schemas.microsoft.com/office/drawing/2014/main" id="{D11E9F2C-2481-4ADA-BED0-11F45689328C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8685200" y="6640342"/>
            <a:ext cx="738733" cy="91480"/>
          </a:xfrm>
          <a:prstGeom prst="rect">
            <a:avLst/>
          </a:prstGeom>
        </p:spPr>
      </p:pic>
      <p:cxnSp>
        <p:nvCxnSpPr>
          <p:cNvPr id="8" name="직선 연결선 7"/>
          <p:cNvCxnSpPr/>
          <p:nvPr userDrawn="1"/>
        </p:nvCxnSpPr>
        <p:spPr>
          <a:xfrm>
            <a:off x="445168" y="540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 userDrawn="1"/>
        </p:nvCxnSpPr>
        <p:spPr>
          <a:xfrm>
            <a:off x="465216" y="6588000"/>
            <a:ext cx="90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 userDrawn="1"/>
        </p:nvSpPr>
        <p:spPr>
          <a:xfrm>
            <a:off x="4950372" y="376754"/>
            <a:ext cx="4519928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사용자인터페이스설계서 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– 00.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공통</a:t>
            </a:r>
            <a:r>
              <a:rPr lang="en-US" altLang="ko-KR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-</a:t>
            </a:r>
            <a:r>
              <a:rPr lang="ko-KR" altLang="en-US" sz="1000" b="1" kern="100" dirty="0">
                <a:effectLst/>
                <a:latin typeface="맑은 고딕" panose="020B0503020000020004" pitchFamily="50" charset="-127"/>
                <a:ea typeface="+mn-ea"/>
                <a:cs typeface="Times New Roman" panose="02020603050405020304" pitchFamily="18" charset="0"/>
              </a:rPr>
              <a:t>모바일</a:t>
            </a:r>
            <a:endParaRPr lang="ko-KR" altLang="en-US" sz="1000" dirty="0"/>
          </a:p>
        </p:txBody>
      </p:sp>
      <p:sp>
        <p:nvSpPr>
          <p:cNvPr id="10" name="직사각형 9"/>
          <p:cNvSpPr/>
          <p:nvPr userDrawn="1"/>
        </p:nvSpPr>
        <p:spPr>
          <a:xfrm>
            <a:off x="445168" y="376754"/>
            <a:ext cx="3939450" cy="1538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ko-KR" altLang="en-US" sz="1000" b="1" kern="100" dirty="0">
                <a:effectLst/>
              </a:rPr>
              <a:t>국방전자조달시스템 고도화 구축사업</a:t>
            </a:r>
          </a:p>
        </p:txBody>
      </p:sp>
      <p:pic>
        <p:nvPicPr>
          <p:cNvPr id="11" name="Picture 1">
            <a:extLst>
              <a:ext uri="{FF2B5EF4-FFF2-40B4-BE49-F238E27FC236}">
                <a16:creationId xmlns:a16="http://schemas.microsoft.com/office/drawing/2014/main" id="{3BECD7E0-1778-4975-BFA0-E9C4CE243F54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474463" y="6577231"/>
            <a:ext cx="668534" cy="233715"/>
          </a:xfrm>
          <a:prstGeom prst="rect">
            <a:avLst/>
          </a:prstGeom>
          <a:noFill/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7140121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7" r:id="rId3"/>
    <p:sldLayoutId id="2147483664" r:id="rId4"/>
    <p:sldLayoutId id="2147483665" r:id="rId5"/>
    <p:sldLayoutId id="2147483666" r:id="rId6"/>
    <p:sldLayoutId id="2147483668" r:id="rId7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hyperlink" Target="http://delis.mnd.go.kr:8080/" TargetMode="External"/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0.xml.rels><?xml version="1.0" encoding="UTF-8" standalone="yes"?>
<Relationships xmlns="http://schemas.openxmlformats.org/package/2006/relationships"><Relationship Id="rId2" Type="http://schemas.openxmlformats.org/officeDocument/2006/relationships/hyperlink" Target="http://developer.android.com/sdk/index.html" TargetMode="External"/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0.png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3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 dirty="0"/>
              <a:t>사용자인터페이스 설계서 </a:t>
            </a:r>
            <a:r>
              <a:rPr lang="en-US" altLang="ko-KR" dirty="0"/>
              <a:t>- </a:t>
            </a:r>
            <a:r>
              <a:rPr lang="ko-KR" altLang="en-US" dirty="0"/>
              <a:t>모바일</a:t>
            </a:r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00.</a:t>
            </a:r>
            <a:r>
              <a:rPr lang="ko-KR" altLang="en-US" dirty="0" err="1"/>
              <a:t>스플래시</a:t>
            </a:r>
            <a:r>
              <a:rPr lang="ko-KR" altLang="en-US" dirty="0"/>
              <a:t> </a:t>
            </a:r>
            <a:r>
              <a:rPr lang="en-US" altLang="ko-KR" dirty="0"/>
              <a:t>~ </a:t>
            </a:r>
            <a:r>
              <a:rPr lang="ko-KR" altLang="en-US" dirty="0"/>
              <a:t>공통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ko-KR" altLang="en-US" dirty="0"/>
              <a:t>국방전자조달시스템 고도화 구축사업</a:t>
            </a:r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D2BA-AP-3CD-0601</a:t>
            </a:r>
            <a:endParaRPr lang="ko-KR" altLang="en-US" dirty="0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2026.06.18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156324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F21A837-6853-B5CA-5641-F9A516F3B3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</a:t>
            </a:fld>
            <a:endParaRPr lang="ko-KR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CF8D2BE-3FE8-714A-457C-A4A1521A282B}"/>
              </a:ext>
            </a:extLst>
          </p:cNvPr>
          <p:cNvSpPr/>
          <p:nvPr/>
        </p:nvSpPr>
        <p:spPr>
          <a:xfrm>
            <a:off x="3079266" y="1809750"/>
            <a:ext cx="3771900" cy="34004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국방전자조달시스템 고도화 구축 사업 이외의 어떠한 목적에도 사용을 금하며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사업관리기관 및 개발업체  요원 이외의 열람을 통제한다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</a:p>
          <a:p>
            <a:pPr marL="342900" indent="-342900">
              <a:buAutoNum type="arabicPeriod"/>
            </a:pPr>
            <a:endParaRPr lang="en-US" altLang="ko-KR" sz="1400" dirty="0">
              <a:solidFill>
                <a:schemeClr val="tx1"/>
              </a:solidFill>
            </a:endParaRPr>
          </a:p>
          <a:p>
            <a:pPr marL="342900" indent="-342900">
              <a:buAutoNum type="arabicPeriod"/>
            </a:pPr>
            <a:r>
              <a:rPr lang="ko-KR" altLang="en-US" sz="1400" dirty="0">
                <a:solidFill>
                  <a:schemeClr val="tx1"/>
                </a:solidFill>
              </a:rPr>
              <a:t>본 문서는 방위사업청의 승인없이 발췌 및 복사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배포를 금지하며</a:t>
            </a:r>
            <a:r>
              <a:rPr lang="en-US" altLang="ko-KR" sz="1400" dirty="0">
                <a:solidFill>
                  <a:schemeClr val="tx1"/>
                </a:solidFill>
              </a:rPr>
              <a:t>, </a:t>
            </a:r>
            <a:r>
              <a:rPr lang="ko-KR" altLang="en-US" sz="1400" dirty="0">
                <a:solidFill>
                  <a:schemeClr val="tx1"/>
                </a:solidFill>
              </a:rPr>
              <a:t>방위사업청  문서관리규정에 의하여 관리한다</a:t>
            </a:r>
            <a:r>
              <a:rPr lang="en-US" altLang="ko-KR" sz="1400" dirty="0">
                <a:solidFill>
                  <a:schemeClr val="tx1"/>
                </a:solidFill>
              </a:rPr>
              <a:t>.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텍스트 개체 틀 2">
            <a:extLst>
              <a:ext uri="{FF2B5EF4-FFF2-40B4-BE49-F238E27FC236}">
                <a16:creationId xmlns:a16="http://schemas.microsoft.com/office/drawing/2014/main" id="{B3A35A62-3F88-2F9F-9F03-E16DFE92E11E}"/>
              </a:ext>
            </a:extLst>
          </p:cNvPr>
          <p:cNvSpPr txBox="1">
            <a:spLocks/>
          </p:cNvSpPr>
          <p:nvPr/>
        </p:nvSpPr>
        <p:spPr>
          <a:xfrm>
            <a:off x="2265216" y="978498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600"/>
              <a:t>경 고 문</a:t>
            </a:r>
            <a:endParaRPr lang="ko-KR" altLang="en-US" sz="1600" dirty="0"/>
          </a:p>
        </p:txBody>
      </p:sp>
    </p:spTree>
    <p:extLst>
      <p:ext uri="{BB962C8B-B14F-4D97-AF65-F5344CB8AC3E}">
        <p14:creationId xmlns:p14="http://schemas.microsoft.com/office/powerpoint/2010/main" val="8122379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</a:t>
            </a:fld>
            <a:endParaRPr lang="ko-KR" altLang="en-US"/>
          </a:p>
        </p:txBody>
      </p:sp>
      <p:sp>
        <p:nvSpPr>
          <p:cNvPr id="4" name="텍스트 개체 틀 15">
            <a:extLst>
              <a:ext uri="{FF2B5EF4-FFF2-40B4-BE49-F238E27FC236}">
                <a16:creationId xmlns:a16="http://schemas.microsoft.com/office/drawing/2014/main" id="{44A815B9-A3EA-BA0B-410C-A69AB9D1A04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250485" y="821363"/>
            <a:ext cx="5400000" cy="417890"/>
          </a:xfrm>
        </p:spPr>
        <p:txBody>
          <a:bodyPr/>
          <a:lstStyle/>
          <a:p>
            <a:r>
              <a:rPr lang="ko-KR" altLang="en-US" dirty="0" err="1"/>
              <a:t>제</a:t>
            </a:r>
            <a:r>
              <a:rPr lang="ko-KR" altLang="en-US" dirty="0" err="1">
                <a:sym typeface="Wingdings" panose="05000000000000000000" pitchFamily="2" charset="2"/>
              </a:rPr>
              <a:t></a:t>
            </a:r>
            <a:r>
              <a:rPr lang="ko-KR" altLang="en-US" dirty="0" err="1"/>
              <a:t>개</a:t>
            </a:r>
            <a:r>
              <a:rPr lang="ko-KR" altLang="en-US" dirty="0"/>
              <a:t> 정 이 력</a:t>
            </a:r>
          </a:p>
        </p:txBody>
      </p:sp>
      <p:graphicFrame>
        <p:nvGraphicFramePr>
          <p:cNvPr id="7" name="Group 759">
            <a:extLst>
              <a:ext uri="{FF2B5EF4-FFF2-40B4-BE49-F238E27FC236}">
                <a16:creationId xmlns:a16="http://schemas.microsoft.com/office/drawing/2014/main" id="{2831990E-7701-AF86-804F-42A7268A90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355922"/>
              </p:ext>
            </p:extLst>
          </p:nvPr>
        </p:nvGraphicFramePr>
        <p:xfrm>
          <a:off x="652374" y="1286787"/>
          <a:ext cx="8782571" cy="3270414"/>
        </p:xfrm>
        <a:graphic>
          <a:graphicData uri="http://schemas.openxmlformats.org/drawingml/2006/table">
            <a:tbl>
              <a:tblPr/>
              <a:tblGrid>
                <a:gridCol w="784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09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6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19745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제개정일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버전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제개정내용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작성자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승인자 및 관련근거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2025.11.03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작성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</a:rPr>
                        <a:t>신미영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2026.03.16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0.3.2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서식 수정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김민재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2026.04.23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1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차 작성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0.4.1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작성 완료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0.5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내부 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김영수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,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권순태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0.6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설계단계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 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PL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kern="1200" dirty="0" err="1">
                          <a:solidFill>
                            <a:srgbClr val="000000"/>
                          </a:solidFill>
                          <a:latin typeface="+mn-lt"/>
                          <a:ea typeface="맑은 고딕"/>
                          <a:cs typeface="+mn-cs"/>
                        </a:rPr>
                        <a:t>황종서</a:t>
                      </a: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2026.06.17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0.7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품질 검토</a:t>
                      </a:r>
                    </a:p>
                  </a:txBody>
                  <a:tcPr marL="53975" marR="53975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김민재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/>
                          <a:cs typeface="+mn-cs"/>
                        </a:rPr>
                        <a:t>2026.06.18</a:t>
                      </a: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  <a:cs typeface="+mn-cs"/>
                        </a:rPr>
                        <a:t>0.8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PM 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검토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  <a:cs typeface="+mn-cs"/>
                        </a:rPr>
                        <a:t>박재욱</a:t>
                      </a: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900" b="0" i="0" u="none" strike="noStrike" kern="1200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53975" marR="53975" marT="53975" marB="53975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74576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93019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94621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맑은 고딕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46208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70168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</a:t>
            </a:fld>
            <a:endParaRPr lang="ko-KR" altLang="en-US"/>
          </a:p>
        </p:txBody>
      </p:sp>
      <p:sp>
        <p:nvSpPr>
          <p:cNvPr id="7" name="텍스트 개체 틀 15">
            <a:extLst>
              <a:ext uri="{FF2B5EF4-FFF2-40B4-BE49-F238E27FC236}">
                <a16:creationId xmlns:a16="http://schemas.microsoft.com/office/drawing/2014/main" id="{74E68DA1-2E20-231A-31AD-28EAC2F24FE9}"/>
              </a:ext>
            </a:extLst>
          </p:cNvPr>
          <p:cNvSpPr txBox="1">
            <a:spLocks/>
          </p:cNvSpPr>
          <p:nvPr/>
        </p:nvSpPr>
        <p:spPr>
          <a:xfrm>
            <a:off x="2250485" y="959912"/>
            <a:ext cx="5400000" cy="41789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1" u="sng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신구 변경 </a:t>
            </a:r>
            <a:r>
              <a:rPr lang="ko-KR" altLang="en-US" dirty="0" err="1"/>
              <a:t>내용표</a:t>
            </a:r>
            <a:endParaRPr lang="ko-KR" altLang="en-US" dirty="0"/>
          </a:p>
        </p:txBody>
      </p:sp>
      <p:graphicFrame>
        <p:nvGraphicFramePr>
          <p:cNvPr id="8" name="Group 759">
            <a:extLst>
              <a:ext uri="{FF2B5EF4-FFF2-40B4-BE49-F238E27FC236}">
                <a16:creationId xmlns:a16="http://schemas.microsoft.com/office/drawing/2014/main" id="{319C15BD-6050-0EF7-51D6-033B70274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31982"/>
              </p:ext>
            </p:extLst>
          </p:nvPr>
        </p:nvGraphicFramePr>
        <p:xfrm>
          <a:off x="652374" y="1416776"/>
          <a:ext cx="8782571" cy="491472"/>
        </p:xfrm>
        <a:graphic>
          <a:graphicData uri="http://schemas.openxmlformats.org/drawingml/2006/table">
            <a:tbl>
              <a:tblPr/>
              <a:tblGrid>
                <a:gridCol w="59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0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84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44489">
                  <a:extLst>
                    <a:ext uri="{9D8B030D-6E8A-4147-A177-3AD203B41FA5}">
                      <a16:colId xmlns:a16="http://schemas.microsoft.com/office/drawing/2014/main" val="3538833938"/>
                    </a:ext>
                  </a:extLst>
                </a:gridCol>
                <a:gridCol w="938150">
                  <a:extLst>
                    <a:ext uri="{9D8B030D-6E8A-4147-A177-3AD203B41FA5}">
                      <a16:colId xmlns:a16="http://schemas.microsoft.com/office/drawing/2014/main" val="39264155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순번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구버전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신버전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변경 항목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변경 내용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latin typeface="맑은 고딕"/>
                          <a:ea typeface="맑은 고딕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/>
                          <a:ea typeface="맑은 고딕"/>
                        </a:rPr>
                        <a:t>1</a:t>
                      </a: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defRPr/>
                      </a:pP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맑은 고딕"/>
                        <a:ea typeface="맑은 고딕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99630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4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2574036"/>
              </p:ext>
            </p:extLst>
          </p:nvPr>
        </p:nvGraphicFramePr>
        <p:xfrm>
          <a:off x="988586" y="1265003"/>
          <a:ext cx="7926814" cy="44805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200" dirty="0" err="1"/>
                        <a:t>앱실행</a:t>
                      </a:r>
                      <a:r>
                        <a:rPr lang="en-US" altLang="ko-KR" sz="1200" dirty="0"/>
                        <a:t>, </a:t>
                      </a:r>
                      <a:r>
                        <a:rPr lang="ko-KR" altLang="en-US" sz="1200" dirty="0"/>
                        <a:t>로그인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200" dirty="0" err="1"/>
                        <a:t>마이페이지</a:t>
                      </a:r>
                      <a:r>
                        <a:rPr lang="ko-KR" altLang="en-US" sz="1200" dirty="0"/>
                        <a:t>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200" dirty="0"/>
                        <a:t>고객센터 메뉴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3.1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3.2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3.3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20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3.4 </a:t>
                      </a:r>
                      <a:r>
                        <a:rPr lang="ko-KR" altLang="en-US" sz="120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endParaRPr lang="en-US" altLang="ko-KR" sz="1200" dirty="0">
                        <a:latin typeface="+mn-ea"/>
                        <a:ea typeface="+mn-ea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13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56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66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67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199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200" dirty="0">
                          <a:latin typeface="+mn-ea"/>
                          <a:ea typeface="+mn-ea"/>
                        </a:rPr>
                        <a:t>202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286342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5</a:t>
            </a:fld>
            <a:endParaRPr lang="ko-KR" altLang="en-US"/>
          </a:p>
        </p:txBody>
      </p:sp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dirty="0"/>
              <a:t>목     차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617802"/>
              </p:ext>
            </p:extLst>
          </p:nvPr>
        </p:nvGraphicFramePr>
        <p:xfrm>
          <a:off x="988586" y="1265003"/>
          <a:ext cx="7926814" cy="53492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197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7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269286">
                <a:tc>
                  <a:txBody>
                    <a:bodyPr/>
                    <a:lstStyle/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1150" dirty="0"/>
                        <a:t>인증센터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4.4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1150" dirty="0"/>
                        <a:t>국방전자조달 소개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5.4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 </a:t>
                      </a:r>
                      <a:r>
                        <a:rPr lang="ko-KR" altLang="en-US" sz="1150" dirty="0"/>
                        <a:t>이용안내 메뉴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6.4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 </a:t>
                      </a:r>
                      <a:r>
                        <a:rPr lang="ko-KR" altLang="en-US" sz="1150" dirty="0"/>
                        <a:t>앱 설정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7.1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목록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7.2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흐름도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7.3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앱 구성 다이어그램</a:t>
                      </a:r>
                      <a:endParaRPr lang="en-US" altLang="ko-KR" sz="1150" dirty="0"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lnSpc>
                          <a:spcPct val="150000"/>
                        </a:lnSpc>
                        <a:buNone/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7.4 </a:t>
                      </a:r>
                      <a:r>
                        <a:rPr lang="ko-KR" altLang="en-US" sz="1150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Layout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319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329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338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339340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341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350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351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352</a:t>
                      </a:r>
                    </a:p>
                    <a:p>
                      <a:pPr algn="r" latinLnBrk="1">
                        <a:lnSpc>
                          <a:spcPct val="150000"/>
                        </a:lnSpc>
                      </a:pPr>
                      <a:r>
                        <a:rPr lang="en-US" altLang="ko-KR" sz="1150" dirty="0">
                          <a:latin typeface="+mn-ea"/>
                          <a:ea typeface="+mn-ea"/>
                        </a:rPr>
                        <a:t>353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86766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(1/3)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570426"/>
              </p:ext>
            </p:extLst>
          </p:nvPr>
        </p:nvGraphicFramePr>
        <p:xfrm>
          <a:off x="635474" y="1413419"/>
          <a:ext cx="8701200" cy="46175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MUI-MS-01-M01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앱실행스플래시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–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시 노출되는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스플래시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로딩 시 보안 프로그램 동작 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/biz/cm/splash/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splashPage.tsx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-01-M02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접근 권한 동의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-01-P03</a:t>
                      </a:r>
                      <a:endParaRPr lang="ko-KR" alt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앱접근권한동의팝업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 권한 동의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앱업데이트안내팝업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업데이트가 있는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AppUpdateInfo.tsx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-01-P05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앱오류안내팝업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오류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장애 등 실행이 불가능한 경우 노출되는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AppErrInfo.tsx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-01-M06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앱이용안내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최초 앱 기동 시 앱 이용 안내 설명 화면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-01-M07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smtClean="0">
                          <a:latin typeface="+mn-ea"/>
                          <a:ea typeface="+mn-ea"/>
                        </a:rPr>
                        <a:t>메인홈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기동 완료 후 노출되는 메인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비로그인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사용자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UC-ZZ-18-02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-P08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중요공지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시스템안내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메인에서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중요 공지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 안내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mscrn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SysExpln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Native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App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</a:t>
                      </a: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-M09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메인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서브에서 검색 영역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아이콘을 클릭하는 경우 통합 검색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98132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MUI-MS-01</a:t>
                      </a: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-M10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통합검색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 검색 결과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IntgSrch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IntgSrch_Rslt.tsx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881621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MUI-MS-01-M11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챗봇문의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챗봇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ChatbotPage.tsx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솔루션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095591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MUI-MS-01-M12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햄버거메뉴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메뉴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/biz/cm/menu/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MenuPage.tsx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MUI-MS-01-M13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알림현황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푸시 알림 현황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notiPrstPage.tsx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UC-ZZ-11-07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UC-ZZ-14-03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MUI-MS-01-P14</a:t>
                      </a:r>
                      <a:endParaRPr lang="ko-KR" altLang="en-US" sz="75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로그인업체설정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소속된 업체가 많은 경우 로그인 이후 로그인할 업체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6353761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934424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(2/3)</a:t>
            </a:r>
            <a:endParaRPr lang="ko-KR" altLang="en-US" dirty="0"/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667125"/>
              </p:ext>
            </p:extLst>
          </p:nvPr>
        </p:nvGraphicFramePr>
        <p:xfrm>
          <a:off x="635474" y="1413419"/>
          <a:ext cx="8701200" cy="31603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방식선택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mainLoginPage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MainLoginPage.tsx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01900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ID/PW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idPswdLoginPage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ID/PW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입력화면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IdPswdLoginPage.tsx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MUI-CM-03-M04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IdRegInfoFndngPage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찾기의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PswdFndngPage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MUI-CM-03-M07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등록정보로찾기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PswdRegInfoFndngPage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등록정보로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찾기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PswdRegInfoFndngPage.tsx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PW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찾기결과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PswdRsltPage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PW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찾기 성공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실패 화면 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성공 시 비밀번호 변경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PswdRsltPage.tsx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0460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MUI-CM-03-M09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사용자등록안내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UserRegInfoPage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 등록한 대상만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버전에서 사용자 등록이 가능함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안내 페이지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등록만 가능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UserRegInfoPage.tsx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5963418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304" y="1140446"/>
            <a:ext cx="23462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2)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 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모바일 시스템은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유스케이스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ID</a:t>
            </a:r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가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부존재함</a:t>
            </a:r>
            <a:r>
              <a:rPr lang="en-US" altLang="ko-KR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931461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1. </a:t>
            </a:r>
            <a:r>
              <a:rPr lang="ko-KR" altLang="en-US" dirty="0" err="1"/>
              <a:t>앱실행</a:t>
            </a:r>
            <a:r>
              <a:rPr lang="en-US" altLang="ko-KR" dirty="0"/>
              <a:t>, </a:t>
            </a:r>
            <a:r>
              <a:rPr lang="ko-KR" altLang="en-US" dirty="0"/>
              <a:t>로그인 메뉴</a:t>
            </a:r>
            <a:endParaRPr lang="en-US" altLang="ko-KR" dirty="0"/>
          </a:p>
          <a:p>
            <a:r>
              <a:rPr lang="en-US" altLang="ko-KR" dirty="0"/>
              <a:t>1.1 </a:t>
            </a:r>
            <a:r>
              <a:rPr lang="ko-KR" altLang="en-US" dirty="0"/>
              <a:t>화면 목록 </a:t>
            </a:r>
            <a:r>
              <a:rPr lang="en-US" altLang="ko-KR" dirty="0"/>
              <a:t>(3/3)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7799172"/>
              </p:ext>
            </p:extLst>
          </p:nvPr>
        </p:nvGraphicFramePr>
        <p:xfrm>
          <a:off x="635474" y="1413419"/>
          <a:ext cx="8701200" cy="47395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간편인증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SimpleCert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간편인증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SimpleCert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937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금융인증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FnstCert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금융인증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FnstCert.tsx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598586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공동인증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JntCert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Any-ID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공동인증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JntCert.tsx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62041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모바일신분증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MobileIdntyCert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행안부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모바일 신분증 프로세스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MobileIdntyCert.tsx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033051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휴대폰의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기능 호출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255434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BioInfoCertRegPage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 프로세스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51901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MUI-CM-03-M20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생체인증등록완료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BioInfoCertRsltPage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생체인증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등록 완료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bioInfoCertReg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BioInfoCertRsltPage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96699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인증성공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실패안내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CertRsltPage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로그인 방식에 따른 인증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 안내 메시지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성공의 경우는 안내 메시지 또는 토스트 메시지 없이 메인 페이지 이동으로 변경될 수 있음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CertRslt.tsx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MUI-CM-03-M17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PcQRLgnPage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화면의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QR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코드를 앱에서 읽어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시키는 화면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PcQRLgnPage.tsx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MUI-CM-03-P18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로그아웃안내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LgoInfo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로그아웃 안내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background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복귀 시 </a:t>
                      </a:r>
                      <a:r>
                        <a:rPr lang="ko-KR" altLang="en-US" sz="800" baseline="0" dirty="0" smtClean="0">
                          <a:latin typeface="+mn-ea"/>
                          <a:ea typeface="+mn-ea"/>
                        </a:rPr>
                        <a:t>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LgoInfo.tsx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MUI-CM-03-P19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로그인필요서비스안내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LgnSrvcInfo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비로그인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상태에서 로그인 서비스 사용 </a:t>
                      </a:r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시도시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노출되는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LgnSrvcInfo.tsx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MUI-CM-03-P21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통합로그인계정등록안내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NewIdChgInfo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구버전의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아이디로 로그인 하는 경우 신규 통합 아이디로 변경되는 사항 안내 팝업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NewIdChgInfo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59618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NewIdPwReg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 아이디와 비밀번호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입력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NewIdPwReg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971240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MUI-CM-03-M23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통합로그인계정등록완료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NewIdCmptn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신규 통합 아이디 등록 </a:t>
                      </a:r>
                      <a:r>
                        <a:rPr lang="ko-KR" alt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 </a:t>
                      </a:r>
                      <a:r>
                        <a:rPr lang="ko-KR" altLang="en-US" sz="8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NewId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NewIdCmptn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52921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통합로그인계정 관련 추가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 smtClean="0"/>
                <a:t>MUI-CM-03-P21</a:t>
              </a:r>
              <a:br>
                <a:rPr lang="en-US" altLang="ko-KR" sz="700" dirty="0" smtClean="0"/>
              </a:br>
              <a:r>
                <a:rPr lang="en-US" altLang="ko-KR" sz="700" dirty="0" smtClean="0"/>
                <a:t>MUI-CM-03-M22</a:t>
              </a:r>
              <a:br>
                <a:rPr lang="en-US" altLang="ko-KR" sz="700" dirty="0" smtClean="0"/>
              </a:br>
              <a:r>
                <a:rPr lang="en-US" altLang="ko-KR" sz="700" dirty="0" smtClean="0"/>
                <a:t>MUI-CM-03-M23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0389588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스플래시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로고 노출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507268" y="1632242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앱 실행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보안 프로그램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 여부 검증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안내 팝업 노출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16426" y="2307750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업데이트 있음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750504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실행 완료</a:t>
            </a:r>
          </a:p>
        </p:txBody>
      </p: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종료</a:t>
            </a: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업데이트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실행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err="1">
                <a:solidFill>
                  <a:schemeClr val="tx1"/>
                </a:solidFill>
              </a:rPr>
              <a:t>재기동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394799" y="2307750"/>
            <a:ext cx="447238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미동의 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497391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동의 시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709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최초 기동 여부 검증</a:t>
            </a:r>
          </a:p>
        </p:txBody>
      </p:sp>
      <p:cxnSp>
        <p:nvCxnSpPr>
          <p:cNvPr id="92" name="직선 화살표 연결선 9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" idx="2"/>
            <a:endCxn id="91" idx="0"/>
          </p:cNvCxnSpPr>
          <p:nvPr/>
        </p:nvCxnSpPr>
        <p:spPr>
          <a:xfrm>
            <a:off x="4647742" y="2595750"/>
            <a:ext cx="0" cy="107521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 보기 선택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00122" y="3670961"/>
            <a:ext cx="82875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현 버전 최초 실행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2451749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405859" y="3670961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필수 최신화 완료</a:t>
            </a: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9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STEP </a:t>
            </a:r>
            <a:r>
              <a:rPr lang="ko-KR" altLang="en-US" sz="800" dirty="0">
                <a:solidFill>
                  <a:schemeClr val="tx1"/>
                </a:solidFill>
              </a:rPr>
              <a:t>표시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440195" y="4349746"/>
            <a:ext cx="5866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보기 선택 시</a:t>
            </a: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접근 권한 안내</a:t>
            </a:r>
          </a:p>
        </p:txBody>
      </p:sp>
      <p:sp>
        <p:nvSpPr>
          <p:cNvPr id="1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709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푸시 동의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카메라 접근 동의</a:t>
            </a:r>
          </a:p>
        </p:txBody>
      </p: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28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 진입</a:t>
            </a: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140" idx="1"/>
          </p:cNvCxnSpPr>
          <p:nvPr/>
        </p:nvCxnSpPr>
        <p:spPr>
          <a:xfrm>
            <a:off x="5097742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화살표 연결선 1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40" idx="3"/>
            <a:endCxn id="142" idx="1"/>
          </p:cNvCxnSpPr>
          <p:nvPr/>
        </p:nvCxnSpPr>
        <p:spPr>
          <a:xfrm>
            <a:off x="6928876" y="3814961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화살표 연결선 17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118" idx="1"/>
          </p:cNvCxnSpPr>
          <p:nvPr/>
        </p:nvCxnSpPr>
        <p:spPr>
          <a:xfrm>
            <a:off x="5097742" y="44937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화살표 연결선 1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2"/>
            <a:endCxn id="98" idx="0"/>
          </p:cNvCxnSpPr>
          <p:nvPr/>
        </p:nvCxnSpPr>
        <p:spPr>
          <a:xfrm>
            <a:off x="4647742" y="39589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2"/>
            <a:endCxn id="151" idx="0"/>
          </p:cNvCxnSpPr>
          <p:nvPr/>
        </p:nvCxnSpPr>
        <p:spPr>
          <a:xfrm>
            <a:off x="4647742" y="4637746"/>
            <a:ext cx="0" cy="3951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2"/>
            <a:endCxn id="151" idx="0"/>
          </p:cNvCxnSpPr>
          <p:nvPr/>
        </p:nvCxnSpPr>
        <p:spPr>
          <a:xfrm rot="5400000">
            <a:off x="5365745" y="3919743"/>
            <a:ext cx="395128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4528745" y="575716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4557742" y="5560902"/>
            <a:ext cx="180000" cy="180000"/>
            <a:chOff x="5058274" y="2498299"/>
            <a:chExt cx="180000" cy="180000"/>
          </a:xfrm>
        </p:grpSpPr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4" name="직선 화살표 연결선 1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1" idx="2"/>
            <a:endCxn id="192" idx="0"/>
          </p:cNvCxnSpPr>
          <p:nvPr/>
        </p:nvCxnSpPr>
        <p:spPr>
          <a:xfrm>
            <a:off x="4647742" y="5320874"/>
            <a:ext cx="0" cy="2400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2" idx="2"/>
            <a:endCxn id="98" idx="0"/>
          </p:cNvCxnSpPr>
          <p:nvPr/>
        </p:nvCxnSpPr>
        <p:spPr>
          <a:xfrm rot="5400000">
            <a:off x="6283484" y="2323219"/>
            <a:ext cx="390785" cy="36622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3333723" y="4349746"/>
            <a:ext cx="86401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이용안내 </a:t>
            </a:r>
            <a:r>
              <a:rPr lang="en-US" altLang="ko-KR" sz="800" dirty="0">
                <a:solidFill>
                  <a:schemeClr val="tx1"/>
                </a:solidFill>
              </a:rPr>
              <a:t>= </a:t>
            </a:r>
            <a:r>
              <a:rPr lang="ko-KR" altLang="en-US" sz="800" dirty="0">
                <a:solidFill>
                  <a:schemeClr val="tx1"/>
                </a:solidFill>
              </a:rPr>
              <a:t>도움말</a:t>
            </a: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2451749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2"/>
            <a:endCxn id="24" idx="0"/>
          </p:cNvCxnSpPr>
          <p:nvPr/>
        </p:nvCxnSpPr>
        <p:spPr>
          <a:xfrm>
            <a:off x="4647742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>
                <a:solidFill>
                  <a:schemeClr val="tx1"/>
                </a:solidFill>
              </a:rPr>
              <a:t>앱 실행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업데이트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ko-KR" altLang="en-US" sz="1200" dirty="0">
                <a:solidFill>
                  <a:schemeClr val="tx1"/>
                </a:solidFill>
              </a:rPr>
              <a:t>필수</a:t>
            </a:r>
            <a:r>
              <a:rPr lang="en-US" altLang="ko-KR" sz="1200" dirty="0">
                <a:solidFill>
                  <a:schemeClr val="tx1"/>
                </a:solidFill>
              </a:rPr>
              <a:t>), </a:t>
            </a:r>
            <a:r>
              <a:rPr lang="ko-KR" altLang="en-US" sz="1200" dirty="0">
                <a:solidFill>
                  <a:schemeClr val="tx1"/>
                </a:solidFill>
              </a:rPr>
              <a:t>권한 동의</a:t>
            </a:r>
            <a:r>
              <a:rPr lang="en-US" altLang="ko-KR" sz="1200" dirty="0">
                <a:solidFill>
                  <a:schemeClr val="tx1"/>
                </a:solidFill>
              </a:rPr>
              <a:t>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grpSp>
        <p:nvGrpSpPr>
          <p:cNvPr id="55" name="그룹 5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7" name="그룹 5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6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23423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메인 페이지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햄버거 메뉴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3130536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983614"/>
            <a:ext cx="900000" cy="293844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532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82" idx="1"/>
          </p:cNvCxnSpPr>
          <p:nvPr/>
        </p:nvCxnSpPr>
        <p:spPr>
          <a:xfrm>
            <a:off x="6928876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3" idx="1"/>
          </p:cNvCxnSpPr>
          <p:nvPr/>
        </p:nvCxnSpPr>
        <p:spPr>
          <a:xfrm>
            <a:off x="6928876" y="3130536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29698" y="323679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58695" y="3040535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06" name="직선 화살표 연결선 10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2" idx="3"/>
            <a:endCxn id="104" idx="2"/>
          </p:cNvCxnSpPr>
          <p:nvPr/>
        </p:nvCxnSpPr>
        <p:spPr>
          <a:xfrm flipV="1">
            <a:off x="8760010" y="3130535"/>
            <a:ext cx="398685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104" idx="2"/>
          </p:cNvCxnSpPr>
          <p:nvPr/>
        </p:nvCxnSpPr>
        <p:spPr>
          <a:xfrm flipV="1">
            <a:off x="8760010" y="3130535"/>
            <a:ext cx="398685" cy="6787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1.2.2 </a:t>
            </a:r>
            <a:r>
              <a:rPr lang="ko-KR" altLang="en-US" sz="1200" dirty="0">
                <a:solidFill>
                  <a:schemeClr val="tx1"/>
                </a:solidFill>
              </a:rPr>
              <a:t>메인 페이지</a:t>
            </a:r>
          </a:p>
        </p:txBody>
      </p:sp>
      <p:cxnSp>
        <p:nvCxnSpPr>
          <p:cNvPr id="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</a:t>
            </a:r>
          </a:p>
        </p:txBody>
      </p:sp>
      <p:cxnSp>
        <p:nvCxnSpPr>
          <p:cNvPr id="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58" idx="1"/>
          </p:cNvCxnSpPr>
          <p:nvPr/>
        </p:nvCxnSpPr>
        <p:spPr>
          <a:xfrm>
            <a:off x="3266608" y="1772964"/>
            <a:ext cx="931134" cy="27109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18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알림 현황</a:t>
            </a:r>
          </a:p>
        </p:txBody>
      </p:sp>
      <p:cxnSp>
        <p:nvCxnSpPr>
          <p:cNvPr id="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63" idx="1"/>
          </p:cNvCxnSpPr>
          <p:nvPr/>
        </p:nvCxnSpPr>
        <p:spPr>
          <a:xfrm>
            <a:off x="3266608" y="1772964"/>
            <a:ext cx="931134" cy="338970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398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통합검색 결과</a:t>
            </a:r>
          </a:p>
        </p:txBody>
      </p:sp>
      <p:cxnSp>
        <p:nvCxnSpPr>
          <p:cNvPr id="71" name="직선 화살표 연결선 7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58" idx="3"/>
            <a:endCxn id="68" idx="1"/>
          </p:cNvCxnSpPr>
          <p:nvPr/>
        </p:nvCxnSpPr>
        <p:spPr>
          <a:xfrm>
            <a:off x="5097742" y="448387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43441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73" idx="1"/>
          </p:cNvCxnSpPr>
          <p:nvPr/>
        </p:nvCxnSpPr>
        <p:spPr>
          <a:xfrm>
            <a:off x="6928876" y="3130536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04" idx="2"/>
          </p:cNvCxnSpPr>
          <p:nvPr/>
        </p:nvCxnSpPr>
        <p:spPr>
          <a:xfrm flipV="1">
            <a:off x="8760010" y="3130535"/>
            <a:ext cx="398685" cy="135757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01866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34" idx="3"/>
            <a:endCxn id="86" idx="1"/>
          </p:cNvCxnSpPr>
          <p:nvPr/>
        </p:nvCxnSpPr>
        <p:spPr>
          <a:xfrm>
            <a:off x="6928876" y="3130536"/>
            <a:ext cx="931134" cy="203212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6" idx="3"/>
            <a:endCxn id="104" idx="2"/>
          </p:cNvCxnSpPr>
          <p:nvPr/>
        </p:nvCxnSpPr>
        <p:spPr>
          <a:xfrm flipV="1">
            <a:off x="8760010" y="3130535"/>
            <a:ext cx="398685" cy="203212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PC 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93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세부 메뉴 이동</a:t>
            </a:r>
          </a:p>
        </p:txBody>
      </p:sp>
      <p:cxnSp>
        <p:nvCxnSpPr>
          <p:cNvPr id="1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97" idx="1"/>
          </p:cNvCxnSpPr>
          <p:nvPr/>
        </p:nvCxnSpPr>
        <p:spPr>
          <a:xfrm>
            <a:off x="5097742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안내</a:t>
            </a:r>
          </a:p>
        </p:txBody>
      </p: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2" idx="2"/>
            <a:endCxn id="34" idx="0"/>
          </p:cNvCxnSpPr>
          <p:nvPr/>
        </p:nvCxnSpPr>
        <p:spPr>
          <a:xfrm rot="16200000" flipH="1">
            <a:off x="5367916" y="1875576"/>
            <a:ext cx="390786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2184638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미로그인</a:t>
            </a:r>
            <a:r>
              <a:rPr lang="ko-KR" altLang="en-US" sz="800" dirty="0">
                <a:solidFill>
                  <a:schemeClr val="tx1"/>
                </a:solidFill>
              </a:rPr>
              <a:t> 상태</a:t>
            </a:r>
          </a:p>
        </p:txBody>
      </p:sp>
      <p:sp>
        <p:nvSpPr>
          <p:cNvPr id="13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1866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 페이지 이동</a:t>
            </a:r>
          </a:p>
        </p:txBody>
      </p: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8" idx="2"/>
            <a:endCxn id="133" idx="0"/>
          </p:cNvCxnSpPr>
          <p:nvPr/>
        </p:nvCxnSpPr>
        <p:spPr>
          <a:xfrm>
            <a:off x="6478876" y="4627878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3" idx="3"/>
            <a:endCxn id="133" idx="1"/>
          </p:cNvCxnSpPr>
          <p:nvPr/>
        </p:nvCxnSpPr>
        <p:spPr>
          <a:xfrm flipV="1">
            <a:off x="5097742" y="5162663"/>
            <a:ext cx="931134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824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" idx="3"/>
            <a:endCxn id="145" idx="1"/>
          </p:cNvCxnSpPr>
          <p:nvPr/>
        </p:nvCxnSpPr>
        <p:spPr>
          <a:xfrm>
            <a:off x="5097742" y="3130536"/>
            <a:ext cx="931134" cy="68170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569321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직선 화살표 연결선 15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6" idx="2"/>
            <a:endCxn id="154" idx="0"/>
          </p:cNvCxnSpPr>
          <p:nvPr/>
        </p:nvCxnSpPr>
        <p:spPr>
          <a:xfrm>
            <a:off x="8310010" y="5306663"/>
            <a:ext cx="0" cy="38655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104" idx="2"/>
          </p:cNvCxnSpPr>
          <p:nvPr/>
        </p:nvCxnSpPr>
        <p:spPr>
          <a:xfrm flipV="1">
            <a:off x="8760010" y="3130535"/>
            <a:ext cx="398685" cy="270668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04" idx="2"/>
          </p:cNvCxnSpPr>
          <p:nvPr/>
        </p:nvCxnSpPr>
        <p:spPr>
          <a:xfrm>
            <a:off x="6928876" y="2451750"/>
            <a:ext cx="2229819" cy="678785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104" idx="2"/>
          </p:cNvCxnSpPr>
          <p:nvPr/>
        </p:nvCxnSpPr>
        <p:spPr>
          <a:xfrm>
            <a:off x="6928876" y="1772964"/>
            <a:ext cx="2229819" cy="1357571"/>
          </a:xfrm>
          <a:prstGeom prst="bentConnector3">
            <a:avLst>
              <a:gd name="adj1" fmla="val 9127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69029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 err="1">
                <a:solidFill>
                  <a:schemeClr val="tx1"/>
                </a:solidFill>
              </a:rPr>
              <a:t>챗봇</a:t>
            </a:r>
            <a:r>
              <a:rPr lang="ko-KR" altLang="en-US" sz="800" dirty="0">
                <a:solidFill>
                  <a:schemeClr val="tx1"/>
                </a:solidFill>
              </a:rPr>
              <a:t> 문의</a:t>
            </a:r>
          </a:p>
        </p:txBody>
      </p:sp>
      <p:cxnSp>
        <p:nvCxnSpPr>
          <p:cNvPr id="1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171" idx="1"/>
          </p:cNvCxnSpPr>
          <p:nvPr/>
        </p:nvCxnSpPr>
        <p:spPr>
          <a:xfrm>
            <a:off x="3266608" y="1772964"/>
            <a:ext cx="931134" cy="40613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6359879" y="592471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6388876" y="5744298"/>
            <a:ext cx="180000" cy="180000"/>
            <a:chOff x="5058274" y="2498299"/>
            <a:chExt cx="180000" cy="180000"/>
          </a:xfrm>
        </p:grpSpPr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80" name="직선 화살표 연결선 17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71" idx="3"/>
            <a:endCxn id="177" idx="2"/>
          </p:cNvCxnSpPr>
          <p:nvPr/>
        </p:nvCxnSpPr>
        <p:spPr>
          <a:xfrm>
            <a:off x="5097742" y="5834298"/>
            <a:ext cx="129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화살표 연결선 1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3" idx="2"/>
            <a:endCxn id="177" idx="0"/>
          </p:cNvCxnSpPr>
          <p:nvPr/>
        </p:nvCxnSpPr>
        <p:spPr>
          <a:xfrm>
            <a:off x="6478876" y="5306663"/>
            <a:ext cx="0" cy="43763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5" idx="3"/>
            <a:endCxn id="177" idx="6"/>
          </p:cNvCxnSpPr>
          <p:nvPr/>
        </p:nvCxnSpPr>
        <p:spPr>
          <a:xfrm flipH="1">
            <a:off x="6568876" y="3812244"/>
            <a:ext cx="360000" cy="2022054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12" idx="3"/>
          </p:cNvCxnSpPr>
          <p:nvPr/>
        </p:nvCxnSpPr>
        <p:spPr>
          <a:xfrm>
            <a:off x="5097742" y="1772964"/>
            <a:ext cx="12700" cy="678786"/>
          </a:xfrm>
          <a:prstGeom prst="bentConnector3">
            <a:avLst>
              <a:gd name="adj1" fmla="val 368235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3667" y="1920752"/>
            <a:ext cx="993862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PC </a:t>
            </a:r>
            <a:r>
              <a:rPr lang="ko-KR" altLang="en-US" sz="800" dirty="0">
                <a:solidFill>
                  <a:schemeClr val="tx1"/>
                </a:solidFill>
              </a:rPr>
              <a:t>화면의 </a:t>
            </a:r>
            <a:r>
              <a:rPr lang="en-US" altLang="ko-KR" sz="800" dirty="0">
                <a:solidFill>
                  <a:schemeClr val="tx1"/>
                </a:solidFill>
              </a:rPr>
              <a:t>QR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화면 스캔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95484" y="3289310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  <p:grpSp>
        <p:nvGrpSpPr>
          <p:cNvPr id="75" name="그룹 74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76" name="그룹 75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8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9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648390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8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03196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72421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203909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</a:t>
            </a: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sp>
        <p:nvSpPr>
          <p:cNvPr id="10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행안부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솔루션 프로세스</a:t>
            </a:r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10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화살표 연결선 11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107" idx="1"/>
          </p:cNvCxnSpPr>
          <p:nvPr/>
        </p:nvCxnSpPr>
        <p:spPr>
          <a:xfrm>
            <a:off x="5097742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직선 화살표 연결선 11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7" idx="3"/>
            <a:endCxn id="76" idx="1"/>
          </p:cNvCxnSpPr>
          <p:nvPr/>
        </p:nvCxnSpPr>
        <p:spPr>
          <a:xfrm>
            <a:off x="5097742" y="313053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 안내</a:t>
            </a:r>
          </a:p>
        </p:txBody>
      </p:sp>
      <p:sp>
        <p:nvSpPr>
          <p:cNvPr id="12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실패 안내</a:t>
            </a:r>
          </a:p>
        </p:txBody>
      </p:sp>
      <p:cxnSp>
        <p:nvCxnSpPr>
          <p:cNvPr id="126" name="직선 화살표 연결선 12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1" idx="3"/>
            <a:endCxn id="124" idx="1"/>
          </p:cNvCxnSpPr>
          <p:nvPr/>
        </p:nvCxnSpPr>
        <p:spPr>
          <a:xfrm>
            <a:off x="6928876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7" idx="3"/>
            <a:endCxn id="125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188462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1682964"/>
            <a:ext cx="180000" cy="180000"/>
            <a:chOff x="5058274" y="2498299"/>
            <a:chExt cx="180000" cy="180000"/>
          </a:xfrm>
        </p:grpSpPr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68" name="직선 화살표 연결선 1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4" idx="3"/>
            <a:endCxn id="166" idx="2"/>
          </p:cNvCxnSpPr>
          <p:nvPr/>
        </p:nvCxnSpPr>
        <p:spPr>
          <a:xfrm>
            <a:off x="8760010" y="1772964"/>
            <a:ext cx="43693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662423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cxnSp>
        <p:nvCxnSpPr>
          <p:cNvPr id="20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7" idx="3"/>
            <a:endCxn id="205" idx="1"/>
          </p:cNvCxnSpPr>
          <p:nvPr/>
        </p:nvCxnSpPr>
        <p:spPr>
          <a:xfrm>
            <a:off x="5097742" y="3130536"/>
            <a:ext cx="931134" cy="67588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3662423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미 등록</a:t>
            </a: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684230" y="2986536"/>
            <a:ext cx="34464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 dirty="0">
                <a:solidFill>
                  <a:schemeClr val="tx1"/>
                </a:solidFill>
              </a:rPr>
              <a:t>기 등록</a:t>
            </a:r>
          </a:p>
        </p:txBody>
      </p:sp>
      <p:sp>
        <p:nvSpPr>
          <p:cNvPr id="25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36624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en-US" altLang="ko-KR" sz="700" dirty="0">
                <a:solidFill>
                  <a:prstClr val="black"/>
                </a:solidFill>
              </a:rPr>
              <a:t>(PC </a:t>
            </a:r>
            <a:r>
              <a:rPr lang="en-US" altLang="ko-KR" sz="700" dirty="0">
                <a:solidFill>
                  <a:prstClr val="black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solidFill>
                  <a:prstClr val="black"/>
                </a:solidFill>
                <a:sym typeface="Wingdings" panose="05000000000000000000" pitchFamily="2" charset="2"/>
              </a:rPr>
              <a:t>모바일</a:t>
            </a:r>
            <a:r>
              <a:rPr lang="en-US" altLang="ko-KR" sz="700" dirty="0">
                <a:solidFill>
                  <a:prstClr val="black"/>
                </a:solidFill>
              </a:rPr>
              <a:t>)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260" name="직선 화살표 연결선 25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05" idx="3"/>
            <a:endCxn id="259" idx="1"/>
          </p:cNvCxnSpPr>
          <p:nvPr/>
        </p:nvCxnSpPr>
        <p:spPr>
          <a:xfrm>
            <a:off x="6928876" y="3806423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21807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없음</a:t>
            </a: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5962190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5764482"/>
            <a:ext cx="180000" cy="180000"/>
            <a:chOff x="5058274" y="2498299"/>
            <a:chExt cx="180000" cy="180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2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9" idx="0"/>
            <a:endCxn id="76" idx="2"/>
          </p:cNvCxnSpPr>
          <p:nvPr/>
        </p:nvCxnSpPr>
        <p:spPr>
          <a:xfrm rot="16200000" flipV="1">
            <a:off x="7200500" y="2552913"/>
            <a:ext cx="387887" cy="183113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853858" y="1508753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69680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5" idx="3"/>
            <a:endCxn id="263" idx="3"/>
          </p:cNvCxnSpPr>
          <p:nvPr/>
        </p:nvCxnSpPr>
        <p:spPr>
          <a:xfrm flipH="1">
            <a:off x="8756934" y="2451750"/>
            <a:ext cx="3076" cy="2717175"/>
          </a:xfrm>
          <a:prstGeom prst="bentConnector3">
            <a:avLst>
              <a:gd name="adj1" fmla="val -743173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(1/3)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63" idx="2"/>
            <a:endCxn id="269" idx="2"/>
          </p:cNvCxnSpPr>
          <p:nvPr/>
        </p:nvCxnSpPr>
        <p:spPr>
          <a:xfrm rot="16200000" flipH="1">
            <a:off x="8481163" y="5138696"/>
            <a:ext cx="541557" cy="89001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6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6" idx="3"/>
            <a:endCxn id="124" idx="1"/>
          </p:cNvCxnSpPr>
          <p:nvPr/>
        </p:nvCxnSpPr>
        <p:spPr>
          <a:xfrm flipV="1">
            <a:off x="6928876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031638" y="3967076"/>
            <a:ext cx="79188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경로 안내용 표지</a:t>
            </a:r>
          </a:p>
        </p:txBody>
      </p:sp>
      <p:grpSp>
        <p:nvGrpSpPr>
          <p:cNvPr id="66" name="그룹 6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69" name="그룹 68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81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2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58770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Any-ID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 err="1">
                <a:solidFill>
                  <a:schemeClr val="tx1"/>
                </a:solidFill>
              </a:rPr>
              <a:t>간편인증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금융인증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 err="1">
                <a:solidFill>
                  <a:schemeClr val="tx1"/>
                </a:solidFill>
              </a:rPr>
              <a:t>공동인증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371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33959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 안내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9" name="직선 화살표 연결선 1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2"/>
            <a:endCxn id="108" idx="0"/>
          </p:cNvCxnSpPr>
          <p:nvPr/>
        </p:nvCxnSpPr>
        <p:spPr>
          <a:xfrm>
            <a:off x="4647742" y="3956061"/>
            <a:ext cx="0" cy="39078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92" idx="1"/>
          </p:cNvCxnSpPr>
          <p:nvPr/>
        </p:nvCxnSpPr>
        <p:spPr>
          <a:xfrm>
            <a:off x="5097742" y="4490846"/>
            <a:ext cx="931134" cy="6780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512772" y="4625097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회원정보 있음</a:t>
            </a:r>
          </a:p>
        </p:txBody>
      </p:sp>
      <p:sp>
        <p:nvSpPr>
          <p:cNvPr id="2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80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로그인</a:t>
            </a:r>
          </a:p>
        </p:txBody>
      </p:sp>
      <p:cxnSp>
        <p:nvCxnSpPr>
          <p:cNvPr id="244" name="직선 화살표 연결선 24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8" idx="3"/>
          </p:cNvCxnSpPr>
          <p:nvPr/>
        </p:nvCxnSpPr>
        <p:spPr>
          <a:xfrm>
            <a:off x="5097742" y="3812061"/>
            <a:ext cx="234808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0"/>
            <a:endCxn id="154" idx="2"/>
          </p:cNvCxnSpPr>
          <p:nvPr/>
        </p:nvCxnSpPr>
        <p:spPr>
          <a:xfrm flipV="1">
            <a:off x="6478876" y="463484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5024925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본인인증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ko-KR" altLang="en-US" sz="700" dirty="0">
                <a:solidFill>
                  <a:schemeClr val="tx1"/>
                </a:solidFill>
              </a:rPr>
              <a:t> 등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103838" y="3668061"/>
            <a:ext cx="74699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Y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681839" y="4217818"/>
            <a:ext cx="767839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r>
              <a:rPr lang="ko-KR" altLang="en-US" sz="800" dirty="0">
                <a:solidFill>
                  <a:schemeClr val="tx1"/>
                </a:solidFill>
              </a:rPr>
              <a:t> 등록 </a:t>
            </a:r>
            <a:r>
              <a:rPr lang="en-US" altLang="ko-KR" sz="800" dirty="0">
                <a:solidFill>
                  <a:schemeClr val="tx1"/>
                </a:solidFill>
              </a:rPr>
              <a:t>N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0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242" idx="1"/>
          </p:cNvCxnSpPr>
          <p:nvPr/>
        </p:nvCxnSpPr>
        <p:spPr>
          <a:xfrm flipV="1">
            <a:off x="6928876" y="3812061"/>
            <a:ext cx="928058" cy="67878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22061"/>
            <a:ext cx="180000" cy="180000"/>
            <a:chOff x="5058274" y="2498299"/>
            <a:chExt cx="180000" cy="180000"/>
          </a:xfrm>
        </p:grpSpPr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2" idx="3"/>
            <a:endCxn id="115" idx="2"/>
          </p:cNvCxnSpPr>
          <p:nvPr/>
        </p:nvCxnSpPr>
        <p:spPr>
          <a:xfrm>
            <a:off x="8756934" y="3812061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502492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등록 안내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모바일 회원가입 불가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42" name="직선 화살표 연결선 1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131" idx="1"/>
          </p:cNvCxnSpPr>
          <p:nvPr/>
        </p:nvCxnSpPr>
        <p:spPr>
          <a:xfrm>
            <a:off x="6928876" y="5168925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7204511" y="5024925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800">
                <a:solidFill>
                  <a:schemeClr val="tx1"/>
                </a:solidFill>
              </a:rPr>
              <a:t>회원정보 없음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(2/3)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(PC)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dirty="0">
              <a:solidFill>
                <a:srgbClr val="0000FF"/>
              </a:solidFill>
              <a:latin typeface="+mn-ea"/>
            </a:endParaRPr>
          </a:p>
        </p:txBody>
      </p:sp>
      <p:cxnSp>
        <p:nvCxnSpPr>
          <p:cNvPr id="5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1" idx="3"/>
            <a:endCxn id="115" idx="2"/>
          </p:cNvCxnSpPr>
          <p:nvPr/>
        </p:nvCxnSpPr>
        <p:spPr>
          <a:xfrm flipV="1">
            <a:off x="8756934" y="3812061"/>
            <a:ext cx="440014" cy="13568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grpSp>
        <p:nvGrpSpPr>
          <p:cNvPr id="56" name="그룹 55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57" name="그룹 56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6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174350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아이콘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간편인증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0" idx="3"/>
            <a:endCxn id="75" idx="1"/>
          </p:cNvCxnSpPr>
          <p:nvPr/>
        </p:nvCxnSpPr>
        <p:spPr>
          <a:xfrm>
            <a:off x="3266608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방식 선택</a:t>
            </a:r>
          </a:p>
        </p:txBody>
      </p: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2"/>
            <a:endCxn id="70" idx="0"/>
          </p:cNvCxnSpPr>
          <p:nvPr/>
        </p:nvCxnSpPr>
        <p:spPr>
          <a:xfrm>
            <a:off x="2816608" y="1916964"/>
            <a:ext cx="0" cy="39078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 신분증</a:t>
            </a: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각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인증서</a:t>
            </a:r>
          </a:p>
        </p:txBody>
      </p:sp>
      <p:sp>
        <p:nvSpPr>
          <p:cNvPr id="7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668061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생체인증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43468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9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22" idx="1"/>
          </p:cNvCxnSpPr>
          <p:nvPr/>
        </p:nvCxnSpPr>
        <p:spPr>
          <a:xfrm flipV="1"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9" idx="1"/>
          </p:cNvCxnSpPr>
          <p:nvPr/>
        </p:nvCxnSpPr>
        <p:spPr>
          <a:xfrm>
            <a:off x="3266608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8" idx="1"/>
          </p:cNvCxnSpPr>
          <p:nvPr/>
        </p:nvCxnSpPr>
        <p:spPr>
          <a:xfrm>
            <a:off x="3266608" y="2451750"/>
            <a:ext cx="931134" cy="136031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0" idx="3"/>
            <a:endCxn id="77" idx="1"/>
          </p:cNvCxnSpPr>
          <p:nvPr/>
        </p:nvCxnSpPr>
        <p:spPr>
          <a:xfrm>
            <a:off x="3266608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화살표 연결선 14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08" idx="3"/>
            <a:endCxn id="149" idx="1"/>
          </p:cNvCxnSpPr>
          <p:nvPr/>
        </p:nvCxnSpPr>
        <p:spPr>
          <a:xfrm>
            <a:off x="5097742" y="4490846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</a:t>
            </a:r>
          </a:p>
        </p:txBody>
      </p: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154" idx="1"/>
          </p:cNvCxnSpPr>
          <p:nvPr/>
        </p:nvCxnSpPr>
        <p:spPr>
          <a:xfrm flipV="1">
            <a:off x="5097742" y="3130536"/>
            <a:ext cx="931134" cy="136031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434269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사용자 등록 안내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 algn="ctr"/>
            <a:r>
              <a:rPr lang="ko-KR" altLang="en-US" sz="600" dirty="0">
                <a:solidFill>
                  <a:prstClr val="black"/>
                </a:solidFill>
              </a:rPr>
              <a:t>모바일 회원가입 불가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4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2986536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</a:rPr>
              <a:t/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en-US" altLang="ko-KR" sz="700" dirty="0">
                <a:solidFill>
                  <a:schemeClr val="tx1"/>
                </a:solidFill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</a:rPr>
              <a:t>간편인증</a:t>
            </a:r>
            <a:r>
              <a:rPr lang="en-US" altLang="ko-KR" sz="700" dirty="0">
                <a:solidFill>
                  <a:schemeClr val="tx1"/>
                </a:solidFill>
              </a:rPr>
              <a:t>, </a:t>
            </a:r>
            <a:r>
              <a:rPr lang="ko-KR" altLang="en-US" sz="700" dirty="0">
                <a:solidFill>
                  <a:schemeClr val="tx1"/>
                </a:solidFill>
              </a:rPr>
              <a:t>본인인증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54" idx="3"/>
            <a:endCxn id="42" idx="1"/>
          </p:cNvCxnSpPr>
          <p:nvPr/>
        </p:nvCxnSpPr>
        <p:spPr>
          <a:xfrm>
            <a:off x="6928876" y="3130536"/>
            <a:ext cx="92805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56934" y="366461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ID/PW </a:t>
            </a:r>
            <a:r>
              <a:rPr lang="ko-KR" altLang="en-US" sz="800" dirty="0">
                <a:solidFill>
                  <a:schemeClr val="tx1"/>
                </a:solidFill>
              </a:rPr>
              <a:t>찾기 완료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2" idx="2"/>
            <a:endCxn id="46" idx="0"/>
          </p:cNvCxnSpPr>
          <p:nvPr/>
        </p:nvCxnSpPr>
        <p:spPr>
          <a:xfrm>
            <a:off x="8306934" y="3274536"/>
            <a:ext cx="0" cy="39007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167951" y="391976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196948" y="3718615"/>
            <a:ext cx="180000" cy="180000"/>
            <a:chOff x="5058274" y="2498299"/>
            <a:chExt cx="180000" cy="180000"/>
          </a:xfrm>
        </p:grpSpPr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46" idx="3"/>
            <a:endCxn id="66" idx="2"/>
          </p:cNvCxnSpPr>
          <p:nvPr/>
        </p:nvCxnSpPr>
        <p:spPr>
          <a:xfrm>
            <a:off x="8756934" y="3808615"/>
            <a:ext cx="44001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 성공</a:t>
            </a:r>
            <a:r>
              <a:rPr lang="en-US" altLang="ko-KR" sz="800" dirty="0">
                <a:solidFill>
                  <a:schemeClr val="tx1"/>
                </a:solidFill>
              </a:rPr>
              <a:t>,</a:t>
            </a:r>
            <a:br>
              <a:rPr lang="en-US" altLang="ko-KR" sz="800" dirty="0">
                <a:solidFill>
                  <a:schemeClr val="tx1"/>
                </a:solidFill>
              </a:rPr>
            </a:b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9" idx="3"/>
            <a:endCxn id="83" idx="1"/>
          </p:cNvCxnSpPr>
          <p:nvPr/>
        </p:nvCxnSpPr>
        <p:spPr>
          <a:xfrm flipV="1">
            <a:off x="5097742" y="2451750"/>
            <a:ext cx="931134" cy="203909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3" idx="3"/>
            <a:endCxn id="66" idx="2"/>
          </p:cNvCxnSpPr>
          <p:nvPr/>
        </p:nvCxnSpPr>
        <p:spPr>
          <a:xfrm>
            <a:off x="6928876" y="2451750"/>
            <a:ext cx="2268072" cy="1356865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1.2.3 </a:t>
            </a:r>
            <a:r>
              <a:rPr lang="ko-KR" altLang="en-US" sz="1200" dirty="0">
                <a:solidFill>
                  <a:schemeClr val="tx1"/>
                </a:solidFill>
              </a:rPr>
              <a:t>로그인 </a:t>
            </a:r>
            <a:r>
              <a:rPr lang="en-US" altLang="ko-KR" sz="1200" dirty="0">
                <a:solidFill>
                  <a:schemeClr val="tx1"/>
                </a:solidFill>
              </a:rPr>
              <a:t>(3/3)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2" idx="3"/>
            <a:endCxn id="66" idx="2"/>
          </p:cNvCxnSpPr>
          <p:nvPr/>
        </p:nvCxnSpPr>
        <p:spPr>
          <a:xfrm flipV="1">
            <a:off x="6928876" y="3808615"/>
            <a:ext cx="2268072" cy="678079"/>
          </a:xfrm>
          <a:prstGeom prst="bentConnector3">
            <a:avLst>
              <a:gd name="adj1" fmla="val 8919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6619C48D-7E22-9D49-50C5-2404458A47CE}"/>
              </a:ext>
            </a:extLst>
          </p:cNvPr>
          <p:cNvSpPr txBox="1"/>
          <p:nvPr/>
        </p:nvSpPr>
        <p:spPr>
          <a:xfrm>
            <a:off x="736948" y="6163510"/>
            <a:ext cx="8640000" cy="242814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marL="87313" lvl="0" indent="-87313" fontAlgn="base" latinLnBrk="0">
              <a:lnSpc>
                <a:spcPct val="160000"/>
              </a:lnSpc>
              <a:buFont typeface="Wingdings" panose="05000000000000000000" pitchFamily="2" charset="2"/>
              <a:buChar char="v"/>
            </a:pP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앱 서비스에서 회원가입은 불가능하며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,</a:t>
            </a:r>
            <a:r>
              <a:rPr lang="ko-KR" altLang="en-US" sz="800" kern="0" dirty="0">
                <a:solidFill>
                  <a:srgbClr val="0000FF"/>
                </a:solidFill>
                <a:latin typeface="+mn-ea"/>
              </a:rPr>
              <a:t> 국방전자조달시스템에 등록하여야 함을 안내합니다</a:t>
            </a:r>
            <a:r>
              <a:rPr lang="en-US" altLang="ko-KR" sz="800" kern="0" dirty="0">
                <a:solidFill>
                  <a:srgbClr val="0000FF"/>
                </a:solidFill>
                <a:latin typeface="+mn-ea"/>
              </a:rPr>
              <a:t>.</a:t>
            </a:r>
            <a:endParaRPr lang="ko-KR" altLang="en-US" sz="800" kern="0" spc="0" dirty="0">
              <a:solidFill>
                <a:srgbClr val="0000FF"/>
              </a:solidFill>
              <a:effectLst/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grpSp>
        <p:nvGrpSpPr>
          <p:cNvPr id="44" name="그룹 43"/>
          <p:cNvGrpSpPr/>
          <p:nvPr/>
        </p:nvGrpSpPr>
        <p:grpSpPr>
          <a:xfrm>
            <a:off x="492190" y="5392498"/>
            <a:ext cx="1063310" cy="783216"/>
            <a:chOff x="492190" y="5392498"/>
            <a:chExt cx="1063310" cy="783216"/>
          </a:xfrm>
        </p:grpSpPr>
        <p:grpSp>
          <p:nvGrpSpPr>
            <p:cNvPr id="45" name="그룹 44"/>
            <p:cNvGrpSpPr/>
            <p:nvPr/>
          </p:nvGrpSpPr>
          <p:grpSpPr>
            <a:xfrm>
              <a:off x="492190" y="5624092"/>
              <a:ext cx="235869" cy="548293"/>
              <a:chOff x="669822" y="4927621"/>
              <a:chExt cx="912149" cy="1378059"/>
            </a:xfrm>
          </p:grpSpPr>
          <p:sp>
            <p:nvSpPr>
              <p:cNvPr id="53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5466998"/>
                <a:ext cx="899998" cy="28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4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69822" y="4927621"/>
                <a:ext cx="899998" cy="288000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endParaRPr lang="ko-KR" altLang="en-US" sz="8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5" name="사각형: 둥근 모서리 5">
                <a:extLst>
                  <a:ext uri="{FF2B5EF4-FFF2-40B4-BE49-F238E27FC236}">
                    <a16:creationId xmlns:a16="http://schemas.microsoft.com/office/drawing/2014/main" id="{410E5459-200D-7630-863C-88E5109259DF}"/>
                  </a:ext>
                </a:extLst>
              </p:cNvPr>
              <p:cNvSpPr/>
              <p:nvPr/>
            </p:nvSpPr>
            <p:spPr>
              <a:xfrm>
                <a:off x="681971" y="6006377"/>
                <a:ext cx="900000" cy="299303"/>
              </a:xfrm>
              <a:prstGeom prst="roundRect">
                <a:avLst>
                  <a:gd name="adj" fmla="val 5227"/>
                </a:avLst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endParaRPr lang="ko-KR" altLang="en-US" sz="800" b="1" dirty="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499695" y="5392498"/>
              <a:ext cx="20518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범례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617943"/>
              <a:ext cx="652423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err="1">
                  <a:solidFill>
                    <a:schemeClr val="tx1"/>
                  </a:solidFill>
                </a:rPr>
                <a:t>화면목록</a:t>
              </a:r>
              <a:r>
                <a:rPr lang="ko-KR" altLang="en-US" sz="800" dirty="0">
                  <a:solidFill>
                    <a:schemeClr val="tx1"/>
                  </a:solidFill>
                </a:rPr>
                <a:t> 항목</a:t>
              </a: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5834434"/>
              <a:ext cx="68929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흐름 참고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29339" y="6052603"/>
              <a:ext cx="726161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r>
                <a:rPr lang="ko-KR" altLang="en-US" sz="800" dirty="0" smtClean="0">
                  <a:solidFill>
                    <a:schemeClr val="tx1"/>
                  </a:solidFill>
                </a:rPr>
                <a:t>탭 등 그룹 항목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015089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앱실행스플래시</a:t>
            </a:r>
            <a:r>
              <a:rPr lang="en-US" altLang="ko-KR" sz="1000" dirty="0">
                <a:solidFill>
                  <a:schemeClr val="tx1"/>
                </a:solidFill>
              </a:rPr>
              <a:t>–</a:t>
            </a:r>
            <a:r>
              <a:rPr lang="ko-KR" altLang="en-US" sz="1000" dirty="0">
                <a:solidFill>
                  <a:schemeClr val="tx1"/>
                </a:solidFill>
              </a:rPr>
              <a:t>로고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SplashPage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앱업데이트안내팝업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AppUpdateInfo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앱접근권한동의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앱접근권한동의팝업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AppAuthrtAgrePage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앱오류안내팝업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AppErrInfo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앱이용안내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AppSrvcExpln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메인홈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MscrnPage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중요공지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시스템안내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SysExpln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통합검색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결과목록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IntgSrch_Rslt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햄버거메뉴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MenuPage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사용자 등록 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UserRegInfoPage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로그인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방식선택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MainLoginPage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알림현황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notiPrstPage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챗봇문의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ChatbotPage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480558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ID/PW 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IdPswdLoginPage.tsx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IdRegInfoFndngPage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ID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등록정보로찾기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PswdRegInfoFndngPage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PW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찾기결과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간편인증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SimpleCert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금융인증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FnstCert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공동인증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JntCert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모바일신분증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MobileIdntyCert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</a:rPr>
              <a:t>CertRsltPage.tsx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생체인증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생체인증등록완료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BioInfoCertRsltPage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550353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16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PCQR</a:t>
            </a:r>
            <a:r>
              <a:rPr lang="ko-KR" altLang="en-US" sz="1000" dirty="0">
                <a:solidFill>
                  <a:schemeClr val="tx1"/>
                </a:solidFill>
              </a:rPr>
              <a:t>로그인</a:t>
            </a: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</a:rPr>
              <a:t>PcQRLgnPage.tsx</a:t>
            </a:r>
            <a:r>
              <a:rPr lang="en-US" altLang="ko-KR" sz="1000" dirty="0">
                <a:solidFill>
                  <a:schemeClr val="tx1"/>
                </a:solidFill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로그아웃안내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LgoInfo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로그인필요서비스안내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LgnSrvcInfo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메인관리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mainMngController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로그인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LoginController</a:t>
            </a:r>
            <a:endParaRPr lang="en-US" altLang="ko-KR" sz="11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194616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1.3.1 </a:t>
            </a:r>
            <a:r>
              <a:rPr lang="ko-KR" altLang="en-US" sz="1200" dirty="0" err="1">
                <a:solidFill>
                  <a:schemeClr val="tx1"/>
                </a:solidFill>
              </a:rPr>
              <a:t>앱실행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4180166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 err="1"/>
              <a:t>권한관리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AuthrtMngController</a:t>
            </a:r>
            <a:endParaRPr lang="en-US" altLang="ko-KR" sz="1100" dirty="0"/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9" idx="1"/>
          </p:cNvCxnSpPr>
          <p:nvPr/>
        </p:nvCxnSpPr>
        <p:spPr>
          <a:xfrm>
            <a:off x="5687291" y="2990174"/>
            <a:ext cx="1226127" cy="143297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310950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기동 시 노출되는 로고 </a:t>
            </a:r>
            <a:r>
              <a:rPr lang="ko-KR" altLang="en-US" dirty="0" err="1"/>
              <a:t>스플래시</a:t>
            </a:r>
            <a:r>
              <a:rPr lang="ko-KR" altLang="en-US" dirty="0"/>
              <a:t> 화면</a:t>
            </a:r>
            <a:endParaRPr lang="en-US" altLang="ko-KR" dirty="0"/>
          </a:p>
          <a:p>
            <a:pPr marL="369887" lvl="1"/>
            <a:r>
              <a:rPr lang="en-US" altLang="ko-KR" dirty="0"/>
              <a:t>1-1. </a:t>
            </a:r>
            <a:r>
              <a:rPr lang="ko-KR" altLang="en-US" dirty="0"/>
              <a:t>앱 실행 로딩 바 표시</a:t>
            </a:r>
            <a:endParaRPr lang="en-US" altLang="ko-KR" dirty="0"/>
          </a:p>
          <a:p>
            <a:pPr marL="369887" lvl="1"/>
            <a:r>
              <a:rPr lang="ko-KR" altLang="en-US" dirty="0"/>
              <a:t>보안 프로그램 로딩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앱실행스플래시</a:t>
            </a:r>
            <a:r>
              <a:rPr lang="en-US" altLang="ko-KR" dirty="0"/>
              <a:t>–</a:t>
            </a:r>
            <a:r>
              <a:rPr lang="ko-KR" altLang="en-US" dirty="0"/>
              <a:t>로고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 시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실행 로고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MUI-MS-01-M01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" name="직사각형 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41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  <p:sp>
          <p:nvSpPr>
            <p:cNvPr id="40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74457344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</a:t>
            </a:r>
            <a:r>
              <a:rPr lang="en-US" altLang="ko-KR" dirty="0"/>
              <a:t>ID, IP, </a:t>
            </a:r>
            <a:r>
              <a:rPr lang="ko-KR" altLang="en-US" dirty="0" err="1"/>
              <a:t>메뉴명</a:t>
            </a:r>
            <a:r>
              <a:rPr lang="en-US" altLang="ko-KR" dirty="0"/>
              <a:t>, OS, </a:t>
            </a:r>
            <a:r>
              <a:rPr lang="ko-KR" altLang="en-US" dirty="0"/>
              <a:t>접속방법</a:t>
            </a:r>
            <a:r>
              <a:rPr lang="en-US" altLang="ko-KR" dirty="0"/>
              <a:t>, </a:t>
            </a:r>
            <a:r>
              <a:rPr lang="ko-KR" altLang="en-US" dirty="0"/>
              <a:t>위치정보 수집</a:t>
            </a:r>
            <a:r>
              <a:rPr lang="en-US" altLang="ko-KR" dirty="0"/>
              <a:t>, </a:t>
            </a:r>
            <a:r>
              <a:rPr lang="ko-KR" altLang="en-US" dirty="0"/>
              <a:t>최근 접속 시간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기능 사용시 사용되는 권한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버튼으로 필수 접근권한 </a:t>
            </a:r>
            <a:r>
              <a:rPr lang="ko-KR" altLang="en-US" dirty="0" err="1"/>
              <a:t>동의처리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 err="1">
                <a:solidFill>
                  <a:srgbClr val="FF0000"/>
                </a:solidFill>
              </a:rPr>
              <a:t>접근권한은</a:t>
            </a:r>
            <a:r>
              <a:rPr lang="ko-KR" altLang="en-US" dirty="0">
                <a:solidFill>
                  <a:srgbClr val="FF0000"/>
                </a:solidFill>
              </a:rPr>
              <a:t> 정책에 따라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ko-KR" altLang="en-US" dirty="0">
                <a:solidFill>
                  <a:srgbClr val="FF0000"/>
                </a:solidFill>
              </a:rPr>
              <a:t>추후 추가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변경될 수 있음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앱접근권한동의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앱에서 사용되는 접근권한 정보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MUI-MS-01-M02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0305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앱 접근권한 안내</a:t>
            </a:r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1403619" y="1637051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3122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국방전자조달시스템에서는 다음 권한들을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서비스 시용을 위해 권한을 허용해 주시기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6736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접근권한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29556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및 앱 기록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앱 상태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버전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앱 접근 메뉴 확인</a:t>
            </a:r>
          </a:p>
        </p:txBody>
      </p:sp>
      <p:sp>
        <p:nvSpPr>
          <p:cNvPr id="3" name="타원 2"/>
          <p:cNvSpPr/>
          <p:nvPr/>
        </p:nvSpPr>
        <p:spPr>
          <a:xfrm>
            <a:off x="881401" y="29490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29718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기기 </a:t>
            </a:r>
            <a:r>
              <a:rPr lang="en-US" altLang="ko-KR" sz="700" b="1" dirty="0">
                <a:latin typeface="+mn-ea"/>
              </a:rPr>
              <a:t>ID </a:t>
            </a:r>
            <a:r>
              <a:rPr lang="ko-KR" altLang="en-US" sz="700" b="1" dirty="0">
                <a:latin typeface="+mn-ea"/>
              </a:rPr>
              <a:t>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기기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식별</a:t>
            </a:r>
            <a:r>
              <a:rPr lang="en-US" altLang="ko-KR" sz="700" dirty="0">
                <a:latin typeface="+mn-ea"/>
              </a:rPr>
              <a:t>, OS </a:t>
            </a:r>
            <a:r>
              <a:rPr lang="ko-KR" altLang="en-US" sz="700" dirty="0">
                <a:latin typeface="+mn-ea"/>
              </a:rPr>
              <a:t>식별</a:t>
            </a:r>
          </a:p>
        </p:txBody>
      </p:sp>
      <p:sp>
        <p:nvSpPr>
          <p:cNvPr id="21" name="타원 20"/>
          <p:cNvSpPr/>
          <p:nvPr/>
        </p:nvSpPr>
        <p:spPr>
          <a:xfrm>
            <a:off x="881401" y="329060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629610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인터넷 연결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</a:t>
            </a:r>
            <a:r>
              <a:rPr lang="en-US" altLang="ko-KR" sz="700" dirty="0">
                <a:latin typeface="+mn-ea"/>
              </a:rPr>
              <a:t>IP, </a:t>
            </a:r>
            <a:r>
              <a:rPr lang="ko-KR" altLang="en-US" sz="700" dirty="0">
                <a:latin typeface="+mn-ea"/>
              </a:rPr>
              <a:t>접속 정보 확인</a:t>
            </a:r>
          </a:p>
        </p:txBody>
      </p:sp>
      <p:sp>
        <p:nvSpPr>
          <p:cNvPr id="23" name="타원 22"/>
          <p:cNvSpPr/>
          <p:nvPr/>
        </p:nvSpPr>
        <p:spPr>
          <a:xfrm>
            <a:off x="881401" y="3623032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95545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위치 정보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접속 위치 정보 확인</a:t>
            </a:r>
          </a:p>
        </p:txBody>
      </p:sp>
      <p:sp>
        <p:nvSpPr>
          <p:cNvPr id="25" name="타원 24"/>
          <p:cNvSpPr/>
          <p:nvPr/>
        </p:nvSpPr>
        <p:spPr>
          <a:xfrm>
            <a:off x="881401" y="394887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38207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4664103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28" name="타원 27"/>
          <p:cNvSpPr/>
          <p:nvPr/>
        </p:nvSpPr>
        <p:spPr>
          <a:xfrm>
            <a:off x="881401" y="4657525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023077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사진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미디어</a:t>
            </a:r>
            <a:r>
              <a:rPr lang="en-US" altLang="ko-KR" sz="700" b="1" dirty="0">
                <a:latin typeface="+mn-ea"/>
              </a:rPr>
              <a:t>/</a:t>
            </a:r>
            <a:r>
              <a:rPr lang="ko-KR" altLang="en-US" sz="700" b="1" dirty="0">
                <a:latin typeface="+mn-ea"/>
              </a:rPr>
              <a:t>파일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이미지 파일첨부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문서 파일첨부</a:t>
            </a:r>
          </a:p>
        </p:txBody>
      </p:sp>
      <p:sp>
        <p:nvSpPr>
          <p:cNvPr id="30" name="타원 29"/>
          <p:cNvSpPr/>
          <p:nvPr/>
        </p:nvSpPr>
        <p:spPr>
          <a:xfrm>
            <a:off x="881401" y="5016499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381865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카메라</a:t>
            </a:r>
            <a:endParaRPr lang="en-US" altLang="ko-KR" sz="700" b="1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로그인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촬영 파일 등록</a:t>
            </a:r>
          </a:p>
        </p:txBody>
      </p:sp>
      <p:sp>
        <p:nvSpPr>
          <p:cNvPr id="33" name="타원 32"/>
          <p:cNvSpPr/>
          <p:nvPr/>
        </p:nvSpPr>
        <p:spPr>
          <a:xfrm>
            <a:off x="881401" y="5375287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2343" y="1721212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선택 </a:t>
            </a:r>
            <a:r>
              <a:rPr lang="ko-KR" altLang="en-US" sz="700" dirty="0" err="1">
                <a:latin typeface="+mn-ea"/>
              </a:rPr>
              <a:t>접근권한은</a:t>
            </a:r>
            <a:r>
              <a:rPr lang="ko-KR" altLang="en-US" sz="700" dirty="0">
                <a:latin typeface="+mn-ea"/>
              </a:rPr>
              <a:t> 관련 기능 </a:t>
            </a:r>
            <a:r>
              <a:rPr lang="ko-KR" altLang="en-US" sz="700" dirty="0" err="1">
                <a:latin typeface="+mn-ea"/>
              </a:rPr>
              <a:t>이용시</a:t>
            </a:r>
            <a:r>
              <a:rPr lang="ko-KR" altLang="en-US" sz="700" dirty="0">
                <a:latin typeface="+mn-ea"/>
              </a:rPr>
              <a:t> 동의하실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r>
              <a:rPr lang="ko-KR" altLang="en-US" sz="700" dirty="0">
                <a:latin typeface="+mn-ea"/>
              </a:rPr>
              <a:t>미동의 시에도 해당 </a:t>
            </a:r>
            <a:r>
              <a:rPr lang="ko-KR" altLang="en-US" sz="700" dirty="0" err="1">
                <a:latin typeface="+mn-ea"/>
              </a:rPr>
              <a:t>기능외</a:t>
            </a:r>
            <a:r>
              <a:rPr lang="ko-KR" altLang="en-US" sz="700" dirty="0">
                <a:latin typeface="+mn-ea"/>
              </a:rPr>
              <a:t> 앱 서비스 이용이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/>
            <a:endParaRPr lang="en-US" altLang="ko-KR" sz="700" dirty="0">
              <a:latin typeface="+mn-ea"/>
            </a:endParaRPr>
          </a:p>
          <a:p>
            <a:pPr algn="ctr"/>
            <a:r>
              <a:rPr lang="ko-KR" altLang="en-US" sz="700" dirty="0">
                <a:latin typeface="+mn-ea"/>
              </a:rPr>
              <a:t>휴대폰의 보안설정에서 접근 권한을 변경하실 수 있습니다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6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3939824" y="2446664"/>
            <a:ext cx="2410182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571603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알림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신청한 공고 알림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중요 알림 메시지</a:t>
            </a:r>
          </a:p>
        </p:txBody>
      </p:sp>
      <p:sp>
        <p:nvSpPr>
          <p:cNvPr id="63" name="타원 62"/>
          <p:cNvSpPr/>
          <p:nvPr/>
        </p:nvSpPr>
        <p:spPr>
          <a:xfrm>
            <a:off x="881401" y="570945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50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48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2836" y="25191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0" name="직사각형 3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1" name="직사각형 4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우측 설계에서 </a:t>
              </a:r>
              <a:r>
                <a:rPr lang="ko-KR" altLang="en-US" sz="700" dirty="0" err="1" smtClean="0"/>
                <a:t>반복화면</a:t>
              </a:r>
              <a:r>
                <a:rPr lang="ko-KR" altLang="en-US" sz="700" dirty="0" smtClean="0"/>
                <a:t>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061273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[</a:t>
            </a:r>
            <a:r>
              <a:rPr lang="ko-KR" altLang="en-US" dirty="0"/>
              <a:t>공통</a:t>
            </a:r>
            <a:r>
              <a:rPr lang="en-US" altLang="ko-KR" dirty="0"/>
              <a:t>] </a:t>
            </a:r>
            <a:r>
              <a:rPr lang="ko-KR" altLang="en-US" dirty="0"/>
              <a:t>팝업이 뜰 때 배경 </a:t>
            </a:r>
            <a:r>
              <a:rPr lang="en-US" altLang="ko-KR" dirty="0"/>
              <a:t>Dim </a:t>
            </a:r>
            <a:r>
              <a:rPr lang="ko-KR" altLang="en-US" dirty="0"/>
              <a:t>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미동의 한 기능 사용 요청 시 팝업 반복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배경은 접근권한 안내는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각 기능 페이지에서 팝업을 표시함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접근권한 안내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사용하려는 접근권한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취소 시 현재 팝업 닫고 끝내기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허용 시 접근권한 시스템 허용으로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사용하려는 기능 실행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허용 시 </a:t>
            </a:r>
            <a:r>
              <a:rPr lang="en-US" altLang="ko-KR" dirty="0"/>
              <a:t>: </a:t>
            </a:r>
            <a:r>
              <a:rPr lang="ko-KR" altLang="en-US" dirty="0"/>
              <a:t>허용 되었습니다</a:t>
            </a:r>
            <a:r>
              <a:rPr lang="en-US" altLang="ko-KR" dirty="0"/>
              <a:t>. 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</a:t>
            </a:r>
            <a:r>
              <a:rPr lang="en-US" altLang="ko-KR" dirty="0"/>
              <a:t>: </a:t>
            </a:r>
            <a:r>
              <a:rPr lang="ko-KR" altLang="en-US" dirty="0"/>
              <a:t>취소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앱접근권한동의팝업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내에서 선택 접근권한 사용이 필요한 경우 팝업 표시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선택 접근권한 사용 시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접근 권한 동의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MUI-MS-01-P03</a:t>
            </a:r>
            <a:endParaRPr lang="ko-KR" altLang="en-US" sz="1000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0305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앱 접근권한 안내</a:t>
              </a:r>
            </a:p>
          </p:txBody>
        </p:sp>
        <p:pic>
          <p:nvPicPr>
            <p:cNvPr id="18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403619" y="1637051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231220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국방전자조달시스템에서는 다음 권한들을 사용합니다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pPr algn="ctr"/>
              <a:r>
                <a:rPr lang="ko-KR" altLang="en-US" sz="700" dirty="0">
                  <a:latin typeface="+mn-ea"/>
                </a:rPr>
                <a:t>서비스 시용을 위해 권한을 허용해 주시기 바랍니다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67363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필수 접근권한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29556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및 앱 기록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앱 상태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버전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확인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앱 접근 메뉴 확인</a:t>
              </a:r>
            </a:p>
          </p:txBody>
        </p:sp>
        <p:sp>
          <p:nvSpPr>
            <p:cNvPr id="3" name="타원 2"/>
            <p:cNvSpPr/>
            <p:nvPr/>
          </p:nvSpPr>
          <p:spPr>
            <a:xfrm>
              <a:off x="881401" y="29490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29718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기기 </a:t>
              </a:r>
              <a:r>
                <a:rPr lang="en-US" altLang="ko-KR" sz="700" b="1" dirty="0">
                  <a:latin typeface="+mn-ea"/>
                </a:rPr>
                <a:t>ID </a:t>
              </a:r>
              <a:r>
                <a:rPr lang="ko-KR" altLang="en-US" sz="700" b="1" dirty="0">
                  <a:latin typeface="+mn-ea"/>
                </a:rPr>
                <a:t>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기기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식별</a:t>
              </a:r>
              <a:r>
                <a:rPr lang="en-US" altLang="ko-KR" sz="700" dirty="0">
                  <a:latin typeface="+mn-ea"/>
                </a:rPr>
                <a:t>, OS </a:t>
              </a:r>
              <a:r>
                <a:rPr lang="ko-KR" altLang="en-US" sz="700" dirty="0">
                  <a:latin typeface="+mn-ea"/>
                </a:rPr>
                <a:t>식별</a:t>
              </a:r>
            </a:p>
          </p:txBody>
        </p:sp>
        <p:sp>
          <p:nvSpPr>
            <p:cNvPr id="21" name="타원 20"/>
            <p:cNvSpPr/>
            <p:nvPr/>
          </p:nvSpPr>
          <p:spPr>
            <a:xfrm>
              <a:off x="881401" y="329060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629610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인터넷 연결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</a:t>
              </a:r>
              <a:r>
                <a:rPr lang="en-US" altLang="ko-KR" sz="700" dirty="0">
                  <a:latin typeface="+mn-ea"/>
                </a:rPr>
                <a:t>IP, </a:t>
              </a:r>
              <a:r>
                <a:rPr lang="ko-KR" altLang="en-US" sz="700" dirty="0">
                  <a:latin typeface="+mn-ea"/>
                </a:rPr>
                <a:t>접속 정보 확인</a:t>
              </a:r>
            </a:p>
          </p:txBody>
        </p:sp>
        <p:sp>
          <p:nvSpPr>
            <p:cNvPr id="23" name="타원 22"/>
            <p:cNvSpPr/>
            <p:nvPr/>
          </p:nvSpPr>
          <p:spPr>
            <a:xfrm>
              <a:off x="881401" y="3623032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395545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위치 정보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접속 위치 정보 확인</a:t>
              </a:r>
            </a:p>
          </p:txBody>
        </p:sp>
        <p:sp>
          <p:nvSpPr>
            <p:cNvPr id="25" name="타원 24"/>
            <p:cNvSpPr/>
            <p:nvPr/>
          </p:nvSpPr>
          <p:spPr>
            <a:xfrm>
              <a:off x="881401" y="394887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4382074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선택 접근권한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4664103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전화 걸기 및 관리</a:t>
              </a:r>
            </a:p>
          </p:txBody>
        </p:sp>
        <p:sp>
          <p:nvSpPr>
            <p:cNvPr id="28" name="타원 27"/>
            <p:cNvSpPr/>
            <p:nvPr/>
          </p:nvSpPr>
          <p:spPr>
            <a:xfrm>
              <a:off x="881401" y="4657525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023077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사진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미디어</a:t>
              </a:r>
              <a:r>
                <a:rPr lang="en-US" altLang="ko-KR" sz="700" b="1" dirty="0">
                  <a:latin typeface="+mn-ea"/>
                </a:rPr>
                <a:t>/</a:t>
              </a:r>
              <a:r>
                <a:rPr lang="ko-KR" altLang="en-US" sz="700" b="1" dirty="0">
                  <a:latin typeface="+mn-ea"/>
                </a:rPr>
                <a:t>파일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이미지 파일첨부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문서 파일첨부</a:t>
              </a:r>
            </a:p>
          </p:txBody>
        </p:sp>
        <p:sp>
          <p:nvSpPr>
            <p:cNvPr id="30" name="타원 29"/>
            <p:cNvSpPr/>
            <p:nvPr/>
          </p:nvSpPr>
          <p:spPr>
            <a:xfrm>
              <a:off x="881401" y="5016499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381865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카메라</a:t>
              </a:r>
              <a:endParaRPr lang="en-US" altLang="ko-KR" sz="700" b="1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PC </a:t>
              </a:r>
              <a:r>
                <a:rPr lang="ko-KR" altLang="en-US" sz="700" dirty="0">
                  <a:latin typeface="+mn-ea"/>
                </a:rPr>
                <a:t>로그인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촬영 파일 등록</a:t>
              </a:r>
            </a:p>
          </p:txBody>
        </p:sp>
        <p:sp>
          <p:nvSpPr>
            <p:cNvPr id="33" name="타원 32"/>
            <p:cNvSpPr/>
            <p:nvPr/>
          </p:nvSpPr>
          <p:spPr>
            <a:xfrm>
              <a:off x="881401" y="5375287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216113" y="5716036"/>
              <a:ext cx="1970432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알림</a:t>
              </a:r>
              <a:endParaRPr lang="en-US" altLang="ko-KR" sz="700" b="1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신청한 공고 알림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중요 알림 메시지</a:t>
              </a:r>
            </a:p>
          </p:txBody>
        </p:sp>
        <p:sp>
          <p:nvSpPr>
            <p:cNvPr id="63" name="타원 62"/>
            <p:cNvSpPr/>
            <p:nvPr/>
          </p:nvSpPr>
          <p:spPr>
            <a:xfrm>
              <a:off x="881401" y="5709458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9424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4394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" name="모서리가 둥근 직사각형 4"/>
          <p:cNvSpPr/>
          <p:nvPr/>
        </p:nvSpPr>
        <p:spPr>
          <a:xfrm>
            <a:off x="763707" y="3002600"/>
            <a:ext cx="2579992" cy="1712020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282210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허용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282210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14932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선택 접근권한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6113" y="3769306"/>
            <a:ext cx="19704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전화 걸기 및 관리</a:t>
            </a:r>
          </a:p>
        </p:txBody>
      </p:sp>
      <p:sp>
        <p:nvSpPr>
          <p:cNvPr id="76" name="타원 75"/>
          <p:cNvSpPr/>
          <p:nvPr/>
        </p:nvSpPr>
        <p:spPr>
          <a:xfrm>
            <a:off x="881401" y="3762728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8183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해당 기능을 사용하기 위해서는</a:t>
            </a:r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다음 </a:t>
            </a:r>
            <a:r>
              <a:rPr lang="ko-KR" altLang="en-US" sz="700" dirty="0" err="1">
                <a:latin typeface="+mn-ea"/>
              </a:rPr>
              <a:t>접근권한이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857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084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81" name="모서리가 둥근 직사각형 80"/>
          <p:cNvSpPr/>
          <p:nvPr/>
        </p:nvSpPr>
        <p:spPr>
          <a:xfrm>
            <a:off x="1512487" y="5845175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취소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1327050" y="5766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9470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8" name="그룹 47"/>
          <p:cNvGrpSpPr/>
          <p:nvPr/>
        </p:nvGrpSpPr>
        <p:grpSpPr>
          <a:xfrm>
            <a:off x="3092535" y="3149329"/>
            <a:ext cx="94010" cy="94010"/>
            <a:chOff x="6812560" y="3297172"/>
            <a:chExt cx="94010" cy="94010"/>
          </a:xfrm>
        </p:grpSpPr>
        <p:cxnSp>
          <p:nvCxnSpPr>
            <p:cNvPr id="49" name="직선 연결선 4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직선 연결선 4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모서리가 둥근 직사각형 54"/>
          <p:cNvSpPr/>
          <p:nvPr/>
        </p:nvSpPr>
        <p:spPr>
          <a:xfrm>
            <a:off x="1512487" y="5571729"/>
            <a:ext cx="1082432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62247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허용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4110361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필수 업데이트 필요 시 업데이트 안내 팝업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자동 업데이트가 되지 않는 사용자를 고려하여 앱 기동 시 버전 체크 후 필수 최신 업데이트를 위한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주요 업데이트 사항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설치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설치를 위해 앱스토어</a:t>
            </a:r>
            <a:r>
              <a:rPr lang="en-US" altLang="ko-KR" dirty="0"/>
              <a:t>, </a:t>
            </a:r>
            <a:r>
              <a:rPr lang="ko-KR" altLang="en-US" dirty="0"/>
              <a:t>구글 플레이 </a:t>
            </a:r>
            <a:r>
              <a:rPr lang="en-US" altLang="ko-KR" dirty="0"/>
              <a:t>(</a:t>
            </a:r>
            <a:r>
              <a:rPr lang="ko-KR" altLang="en-US" dirty="0"/>
              <a:t>앱 마켓</a:t>
            </a:r>
            <a:r>
              <a:rPr lang="en-US" altLang="ko-KR" dirty="0"/>
              <a:t>)</a:t>
            </a:r>
            <a:r>
              <a:rPr lang="ko-KR" altLang="en-US" dirty="0"/>
              <a:t>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앱업데이트안내팝업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앱을 실행하는 경우 앱 노출되는 로고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업데이트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MUI-MS-01-P04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7103287" y="5662958"/>
            <a:ext cx="230028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700" b="1" dirty="0">
                <a:latin typeface="+mn-ea"/>
              </a:rPr>
              <a:t>보안 프로그램 목록</a:t>
            </a:r>
            <a:endParaRPr lang="en-US" altLang="ko-KR" sz="700" b="1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- 모바일 백신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mVacchine</a:t>
            </a:r>
            <a:r>
              <a:rPr lang="ko-KR" altLang="en-US" sz="700" dirty="0">
                <a:latin typeface="+mn-ea"/>
              </a:rPr>
              <a:t> V3.0 2.24</a:t>
            </a:r>
          </a:p>
          <a:p>
            <a:r>
              <a:rPr lang="ko-KR" altLang="en-US" sz="700" dirty="0">
                <a:latin typeface="+mn-ea"/>
              </a:rPr>
              <a:t>- 모바일키보드보안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mTransKey</a:t>
            </a:r>
            <a:r>
              <a:rPr lang="ko-KR" altLang="en-US" sz="700" dirty="0">
                <a:latin typeface="+mn-ea"/>
              </a:rPr>
              <a:t> 2.24</a:t>
            </a:r>
          </a:p>
          <a:p>
            <a:r>
              <a:rPr lang="ko-KR" altLang="en-US" sz="700" dirty="0">
                <a:latin typeface="+mn-ea"/>
              </a:rPr>
              <a:t>- </a:t>
            </a:r>
            <a:r>
              <a:rPr lang="ko-KR" altLang="en-US" sz="700" dirty="0" err="1">
                <a:latin typeface="+mn-ea"/>
              </a:rPr>
              <a:t>모바일앱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위변조방지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TouchEn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AppIron</a:t>
            </a:r>
            <a:r>
              <a:rPr lang="ko-KR" altLang="en-US" sz="700" dirty="0">
                <a:latin typeface="+mn-ea"/>
              </a:rPr>
              <a:t> V1.0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</a:t>
            </a:r>
            <a:r>
              <a:rPr lang="ko-KR" altLang="en-US" sz="700" dirty="0" err="1">
                <a:latin typeface="+mn-ea"/>
              </a:rPr>
              <a:t>Android</a:t>
            </a:r>
            <a:r>
              <a:rPr lang="ko-KR" altLang="en-US" sz="700" dirty="0">
                <a:latin typeface="+mn-ea"/>
              </a:rPr>
              <a:t>) 2.24</a:t>
            </a:r>
          </a:p>
          <a:p>
            <a:r>
              <a:rPr lang="ko-KR" altLang="en-US" sz="700" dirty="0">
                <a:latin typeface="+mn-ea"/>
              </a:rPr>
              <a:t>- 모바일 전자서명 </a:t>
            </a:r>
            <a:r>
              <a:rPr lang="ko-KR" altLang="en-US" sz="700" dirty="0" err="1">
                <a:latin typeface="+mn-ea"/>
              </a:rPr>
              <a:t>smart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pki</a:t>
            </a:r>
            <a:r>
              <a:rPr lang="ko-KR" altLang="en-US" sz="700" dirty="0">
                <a:latin typeface="+mn-ea"/>
              </a:rPr>
              <a:t> v2.0(IOS) 2.24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436515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설치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필수 업데이트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원활한 앱 사용을 위해 최신버전 업데이트가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주요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보안 프로그램 최신화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국방전자조달시스템 업그레이드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2438876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그룹 32"/>
          <p:cNvGrpSpPr/>
          <p:nvPr/>
        </p:nvGrpSpPr>
        <p:grpSpPr>
          <a:xfrm>
            <a:off x="677960" y="1484921"/>
            <a:ext cx="2712027" cy="4738372"/>
            <a:chOff x="677960" y="1493927"/>
            <a:chExt cx="2712027" cy="4738372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063763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잠시만 기다려주세요</a:t>
              </a:r>
              <a:r>
                <a:rPr lang="en-US" altLang="ko-KR" sz="900" b="1" dirty="0">
                  <a:latin typeface="+mn-ea"/>
                </a:rPr>
                <a:t>. (74%)</a:t>
              </a:r>
              <a:endParaRPr lang="ko-KR" altLang="en-US" sz="900" b="1" dirty="0">
                <a:latin typeface="+mn-ea"/>
              </a:endParaRPr>
            </a:p>
          </p:txBody>
        </p:sp>
        <p:pic>
          <p:nvPicPr>
            <p:cNvPr id="36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8828" r="-453"/>
            <a:stretch/>
          </p:blipFill>
          <p:spPr bwMode="auto">
            <a:xfrm>
              <a:off x="1582903" y="2951238"/>
              <a:ext cx="902144" cy="331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" name="직사각형 36"/>
            <p:cNvSpPr/>
            <p:nvPr/>
          </p:nvSpPr>
          <p:spPr>
            <a:xfrm>
              <a:off x="1116432" y="4932680"/>
              <a:ext cx="1835081" cy="50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1116432" y="4932680"/>
              <a:ext cx="1368000" cy="508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사각형: 둥근 모서리 25">
              <a:extLst>
                <a:ext uri="{FF2B5EF4-FFF2-40B4-BE49-F238E27FC236}">
                  <a16:creationId xmlns:a16="http://schemas.microsoft.com/office/drawing/2014/main" id="{D17B50F9-89DD-C80C-4195-7E69A48DBE7F}"/>
                </a:ext>
              </a:extLst>
            </p:cNvPr>
            <p:cNvSpPr/>
            <p:nvPr/>
          </p:nvSpPr>
          <p:spPr>
            <a:xfrm>
              <a:off x="1077385" y="4696730"/>
              <a:ext cx="327084" cy="14628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900" b="1" dirty="0"/>
                <a:t>1-1</a:t>
              </a:r>
              <a:endParaRPr lang="ko-KR" altLang="en-US" sz="900" b="1" dirty="0"/>
            </a:p>
          </p:txBody>
        </p:sp>
        <p:pic>
          <p:nvPicPr>
            <p:cNvPr id="44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1107986" y="2555213"/>
              <a:ext cx="1843528" cy="3157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16433" y="5806168"/>
              <a:ext cx="1835080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900" dirty="0">
                  <a:latin typeface="+mn-ea"/>
                </a:rPr>
                <a:t>@</a:t>
              </a:r>
              <a:r>
                <a:rPr lang="ko-KR" altLang="en-US" sz="900" dirty="0">
                  <a:latin typeface="+mn-ea"/>
                </a:rPr>
                <a:t>국방전자조달시스템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실행을 할 수 없는 경우 사용자에게 안내하기 위한 팝업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오류</a:t>
            </a:r>
            <a:r>
              <a:rPr lang="en-US" altLang="ko-KR" dirty="0"/>
              <a:t>, </a:t>
            </a:r>
            <a:r>
              <a:rPr lang="ko-KR" altLang="en-US" dirty="0"/>
              <a:t>시스템 문제</a:t>
            </a:r>
            <a:r>
              <a:rPr lang="en-US" altLang="ko-KR" dirty="0"/>
              <a:t>, </a:t>
            </a:r>
            <a:r>
              <a:rPr lang="ko-KR" altLang="en-US" dirty="0"/>
              <a:t>네트워크 연결 지연 등으로 앱 구동에 문제가 있는 경우 사용자에게 안내하기 위한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실행 오류 사유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종료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앱 업데이트 없이 그대로 종료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앱오류안내팝업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실행 시 오류가 발생하여 앱을 실행할 수 없는 경우 노출되는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앱 오류 안내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MUI-MS-01-P05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2305144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앱 종료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실행 오류 안내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다음과 같은 이유로 인하여 앱을 실행할 수 없습니다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서비스 사용에 불편을 드려 죄송합니다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718867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66997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시스템 보안 업데이트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85759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 보안 업데이트를 진행하고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예정시간</a:t>
            </a:r>
            <a:r>
              <a:rPr lang="en-US" altLang="ko-KR" sz="700" dirty="0">
                <a:latin typeface="+mn-ea"/>
              </a:rPr>
              <a:t>: 2025</a:t>
            </a:r>
            <a:r>
              <a:rPr lang="ko-KR" altLang="en-US" sz="700" dirty="0">
                <a:latin typeface="+mn-ea"/>
              </a:rPr>
              <a:t>년 </a:t>
            </a:r>
            <a:r>
              <a:rPr lang="en-US" altLang="ko-KR" sz="700" dirty="0">
                <a:latin typeface="+mn-ea"/>
              </a:rPr>
              <a:t>03</a:t>
            </a:r>
            <a:r>
              <a:rPr lang="ko-KR" altLang="en-US" sz="700" dirty="0">
                <a:latin typeface="+mn-ea"/>
              </a:rPr>
              <a:t>월 </a:t>
            </a:r>
            <a:r>
              <a:rPr lang="en-US" altLang="ko-KR" sz="700" dirty="0">
                <a:latin typeface="+mn-ea"/>
              </a:rPr>
              <a:t>13</a:t>
            </a:r>
            <a:r>
              <a:rPr lang="ko-KR" altLang="en-US" sz="700" dirty="0">
                <a:latin typeface="+mn-ea"/>
              </a:rPr>
              <a:t>일 </a:t>
            </a:r>
            <a:r>
              <a:rPr lang="en-US" altLang="ko-KR" sz="700" dirty="0">
                <a:latin typeface="+mn-ea"/>
              </a:rPr>
              <a:t>00</a:t>
            </a:r>
            <a:r>
              <a:rPr lang="ko-KR" altLang="en-US" sz="700" dirty="0">
                <a:latin typeface="+mn-ea"/>
              </a:rPr>
              <a:t>시부터 </a:t>
            </a:r>
            <a:r>
              <a:rPr lang="en-US" altLang="ko-KR" sz="700" dirty="0">
                <a:latin typeface="+mn-ea"/>
              </a:rPr>
              <a:t>04</a:t>
            </a:r>
            <a:r>
              <a:rPr lang="ko-KR" altLang="en-US" sz="700" dirty="0">
                <a:latin typeface="+mn-ea"/>
              </a:rPr>
              <a:t>시까지 </a:t>
            </a:r>
            <a:r>
              <a:rPr lang="en-US" altLang="ko-KR" sz="700" dirty="0">
                <a:latin typeface="+mn-ea"/>
              </a:rPr>
              <a:t>(4</a:t>
            </a:r>
            <a:r>
              <a:rPr lang="ko-KR" altLang="en-US" sz="700" dirty="0">
                <a:latin typeface="+mn-ea"/>
              </a:rPr>
              <a:t>시간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9008504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스플래시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앱 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MUI-MS-01-M06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236515" y="5007573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11371" y="5007573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 rotWithShape="1">
          <a:blip r:embed="rId2"/>
          <a:srcRect b="6251"/>
          <a:stretch/>
        </p:blipFill>
        <p:spPr>
          <a:xfrm>
            <a:off x="677960" y="1493927"/>
            <a:ext cx="2712027" cy="474141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" name="그룹 1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8" name="직사각형 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9" name="직사각형 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스크린샷</a:t>
              </a:r>
              <a:r>
                <a:rPr lang="ko-KR" altLang="en-US" sz="700" dirty="0" smtClean="0"/>
                <a:t> 이미지 업데이트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버튼 영역 추가 및 설명 작성</a:t>
              </a:r>
              <a:endParaRPr lang="en-US" altLang="ko-KR" sz="700" dirty="0" smtClean="0"/>
            </a:p>
            <a:p>
              <a:endParaRPr lang="en-US" altLang="ko-KR" sz="700" dirty="0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80162" y="4835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26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236515" y="5392951"/>
            <a:ext cx="516243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이전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800272" y="5392951"/>
            <a:ext cx="516243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11371" y="539104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236515" y="577124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4011371" y="5774519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이전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37" name="그룹 36"/>
          <p:cNvGrpSpPr/>
          <p:nvPr/>
        </p:nvGrpSpPr>
        <p:grpSpPr>
          <a:xfrm>
            <a:off x="3452438" y="1810835"/>
            <a:ext cx="3568154" cy="1505331"/>
            <a:chOff x="3535132" y="1493927"/>
            <a:chExt cx="4319336" cy="1822239"/>
          </a:xfrm>
        </p:grpSpPr>
        <p:pic>
          <p:nvPicPr>
            <p:cNvPr id="8" name="그림 7"/>
            <p:cNvPicPr>
              <a:picLocks noChangeAspect="1"/>
            </p:cNvPicPr>
            <p:nvPr/>
          </p:nvPicPr>
          <p:blipFill rotWithShape="1">
            <a:blip r:embed="rId3"/>
            <a:srcRect b="5350"/>
            <a:stretch/>
          </p:blipFill>
          <p:spPr>
            <a:xfrm>
              <a:off x="3535132" y="1499406"/>
              <a:ext cx="1045578" cy="1816759"/>
            </a:xfrm>
            <a:prstGeom prst="rect">
              <a:avLst/>
            </a:prstGeom>
          </p:spPr>
        </p:pic>
        <p:pic>
          <p:nvPicPr>
            <p:cNvPr id="9" name="그림 8"/>
            <p:cNvPicPr>
              <a:picLocks noChangeAspect="1"/>
            </p:cNvPicPr>
            <p:nvPr/>
          </p:nvPicPr>
          <p:blipFill rotWithShape="1">
            <a:blip r:embed="rId4"/>
            <a:srcRect b="9317"/>
            <a:stretch/>
          </p:blipFill>
          <p:spPr>
            <a:xfrm>
              <a:off x="4639790" y="1493927"/>
              <a:ext cx="1040338" cy="1822238"/>
            </a:xfrm>
            <a:prstGeom prst="rect">
              <a:avLst/>
            </a:prstGeom>
          </p:spPr>
        </p:pic>
        <p:pic>
          <p:nvPicPr>
            <p:cNvPr id="32" name="그림 31"/>
            <p:cNvPicPr>
              <a:picLocks noChangeAspect="1"/>
            </p:cNvPicPr>
            <p:nvPr/>
          </p:nvPicPr>
          <p:blipFill rotWithShape="1">
            <a:blip r:embed="rId5"/>
            <a:srcRect b="7088"/>
            <a:stretch/>
          </p:blipFill>
          <p:spPr>
            <a:xfrm>
              <a:off x="5740480" y="1498376"/>
              <a:ext cx="1040729" cy="1817789"/>
            </a:xfrm>
            <a:prstGeom prst="rect">
              <a:avLst/>
            </a:prstGeom>
          </p:spPr>
        </p:pic>
        <p:pic>
          <p:nvPicPr>
            <p:cNvPr id="33" name="그림 3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841562" y="1493928"/>
              <a:ext cx="1012906" cy="1822238"/>
            </a:xfrm>
            <a:prstGeom prst="rect">
              <a:avLst/>
            </a:prstGeom>
          </p:spPr>
        </p:pic>
      </p:grpSp>
      <p:sp>
        <p:nvSpPr>
          <p:cNvPr id="34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2106545" y="5788808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5788808"/>
            <a:ext cx="1080000" cy="317083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다시 보지 않기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최초 기동 시 앱 </a:t>
            </a:r>
            <a:r>
              <a:rPr lang="ko-KR" altLang="en-US" dirty="0"/>
              <a:t>이용에 대한 안내 </a:t>
            </a:r>
            <a:r>
              <a:rPr lang="ko-KR" altLang="en-US" dirty="0" smtClean="0"/>
              <a:t>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하단 </a:t>
            </a:r>
            <a:r>
              <a:rPr lang="en-US" altLang="ko-KR" dirty="0" smtClean="0"/>
              <a:t>5</a:t>
            </a:r>
            <a:r>
              <a:rPr lang="ko-KR" altLang="en-US" dirty="0" smtClean="0"/>
              <a:t>개 페이지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메인홈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검색필터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입찰공고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smtClean="0"/>
              <a:t>화면 하단 버튼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다시보지</a:t>
            </a:r>
            <a:r>
              <a:rPr lang="ko-KR" altLang="en-US" dirty="0" smtClean="0"/>
              <a:t> 않기 버튼으로 </a:t>
            </a:r>
            <a:r>
              <a:rPr lang="ko-KR" altLang="en-US" dirty="0" err="1" smtClean="0"/>
              <a:t>앱시작</a:t>
            </a:r>
            <a:r>
              <a:rPr lang="ko-KR" altLang="en-US" dirty="0" smtClean="0"/>
              <a:t> 이용안내 다시 노출하지 않음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이후 기동 시 앱 이용안내 화면 </a:t>
            </a:r>
            <a:r>
              <a:rPr lang="ko-KR" altLang="en-US" dirty="0" err="1" smtClean="0"/>
              <a:t>미노출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버튼은 순차적으로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첫 페이지</a:t>
            </a:r>
            <a:r>
              <a:rPr lang="en-US" altLang="ko-KR" dirty="0" smtClean="0"/>
              <a:t> </a:t>
            </a:r>
            <a:r>
              <a:rPr lang="en-US" altLang="ko-KR" dirty="0" smtClean="0">
                <a:sym typeface="Wingdings" panose="05000000000000000000" pitchFamily="2" charset="2"/>
              </a:rPr>
              <a:t></a:t>
            </a:r>
            <a:r>
              <a:rPr lang="en-US" altLang="ko-KR" dirty="0" smtClean="0"/>
              <a:t> </a:t>
            </a:r>
            <a:r>
              <a:rPr lang="ko-KR" altLang="en-US" dirty="0" smtClean="0"/>
              <a:t>중간 페이지 </a:t>
            </a:r>
            <a:r>
              <a:rPr lang="en-US" altLang="ko-KR" dirty="0" smtClean="0">
                <a:sym typeface="Wingdings" panose="05000000000000000000" pitchFamily="2" charset="2"/>
              </a:rPr>
              <a:t> </a:t>
            </a:r>
            <a:r>
              <a:rPr lang="ko-KR" altLang="en-US" dirty="0" smtClean="0">
                <a:sym typeface="Wingdings" panose="05000000000000000000" pitchFamily="2" charset="2"/>
              </a:rPr>
              <a:t>마지막 페이지 순으로 표시가 변경됨</a:t>
            </a:r>
            <a:r>
              <a:rPr lang="en-US" altLang="ko-KR" dirty="0" smtClean="0">
                <a:sym typeface="Wingdings" panose="05000000000000000000" pitchFamily="2" charset="2"/>
              </a:rPr>
              <a:t>.</a:t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이전</a:t>
            </a:r>
            <a:r>
              <a:rPr lang="en-US" altLang="ko-KR" dirty="0" smtClean="0">
                <a:sym typeface="Wingdings" panose="05000000000000000000" pitchFamily="2" charset="2"/>
              </a:rPr>
              <a:t>, </a:t>
            </a:r>
            <a:r>
              <a:rPr lang="ko-KR" altLang="en-US" dirty="0" smtClean="0">
                <a:sym typeface="Wingdings" panose="05000000000000000000" pitchFamily="2" charset="2"/>
              </a:rPr>
              <a:t>다음 버튼으로 순서대로 이동</a:t>
            </a:r>
            <a:r>
              <a:rPr lang="en-US" altLang="ko-KR" dirty="0" smtClean="0">
                <a:sym typeface="Wingdings" panose="05000000000000000000" pitchFamily="2" charset="2"/>
              </a:rPr>
              <a:t/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255891925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/>
          </a:bodyPr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로고 </a:t>
            </a:r>
            <a:r>
              <a:rPr lang="ko-KR" altLang="en-US" dirty="0"/>
              <a:t>영역</a:t>
            </a:r>
            <a:r>
              <a:rPr lang="en-US" altLang="ko-KR" dirty="0"/>
              <a:t>, </a:t>
            </a:r>
            <a:r>
              <a:rPr lang="ko-KR" altLang="en-US" dirty="0"/>
              <a:t>상단 버튼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로고 또는 </a:t>
            </a:r>
            <a:r>
              <a:rPr lang="ko-KR" altLang="en-US" dirty="0" err="1"/>
              <a:t>홈아이콘</a:t>
            </a:r>
            <a:r>
              <a:rPr lang="ko-KR" altLang="en-US" dirty="0"/>
              <a:t> 클릭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아이콘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  &gt; 1. </a:t>
            </a:r>
            <a:r>
              <a:rPr lang="ko-KR" altLang="en-US" dirty="0">
                <a:solidFill>
                  <a:srgbClr val="FF0000"/>
                </a:solidFill>
              </a:rPr>
              <a:t>로그인 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로그인 후 </a:t>
            </a:r>
            <a:r>
              <a:rPr lang="ko-KR" altLang="en-US" dirty="0" smtClean="0">
                <a:solidFill>
                  <a:srgbClr val="FF0000"/>
                </a:solidFill>
              </a:rPr>
              <a:t>로그아웃</a:t>
            </a:r>
            <a:r>
              <a:rPr lang="en-US" altLang="ko-KR" dirty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아이콘 표시</a:t>
            </a:r>
            <a:r>
              <a:rPr lang="en-US" altLang="ko-KR" dirty="0" smtClean="0">
                <a:solidFill>
                  <a:srgbClr val="FF0000"/>
                </a:solidFill>
              </a:rPr>
              <a:t>)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  &gt; 2. </a:t>
            </a:r>
            <a:r>
              <a:rPr lang="ko-KR" altLang="en-US" dirty="0" err="1" smtClean="0">
                <a:solidFill>
                  <a:srgbClr val="FF0000"/>
                </a:solidFill>
              </a:rPr>
              <a:t>알림현황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en-US" altLang="ko-KR" dirty="0">
                <a:solidFill>
                  <a:srgbClr val="FF0000"/>
                </a:solidFill>
              </a:rPr>
              <a:t>(MUI-MS-01-M13)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햄버거 </a:t>
            </a:r>
            <a:r>
              <a:rPr lang="ko-KR" altLang="en-US" dirty="0" smtClean="0"/>
              <a:t>메뉴 </a:t>
            </a:r>
            <a:r>
              <a:rPr lang="en-US" altLang="ko-KR" dirty="0"/>
              <a:t>(MUI-MS-01-M12)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 공고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공고명</a:t>
            </a:r>
            <a:r>
              <a:rPr lang="en-US" altLang="ko-KR" dirty="0"/>
              <a:t>, </a:t>
            </a:r>
            <a:r>
              <a:rPr lang="ko-KR" altLang="en-US" dirty="0" err="1"/>
              <a:t>공고번호와</a:t>
            </a:r>
            <a:r>
              <a:rPr lang="ko-KR" altLang="en-US" dirty="0"/>
              <a:t> 업무 구분으로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입찰공고 화면으로 이동하여 </a:t>
            </a:r>
            <a:r>
              <a:rPr lang="ko-KR" altLang="en-US" dirty="0" err="1"/>
              <a:t>검색필터에</a:t>
            </a:r>
            <a:r>
              <a:rPr lang="ko-KR" altLang="en-US" dirty="0"/>
              <a:t> </a:t>
            </a:r>
            <a:r>
              <a:rPr lang="ko-KR" altLang="en-US" dirty="0" err="1"/>
              <a:t>검색어</a:t>
            </a:r>
            <a:r>
              <a:rPr lang="ko-KR" altLang="en-US" dirty="0"/>
              <a:t> 적용하여 결과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MUI-BD-01-M01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</a:t>
            </a:r>
            <a:r>
              <a:rPr lang="en-US" altLang="ko-KR" dirty="0" smtClean="0"/>
              <a:t>, </a:t>
            </a:r>
            <a:r>
              <a:rPr lang="en-US" altLang="ko-KR" dirty="0"/>
              <a:t>MUI-OP-01-M01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입찰공고</a:t>
            </a:r>
            <a:r>
              <a:rPr lang="en-US" altLang="ko-KR" dirty="0" smtClean="0"/>
              <a:t>, </a:t>
            </a:r>
            <a:r>
              <a:rPr lang="en-US" altLang="ko-KR" dirty="0"/>
              <a:t>MUI-BD-01-M01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개찰</a:t>
            </a:r>
            <a:r>
              <a:rPr lang="en-US" altLang="ko-KR" dirty="0" smtClean="0"/>
              <a:t>, </a:t>
            </a:r>
            <a:r>
              <a:rPr lang="en-US" altLang="ko-KR" dirty="0"/>
              <a:t>MUI-BD-08-M01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</a:t>
            </a:r>
            <a:r>
              <a:rPr lang="en-US" altLang="ko-KR" dirty="0" smtClean="0"/>
              <a:t>, </a:t>
            </a:r>
            <a:r>
              <a:rPr lang="en-US" altLang="ko-KR" dirty="0"/>
              <a:t>MUI-CT-01-M01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실적증명서</a:t>
            </a:r>
            <a:r>
              <a:rPr lang="en-US" altLang="ko-KR" dirty="0" smtClean="0"/>
              <a:t>, </a:t>
            </a:r>
            <a:r>
              <a:rPr lang="en-US" altLang="ko-KR" dirty="0"/>
              <a:t>MUI-CM-04-M06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조달원 등록증</a:t>
            </a:r>
            <a:r>
              <a:rPr lang="en-US" altLang="ko-KR" dirty="0" smtClean="0"/>
              <a:t>(</a:t>
            </a:r>
            <a:r>
              <a:rPr lang="ko-KR" altLang="en-US" dirty="0" smtClean="0"/>
              <a:t>국내</a:t>
            </a:r>
            <a:r>
              <a:rPr lang="en-US" altLang="ko-KR" dirty="0"/>
              <a:t>) MUI-CM-01-M19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사전준비</a:t>
            </a:r>
            <a:r>
              <a:rPr lang="en-US" altLang="ko-KR" dirty="0"/>
              <a:t>, </a:t>
            </a:r>
            <a:r>
              <a:rPr lang="ko-KR" altLang="en-US" dirty="0"/>
              <a:t>국내조달</a:t>
            </a:r>
            <a:r>
              <a:rPr lang="en-US" altLang="ko-KR" dirty="0"/>
              <a:t>, </a:t>
            </a:r>
            <a:r>
              <a:rPr lang="ko-KR" altLang="en-US" dirty="0" err="1"/>
              <a:t>국외조달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가지 항목으로 </a:t>
            </a:r>
            <a:r>
              <a:rPr lang="ko-KR" altLang="en-US" dirty="0" smtClean="0"/>
              <a:t>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사전준비안내 </a:t>
            </a:r>
            <a:r>
              <a:rPr lang="en-US" altLang="ko-KR" dirty="0" smtClean="0"/>
              <a:t>MUI-CM-05-M07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국내조달안내 </a:t>
            </a:r>
            <a:r>
              <a:rPr lang="en-US" altLang="ko-KR" dirty="0" smtClean="0"/>
              <a:t>MUI-CM-05-M09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국외조달안내 </a:t>
            </a:r>
            <a:r>
              <a:rPr lang="en-US" altLang="ko-KR" dirty="0"/>
              <a:t>MUI-CM-05-M12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모의심사안내는 표시하지 않음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탭바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주요 사용하는 메뉴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공지사항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공지사항 최근 </a:t>
            </a:r>
            <a:r>
              <a:rPr lang="en-US" altLang="ko-KR" dirty="0"/>
              <a:t>3</a:t>
            </a:r>
            <a:r>
              <a:rPr lang="ko-KR" altLang="en-US" dirty="0" smtClean="0"/>
              <a:t>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일반공지사항 </a:t>
            </a:r>
            <a:r>
              <a:rPr lang="en-US" altLang="ko-KR" dirty="0" smtClean="0"/>
              <a:t>MUI-CM-04-M01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방위사업청공지사항 </a:t>
            </a:r>
            <a:r>
              <a:rPr lang="en-US" altLang="ko-KR" dirty="0"/>
              <a:t>MUI-CM-04-M21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수요부대별공지사항 </a:t>
            </a:r>
            <a:r>
              <a:rPr lang="en-US" altLang="ko-KR" dirty="0" smtClean="0"/>
              <a:t>MUI-CM-04-M23</a:t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화면은 디자인에 따름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배너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스크롤 시 </a:t>
            </a:r>
            <a:r>
              <a:rPr lang="ko-KR" altLang="en-US" dirty="0" err="1"/>
              <a:t>플로팅</a:t>
            </a:r>
            <a:r>
              <a:rPr lang="ko-KR" altLang="en-US" dirty="0"/>
              <a:t> </a:t>
            </a:r>
            <a:r>
              <a:rPr lang="en-US" altLang="ko-KR" dirty="0"/>
              <a:t>Top </a:t>
            </a:r>
            <a:r>
              <a:rPr lang="ko-KR" altLang="en-US" dirty="0"/>
              <a:t>이동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푸터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푸터</a:t>
            </a:r>
            <a:r>
              <a:rPr lang="ko-KR" altLang="en-US" dirty="0" smtClean="0"/>
              <a:t> 영역은 표준 설계에 따름</a:t>
            </a:r>
            <a:r>
              <a:rPr lang="en-US" altLang="ko-KR" dirty="0" smtClean="0"/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메인홈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16036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788121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22790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677960" y="5859779"/>
            <a:ext cx="2712027" cy="372519"/>
            <a:chOff x="3788901" y="5859779"/>
            <a:chExt cx="2712027" cy="372519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378890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4466908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144915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5819851" y="5859779"/>
              <a:ext cx="681077" cy="37251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타원 69"/>
            <p:cNvSpPr/>
            <p:nvPr/>
          </p:nvSpPr>
          <p:spPr>
            <a:xfrm>
              <a:off x="4028078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2308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홈</a:t>
              </a:r>
            </a:p>
          </p:txBody>
        </p:sp>
        <p:sp>
          <p:nvSpPr>
            <p:cNvPr id="73" name="타원 72"/>
            <p:cNvSpPr/>
            <p:nvPr/>
          </p:nvSpPr>
          <p:spPr>
            <a:xfrm>
              <a:off x="4716846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561076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smtClean="0">
                  <a:latin typeface="+mn-ea"/>
                </a:rPr>
                <a:t>통합검색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5386873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231103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 smtClean="0">
                  <a:latin typeface="+mn-ea"/>
                </a:rPr>
                <a:t>챗봇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9" name="타원 78"/>
            <p:cNvSpPr/>
            <p:nvPr/>
          </p:nvSpPr>
          <p:spPr>
            <a:xfrm>
              <a:off x="6069480" y="590100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913710" y="6119441"/>
              <a:ext cx="4995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마이</a:t>
              </a:r>
            </a:p>
          </p:txBody>
        </p:sp>
      </p:grpSp>
      <p:sp>
        <p:nvSpPr>
          <p:cNvPr id="81" name="타원 80"/>
          <p:cNvSpPr/>
          <p:nvPr/>
        </p:nvSpPr>
        <p:spPr>
          <a:xfrm>
            <a:off x="244612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8317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31535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43038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41019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99271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바로가기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3057723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88902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5" name="Picture 2">
            <a:extLst>
              <a:ext uri="{FF2B5EF4-FFF2-40B4-BE49-F238E27FC236}">
                <a16:creationId xmlns:a16="http://schemas.microsoft.com/office/drawing/2014/main" id="{1C4B5929-C206-23D9-2234-19ADD0E7A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" r="32311"/>
          <a:stretch>
            <a:fillRect/>
          </a:stretch>
        </p:blipFill>
        <p:spPr bwMode="auto">
          <a:xfrm>
            <a:off x="3900722" y="1582647"/>
            <a:ext cx="1252261" cy="214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1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7" name="타원 96"/>
          <p:cNvSpPr/>
          <p:nvPr/>
        </p:nvSpPr>
        <p:spPr>
          <a:xfrm>
            <a:off x="5558730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타원 97"/>
          <p:cNvSpPr/>
          <p:nvPr/>
        </p:nvSpPr>
        <p:spPr>
          <a:xfrm>
            <a:off x="587248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타원 98"/>
          <p:cNvSpPr/>
          <p:nvPr/>
        </p:nvSpPr>
        <p:spPr>
          <a:xfrm>
            <a:off x="618624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3796969" y="1974039"/>
            <a:ext cx="2712027" cy="2638270"/>
            <a:chOff x="3796969" y="4333445"/>
            <a:chExt cx="2712027" cy="263827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35694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방위사업청</a:t>
              </a:r>
              <a:r>
                <a:rPr lang="ko-KR" altLang="en-US" sz="900" b="1" dirty="0">
                  <a:latin typeface="+mn-ea"/>
                </a:rPr>
                <a:t> 공지사항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585115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433344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585115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749883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749883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491465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491465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253933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 smtClean="0">
                  <a:latin typeface="+mn-ea"/>
                </a:rPr>
                <a:t>수요부대별</a:t>
              </a:r>
              <a:r>
                <a:rPr lang="ko-KR" altLang="en-US" sz="900" b="1" dirty="0" smtClean="0">
                  <a:latin typeface="+mn-ea"/>
                </a:rPr>
                <a:t> </a:t>
              </a:r>
              <a:r>
                <a:rPr lang="ko-KR" altLang="en-US" sz="900" b="1" dirty="0">
                  <a:latin typeface="+mn-ea"/>
                </a:rPr>
                <a:t>공지사항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482102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523043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482102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646870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646870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5811637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5811637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17757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일반 </a:t>
              </a:r>
              <a:r>
                <a:rPr lang="ko-KR" altLang="en-US" sz="900" b="1" dirty="0" smtClean="0">
                  <a:latin typeface="+mn-ea"/>
                </a:rPr>
                <a:t>공지사항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40574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 </a:t>
              </a:r>
              <a:r>
                <a:rPr lang="ko-KR" altLang="en-US" sz="700" dirty="0" err="1">
                  <a:latin typeface="+mn-ea"/>
                </a:rPr>
                <a:t>국외조달</a:t>
              </a:r>
              <a:r>
                <a:rPr lang="ko-KR" altLang="en-US" sz="700" dirty="0">
                  <a:latin typeface="+mn-ea"/>
                </a:rPr>
                <a:t> 집행 예정 품목 공지</a:t>
              </a:r>
            </a:p>
          </p:txBody>
        </p:sp>
        <p:sp>
          <p:nvSpPr>
            <p:cNvPr id="1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791465" y="6154071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더보기</a:t>
              </a: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+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40574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51429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04755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6969" y="697171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564181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국가계약법 시행령 한시적 특례 종료</a:t>
              </a:r>
              <a:r>
                <a:rPr lang="en-US" altLang="ko-KR" sz="700" dirty="0">
                  <a:latin typeface="+mn-ea"/>
                </a:rPr>
                <a:t>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564181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2343" y="6728948"/>
              <a:ext cx="230514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2026</a:t>
              </a:r>
              <a:r>
                <a:rPr lang="ko-KR" altLang="en-US" sz="700" dirty="0">
                  <a:latin typeface="+mn-ea"/>
                </a:rPr>
                <a:t>년도 사전입찰의향서 접수 안내</a:t>
              </a:r>
              <a:r>
                <a:rPr lang="en-US" altLang="ko-KR" sz="700" dirty="0">
                  <a:latin typeface="+mn-ea"/>
                </a:rPr>
                <a:t>(…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387975" y="6728948"/>
              <a:ext cx="89783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2026-01-15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47" name="모서리가 둥근 직사각형 146"/>
          <p:cNvSpPr/>
          <p:nvPr/>
        </p:nvSpPr>
        <p:spPr>
          <a:xfrm>
            <a:off x="4002170" y="4676843"/>
            <a:ext cx="2285490" cy="1277072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배너 영역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3788901" y="6018448"/>
            <a:ext cx="2712027" cy="218999"/>
          </a:xfrm>
          <a:prstGeom prst="roundRect">
            <a:avLst>
              <a:gd name="adj" fmla="val 685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Footer</a:t>
            </a:r>
            <a:endParaRPr lang="ko-KR" altLang="en-US" dirty="0"/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848" y="59089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199378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4969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1178" y="604270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891228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모서리가 둥근 직사각형 125"/>
          <p:cNvSpPr/>
          <p:nvPr/>
        </p:nvSpPr>
        <p:spPr>
          <a:xfrm>
            <a:off x="1508351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모서리가 둥근 직사각형 129"/>
          <p:cNvSpPr/>
          <p:nvPr/>
        </p:nvSpPr>
        <p:spPr>
          <a:xfrm>
            <a:off x="2125474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모서리가 둥근 직사각형 130"/>
          <p:cNvSpPr/>
          <p:nvPr/>
        </p:nvSpPr>
        <p:spPr>
          <a:xfrm>
            <a:off x="2742597" y="3562354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타원 131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4" name="타원 1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8653" y="45047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30790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사용 안내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53733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사전준비안내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473642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4903435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152551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국내조달안내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5351640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5518649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9" name="그룹 128"/>
          <p:cNvGrpSpPr/>
          <p:nvPr/>
        </p:nvGrpSpPr>
        <p:grpSpPr>
          <a:xfrm rot="16200000">
            <a:off x="3143548" y="4560840"/>
            <a:ext cx="94010" cy="47005"/>
            <a:chOff x="6812560" y="3297172"/>
            <a:chExt cx="94010" cy="47005"/>
          </a:xfrm>
        </p:grpSpPr>
        <p:cxnSp>
          <p:nvCxnSpPr>
            <p:cNvPr id="133" name="직선 연결선 1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4" name="직선 연결선 1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5" name="그룹 134"/>
          <p:cNvGrpSpPr/>
          <p:nvPr/>
        </p:nvGrpSpPr>
        <p:grpSpPr>
          <a:xfrm rot="16200000">
            <a:off x="3143549" y="5181230"/>
            <a:ext cx="94010" cy="47005"/>
            <a:chOff x="6812560" y="3297172"/>
            <a:chExt cx="94010" cy="47005"/>
          </a:xfrm>
        </p:grpSpPr>
        <p:cxnSp>
          <p:nvCxnSpPr>
            <p:cNvPr id="136" name="직선 연결선 1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7" name="그룹 126"/>
          <p:cNvGrpSpPr/>
          <p:nvPr/>
        </p:nvGrpSpPr>
        <p:grpSpPr>
          <a:xfrm>
            <a:off x="767702" y="2113949"/>
            <a:ext cx="2527420" cy="477995"/>
            <a:chOff x="786326" y="2270279"/>
            <a:chExt cx="2527420" cy="477995"/>
          </a:xfrm>
        </p:grpSpPr>
        <p:sp>
          <p:nvSpPr>
            <p:cNvPr id="138" name="모서리가 둥근 직사각형 137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타원 138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>
              <a:off x="795624" y="2274581"/>
              <a:ext cx="1299303" cy="155984"/>
              <a:chOff x="808107" y="2288229"/>
              <a:chExt cx="1189739" cy="168318"/>
            </a:xfrm>
          </p:grpSpPr>
          <p:sp>
            <p:nvSpPr>
              <p:cNvPr id="158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808107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공고명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159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1434352" y="2288229"/>
                <a:ext cx="563494" cy="168318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공고번호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142" name="타원 141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143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45" name="그룹 144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28" name="직사각형 127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160" name="그룹 15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1" name="직사각형 16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2026-06-23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2" name="직사각형 16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추가됨에 따라 모바일 </a:t>
              </a:r>
              <a:r>
                <a:rPr lang="ko-KR" altLang="en-US" sz="700" dirty="0" err="1" smtClean="0"/>
                <a:t>모의입찰이</a:t>
              </a:r>
              <a:r>
                <a:rPr lang="ko-KR" altLang="en-US" sz="700" dirty="0" smtClean="0"/>
                <a:t> 없다는 문구를 삭제함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  <p:grpSp>
        <p:nvGrpSpPr>
          <p:cNvPr id="163" name="그룹 162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165" name="직사각형 16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66" name="직사각형 16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en-US" altLang="ko-KR" sz="700" dirty="0" smtClean="0"/>
                <a:t>, </a:t>
              </a:r>
              <a:r>
                <a:rPr lang="ko-KR" altLang="en-US" sz="700" dirty="0" err="1" smtClean="0"/>
                <a:t>탭바</a:t>
              </a:r>
              <a:r>
                <a:rPr lang="ko-KR" altLang="en-US" sz="700" dirty="0" smtClean="0"/>
                <a:t> 노출 버튼 변경</a:t>
              </a:r>
              <a:endParaRPr lang="en-US" altLang="ko-KR" sz="700" dirty="0"/>
            </a:p>
          </p:txBody>
        </p:sp>
      </p:grpSp>
      <p:grpSp>
        <p:nvGrpSpPr>
          <p:cNvPr id="167" name="그룹 166"/>
          <p:cNvGrpSpPr/>
          <p:nvPr/>
        </p:nvGrpSpPr>
        <p:grpSpPr>
          <a:xfrm>
            <a:off x="8223250" y="1055200"/>
            <a:ext cx="3365500" cy="634511"/>
            <a:chOff x="8223250" y="569392"/>
            <a:chExt cx="3365500" cy="634511"/>
          </a:xfrm>
        </p:grpSpPr>
        <p:sp>
          <p:nvSpPr>
            <p:cNvPr id="168" name="직사각형 16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169" name="직사각형 16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 안내 이동 경로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76699854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60321" y="72319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43CCF2E-4211-2C23-5344-1DCBE7D0C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3" y="82501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2877125-CEBE-DA88-38E6-DC2C1B0A09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1862561"/>
              </p:ext>
            </p:extLst>
          </p:nvPr>
        </p:nvGraphicFramePr>
        <p:xfrm>
          <a:off x="450088" y="1015825"/>
          <a:ext cx="8995591" cy="29145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2941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5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국방전자조달시스템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83608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국방전자조달시스템내의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공고를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t"/>
                      <a:r>
                        <a:rPr lang="en-US" altLang="ko-KR" sz="800" dirty="0" smtClean="0">
                          <a:effectLst/>
                        </a:rPr>
                        <a:t>MUI-BD-01-M01 (</a:t>
                      </a:r>
                      <a:r>
                        <a:rPr lang="ko-KR" altLang="en-US" sz="800" dirty="0">
                          <a:effectLst/>
                        </a:rPr>
                        <a:t>입찰공고통합목록</a:t>
                      </a:r>
                      <a:r>
                        <a:rPr lang="en-US" altLang="ko-KR" sz="800" dirty="0">
                          <a:effectLst/>
                        </a:rPr>
                        <a:t>-</a:t>
                      </a:r>
                      <a:r>
                        <a:rPr lang="ko-KR" altLang="en-US" sz="800" dirty="0">
                          <a:effectLst/>
                        </a:rPr>
                        <a:t>입찰공고</a:t>
                      </a:r>
                      <a:r>
                        <a:rPr lang="en-US" altLang="ko-KR" sz="800" dirty="0">
                          <a:effectLst/>
                        </a:rPr>
                        <a:t>) </a:t>
                      </a:r>
                      <a:r>
                        <a:rPr lang="ko-KR" altLang="en-US" sz="800" dirty="0" smtClean="0">
                          <a:effectLst/>
                        </a:rPr>
                        <a:t>이동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사전준비안내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scwin.btn_bfhdReady_onclick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MUI-CM-05-M07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3390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국내조달안내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scwin.btn_dmstPrcmGd_onclick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MUI-CM-05-M09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37605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scwin.btn_ovsPrcmGd_onclick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국외조달시스템의 이용안내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</a:rPr>
                        <a:t>MUI-CM-05-M12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04740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/>
                        <a:t>방위사업청공지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scwin.btn_bizNotice_onclick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방위사업청공지사항의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/>
                        <a:t>MUI-CM-04-M21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26155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수요부대공지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scwin.btn_sbsdNotice_onclick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수요부대별공지사항의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/>
                        <a:t>MUI-CM-04-M23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87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일반공지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scwin.btn_gnrlNotice_onclick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일반공지사항의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 smtClean="0"/>
                        <a:t>MUI-CM-04-M01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0988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국방관련사이트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scwin.btn_ndSite_onclick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국방관련사이트 목록을 보여주고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견본신청안내 사이트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URL :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국방군수통합정보체계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hlinkClick r:id="rId2"/>
                        </a:rPr>
                        <a:t>http://delis.mnd.go.kr:8080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도 포함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41439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85699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제목</a:t>
            </a:r>
            <a:r>
              <a:rPr lang="en-US" altLang="ko-KR" dirty="0"/>
              <a:t>, </a:t>
            </a:r>
            <a:r>
              <a:rPr lang="ko-KR" altLang="en-US" dirty="0"/>
              <a:t>내용을 타이틀 하단에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닫기 </a:t>
            </a:r>
            <a:r>
              <a:rPr lang="en-US" altLang="ko-KR" dirty="0"/>
              <a:t>(X) </a:t>
            </a:r>
            <a:r>
              <a:rPr lang="ko-KR" altLang="en-US" dirty="0"/>
              <a:t>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메인화면에</a:t>
            </a:r>
            <a:r>
              <a:rPr lang="ko-KR" altLang="en-US" dirty="0"/>
              <a:t> 노출되는 </a:t>
            </a:r>
            <a:r>
              <a:rPr lang="en-US" altLang="ko-KR" dirty="0"/>
              <a:t>[</a:t>
            </a:r>
            <a:r>
              <a:rPr lang="ko-KR" altLang="en-US" dirty="0"/>
              <a:t>중요 공지사항</a:t>
            </a:r>
            <a:r>
              <a:rPr lang="en-US" altLang="ko-KR" dirty="0"/>
              <a:t>], [</a:t>
            </a:r>
            <a:r>
              <a:rPr lang="ko-KR" altLang="en-US" dirty="0"/>
              <a:t>시스템 안내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최신 </a:t>
            </a:r>
            <a:r>
              <a:rPr lang="en-US" altLang="ko-KR" dirty="0"/>
              <a:t>1</a:t>
            </a:r>
            <a:r>
              <a:rPr lang="ko-KR" altLang="en-US" dirty="0"/>
              <a:t>종만 노출됨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더 이상 안보기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노출된 중요 공지사항은 더 이상 표시되지 않음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더보기</a:t>
            </a:r>
            <a:r>
              <a:rPr lang="ko-KR" altLang="en-US" dirty="0"/>
              <a:t>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표시되고 있는</a:t>
            </a:r>
            <a:r>
              <a:rPr lang="en-US" altLang="ko-KR" dirty="0"/>
              <a:t> </a:t>
            </a:r>
            <a:r>
              <a:rPr lang="ko-KR" altLang="en-US" dirty="0"/>
              <a:t>공지사항의 </a:t>
            </a:r>
            <a:r>
              <a:rPr lang="ko-KR" altLang="en-US" dirty="0" err="1"/>
              <a:t>게시글</a:t>
            </a:r>
            <a:r>
              <a:rPr lang="ko-KR" altLang="en-US" dirty="0"/>
              <a:t> 상세 화면으로 이동 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창 닫힘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중요 공지사항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팝업은 동일한 팝업에서 내용이 변경되어 표시됨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0" indent="0">
              <a:buNone/>
            </a:pPr>
            <a:r>
              <a:rPr lang="ko-KR" altLang="en-US" dirty="0">
                <a:solidFill>
                  <a:srgbClr val="FF0000"/>
                </a:solidFill>
              </a:rPr>
              <a:t>레이어 </a:t>
            </a:r>
            <a:r>
              <a:rPr lang="en-US" altLang="ko-KR" dirty="0">
                <a:solidFill>
                  <a:srgbClr val="FF0000"/>
                </a:solidFill>
              </a:rPr>
              <a:t>z-index</a:t>
            </a:r>
            <a:r>
              <a:rPr lang="ko-KR" altLang="en-US" dirty="0">
                <a:solidFill>
                  <a:srgbClr val="FF0000"/>
                </a:solidFill>
              </a:rPr>
              <a:t>는 시스템 안내 팝업이 상단이 되며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최신 등록된 중요 공지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시스템 안내 </a:t>
            </a:r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종만을 표시함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중요공지</a:t>
            </a:r>
            <a:r>
              <a:rPr lang="en-US" altLang="ko-KR" dirty="0"/>
              <a:t>,</a:t>
            </a:r>
            <a:r>
              <a:rPr lang="ko-KR" altLang="en-US" dirty="0" err="1"/>
              <a:t>시스템안내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앱 메인 홈 화면에서 노출되는 중요 공지사항과 시스템 안내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– </a:t>
            </a:r>
            <a:r>
              <a:rPr lang="ko-KR" altLang="en-US" dirty="0"/>
              <a:t>중요 공지사항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MUI-MS-01-P08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743977" y="2831066"/>
            <a:ext cx="2579992" cy="2064095"/>
            <a:chOff x="758359" y="2831066"/>
            <a:chExt cx="2579992" cy="2064095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58359" y="2831066"/>
              <a:ext cx="2579992" cy="2064095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101197" y="4453050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더보기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76053" y="4453050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 이상 안보기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6053" y="297779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중요 공지사항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5783" y="3210304"/>
              <a:ext cx="2305144" cy="109260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800" b="1" dirty="0">
                  <a:latin typeface="+mn-ea"/>
                </a:rPr>
                <a:t>제목을 표시합니다</a:t>
              </a:r>
              <a:r>
                <a:rPr lang="en-US" altLang="ko-KR" sz="800" b="1" dirty="0">
                  <a:latin typeface="+mn-ea"/>
                </a:rPr>
                <a:t>. </a:t>
              </a:r>
              <a:r>
                <a:rPr lang="ko-KR" altLang="en-US" sz="800" b="1" dirty="0">
                  <a:latin typeface="+mn-ea"/>
                </a:rPr>
                <a:t>제목은 볼드로 </a:t>
              </a:r>
              <a:r>
                <a:rPr lang="ko-KR" altLang="en-US" sz="800" b="1" dirty="0" err="1">
                  <a:latin typeface="+mn-ea"/>
                </a:rPr>
                <a:t>한줄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ko-KR" altLang="en-US" sz="800" b="1" dirty="0" err="1">
                  <a:latin typeface="+mn-ea"/>
                </a:rPr>
                <a:t>표시합</a:t>
              </a:r>
              <a:r>
                <a:rPr lang="en-US" altLang="ko-KR" sz="800" b="1" dirty="0">
                  <a:latin typeface="+mn-ea"/>
                </a:rPr>
                <a:t>…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공지사항 중에서 중요 공지로 등록한 최신 한가지를 노출합니다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중요 공지사항 </a:t>
              </a:r>
              <a:r>
                <a:rPr lang="ko-KR" altLang="en-US" sz="700" dirty="0" err="1">
                  <a:latin typeface="+mn-ea"/>
                </a:rPr>
                <a:t>메인홈에서</a:t>
              </a:r>
              <a:r>
                <a:rPr lang="ko-KR" altLang="en-US" sz="700" dirty="0">
                  <a:latin typeface="+mn-ea"/>
                </a:rPr>
                <a:t> 노출되는 것은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종입니다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표시되는 텍스트의 길이는 최대 </a:t>
              </a:r>
              <a:r>
                <a:rPr lang="en-US" altLang="ko-KR" sz="700" dirty="0">
                  <a:latin typeface="+mn-ea"/>
                </a:rPr>
                <a:t>5</a:t>
              </a:r>
              <a:r>
                <a:rPr lang="ko-KR" altLang="en-US" sz="700" dirty="0">
                  <a:latin typeface="+mn-ea"/>
                </a:rPr>
                <a:t>줄로 표시하고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이후 내용이 더 있는 경우는 </a:t>
              </a:r>
              <a:r>
                <a:rPr lang="en-US" altLang="ko-KR" sz="700" dirty="0">
                  <a:latin typeface="+mn-ea"/>
                </a:rPr>
                <a:t>… (</a:t>
              </a:r>
              <a:r>
                <a:rPr lang="ko-KR" altLang="en-US" sz="700" dirty="0" err="1">
                  <a:latin typeface="+mn-ea"/>
                </a:rPr>
                <a:t>말줄임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표시를 통해서 내용을 </a:t>
              </a:r>
              <a:r>
                <a:rPr lang="ko-KR" altLang="en-US" sz="700" dirty="0" err="1">
                  <a:latin typeface="+mn-ea"/>
                </a:rPr>
                <a:t>숨김처리</a:t>
              </a:r>
              <a:r>
                <a:rPr lang="ko-KR" altLang="en-US" sz="700" dirty="0">
                  <a:latin typeface="+mn-ea"/>
                </a:rPr>
                <a:t> 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</p:txBody>
        </p:sp>
        <p:grpSp>
          <p:nvGrpSpPr>
            <p:cNvPr id="8" name="그룹 7"/>
            <p:cNvGrpSpPr/>
            <p:nvPr/>
          </p:nvGrpSpPr>
          <p:grpSpPr>
            <a:xfrm>
              <a:off x="3090975" y="2966155"/>
              <a:ext cx="94010" cy="94010"/>
              <a:chOff x="6812560" y="3297172"/>
              <a:chExt cx="94010" cy="94010"/>
            </a:xfrm>
          </p:grpSpPr>
          <p:cxnSp>
            <p:nvCxnSpPr>
              <p:cNvPr id="5" name="직선 연결선 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3" name="직선 연결선 5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타원 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89583" y="4362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66626" y="44230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72294" y="2792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634603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</a:t>
            </a:r>
            <a:r>
              <a:rPr lang="en-US" altLang="ko-KR" dirty="0"/>
              <a:t> </a:t>
            </a:r>
            <a:r>
              <a:rPr lang="ko-KR" altLang="en-US" dirty="0"/>
              <a:t>페이지로 이동하여 </a:t>
            </a:r>
            <a:r>
              <a:rPr lang="ko-KR" altLang="en-US" dirty="0" smtClean="0"/>
              <a:t>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통합검색 솔루션 </a:t>
            </a:r>
            <a:r>
              <a:rPr lang="en-US" altLang="ko-KR" dirty="0" err="1" smtClean="0">
                <a:solidFill>
                  <a:srgbClr val="FF0000"/>
                </a:solidFill>
              </a:rPr>
              <a:t>konan</a:t>
            </a:r>
            <a:r>
              <a:rPr lang="en-US" altLang="ko-KR" dirty="0" smtClean="0">
                <a:solidFill>
                  <a:srgbClr val="FF0000"/>
                </a:solidFill>
              </a:rPr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활용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통합 </a:t>
            </a:r>
            <a:r>
              <a:rPr lang="ko-KR" altLang="en-US" dirty="0"/>
              <a:t>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 페이지 진입 시 검색 영역으로 포커스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자주 찾는 서비스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자주 사용하는 메뉴를 정의하여 </a:t>
            </a:r>
            <a:r>
              <a:rPr lang="en-US" altLang="ko-KR" dirty="0"/>
              <a:t>10</a:t>
            </a:r>
            <a:r>
              <a:rPr lang="ko-KR" altLang="en-US" dirty="0"/>
              <a:t>개까지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사용자가 입력한 최근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en-US" altLang="ko-KR" dirty="0"/>
              <a:t>10</a:t>
            </a:r>
            <a:r>
              <a:rPr lang="ko-KR" altLang="en-US" dirty="0"/>
              <a:t>개까지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검색한 이력이 없는 경우 아래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최근 검색어가 없습니다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최근 </a:t>
            </a:r>
            <a:r>
              <a:rPr lang="ko-KR" altLang="en-US" dirty="0" err="1"/>
              <a:t>검색어</a:t>
            </a:r>
            <a:r>
              <a:rPr lang="ko-KR" altLang="en-US" dirty="0"/>
              <a:t> 삭제로 검색 이력 삭제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페이지 진입 및 통합 검색 페이지 노출 정보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5" name="모서리가 둥근 직사각형 7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타원 7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394390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endParaRPr lang="ko-KR" altLang="en-US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4178760"/>
            <a:ext cx="2464791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방위사업청</a:t>
            </a:r>
            <a:r>
              <a:rPr lang="ko-KR" altLang="en-US" sz="700" dirty="0">
                <a:latin typeface="+mn-ea"/>
              </a:rPr>
              <a:t> 물품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국방부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민원서류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인증서 가져오기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241301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자주 찾는 서비스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0156" y="2647865"/>
            <a:ext cx="2464791" cy="10772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입찰 공고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대금청구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세금계산서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 err="1">
                <a:latin typeface="+mn-ea"/>
              </a:rPr>
              <a:t>사전의향서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  <a:p>
            <a:pPr marL="228600" indent="-228600">
              <a:buAutoNum type="arabicPeriod"/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959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23431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3876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43647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8" name="타원 107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3" name="그룹 112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4" name="직선 연결선 11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5" name="직선 연결선 11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6" name="그룹 115"/>
          <p:cNvGrpSpPr/>
          <p:nvPr/>
        </p:nvGrpSpPr>
        <p:grpSpPr>
          <a:xfrm>
            <a:off x="2518401" y="3968731"/>
            <a:ext cx="58075" cy="58074"/>
            <a:chOff x="6812560" y="3297172"/>
            <a:chExt cx="94010" cy="94010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621134" y="3943907"/>
            <a:ext cx="71420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삭제</a:t>
            </a: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6" y="14349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0573074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통합 검색</a:t>
            </a:r>
            <a:r>
              <a:rPr lang="en-US" altLang="ko-KR" dirty="0"/>
              <a:t> </a:t>
            </a:r>
            <a:r>
              <a:rPr lang="ko-KR" altLang="en-US" dirty="0"/>
              <a:t>페이지에서 </a:t>
            </a:r>
            <a:r>
              <a:rPr lang="ko-KR" altLang="en-US" dirty="0" err="1"/>
              <a:t>검색어</a:t>
            </a:r>
            <a:r>
              <a:rPr lang="ko-KR" altLang="en-US" dirty="0"/>
              <a:t> 입력 </a:t>
            </a:r>
            <a:r>
              <a:rPr lang="ko-KR" altLang="en-US" dirty="0" err="1"/>
              <a:t>검색어</a:t>
            </a:r>
            <a:r>
              <a:rPr lang="ko-KR" altLang="en-US" dirty="0"/>
              <a:t> 입력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검색어</a:t>
            </a:r>
            <a:r>
              <a:rPr lang="ko-KR" altLang="en-US" dirty="0"/>
              <a:t> 초기화 버튼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검색어가 포함된 </a:t>
            </a:r>
            <a:r>
              <a:rPr lang="ko-KR" altLang="en-US" dirty="0" err="1"/>
              <a:t>메뉴명</a:t>
            </a:r>
            <a:r>
              <a:rPr lang="ko-KR" altLang="en-US" dirty="0"/>
              <a:t> 자동완성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</a:t>
            </a:r>
            <a:r>
              <a:rPr lang="ko-KR" altLang="en-US" dirty="0"/>
              <a:t>개 항목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</a:t>
            </a:r>
            <a:r>
              <a:rPr lang="ko-KR" altLang="en-US" dirty="0"/>
              <a:t> 자동완성 기능 </a:t>
            </a:r>
            <a:r>
              <a:rPr lang="ko-KR" altLang="en-US" dirty="0" err="1"/>
              <a:t>토글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ON/OFF</a:t>
            </a:r>
            <a:r>
              <a:rPr lang="ko-KR" altLang="en-US" dirty="0"/>
              <a:t>에 따라</a:t>
            </a:r>
            <a:r>
              <a:rPr lang="en-US" altLang="ko-KR" dirty="0"/>
              <a:t> </a:t>
            </a:r>
            <a:r>
              <a:rPr lang="ko-KR" altLang="en-US" dirty="0"/>
              <a:t>자동완성 표시</a:t>
            </a:r>
            <a:r>
              <a:rPr lang="en-US" altLang="ko-KR" dirty="0"/>
              <a:t>, </a:t>
            </a:r>
            <a:r>
              <a:rPr lang="ko-KR" altLang="en-US" dirty="0"/>
              <a:t>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3-1. ON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자동완성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3-2. OFF </a:t>
            </a:r>
            <a:r>
              <a:rPr lang="ko-KR" altLang="en-US" dirty="0"/>
              <a:t>상태 </a:t>
            </a:r>
            <a:r>
              <a:rPr lang="en-US" altLang="ko-KR" dirty="0"/>
              <a:t>– </a:t>
            </a:r>
            <a:r>
              <a:rPr lang="ko-KR" altLang="en-US" dirty="0"/>
              <a:t>안내 메시지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검색어에</a:t>
            </a:r>
            <a:r>
              <a:rPr lang="ko-KR" altLang="en-US" dirty="0"/>
              <a:t> 따라 현재 앱 서비스에서 관련된 서비스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통합 검색 </a:t>
            </a:r>
            <a:r>
              <a:rPr lang="ko-KR" altLang="en-US" dirty="0" err="1"/>
              <a:t>검색어</a:t>
            </a:r>
            <a:r>
              <a:rPr lang="ko-KR" altLang="en-US" dirty="0"/>
              <a:t> 입력 및 자동완성 기능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MUI-MS-01-M09</a:t>
            </a:r>
            <a:endParaRPr lang="ko-KR" altLang="en-US" dirty="0"/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1" name="그룹 70"/>
          <p:cNvGrpSpPr/>
          <p:nvPr/>
        </p:nvGrpSpPr>
        <p:grpSpPr>
          <a:xfrm>
            <a:off x="3140938" y="1657580"/>
            <a:ext cx="94010" cy="94010"/>
            <a:chOff x="6812560" y="3297172"/>
            <a:chExt cx="94010" cy="94010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모서리가 둥근 직사각형 94"/>
          <p:cNvSpPr/>
          <p:nvPr/>
        </p:nvSpPr>
        <p:spPr>
          <a:xfrm>
            <a:off x="77238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304192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08236" y="2362612"/>
            <a:ext cx="222671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진행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서제출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관심</a:t>
            </a: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입찰</a:t>
            </a:r>
            <a:r>
              <a:rPr lang="ko-KR" altLang="en-US" sz="700" dirty="0" err="1">
                <a:latin typeface="+mn-ea"/>
              </a:rPr>
              <a:t>참가등록반려신청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1" name="타원 110"/>
          <p:cNvSpPr/>
          <p:nvPr/>
        </p:nvSpPr>
        <p:spPr>
          <a:xfrm>
            <a:off x="283235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2" name="그룹 111"/>
          <p:cNvGrpSpPr/>
          <p:nvPr/>
        </p:nvGrpSpPr>
        <p:grpSpPr>
          <a:xfrm>
            <a:off x="2876256" y="2029333"/>
            <a:ext cx="58075" cy="58074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962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20" name="타원 119"/>
          <p:cNvSpPr/>
          <p:nvPr/>
        </p:nvSpPr>
        <p:spPr>
          <a:xfrm>
            <a:off x="770156" y="241857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타원 123"/>
          <p:cNvSpPr/>
          <p:nvPr/>
        </p:nvSpPr>
        <p:spPr>
          <a:xfrm>
            <a:off x="770156" y="262363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타원 124"/>
          <p:cNvSpPr/>
          <p:nvPr/>
        </p:nvSpPr>
        <p:spPr>
          <a:xfrm>
            <a:off x="770156" y="2832411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/>
          <p:cNvSpPr/>
          <p:nvPr/>
        </p:nvSpPr>
        <p:spPr>
          <a:xfrm>
            <a:off x="770156" y="3053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타원 126"/>
          <p:cNvSpPr/>
          <p:nvPr/>
        </p:nvSpPr>
        <p:spPr>
          <a:xfrm>
            <a:off x="770156" y="3264527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타원 127"/>
          <p:cNvSpPr/>
          <p:nvPr/>
        </p:nvSpPr>
        <p:spPr>
          <a:xfrm>
            <a:off x="770156" y="3473788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10622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557484" y="3898193"/>
            <a:ext cx="299722" cy="167734"/>
            <a:chOff x="1358901" y="4039836"/>
            <a:chExt cx="299722" cy="167734"/>
          </a:xfrm>
        </p:grpSpPr>
        <p:sp>
          <p:nvSpPr>
            <p:cNvPr id="130" name="모서리가 둥근 직사각형 129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1" name="타원 130"/>
            <p:cNvSpPr/>
            <p:nvPr/>
          </p:nvSpPr>
          <p:spPr>
            <a:xfrm>
              <a:off x="150075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076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2" name="그룹 171"/>
          <p:cNvGrpSpPr/>
          <p:nvPr/>
        </p:nvGrpSpPr>
        <p:grpSpPr>
          <a:xfrm>
            <a:off x="6258711" y="1657580"/>
            <a:ext cx="94010" cy="94010"/>
            <a:chOff x="6812560" y="3297172"/>
            <a:chExt cx="94010" cy="94010"/>
          </a:xfrm>
        </p:grpSpPr>
        <p:cxnSp>
          <p:nvCxnSpPr>
            <p:cNvPr id="196" name="직선 연결선 19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7" name="직선 연결선 19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3" name="모서리가 둥근 직사각형 172"/>
          <p:cNvSpPr/>
          <p:nvPr/>
        </p:nvSpPr>
        <p:spPr>
          <a:xfrm>
            <a:off x="3890157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타원 173"/>
          <p:cNvSpPr/>
          <p:nvPr/>
        </p:nvSpPr>
        <p:spPr>
          <a:xfrm>
            <a:off x="6159700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0157" y="2832411"/>
            <a:ext cx="252742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자동완성 기능이 꺼져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보다 빠른 검색을 위해 자동완성 기능을 켜주세요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1575292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국방전자조달시스템</a:t>
            </a:r>
            <a:r>
              <a:rPr lang="en-US" altLang="ko-KR" sz="800" dirty="0">
                <a:latin typeface="+mn-ea"/>
              </a:rPr>
              <a:t>,</a:t>
            </a:r>
          </a:p>
          <a:p>
            <a:r>
              <a:rPr lang="ko-KR" altLang="en-US" sz="800" dirty="0">
                <a:latin typeface="+mn-ea"/>
              </a:rPr>
              <a:t>이제 한 곳에서 찾아보세요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177" name="타원 176"/>
          <p:cNvSpPr/>
          <p:nvPr/>
        </p:nvSpPr>
        <p:spPr>
          <a:xfrm>
            <a:off x="5950124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8" name="그룹 177"/>
          <p:cNvGrpSpPr/>
          <p:nvPr/>
        </p:nvGrpSpPr>
        <p:grpSpPr>
          <a:xfrm>
            <a:off x="5994029" y="2029333"/>
            <a:ext cx="58075" cy="58074"/>
            <a:chOff x="6812560" y="3297172"/>
            <a:chExt cx="94010" cy="94010"/>
          </a:xfrm>
        </p:grpSpPr>
        <p:cxnSp>
          <p:nvCxnSpPr>
            <p:cNvPr id="194" name="직선 연결선 19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5" name="직선 연결선 19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7402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28395" y="3858484"/>
            <a:ext cx="454826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자동 완성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87" name="그룹 186"/>
          <p:cNvGrpSpPr/>
          <p:nvPr/>
        </p:nvGrpSpPr>
        <p:grpSpPr>
          <a:xfrm>
            <a:off x="5675257" y="3898193"/>
            <a:ext cx="299722" cy="167734"/>
            <a:chOff x="1358901" y="4039836"/>
            <a:chExt cx="299722" cy="167734"/>
          </a:xfrm>
        </p:grpSpPr>
        <p:sp>
          <p:nvSpPr>
            <p:cNvPr id="192" name="모서리가 둥근 직사각형 191"/>
            <p:cNvSpPr/>
            <p:nvPr/>
          </p:nvSpPr>
          <p:spPr>
            <a:xfrm>
              <a:off x="1358901" y="4039836"/>
              <a:ext cx="299722" cy="16773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/>
            <p:cNvSpPr/>
            <p:nvPr/>
          </p:nvSpPr>
          <p:spPr>
            <a:xfrm>
              <a:off x="1380107" y="4050762"/>
              <a:ext cx="145884" cy="1458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11514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>
                <a:latin typeface="+mn-ea"/>
              </a:rPr>
              <a:t>관련 서비스</a:t>
            </a:r>
            <a:endParaRPr lang="ko-KR" altLang="en-US" sz="800" dirty="0">
              <a:latin typeface="+mn-ea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49" y="4306868"/>
            <a:ext cx="245387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</a:t>
            </a:r>
            <a:r>
              <a:rPr lang="ko-KR" altLang="en-US" sz="700" dirty="0">
                <a:latin typeface="+mn-ea"/>
              </a:rPr>
              <a:t>참가 신청 </a:t>
            </a:r>
            <a:r>
              <a:rPr lang="en-US" altLang="ko-KR" sz="700" dirty="0">
                <a:latin typeface="+mn-ea"/>
              </a:rPr>
              <a:t>&gt;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3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28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55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2360623" y="36564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90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98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2621807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199" name="사각형: 둥근 모서리 25">
            <a:extLst>
              <a:ext uri="{FF2B5EF4-FFF2-40B4-BE49-F238E27FC236}">
                <a16:creationId xmlns:a16="http://schemas.microsoft.com/office/drawing/2014/main" id="{D17B50F9-89DD-C80C-4195-7E69A48DBE7F}"/>
              </a:ext>
            </a:extLst>
          </p:cNvPr>
          <p:cNvSpPr/>
          <p:nvPr/>
        </p:nvSpPr>
        <p:spPr>
          <a:xfrm>
            <a:off x="5702555" y="3672408"/>
            <a:ext cx="327084" cy="146280"/>
          </a:xfrm>
          <a:prstGeom prst="roundRect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243807872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그룹 105"/>
          <p:cNvGrpSpPr/>
          <p:nvPr/>
        </p:nvGrpSpPr>
        <p:grpSpPr>
          <a:xfrm>
            <a:off x="781461" y="3588685"/>
            <a:ext cx="2473257" cy="1073394"/>
            <a:chOff x="781461" y="1974079"/>
            <a:chExt cx="2473257" cy="1073394"/>
          </a:xfrm>
        </p:grpSpPr>
        <p:sp>
          <p:nvSpPr>
            <p:cNvPr id="10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158410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긴급공고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LDG0097-1</a:t>
              </a:r>
            </a:p>
            <a:p>
              <a:r>
                <a:rPr lang="ko-KR" altLang="en-US" sz="900" b="1" dirty="0" err="1"/>
                <a:t>특수작전용대물타격무인향</a:t>
              </a:r>
              <a:endParaRPr lang="ko-KR" altLang="en-US" sz="900" b="1" dirty="0"/>
            </a:p>
          </p:txBody>
        </p:sp>
        <p:sp>
          <p:nvSpPr>
            <p:cNvPr id="10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2493475"/>
              <a:ext cx="79669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공고일자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입찰참가신청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ko-KR" altLang="en-US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일참서제출</a:t>
              </a:r>
              <a:r>
                <a:rPr lang="ko-KR" altLang="en-US" sz="600" dirty="0">
                  <a:latin typeface="+mn-ea"/>
                </a:rPr>
                <a:t> </a:t>
              </a:r>
              <a:r>
                <a:rPr lang="ko-KR" altLang="en-US" sz="600" dirty="0" err="1">
                  <a:latin typeface="+mn-ea"/>
                </a:rPr>
                <a:t>마감일시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개찰일시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2478086"/>
              <a:ext cx="609141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2025-12-22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2025-12-23 17:00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10:00</a:t>
              </a:r>
            </a:p>
            <a:p>
              <a:pPr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2025-12-24 10:30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111" name="모서리가 둥근 직사각형 110"/>
            <p:cNvSpPr/>
            <p:nvPr/>
          </p:nvSpPr>
          <p:spPr>
            <a:xfrm>
              <a:off x="781461" y="1974079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1075655" y="1974079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경쟁입찰</a:t>
              </a: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검색한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필터</a:t>
            </a:r>
            <a:r>
              <a:rPr lang="en-US" altLang="ko-KR" dirty="0"/>
              <a:t>, </a:t>
            </a:r>
            <a:r>
              <a:rPr lang="ko-KR" altLang="en-US" dirty="0"/>
              <a:t>정렬 기준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필터 설정 우측 </a:t>
            </a:r>
            <a:r>
              <a:rPr lang="en-US" altLang="ko-KR" dirty="0"/>
              <a:t>5</a:t>
            </a:r>
            <a:r>
              <a:rPr lang="ko-KR" altLang="en-US" dirty="0"/>
              <a:t>번 화면 참조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정렬 기준 기본값</a:t>
            </a:r>
            <a:r>
              <a:rPr lang="en-US" altLang="ko-KR" dirty="0"/>
              <a:t>: </a:t>
            </a:r>
            <a:r>
              <a:rPr lang="ko-KR" altLang="en-US" dirty="0" err="1"/>
              <a:t>관련도순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탭 메뉴 </a:t>
            </a:r>
            <a:r>
              <a:rPr lang="ko-KR" altLang="en-US" dirty="0" err="1"/>
              <a:t>구분자를</a:t>
            </a:r>
            <a:r>
              <a:rPr lang="ko-KR" altLang="en-US" dirty="0"/>
              <a:t> 통한 컨텐츠 분리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검색된 내역 중 </a:t>
            </a:r>
            <a:r>
              <a:rPr lang="ko-KR" altLang="en-US" dirty="0" err="1"/>
              <a:t>검색어와</a:t>
            </a:r>
            <a:r>
              <a:rPr lang="ko-KR" altLang="en-US" dirty="0"/>
              <a:t> 일치되는 결과 하이라이트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통합 검색에서는 </a:t>
            </a:r>
            <a:r>
              <a:rPr lang="ko-KR" altLang="en-US" dirty="0" err="1"/>
              <a:t>검색대상별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개씩의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 표시 하단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검색 대상만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검색필터</a:t>
            </a:r>
            <a:r>
              <a:rPr lang="ko-KR" altLang="en-US" dirty="0"/>
              <a:t> 설정 화면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대상 체크박스로 필터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체크</a:t>
            </a:r>
            <a:r>
              <a:rPr lang="en-US" altLang="ko-KR" dirty="0"/>
              <a:t>, </a:t>
            </a:r>
            <a:r>
              <a:rPr lang="ko-KR" altLang="en-US" dirty="0"/>
              <a:t>체크해제 시 </a:t>
            </a:r>
            <a:r>
              <a:rPr lang="en-US" altLang="ko-KR" dirty="0"/>
              <a:t>4</a:t>
            </a:r>
            <a:r>
              <a:rPr lang="ko-KR" altLang="en-US" dirty="0"/>
              <a:t>번 영역에 즉시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내 </a:t>
            </a:r>
            <a:r>
              <a:rPr lang="ko-KR" altLang="en-US" dirty="0" err="1"/>
              <a:t>재검색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포함 </a:t>
            </a:r>
            <a:r>
              <a:rPr lang="en-US" altLang="ko-KR" dirty="0"/>
              <a:t>+ </a:t>
            </a:r>
            <a:r>
              <a:rPr lang="ko-KR" altLang="en-US" dirty="0"/>
              <a:t>추가 </a:t>
            </a:r>
            <a:r>
              <a:rPr lang="ko-KR" altLang="en-US" dirty="0" err="1"/>
              <a:t>검색어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포함 </a:t>
            </a:r>
            <a:r>
              <a:rPr lang="en-US" altLang="ko-KR" dirty="0" smtClean="0"/>
              <a:t>- </a:t>
            </a:r>
            <a:r>
              <a:rPr lang="ko-KR" altLang="en-US" dirty="0"/>
              <a:t>입력 </a:t>
            </a:r>
            <a:r>
              <a:rPr lang="ko-KR" altLang="en-US" dirty="0" err="1"/>
              <a:t>검색어</a:t>
            </a:r>
            <a:r>
              <a:rPr lang="ko-KR" altLang="en-US" dirty="0"/>
              <a:t> </a:t>
            </a:r>
            <a:r>
              <a:rPr lang="ko-KR" altLang="en-US" dirty="0" smtClean="0"/>
              <a:t>검색하여 </a:t>
            </a:r>
            <a:r>
              <a:rPr lang="ko-KR" altLang="en-US" dirty="0" err="1" smtClean="0"/>
              <a:t>제외처리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통합검색</a:t>
            </a:r>
            <a:r>
              <a:rPr lang="en-US" altLang="ko-KR" dirty="0"/>
              <a:t>-</a:t>
            </a:r>
            <a:r>
              <a:rPr lang="ko-KR" altLang="en-US" dirty="0" err="1"/>
              <a:t>결과목록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통합 검색 결과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통합검색 </a:t>
            </a:r>
            <a:r>
              <a:rPr lang="en-US" altLang="ko-KR" dirty="0"/>
              <a:t>– </a:t>
            </a:r>
            <a:r>
              <a:rPr lang="ko-KR" altLang="en-US" dirty="0"/>
              <a:t>결과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MUI-MS-01-M10</a:t>
            </a:r>
            <a:endParaRPr lang="ko-KR" altLang="en-US" sz="1000" dirty="0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6258712" y="1650089"/>
            <a:ext cx="94010" cy="94010"/>
            <a:chOff x="6812560" y="3297172"/>
            <a:chExt cx="94010" cy="94010"/>
          </a:xfrm>
        </p:grpSpPr>
        <p:cxnSp>
          <p:nvCxnSpPr>
            <p:cNvPr id="73" name="직선 연결선 7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타원 75"/>
          <p:cNvSpPr/>
          <p:nvPr/>
        </p:nvSpPr>
        <p:spPr>
          <a:xfrm>
            <a:off x="5893434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205466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검색대상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312278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적용된 </a:t>
            </a: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‘</a:t>
            </a:r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’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검색 결과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265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모서리가 둥근 직사각형 50"/>
          <p:cNvSpPr/>
          <p:nvPr/>
        </p:nvSpPr>
        <p:spPr>
          <a:xfrm>
            <a:off x="774994" y="1916070"/>
            <a:ext cx="2527420" cy="285425"/>
          </a:xfrm>
          <a:prstGeom prst="roundRect">
            <a:avLst>
              <a:gd name="adj" fmla="val 50000"/>
            </a:avLst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3044537" y="196438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통합검색</a:t>
            </a:r>
          </a:p>
        </p:txBody>
      </p:sp>
      <p:sp>
        <p:nvSpPr>
          <p:cNvPr id="55" name="타원 54"/>
          <p:cNvSpPr/>
          <p:nvPr/>
        </p:nvSpPr>
        <p:spPr>
          <a:xfrm>
            <a:off x="2834961" y="1985429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6" name="그룹 55"/>
          <p:cNvGrpSpPr/>
          <p:nvPr/>
        </p:nvGrpSpPr>
        <p:grpSpPr>
          <a:xfrm>
            <a:off x="2878866" y="2029333"/>
            <a:ext cx="58075" cy="58074"/>
            <a:chOff x="6812560" y="3297172"/>
            <a:chExt cx="94010" cy="94010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2239" y="2004921"/>
            <a:ext cx="1848531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물품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3241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967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2889245"/>
            <a:ext cx="36739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63" name="타원 62"/>
          <p:cNvSpPr/>
          <p:nvPr/>
        </p:nvSpPr>
        <p:spPr>
          <a:xfrm>
            <a:off x="783686" y="292059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8924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정렬 기준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89245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관련도순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7" name="그룹 66"/>
          <p:cNvGrpSpPr/>
          <p:nvPr/>
        </p:nvGrpSpPr>
        <p:grpSpPr>
          <a:xfrm>
            <a:off x="3143548" y="2991068"/>
            <a:ext cx="94010" cy="47005"/>
            <a:chOff x="6812560" y="3297172"/>
            <a:chExt cx="94010" cy="47005"/>
          </a:xfrm>
        </p:grpSpPr>
        <p:cxnSp>
          <p:nvCxnSpPr>
            <p:cNvPr id="68" name="직선 연결선 6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7" name="직선 연결선 7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224755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입찰공고 </a:t>
            </a:r>
            <a:r>
              <a:rPr lang="en-US" altLang="ko-KR" sz="700" b="1" dirty="0">
                <a:latin typeface="+mn-ea"/>
              </a:rPr>
              <a:t>- 533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5840113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개찰결과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- 27</a:t>
            </a:r>
            <a:r>
              <a:rPr lang="ko-KR" altLang="en-US" sz="700" b="1" dirty="0">
                <a:latin typeface="+mn-ea"/>
              </a:rPr>
              <a:t>건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7792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2284818"/>
            <a:ext cx="2305144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입찰공고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개찰결과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낙찰자 안내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계약정보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조달계획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사전규격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전자서고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892504" y="2351130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/>
          <p:cNvSpPr/>
          <p:nvPr/>
        </p:nvSpPr>
        <p:spPr>
          <a:xfrm>
            <a:off x="3892504" y="256835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2" name="그룹 121"/>
          <p:cNvGrpSpPr/>
          <p:nvPr/>
        </p:nvGrpSpPr>
        <p:grpSpPr>
          <a:xfrm>
            <a:off x="6261284" y="2152350"/>
            <a:ext cx="91438" cy="45719"/>
            <a:chOff x="6812560" y="3297172"/>
            <a:chExt cx="94010" cy="47005"/>
          </a:xfrm>
        </p:grpSpPr>
        <p:cxnSp>
          <p:nvCxnSpPr>
            <p:cNvPr id="123" name="직선 연결선 12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7" name="직선 연결선 1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8" name="직사각형 137"/>
          <p:cNvSpPr/>
          <p:nvPr/>
        </p:nvSpPr>
        <p:spPr>
          <a:xfrm>
            <a:off x="3892504" y="2765446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/>
          <p:cNvSpPr/>
          <p:nvPr/>
        </p:nvSpPr>
        <p:spPr>
          <a:xfrm>
            <a:off x="3892504" y="298010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직사각형 139"/>
          <p:cNvSpPr/>
          <p:nvPr/>
        </p:nvSpPr>
        <p:spPr>
          <a:xfrm>
            <a:off x="3892504" y="319207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3833106" y="2301265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3833106" y="2523371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3833106" y="2727088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2185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TextBox 1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8850" y="4469580"/>
            <a:ext cx="230514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결과 내 </a:t>
            </a:r>
            <a:r>
              <a:rPr lang="ko-KR" altLang="en-US" sz="700" b="1" dirty="0" err="1">
                <a:latin typeface="+mn-ea"/>
              </a:rPr>
              <a:t>재검색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54" name="그룹 153"/>
          <p:cNvGrpSpPr/>
          <p:nvPr/>
        </p:nvGrpSpPr>
        <p:grpSpPr>
          <a:xfrm>
            <a:off x="6261284" y="4567270"/>
            <a:ext cx="91438" cy="45719"/>
            <a:chOff x="6812560" y="3297172"/>
            <a:chExt cx="94010" cy="47005"/>
          </a:xfrm>
        </p:grpSpPr>
        <p:cxnSp>
          <p:nvCxnSpPr>
            <p:cNvPr id="155" name="직선 연결선 15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1955" y="4720611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포함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검색어</a:t>
            </a:r>
            <a:r>
              <a:rPr lang="ko-KR" altLang="en-US" sz="700" dirty="0">
                <a:latin typeface="+mn-ea"/>
              </a:rPr>
              <a:t> 제외</a:t>
            </a:r>
          </a:p>
        </p:txBody>
      </p:sp>
      <p:sp>
        <p:nvSpPr>
          <p:cNvPr id="158" name="타원 157"/>
          <p:cNvSpPr/>
          <p:nvPr/>
        </p:nvSpPr>
        <p:spPr>
          <a:xfrm>
            <a:off x="3892504" y="4777247"/>
            <a:ext cx="107950" cy="10795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타원 158"/>
          <p:cNvSpPr/>
          <p:nvPr/>
        </p:nvSpPr>
        <p:spPr>
          <a:xfrm>
            <a:off x="3892504" y="4997807"/>
            <a:ext cx="107950" cy="10795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모서리가 둥근 직사각형 159"/>
          <p:cNvSpPr/>
          <p:nvPr/>
        </p:nvSpPr>
        <p:spPr>
          <a:xfrm>
            <a:off x="3888037" y="5340590"/>
            <a:ext cx="2527420" cy="285425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</a:rPr>
              <a:t> 입력하세요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923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70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1418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6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40505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endParaRPr kumimoji="1" lang="en-US" sz="1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8902"/>
            <a:ext cx="76863" cy="292489"/>
            <a:chOff x="3750067" y="4683795"/>
            <a:chExt cx="76863" cy="292489"/>
          </a:xfrm>
        </p:grpSpPr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9" name="타원 17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0" name="타원 17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81" name="직사각형 180"/>
          <p:cNvSpPr/>
          <p:nvPr/>
        </p:nvSpPr>
        <p:spPr>
          <a:xfrm>
            <a:off x="3892504" y="340685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직사각형 181"/>
          <p:cNvSpPr/>
          <p:nvPr/>
        </p:nvSpPr>
        <p:spPr>
          <a:xfrm>
            <a:off x="3892504" y="3618823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4089" y="44812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8314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82796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61143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3004764" y="3104689"/>
            <a:ext cx="776938" cy="1131139"/>
            <a:chOff x="3206014" y="3104689"/>
            <a:chExt cx="776938" cy="1131139"/>
          </a:xfrm>
        </p:grpSpPr>
        <p:sp>
          <p:nvSpPr>
            <p:cNvPr id="97" name="사각형: 둥근 모서리 222">
              <a:extLst>
                <a:ext uri="{FF2B5EF4-FFF2-40B4-BE49-F238E27FC236}">
                  <a16:creationId xmlns:a16="http://schemas.microsoft.com/office/drawing/2014/main" id="{8AF9D577-0373-21E1-F7E1-B17AE839E882}"/>
                </a:ext>
              </a:extLst>
            </p:cNvPr>
            <p:cNvSpPr/>
            <p:nvPr/>
          </p:nvSpPr>
          <p:spPr>
            <a:xfrm>
              <a:off x="3206014" y="3448043"/>
              <a:ext cx="776938" cy="787785"/>
            </a:xfrm>
            <a:prstGeom prst="roundRect">
              <a:avLst>
                <a:gd name="adj" fmla="val 3899"/>
              </a:avLst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사각형: 둥근 모서리 224">
              <a:extLst>
                <a:ext uri="{FF2B5EF4-FFF2-40B4-BE49-F238E27FC236}">
                  <a16:creationId xmlns:a16="http://schemas.microsoft.com/office/drawing/2014/main" id="{3EFB2C27-9C6F-8886-4247-7900976F7BD2}"/>
                </a:ext>
              </a:extLst>
            </p:cNvPr>
            <p:cNvSpPr/>
            <p:nvPr/>
          </p:nvSpPr>
          <p:spPr>
            <a:xfrm>
              <a:off x="3206014" y="3104689"/>
              <a:ext cx="775390" cy="343356"/>
            </a:xfrm>
            <a:prstGeom prst="roundRect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관련도순</a:t>
              </a:r>
              <a:endParaRPr kumimoji="0" 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9" name="TextBox 226">
              <a:extLst>
                <a:ext uri="{FF2B5EF4-FFF2-40B4-BE49-F238E27FC236}">
                  <a16:creationId xmlns:a16="http://schemas.microsoft.com/office/drawing/2014/main" id="{2D0EB093-7669-C055-4901-B28C987E9EF9}"/>
                </a:ext>
              </a:extLst>
            </p:cNvPr>
            <p:cNvSpPr txBox="1"/>
            <p:nvPr/>
          </p:nvSpPr>
          <p:spPr>
            <a:xfrm>
              <a:off x="3264401" y="3448043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관련도순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TextBox 227">
              <a:extLst>
                <a:ext uri="{FF2B5EF4-FFF2-40B4-BE49-F238E27FC236}">
                  <a16:creationId xmlns:a16="http://schemas.microsoft.com/office/drawing/2014/main" id="{16FE1925-95A9-0AB2-6154-E506938CFD04}"/>
                </a:ext>
              </a:extLst>
            </p:cNvPr>
            <p:cNvSpPr txBox="1"/>
            <p:nvPr/>
          </p:nvSpPr>
          <p:spPr>
            <a:xfrm>
              <a:off x="3264401" y="3939461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>
                  <a:solidFill>
                    <a:prstClr val="black"/>
                  </a:solidFill>
                </a:rPr>
                <a:t>인기순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103" name="TextBox 230">
              <a:extLst>
                <a:ext uri="{FF2B5EF4-FFF2-40B4-BE49-F238E27FC236}">
                  <a16:creationId xmlns:a16="http://schemas.microsoft.com/office/drawing/2014/main" id="{DC4EA8A9-095A-0AC6-FEBF-364DA2336F3D}"/>
                </a:ext>
              </a:extLst>
            </p:cNvPr>
            <p:cNvSpPr txBox="1"/>
            <p:nvPr/>
          </p:nvSpPr>
          <p:spPr>
            <a:xfrm>
              <a:off x="3264401" y="3693752"/>
              <a:ext cx="641770" cy="286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lnSpc>
                  <a:spcPct val="180000"/>
                </a:lnSpc>
                <a:defRPr/>
              </a:pPr>
              <a:r>
                <a:rPr lang="ko-KR" altLang="en-US" sz="700" kern="0" dirty="0" err="1">
                  <a:solidFill>
                    <a:prstClr val="black"/>
                  </a:solidFill>
                </a:rPr>
                <a:t>최신순</a:t>
              </a:r>
              <a:endParaRPr lang="en-US" altLang="ko-KR" sz="700" kern="0" dirty="0">
                <a:solidFill>
                  <a:prstClr val="black"/>
                </a:solidFill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3786101" y="3252864"/>
              <a:ext cx="94010" cy="47005"/>
              <a:chOff x="661571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61571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7" name="직선 연결선 116"/>
              <p:cNvCxnSpPr/>
              <p:nvPr/>
            </p:nvCxnSpPr>
            <p:spPr>
              <a:xfrm flipH="1">
                <a:off x="666271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3" name="그룹 1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4621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모서리가 둥근 직사각형 110"/>
          <p:cNvSpPr/>
          <p:nvPr/>
        </p:nvSpPr>
        <p:spPr>
          <a:xfrm>
            <a:off x="1064111" y="2307300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1064111" y="2656028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솔루션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솔루션 화면 참고용 설계 내용이며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솔루션에서 제공되는 화면을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채팅 </a:t>
            </a:r>
            <a:r>
              <a:rPr lang="ko-KR" altLang="en-US" dirty="0"/>
              <a:t>메시지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입력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챗봇문의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챗봇</a:t>
            </a:r>
            <a:r>
              <a:rPr lang="ko-KR" altLang="en-US" dirty="0">
                <a:latin typeface="+mn-ea"/>
              </a:rPr>
              <a:t> 문의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MUI-MS-01-M11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>
            <a:off x="774994" y="23327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 err="1">
                <a:latin typeface="+mn-ea"/>
              </a:rPr>
              <a:t>챗봇</a:t>
            </a:r>
            <a:r>
              <a:rPr lang="ko-KR" altLang="en-US" sz="800" dirty="0">
                <a:latin typeface="+mn-ea"/>
              </a:rPr>
              <a:t> 문의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42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746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13" name="타원 112"/>
          <p:cNvSpPr/>
          <p:nvPr/>
        </p:nvSpPr>
        <p:spPr>
          <a:xfrm>
            <a:off x="3099089" y="2655859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1064111" y="3234118"/>
            <a:ext cx="193460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1064111" y="3582846"/>
            <a:ext cx="1934603" cy="468907"/>
          </a:xfrm>
          <a:prstGeom prst="roundRect">
            <a:avLst>
              <a:gd name="adj" fmla="val 12796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/>
              <a:t>경쟁입찰</a:t>
            </a:r>
          </a:p>
        </p:txBody>
      </p:sp>
      <p:sp>
        <p:nvSpPr>
          <p:cNvPr id="119" name="타원 118"/>
          <p:cNvSpPr/>
          <p:nvPr/>
        </p:nvSpPr>
        <p:spPr>
          <a:xfrm>
            <a:off x="774994" y="32596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/>
          <p:cNvSpPr/>
          <p:nvPr/>
        </p:nvSpPr>
        <p:spPr>
          <a:xfrm>
            <a:off x="3099089" y="35826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608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모서리가 둥근 직사각형 125"/>
          <p:cNvSpPr/>
          <p:nvPr/>
        </p:nvSpPr>
        <p:spPr>
          <a:xfrm>
            <a:off x="774994" y="4219387"/>
            <a:ext cx="2179423" cy="23148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128" name="모서리가 둥근 직사각형 127"/>
          <p:cNvSpPr/>
          <p:nvPr/>
        </p:nvSpPr>
        <p:spPr>
          <a:xfrm>
            <a:off x="2842727" y="4219387"/>
            <a:ext cx="398489" cy="23148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pPr algn="ctr"/>
            <a:r>
              <a:rPr lang="ko-KR" altLang="en-US" sz="600" dirty="0">
                <a:solidFill>
                  <a:schemeClr val="bg1"/>
                </a:solidFill>
              </a:rPr>
              <a:t>보내기</a:t>
            </a: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1930479"/>
            <a:ext cx="76863" cy="292489"/>
            <a:chOff x="3750067" y="4683795"/>
            <a:chExt cx="76863" cy="292489"/>
          </a:xfrm>
        </p:grpSpPr>
        <p:sp>
          <p:nvSpPr>
            <p:cNvPr id="131" name="타원 1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2" name="타원 1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3" name="타원 1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3" name="타원 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4166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707680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햄버거 메뉴 닫기</a:t>
            </a:r>
            <a:r>
              <a:rPr lang="en-US" altLang="ko-KR" dirty="0"/>
              <a:t>, </a:t>
            </a:r>
            <a:r>
              <a:rPr lang="ko-KR" altLang="en-US" dirty="0"/>
              <a:t>설정 등 버튼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로그인 정보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로그인 메시지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클릭 </a:t>
            </a:r>
            <a:r>
              <a:rPr lang="ko-KR" altLang="en-US" dirty="0" smtClean="0"/>
              <a:t>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MUI-CM-03-M01 </a:t>
            </a:r>
            <a:r>
              <a:rPr lang="ko-KR" altLang="en-US" dirty="0" smtClean="0"/>
              <a:t>로그인</a:t>
            </a:r>
            <a:r>
              <a:rPr lang="en-US" altLang="ko-KR" dirty="0"/>
              <a:t>-</a:t>
            </a:r>
            <a:r>
              <a:rPr lang="ko-KR" altLang="en-US" dirty="0" err="1" smtClean="0"/>
              <a:t>방식선택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등록되어 있는 경우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진행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사용자 정보</a:t>
            </a:r>
            <a:r>
              <a:rPr lang="en-US" altLang="ko-KR" dirty="0"/>
              <a:t>, </a:t>
            </a:r>
            <a:r>
              <a:rPr lang="ko-KR" altLang="en-US" dirty="0"/>
              <a:t>최근 로그인 </a:t>
            </a:r>
            <a:r>
              <a:rPr lang="ko-KR" altLang="en-US" dirty="0" smtClean="0"/>
              <a:t>시간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바로가기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>, </a:t>
            </a:r>
            <a:r>
              <a:rPr lang="en-US" altLang="ko-KR" dirty="0"/>
              <a:t>MUI-CM-06-M01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챗봇상담</a:t>
            </a:r>
            <a:r>
              <a:rPr lang="en-US" altLang="ko-KR" dirty="0" smtClean="0"/>
              <a:t>, </a:t>
            </a:r>
            <a:r>
              <a:rPr lang="en-US" altLang="ko-KR" dirty="0"/>
              <a:t>MUI-MS-01-M11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인증센터</a:t>
            </a:r>
            <a:r>
              <a:rPr lang="en-US" altLang="ko-KR" dirty="0" smtClean="0"/>
              <a:t>, </a:t>
            </a:r>
            <a:r>
              <a:rPr lang="en-US" altLang="ko-KR" dirty="0"/>
              <a:t>MUI-CM-04-M13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앱설정</a:t>
            </a:r>
            <a:r>
              <a:rPr lang="ko-KR" altLang="en-US" dirty="0" smtClean="0"/>
              <a:t> </a:t>
            </a:r>
            <a:r>
              <a:rPr lang="en-US" altLang="ko-KR" dirty="0"/>
              <a:t>MUI-MS-02-M01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메뉴 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/>
              <a:t>검색 </a:t>
            </a:r>
            <a:r>
              <a:rPr lang="ko-KR" altLang="en-US" dirty="0" err="1"/>
              <a:t>메뉴명</a:t>
            </a:r>
            <a:r>
              <a:rPr lang="ko-KR" altLang="en-US" dirty="0"/>
              <a:t> </a:t>
            </a:r>
            <a:r>
              <a:rPr lang="en-US" altLang="ko-KR" dirty="0" smtClean="0"/>
              <a:t>like </a:t>
            </a:r>
            <a:r>
              <a:rPr lang="ko-KR" altLang="en-US" dirty="0" smtClean="0"/>
              <a:t>값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검색 일치된 단어 </a:t>
            </a:r>
            <a:r>
              <a:rPr lang="ko-KR" altLang="en-US" dirty="0" err="1" smtClean="0"/>
              <a:t>하일라이트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최소 </a:t>
            </a:r>
            <a:r>
              <a:rPr lang="en-US" altLang="ko-KR" dirty="0" smtClean="0"/>
              <a:t>2</a:t>
            </a:r>
            <a:r>
              <a:rPr lang="ko-KR" altLang="en-US" dirty="0" smtClean="0"/>
              <a:t>글자 이상 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전체 메뉴 목록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사이트맵</a:t>
            </a:r>
            <a:r>
              <a:rPr lang="ko-KR" altLang="en-US" dirty="0" smtClean="0"/>
              <a:t> 참조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시스템 관리자의 </a:t>
            </a:r>
            <a:r>
              <a:rPr lang="ko-KR" altLang="en-US" dirty="0" err="1" smtClean="0">
                <a:solidFill>
                  <a:srgbClr val="FF0000"/>
                </a:solidFill>
              </a:rPr>
              <a:t>메뉴관리</a:t>
            </a:r>
            <a:r>
              <a:rPr lang="ko-KR" altLang="en-US" dirty="0" smtClean="0">
                <a:solidFill>
                  <a:srgbClr val="FF0000"/>
                </a:solidFill>
              </a:rPr>
              <a:t> 라우터에서 </a:t>
            </a:r>
            <a:r>
              <a:rPr lang="ko-KR" altLang="en-US" dirty="0" err="1" smtClean="0">
                <a:solidFill>
                  <a:srgbClr val="FF0000"/>
                </a:solidFill>
              </a:rPr>
              <a:t>표시여부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en-US" altLang="ko-KR" dirty="0" smtClean="0">
                <a:solidFill>
                  <a:srgbClr val="FF0000"/>
                </a:solidFill>
              </a:rPr>
              <a:t>Y</a:t>
            </a:r>
            <a:r>
              <a:rPr lang="ko-KR" altLang="en-US" dirty="0" smtClean="0">
                <a:solidFill>
                  <a:srgbClr val="FF0000"/>
                </a:solidFill>
              </a:rPr>
              <a:t>값으로 등록된 메뉴가 노출됨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햄버거메뉴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메뉴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햄버거 메뉴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 lIns="72000" tIns="36000" rIns="72000" bIns="36000"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MUI-MS-01-M12</a:t>
            </a:r>
            <a:endParaRPr lang="ko-KR" altLang="en-US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06526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로그인 하기 </a:t>
            </a:r>
            <a:r>
              <a:rPr lang="en-US" altLang="ko-KR" sz="900" b="1" dirty="0">
                <a:latin typeface="+mn-ea"/>
              </a:rPr>
              <a:t>&gt;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" name="타원 80"/>
          <p:cNvSpPr/>
          <p:nvPr/>
        </p:nvSpPr>
        <p:spPr>
          <a:xfrm>
            <a:off x="873369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>
            <a:off x="2759886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3073643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960" y="32127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48433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891228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모서리가 둥근 직사각형 45"/>
          <p:cNvSpPr/>
          <p:nvPr/>
        </p:nvSpPr>
        <p:spPr>
          <a:xfrm>
            <a:off x="1508351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모서리가 둥근 직사각형 46"/>
          <p:cNvSpPr/>
          <p:nvPr/>
        </p:nvSpPr>
        <p:spPr>
          <a:xfrm>
            <a:off x="2125474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2742597" y="2364250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13189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542624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조달계획</a:t>
            </a:r>
          </a:p>
        </p:txBody>
      </p:sp>
      <p:sp>
        <p:nvSpPr>
          <p:cNvPr id="183" name="모서리가 둥근 직사각형 182"/>
          <p:cNvSpPr/>
          <p:nvPr/>
        </p:nvSpPr>
        <p:spPr>
          <a:xfrm>
            <a:off x="891228" y="3741713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모서리가 둥근 직사각형 183"/>
          <p:cNvSpPr/>
          <p:nvPr/>
        </p:nvSpPr>
        <p:spPr>
          <a:xfrm>
            <a:off x="891227" y="3908722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1578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187" name="모서리가 둥근 직사각형 186"/>
          <p:cNvSpPr/>
          <p:nvPr/>
        </p:nvSpPr>
        <p:spPr>
          <a:xfrm>
            <a:off x="891228" y="435692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모서리가 둥근 직사각형 187"/>
          <p:cNvSpPr/>
          <p:nvPr/>
        </p:nvSpPr>
        <p:spPr>
          <a:xfrm>
            <a:off x="891227" y="4523936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281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</a:t>
            </a: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891228" y="502721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모서리가 둥근 직사각형 132"/>
          <p:cNvSpPr/>
          <p:nvPr/>
        </p:nvSpPr>
        <p:spPr>
          <a:xfrm>
            <a:off x="891227" y="519422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10340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7403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8" name="그룹 137"/>
          <p:cNvGrpSpPr/>
          <p:nvPr/>
        </p:nvGrpSpPr>
        <p:grpSpPr>
          <a:xfrm flipV="1">
            <a:off x="3124233" y="3580677"/>
            <a:ext cx="94010" cy="47005"/>
            <a:chOff x="6812560" y="3297172"/>
            <a:chExt cx="94010" cy="47005"/>
          </a:xfrm>
        </p:grpSpPr>
        <p:cxnSp>
          <p:nvCxnSpPr>
            <p:cNvPr id="139" name="직선 연결선 13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0" name="직선 연결선 1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41" name="그룹 140"/>
          <p:cNvGrpSpPr/>
          <p:nvPr/>
        </p:nvGrpSpPr>
        <p:grpSpPr>
          <a:xfrm flipV="1">
            <a:off x="3124233" y="4195891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7" name="직선 연결선 15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58" name="그룹 157"/>
          <p:cNvGrpSpPr/>
          <p:nvPr/>
        </p:nvGrpSpPr>
        <p:grpSpPr>
          <a:xfrm flipV="1">
            <a:off x="3124233" y="4866176"/>
            <a:ext cx="94010" cy="47005"/>
            <a:chOff x="6812560" y="3297172"/>
            <a:chExt cx="94010" cy="47005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50165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</a:t>
            </a:r>
          </a:p>
        </p:txBody>
      </p:sp>
      <p:sp>
        <p:nvSpPr>
          <p:cNvPr id="162" name="모서리가 둥근 직사각형 161"/>
          <p:cNvSpPr/>
          <p:nvPr/>
        </p:nvSpPr>
        <p:spPr>
          <a:xfrm>
            <a:off x="891228" y="5700741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모서리가 둥근 직사각형 162"/>
          <p:cNvSpPr/>
          <p:nvPr/>
        </p:nvSpPr>
        <p:spPr>
          <a:xfrm>
            <a:off x="891227" y="5867750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41385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8" name="그룹 167"/>
          <p:cNvGrpSpPr/>
          <p:nvPr/>
        </p:nvGrpSpPr>
        <p:grpSpPr>
          <a:xfrm flipV="1">
            <a:off x="3124233" y="5539705"/>
            <a:ext cx="94010" cy="47005"/>
            <a:chOff x="6812560" y="3297172"/>
            <a:chExt cx="94010" cy="47005"/>
          </a:xfrm>
        </p:grpSpPr>
        <p:cxnSp>
          <p:nvCxnSpPr>
            <p:cNvPr id="169" name="직선 연결선 1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0" name="직선 연결선 1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0647"/>
            <a:ext cx="76863" cy="292489"/>
            <a:chOff x="3750067" y="4683795"/>
            <a:chExt cx="76863" cy="292489"/>
          </a:xfrm>
        </p:grpSpPr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1" name="타원 19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2" name="타원 19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4" name="타원 19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59227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20491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83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/>
          <p:cNvSpPr/>
          <p:nvPr/>
        </p:nvSpPr>
        <p:spPr>
          <a:xfrm>
            <a:off x="7061636" y="6372000"/>
            <a:ext cx="2373964" cy="103444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/>
              <a:t>감리 추가 사항 </a:t>
            </a:r>
            <a:r>
              <a:rPr lang="en-US" altLang="ko-KR" sz="800" dirty="0"/>
              <a:t>2026-04-08</a:t>
            </a:r>
            <a:endParaRPr lang="ko-KR" altLang="en-US" sz="800" dirty="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타원 61"/>
          <p:cNvSpPr/>
          <p:nvPr/>
        </p:nvSpPr>
        <p:spPr>
          <a:xfrm>
            <a:off x="3998747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타원 62"/>
          <p:cNvSpPr/>
          <p:nvPr/>
        </p:nvSpPr>
        <p:spPr>
          <a:xfrm>
            <a:off x="5885264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타원 63"/>
          <p:cNvSpPr/>
          <p:nvPr/>
        </p:nvSpPr>
        <p:spPr>
          <a:xfrm>
            <a:off x="6199021" y="1582794"/>
            <a:ext cx="228600" cy="2286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338" y="33803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7210" y="3651953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7" name="모서리가 둥근 직사각형 66"/>
          <p:cNvSpPr/>
          <p:nvPr/>
        </p:nvSpPr>
        <p:spPr>
          <a:xfrm>
            <a:off x="4016606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모서리가 둥근 직사각형 68"/>
          <p:cNvSpPr/>
          <p:nvPr/>
        </p:nvSpPr>
        <p:spPr>
          <a:xfrm>
            <a:off x="4633729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모서리가 둥근 직사각형 69"/>
          <p:cNvSpPr/>
          <p:nvPr/>
        </p:nvSpPr>
        <p:spPr>
          <a:xfrm>
            <a:off x="5250852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5867975" y="2531869"/>
            <a:ext cx="434121" cy="43412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480808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메뉴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4270" y="371024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입찰</a:t>
            </a: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016606" y="390933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모서리가 둥근 직사각형 74"/>
          <p:cNvSpPr/>
          <p:nvPr/>
        </p:nvSpPr>
        <p:spPr>
          <a:xfrm>
            <a:off x="4016605" y="4076341"/>
            <a:ext cx="2062597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 flipV="1">
            <a:off x="6249611" y="3748296"/>
            <a:ext cx="94010" cy="47005"/>
            <a:chOff x="6812560" y="3297172"/>
            <a:chExt cx="94010" cy="47005"/>
          </a:xfrm>
        </p:grpSpPr>
        <p:cxnSp>
          <p:nvCxnSpPr>
            <p:cNvPr id="90" name="직선 연결선 8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8359" y="4766936"/>
            <a:ext cx="76863" cy="292489"/>
            <a:chOff x="3750067" y="4683795"/>
            <a:chExt cx="76863" cy="292489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08" name="타원 10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34612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최근 로그인</a:t>
            </a:r>
            <a:r>
              <a:rPr lang="en-US" altLang="ko-KR" sz="700" dirty="0">
                <a:latin typeface="+mn-ea"/>
              </a:rPr>
              <a:t> 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6779" y="2010033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 smtClean="0">
                <a:latin typeface="+mn-ea"/>
              </a:rPr>
              <a:t>[$</a:t>
            </a:r>
            <a:r>
              <a:rPr lang="ko-KR" altLang="en-US" sz="900" b="1" dirty="0" err="1" smtClean="0">
                <a:latin typeface="+mn-ea"/>
              </a:rPr>
              <a:t>업체명</a:t>
            </a:r>
            <a:r>
              <a:rPr lang="en-US" altLang="ko-KR" sz="900" b="1" dirty="0" smtClean="0">
                <a:latin typeface="+mn-ea"/>
              </a:rPr>
              <a:t>]</a:t>
            </a:r>
            <a:endParaRPr lang="en-US" altLang="ko-KR" sz="900" b="1" dirty="0">
              <a:latin typeface="+mn-ea"/>
            </a:endParaRPr>
          </a:p>
          <a:p>
            <a:r>
              <a:rPr lang="en-US" altLang="ko-KR" sz="900" b="1" dirty="0" smtClean="0">
                <a:latin typeface="+mn-ea"/>
              </a:rPr>
              <a:t>[$</a:t>
            </a:r>
            <a:r>
              <a:rPr lang="ko-KR" altLang="en-US" sz="900" b="1" dirty="0" smtClean="0">
                <a:latin typeface="+mn-ea"/>
              </a:rPr>
              <a:t>사용자명</a:t>
            </a:r>
            <a:r>
              <a:rPr lang="en-US" altLang="ko-KR" sz="900" b="1" dirty="0">
                <a:latin typeface="+mn-ea"/>
              </a:rPr>
              <a:t>]</a:t>
            </a:r>
            <a:r>
              <a:rPr lang="ko-KR" altLang="en-US" sz="900" b="1" dirty="0">
                <a:latin typeface="+mn-ea"/>
              </a:rPr>
              <a:t>님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4023916" y="3028973"/>
            <a:ext cx="2255663" cy="306146"/>
            <a:chOff x="3982951" y="3679873"/>
            <a:chExt cx="2255663" cy="306146"/>
          </a:xfrm>
        </p:grpSpPr>
        <p:sp>
          <p:nvSpPr>
            <p:cNvPr id="113" name="모서리가 둥근 직사각형 11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입찰</a:t>
              </a:r>
            </a:p>
          </p:txBody>
        </p:sp>
      </p:grpSp>
      <p:grpSp>
        <p:nvGrpSpPr>
          <p:cNvPr id="116" name="그룹 115"/>
          <p:cNvGrpSpPr/>
          <p:nvPr/>
        </p:nvGrpSpPr>
        <p:grpSpPr>
          <a:xfrm>
            <a:off x="906142" y="2861354"/>
            <a:ext cx="2255663" cy="306146"/>
            <a:chOff x="3982951" y="3679873"/>
            <a:chExt cx="2255663" cy="306146"/>
          </a:xfrm>
        </p:grpSpPr>
        <p:sp>
          <p:nvSpPr>
            <p:cNvPr id="117" name="모서리가 둥근 직사각형 11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메뉴명</a:t>
              </a:r>
              <a:r>
                <a:rPr lang="ko-KR" altLang="en-US" sz="700" b="1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검색</a:t>
              </a:r>
            </a:p>
          </p:txBody>
        </p:sp>
      </p:grpSp>
      <p:sp>
        <p:nvSpPr>
          <p:cNvPr id="120" name="타원 119"/>
          <p:cNvSpPr/>
          <p:nvPr/>
        </p:nvSpPr>
        <p:spPr>
          <a:xfrm>
            <a:off x="2932305" y="2941887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타원 120"/>
          <p:cNvSpPr/>
          <p:nvPr/>
        </p:nvSpPr>
        <p:spPr>
          <a:xfrm>
            <a:off x="6053940" y="3109506"/>
            <a:ext cx="145081" cy="14508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5853385" y="3138180"/>
            <a:ext cx="87736" cy="8773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/>
          <p:cNvSpPr txBox="1"/>
          <p:nvPr/>
        </p:nvSpPr>
        <p:spPr>
          <a:xfrm>
            <a:off x="5784406" y="3090771"/>
            <a:ext cx="23115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/>
              <a:t>X</a:t>
            </a:r>
            <a:endParaRPr lang="ko-KR" altLang="en-US" sz="600" dirty="0"/>
          </a:p>
        </p:txBody>
      </p:sp>
      <p:grpSp>
        <p:nvGrpSpPr>
          <p:cNvPr id="92" name="그룹 9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3" name="직사각형 9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업체명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사용자명 </a:t>
              </a:r>
              <a:r>
                <a:rPr lang="en-US" altLang="ko-KR" sz="700" dirty="0" smtClean="0"/>
                <a:t>2</a:t>
              </a:r>
              <a:r>
                <a:rPr lang="ko-KR" altLang="en-US" sz="700" dirty="0" smtClean="0"/>
                <a:t>줄 표시로 변경</a:t>
              </a:r>
              <a:endParaRPr lang="en-US" altLang="ko-KR" sz="700" dirty="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96" name="직사각형 9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로그인 클릭 시 인증 조건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검색 </a:t>
              </a:r>
              <a:r>
                <a:rPr lang="ko-KR" altLang="en-US" sz="700" dirty="0" err="1" smtClean="0"/>
                <a:t>하일라이트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검색 최소값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메뉴 </a:t>
              </a:r>
              <a:r>
                <a:rPr lang="ko-KR" altLang="en-US" sz="700" dirty="0" err="1" smtClean="0"/>
                <a:t>표시여부</a:t>
              </a:r>
              <a:r>
                <a:rPr lang="ko-KR" altLang="en-US" sz="700" dirty="0" smtClean="0"/>
                <a:t> 설명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019422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알림 현황에 진입한 이후 이탈하면 미확인 알림 카운트를 초기화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미확인된 사항은 미확인 레이블 처리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말머리</a:t>
            </a:r>
            <a:r>
              <a:rPr lang="en-US" altLang="ko-KR" dirty="0" smtClean="0"/>
              <a:t>, </a:t>
            </a:r>
            <a:r>
              <a:rPr lang="ko-KR" altLang="en-US" dirty="0" smtClean="0"/>
              <a:t>라벨</a:t>
            </a:r>
            <a:r>
              <a:rPr lang="en-US" altLang="ko-KR" dirty="0" smtClean="0"/>
              <a:t>, </a:t>
            </a:r>
            <a:r>
              <a:rPr lang="ko-KR" altLang="en-US" dirty="0" err="1"/>
              <a:t>뱃</a:t>
            </a:r>
            <a:r>
              <a:rPr lang="ko-KR" altLang="en-US" dirty="0" err="1" smtClean="0"/>
              <a:t>지</a:t>
            </a:r>
            <a:r>
              <a:rPr lang="ko-KR" altLang="en-US" dirty="0" smtClean="0"/>
              <a:t> 등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확인한 내역은 별도 표시 없음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딥링크를</a:t>
            </a:r>
            <a:r>
              <a:rPr lang="ko-KR" altLang="en-US" dirty="0"/>
              <a:t> 통해 해당 내역으로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알림현황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푸시 알림 현황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알림현황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알림현황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34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3825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[</a:t>
            </a:r>
            <a:r>
              <a:rPr lang="ko-KR" altLang="en-US" sz="800" dirty="0" smtClean="0">
                <a:latin typeface="+mn-ea"/>
              </a:rPr>
              <a:t>미확인</a:t>
            </a:r>
            <a:r>
              <a:rPr lang="en-US" altLang="ko-KR" sz="800" dirty="0" smtClean="0">
                <a:latin typeface="+mn-ea"/>
              </a:rPr>
              <a:t>] </a:t>
            </a:r>
            <a:r>
              <a:rPr lang="ko-KR" altLang="en-US" sz="800" dirty="0" err="1" smtClean="0">
                <a:latin typeface="+mn-ea"/>
              </a:rPr>
              <a:t>조달계획이</a:t>
            </a:r>
            <a:r>
              <a:rPr lang="ko-KR" altLang="en-US" sz="800" dirty="0" smtClean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891228" y="2137348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5347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미확인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smtClean="0">
                <a:latin typeface="+mn-ea"/>
              </a:rPr>
              <a:t>입찰참가 </a:t>
            </a:r>
            <a:r>
              <a:rPr lang="ko-KR" altLang="en-US" sz="800" dirty="0">
                <a:latin typeface="+mn-ea"/>
              </a:rPr>
              <a:t>신청 결과가 등록되었습니다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2" name="모서리가 둥근 직사각형 31"/>
          <p:cNvSpPr/>
          <p:nvPr/>
        </p:nvSpPr>
        <p:spPr>
          <a:xfrm>
            <a:off x="891228" y="2752562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2375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계약이 완료되었습니다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4" name="모서리가 둥근 직사각형 33"/>
          <p:cNvSpPr/>
          <p:nvPr/>
        </p:nvSpPr>
        <p:spPr>
          <a:xfrm>
            <a:off x="891228" y="3422847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499039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13596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9728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대금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사후 수정 내역이 처리되었습니다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8" name="모서리가 둥근 직사각형 37"/>
          <p:cNvSpPr/>
          <p:nvPr/>
        </p:nvSpPr>
        <p:spPr>
          <a:xfrm>
            <a:off x="891228" y="4096376"/>
            <a:ext cx="1817682" cy="126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809494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371973"/>
            <a:ext cx="76863" cy="292489"/>
            <a:chOff x="3750067" y="4683795"/>
            <a:chExt cx="76863" cy="292489"/>
          </a:xfrm>
        </p:grpSpPr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3396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66354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0327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299919"/>
            <a:ext cx="99198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2025-10-30 13:42:22</a:t>
            </a:r>
            <a:endParaRPr lang="ko-KR" altLang="en-US" sz="700" dirty="0">
              <a:latin typeface="+mn-ea"/>
            </a:endParaRPr>
          </a:p>
        </p:txBody>
      </p:sp>
      <p:sp>
        <p:nvSpPr>
          <p:cNvPr id="49" name="직사각형 48"/>
          <p:cNvSpPr/>
          <p:nvPr/>
        </p:nvSpPr>
        <p:spPr>
          <a:xfrm>
            <a:off x="7056784" y="6395830"/>
            <a:ext cx="2378816" cy="69149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00" dirty="0"/>
              <a:t>감리 추가 사항 </a:t>
            </a:r>
            <a:r>
              <a:rPr lang="en-US" altLang="ko-KR" sz="500" dirty="0"/>
              <a:t>2026-04-08</a:t>
            </a:r>
            <a:endParaRPr lang="ko-KR" altLang="en-US" sz="500" dirty="0"/>
          </a:p>
        </p:txBody>
      </p: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미확인 말머리 추가</a:t>
              </a:r>
              <a:endParaRPr lang="en-US" altLang="ko-KR" sz="700" dirty="0"/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8223250" y="812858"/>
            <a:ext cx="3365500" cy="634511"/>
            <a:chOff x="8223250" y="569392"/>
            <a:chExt cx="3365500" cy="634511"/>
          </a:xfrm>
        </p:grpSpPr>
        <p:sp>
          <p:nvSpPr>
            <p:cNvPr id="77" name="직사각형 7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0" name="직사각형 7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앱바</a:t>
              </a:r>
              <a:r>
                <a:rPr lang="ko-KR" altLang="en-US" sz="700" dirty="0" smtClean="0"/>
                <a:t> </a:t>
              </a:r>
              <a:r>
                <a:rPr lang="ko-KR" altLang="en-US" sz="700" dirty="0" err="1" smtClean="0"/>
                <a:t>뒤로가기로</a:t>
              </a:r>
              <a:r>
                <a:rPr lang="ko-KR" altLang="en-US" sz="700" dirty="0" smtClean="0"/>
                <a:t> 변경</a:t>
              </a:r>
              <a:r>
                <a:rPr lang="en-US" altLang="ko-KR" sz="700" dirty="0" smtClean="0"/>
                <a:t>,</a:t>
              </a:r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페이지 타이틀 추가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5906658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62490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687263"/>
            <a:ext cx="23265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알림현황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dl_notiPrstList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73693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74833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518654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9710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알림현황</a:t>
                      </a:r>
                      <a:r>
                        <a:rPr lang="ko-KR" altLang="en-US" sz="800" dirty="0">
                          <a:latin typeface="+mn-ea"/>
                        </a:rPr>
                        <a:t> 순번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563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53138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notiSeCd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유형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trsmrTelno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발송번호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trsmRsltVl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송신상태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exmnCn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ko-KR" altLang="en-US" sz="800" dirty="0">
                          <a:latin typeface="+mn-ea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9817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368093"/>
              </p:ext>
            </p:extLst>
          </p:nvPr>
        </p:nvGraphicFramePr>
        <p:xfrm>
          <a:off x="453000" y="5217275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81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13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7455B0C-C2EF-1A1B-A18C-7249DC06C1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51006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0FCB8FA-BCFF-84BA-1962-4E7A7E23CC6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538614CC-8BAB-700E-CBE4-C125849D2AB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12C71723-0E82-1006-498A-95EEC49091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18143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팝업 타이틀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하드코딩</a:t>
            </a:r>
            <a:r>
              <a:rPr lang="ko-KR" altLang="en-US" dirty="0" smtClean="0"/>
              <a:t> 메시지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</a:t>
            </a:r>
            <a:r>
              <a:rPr lang="ko-KR" altLang="en-US" dirty="0" err="1" smtClean="0"/>
              <a:t>팝업창</a:t>
            </a:r>
            <a:r>
              <a:rPr lang="ko-KR" altLang="en-US" dirty="0" smtClean="0"/>
              <a:t> 닫기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MUI-CM-03-M22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통합로그인계정등록안내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기존 아이디를 통해 로그인한 사용자에게 </a:t>
            </a:r>
            <a:r>
              <a:rPr lang="ko-KR" altLang="en-US" dirty="0" err="1" smtClean="0"/>
              <a:t>통합계정을</a:t>
            </a:r>
            <a:r>
              <a:rPr lang="ko-KR" altLang="en-US" dirty="0" smtClean="0"/>
              <a:t> 안내하는 팝업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 err="1" smtClean="0"/>
              <a:t>메인홈</a:t>
            </a:r>
            <a:r>
              <a:rPr lang="ko-KR" altLang="en-US" dirty="0" smtClean="0"/>
              <a:t>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통합로그인계정등록안내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MUI-CM-03-P21</a:t>
            </a:r>
            <a:endParaRPr lang="ko-KR" altLang="en-US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모서리가 둥근 직사각형 18"/>
          <p:cNvSpPr/>
          <p:nvPr/>
        </p:nvSpPr>
        <p:spPr>
          <a:xfrm>
            <a:off x="763707" y="2935744"/>
            <a:ext cx="2579992" cy="184573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83887" y="4365159"/>
            <a:ext cx="1602658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통합 로그인 계정 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4365159"/>
            <a:ext cx="584792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824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 로그인 계정 등록 안내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3314982"/>
            <a:ext cx="2305144" cy="8863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800" dirty="0" smtClean="0">
                <a:latin typeface="+mn-ea"/>
              </a:rPr>
              <a:t>국방전자조달시스템에서 통합 로그인 계정을 도입합니다</a:t>
            </a:r>
            <a:r>
              <a:rPr lang="en-US" altLang="ko-KR" sz="800" dirty="0" smtClean="0">
                <a:latin typeface="+mn-ea"/>
              </a:rPr>
              <a:t>.</a:t>
            </a:r>
            <a:endParaRPr lang="en-US" altLang="ko-KR" sz="800" dirty="0">
              <a:latin typeface="+mn-ea"/>
            </a:endParaRPr>
          </a:p>
          <a:p>
            <a:pPr>
              <a:lnSpc>
                <a:spcPct val="120000"/>
              </a:lnSpc>
            </a:pPr>
            <a:endParaRPr lang="en-US" altLang="ko-KR" sz="800" dirty="0" smtClean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ko-KR" altLang="en-US" sz="800" dirty="0" smtClean="0">
                <a:latin typeface="+mn-ea"/>
              </a:rPr>
              <a:t>기존 아이디로 로그인하신 </a:t>
            </a:r>
            <a:r>
              <a:rPr lang="ko-KR" altLang="en-US" sz="800" dirty="0" err="1" smtClean="0">
                <a:latin typeface="+mn-ea"/>
              </a:rPr>
              <a:t>조달업체</a:t>
            </a:r>
            <a:r>
              <a:rPr lang="ko-KR" altLang="en-US" sz="800" dirty="0" smtClean="0">
                <a:latin typeface="+mn-ea"/>
              </a:rPr>
              <a:t> 사용자께서는 원활한 서비스 사용을 위해서 통합 로그인 계정을 새로 등록해 주시길 바랍니다</a:t>
            </a:r>
            <a:r>
              <a:rPr lang="en-US" altLang="ko-KR" sz="800" dirty="0" smtClean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3524382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270913" y="429462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2" name="그룹 3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8" name="직사각형 3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로그인 계정 생성 화면을 추가함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23239710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기존 아이디로 로그인 했을 시 통합 계정으로 등록하는 화면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뒤로 이동 시 메인 화면으로 이동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주민등록번호 입력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- 13</a:t>
            </a:r>
            <a:r>
              <a:rPr lang="ko-KR" altLang="en-US" sz="700" dirty="0" smtClean="0"/>
              <a:t>자리 중간 하이픈 자동 삽입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숫자 입력만 가능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버튼 클릭 시 </a:t>
            </a:r>
            <a:r>
              <a:rPr lang="en-US" altLang="ko-KR" sz="700" dirty="0" smtClean="0"/>
              <a:t>Nice </a:t>
            </a:r>
            <a:r>
              <a:rPr lang="ko-KR" altLang="en-US" sz="700" dirty="0" smtClean="0"/>
              <a:t>본인인증 솔루션 호출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본인 인증 실패 시 토스트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err="1" smtClean="0"/>
              <a:t>본인인증에</a:t>
            </a:r>
            <a:r>
              <a:rPr lang="ko-KR" altLang="en-US" sz="700" dirty="0" smtClean="0"/>
              <a:t> 실패했습니다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성공 시 </a:t>
            </a:r>
            <a:r>
              <a:rPr lang="en-US" altLang="ko-KR" sz="700" dirty="0" smtClean="0"/>
              <a:t>5</a:t>
            </a:r>
            <a:r>
              <a:rPr lang="ko-KR" altLang="en-US" sz="700" dirty="0" smtClean="0"/>
              <a:t>번 항목 참조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기존에 사용하던 업체 및 사용자 아이디 표시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본인인증 성공 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메시지 변경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주민등록번호 수정 불가 변경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하단 통합 계정 아이디 입력 폼 추가 노출</a:t>
            </a:r>
            <a:endParaRPr lang="en-US" altLang="ko-KR" sz="700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아이디 중복 체크 유효성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err="1" smtClean="0"/>
              <a:t>미입력</a:t>
            </a:r>
            <a:r>
              <a:rPr lang="ko-KR" altLang="en-US" sz="700" dirty="0" smtClean="0"/>
              <a:t>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통합 계정 아이디를 입력해주세요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중복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이미 사용중인 계정입니다</a:t>
            </a:r>
            <a:r>
              <a:rPr lang="en-US" altLang="ko-KR" sz="700" dirty="0" smtClean="0"/>
              <a:t>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사용 가능 메시지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사용이 가능합니다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smtClean="0"/>
              <a:t>비밀번호 확인 유효성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상기 입력 비밀번호와 같을 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메시지 없음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입력 불가 특수문자 입력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</a:t>
            </a:r>
            <a:r>
              <a:rPr lang="ko-KR" altLang="en-US" sz="700" dirty="0" smtClean="0"/>
              <a:t>입력 불가 특수문자를 제외하고 비밀번호를 입력해주세요</a:t>
            </a:r>
            <a:r>
              <a:rPr lang="en-US" altLang="ko-KR" sz="700" dirty="0" smtClean="0"/>
              <a:t>..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비밀번호 패턴 불일치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  &gt; 9~16</a:t>
            </a:r>
            <a:r>
              <a:rPr lang="ko-KR" altLang="en-US" sz="700" dirty="0" smtClean="0"/>
              <a:t>자 숫자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영문</a:t>
            </a:r>
            <a:r>
              <a:rPr lang="en-US" altLang="ko-KR" sz="700" dirty="0" smtClean="0"/>
              <a:t> </a:t>
            </a:r>
            <a:r>
              <a:rPr lang="ko-KR" altLang="en-US" sz="700" dirty="0" smtClean="0"/>
              <a:t>소문자</a:t>
            </a:r>
            <a:r>
              <a:rPr lang="en-US" altLang="ko-KR" sz="700" dirty="0" smtClean="0"/>
              <a:t>, </a:t>
            </a:r>
            <a:r>
              <a:rPr lang="ko-KR" altLang="en-US" sz="700" dirty="0" smtClean="0"/>
              <a:t>특수문자 조합으로 입력해주세요</a:t>
            </a:r>
            <a:r>
              <a:rPr lang="en-US" altLang="ko-KR" sz="700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sz="700" dirty="0" err="1" smtClean="0"/>
              <a:t>메인으로</a:t>
            </a:r>
            <a:r>
              <a:rPr lang="ko-KR" altLang="en-US" sz="700" dirty="0" smtClean="0"/>
              <a:t> 이동하고 팝업 메시지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통합 계정으로 새로 로그인해주세요</a:t>
            </a:r>
            <a:r>
              <a:rPr lang="en-US" altLang="ko-KR" sz="700" dirty="0" smtClean="0"/>
              <a:t>. (</a:t>
            </a:r>
            <a:r>
              <a:rPr lang="ko-KR" altLang="en-US" sz="700" dirty="0" smtClean="0"/>
              <a:t>취소</a:t>
            </a:r>
            <a:r>
              <a:rPr lang="en-US" altLang="ko-KR" sz="700" dirty="0" smtClean="0"/>
              <a:t>/</a:t>
            </a:r>
            <a:r>
              <a:rPr lang="ko-KR" altLang="en-US" sz="700" dirty="0" smtClean="0"/>
              <a:t>확인</a:t>
            </a:r>
            <a:r>
              <a:rPr lang="en-US" altLang="ko-KR" sz="700" dirty="0" smtClean="0"/>
              <a:t>)</a:t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버튼 하단에 도움말 표시</a:t>
            </a:r>
            <a:r>
              <a:rPr lang="en-US" altLang="ko-KR" sz="700" dirty="0" smtClean="0"/>
              <a:t/>
            </a:r>
            <a:br>
              <a:rPr lang="en-US" altLang="ko-KR" sz="700" dirty="0" smtClean="0"/>
            </a:br>
            <a:r>
              <a:rPr lang="en-US" altLang="ko-KR" sz="700" dirty="0" smtClean="0"/>
              <a:t>- </a:t>
            </a:r>
            <a:r>
              <a:rPr lang="ko-KR" altLang="en-US" sz="700" dirty="0" smtClean="0"/>
              <a:t>도움말 하단 기존 사용자 아이디 목록 표시</a:t>
            </a:r>
            <a:endParaRPr lang="ko-KR" altLang="en-US" sz="700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기존 아이디로 로그인 한 경우 통합 아이디로 변경하도록 아이디 및 비밀번호를 </a:t>
            </a:r>
            <a:r>
              <a:rPr lang="ko-KR" altLang="en-US" dirty="0"/>
              <a:t>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 smtClean="0"/>
              <a:t>&gt; </a:t>
            </a:r>
            <a:r>
              <a:rPr lang="ko-KR" altLang="en-US" dirty="0" err="1"/>
              <a:t>통합로그인계정등록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MUI-CM-03-M22</a:t>
            </a:r>
            <a:endParaRPr lang="ko-KR" altLang="en-US" dirty="0"/>
          </a:p>
        </p:txBody>
      </p: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로그인 계정 생성 화면을 추가함</a:t>
              </a:r>
              <a:r>
                <a:rPr lang="en-US" altLang="ko-KR" sz="700" dirty="0" smtClean="0"/>
                <a:t>.</a:t>
              </a:r>
              <a:endParaRPr lang="en-US" altLang="ko-KR" sz="700" dirty="0"/>
            </a:p>
          </p:txBody>
        </p:sp>
      </p:grp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통합 로그인 계정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그룹 57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타원 60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</a:t>
            </a:r>
            <a:r>
              <a:rPr lang="en-US" altLang="ko-KR" sz="900" b="1" dirty="0" smtClean="0">
                <a:latin typeface="+mn-ea"/>
              </a:rPr>
              <a:t> </a:t>
            </a:r>
            <a:r>
              <a:rPr lang="ko-KR" altLang="en-US" sz="900" b="1" dirty="0" smtClean="0">
                <a:latin typeface="+mn-ea"/>
              </a:rPr>
              <a:t>로그인 계정 등록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4" name="타원 63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국방전자조달시스템에서 사용할 통합 </a:t>
            </a:r>
            <a:r>
              <a:rPr lang="ko-KR" altLang="en-US" sz="700" dirty="0" smtClean="0">
                <a:latin typeface="+mn-ea"/>
              </a:rPr>
              <a:t>아이디가 필요합니다</a:t>
            </a:r>
            <a:r>
              <a:rPr lang="en-US" altLang="ko-KR" sz="700" dirty="0" smtClean="0">
                <a:latin typeface="+mn-ea"/>
              </a:rPr>
              <a:t>.</a:t>
            </a:r>
            <a:r>
              <a:rPr lang="ko-KR" altLang="en-US" sz="700" dirty="0" smtClean="0">
                <a:latin typeface="+mn-ea"/>
              </a:rPr>
              <a:t> 통합 아이디를 등록하기 위해 본인인증을 해주세요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1" name="그룹 80"/>
          <p:cNvGrpSpPr/>
          <p:nvPr/>
        </p:nvGrpSpPr>
        <p:grpSpPr>
          <a:xfrm>
            <a:off x="903580" y="3984685"/>
            <a:ext cx="2255663" cy="306146"/>
            <a:chOff x="3982951" y="3679873"/>
            <a:chExt cx="2255663" cy="306146"/>
          </a:xfrm>
        </p:grpSpPr>
        <p:sp>
          <p:nvSpPr>
            <p:cNvPr id="82" name="모서리가 둥근 직사각형 8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본인인증하기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0493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성명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87" name="그룹 86"/>
          <p:cNvGrpSpPr/>
          <p:nvPr/>
        </p:nvGrpSpPr>
        <p:grpSpPr>
          <a:xfrm>
            <a:off x="903581" y="2752065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9859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주민등록번호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그룹 90"/>
          <p:cNvGrpSpPr/>
          <p:nvPr/>
        </p:nvGrpSpPr>
        <p:grpSpPr>
          <a:xfrm>
            <a:off x="903581" y="3345730"/>
            <a:ext cx="2255663" cy="306146"/>
            <a:chOff x="3982951" y="3679873"/>
            <a:chExt cx="2255663" cy="306146"/>
          </a:xfrm>
        </p:grpSpPr>
        <p:sp>
          <p:nvSpPr>
            <p:cNvPr id="92" name="모서리가 둥근 직사각형 9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주민등록번호를  입력하세요</a:t>
              </a:r>
            </a:p>
          </p:txBody>
        </p: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8353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379226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통합 계정 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4022397" y="3939395"/>
            <a:ext cx="1833056" cy="306146"/>
            <a:chOff x="3982952" y="3679873"/>
            <a:chExt cx="1833056" cy="306146"/>
          </a:xfrm>
        </p:grpSpPr>
        <p:sp>
          <p:nvSpPr>
            <p:cNvPr id="97" name="모서리가 둥근 직사각형 96"/>
            <p:cNvSpPr/>
            <p:nvPr/>
          </p:nvSpPr>
          <p:spPr>
            <a:xfrm>
              <a:off x="3982952" y="3679873"/>
              <a:ext cx="1633530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100" name="그룹 99"/>
          <p:cNvGrpSpPr/>
          <p:nvPr/>
        </p:nvGrpSpPr>
        <p:grpSpPr>
          <a:xfrm>
            <a:off x="4022396" y="4626464"/>
            <a:ext cx="2255663" cy="306146"/>
            <a:chOff x="3982951" y="3679873"/>
            <a:chExt cx="2255663" cy="306146"/>
          </a:xfrm>
        </p:grpSpPr>
        <p:sp>
          <p:nvSpPr>
            <p:cNvPr id="101" name="모서리가 둥근 직사각형 10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448752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04" name="그룹 103"/>
          <p:cNvGrpSpPr/>
          <p:nvPr/>
        </p:nvGrpSpPr>
        <p:grpSpPr>
          <a:xfrm>
            <a:off x="4022395" y="5854974"/>
            <a:ext cx="2255663" cy="306146"/>
            <a:chOff x="3982951" y="3679873"/>
            <a:chExt cx="2255663" cy="306146"/>
          </a:xfrm>
        </p:grpSpPr>
        <p:sp>
          <p:nvSpPr>
            <p:cNvPr id="105" name="모서리가 둥근 직사각형 10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통합 아이디 등록하기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4277203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/>
              <a:t>통합 로그인 계정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4" name="타원 113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25235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통합</a:t>
            </a:r>
            <a:r>
              <a:rPr lang="en-US" altLang="ko-KR" sz="900" b="1" dirty="0" smtClean="0">
                <a:latin typeface="+mn-ea"/>
              </a:rPr>
              <a:t> </a:t>
            </a:r>
            <a:r>
              <a:rPr lang="ko-KR" altLang="en-US" sz="900" b="1" dirty="0" smtClean="0">
                <a:latin typeface="+mn-ea"/>
              </a:rPr>
              <a:t>로그인 계정 등록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116" name="타원 115"/>
          <p:cNvSpPr/>
          <p:nvPr/>
        </p:nvSpPr>
        <p:spPr>
          <a:xfrm>
            <a:off x="3974491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227" y="22134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국방전자조달시스템에서 사용할 통합 아이디와 비밀번호를 </a:t>
            </a:r>
            <a:r>
              <a:rPr lang="ko-KR" altLang="en-US" sz="700" dirty="0" smtClean="0">
                <a:latin typeface="+mn-ea"/>
              </a:rPr>
              <a:t>등록해주세요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60493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성명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9" name="그룹 118"/>
          <p:cNvGrpSpPr/>
          <p:nvPr/>
        </p:nvGrpSpPr>
        <p:grpSpPr>
          <a:xfrm>
            <a:off x="4023916" y="2752065"/>
            <a:ext cx="2255663" cy="306146"/>
            <a:chOff x="3982951" y="3679873"/>
            <a:chExt cx="2255663" cy="306146"/>
          </a:xfrm>
        </p:grpSpPr>
        <p:sp>
          <p:nvSpPr>
            <p:cNvPr id="120" name="모서리가 둥근 직사각형 11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latin typeface="+mn-ea"/>
                </a:rPr>
                <a:t>홍길동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319859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주민등록번호 </a:t>
            </a:r>
            <a:r>
              <a:rPr lang="en-US" altLang="ko-KR" sz="700" b="1" dirty="0" smtClean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4023916" y="3345730"/>
            <a:ext cx="2255663" cy="306146"/>
            <a:chOff x="3982951" y="3679873"/>
            <a:chExt cx="2255663" cy="306146"/>
          </a:xfrm>
        </p:grpSpPr>
        <p:sp>
          <p:nvSpPr>
            <p:cNvPr id="124" name="모서리가 둥근 직사각형 12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 smtClean="0">
                  <a:latin typeface="+mn-ea"/>
                </a:rPr>
                <a:t>123456-7******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27" name="그룹 126"/>
          <p:cNvGrpSpPr/>
          <p:nvPr/>
        </p:nvGrpSpPr>
        <p:grpSpPr>
          <a:xfrm>
            <a:off x="4022396" y="5258804"/>
            <a:ext cx="2255663" cy="306146"/>
            <a:chOff x="3982951" y="3679873"/>
            <a:chExt cx="2255663" cy="306146"/>
          </a:xfrm>
        </p:grpSpPr>
        <p:sp>
          <p:nvSpPr>
            <p:cNvPr id="128" name="모서리가 둥근 직사각형 12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51198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2396" y="560480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32" name="그룹 131"/>
          <p:cNvGrpSpPr/>
          <p:nvPr/>
        </p:nvGrpSpPr>
        <p:grpSpPr>
          <a:xfrm>
            <a:off x="5723978" y="3939395"/>
            <a:ext cx="554080" cy="306146"/>
            <a:chOff x="3982951" y="3679873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solidFill>
                    <a:schemeClr val="bg1"/>
                  </a:solidFill>
                  <a:latin typeface="+mn-ea"/>
                </a:rPr>
                <a:t>중복체크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907085" y="5304798"/>
            <a:ext cx="2252158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907085" y="5714770"/>
            <a:ext cx="2252158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95488" y="5404182"/>
            <a:ext cx="107199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smtClean="0">
                <a:latin typeface="+mn-ea"/>
              </a:rPr>
              <a:t>user123456</a:t>
            </a:r>
            <a:endParaRPr lang="en-US" altLang="ko-KR" sz="800" dirty="0"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95488" y="5814154"/>
            <a:ext cx="1071991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smtClean="0">
                <a:latin typeface="+mn-ea"/>
              </a:rPr>
              <a:t>user234567</a:t>
            </a:r>
            <a:endParaRPr lang="en-US" altLang="ko-KR" sz="800" dirty="0">
              <a:latin typeface="+mn-ea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852996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기존 사용자 아이디</a:t>
            </a:r>
            <a:r>
              <a:rPr lang="en-US" altLang="ko-KR" sz="800" b="1" dirty="0" smtClean="0">
                <a:latin typeface="+mn-ea"/>
              </a:rPr>
              <a:t> </a:t>
            </a:r>
            <a:r>
              <a:rPr lang="ko-KR" altLang="en-US" sz="800" b="1" dirty="0" smtClean="0">
                <a:latin typeface="+mn-ea"/>
              </a:rPr>
              <a:t>목록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5952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0409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업체에서 등록</a:t>
            </a:r>
            <a:r>
              <a:rPr lang="en-US" altLang="ko-KR" sz="700" dirty="0" smtClean="0">
                <a:latin typeface="+mn-ea"/>
              </a:rPr>
              <a:t>, </a:t>
            </a:r>
            <a:r>
              <a:rPr lang="ko-KR" altLang="en-US" sz="700" dirty="0" smtClean="0">
                <a:latin typeface="+mn-ea"/>
              </a:rPr>
              <a:t>생성한 </a:t>
            </a:r>
            <a:r>
              <a:rPr lang="ko-KR" altLang="en-US" sz="700" dirty="0">
                <a:latin typeface="+mn-ea"/>
              </a:rPr>
              <a:t>기존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 smtClean="0">
                <a:latin typeface="+mn-ea"/>
              </a:rPr>
              <a:t>아이디 정보입니다</a:t>
            </a:r>
            <a:r>
              <a:rPr lang="en-US" altLang="ko-KR" sz="700" dirty="0" smtClean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544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127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21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8536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7374" y="22351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grpSp>
        <p:nvGrpSpPr>
          <p:cNvPr id="147" name="그룹 146"/>
          <p:cNvGrpSpPr/>
          <p:nvPr/>
        </p:nvGrpSpPr>
        <p:grpSpPr>
          <a:xfrm>
            <a:off x="6694978" y="5658670"/>
            <a:ext cx="2652743" cy="769170"/>
            <a:chOff x="734683" y="4769160"/>
            <a:chExt cx="2652743" cy="769170"/>
          </a:xfrm>
        </p:grpSpPr>
        <p:sp>
          <p:nvSpPr>
            <p:cNvPr id="148" name="모서리가 둥근 직사각형 14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50" name="타원 14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1" name="그룹 15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2" name="직선 연결선 15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3" name="직선 연결선 15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" name="꺾인 연결선 4"/>
          <p:cNvCxnSpPr>
            <a:stCxn id="82" idx="3"/>
            <a:endCxn id="95" idx="1"/>
          </p:cNvCxnSpPr>
          <p:nvPr/>
        </p:nvCxnSpPr>
        <p:spPr>
          <a:xfrm flipV="1">
            <a:off x="3159243" y="3846124"/>
            <a:ext cx="863153" cy="291634"/>
          </a:xfrm>
          <a:prstGeom prst="bentConnector3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꺾인 연결선 153"/>
          <p:cNvCxnSpPr>
            <a:stCxn id="82" idx="3"/>
            <a:endCxn id="105" idx="1"/>
          </p:cNvCxnSpPr>
          <p:nvPr/>
        </p:nvCxnSpPr>
        <p:spPr>
          <a:xfrm>
            <a:off x="3159243" y="4137758"/>
            <a:ext cx="863152" cy="1870289"/>
          </a:xfrm>
          <a:prstGeom prst="bentConnector3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39774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53258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7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9239" y="59164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8</a:t>
            </a:r>
            <a:endParaRPr lang="ko-KR" altLang="en-US" sz="900" b="1" dirty="0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19859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60493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319859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379226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448752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4492" y="51198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12043" y="3560186"/>
            <a:ext cx="35907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 smtClean="0">
                <a:latin typeface="+mn-ea"/>
              </a:rPr>
              <a:t>성공 시</a:t>
            </a:r>
            <a:endParaRPr lang="en-US" altLang="ko-KR" sz="700" dirty="0" smtClean="0">
              <a:latin typeface="+mn-ea"/>
            </a:endParaRPr>
          </a:p>
          <a:p>
            <a:pPr algn="ctr"/>
            <a:r>
              <a:rPr lang="ko-KR" altLang="en-US" sz="700" dirty="0" err="1" smtClean="0">
                <a:latin typeface="+mn-ea"/>
              </a:rPr>
              <a:t>추가노출</a:t>
            </a:r>
            <a:endParaRPr lang="ko-KR" altLang="en-US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598657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35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60931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731428"/>
              </p:ext>
            </p:extLst>
          </p:nvPr>
        </p:nvGraphicFramePr>
        <p:xfrm>
          <a:off x="455204" y="2835901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본인인증 체크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scwin.btn_cert_onclick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본인인증을 확인한다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CI</a:t>
                      </a:r>
                      <a:r>
                        <a:rPr lang="ko-KR" altLang="en-US" sz="800">
                          <a:latin typeface="+mn-ea"/>
                          <a:ea typeface="+mn-ea"/>
                        </a:rPr>
                        <a:t>값 획득하기 위해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06901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중복체크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등록하려는 사용자 아이디 중복 체크한다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56633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 아이디 등록하기 클릭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통합로그인 계정을 생성한다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7281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257819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/>
              <a:t>통합로그인계정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7943844"/>
              </p:ext>
            </p:extLst>
          </p:nvPr>
        </p:nvGraphicFramePr>
        <p:xfrm>
          <a:off x="454850" y="1104443"/>
          <a:ext cx="8623561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3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412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이름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userRrno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주민등록번호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CI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존재시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생략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통합계정아이디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통합계정아이디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04088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비밀번호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(9~16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 숫자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특수문자 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8542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userEnpswdChk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비밀번호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(9~16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자 숫자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특수문자 조합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831280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8724168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등록한 통합</a:t>
            </a:r>
            <a:r>
              <a:rPr lang="en-US" altLang="ko-KR" dirty="0" smtClean="0"/>
              <a:t> ID</a:t>
            </a:r>
            <a:r>
              <a:rPr lang="ko-KR" altLang="en-US" dirty="0" smtClean="0"/>
              <a:t>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로그인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</a:t>
            </a: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메인홈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바로가기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 </a:t>
            </a:r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MUI-MS-01-M07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통합로그인계정등록완료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/>
              <a:t>통합 로그인 계정 등록 완료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통합로그인계정등록완료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MUI-CM-03-M23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통합 로그인 계정 </a:t>
            </a:r>
            <a:r>
              <a:rPr lang="ko-KR" altLang="en-US" sz="800" dirty="0" smtClean="0"/>
              <a:t>등록 완료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smtClean="0">
                <a:latin typeface="+mn-ea"/>
              </a:rPr>
              <a:t>통합 로그인 계정을 </a:t>
            </a:r>
            <a:r>
              <a:rPr lang="ko-KR" altLang="en-US" sz="900" b="1" dirty="0">
                <a:latin typeface="+mn-ea"/>
              </a:rPr>
              <a:t>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통합 로그인 계정 아이디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 smtClean="0">
                  <a:latin typeface="+mn-ea"/>
                </a:rPr>
                <a:t>메인홈</a:t>
              </a:r>
              <a:r>
                <a:rPr lang="ko-KR" altLang="en-US" sz="700" b="1" dirty="0" smtClean="0">
                  <a:latin typeface="+mn-ea"/>
                </a:rPr>
                <a:t> </a:t>
              </a:r>
              <a:r>
                <a:rPr lang="ko-KR" altLang="en-US" sz="700" b="1" dirty="0" err="1" smtClean="0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userID1234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6" name="그룹 4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7" name="직사각형 4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</a:t>
              </a:r>
              <a:r>
                <a:rPr lang="en-US" altLang="ko-KR" sz="700" dirty="0" smtClean="0"/>
                <a:t>ID </a:t>
              </a:r>
              <a:r>
                <a:rPr lang="ko-KR" altLang="en-US" sz="700" dirty="0" err="1" smtClean="0"/>
                <a:t>표시영역</a:t>
              </a:r>
              <a:r>
                <a:rPr lang="ko-KR" altLang="en-US" sz="700" dirty="0" smtClean="0"/>
                <a:t> 추가</a:t>
              </a:r>
              <a:r>
                <a:rPr lang="en-US" altLang="ko-KR" sz="700" dirty="0" smtClean="0"/>
                <a:t> </a:t>
              </a:r>
              <a:endParaRPr lang="en-US" altLang="ko-KR" sz="700" dirty="0"/>
            </a:p>
          </p:txBody>
        </p:sp>
      </p:grpSp>
      <p:sp>
        <p:nvSpPr>
          <p:cNvPr id="30" name="타원 2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64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0493212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37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26862"/>
              </p:ext>
            </p:extLst>
          </p:nvPr>
        </p:nvGraphicFramePr>
        <p:xfrm>
          <a:off x="455204" y="2285057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바로가기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클릭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로그인 선택화면으로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메인홈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바로가기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로그인 화면으로 이동한다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578848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251795"/>
              </p:ext>
            </p:extLst>
          </p:nvPr>
        </p:nvGraphicFramePr>
        <p:xfrm>
          <a:off x="454850" y="110444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049392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로그인 업체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통합계정아이디를 통해 </a:t>
            </a:r>
            <a:r>
              <a:rPr lang="ko-KR" altLang="en-US" dirty="0" err="1" smtClean="0">
                <a:solidFill>
                  <a:srgbClr val="FF0000"/>
                </a:solidFill>
              </a:rPr>
              <a:t>로그인을</a:t>
            </a:r>
            <a:r>
              <a:rPr lang="ko-KR" altLang="en-US" dirty="0" smtClean="0">
                <a:solidFill>
                  <a:srgbClr val="FF0000"/>
                </a:solidFill>
              </a:rPr>
              <a:t> 한 경우에 표시됨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소속된 업체가 하나인 경우는 팝업을 띄우지 않고 업체를 </a:t>
            </a:r>
            <a:r>
              <a:rPr lang="ko-KR" altLang="en-US" dirty="0" smtClean="0"/>
              <a:t>설정하여 로그인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업체가 </a:t>
            </a:r>
            <a:r>
              <a:rPr lang="en-US" altLang="ko-KR" dirty="0"/>
              <a:t>2</a:t>
            </a:r>
            <a:r>
              <a:rPr lang="ko-KR" altLang="en-US" dirty="0"/>
              <a:t>개 이상인 </a:t>
            </a:r>
            <a:r>
              <a:rPr lang="ko-KR" altLang="en-US" dirty="0" smtClean="0"/>
              <a:t>경우 사용자가 선택할 수 있는 목록 표시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업체명</a:t>
            </a:r>
            <a:r>
              <a:rPr lang="ko-KR" altLang="en-US" dirty="0"/>
              <a:t> 및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시 하이라이트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</a:t>
            </a:r>
            <a:r>
              <a:rPr lang="ko-KR" altLang="en-US" dirty="0" err="1" smtClean="0"/>
              <a:t>미선택</a:t>
            </a:r>
            <a:r>
              <a:rPr lang="en-US" altLang="ko-KR" dirty="0" smtClean="0"/>
              <a:t>, </a:t>
            </a:r>
            <a:r>
              <a:rPr lang="ko-KR" altLang="en-US" dirty="0" smtClean="0"/>
              <a:t>선택 로그인 클릭 시 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업체를 선택해주세요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로그아웃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로그아웃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메인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로그인 성공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로그인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로그인업체설정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소속된 업체가 많은 경우 로그인 이후 팝업에서 업체를 설정하는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로그인업체설정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MUI-MS-01-P14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smtClean="0">
                <a:latin typeface="+mn-ea"/>
              </a:rPr>
              <a:t>로그인</a:t>
            </a:r>
            <a:r>
              <a:rPr lang="en-US" altLang="ko-KR" sz="900" dirty="0" smtClean="0">
                <a:latin typeface="+mn-ea"/>
              </a:rPr>
              <a:t> </a:t>
            </a:r>
            <a:r>
              <a:rPr lang="ko-KR" altLang="en-US" sz="900" dirty="0">
                <a:latin typeface="+mn-ea"/>
              </a:rPr>
              <a:t>업체 </a:t>
            </a:r>
            <a:r>
              <a:rPr lang="ko-KR" altLang="en-US" sz="900" dirty="0" smtClean="0">
                <a:latin typeface="+mn-ea"/>
              </a:rPr>
              <a:t>설정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2016743" y="5153262"/>
            <a:ext cx="76863" cy="292489"/>
            <a:chOff x="3750067" y="4683795"/>
            <a:chExt cx="76863" cy="292489"/>
          </a:xfrm>
        </p:grpSpPr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7" name="타원 3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3960054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800" b="1" kern="0" dirty="0">
                <a:solidFill>
                  <a:srgbClr val="0070C0"/>
                </a:solidFill>
              </a:rPr>
              <a:t>A </a:t>
            </a:r>
            <a:r>
              <a:rPr kumimoji="1" lang="ko-KR" altLang="en-US" sz="800" b="1" kern="0" dirty="0" err="1">
                <a:solidFill>
                  <a:srgbClr val="0070C0"/>
                </a:solidFill>
              </a:rPr>
              <a:t>업체명</a:t>
            </a:r>
            <a:endParaRPr kumimoji="1" lang="en-US" sz="800" b="1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371590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B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72157" y="4781562"/>
            <a:ext cx="2522014" cy="321879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72000" tIns="0" rIns="0" bIns="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C </a:t>
            </a:r>
            <a:r>
              <a:rPr kumimoji="1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업체</a:t>
            </a:r>
            <a:r>
              <a:rPr kumimoji="1" lang="ko-KR" altLang="en-US" sz="800" kern="0" dirty="0"/>
              <a:t>명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9597" y="3566337"/>
            <a:ext cx="249254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업체 정보로 국방전자조달시스템을 사용합니다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업체를 변경하려면 </a:t>
            </a:r>
            <a:r>
              <a:rPr lang="ko-KR" altLang="en-US" sz="700" dirty="0" err="1">
                <a:latin typeface="+mn-ea"/>
              </a:rPr>
              <a:t>재로그인이</a:t>
            </a:r>
            <a:r>
              <a:rPr lang="ko-KR" altLang="en-US" sz="700" dirty="0">
                <a:latin typeface="+mn-ea"/>
              </a:rPr>
              <a:t> 필요합니다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059438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123-45-67890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470974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147-02-58369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05867" y="4880946"/>
            <a:ext cx="8609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>
                <a:latin typeface="+mn-ea"/>
              </a:rPr>
              <a:t>258-01-47369</a:t>
            </a:r>
          </a:p>
        </p:txBody>
      </p:sp>
      <p:grpSp>
        <p:nvGrpSpPr>
          <p:cNvPr id="49" name="그룹 48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588237" y="5745391"/>
              <a:ext cx="1706884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noProof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선택 로그인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728232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로그아웃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업체선택</a:t>
              </a:r>
              <a:r>
                <a:rPr lang="ko-KR" altLang="en-US" sz="700" dirty="0" smtClean="0"/>
                <a:t> 팝업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로그인 업체 설정으로</a:t>
              </a:r>
              <a:r>
                <a:rPr lang="ko-KR" altLang="en-US" sz="700" dirty="0" smtClean="0"/>
                <a:t> 타이틀 변경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4878174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39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205846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556585"/>
              </p:ext>
            </p:extLst>
          </p:nvPr>
        </p:nvGraphicFramePr>
        <p:xfrm>
          <a:off x="455204" y="228505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선택 로그인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선택한 업체로 로그인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1773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0636EA-A13F-3B5E-1BFE-F3CF0D27B18E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A6F7E5-53EA-4FC7-47B4-662E836107B1}"/>
              </a:ext>
            </a:extLst>
          </p:cNvPr>
          <p:cNvSpPr txBox="1"/>
          <p:nvPr/>
        </p:nvSpPr>
        <p:spPr>
          <a:xfrm>
            <a:off x="454850" y="890760"/>
            <a:ext cx="1896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영문명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5813496-B86A-7D40-BACB-575A273C04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7180"/>
              </p:ext>
            </p:extLst>
          </p:nvPr>
        </p:nvGraphicFramePr>
        <p:xfrm>
          <a:off x="454850" y="11044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AB8A5C6-99F0-0CA8-9F1E-DF6F1A5546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1091197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</a:t>
            </a:r>
            <a:r>
              <a:rPr lang="en-US" altLang="ko-KR" dirty="0" smtClean="0"/>
              <a:t>, </a:t>
            </a:r>
            <a:r>
              <a:rPr lang="ko-KR" altLang="en-US" dirty="0" smtClean="0"/>
              <a:t>기관 선택 탭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현재 화면은 </a:t>
            </a:r>
            <a:r>
              <a:rPr lang="ko-KR" altLang="en-US" dirty="0" err="1" smtClean="0"/>
              <a:t>조달업체</a:t>
            </a:r>
            <a:r>
              <a:rPr lang="ko-KR" altLang="en-US" dirty="0" smtClean="0"/>
              <a:t> 선택에 따른 분기 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Any-ID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로그인 </a:t>
            </a:r>
            <a:r>
              <a:rPr lang="ko-KR" altLang="en-US" dirty="0"/>
              <a:t>방식 </a:t>
            </a:r>
            <a:r>
              <a:rPr lang="ko-KR" altLang="en-US" dirty="0" smtClean="0"/>
              <a:t>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err="1" smtClean="0"/>
              <a:t>anyID</a:t>
            </a:r>
            <a:r>
              <a:rPr lang="en-US" altLang="ko-KR" dirty="0" smtClean="0"/>
              <a:t> </a:t>
            </a:r>
            <a:r>
              <a:rPr lang="ko-KR" altLang="en-US" dirty="0" smtClean="0"/>
              <a:t>솔루션 화면 활용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strike="sngStrike" dirty="0" smtClean="0">
                <a:solidFill>
                  <a:srgbClr val="FF0000"/>
                </a:solidFill>
              </a:rPr>
              <a:t>- </a:t>
            </a:r>
            <a:r>
              <a:rPr lang="en-US" altLang="ko-KR" strike="sngStrike" dirty="0" err="1" smtClean="0">
                <a:solidFill>
                  <a:srgbClr val="FF0000"/>
                </a:solidFill>
              </a:rPr>
              <a:t>anyID</a:t>
            </a:r>
            <a:r>
              <a:rPr lang="en-US" altLang="ko-KR" strike="sngStrike" dirty="0" smtClean="0">
                <a:solidFill>
                  <a:srgbClr val="FF0000"/>
                </a:solidFill>
              </a:rPr>
              <a:t> 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정책에 따라 개인</a:t>
            </a:r>
            <a:r>
              <a:rPr lang="en-US" altLang="ko-KR" strike="sngStrike" dirty="0" smtClean="0">
                <a:solidFill>
                  <a:srgbClr val="FF0000"/>
                </a:solidFill>
              </a:rPr>
              <a:t>, 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기업 선택 </a:t>
            </a:r>
            <a:r>
              <a:rPr lang="ko-KR" altLang="en-US" strike="sngStrike" dirty="0" err="1" smtClean="0">
                <a:solidFill>
                  <a:srgbClr val="FF0000"/>
                </a:solidFill>
              </a:rPr>
              <a:t>로그인이</a:t>
            </a:r>
            <a:r>
              <a:rPr lang="ko-KR" altLang="en-US" strike="sngStrike" dirty="0" smtClean="0">
                <a:solidFill>
                  <a:srgbClr val="FF0000"/>
                </a:solidFill>
              </a:rPr>
              <a:t> 추가될 수 있음</a:t>
            </a:r>
            <a:r>
              <a:rPr lang="en-US" altLang="ko-KR" strike="sngStrike" dirty="0" smtClean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 사용에 따른 등록된 </a:t>
            </a:r>
            <a:r>
              <a:rPr lang="ko-KR" altLang="en-US" dirty="0" err="1" smtClean="0"/>
              <a:t>생체인증</a:t>
            </a:r>
            <a:r>
              <a:rPr lang="en-US" altLang="ko-KR" dirty="0" smtClean="0"/>
              <a:t>, ID</a:t>
            </a:r>
            <a:r>
              <a:rPr lang="ko-KR" altLang="en-US" dirty="0" smtClean="0"/>
              <a:t>를 사용한 </a:t>
            </a:r>
            <a:r>
              <a:rPr lang="en-US" altLang="ko-KR" dirty="0" smtClean="0"/>
              <a:t>ID/PW </a:t>
            </a:r>
            <a:r>
              <a:rPr lang="ko-KR" altLang="en-US" dirty="0" smtClean="0"/>
              <a:t>로그인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등록된 경우 모바일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체크 및 로그인 </a:t>
            </a:r>
            <a:r>
              <a:rPr lang="ko-KR" altLang="en-US" dirty="0" smtClean="0"/>
              <a:t>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로그인 성공 시 </a:t>
            </a:r>
            <a:r>
              <a:rPr lang="ko-KR" altLang="en-US" dirty="0" err="1" smtClean="0"/>
              <a:t>메인홈으로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  o </a:t>
            </a:r>
            <a:r>
              <a:rPr lang="ko-KR" altLang="en-US" dirty="0" smtClean="0"/>
              <a:t>토스트 </a:t>
            </a:r>
            <a:r>
              <a:rPr lang="en-US" altLang="ko-KR" dirty="0" smtClean="0"/>
              <a:t>- </a:t>
            </a:r>
            <a:r>
              <a:rPr lang="ko-KR" altLang="en-US" dirty="0" smtClean="0"/>
              <a:t>로그인 되었습니다</a:t>
            </a:r>
            <a:r>
              <a:rPr lang="en-US" altLang="ko-KR" dirty="0" smtClean="0"/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미등록 시 </a:t>
            </a:r>
            <a:r>
              <a:rPr lang="en-US" altLang="ko-KR" dirty="0" smtClean="0"/>
              <a:t>MUI-CM-03-M14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ID/PW </a:t>
            </a:r>
            <a:r>
              <a:rPr lang="ko-KR" altLang="en-US" dirty="0" smtClean="0"/>
              <a:t>로그인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</a:t>
            </a:r>
            <a:r>
              <a:rPr lang="ko-KR" altLang="en-US" dirty="0" smtClean="0"/>
              <a:t> </a:t>
            </a:r>
            <a:r>
              <a:rPr lang="ko-KR" altLang="en-US" dirty="0" smtClean="0">
                <a:solidFill>
                  <a:srgbClr val="FF0000"/>
                </a:solidFill>
              </a:rPr>
              <a:t>기존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와 통합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를 구분하지 않고 입력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기존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를 입력하여 로그인 하는 경우 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를 생성하도록 안내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 </a:t>
            </a:r>
            <a:r>
              <a:rPr lang="en-US" altLang="ko-KR" dirty="0"/>
              <a:t>ID/PW</a:t>
            </a:r>
            <a:r>
              <a:rPr lang="ko-KR" altLang="en-US" dirty="0" smtClean="0"/>
              <a:t>로그인 이동</a:t>
            </a:r>
            <a:endParaRPr lang="en-US" altLang="ko-KR" dirty="0" smtClean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모바일에서 사용자 등록은 불가하며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사용자 등록 안내 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  <a:r>
              <a:rPr lang="en-US" altLang="ko-KR" dirty="0"/>
              <a:t>-</a:t>
            </a:r>
            <a:r>
              <a:rPr lang="ko-KR" altLang="en-US" dirty="0" err="1"/>
              <a:t>방식선택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558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298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36072" y="438477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494856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간편 인증</a:t>
            </a:r>
          </a:p>
        </p:txBody>
      </p:sp>
      <p:sp>
        <p:nvSpPr>
          <p:cNvPr id="25" name="타원 24"/>
          <p:cNvSpPr/>
          <p:nvPr/>
        </p:nvSpPr>
        <p:spPr>
          <a:xfrm>
            <a:off x="1272622" y="449199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645433"/>
            <a:ext cx="2305144" cy="4770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정부 통합로그인은 한 번의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로그인으로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연계된 모든 공공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웹서비스를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이용할 수 있는 인증 서비스입니다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  <a:p>
            <a:endParaRPr lang="en-US" altLang="ko-KR" sz="300" dirty="0">
              <a:solidFill>
                <a:srgbClr val="1D1D1D"/>
              </a:solidFill>
              <a:latin typeface="Pretendard GOV"/>
            </a:endParaRPr>
          </a:p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아이디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/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비밀번호 </a:t>
            </a:r>
            <a:r>
              <a:rPr lang="ko-KR" altLang="en-US" sz="700" dirty="0" err="1" smtClean="0">
                <a:solidFill>
                  <a:srgbClr val="1D1D1D"/>
                </a:solidFill>
                <a:latin typeface="Pretendard GOV"/>
              </a:rPr>
              <a:t>로그인은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 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정부 통합로그인 하단의 국방전자조달시스템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로그인을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이용해주시기 바랍니다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09632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39850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392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3702685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187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모서리가 둥근 직사각형 43"/>
          <p:cNvSpPr/>
          <p:nvPr/>
        </p:nvSpPr>
        <p:spPr>
          <a:xfrm>
            <a:off x="3826691" y="4319007"/>
            <a:ext cx="2652743" cy="943331"/>
          </a:xfrm>
          <a:prstGeom prst="roundRect">
            <a:avLst>
              <a:gd name="adj" fmla="val 906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5461" y="4417291"/>
            <a:ext cx="2475203" cy="7540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   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로그인에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어려움이 있으신가요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?</a:t>
            </a:r>
          </a:p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비밀번호 자동완성기능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(ex. 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알패스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)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은 사용할 수 없습니다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1577-1118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대표전화로 전화주세요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 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서비스에 로그인할 수 있도록 도와드리겠습니다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</a:p>
        </p:txBody>
      </p:sp>
      <p:sp>
        <p:nvSpPr>
          <p:cNvPr id="46" name="타원 45"/>
          <p:cNvSpPr/>
          <p:nvPr/>
        </p:nvSpPr>
        <p:spPr>
          <a:xfrm>
            <a:off x="3911503" y="440764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 flipV="1">
            <a:off x="6260324" y="4456138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2123386" y="4384770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4948563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56" name="타원 55"/>
          <p:cNvSpPr/>
          <p:nvPr/>
        </p:nvSpPr>
        <p:spPr>
          <a:xfrm>
            <a:off x="2459936" y="4491995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모서리가 둥근 직사각형 56"/>
          <p:cNvSpPr/>
          <p:nvPr/>
        </p:nvSpPr>
        <p:spPr>
          <a:xfrm>
            <a:off x="936072" y="528930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10938" y="585310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타원 58"/>
          <p:cNvSpPr/>
          <p:nvPr/>
        </p:nvSpPr>
        <p:spPr>
          <a:xfrm>
            <a:off x="1272622" y="539653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모서리가 둥근 직사각형 59"/>
          <p:cNvSpPr/>
          <p:nvPr/>
        </p:nvSpPr>
        <p:spPr>
          <a:xfrm>
            <a:off x="2123386" y="5289307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98252" y="5853100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2459936" y="5396532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모서리가 둥근 직사각형 62"/>
          <p:cNvSpPr/>
          <p:nvPr/>
        </p:nvSpPr>
        <p:spPr>
          <a:xfrm>
            <a:off x="4030026" y="1991489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04892" y="2555282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생체인증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5" name="타원 64"/>
          <p:cNvSpPr/>
          <p:nvPr/>
        </p:nvSpPr>
        <p:spPr>
          <a:xfrm>
            <a:off x="4366576" y="209871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5217340" y="1991489"/>
            <a:ext cx="1041953" cy="788276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92206" y="2555282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68" name="타원 67"/>
          <p:cNvSpPr/>
          <p:nvPr/>
        </p:nvSpPr>
        <p:spPr>
          <a:xfrm>
            <a:off x="5553890" y="209871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모서리가 둥근 직사각형 72"/>
          <p:cNvSpPr/>
          <p:nvPr/>
        </p:nvSpPr>
        <p:spPr>
          <a:xfrm>
            <a:off x="903580" y="2305546"/>
            <a:ext cx="2255663" cy="218422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03580" y="2305546"/>
            <a:ext cx="1121438" cy="218422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59113" y="2357941"/>
            <a:ext cx="41037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err="1" smtClean="0">
                <a:solidFill>
                  <a:schemeClr val="bg1"/>
                </a:solidFill>
                <a:latin typeface="+mn-ea"/>
              </a:rPr>
              <a:t>조달업체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89538" y="235794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기관</a:t>
            </a:r>
            <a:endParaRPr lang="ko-KR" altLang="en-US" sz="800" b="1" dirty="0">
              <a:latin typeface="+mn-ea"/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조달업체</a:t>
              </a:r>
              <a:r>
                <a:rPr lang="en-US" altLang="ko-KR" sz="700" dirty="0" smtClean="0"/>
                <a:t>. </a:t>
              </a:r>
              <a:r>
                <a:rPr lang="ko-KR" altLang="en-US" sz="700" dirty="0" smtClean="0"/>
                <a:t>기관 선택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en-US" altLang="ko-KR" sz="700" dirty="0" smtClean="0"/>
                <a:t>Any-ID </a:t>
              </a:r>
              <a:r>
                <a:rPr lang="ko-KR" altLang="en-US" sz="700" dirty="0" smtClean="0"/>
                <a:t>시스템 영역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(</a:t>
              </a:r>
              <a:r>
                <a:rPr lang="ko-KR" altLang="en-US" sz="700" dirty="0" smtClean="0"/>
                <a:t>솔루션에 따라 변경될 수 있음</a:t>
              </a:r>
              <a:r>
                <a:rPr lang="en-US" altLang="ko-KR" sz="700" dirty="0" smtClean="0"/>
                <a:t>)</a:t>
              </a:r>
              <a:endParaRPr lang="en-US" altLang="ko-KR" sz="700" dirty="0"/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402000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정부 통합로그인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86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857491" y="3402669"/>
            <a:ext cx="301752" cy="137160"/>
            <a:chOff x="840582" y="1601197"/>
            <a:chExt cx="301752" cy="137160"/>
          </a:xfrm>
        </p:grpSpPr>
        <p:sp>
          <p:nvSpPr>
            <p:cNvPr id="87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644724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아직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 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정부통합인증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(Any-ID)</a:t>
            </a:r>
          </a:p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사용자가 아니신가요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?</a:t>
            </a:r>
            <a:endParaRPr lang="en-US" altLang="ko-KR" sz="700" dirty="0">
              <a:solidFill>
                <a:srgbClr val="1D1D1D"/>
              </a:solidFill>
              <a:latin typeface="Pretendard GOV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8675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정부 통합인증</a:t>
            </a:r>
            <a:r>
              <a:rPr lang="en-US" altLang="ko-KR" sz="700" dirty="0" smtClean="0">
                <a:solidFill>
                  <a:srgbClr val="1D1D1D"/>
                </a:solidFill>
                <a:latin typeface="Pretendard GOV"/>
              </a:rPr>
              <a:t>(Any-ID)</a:t>
            </a:r>
            <a:endParaRPr lang="en-US" altLang="ko-KR" sz="700" dirty="0">
              <a:solidFill>
                <a:srgbClr val="1D1D1D"/>
              </a:solidFill>
              <a:latin typeface="Pretendard GOV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2325760" y="3626446"/>
            <a:ext cx="874449" cy="252000"/>
            <a:chOff x="-2180572" y="3259503"/>
            <a:chExt cx="874449" cy="252000"/>
          </a:xfrm>
        </p:grpSpPr>
        <p:sp>
          <p:nvSpPr>
            <p:cNvPr id="92" name="모서리가 둥근 직사각형 91"/>
            <p:cNvSpPr/>
            <p:nvPr/>
          </p:nvSpPr>
          <p:spPr>
            <a:xfrm>
              <a:off x="-2180572" y="3259503"/>
              <a:ext cx="874449" cy="252000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-2066515" y="3331642"/>
              <a:ext cx="57034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</a:t>
              </a:r>
              <a:r>
                <a:rPr lang="en-US" altLang="ko-KR" sz="700" b="1" dirty="0" smtClean="0">
                  <a:latin typeface="+mn-ea"/>
                </a:rPr>
                <a:t> </a:t>
              </a:r>
              <a:r>
                <a:rPr lang="ko-KR" altLang="en-US" sz="700" b="1" dirty="0" smtClean="0">
                  <a:latin typeface="+mn-ea"/>
                </a:rPr>
                <a:t>등록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-1553307" y="3285476"/>
              <a:ext cx="24718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 smtClean="0">
                  <a:sym typeface="Wingdings" panose="05000000000000000000" pitchFamily="2" charset="2"/>
                </a:rPr>
                <a:t>&gt;</a:t>
              </a:r>
              <a:endParaRPr lang="ko-KR" altLang="en-US" sz="700" dirty="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2325760" y="3914618"/>
            <a:ext cx="874449" cy="252000"/>
            <a:chOff x="-2180572" y="3259503"/>
            <a:chExt cx="874449" cy="252000"/>
          </a:xfrm>
        </p:grpSpPr>
        <p:sp>
          <p:nvSpPr>
            <p:cNvPr id="96" name="모서리가 둥근 직사각형 95"/>
            <p:cNvSpPr/>
            <p:nvPr/>
          </p:nvSpPr>
          <p:spPr>
            <a:xfrm>
              <a:off x="-2180572" y="3259503"/>
              <a:ext cx="874449" cy="252000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-2066515" y="3331642"/>
              <a:ext cx="57034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smtClean="0">
                  <a:latin typeface="+mn-ea"/>
                </a:rPr>
                <a:t>사용자</a:t>
              </a:r>
              <a:r>
                <a:rPr lang="en-US" altLang="ko-KR" sz="700" b="1" dirty="0" smtClean="0">
                  <a:latin typeface="+mn-ea"/>
                </a:rPr>
                <a:t> </a:t>
              </a:r>
              <a:r>
                <a:rPr lang="ko-KR" altLang="en-US" sz="700" b="1" dirty="0" smtClean="0">
                  <a:latin typeface="+mn-ea"/>
                </a:rPr>
                <a:t>관리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-1553307" y="3285476"/>
              <a:ext cx="24718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 smtClean="0">
                  <a:sym typeface="Wingdings" panose="05000000000000000000" pitchFamily="2" charset="2"/>
                </a:rPr>
                <a:t>&gt;</a:t>
              </a:r>
              <a:endParaRPr lang="ko-KR" altLang="en-US" sz="700" dirty="0"/>
            </a:p>
          </p:txBody>
        </p:sp>
      </p:grpSp>
      <p:sp>
        <p:nvSpPr>
          <p:cNvPr id="99" name="타원 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623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151" y="20508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151" y="30955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1554012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</a:t>
            </a:r>
            <a:r>
              <a:rPr lang="en-US" altLang="ko-KR" dirty="0"/>
              <a:t>, </a:t>
            </a:r>
            <a:r>
              <a:rPr lang="ko-KR" altLang="en-US" dirty="0"/>
              <a:t>기관 선택 탭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현재 화면은 </a:t>
            </a:r>
            <a:r>
              <a:rPr lang="ko-KR" altLang="en-US" dirty="0" smtClean="0"/>
              <a:t>기관 </a:t>
            </a:r>
            <a:r>
              <a:rPr lang="ko-KR" altLang="en-US" dirty="0"/>
              <a:t>선택에 따른 분기 </a:t>
            </a:r>
            <a:r>
              <a:rPr lang="ko-KR" altLang="en-US" dirty="0" smtClean="0"/>
              <a:t>화면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기관은 </a:t>
            </a:r>
            <a:r>
              <a:rPr lang="en-US" altLang="ko-KR" dirty="0" smtClean="0"/>
              <a:t>radio </a:t>
            </a:r>
            <a:r>
              <a:rPr lang="ko-KR" altLang="en-US" dirty="0" smtClean="0"/>
              <a:t>형태</a:t>
            </a:r>
            <a:r>
              <a:rPr lang="en-US" altLang="ko-KR" dirty="0" smtClean="0"/>
              <a:t>. </a:t>
            </a:r>
            <a:r>
              <a:rPr lang="ko-KR" altLang="en-US" dirty="0" smtClean="0"/>
              <a:t>단일 선택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아이콘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ID/PW </a:t>
            </a:r>
            <a:r>
              <a:rPr lang="ko-KR" altLang="en-US" dirty="0" smtClean="0"/>
              <a:t>단일 로그인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 </a:t>
            </a:r>
            <a:r>
              <a:rPr lang="en-US" altLang="ko-KR" dirty="0"/>
              <a:t>ID/PW</a:t>
            </a:r>
            <a:r>
              <a:rPr lang="ko-KR" altLang="en-US" dirty="0"/>
              <a:t>로그인 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로그인</a:t>
            </a:r>
            <a:r>
              <a:rPr lang="en-US" altLang="ko-KR" dirty="0"/>
              <a:t>-</a:t>
            </a:r>
            <a:r>
              <a:rPr lang="ko-KR" altLang="en-US" dirty="0" err="1"/>
              <a:t>방식선택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로그인 방식 선택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558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2987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국방전자조달시스템</a:t>
            </a:r>
            <a:r>
              <a:rPr lang="ko-KR" altLang="en-US" sz="900" b="1" dirty="0">
                <a:latin typeface="+mn-ea"/>
              </a:rPr>
              <a:t>에 </a:t>
            </a:r>
            <a:r>
              <a:rPr lang="ko-KR" altLang="en-US" sz="900" b="1" dirty="0" err="1">
                <a:latin typeface="+mn-ea"/>
              </a:rPr>
              <a:t>오신것을</a:t>
            </a:r>
            <a:r>
              <a:rPr lang="ko-KR" altLang="en-US" sz="900" b="1" dirty="0">
                <a:latin typeface="+mn-ea"/>
              </a:rPr>
              <a:t> 환영합니다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" name="모서리가 둥근 직사각형 4"/>
          <p:cNvSpPr/>
          <p:nvPr/>
        </p:nvSpPr>
        <p:spPr>
          <a:xfrm>
            <a:off x="903580" y="3959869"/>
            <a:ext cx="2255663" cy="606288"/>
          </a:xfrm>
          <a:prstGeom prst="roundRect">
            <a:avLst>
              <a:gd name="adj" fmla="val 62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654658" y="4197659"/>
            <a:ext cx="69222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b="1" dirty="0">
                <a:latin typeface="+mn-ea"/>
              </a:rPr>
              <a:t>ID/PW </a:t>
            </a:r>
            <a:r>
              <a:rPr lang="ko-KR" altLang="en-US" sz="700" b="1" dirty="0">
                <a:latin typeface="+mn-ea"/>
              </a:rPr>
              <a:t>로그인</a:t>
            </a:r>
          </a:p>
        </p:txBody>
      </p:sp>
      <p:sp>
        <p:nvSpPr>
          <p:cNvPr id="25" name="타원 24"/>
          <p:cNvSpPr/>
          <p:nvPr/>
        </p:nvSpPr>
        <p:spPr>
          <a:xfrm>
            <a:off x="1110938" y="4067094"/>
            <a:ext cx="368854" cy="36885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68026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기관을 선택한 후 아이디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/</a:t>
            </a:r>
            <a:r>
              <a:rPr lang="ko-KR" altLang="en-US" sz="700" dirty="0" smtClean="0">
                <a:solidFill>
                  <a:srgbClr val="1D1D1D"/>
                </a:solidFill>
                <a:latin typeface="Pretendard GOV"/>
              </a:rPr>
              <a:t>비밀번호 </a:t>
            </a:r>
            <a:r>
              <a:rPr lang="ko-KR" altLang="en-US" sz="700" dirty="0" err="1">
                <a:solidFill>
                  <a:srgbClr val="1D1D1D"/>
                </a:solidFill>
                <a:latin typeface="Pretendard GOV"/>
              </a:rPr>
              <a:t>로그인을</a:t>
            </a:r>
            <a:r>
              <a:rPr lang="ko-KR" altLang="en-US" sz="700" dirty="0">
                <a:solidFill>
                  <a:srgbClr val="1D1D1D"/>
                </a:solidFill>
                <a:latin typeface="Pretendard GOV"/>
              </a:rPr>
              <a:t> 이용해주시기 바랍니다</a:t>
            </a:r>
            <a:r>
              <a:rPr lang="en-US" altLang="ko-KR" sz="700" dirty="0">
                <a:solidFill>
                  <a:srgbClr val="1D1D1D"/>
                </a:solidFill>
                <a:latin typeface="Pretendard GOV"/>
              </a:rPr>
              <a:t>.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모서리가 둥근 직사각형 72"/>
          <p:cNvSpPr/>
          <p:nvPr/>
        </p:nvSpPr>
        <p:spPr>
          <a:xfrm>
            <a:off x="903580" y="2305546"/>
            <a:ext cx="2255663" cy="218422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2037805" y="2305546"/>
            <a:ext cx="1121438" cy="218422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59113" y="2357941"/>
            <a:ext cx="410370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err="1" smtClean="0">
                <a:latin typeface="+mn-ea"/>
              </a:rPr>
              <a:t>조달업체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89538" y="235794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solidFill>
                  <a:schemeClr val="bg1"/>
                </a:solidFill>
                <a:latin typeface="+mn-ea"/>
              </a:rPr>
              <a:t>기관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77" name="그룹 7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조달업체</a:t>
              </a:r>
              <a:r>
                <a:rPr lang="en-US" altLang="ko-KR" sz="700" dirty="0" smtClean="0"/>
                <a:t>. </a:t>
              </a:r>
              <a:r>
                <a:rPr lang="ko-KR" altLang="en-US" sz="700" dirty="0" smtClean="0"/>
                <a:t>기관 선택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기관 선택에 따른 기관 세부 조건 설정 이후 로그인</a:t>
              </a:r>
              <a:endParaRPr lang="en-US" altLang="ko-KR" sz="700" dirty="0"/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60955" y="3144992"/>
            <a:ext cx="10711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smtClean="0">
                <a:latin typeface="+mn-ea"/>
              </a:rPr>
              <a:t>기관을 선택해주세요</a:t>
            </a:r>
            <a:r>
              <a:rPr lang="en-US" altLang="ko-KR" sz="800" b="1" dirty="0" smtClean="0">
                <a:latin typeface="+mn-ea"/>
              </a:rPr>
              <a:t>.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903580" y="3382015"/>
            <a:ext cx="1075272" cy="187200"/>
          </a:xfrm>
          <a:prstGeom prst="roundRect">
            <a:avLst>
              <a:gd name="adj" fmla="val 17463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 err="1" smtClean="0">
                <a:solidFill>
                  <a:schemeClr val="bg1"/>
                </a:solidFill>
              </a:rPr>
              <a:t>방위사업청</a:t>
            </a:r>
            <a:endParaRPr lang="ko-KR" altLang="en-US" sz="800" b="1" dirty="0">
              <a:solidFill>
                <a:schemeClr val="bg1"/>
              </a:solidFill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2083971" y="3382015"/>
            <a:ext cx="1075272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수요부대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타원 87"/>
          <p:cNvSpPr/>
          <p:nvPr/>
        </p:nvSpPr>
        <p:spPr>
          <a:xfrm>
            <a:off x="947497" y="3403615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/>
          <p:cNvSpPr/>
          <p:nvPr/>
        </p:nvSpPr>
        <p:spPr>
          <a:xfrm>
            <a:off x="2119124" y="3403615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14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54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3142808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42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3040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737434"/>
              </p:ext>
            </p:extLst>
          </p:nvPr>
        </p:nvGraphicFramePr>
        <p:xfrm>
          <a:off x="455204" y="971284"/>
          <a:ext cx="8995591" cy="27206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scwin.btn_privtCrtfLogin_onclick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간편인증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scwin.btn_jntCrtfLogin_onclick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공동인증서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scwin.btn_fnncCrtfLogin_onclick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금융인증서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scwin.btn_idPswdLogin_onclick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334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scwin.btn_moblCrtfLogin_onclick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모바일신분증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4176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사용자등록안내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사용자등록안내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scwin.tacpg_select_onclick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또는 기관 탭을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3645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 또는 수요부대를 선택한다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289982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B89B8A1-DF0A-933E-6384-FF117D512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3499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95319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</a:t>
            </a:r>
            <a:r>
              <a:rPr lang="ko-KR" altLang="en-US" dirty="0" smtClean="0"/>
              <a:t>영역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아이디는 이전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및 통합 </a:t>
            </a:r>
            <a:r>
              <a:rPr lang="en-US" altLang="ko-KR" dirty="0" smtClean="0"/>
              <a:t>ID(</a:t>
            </a:r>
            <a:r>
              <a:rPr lang="ko-KR" altLang="en-US" dirty="0" smtClean="0"/>
              <a:t>신규</a:t>
            </a:r>
            <a:r>
              <a:rPr lang="en-US" altLang="ko-KR" dirty="0" smtClean="0"/>
              <a:t>)</a:t>
            </a:r>
            <a:r>
              <a:rPr lang="ko-KR" altLang="en-US" dirty="0" smtClean="0"/>
              <a:t>를</a:t>
            </a:r>
            <a:r>
              <a:rPr lang="en-US" altLang="ko-KR" dirty="0" smtClean="0"/>
              <a:t> </a:t>
            </a:r>
            <a:r>
              <a:rPr lang="ko-KR" altLang="en-US" dirty="0" smtClean="0"/>
              <a:t>둘다 사용할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(as-is </a:t>
            </a:r>
            <a:r>
              <a:rPr lang="ko-KR" altLang="en-US" dirty="0" smtClean="0"/>
              <a:t>나라장터 등록 </a:t>
            </a:r>
            <a:r>
              <a:rPr lang="en-US" altLang="ko-KR" dirty="0" smtClean="0"/>
              <a:t>ID) ID</a:t>
            </a:r>
            <a:r>
              <a:rPr lang="ko-KR" altLang="en-US" dirty="0" smtClean="0"/>
              <a:t>로 로그인 시 통합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생성 안내 화면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로 로그인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업체가 하나인 경우 업체 선택 팝업 </a:t>
            </a:r>
            <a:r>
              <a:rPr lang="ko-KR" altLang="en-US" dirty="0" err="1" smtClean="0"/>
              <a:t>미노출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업체가 여러 개인 경우 업체 선택 팝업 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</a:t>
            </a:r>
            <a:r>
              <a:rPr lang="ko-KR" altLang="en-US" dirty="0" err="1"/>
              <a:t>마스킹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 입력 시 </a:t>
            </a:r>
            <a:r>
              <a:rPr lang="ko-KR" altLang="en-US" dirty="0" err="1"/>
              <a:t>마스킹</a:t>
            </a:r>
            <a:r>
              <a:rPr lang="ko-KR" altLang="en-US" dirty="0"/>
              <a:t> 보기 아이콘 </a:t>
            </a:r>
            <a:r>
              <a:rPr lang="ko-KR" altLang="en-US" dirty="0" smtClean="0"/>
              <a:t>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조달업체</a:t>
            </a:r>
            <a:r>
              <a:rPr lang="ko-KR" altLang="en-US" dirty="0" smtClean="0"/>
              <a:t> 사용자에게 표시되는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기관사용자는 해당 영역 하단은 표시하지 않음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조달업체</a:t>
            </a:r>
            <a:r>
              <a:rPr lang="ko-KR" altLang="en-US" dirty="0" smtClean="0"/>
              <a:t> 사용자에게 표시되는 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아이디 찾기</a:t>
            </a:r>
            <a:r>
              <a:rPr lang="en-US" altLang="ko-KR" dirty="0" smtClean="0"/>
              <a:t>, </a:t>
            </a:r>
            <a:r>
              <a:rPr lang="ko-KR" altLang="en-US" dirty="0" smtClean="0"/>
              <a:t>비밀번호 찾기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처음 </a:t>
            </a:r>
            <a:r>
              <a:rPr lang="ko-KR" altLang="en-US" dirty="0" err="1" smtClean="0"/>
              <a:t>방문하셨나요</a:t>
            </a:r>
            <a:r>
              <a:rPr lang="en-US" altLang="ko-KR" dirty="0"/>
              <a:t> </a:t>
            </a:r>
            <a:r>
              <a:rPr lang="ko-KR" altLang="en-US" dirty="0" smtClean="0"/>
              <a:t>영역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ID/PW</a:t>
            </a:r>
            <a:r>
              <a:rPr lang="ko-KR" altLang="en-US" dirty="0"/>
              <a:t>로그인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ID/PW </a:t>
            </a:r>
            <a:r>
              <a:rPr lang="ko-KR" altLang="en-US" dirty="0">
                <a:latin typeface="+mn-ea"/>
              </a:rPr>
              <a:t>로그인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083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104900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아이디</a:t>
            </a:r>
            <a:r>
              <a:rPr lang="en-US" altLang="ko-KR" sz="900" b="1" dirty="0">
                <a:solidFill>
                  <a:srgbClr val="0070C0"/>
                </a:solidFill>
                <a:latin typeface="+mn-ea"/>
              </a:rPr>
              <a:t>/</a:t>
            </a:r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비밀번호</a:t>
            </a:r>
            <a:r>
              <a:rPr lang="en-US" altLang="ko-KR" sz="900" b="1" dirty="0">
                <a:latin typeface="+mn-ea"/>
              </a:rPr>
              <a:t> </a:t>
            </a:r>
            <a:r>
              <a:rPr lang="ko-KR" altLang="en-US" sz="900" b="1" dirty="0">
                <a:latin typeface="+mn-ea"/>
              </a:rPr>
              <a:t>로그인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273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25" name="타원 24"/>
          <p:cNvSpPr/>
          <p:nvPr/>
        </p:nvSpPr>
        <p:spPr>
          <a:xfrm>
            <a:off x="854156" y="194900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등록한 </a:t>
            </a:r>
            <a:r>
              <a:rPr lang="ko-KR" altLang="en-US" sz="700" dirty="0">
                <a:latin typeface="+mn-ea"/>
              </a:rPr>
              <a:t>아이디와 비밀번호를 이용하여 로그인합니다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2226294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또는 비밀번호를 </a:t>
            </a:r>
            <a:r>
              <a:rPr lang="ko-KR" altLang="en-US" sz="700" dirty="0" err="1">
                <a:latin typeface="+mn-ea"/>
              </a:rPr>
              <a:t>잊어버렸나요</a:t>
            </a:r>
            <a:r>
              <a:rPr lang="en-US" altLang="ko-KR" sz="700" dirty="0">
                <a:latin typeface="+mn-ea"/>
              </a:rPr>
              <a:t>?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985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" name="그룹 6"/>
          <p:cNvGrpSpPr/>
          <p:nvPr/>
        </p:nvGrpSpPr>
        <p:grpSpPr>
          <a:xfrm>
            <a:off x="4023916" y="2461729"/>
            <a:ext cx="2255663" cy="306146"/>
            <a:chOff x="3982951" y="3679873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 찾기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106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05041" y="4702277"/>
            <a:ext cx="2652743" cy="1097816"/>
            <a:chOff x="734683" y="4769160"/>
            <a:chExt cx="2652743" cy="1097816"/>
          </a:xfrm>
        </p:grpSpPr>
        <p:sp>
          <p:nvSpPr>
            <p:cNvPr id="44" name="모서리가 둥근 직사각형 43"/>
            <p:cNvSpPr/>
            <p:nvPr/>
          </p:nvSpPr>
          <p:spPr>
            <a:xfrm>
              <a:off x="734683" y="4769160"/>
              <a:ext cx="2652743" cy="1097816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비밀번호찾기를 통해 비밀번호를 변경할 경우 로그인 제한이 해제됩니다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6" name="타원 4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7" name="그룹 4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50" name="직선 연결선 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1" name="직선 연결선 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" name="그룹 51"/>
          <p:cNvGrpSpPr/>
          <p:nvPr/>
        </p:nvGrpSpPr>
        <p:grpSpPr>
          <a:xfrm>
            <a:off x="4023916" y="2828026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비밀번호 찾기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438803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처음</a:t>
            </a:r>
            <a:r>
              <a:rPr lang="ko-KR" altLang="en-US" sz="900" b="1" dirty="0">
                <a:latin typeface="+mn-ea"/>
              </a:rPr>
              <a:t> </a:t>
            </a:r>
            <a:r>
              <a:rPr lang="ko-KR" altLang="en-US" sz="900" b="1" dirty="0" err="1">
                <a:latin typeface="+mn-ea"/>
              </a:rPr>
              <a:t>방문하셨나요</a:t>
            </a:r>
            <a:r>
              <a:rPr lang="en-US" altLang="ko-KR" sz="900" b="1" dirty="0">
                <a:latin typeface="+mn-ea"/>
              </a:rPr>
              <a:t>?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82328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사용자 등록 방법을 자세하게 </a:t>
            </a:r>
            <a:r>
              <a:rPr lang="ko-KR" altLang="en-US" sz="700" dirty="0" err="1">
                <a:latin typeface="+mn-ea"/>
              </a:rPr>
              <a:t>안내드립니다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모바일에서는 </a:t>
            </a:r>
            <a:r>
              <a:rPr lang="ko-KR" altLang="en-US" sz="700" dirty="0" err="1">
                <a:latin typeface="+mn-ea"/>
              </a:rPr>
              <a:t>업체등록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사용자등록을 지원하지 않습니다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2817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0" name="그룹 59"/>
          <p:cNvGrpSpPr/>
          <p:nvPr/>
        </p:nvGrpSpPr>
        <p:grpSpPr>
          <a:xfrm>
            <a:off x="4023916" y="4045163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등록 안내 </a:t>
              </a:r>
              <a:r>
                <a:rPr lang="ko-KR" altLang="en-US" sz="700" b="1" dirty="0" err="1">
                  <a:latin typeface="+mn-ea"/>
                </a:rPr>
                <a:t>바로가기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5916119" y="3732918"/>
              <a:ext cx="27283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00" dirty="0">
                  <a:sym typeface="Wingdings" panose="05000000000000000000" pitchFamily="2" charset="2"/>
                </a:rPr>
                <a:t></a:t>
              </a:r>
              <a:endParaRPr lang="ko-KR" altLang="en-US" sz="700" dirty="0"/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903581" y="2774518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461587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2265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08576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232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0759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1" name="직사각형 9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기관 선택 추가</a:t>
              </a:r>
              <a:endParaRPr lang="en-US" altLang="ko-KR" sz="700" dirty="0"/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073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956" y="21780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8223250" y="924967"/>
            <a:ext cx="3365500" cy="634511"/>
            <a:chOff x="8223250" y="569392"/>
            <a:chExt cx="3365500" cy="634511"/>
          </a:xfrm>
        </p:grpSpPr>
        <p:sp>
          <p:nvSpPr>
            <p:cNvPr id="88" name="직사각형 8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설명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en-US" altLang="ko-KR" sz="700" dirty="0" smtClean="0"/>
                <a:t>4</a:t>
              </a:r>
              <a:r>
                <a:rPr lang="ko-KR" altLang="en-US" sz="700" dirty="0" smtClean="0"/>
                <a:t>번 영역 설명을 추가함</a:t>
              </a:r>
              <a:r>
                <a:rPr lang="en-US" altLang="ko-KR" sz="700" dirty="0" smtClean="0"/>
                <a:t>.</a:t>
              </a:r>
              <a:br>
                <a:rPr lang="en-US" altLang="ko-KR" sz="700" dirty="0" smtClean="0"/>
              </a:br>
              <a:r>
                <a:rPr lang="ko-KR" altLang="en-US" sz="700" dirty="0" err="1" smtClean="0"/>
                <a:t>조달업체</a:t>
              </a:r>
              <a:r>
                <a:rPr lang="ko-KR" altLang="en-US" sz="700" dirty="0" smtClean="0"/>
                <a:t> 사용자에게만 노출되는 영역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059768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44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5204" y="7058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8102633"/>
              </p:ext>
            </p:extLst>
          </p:nvPr>
        </p:nvGraphicFramePr>
        <p:xfrm>
          <a:off x="455204" y="935766"/>
          <a:ext cx="8995591" cy="1944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로그인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scwin.btn_login_onclick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비밀번호가 일치하면 로그인한다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같은 아이디로 등록한 업체가 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있을때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업체 선택창이 나온다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(UI-CM-02-P12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퇴사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탈퇴한 회원은 로그인이 불가능하다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ID/PW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비밀번호 변경일이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90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일이 경과되면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Alert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표시</a:t>
                      </a:r>
                      <a:endParaRPr lang="en-US" altLang="ko-KR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- 60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 이상 장기 미사용자도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Alert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아이디찾기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비밀번호찾기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scwin.btn_pswdFndng_onclick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찾기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79013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scwin.btn_userRegGuide_onclick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사용자등록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안내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535562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7DF8D80-32E8-5CA9-48DC-8E274B9F1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247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338686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아이디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920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58362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smtClean="0">
                <a:latin typeface="+mn-ea"/>
              </a:rPr>
              <a:t>본인인증을 </a:t>
            </a:r>
            <a:r>
              <a:rPr lang="ko-KR" altLang="en-US" sz="900" b="1" dirty="0">
                <a:latin typeface="+mn-ea"/>
              </a:rPr>
              <a:t>통해 아이디를 찾을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301887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256883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266804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2953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053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333488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43410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371994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81915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4086107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85319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25" name="타원 24"/>
          <p:cNvSpPr/>
          <p:nvPr/>
        </p:nvSpPr>
        <p:spPr>
          <a:xfrm>
            <a:off x="1062376" y="4125304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37558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336479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2992962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260627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" name="그룹 38"/>
          <p:cNvGrpSpPr/>
          <p:nvPr/>
        </p:nvGrpSpPr>
        <p:grpSpPr>
          <a:xfrm rot="16200000" flipH="1">
            <a:off x="2958652" y="2698407"/>
            <a:ext cx="94010" cy="47005"/>
            <a:chOff x="6812560" y="3297172"/>
            <a:chExt cx="94010" cy="47005"/>
          </a:xfrm>
        </p:grpSpPr>
        <p:cxnSp>
          <p:nvCxnSpPr>
            <p:cNvPr id="40" name="직선 연결선 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직선 연결선 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2" name="그룹 41"/>
          <p:cNvGrpSpPr/>
          <p:nvPr/>
        </p:nvGrpSpPr>
        <p:grpSpPr>
          <a:xfrm rot="16200000" flipH="1">
            <a:off x="2958653" y="3083465"/>
            <a:ext cx="94010" cy="47005"/>
            <a:chOff x="6812560" y="3297172"/>
            <a:chExt cx="94010" cy="47005"/>
          </a:xfrm>
        </p:grpSpPr>
        <p:cxnSp>
          <p:nvCxnSpPr>
            <p:cNvPr id="43" name="직선 연결선 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4" name="직선 연결선 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5" name="그룹 44"/>
          <p:cNvGrpSpPr/>
          <p:nvPr/>
        </p:nvGrpSpPr>
        <p:grpSpPr>
          <a:xfrm rot="16200000" flipH="1">
            <a:off x="2958653" y="346445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 rot="16200000" flipH="1">
            <a:off x="2958654" y="3849517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2" name="그룹 51"/>
          <p:cNvGrpSpPr/>
          <p:nvPr/>
        </p:nvGrpSpPr>
        <p:grpSpPr>
          <a:xfrm rot="16200000" flipH="1">
            <a:off x="2958654" y="4215678"/>
            <a:ext cx="94010" cy="47005"/>
            <a:chOff x="6812560" y="3297172"/>
            <a:chExt cx="94010" cy="47005"/>
          </a:xfrm>
        </p:grpSpPr>
        <p:cxnSp>
          <p:nvCxnSpPr>
            <p:cNvPr id="53" name="직선 연결선 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직선 연결선 5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28583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</a:t>
            </a:r>
            <a:r>
              <a:rPr lang="ko-KR" altLang="en-US" dirty="0" smtClean="0"/>
              <a:t>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ID, </a:t>
            </a:r>
            <a:r>
              <a:rPr lang="ko-KR" altLang="en-US" dirty="0" smtClean="0"/>
              <a:t>기존</a:t>
            </a:r>
            <a:r>
              <a:rPr lang="en-US" altLang="ko-KR" dirty="0" smtClean="0"/>
              <a:t> ID</a:t>
            </a:r>
            <a:r>
              <a:rPr lang="ko-KR" altLang="en-US" dirty="0" smtClean="0"/>
              <a:t>를 둘다 조회함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ID</a:t>
            </a:r>
            <a:r>
              <a:rPr lang="ko-KR" altLang="en-US" dirty="0" err="1" smtClean="0"/>
              <a:t>찾기결과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</a:t>
            </a:r>
            <a:r>
              <a:rPr lang="ko-KR" altLang="en-US" dirty="0" smtClean="0"/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ID</a:t>
            </a:r>
            <a:r>
              <a:rPr lang="ko-KR" altLang="en-US" dirty="0" smtClean="0">
                <a:latin typeface="+mn-ea"/>
              </a:rPr>
              <a:t>등록정보로찾기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942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841401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528470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‘-’ 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없이 입력해주세요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8953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683445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아이디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7447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>
                <a:latin typeface="+mn-ea"/>
              </a:rPr>
              <a:t>아이디</a:t>
            </a:r>
            <a:r>
              <a:rPr lang="en-US" altLang="ko-KR" sz="1000" b="1" dirty="0">
                <a:latin typeface="+mn-ea"/>
              </a:rPr>
              <a:t> </a:t>
            </a:r>
            <a:r>
              <a:rPr lang="ko-KR" altLang="en-US" sz="1000" b="1" dirty="0" err="1">
                <a:latin typeface="+mn-ea"/>
              </a:rPr>
              <a:t>등록정보로</a:t>
            </a:r>
            <a:r>
              <a:rPr lang="ko-KR" altLang="en-US" sz="1000" b="1" dirty="0">
                <a:latin typeface="+mn-ea"/>
              </a:rPr>
              <a:t> 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05713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204262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4207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8953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05713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5" name="직사각형 4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2026-06-22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사용자 주민등록번호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사용자 생년월일</a:t>
              </a:r>
              <a:endParaRPr lang="en-US" altLang="ko-KR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24967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059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52" name="그룹 51"/>
          <p:cNvGrpSpPr/>
          <p:nvPr/>
        </p:nvGrpSpPr>
        <p:grpSpPr>
          <a:xfrm>
            <a:off x="903581" y="4854131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71519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00136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71519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9" name="그룹 58"/>
          <p:cNvGrpSpPr/>
          <p:nvPr/>
        </p:nvGrpSpPr>
        <p:grpSpPr>
          <a:xfrm>
            <a:off x="8223250" y="1148693"/>
            <a:ext cx="3365500" cy="634511"/>
            <a:chOff x="8223250" y="569392"/>
            <a:chExt cx="3365500" cy="634511"/>
          </a:xfrm>
        </p:grpSpPr>
        <p:sp>
          <p:nvSpPr>
            <p:cNvPr id="60" name="직사각형 5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화면 복구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0805865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47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492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070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</a:t>
            </a:r>
            <a:r>
              <a:rPr lang="en-US" altLang="ko-KR" dirty="0" smtClean="0"/>
              <a:t> ID</a:t>
            </a:r>
            <a:r>
              <a:rPr lang="ko-KR" altLang="en-US" dirty="0" smtClean="0"/>
              <a:t>가 있는 경우 통합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통합 </a:t>
            </a:r>
            <a:r>
              <a:rPr lang="en-US" altLang="ko-KR" dirty="0" smtClean="0"/>
              <a:t>ID</a:t>
            </a:r>
            <a:r>
              <a:rPr lang="ko-KR" altLang="en-US" dirty="0" smtClean="0"/>
              <a:t>가 없는 경우 소속업체명과 아이디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ID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ID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smtClean="0">
                <a:latin typeface="+mn-ea"/>
              </a:rPr>
              <a:t>통합 아이디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18284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31348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+mn-ea"/>
                </a:rPr>
                <a:t>ID/PW </a:t>
              </a:r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로그인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903580" y="5694905"/>
            <a:ext cx="2255663" cy="306146"/>
            <a:chOff x="3982951" y="3679873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rgbClr val="0070C0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83168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 smtClean="0">
                <a:latin typeface="+mn-ea"/>
              </a:rPr>
              <a:t>userID1234</a:t>
            </a:r>
            <a:endParaRPr lang="ko-KR" altLang="en-US" sz="8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145009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 err="1">
                <a:latin typeface="+mn-ea"/>
              </a:rPr>
              <a:t>소속업체명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1" name="타원 70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337202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㈜</a:t>
            </a:r>
            <a:r>
              <a:rPr lang="en-US" altLang="ko-KR" sz="800" dirty="0">
                <a:latin typeface="+mn-ea"/>
              </a:rPr>
              <a:t>ABC </a:t>
            </a:r>
            <a:r>
              <a:rPr lang="ko-KR" altLang="en-US" sz="800" dirty="0">
                <a:latin typeface="+mn-ea"/>
              </a:rPr>
              <a:t>업체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아이디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</a:t>
            </a:r>
            <a:r>
              <a:rPr lang="en-US" altLang="ko-KR" sz="900" b="1" dirty="0">
                <a:latin typeface="+mn-ea"/>
              </a:rPr>
              <a:t>ID</a:t>
            </a:r>
            <a:r>
              <a:rPr lang="ko-KR" altLang="en-US" sz="900" b="1" dirty="0">
                <a:latin typeface="+mn-ea"/>
              </a:rPr>
              <a:t>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가입된 </a:t>
            </a:r>
            <a:r>
              <a:rPr lang="ko-KR" altLang="en-US" sz="800" b="1" dirty="0" err="1">
                <a:latin typeface="+mn-ea"/>
              </a:rPr>
              <a:t>인증정보가</a:t>
            </a:r>
            <a:r>
              <a:rPr lang="ko-KR" altLang="en-US" sz="800" b="1" dirty="0">
                <a:latin typeface="+mn-ea"/>
              </a:rPr>
              <a:t> 없습니다</a:t>
            </a:r>
            <a:r>
              <a:rPr lang="en-US" altLang="ko-KR" sz="800" b="1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64266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694905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609230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b="1" dirty="0">
                <a:latin typeface="+mn-ea"/>
              </a:rPr>
              <a:t>아이디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4801423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abcdef1234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7" name="직사각형 4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통합 </a:t>
              </a:r>
              <a:r>
                <a:rPr lang="en-US" altLang="ko-KR" sz="700" dirty="0" smtClean="0"/>
                <a:t>ID </a:t>
              </a:r>
              <a:r>
                <a:rPr lang="ko-KR" altLang="en-US" sz="700" dirty="0" err="1" smtClean="0"/>
                <a:t>표시영역</a:t>
              </a:r>
              <a:r>
                <a:rPr lang="ko-KR" altLang="en-US" sz="700" dirty="0" smtClean="0"/>
                <a:t> 추가</a:t>
              </a:r>
              <a:r>
                <a:rPr lang="en-US" altLang="ko-KR" sz="700" dirty="0" smtClean="0"/>
                <a:t> </a:t>
              </a: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88538928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아이디 입력 </a:t>
            </a:r>
            <a:r>
              <a:rPr lang="ko-KR" altLang="en-US" dirty="0" smtClean="0"/>
              <a:t>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 방식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아이디 미 입력</a:t>
            </a:r>
            <a:r>
              <a:rPr lang="en-US" altLang="ko-KR" dirty="0"/>
              <a:t>, </a:t>
            </a:r>
            <a:r>
              <a:rPr lang="ko-KR" altLang="en-US" dirty="0"/>
              <a:t>없는 아이디로</a:t>
            </a:r>
            <a:r>
              <a:rPr lang="en-US" altLang="ko-KR" dirty="0"/>
              <a:t> </a:t>
            </a:r>
            <a:r>
              <a:rPr lang="ko-KR" altLang="en-US" dirty="0"/>
              <a:t>인증 방식 클릭 시 유효성 메시지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아이디를 정확히 입력해주세요</a:t>
            </a:r>
            <a:r>
              <a:rPr lang="en-US" altLang="ko-KR" dirty="0" smtClean="0">
                <a:sym typeface="Wingdings" panose="05000000000000000000" pitchFamily="2" charset="2"/>
              </a:rPr>
              <a:t>.</a:t>
            </a:r>
            <a:br>
              <a:rPr lang="en-US" altLang="ko-KR" dirty="0" smtClean="0">
                <a:sym typeface="Wingdings" panose="05000000000000000000" pitchFamily="2" charset="2"/>
              </a:rPr>
            </a:br>
            <a:r>
              <a:rPr lang="en-US" altLang="ko-KR" dirty="0" smtClean="0">
                <a:sym typeface="Wingdings" panose="05000000000000000000" pitchFamily="2" charset="2"/>
              </a:rPr>
              <a:t>- </a:t>
            </a:r>
            <a:r>
              <a:rPr lang="ko-KR" altLang="en-US" dirty="0" smtClean="0">
                <a:sym typeface="Wingdings" panose="05000000000000000000" pitchFamily="2" charset="2"/>
              </a:rPr>
              <a:t>통합 </a:t>
            </a:r>
            <a:r>
              <a:rPr lang="en-US" altLang="ko-KR" dirty="0" smtClean="0">
                <a:sym typeface="Wingdings" panose="05000000000000000000" pitchFamily="2" charset="2"/>
              </a:rPr>
              <a:t>ID, </a:t>
            </a:r>
            <a:r>
              <a:rPr lang="ko-KR" altLang="en-US" dirty="0" smtClean="0">
                <a:sym typeface="Wingdings" panose="05000000000000000000" pitchFamily="2" charset="2"/>
              </a:rPr>
              <a:t>기존</a:t>
            </a:r>
            <a:r>
              <a:rPr lang="en-US" altLang="ko-KR" dirty="0" smtClean="0">
                <a:sym typeface="Wingdings" panose="05000000000000000000" pitchFamily="2" charset="2"/>
              </a:rPr>
              <a:t> ID </a:t>
            </a:r>
            <a:r>
              <a:rPr lang="ko-KR" altLang="en-US" dirty="0" smtClean="0">
                <a:sym typeface="Wingdings" panose="05000000000000000000" pitchFamily="2" charset="2"/>
              </a:rPr>
              <a:t>모두 설정 가능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PW</a:t>
            </a:r>
            <a:r>
              <a:rPr lang="ko-KR" altLang="en-US" dirty="0" smtClean="0">
                <a:latin typeface="+mn-ea"/>
              </a:rPr>
              <a:t>찾기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294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880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smtClean="0">
                <a:latin typeface="+mn-ea"/>
              </a:rPr>
              <a:t>본인인증을 </a:t>
            </a:r>
            <a:r>
              <a:rPr lang="ko-KR" altLang="en-US" sz="700" dirty="0">
                <a:latin typeface="+mn-ea"/>
              </a:rPr>
              <a:t>통해 비밀번호를 변경할 수 있습니다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7869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아이디를 입력해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36072" y="363962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373883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869240" y="369266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74" name="모서리가 둥근 직사각형 73"/>
          <p:cNvSpPr/>
          <p:nvPr/>
        </p:nvSpPr>
        <p:spPr>
          <a:xfrm>
            <a:off x="936072" y="402468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123893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869240" y="4077726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936072" y="4405675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504887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869240" y="4458720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87" name="모서리가 둥근 직사각형 86"/>
          <p:cNvSpPr/>
          <p:nvPr/>
        </p:nvSpPr>
        <p:spPr>
          <a:xfrm>
            <a:off x="936072" y="4790733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4889945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869240" y="4843778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936072" y="5156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88933" y="5256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등록정보로</a:t>
            </a:r>
            <a:r>
              <a:rPr lang="ko-KR" altLang="en-US" sz="700" b="1" dirty="0">
                <a:latin typeface="+mn-ea"/>
              </a:rPr>
              <a:t> 찾기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240" y="5209939"/>
            <a:ext cx="27283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ym typeface="Wingdings" panose="05000000000000000000" pitchFamily="2" charset="2"/>
              </a:rPr>
              <a:t></a:t>
            </a:r>
            <a:endParaRPr lang="ko-KR" altLang="en-US" sz="700" dirty="0"/>
          </a:p>
        </p:txBody>
      </p:sp>
      <p:sp>
        <p:nvSpPr>
          <p:cNvPr id="25" name="타원 24"/>
          <p:cNvSpPr/>
          <p:nvPr/>
        </p:nvSpPr>
        <p:spPr>
          <a:xfrm>
            <a:off x="1062376" y="519609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1062376" y="4826618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1062376" y="443558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1062376" y="4063749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1062376" y="3677063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38516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 방식을 선택해 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44" name="그룹 43"/>
          <p:cNvGrpSpPr/>
          <p:nvPr/>
        </p:nvGrpSpPr>
        <p:grpSpPr>
          <a:xfrm>
            <a:off x="903581" y="2715160"/>
            <a:ext cx="2255663" cy="306146"/>
            <a:chOff x="3982951" y="3679873"/>
            <a:chExt cx="2255663" cy="30614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아이디를 입력해주세요</a:t>
              </a:r>
            </a:p>
          </p:txBody>
        </p: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49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047492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000" b="1" dirty="0" smtClean="0">
                <a:latin typeface="+mn-ea"/>
              </a:rPr>
              <a:t>비밀번호</a:t>
            </a:r>
            <a:r>
              <a:rPr lang="en-US" altLang="ko-KR" sz="1000" b="1" dirty="0" smtClean="0">
                <a:latin typeface="+mn-ea"/>
              </a:rPr>
              <a:t> </a:t>
            </a:r>
            <a:r>
              <a:rPr lang="ko-KR" altLang="en-US" sz="1000" b="1" dirty="0" smtClean="0">
                <a:latin typeface="+mn-ea"/>
              </a:rPr>
              <a:t>찾기</a:t>
            </a:r>
            <a:endParaRPr lang="ko-KR" altLang="en-US" sz="1000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9400719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정보 </a:t>
            </a:r>
            <a:r>
              <a:rPr lang="ko-KR" altLang="en-US" dirty="0" smtClean="0"/>
              <a:t>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ID</a:t>
            </a:r>
            <a:r>
              <a:rPr lang="ko-KR" altLang="en-US" dirty="0" smtClean="0"/>
              <a:t>는 직전에 입력한 아이디 자동입력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사용자 아이디 체계가 개편되어</a:t>
            </a:r>
            <a:r>
              <a:rPr lang="en-US" altLang="ko-KR" dirty="0" smtClean="0">
                <a:solidFill>
                  <a:srgbClr val="FF0000"/>
                </a:solidFill>
              </a:rPr>
              <a:t>, 1</a:t>
            </a:r>
            <a:r>
              <a:rPr lang="ko-KR" altLang="en-US" dirty="0" smtClean="0">
                <a:solidFill>
                  <a:srgbClr val="FF0000"/>
                </a:solidFill>
              </a:rPr>
              <a:t>사용자당 </a:t>
            </a:r>
            <a:r>
              <a:rPr lang="en-US" altLang="ko-KR" dirty="0" smtClean="0">
                <a:solidFill>
                  <a:srgbClr val="FF0000"/>
                </a:solidFill>
              </a:rPr>
              <a:t>1</a:t>
            </a:r>
            <a:r>
              <a:rPr lang="ko-KR" altLang="en-US" dirty="0" smtClean="0">
                <a:solidFill>
                  <a:srgbClr val="FF0000"/>
                </a:solidFill>
              </a:rPr>
              <a:t>개의 통합 아이디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여러 개의 기존 아이디가 존재함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strike="sngStrike" dirty="0" smtClean="0"/>
              <a:t>- as-is</a:t>
            </a:r>
            <a:r>
              <a:rPr lang="ko-KR" altLang="en-US" strike="sngStrike" dirty="0" smtClean="0"/>
              <a:t>에서는 업체별로 사용자가 사용할 아이디를 계속 추가하는 </a:t>
            </a:r>
            <a:r>
              <a:rPr lang="ko-KR" altLang="en-US" strike="sngStrike" dirty="0" err="1" smtClean="0"/>
              <a:t>방식이었음</a:t>
            </a:r>
            <a:r>
              <a:rPr lang="en-US" altLang="ko-KR" strike="sngStrike" dirty="0" smtClean="0"/>
              <a:t>.</a:t>
            </a:r>
            <a:br>
              <a:rPr lang="en-US" altLang="ko-KR" strike="sngStrike" dirty="0" smtClean="0"/>
            </a:br>
            <a:r>
              <a:rPr lang="en-US" altLang="ko-KR" strike="sngStrike" dirty="0" smtClean="0"/>
              <a:t>- </a:t>
            </a:r>
            <a:r>
              <a:rPr lang="ko-KR" altLang="en-US" strike="sngStrike" dirty="0" smtClean="0"/>
              <a:t>현재 화면에 사용자 구분</a:t>
            </a:r>
            <a:r>
              <a:rPr lang="en-US" altLang="ko-KR" strike="sngStrike" dirty="0" smtClean="0"/>
              <a:t>, </a:t>
            </a:r>
            <a:r>
              <a:rPr lang="ko-KR" altLang="en-US" strike="sngStrike" dirty="0" smtClean="0"/>
              <a:t>사업자 아이디가 무의미해지고</a:t>
            </a:r>
            <a:r>
              <a:rPr lang="en-US" altLang="ko-KR" strike="sngStrike" dirty="0" smtClean="0"/>
              <a:t>, </a:t>
            </a:r>
            <a:r>
              <a:rPr lang="ko-KR" altLang="en-US" strike="sngStrike" dirty="0" smtClean="0"/>
              <a:t>화면이 일부 변경될 수 있음</a:t>
            </a:r>
            <a:r>
              <a:rPr lang="en-US" altLang="ko-KR" strike="sngStrike" dirty="0" smtClean="0"/>
              <a:t>.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입력된 통합 </a:t>
            </a:r>
            <a:r>
              <a:rPr lang="en-US" altLang="ko-KR" dirty="0" smtClean="0">
                <a:solidFill>
                  <a:srgbClr val="FF0000"/>
                </a:solidFill>
              </a:rPr>
              <a:t>ID, </a:t>
            </a:r>
            <a:r>
              <a:rPr lang="ko-KR" altLang="en-US" dirty="0" smtClean="0">
                <a:solidFill>
                  <a:srgbClr val="FF0000"/>
                </a:solidFill>
              </a:rPr>
              <a:t>기존 </a:t>
            </a:r>
            <a:r>
              <a:rPr lang="en-US" altLang="ko-KR" dirty="0" smtClean="0">
                <a:solidFill>
                  <a:srgbClr val="FF0000"/>
                </a:solidFill>
              </a:rPr>
              <a:t>ID</a:t>
            </a:r>
            <a:r>
              <a:rPr lang="ko-KR" altLang="en-US" dirty="0" smtClean="0">
                <a:solidFill>
                  <a:srgbClr val="FF0000"/>
                </a:solidFill>
              </a:rPr>
              <a:t>에 해당하는 비밀번호 변경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PW</a:t>
            </a:r>
            <a:r>
              <a:rPr lang="ko-KR" altLang="en-US" dirty="0" err="1" smtClean="0"/>
              <a:t>찾기결과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en-US" altLang="ko-KR" dirty="0" smtClean="0"/>
              <a:t>MUI-CM-03-M08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/>
              <a:t>등록정보로찾기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ID/PW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 err="1">
                <a:latin typeface="+mn-ea"/>
              </a:rPr>
              <a:t>등록정보로</a:t>
            </a:r>
            <a:r>
              <a:rPr lang="ko-KR" altLang="en-US" dirty="0">
                <a:latin typeface="+mn-ea"/>
              </a:rPr>
              <a:t> 찾기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9367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구분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회원가입시</a:t>
            </a:r>
            <a:r>
              <a:rPr lang="ko-KR" altLang="en-US" sz="700" dirty="0">
                <a:latin typeface="+mn-ea"/>
              </a:rPr>
              <a:t> 등록한 정보를 정확히 입력해주세요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903581" y="2640810"/>
            <a:ext cx="2255663" cy="306146"/>
            <a:chOff x="3982951" y="3679873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조달업체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903581" y="3327879"/>
            <a:ext cx="2255663" cy="306146"/>
            <a:chOff x="3982951" y="3679873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8894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아이디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5898062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찾기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7388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 smtClean="0">
                <a:latin typeface="+mn-ea"/>
              </a:rPr>
              <a:t>등록정보로</a:t>
            </a:r>
            <a:r>
              <a:rPr lang="ko-KR" altLang="en-US" sz="900" b="1" dirty="0" smtClean="0">
                <a:latin typeface="+mn-ea"/>
              </a:rPr>
              <a:t> 비밀번호 </a:t>
            </a:r>
            <a:r>
              <a:rPr lang="ko-KR" altLang="en-US" sz="900" b="1" dirty="0">
                <a:latin typeface="+mn-ea"/>
              </a:rPr>
              <a:t>찾기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653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사업자등록번호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76" name="그룹 75"/>
          <p:cNvGrpSpPr/>
          <p:nvPr/>
        </p:nvGrpSpPr>
        <p:grpSpPr>
          <a:xfrm>
            <a:off x="903581" y="4003671"/>
            <a:ext cx="2255663" cy="306146"/>
            <a:chOff x="3982951" y="3679873"/>
            <a:chExt cx="2255663" cy="306146"/>
          </a:xfrm>
        </p:grpSpPr>
        <p:sp>
          <p:nvSpPr>
            <p:cNvPr id="85" name="모서리가 둥근 직사각형 8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903581" y="4690740"/>
            <a:ext cx="2255663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공백없이 입력해주세요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55180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341479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3674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85653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55180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2" name="직사각형 5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49" name="직사각형 4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정책이 정해지면 화면 변경이 필요함</a:t>
              </a:r>
              <a:r>
                <a:rPr lang="en-US" altLang="ko-KR" sz="700" dirty="0" smtClean="0"/>
                <a:t>.</a:t>
              </a:r>
              <a:endParaRPr lang="ko-KR" altLang="en-US" sz="700" dirty="0"/>
            </a:p>
          </p:txBody>
        </p:sp>
      </p:grpSp>
      <p:sp>
        <p:nvSpPr>
          <p:cNvPr id="55" name="타원 5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9112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56" name="그룹 55"/>
          <p:cNvGrpSpPr/>
          <p:nvPr/>
        </p:nvGrpSpPr>
        <p:grpSpPr>
          <a:xfrm>
            <a:off x="903581" y="5361205"/>
            <a:ext cx="2255663" cy="306146"/>
            <a:chOff x="3982951" y="3679873"/>
            <a:chExt cx="2255663" cy="306146"/>
          </a:xfrm>
        </p:grpSpPr>
        <p:sp>
          <p:nvSpPr>
            <p:cNvPr id="57" name="모서리가 둥근 직사각형 5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생년월일 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6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자리를 입력해주세요</a:t>
              </a: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22227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smtClean="0">
                <a:latin typeface="+mn-ea"/>
              </a:rPr>
              <a:t>사용자 주민등록번호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70721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522227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8223250" y="1148693"/>
            <a:ext cx="3365500" cy="634511"/>
            <a:chOff x="8223250" y="569392"/>
            <a:chExt cx="3365500" cy="634511"/>
          </a:xfrm>
        </p:grpSpPr>
        <p:sp>
          <p:nvSpPr>
            <p:cNvPr id="63" name="직사각형 6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2026-07-22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화면 복구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설명 변경</a:t>
              </a:r>
              <a:endParaRPr lang="ko-KR" altLang="en-US" sz="700" dirty="0"/>
            </a:p>
          </p:txBody>
        </p:sp>
      </p:grpSp>
      <p:grpSp>
        <p:nvGrpSpPr>
          <p:cNvPr id="84" name="그룹 83"/>
          <p:cNvGrpSpPr/>
          <p:nvPr/>
        </p:nvGrpSpPr>
        <p:grpSpPr>
          <a:xfrm>
            <a:off x="8223250" y="1404674"/>
            <a:ext cx="3365500" cy="634511"/>
            <a:chOff x="8223250" y="569392"/>
            <a:chExt cx="3365500" cy="634511"/>
          </a:xfrm>
        </p:grpSpPr>
        <p:sp>
          <p:nvSpPr>
            <p:cNvPr id="96" name="직사각형 9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t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아이디 </a:t>
              </a:r>
              <a:r>
                <a:rPr lang="en-US" altLang="ko-KR" sz="700" dirty="0" smtClean="0"/>
                <a:t>disable</a:t>
              </a:r>
              <a:r>
                <a:rPr lang="ko-KR" altLang="en-US" sz="700" dirty="0" smtClean="0"/>
                <a:t>로 변경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필수 표시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이전 화면에서 입력한 아이디 표시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3254469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51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142" y="232628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54142" y="255287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필수 항목 입력 후 일치하면 아이디를 확인한다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5FCD92D-2655-D6F2-574A-C004CB79A8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717" y="24451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F284BC-5254-CB73-5F71-6703F57988DF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964600-67B3-5988-06BA-C9372916B372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24C8D3F-8A4B-6219-B502-22D57934FB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9238255"/>
              </p:ext>
            </p:extLst>
          </p:nvPr>
        </p:nvGraphicFramePr>
        <p:xfrm>
          <a:off x="454850" y="1104443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CD2842F3-6D38-6940-E1ED-871F45020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6935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 smtClean="0"/>
              <a:t>성공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사용자 비밀번호를 변경할 수 있음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화면 </a:t>
            </a:r>
            <a:r>
              <a:rPr lang="en-US" altLang="ko-KR" dirty="0"/>
              <a:t>– </a:t>
            </a:r>
            <a:r>
              <a:rPr lang="ko-KR" altLang="en-US" dirty="0"/>
              <a:t>실패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PW</a:t>
            </a:r>
            <a:r>
              <a:rPr lang="ko-KR" altLang="en-US" dirty="0" err="1"/>
              <a:t>찾기결과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찾기 결과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PW </a:t>
            </a:r>
            <a:r>
              <a:rPr lang="ko-KR" altLang="en-US" dirty="0">
                <a:latin typeface="+mn-ea"/>
              </a:rPr>
              <a:t>찾기 결과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찾기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사용자를 확인할 수 없습니다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651557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가입된 회원정보가 없습니다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9606" y="55809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사용자 등록 안내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바로가기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abcdef99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60594341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53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4850" y="243854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/>
        </p:nvGraphicFramePr>
        <p:xfrm>
          <a:off x="464431" y="2665136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변경 후 팝업창을 닫는다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6314079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45AF0B74-5439-276E-1EBE-5BE9A7D07B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2006" y="25464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00AF6C9-C709-F6C4-EBB7-941260BA2671}"/>
              </a:ext>
            </a:extLst>
          </p:cNvPr>
          <p:cNvSpPr txBox="1"/>
          <p:nvPr/>
        </p:nvSpPr>
        <p:spPr>
          <a:xfrm>
            <a:off x="459967" y="623130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3740078-1B99-5D65-4402-EA876D5A9371}"/>
              </a:ext>
            </a:extLst>
          </p:cNvPr>
          <p:cNvSpPr txBox="1"/>
          <p:nvPr/>
        </p:nvSpPr>
        <p:spPr>
          <a:xfrm>
            <a:off x="454850" y="890760"/>
            <a:ext cx="234736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사용자정보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33C64EE-8936-FE7A-54C5-A4C0C59C2C5D}"/>
              </a:ext>
            </a:extLst>
          </p:cNvPr>
          <p:cNvGraphicFramePr>
            <a:graphicFrameLocks noGrp="1"/>
          </p:cNvGraphicFramePr>
          <p:nvPr/>
        </p:nvGraphicFramePr>
        <p:xfrm>
          <a:off x="454850" y="110444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18084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FDDEEA3E-F413-E306-6738-F0835981E5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8335" y="74447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105000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안내 내용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 사용자 등록 기능 없음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모바일에서 지원하지 않음을 추가 표시함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사용자등록안내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 등록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등록 안내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>
                <a:latin typeface="+mn-ea"/>
              </a:rPr>
              <a:t>조달업체</a:t>
            </a:r>
            <a:r>
              <a:rPr lang="ko-KR" altLang="en-US" sz="900" b="1" dirty="0">
                <a:latin typeface="+mn-ea"/>
              </a:rPr>
              <a:t> 사용자 등록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3731251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596324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국방전자조달 입찰 참여 및 기타 업무를 처리하고자 하는 모든 업체는 공인인증기관에서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공인인증서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를 발급받은 후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 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한 다음 국방전자조달에서 사용자 등록을 하여야 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5C7585BD-E4E5-B25B-BCA1-A3526AA5E59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131" b="12877"/>
          <a:stretch/>
        </p:blipFill>
        <p:spPr>
          <a:xfrm>
            <a:off x="3433859" y="2144043"/>
            <a:ext cx="3618456" cy="2345894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32379"/>
            <a:ext cx="23051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조달업체</a:t>
            </a:r>
            <a:r>
              <a:rPr lang="ko-KR" altLang="en-US" sz="800" dirty="0">
                <a:latin typeface="+mn-ea"/>
              </a:rPr>
              <a:t> 사용자 등록하기 전 안내사항을 꼭 확인하신 후 등록하여 주시기 바랍니다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13264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나라장터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조달청</a:t>
            </a:r>
            <a:r>
              <a:rPr lang="en-US" altLang="ko-KR" sz="700" dirty="0">
                <a:latin typeface="+mn-ea"/>
              </a:rPr>
              <a:t>G2B)</a:t>
            </a:r>
            <a:r>
              <a:rPr lang="ko-KR" altLang="en-US" sz="700" dirty="0">
                <a:latin typeface="+mn-ea"/>
              </a:rPr>
              <a:t>에서 </a:t>
            </a:r>
            <a:r>
              <a:rPr lang="ko-KR" altLang="en-US" sz="700" dirty="0" err="1">
                <a:latin typeface="+mn-ea"/>
              </a:rPr>
              <a:t>업체등록을</a:t>
            </a:r>
            <a:r>
              <a:rPr lang="ko-KR" altLang="en-US" sz="700" dirty="0">
                <a:latin typeface="+mn-ea"/>
              </a:rPr>
              <a:t> 하고 승인을 받으신 후 </a:t>
            </a:r>
            <a:r>
              <a:rPr lang="en-US" altLang="ko-KR" sz="700" dirty="0">
                <a:latin typeface="+mn-ea"/>
              </a:rPr>
              <a:t>1</a:t>
            </a:r>
            <a:r>
              <a:rPr lang="ko-KR" altLang="en-US" sz="700" dirty="0">
                <a:latin typeface="+mn-ea"/>
              </a:rPr>
              <a:t>일이 경과하여야 국방전자조달에서 사용자 등록을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-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업체 등록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사용자 등록은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PC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버전에서 가능하며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모바일에서는 지원하지 않습니다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81134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등록대상자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977559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나라장터에서 업체 등록과 공인인증서를 발급 받은 업체로 전자입찰 참여 및 기타 업무를 처리하고자 하는 업체 사용자</a:t>
            </a:r>
            <a:endParaRPr lang="en-US" altLang="ko-KR" sz="700" dirty="0">
              <a:latin typeface="+mn-ea"/>
            </a:endParaRP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업체 사용자 유형 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업체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459588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67598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등록방법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4842194"/>
            <a:ext cx="2305144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최초 등록 사용자는 업체대표자로 등록되며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</a:t>
            </a: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등록 완료 후 사용자 등록이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 err="1">
                <a:latin typeface="+mn-ea"/>
              </a:rPr>
              <a:t>업체대표자</a:t>
            </a:r>
            <a:r>
              <a:rPr lang="ko-KR" altLang="en-US" sz="700" dirty="0">
                <a:latin typeface="+mn-ea"/>
              </a:rPr>
              <a:t> 외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일반사용자는 업체대표자의 승인 후 </a:t>
            </a:r>
            <a:r>
              <a:rPr lang="ko-KR" altLang="en-US" sz="700" dirty="0" err="1">
                <a:latin typeface="+mn-ea"/>
              </a:rPr>
              <a:t>로그인이</a:t>
            </a:r>
            <a:r>
              <a:rPr lang="ko-KR" altLang="en-US" sz="700" dirty="0">
                <a:latin typeface="+mn-ea"/>
              </a:rPr>
              <a:t> 가능합니다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700" dirty="0">
                <a:latin typeface="+mn-ea"/>
              </a:rPr>
              <a:t>입찰대리인은 먼저 나라장터에 등록하여야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익일 국방전자조달에 </a:t>
            </a:r>
            <a:r>
              <a:rPr lang="ko-KR" altLang="en-US" sz="700" dirty="0" err="1">
                <a:latin typeface="+mn-ea"/>
              </a:rPr>
              <a:t>해당정보가</a:t>
            </a:r>
            <a:r>
              <a:rPr lang="ko-KR" altLang="en-US" sz="700" dirty="0">
                <a:latin typeface="+mn-ea"/>
              </a:rPr>
              <a:t> 연계된 후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사용자등록이 가능합니다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772388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5850262"/>
            <a:ext cx="2305144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* </a:t>
            </a:r>
            <a:r>
              <a:rPr lang="ko-KR" altLang="en-US" sz="700" dirty="0" err="1">
                <a:latin typeface="+mn-ea"/>
              </a:rPr>
              <a:t>조달업체</a:t>
            </a:r>
            <a:r>
              <a:rPr lang="ko-KR" altLang="en-US" sz="700" dirty="0">
                <a:latin typeface="+mn-ea"/>
              </a:rPr>
              <a:t> 대표사용자는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일반사용자의 승인 및 </a:t>
            </a:r>
            <a:r>
              <a:rPr lang="ko-KR" altLang="en-US" sz="700" dirty="0" err="1">
                <a:latin typeface="+mn-ea"/>
              </a:rPr>
              <a:t>사용중단</a:t>
            </a:r>
            <a:r>
              <a:rPr lang="ko-KR" altLang="en-US" sz="700" dirty="0">
                <a:latin typeface="+mn-ea"/>
              </a:rPr>
              <a:t> 관리 권한이 부여 됨으로 관리자급에서 등록을 하시기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6213639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입찰서 제출은 업체대표자와 </a:t>
            </a:r>
            <a:r>
              <a:rPr lang="ko-KR" altLang="en-US" sz="700" dirty="0" err="1">
                <a:latin typeface="+mn-ea"/>
              </a:rPr>
              <a:t>입찰대리인</a:t>
            </a:r>
            <a:r>
              <a:rPr lang="ko-KR" altLang="en-US" sz="700" dirty="0">
                <a:latin typeface="+mn-ea"/>
              </a:rPr>
              <a:t> 및 예외처리자만 가능합니다</a:t>
            </a:r>
            <a:r>
              <a:rPr lang="en-US" altLang="ko-KR" sz="700" dirty="0">
                <a:latin typeface="+mn-ea"/>
              </a:rPr>
              <a:t>. (</a:t>
            </a:r>
            <a:r>
              <a:rPr lang="ko-KR" altLang="en-US" sz="700" dirty="0">
                <a:latin typeface="+mn-ea"/>
              </a:rPr>
              <a:t>외국인대표자 제외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491698" y="1768338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PC</a:t>
            </a:r>
            <a:r>
              <a:rPr lang="ko-KR" altLang="en-US" sz="800" dirty="0">
                <a:latin typeface="+mn-ea"/>
              </a:rPr>
              <a:t>버전 콘텐츠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2527367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7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7194983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간편인증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간편인증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간편인증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MUI-CM-03-P10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간편인증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국민인증서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통신사</a:t>
              </a:r>
              <a:r>
                <a:rPr lang="en-US" altLang="ko-KR" sz="600" dirty="0">
                  <a:latin typeface="+mn-ea"/>
                </a:rPr>
                <a:t>PASS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하나인증서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59" name="그룹 58"/>
          <p:cNvGrpSpPr/>
          <p:nvPr/>
        </p:nvGrpSpPr>
        <p:grpSpPr>
          <a:xfrm>
            <a:off x="2105953" y="4290048"/>
            <a:ext cx="1190153" cy="533671"/>
            <a:chOff x="808931" y="3518717"/>
            <a:chExt cx="1190153" cy="533671"/>
          </a:xfrm>
        </p:grpSpPr>
        <p:sp>
          <p:nvSpPr>
            <p:cNvPr id="60" name="모서리가 둥근 직사각형 5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뱅크샐러드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우리인증서</a:t>
              </a:r>
              <a:endParaRPr lang="ko-KR" altLang="en-US" sz="600" dirty="0">
                <a:latin typeface="+mn-ea"/>
              </a:endParaRPr>
            </a:p>
          </p:txBody>
        </p:sp>
      </p:grpSp>
      <p:grpSp>
        <p:nvGrpSpPr>
          <p:cNvPr id="64" name="그룹 63"/>
          <p:cNvGrpSpPr/>
          <p:nvPr/>
        </p:nvGrpSpPr>
        <p:grpSpPr>
          <a:xfrm>
            <a:off x="775628" y="5061379"/>
            <a:ext cx="1190153" cy="533671"/>
            <a:chOff x="808931" y="3518717"/>
            <a:chExt cx="1190153" cy="533671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신한인증서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>
                  <a:latin typeface="+mn-ea"/>
                </a:rPr>
                <a:t>인증서</a:t>
              </a:r>
            </a:p>
          </p:txBody>
        </p:sp>
      </p:grpSp>
      <p:grpSp>
        <p:nvGrpSpPr>
          <p:cNvPr id="69" name="그룹 68"/>
          <p:cNvGrpSpPr/>
          <p:nvPr/>
        </p:nvGrpSpPr>
        <p:grpSpPr>
          <a:xfrm>
            <a:off x="2105953" y="5061379"/>
            <a:ext cx="530538" cy="533671"/>
            <a:chOff x="808931" y="3518717"/>
            <a:chExt cx="530538" cy="533671"/>
          </a:xfrm>
        </p:grpSpPr>
        <p:sp>
          <p:nvSpPr>
            <p:cNvPr id="70" name="모서리가 둥근 직사각형 69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카카오톡</a:t>
              </a:r>
              <a:endParaRPr lang="ko-KR" altLang="en-US" sz="6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717298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금융인증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금융인증서</a:t>
            </a:r>
            <a:r>
              <a:rPr lang="ko-KR" altLang="en-US" dirty="0">
                <a:latin typeface="+mn-ea"/>
              </a:rPr>
              <a:t> 솔루션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금융인증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MUI-CM-03-P11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금융인증서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213461"/>
            <a:ext cx="230514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금융인증서를 이용하기 위해 </a:t>
            </a:r>
            <a:r>
              <a:rPr lang="ko-KR" altLang="en-US" sz="900" b="1" dirty="0" err="1">
                <a:latin typeface="+mn-ea"/>
              </a:rPr>
              <a:t>클라우드</a:t>
            </a:r>
            <a:endParaRPr lang="en-US" altLang="ko-KR" sz="900" b="1" dirty="0">
              <a:latin typeface="+mn-ea"/>
            </a:endParaRPr>
          </a:p>
          <a:p>
            <a:pPr algn="ctr"/>
            <a:r>
              <a:rPr lang="ko-KR" altLang="en-US" sz="900" b="1" dirty="0">
                <a:latin typeface="+mn-ea"/>
              </a:rPr>
              <a:t>저장소에 연결합니다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841401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2940613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69" name="모서리가 둥근 직사각형 68"/>
          <p:cNvSpPr/>
          <p:nvPr/>
        </p:nvSpPr>
        <p:spPr>
          <a:xfrm>
            <a:off x="903581" y="3228342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327554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010-1234-5678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grpSp>
        <p:nvGrpSpPr>
          <p:cNvPr id="73" name="그룹 72"/>
          <p:cNvGrpSpPr/>
          <p:nvPr/>
        </p:nvGrpSpPr>
        <p:grpSpPr>
          <a:xfrm>
            <a:off x="903580" y="4152648"/>
            <a:ext cx="2255663" cy="306146"/>
            <a:chOff x="3982951" y="3679873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휴대폰 </a:t>
              </a:r>
              <a:r>
                <a:rPr lang="ko-KR" altLang="en-US" sz="700" b="1" dirty="0" err="1">
                  <a:solidFill>
                    <a:schemeClr val="bg1"/>
                  </a:solidFill>
                  <a:latin typeface="+mn-ea"/>
                </a:rPr>
                <a:t>문자인증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940613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327554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휴대폰번호</a:t>
            </a:r>
          </a:p>
        </p:txBody>
      </p:sp>
      <p:sp>
        <p:nvSpPr>
          <p:cNvPr id="67" name="모서리가 둥근 직사각형 66"/>
          <p:cNvSpPr/>
          <p:nvPr/>
        </p:nvSpPr>
        <p:spPr>
          <a:xfrm>
            <a:off x="903581" y="361263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37281" y="3711846"/>
            <a:ext cx="150725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예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) 1900/01/31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711846"/>
            <a:ext cx="4571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생년월일</a:t>
            </a:r>
          </a:p>
        </p:txBody>
      </p:sp>
    </p:spTree>
    <p:extLst>
      <p:ext uri="{BB962C8B-B14F-4D97-AF65-F5344CB8AC3E}">
        <p14:creationId xmlns:p14="http://schemas.microsoft.com/office/powerpoint/2010/main" val="261896263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유무에 따라 표출 화면이 달라짐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공동인증</a:t>
            </a:r>
            <a:r>
              <a:rPr lang="ko-KR" altLang="en-US" dirty="0"/>
              <a:t> 솔루션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공동인증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MUI-CM-03-P12</a:t>
            </a:r>
            <a:endParaRPr lang="ko-KR" altLang="en-US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공동인증서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95730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 err="1">
                <a:latin typeface="+mn-ea"/>
              </a:rPr>
              <a:t>공동인증서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31" name="그룹 30"/>
          <p:cNvGrpSpPr/>
          <p:nvPr/>
        </p:nvGrpSpPr>
        <p:grpSpPr>
          <a:xfrm>
            <a:off x="903580" y="4358983"/>
            <a:ext cx="2255663" cy="306146"/>
            <a:chOff x="3982951" y="3679873"/>
            <a:chExt cx="2255663" cy="306146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327668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인증서가 없습니다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226283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솔루션 화면에 따름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모바일신분증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 신분증</a:t>
            </a:r>
            <a:r>
              <a:rPr lang="ko-KR" altLang="en-US" dirty="0"/>
              <a:t> 선택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 신분증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MUI-CM-03-P13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모바일 신분증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75628" y="3518717"/>
            <a:ext cx="1190153" cy="533671"/>
            <a:chOff x="808931" y="3518717"/>
            <a:chExt cx="1190153" cy="533671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카카오뱅크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34" name="모서리가 둥근 직사각형 33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토스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105953" y="3518717"/>
            <a:ext cx="1190153" cy="533671"/>
            <a:chOff x="808931" y="3518717"/>
            <a:chExt cx="1190153" cy="533671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 err="1">
                  <a:latin typeface="+mn-ea"/>
                </a:rPr>
                <a:t>정부앱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600" dirty="0">
                  <a:latin typeface="+mn-ea"/>
                </a:rPr>
                <a:t>네이버</a:t>
              </a: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775628" y="4290048"/>
            <a:ext cx="1190153" cy="533671"/>
            <a:chOff x="808931" y="3518717"/>
            <a:chExt cx="1190153" cy="533671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879733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8931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NH</a:t>
              </a:r>
              <a:r>
                <a:rPr lang="ko-KR" altLang="en-US" sz="600" dirty="0" err="1">
                  <a:latin typeface="+mn-ea"/>
                </a:rPr>
                <a:t>올원뱅크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1539348" y="3518717"/>
              <a:ext cx="388935" cy="389525"/>
            </a:xfrm>
            <a:prstGeom prst="roundRect">
              <a:avLst>
                <a:gd name="adj" fmla="val 14469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68546" y="3960055"/>
              <a:ext cx="530538" cy="9233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600" dirty="0">
                  <a:latin typeface="+mn-ea"/>
                </a:rPr>
                <a:t>KB</a:t>
              </a:r>
              <a:r>
                <a:rPr lang="ko-KR" altLang="en-US" sz="600" dirty="0" err="1">
                  <a:latin typeface="+mn-ea"/>
                </a:rPr>
                <a:t>스타뱅크</a:t>
              </a:r>
              <a:endParaRPr lang="ko-KR" altLang="en-US" sz="600" dirty="0">
                <a:latin typeface="+mn-ea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502717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00" dirty="0">
                <a:latin typeface="+mn-ea"/>
              </a:rPr>
              <a:t>※ </a:t>
            </a:r>
            <a:r>
              <a:rPr lang="ko-KR" altLang="en-US" sz="600" dirty="0">
                <a:latin typeface="+mn-ea"/>
              </a:rPr>
              <a:t>모바일 신분증을 발급받을 앱을 선택해주세요</a:t>
            </a:r>
            <a:r>
              <a:rPr lang="en-US" altLang="ko-KR" sz="600" dirty="0">
                <a:latin typeface="+mn-ea"/>
              </a:rPr>
              <a:t>.</a:t>
            </a:r>
            <a:endParaRPr lang="ko-KR" altLang="en-US" sz="600" dirty="0"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58693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6430" y="5978328"/>
            <a:ext cx="237887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600" dirty="0">
                <a:latin typeface="+mn-ea"/>
              </a:rPr>
              <a:t>사용 가이드</a:t>
            </a:r>
          </a:p>
        </p:txBody>
      </p:sp>
      <p:sp>
        <p:nvSpPr>
          <p:cNvPr id="73" name="타원 72"/>
          <p:cNvSpPr/>
          <p:nvPr/>
        </p:nvSpPr>
        <p:spPr>
          <a:xfrm>
            <a:off x="2542510" y="593051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52584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진입 전 등록된 </a:t>
            </a:r>
            <a:r>
              <a:rPr lang="ko-KR" altLang="en-US" dirty="0" err="1"/>
              <a:t>생체인증이</a:t>
            </a:r>
            <a:r>
              <a:rPr lang="ko-KR" altLang="en-US" dirty="0"/>
              <a:t> 있는 경우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로그인을</a:t>
            </a:r>
            <a:r>
              <a:rPr lang="ko-KR" altLang="en-US" dirty="0"/>
              <a:t> 진행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즉시 로그인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생체인증</a:t>
            </a:r>
            <a:r>
              <a:rPr lang="ko-KR" altLang="en-US" dirty="0"/>
              <a:t> </a:t>
            </a:r>
            <a:r>
              <a:rPr lang="ko-KR" altLang="en-US" dirty="0" err="1"/>
              <a:t>대기화면은</a:t>
            </a:r>
            <a:r>
              <a:rPr lang="ko-KR" altLang="en-US" dirty="0"/>
              <a:t> 시스템에 따름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 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등록 페이지 이동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ko-KR" altLang="en-US" dirty="0">
                <a:sym typeface="Wingdings" panose="05000000000000000000" pitchFamily="2" charset="2"/>
              </a:rPr>
              <a:t>취소 버튼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이전 로그인 선택 화면 이동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8869" y="58533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 smtClean="0">
                <a:latin typeface="+mn-ea"/>
              </a:rPr>
              <a:t>생체인증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3323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편리한 </a:t>
            </a:r>
            <a:r>
              <a:rPr lang="ko-KR" altLang="en-US" sz="900" b="1" dirty="0" err="1">
                <a:latin typeface="+mn-ea"/>
              </a:rPr>
              <a:t>로그인을</a:t>
            </a:r>
            <a:r>
              <a:rPr lang="ko-KR" altLang="en-US" sz="900" b="1" dirty="0">
                <a:latin typeface="+mn-ea"/>
              </a:rPr>
              <a:t> 위해</a:t>
            </a:r>
            <a:endParaRPr lang="en-US" altLang="ko-KR" sz="900" b="1" dirty="0"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ko-KR" altLang="en-US" sz="900" b="1" dirty="0">
                <a:latin typeface="+mn-ea"/>
              </a:rPr>
              <a:t>생체정보를 등록할 수 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2" name="그룹 71"/>
          <p:cNvGrpSpPr/>
          <p:nvPr/>
        </p:nvGrpSpPr>
        <p:grpSpPr>
          <a:xfrm>
            <a:off x="1549317" y="5786374"/>
            <a:ext cx="1667454" cy="306146"/>
            <a:chOff x="3982951" y="3679873"/>
            <a:chExt cx="2255663" cy="306146"/>
          </a:xfrm>
        </p:grpSpPr>
        <p:sp>
          <p:nvSpPr>
            <p:cNvPr id="88" name="모서리가 둥근 직사각형 8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등록하기</a:t>
              </a:r>
            </a:p>
          </p:txBody>
        </p:sp>
      </p:grpSp>
      <p:grpSp>
        <p:nvGrpSpPr>
          <p:cNvPr id="90" name="그룹 89"/>
          <p:cNvGrpSpPr/>
          <p:nvPr/>
        </p:nvGrpSpPr>
        <p:grpSpPr>
          <a:xfrm>
            <a:off x="846055" y="5786374"/>
            <a:ext cx="626335" cy="306146"/>
            <a:chOff x="3982951" y="3679873"/>
            <a:chExt cx="2255663" cy="306146"/>
          </a:xfrm>
        </p:grpSpPr>
        <p:sp>
          <p:nvSpPr>
            <p:cNvPr id="91" name="모서리가 둥근 직사각형 9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취소</a:t>
              </a:r>
            </a:p>
          </p:txBody>
        </p:sp>
      </p:grpSp>
      <p:grpSp>
        <p:nvGrpSpPr>
          <p:cNvPr id="93" name="그룹 92"/>
          <p:cNvGrpSpPr/>
          <p:nvPr/>
        </p:nvGrpSpPr>
        <p:grpSpPr>
          <a:xfrm>
            <a:off x="705041" y="4962893"/>
            <a:ext cx="2652743" cy="612161"/>
            <a:chOff x="734683" y="4769159"/>
            <a:chExt cx="2652743" cy="612161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734683" y="4769159"/>
              <a:ext cx="2652743" cy="61216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로그인은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생체인증이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가능한 디바이스에서 등록 후 이용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97" name="타원 96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그룹 97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1549301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</a:t>
            </a:r>
            <a:r>
              <a:rPr lang="en-US" altLang="ko-KR" dirty="0"/>
              <a:t> </a:t>
            </a:r>
            <a:r>
              <a:rPr lang="ko-KR" altLang="en-US" dirty="0"/>
              <a:t>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Any-ID </a:t>
            </a:r>
            <a:r>
              <a:rPr lang="ko-KR" altLang="en-US" dirty="0"/>
              <a:t>본인 </a:t>
            </a:r>
            <a:r>
              <a:rPr lang="ko-KR" altLang="en-US" dirty="0" smtClean="0"/>
              <a:t>인증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MUI-CM-03-M03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endParaRPr lang="en-US" altLang="ko-KR" dirty="0" smtClean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우측에 표시된 인증방식 사용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2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번 항</a:t>
            </a:r>
            <a:r>
              <a:rPr lang="en-US" altLang="ko-KR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MUI-CM-03-M03</a:t>
            </a:r>
            <a:r>
              <a:rPr lang="ko-KR" altLang="en-US" sz="1000" dirty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sz="10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의 일부 항목 제거하고 사용됨</a:t>
            </a:r>
            <a:r>
              <a:rPr lang="en-US" altLang="ko-KR" sz="10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.</a:t>
            </a:r>
            <a:endParaRPr lang="ko-KR" altLang="en-US" sz="1000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생체인증등록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67830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3" name="그룹 52"/>
          <p:cNvGrpSpPr/>
          <p:nvPr/>
        </p:nvGrpSpPr>
        <p:grpSpPr>
          <a:xfrm>
            <a:off x="903581" y="3198842"/>
            <a:ext cx="2255663" cy="306146"/>
            <a:chOff x="3982951" y="3679873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성명을 입력해주세요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05990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059907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543835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41399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903581" y="256112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66033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아이디를 입력해주세요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05041" y="4959509"/>
            <a:ext cx="2652743" cy="638164"/>
            <a:chOff x="734683" y="4769160"/>
            <a:chExt cx="2652743" cy="638164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734683" y="4769160"/>
              <a:ext cx="2652743" cy="63816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사용자 정보를 입력한 후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간편인증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또는 본인인증을 진행하면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디바이스에 저장된 생체정보를 사용할 수 있습니다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2" name="그룹 10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3" name="직선 연결선 10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4" name="직선 연결선 10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419041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902878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38191" y="5786374"/>
            <a:ext cx="2386443" cy="306146"/>
            <a:chOff x="3982951" y="3679873"/>
            <a:chExt cx="2255663" cy="306146"/>
          </a:xfrm>
        </p:grpSpPr>
        <p:sp>
          <p:nvSpPr>
            <p:cNvPr id="115" name="모서리가 둥근 직사각형 114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인증하기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1969936"/>
            <a:ext cx="207913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 err="1" smtClean="0">
                <a:latin typeface="+mn-ea"/>
              </a:rPr>
              <a:t>생체인증</a:t>
            </a:r>
            <a:r>
              <a:rPr lang="ko-KR" altLang="en-US" sz="900" b="1" dirty="0" smtClean="0">
                <a:latin typeface="+mn-ea"/>
              </a:rPr>
              <a:t> 등록</a:t>
            </a:r>
            <a:endParaRPr lang="ko-KR" altLang="en-US" sz="900" b="1" dirty="0">
              <a:latin typeface="+mn-ea"/>
            </a:endParaRPr>
          </a:p>
        </p:txBody>
      </p:sp>
      <p:grpSp>
        <p:nvGrpSpPr>
          <p:cNvPr id="69" name="그룹 6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0" name="직사각형 6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인증하기로 수정함</a:t>
              </a:r>
              <a:r>
                <a:rPr lang="en-US" altLang="ko-KR" sz="700" dirty="0" smtClean="0"/>
                <a:t>.</a:t>
              </a:r>
              <a:endParaRPr lang="ko-KR" altLang="en-US" sz="700" dirty="0"/>
            </a:p>
          </p:txBody>
        </p:sp>
      </p:grpSp>
      <p:sp>
        <p:nvSpPr>
          <p:cNvPr id="73" name="모서리가 둥근 직사각형 72"/>
          <p:cNvSpPr/>
          <p:nvPr/>
        </p:nvSpPr>
        <p:spPr>
          <a:xfrm>
            <a:off x="4117524" y="256883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266804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간편인증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4117524" y="2953894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053106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모바일 신분증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117524" y="3334888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434100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공동인증서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4117524" y="3719946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570385" y="3819158"/>
            <a:ext cx="138019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금융인증서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86" name="타원 85"/>
          <p:cNvSpPr/>
          <p:nvPr/>
        </p:nvSpPr>
        <p:spPr>
          <a:xfrm>
            <a:off x="4243828" y="3755831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타원 86"/>
          <p:cNvSpPr/>
          <p:nvPr/>
        </p:nvSpPr>
        <p:spPr>
          <a:xfrm>
            <a:off x="4243828" y="336479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타원 87"/>
          <p:cNvSpPr/>
          <p:nvPr/>
        </p:nvSpPr>
        <p:spPr>
          <a:xfrm>
            <a:off x="4243828" y="2992962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/>
          <p:cNvSpPr/>
          <p:nvPr/>
        </p:nvSpPr>
        <p:spPr>
          <a:xfrm>
            <a:off x="4243828" y="2606276"/>
            <a:ext cx="237787" cy="23778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0" name="그룹 89"/>
          <p:cNvGrpSpPr/>
          <p:nvPr/>
        </p:nvGrpSpPr>
        <p:grpSpPr>
          <a:xfrm rot="16200000" flipH="1">
            <a:off x="6140104" y="2698407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 flipH="1">
            <a:off x="6140105" y="3083465"/>
            <a:ext cx="94010" cy="47005"/>
            <a:chOff x="6812560" y="3297172"/>
            <a:chExt cx="94010" cy="47005"/>
          </a:xfrm>
        </p:grpSpPr>
        <p:cxnSp>
          <p:nvCxnSpPr>
            <p:cNvPr id="105" name="직선 연결선 1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0" name="그룹 109"/>
          <p:cNvGrpSpPr/>
          <p:nvPr/>
        </p:nvGrpSpPr>
        <p:grpSpPr>
          <a:xfrm rot="16200000" flipH="1">
            <a:off x="6140105" y="3464459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7" name="직선 연결선 1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8" name="그룹 117"/>
          <p:cNvGrpSpPr/>
          <p:nvPr/>
        </p:nvGrpSpPr>
        <p:grpSpPr>
          <a:xfrm rot="16200000" flipH="1">
            <a:off x="6140106" y="3849517"/>
            <a:ext cx="94010" cy="47005"/>
            <a:chOff x="6812560" y="3297172"/>
            <a:chExt cx="94010" cy="47005"/>
          </a:xfrm>
        </p:grpSpPr>
        <p:cxnSp>
          <p:nvCxnSpPr>
            <p:cNvPr id="119" name="직선 연결선 11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0" name="직선 연결선 11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1" name="타원 1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89341" y="23495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6266011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본인 </a:t>
            </a:r>
            <a:r>
              <a:rPr lang="ko-KR" altLang="en-US" dirty="0"/>
              <a:t>인증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메시지는 좌측 화면으로 복귀하여 토스트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ym typeface="Wingdings" panose="05000000000000000000" pitchFamily="2" charset="2"/>
              </a:rPr>
              <a:t> “</a:t>
            </a:r>
            <a:r>
              <a:rPr lang="ko-KR" altLang="en-US" dirty="0">
                <a:sym typeface="Wingdings" panose="05000000000000000000" pitchFamily="2" charset="2"/>
              </a:rPr>
              <a:t>회원정보가 없습니다</a:t>
            </a:r>
            <a:r>
              <a:rPr lang="en-US" altLang="ko-KR" dirty="0">
                <a:sym typeface="Wingdings" panose="05000000000000000000" pitchFamily="2" charset="2"/>
              </a:rPr>
              <a:t>.” </a:t>
            </a:r>
            <a:r>
              <a:rPr lang="ko-KR" altLang="en-US" dirty="0">
                <a:sym typeface="Wingdings" panose="05000000000000000000" pitchFamily="2" charset="2"/>
              </a:rPr>
              <a:t>등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버튼 표시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생체인증</a:t>
            </a:r>
            <a:r>
              <a:rPr lang="ko-KR" altLang="en-US" dirty="0">
                <a:sym typeface="Wingdings" panose="05000000000000000000" pitchFamily="2" charset="2"/>
              </a:rPr>
              <a:t> 로그인 진행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로그인 성공 시 메인 화면 </a:t>
            </a:r>
            <a:r>
              <a:rPr lang="ko-KR" altLang="en-US" dirty="0" smtClean="0">
                <a:sym typeface="Wingdings" panose="05000000000000000000" pitchFamily="2" charset="2"/>
              </a:rPr>
              <a:t>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생체인증등록완료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등록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생체인증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MUI-CM-03-M20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생체인증</a:t>
            </a:r>
            <a:r>
              <a:rPr lang="ko-KR" altLang="en-US" sz="800" dirty="0">
                <a:latin typeface="+mn-ea"/>
              </a:rPr>
              <a:t>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863" y="58289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719271" y="2419419"/>
            <a:ext cx="2624283" cy="3673101"/>
            <a:chOff x="737559" y="2419419"/>
            <a:chExt cx="2624283" cy="3673101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346145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900" b="1" dirty="0">
                  <a:latin typeface="+mn-ea"/>
                </a:rPr>
                <a:t>본인 인증이 완료되었습니다</a:t>
              </a:r>
              <a:r>
                <a:rPr lang="en-US" altLang="ko-KR" sz="900" b="1" dirty="0">
                  <a:latin typeface="+mn-ea"/>
                </a:rPr>
                <a:t>.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7128" y="3651557"/>
              <a:ext cx="2305144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dirty="0">
                  <a:latin typeface="+mn-ea"/>
                </a:rPr>
                <a:t>디바이스에 등록된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>
                  <a:latin typeface="+mn-ea"/>
                </a:rPr>
                <a:t>모든 </a:t>
              </a:r>
              <a:r>
                <a:rPr lang="ko-KR" altLang="en-US" sz="800" dirty="0" err="1">
                  <a:latin typeface="+mn-ea"/>
                </a:rPr>
                <a:t>얼굴정보</a:t>
              </a:r>
              <a:r>
                <a:rPr lang="en-US" altLang="ko-KR" sz="800" dirty="0">
                  <a:latin typeface="+mn-ea"/>
                </a:rPr>
                <a:t>, </a:t>
              </a:r>
              <a:r>
                <a:rPr lang="ko-KR" altLang="en-US" sz="800" dirty="0">
                  <a:latin typeface="+mn-ea"/>
                </a:rPr>
                <a:t>지문정보를</a:t>
              </a:r>
              <a:r>
                <a:rPr lang="en-US" altLang="ko-KR" sz="800" dirty="0">
                  <a:latin typeface="+mn-ea"/>
                </a:rPr>
                <a:t> </a:t>
              </a:r>
              <a:r>
                <a:rPr lang="ko-KR" altLang="en-US" sz="800" dirty="0">
                  <a:latin typeface="+mn-ea"/>
                </a:rPr>
                <a:t>이용하여</a:t>
              </a:r>
              <a:endParaRPr lang="en-US" altLang="ko-KR" sz="800" dirty="0">
                <a:latin typeface="+mn-ea"/>
              </a:endParaRPr>
            </a:p>
            <a:p>
              <a:pPr algn="ctr"/>
              <a:r>
                <a:rPr lang="ko-KR" altLang="en-US" sz="800" dirty="0" err="1">
                  <a:latin typeface="+mn-ea"/>
                </a:rPr>
                <a:t>로그인을</a:t>
              </a:r>
              <a:r>
                <a:rPr lang="ko-KR" altLang="en-US" sz="800" dirty="0">
                  <a:latin typeface="+mn-ea"/>
                </a:rPr>
                <a:t> 진행합니다</a:t>
              </a:r>
              <a:r>
                <a:rPr lang="en-US" altLang="ko-KR" sz="800" dirty="0">
                  <a:latin typeface="+mn-ea"/>
                </a:rPr>
                <a:t>.</a:t>
              </a:r>
            </a:p>
          </p:txBody>
        </p:sp>
        <p:sp>
          <p:nvSpPr>
            <p:cNvPr id="126" name="타원 125"/>
            <p:cNvSpPr/>
            <p:nvPr/>
          </p:nvSpPr>
          <p:spPr>
            <a:xfrm>
              <a:off x="1720489" y="2419419"/>
              <a:ext cx="658422" cy="65841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37559" y="5667830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32" name="그룹 131"/>
            <p:cNvGrpSpPr/>
            <p:nvPr/>
          </p:nvGrpSpPr>
          <p:grpSpPr>
            <a:xfrm>
              <a:off x="861782" y="5786374"/>
              <a:ext cx="2370716" cy="306146"/>
              <a:chOff x="3982951" y="3679873"/>
              <a:chExt cx="2255663" cy="306146"/>
            </a:xfrm>
          </p:grpSpPr>
          <p:sp>
            <p:nvSpPr>
              <p:cNvPr id="133" name="모서리가 둥근 직사각형 132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259991" y="3779085"/>
                <a:ext cx="1701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b="1" dirty="0" err="1">
                    <a:solidFill>
                      <a:schemeClr val="bg1"/>
                    </a:solidFill>
                    <a:latin typeface="+mn-ea"/>
                  </a:rPr>
                  <a:t>생체인증</a:t>
                </a:r>
                <a:r>
                  <a:rPr lang="ko-KR" altLang="en-US" sz="700" b="1" dirty="0">
                    <a:solidFill>
                      <a:schemeClr val="bg1"/>
                    </a:solidFill>
                    <a:latin typeface="+mn-ea"/>
                  </a:rPr>
                  <a:t> 로그인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726680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실패한 경우 로그인 선택 화면</a:t>
            </a:r>
            <a:r>
              <a:rPr lang="en-US" altLang="ko-KR" dirty="0"/>
              <a:t> </a:t>
            </a:r>
            <a:r>
              <a:rPr lang="ko-KR" altLang="en-US" dirty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성공한 경우 메인 홈으로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인증성공</a:t>
            </a:r>
            <a:r>
              <a:rPr lang="en-US" altLang="ko-KR" dirty="0"/>
              <a:t>/</a:t>
            </a:r>
            <a:r>
              <a:rPr lang="ko-KR" altLang="en-US" dirty="0" err="1"/>
              <a:t>실패안내</a:t>
            </a:r>
            <a:r>
              <a:rPr lang="ko-KR" altLang="en-US" dirty="0"/>
              <a:t>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 토스트 메시지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 성공 </a:t>
            </a:r>
            <a:r>
              <a:rPr lang="en-US" altLang="ko-KR" dirty="0">
                <a:latin typeface="+mn-ea"/>
              </a:rPr>
              <a:t>/ </a:t>
            </a:r>
            <a:r>
              <a:rPr lang="ko-KR" altLang="en-US" dirty="0">
                <a:latin typeface="+mn-ea"/>
              </a:rPr>
              <a:t>실패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5" name="모서리가 둥근 직사각형 34"/>
          <p:cNvSpPr/>
          <p:nvPr/>
        </p:nvSpPr>
        <p:spPr>
          <a:xfrm>
            <a:off x="1337508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인증에 실패 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371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8640229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675398" y="1854537"/>
            <a:ext cx="2712028" cy="4377762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카메라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QR </a:t>
            </a:r>
            <a:r>
              <a:rPr lang="ko-KR" altLang="en-US" dirty="0"/>
              <a:t>스캔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PC </a:t>
            </a:r>
            <a:r>
              <a:rPr lang="ko-KR" altLang="en-US" dirty="0"/>
              <a:t>로그인 성공</a:t>
            </a:r>
            <a:r>
              <a:rPr lang="en-US" altLang="ko-KR" dirty="0"/>
              <a:t>, </a:t>
            </a:r>
            <a:r>
              <a:rPr lang="ko-KR" altLang="en-US" dirty="0"/>
              <a:t>실패 시 토스트 메시지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PCQR</a:t>
            </a:r>
            <a:r>
              <a:rPr lang="ko-KR" altLang="en-US" dirty="0"/>
              <a:t>로그인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PC</a:t>
            </a:r>
            <a:r>
              <a:rPr lang="ko-KR" altLang="en-US" dirty="0">
                <a:latin typeface="+mn-ea"/>
              </a:rPr>
              <a:t>화면의 </a:t>
            </a:r>
            <a:r>
              <a:rPr lang="en-US" altLang="ko-KR" dirty="0">
                <a:latin typeface="+mn-ea"/>
              </a:rPr>
              <a:t>QR</a:t>
            </a:r>
            <a:r>
              <a:rPr lang="ko-KR" altLang="en-US" dirty="0">
                <a:latin typeface="+mn-ea"/>
              </a:rPr>
              <a:t>코드를 앱에서 읽어 </a:t>
            </a:r>
            <a:r>
              <a:rPr lang="en-US" altLang="ko-KR" dirty="0">
                <a:latin typeface="+mn-ea"/>
              </a:rPr>
              <a:t>PC </a:t>
            </a:r>
            <a:r>
              <a:rPr lang="ko-KR" altLang="en-US" dirty="0">
                <a:latin typeface="+mn-ea"/>
              </a:rPr>
              <a:t>로그인 시키는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</a:t>
            </a:r>
            <a:r>
              <a:rPr lang="en-US" altLang="ko-KR" dirty="0">
                <a:latin typeface="+mn-ea"/>
              </a:rPr>
              <a:t>&gt; PC QR </a:t>
            </a:r>
            <a:r>
              <a:rPr lang="ko-KR" altLang="en-US" dirty="0">
                <a:latin typeface="+mn-ea"/>
              </a:rPr>
              <a:t>로그인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MUI-CM-03-M17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0901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 smtClean="0">
                <a:latin typeface="+mn-ea"/>
              </a:rPr>
              <a:t>PC QR </a:t>
            </a:r>
            <a:r>
              <a:rPr lang="ko-KR" altLang="en-US" sz="800" dirty="0" smtClean="0">
                <a:latin typeface="+mn-ea"/>
              </a:rPr>
              <a:t>로그인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6" name="그룹 55"/>
          <p:cNvGrpSpPr/>
          <p:nvPr/>
        </p:nvGrpSpPr>
        <p:grpSpPr>
          <a:xfrm rot="5400000">
            <a:off x="749842" y="1640499"/>
            <a:ext cx="94010" cy="47005"/>
            <a:chOff x="6812560" y="3297172"/>
            <a:chExt cx="94010" cy="47005"/>
          </a:xfrm>
        </p:grpSpPr>
        <p:cxnSp>
          <p:nvCxnSpPr>
            <p:cNvPr id="57" name="직선 연결선 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직선 연결선 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9" name="타원 58"/>
          <p:cNvSpPr/>
          <p:nvPr/>
        </p:nvSpPr>
        <p:spPr>
          <a:xfrm>
            <a:off x="3039366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534732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800" dirty="0">
                <a:latin typeface="+mn-ea"/>
              </a:rPr>
              <a:t>카메라에 </a:t>
            </a:r>
            <a:r>
              <a:rPr lang="en-US" altLang="ko-KR" sz="800" dirty="0">
                <a:latin typeface="+mn-ea"/>
              </a:rPr>
              <a:t>PC </a:t>
            </a:r>
            <a:r>
              <a:rPr lang="ko-KR" altLang="en-US" sz="800" dirty="0">
                <a:latin typeface="+mn-ea"/>
              </a:rPr>
              <a:t>화면</a:t>
            </a:r>
            <a:r>
              <a:rPr lang="en-US" altLang="ko-KR" sz="800" dirty="0">
                <a:latin typeface="+mn-ea"/>
              </a:rPr>
              <a:t> QR </a:t>
            </a:r>
            <a:r>
              <a:rPr lang="ko-KR" altLang="en-US" sz="800" dirty="0">
                <a:latin typeface="+mn-ea"/>
              </a:rPr>
              <a:t>코드를 스캔해주세요</a:t>
            </a:r>
            <a:r>
              <a:rPr lang="en-US" altLang="ko-KR" sz="800" dirty="0">
                <a:latin typeface="+mn-ea"/>
              </a:rPr>
              <a:t>.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1193342" y="2824417"/>
            <a:ext cx="1676140" cy="167614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065789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background</a:t>
            </a:r>
            <a:r>
              <a:rPr lang="ko-KR" altLang="en-US" dirty="0"/>
              <a:t>에서 복귀 시 </a:t>
            </a:r>
            <a:r>
              <a:rPr lang="ko-KR" altLang="en-US" dirty="0" smtClean="0"/>
              <a:t>안내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백그라운드 앱 상태에서 오래 머물러 연결이 끊어진 경우</a:t>
            </a:r>
            <a:r>
              <a:rPr lang="en-US" altLang="ko-KR" dirty="0"/>
              <a:t>, </a:t>
            </a:r>
            <a:r>
              <a:rPr lang="ko-KR" altLang="en-US" dirty="0" err="1"/>
              <a:t>재로그인</a:t>
            </a:r>
            <a:r>
              <a:rPr lang="ko-KR" altLang="en-US" dirty="0"/>
              <a:t>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햄버거 메뉴에서 로그아웃 버튼을 클릭한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메인 페이지로 이동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로그아웃안내 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로그아웃 안내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18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1384229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모서리가 둥근 직사각형 13"/>
          <p:cNvSpPr/>
          <p:nvPr/>
        </p:nvSpPr>
        <p:spPr>
          <a:xfrm>
            <a:off x="1384229" y="584517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6" name="직사각형 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2026-06-18 </a:t>
              </a:r>
              <a:r>
                <a:rPr lang="ko-KR" altLang="en-US" dirty="0" smtClean="0"/>
                <a:t>문구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타임아웃 설명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98161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로그인이</a:t>
            </a:r>
            <a:r>
              <a:rPr lang="ko-KR" altLang="en-US" dirty="0"/>
              <a:t> 필요한 서비스 메뉴에 접근하는 경우 노출되는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로그인 하기 버튼 클릭 시 로그인 선택 화면으로 </a:t>
            </a:r>
            <a:r>
              <a:rPr lang="ko-KR" altLang="en-US" dirty="0" smtClean="0"/>
              <a:t>이동</a:t>
            </a:r>
            <a:r>
              <a:rPr lang="en-US" altLang="ko-KR" dirty="0"/>
              <a:t> </a:t>
            </a:r>
            <a:r>
              <a:rPr lang="en-US" altLang="ko-KR" dirty="0" smtClean="0"/>
              <a:t>MUI-CM-03-M01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로그인 이후 </a:t>
            </a:r>
            <a:r>
              <a:rPr lang="ko-KR" altLang="en-US" dirty="0" err="1" smtClean="0"/>
              <a:t>메인홈으로</a:t>
            </a:r>
            <a:r>
              <a:rPr lang="ko-KR" altLang="en-US" dirty="0" smtClean="0"/>
              <a:t>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-</a:t>
            </a:r>
            <a:r>
              <a:rPr lang="en-US" altLang="ko-KR" dirty="0" smtClean="0"/>
              <a:t> </a:t>
            </a:r>
            <a:r>
              <a:rPr lang="ko-KR" altLang="en-US" dirty="0" smtClean="0"/>
              <a:t>만약 </a:t>
            </a:r>
            <a:r>
              <a:rPr lang="ko-KR" altLang="en-US" dirty="0" err="1" smtClean="0"/>
              <a:t>생체인증이</a:t>
            </a:r>
            <a:r>
              <a:rPr lang="ko-KR" altLang="en-US" dirty="0" smtClean="0"/>
              <a:t> 등록된 경우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처리 후 진입하고자 했던 화면으로 이동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로그인필요서비스안내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비로그인</a:t>
            </a:r>
            <a:r>
              <a:rPr lang="ko-KR" altLang="en-US" dirty="0"/>
              <a:t> 상태에서 로그인 서비스 사용 </a:t>
            </a:r>
            <a:r>
              <a:rPr lang="ko-KR" altLang="en-US" dirty="0" err="1"/>
              <a:t>시도시</a:t>
            </a:r>
            <a:r>
              <a:rPr lang="ko-KR" altLang="en-US" dirty="0"/>
              <a:t> 노출되는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dirty="0"/>
              <a:t>-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MUI-CM-03-P19</a:t>
            </a:r>
            <a:endParaRPr lang="ko-KR" altLang="en-US" sz="1000" dirty="0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616" y="2865173"/>
            <a:ext cx="172130" cy="172130"/>
          </a:xfrm>
          <a:prstGeom prst="ellipse">
            <a:avLst/>
          </a:pr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743977" y="3253736"/>
            <a:ext cx="2579992" cy="1200743"/>
            <a:chOff x="3859820" y="2317399"/>
            <a:chExt cx="2579992" cy="1200743"/>
          </a:xfrm>
        </p:grpSpPr>
        <p:sp>
          <p:nvSpPr>
            <p:cNvPr id="32" name="모서리가 둥근 직사각형 31"/>
            <p:cNvSpPr/>
            <p:nvPr/>
          </p:nvSpPr>
          <p:spPr>
            <a:xfrm>
              <a:off x="385982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0265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로그인 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3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97751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7751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안내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9724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해당 서비스를 사용하기 위해서는 </a:t>
              </a:r>
              <a:r>
                <a:rPr lang="ko-KR" altLang="en-US" sz="700" dirty="0" err="1">
                  <a:latin typeface="+mn-ea"/>
                </a:rPr>
                <a:t>로그인이</a:t>
              </a:r>
              <a:r>
                <a:rPr lang="ko-KR" altLang="en-US" sz="700" dirty="0">
                  <a:latin typeface="+mn-ea"/>
                </a:rPr>
                <a:t> 필요합니다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지금 바로 로그인 하시겠습니까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46" name="그룹 45"/>
            <p:cNvGrpSpPr/>
            <p:nvPr/>
          </p:nvGrpSpPr>
          <p:grpSpPr>
            <a:xfrm>
              <a:off x="6188648" y="2464129"/>
              <a:ext cx="94010" cy="94010"/>
              <a:chOff x="6812560" y="3297172"/>
              <a:chExt cx="94010" cy="94010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8" name="직선 연결선 47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0337842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2. </a:t>
            </a:r>
            <a:r>
              <a:rPr lang="ko-KR" altLang="en-US" dirty="0" err="1"/>
              <a:t>마이페이지</a:t>
            </a:r>
            <a:r>
              <a:rPr lang="ko-KR" altLang="en-US" dirty="0"/>
              <a:t> 메뉴</a:t>
            </a:r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1/5)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1438351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마이페이지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마이페이지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서브 메인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나의진행업무현황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세부스텝팝업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진행중인 이력 정보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스탭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표시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782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나의업무이력현황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종료된 이력정보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myTaskHstry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MyPrgrsHstryDtl.tsx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관심입찰공고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입찰공고 목록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ItrstBidPbancPage.tsx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업무캘린더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 표시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입찰서 제출일 등 조달업무 관련 캘린더 표시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개별 등록한 일정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MUI-CM-06-M07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일정상세정보팝업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업무 일정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는 해당 공고로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개인이 등록한 일정은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시트로 추가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88000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MUI-CM-06-M08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개별 등록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7734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즐겨찾기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개인이 등록한 일정 삭제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TaskCldrDelPage.tsx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76570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t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MUI-CM-06-M10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보낸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받은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 문서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DocBoxPage.tsx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823180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문서함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71371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문서정보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내용 표시 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DocBoxDtl_Info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312154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첨언상세보기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DocBoxDtl_AtchOpnn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상세 내용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DocBoxDtl_AtchOpnn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67596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MUI-CM-06-T03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첨부파일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상세 내용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docBoxDtl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DocBoxDtl_Atch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02690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개인별수신처관리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개인별 수신처 내역 표시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IndvRcofcMng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UC-ZZ-11-06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717066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8268680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2/5)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9580685"/>
              </p:ext>
            </p:extLst>
          </p:nvPr>
        </p:nvGraphicFramePr>
        <p:xfrm>
          <a:off x="635474" y="1413419"/>
          <a:ext cx="8701200" cy="488926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관심법령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ItrstSttPage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중 사용자가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즐겨찾기한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법령 목록 표시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ItrstSttPage.tsx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39258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나의게시물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MyPstPage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내가 작성한 게시물을 모아볼 수 있는 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MyPstPage.tsx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UC-ZZ-11-03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12172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디지털캐비닛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디지털 캐비닛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사용자가 등록한 자료 폴더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209189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폴더설정권한관리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설정 권한 관리 팝업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MdigitalCabinetMng.tsx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479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MUI-CM-06-M16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폴더내파일목록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폴더 내 파일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DigitalCabinetFileListPage.tsx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UC-ZZ-17-01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4346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정보 진입 버튼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141068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업체정보상세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BzentyGnrlInfoDtlPage.tsx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06272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업체일반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자신이 속한 업체 정보 탭 표시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bzentyGnrlInfoDtl_Gnrl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010601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bzentyGnrlInfoDtl_Cmdty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9369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bzentyGnrlInfoDtl_Fclt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63636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자신이 속한 업체 정보 탭 표시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bzentyGnrlInfoDtl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bzentyGnrlInfoDtl_DmsAgt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781249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ID</a:t>
              </a:r>
              <a:r>
                <a:rPr lang="ko-KR" altLang="en-US" dirty="0" smtClean="0"/>
                <a:t>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등록 </a:t>
              </a:r>
              <a:r>
                <a:rPr lang="en-US" altLang="ko-KR" sz="700" dirty="0" smtClean="0"/>
                <a:t>(MUI-CM-01-M22), </a:t>
              </a:r>
              <a:r>
                <a:rPr lang="ko-KR" altLang="en-US" sz="700" dirty="0"/>
                <a:t>국내소재상사 정보 </a:t>
              </a:r>
              <a:r>
                <a:rPr lang="ko-KR" altLang="en-US" sz="700" dirty="0" smtClean="0"/>
                <a:t>등록 </a:t>
              </a:r>
              <a:r>
                <a:rPr lang="en-US" altLang="ko-KR" sz="700" dirty="0" smtClean="0"/>
                <a:t>(MUI-CM-01-M23) </a:t>
              </a:r>
              <a:r>
                <a:rPr lang="ko-KR" altLang="en-US" sz="700" dirty="0" smtClean="0"/>
                <a:t>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endParaRPr lang="en-US" altLang="ko-KR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4944107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3/5)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488539"/>
              </p:ext>
            </p:extLst>
          </p:nvPr>
        </p:nvGraphicFramePr>
        <p:xfrm>
          <a:off x="635474" y="1413419"/>
          <a:ext cx="8701200" cy="4645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 신청 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AddRegInfoAplyListPage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AddRegInfoAplyList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60533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addRegInfoAplyDtl_Cmdty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947651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MUI-CM-01-T06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국내소재상사신청정보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추가정보신청 상세 탭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addRegInfoAplyDtl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addRegInfoAplyDtl_DmsAgt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522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MUI-CM-01-M05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물품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DmstLctnColInfoAddRegPage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물품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내자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정보 등록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0773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MUI-CM-01-M22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담당자정보저장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dmstLctnColInfoAddReg_Pic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담당자 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_Pic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8428008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MUI-CM-01-M23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국내소재상사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dmstLctnColInfoAddReg_Cmbz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업체정보 추가 등록 중 국내소재상사정보 등록 신청 화면</a:t>
                      </a:r>
                      <a:endParaRPr kumimoji="0" lang="en-US" altLang="ko-KR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_Cmbz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59588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endParaRPr lang="en-US" sz="8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품류선택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KnditmChc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26729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단체선택팝업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조합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단체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AsctGrpChc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0181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등록대상품목선택팝업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등록대상 품목 선택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RegTrgtItemChc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46412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MUI-CM-01-P09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품목조회팝업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조회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보안측정인원등록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ScrtyMsrmtPrsnlReg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진행중인 이력 정보 표시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ItemInq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487025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69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/>
              <a:t>(</a:t>
            </a:r>
            <a:r>
              <a:rPr lang="en-US" altLang="ko-KR" dirty="0" smtClean="0"/>
              <a:t>4/5)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8981396"/>
              </p:ext>
            </p:extLst>
          </p:nvPr>
        </p:nvGraphicFramePr>
        <p:xfrm>
          <a:off x="635474" y="1413419"/>
          <a:ext cx="8701200" cy="452350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FSC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FSCChc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FSC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FSCChc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91686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주거래은행선택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BankChc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주거래은행 선택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BankChc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57416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행정정보공동이용사전동의서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PbamdsInfoJntUtztnBfhdWtcs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행정정보공동이용 </a:t>
                      </a: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사전동의서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PbamdsInfoJntUtztnBfhdWtcs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맑은 고딕" panose="020B0503020000020004" pitchFamily="50" charset="-127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90497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확인팝업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Confirm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확인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dmstLctnColInfoAddReg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Confirm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UC-ZZ-09-02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25977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군수품무역대리업신청및발급목록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DfEqpmntTradeAgncAplyListPage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및 발급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dfEqpmntTradeAgncAplyList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DfEqpmntTradeAgncAplyListPage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425668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MUI-CM-01-M16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신청내역상세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내역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03322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신규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갱신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및 발급 신규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갱신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942424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군수품무역대리업 신청 및 발급 변경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작성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DfEqpmntTradeAgncChgPage.tsx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65690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MUI-CM-01-M19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247023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 신청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DmstSosCnfdocAply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조달원 확인서 신청서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DmstSosCnfdocAply.tsx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UC-ZZ-07-02</a:t>
                      </a:r>
                      <a:endParaRPr lang="ko-KR" altLang="en-US" sz="800" b="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41888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MUI-CM-01-P21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국외조달원등록증신청안내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OvsdmstSosCnfdoc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국외 조달원 등록증 신청 안내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dmstSosCnfdocList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OvsdmstSosCnfdoc.tsx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UC-ZZ-09-01</a:t>
                      </a:r>
                      <a:endParaRPr lang="ko-KR" altLang="en-US" sz="800" b="0" dirty="0">
                        <a:latin typeface="+mn-lt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4958610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1835708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70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endParaRPr lang="en-US" altLang="ko-KR" dirty="0"/>
          </a:p>
          <a:p>
            <a:r>
              <a:rPr lang="en-US" altLang="ko-KR" dirty="0"/>
              <a:t>2.1 </a:t>
            </a:r>
            <a:r>
              <a:rPr lang="ko-KR" altLang="en-US" dirty="0"/>
              <a:t>화면 목록 </a:t>
            </a:r>
            <a:r>
              <a:rPr lang="en-US" altLang="ko-KR" dirty="0" smtClean="0"/>
              <a:t>(5/5)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728683"/>
              </p:ext>
            </p:extLst>
          </p:nvPr>
        </p:nvGraphicFramePr>
        <p:xfrm>
          <a:off x="635474" y="1413419"/>
          <a:ext cx="8701200" cy="422974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사용자정보관리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사용자 정보관리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</a:p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970439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MUI-CM-02-M02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비밀번호인증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생체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인증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IndvCertPage.tsx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849108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 상세 조회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062344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개인정보수정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IndvInfoMdfcnPage.tsx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77318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비밀번호변경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비밀번호 변경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PswdChgPage.tsx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52546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IndvIdntIdntyPage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개인신원확인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6889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MUI-CM-02-M10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인증서관리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CrtfMng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인증서 관리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99962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CrtfIdnty</a:t>
                      </a:r>
                      <a:endParaRPr kumimoji="0" 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개인 인증서 확인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IndvIdntIdntyPage.tsx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UC-ZZ-10-04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61925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업체소속사용자목록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PrcmBzentyUserMngPage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7529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상태변경</a:t>
                      </a:r>
                      <a:endParaRPr kumimoji="0" lang="ko-KR" altLang="en-US" sz="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업체 소속 사용자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변경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prcmBzentyUserMng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PrcmBzentyUserSttsChg.tsx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UC-ZZ-01-03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524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MUI-CM-02-M09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알림서비스신청및해지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설정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744303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MUI-CM-02-P10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회원탈퇴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회원 탈퇴 팝업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notiSrvcAply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MbWithdrawal.tsx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Native App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675565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483731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(1/4)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82" name="직선 화살표 연결선 8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6" idx="6"/>
            <a:endCxn id="73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90" name="직선 화살표 연결선 8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3" idx="3"/>
            <a:endCxn id="88" idx="1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세부 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스탭</a:t>
            </a:r>
            <a:r>
              <a:rPr lang="ko-KR" altLang="en-US" sz="800" dirty="0" smtClean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</a:p>
        </p:txBody>
      </p: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9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89" idx="1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9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358283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387280" y="3479748"/>
            <a:ext cx="180000" cy="180000"/>
            <a:chOff x="5058274" y="2498299"/>
            <a:chExt cx="180000" cy="180000"/>
          </a:xfrm>
        </p:grpSpPr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6039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 링크 </a:t>
            </a:r>
            <a:r>
              <a:rPr lang="ko-KR" altLang="en-US" sz="800" dirty="0" err="1">
                <a:solidFill>
                  <a:schemeClr val="tx1"/>
                </a:solidFill>
              </a:rPr>
              <a:t>웹뷰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1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1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073540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1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988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sp>
        <p:nvSpPr>
          <p:cNvPr id="12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업무캘린더</a:t>
            </a:r>
            <a:r>
              <a:rPr lang="en-US" altLang="ko-KR" sz="800" dirty="0" smtClean="0">
                <a:solidFill>
                  <a:schemeClr val="tx1"/>
                </a:solidFill>
              </a:rPr>
              <a:t/>
            </a:r>
            <a:br>
              <a:rPr lang="en-US" altLang="ko-KR" sz="800" dirty="0" smtClean="0">
                <a:solidFill>
                  <a:schemeClr val="tx1"/>
                </a:solidFill>
              </a:rPr>
            </a:br>
            <a:r>
              <a:rPr lang="ko-KR" altLang="en-US" sz="800" dirty="0" smtClean="0">
                <a:solidFill>
                  <a:schemeClr val="tx1"/>
                </a:solidFill>
              </a:rPr>
              <a:t>일정 </a:t>
            </a:r>
            <a:r>
              <a:rPr lang="ko-KR" altLang="en-US" sz="800" dirty="0">
                <a:solidFill>
                  <a:schemeClr val="tx1"/>
                </a:solidFill>
              </a:rPr>
              <a:t>상세 정보</a:t>
            </a:r>
          </a:p>
        </p:txBody>
      </p:sp>
      <p:sp>
        <p:nvSpPr>
          <p:cNvPr id="12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1628964"/>
            <a:ext cx="900000" cy="2880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상세내역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페이지 이동</a:t>
            </a:r>
          </a:p>
        </p:txBody>
      </p:sp>
      <p:cxnSp>
        <p:nvCxnSpPr>
          <p:cNvPr id="12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3" idx="1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6" idx="1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97" idx="1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2" idx="1"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3" idx="1"/>
          </p:cNvCxnSpPr>
          <p:nvPr/>
        </p:nvCxnSpPr>
        <p:spPr>
          <a:xfrm>
            <a:off x="2495193" y="1772964"/>
            <a:ext cx="931134" cy="31417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5" idx="1"/>
          </p:cNvCxnSpPr>
          <p:nvPr/>
        </p:nvCxnSpPr>
        <p:spPr>
          <a:xfrm>
            <a:off x="2495193" y="1772964"/>
            <a:ext cx="931134" cy="359138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6" idx="1"/>
          </p:cNvCxnSpPr>
          <p:nvPr/>
        </p:nvCxnSpPr>
        <p:spPr>
          <a:xfrm>
            <a:off x="2495193" y="1772964"/>
            <a:ext cx="931134" cy="40410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17" idx="1"/>
          </p:cNvCxnSpPr>
          <p:nvPr/>
        </p:nvCxnSpPr>
        <p:spPr>
          <a:xfrm>
            <a:off x="2495193" y="1772964"/>
            <a:ext cx="931134" cy="44907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 삭제</a:t>
            </a: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8" idx="3"/>
            <a:endCxn id="92" idx="1"/>
          </p:cNvCxnSpPr>
          <p:nvPr/>
        </p:nvCxnSpPr>
        <p:spPr>
          <a:xfrm>
            <a:off x="4326327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직선 화살표 연결선 13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89" idx="3"/>
            <a:endCxn id="118" idx="1"/>
          </p:cNvCxnSpPr>
          <p:nvPr/>
        </p:nvCxnSpPr>
        <p:spPr>
          <a:xfrm flipV="1">
            <a:off x="4326327" y="2217540"/>
            <a:ext cx="931134" cy="5099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3" idx="3"/>
            <a:endCxn id="119" idx="1"/>
          </p:cNvCxnSpPr>
          <p:nvPr/>
        </p:nvCxnSpPr>
        <p:spPr>
          <a:xfrm>
            <a:off x="4321277" y="2672314"/>
            <a:ext cx="936184" cy="674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직선 화살표 연결선 13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6" idx="3"/>
            <a:endCxn id="120" idx="1"/>
          </p:cNvCxnSpPr>
          <p:nvPr/>
        </p:nvCxnSpPr>
        <p:spPr>
          <a:xfrm>
            <a:off x="4326327" y="3121989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직선 화살표 연결선 1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12" idx="3"/>
            <a:endCxn id="111" idx="1"/>
          </p:cNvCxnSpPr>
          <p:nvPr/>
        </p:nvCxnSpPr>
        <p:spPr>
          <a:xfrm>
            <a:off x="4326327" y="4465003"/>
            <a:ext cx="931134" cy="135503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2" idx="3"/>
            <a:endCxn id="121" idx="1"/>
          </p:cNvCxnSpPr>
          <p:nvPr/>
        </p:nvCxnSpPr>
        <p:spPr>
          <a:xfrm>
            <a:off x="6157461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1" idx="3"/>
            <a:endCxn id="106" idx="2"/>
          </p:cNvCxnSpPr>
          <p:nvPr/>
        </p:nvCxnSpPr>
        <p:spPr>
          <a:xfrm>
            <a:off x="7988595" y="1772964"/>
            <a:ext cx="398685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8" idx="3"/>
            <a:endCxn id="106" idx="2"/>
          </p:cNvCxnSpPr>
          <p:nvPr/>
        </p:nvCxnSpPr>
        <p:spPr>
          <a:xfrm>
            <a:off x="6157461" y="2217540"/>
            <a:ext cx="2229819" cy="1352208"/>
          </a:xfrm>
          <a:prstGeom prst="bentConnector3">
            <a:avLst>
              <a:gd name="adj1" fmla="val 9100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9" idx="3"/>
            <a:endCxn id="106" idx="2"/>
          </p:cNvCxnSpPr>
          <p:nvPr/>
        </p:nvCxnSpPr>
        <p:spPr>
          <a:xfrm>
            <a:off x="6157461" y="2672988"/>
            <a:ext cx="2229819" cy="896760"/>
          </a:xfrm>
          <a:prstGeom prst="bentConnector3">
            <a:avLst>
              <a:gd name="adj1" fmla="val 9100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11" idx="3"/>
            <a:endCxn id="106" idx="2"/>
          </p:cNvCxnSpPr>
          <p:nvPr/>
        </p:nvCxnSpPr>
        <p:spPr>
          <a:xfrm flipV="1">
            <a:off x="6157461" y="3569748"/>
            <a:ext cx="2229819" cy="2250291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상세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cxnSp>
        <p:nvCxnSpPr>
          <p:cNvPr id="1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43" idx="1"/>
          </p:cNvCxnSpPr>
          <p:nvPr/>
        </p:nvCxnSpPr>
        <p:spPr>
          <a:xfrm>
            <a:off x="4326327" y="3569748"/>
            <a:ext cx="931134" cy="45159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20" idx="3"/>
            <a:endCxn id="130" idx="1"/>
          </p:cNvCxnSpPr>
          <p:nvPr/>
        </p:nvCxnSpPr>
        <p:spPr>
          <a:xfrm>
            <a:off x="6157461" y="3121989"/>
            <a:ext cx="931134" cy="44775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개인별수신처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관리</a:t>
            </a:r>
          </a:p>
        </p:txBody>
      </p:sp>
      <p:cxnSp>
        <p:nvCxnSpPr>
          <p:cNvPr id="1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7" idx="3"/>
            <a:endCxn id="146" idx="1"/>
          </p:cNvCxnSpPr>
          <p:nvPr/>
        </p:nvCxnSpPr>
        <p:spPr>
          <a:xfrm>
            <a:off x="4326327" y="3569748"/>
            <a:ext cx="931134" cy="89525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3" idx="3"/>
            <a:endCxn id="106" idx="2"/>
          </p:cNvCxnSpPr>
          <p:nvPr/>
        </p:nvCxnSpPr>
        <p:spPr>
          <a:xfrm flipV="1">
            <a:off x="6157461" y="3569748"/>
            <a:ext cx="2229819" cy="451590"/>
          </a:xfrm>
          <a:prstGeom prst="bentConnector3">
            <a:avLst>
              <a:gd name="adj1" fmla="val 91398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46" idx="3"/>
            <a:endCxn id="106" idx="2"/>
          </p:cNvCxnSpPr>
          <p:nvPr/>
        </p:nvCxnSpPr>
        <p:spPr>
          <a:xfrm flipV="1">
            <a:off x="6157461" y="3569748"/>
            <a:ext cx="2229819" cy="895255"/>
          </a:xfrm>
          <a:prstGeom prst="bentConnector3">
            <a:avLst>
              <a:gd name="adj1" fmla="val 91007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7461" y="6033380"/>
            <a:ext cx="1205458" cy="923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외부 브라우저 사용될 수 있음</a:t>
            </a:r>
          </a:p>
        </p:txBody>
      </p:sp>
      <p:sp>
        <p:nvSpPr>
          <p:cNvPr id="1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cxnSp>
        <p:nvCxnSpPr>
          <p:cNvPr id="15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3" idx="3"/>
            <a:endCxn id="152" idx="1"/>
          </p:cNvCxnSpPr>
          <p:nvPr/>
        </p:nvCxnSpPr>
        <p:spPr>
          <a:xfrm>
            <a:off x="2495193" y="1772964"/>
            <a:ext cx="931134" cy="224837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93645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 등록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 smtClean="0">
                <a:solidFill>
                  <a:schemeClr val="tx1"/>
                </a:solidFill>
              </a:rPr>
              <a:t>수정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20" idx="3"/>
            <a:endCxn id="154" idx="1"/>
          </p:cNvCxnSpPr>
          <p:nvPr/>
        </p:nvCxnSpPr>
        <p:spPr>
          <a:xfrm>
            <a:off x="6157461" y="3121989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4" idx="3"/>
            <a:endCxn id="106" idx="2"/>
          </p:cNvCxnSpPr>
          <p:nvPr/>
        </p:nvCxnSpPr>
        <p:spPr>
          <a:xfrm>
            <a:off x="7993645" y="3121989"/>
            <a:ext cx="393635" cy="44775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직선 화살표 연결선 156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0" idx="3"/>
            <a:endCxn id="106" idx="2"/>
          </p:cNvCxnSpPr>
          <p:nvPr/>
        </p:nvCxnSpPr>
        <p:spPr>
          <a:xfrm>
            <a:off x="7988595" y="3569748"/>
            <a:ext cx="398685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89592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(2/4)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15287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60254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05222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50189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cxnSp>
        <p:nvCxnSpPr>
          <p:cNvPr id="1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</p:cNvCxnSpPr>
          <p:nvPr/>
        </p:nvCxnSpPr>
        <p:spPr>
          <a:xfrm>
            <a:off x="2495193" y="1772964"/>
            <a:ext cx="931134" cy="269203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" name="그룹 8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92" name="직사각형 9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94" name="직사각형 9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추가정보 신청 목록에서 업체정보 추가등록으로 이동하는 편의 기능 제거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상위 서브 </a:t>
              </a:r>
              <a:r>
                <a:rPr lang="ko-KR" altLang="en-US" sz="700" dirty="0" err="1" smtClean="0"/>
                <a:t>메인에</a:t>
              </a:r>
              <a:r>
                <a:rPr lang="ko-KR" altLang="en-US" sz="700" dirty="0" smtClean="0"/>
                <a:t> 존재하는 버튼을 통해서 진입</a:t>
              </a:r>
              <a:endParaRPr lang="en-US" altLang="ko-KR" sz="700" dirty="0"/>
            </a:p>
          </p:txBody>
        </p:sp>
      </p:grpSp>
      <p:sp>
        <p:nvSpPr>
          <p:cNvPr id="9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2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13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4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14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3676006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479748"/>
            <a:ext cx="180000" cy="180000"/>
            <a:chOff x="5058274" y="2498299"/>
            <a:chExt cx="180000" cy="180000"/>
          </a:xfrm>
        </p:grpSpPr>
        <p:sp>
          <p:nvSpPr>
            <p:cNvPr id="211" name="타원 210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16276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 상세</a:t>
            </a:r>
          </a:p>
        </p:txBody>
      </p:sp>
      <p:sp>
        <p:nvSpPr>
          <p:cNvPr id="21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28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추가정보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목록</a:t>
            </a:r>
          </a:p>
        </p:txBody>
      </p:sp>
      <p:sp>
        <p:nvSpPr>
          <p:cNvPr id="21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</a:rPr>
              <a:t>군수품무역대리업 신청 및 발급 목록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1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70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신규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갱신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</a:p>
        </p:txBody>
      </p:sp>
      <p:cxnSp>
        <p:nvCxnSpPr>
          <p:cNvPr id="219" name="직선 화살표 연결선 21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15" idx="3"/>
            <a:endCxn id="218" idx="1"/>
          </p:cNvCxnSpPr>
          <p:nvPr/>
        </p:nvCxnSpPr>
        <p:spPr>
          <a:xfrm>
            <a:off x="6157461" y="447101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9783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담당자 </a:t>
            </a:r>
            <a:r>
              <a:rPr lang="ko-KR" altLang="en-US" sz="800" dirty="0" smtClean="0">
                <a:solidFill>
                  <a:schemeClr val="tx1"/>
                </a:solidFill>
              </a:rPr>
              <a:t>정보 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14" idx="3"/>
            <a:endCxn id="249" idx="1"/>
          </p:cNvCxnSpPr>
          <p:nvPr/>
        </p:nvCxnSpPr>
        <p:spPr>
          <a:xfrm>
            <a:off x="6157461" y="267271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/>
          <p:cNvGrpSpPr/>
          <p:nvPr/>
        </p:nvGrpSpPr>
        <p:grpSpPr>
          <a:xfrm>
            <a:off x="6360366" y="3559177"/>
            <a:ext cx="2226642" cy="603901"/>
            <a:chOff x="7012608" y="2367957"/>
            <a:chExt cx="2226642" cy="603901"/>
          </a:xfrm>
        </p:grpSpPr>
        <p:sp>
          <p:nvSpPr>
            <p:cNvPr id="223" name="사각형: 둥근 모서리 5">
              <a:extLst>
                <a:ext uri="{FF2B5EF4-FFF2-40B4-BE49-F238E27FC236}">
                  <a16:creationId xmlns:a16="http://schemas.microsoft.com/office/drawing/2014/main" id="{410E5459-200D-7630-863C-88E5109259DF}"/>
                </a:ext>
              </a:extLst>
            </p:cNvPr>
            <p:cNvSpPr/>
            <p:nvPr/>
          </p:nvSpPr>
          <p:spPr>
            <a:xfrm>
              <a:off x="7012608" y="2367957"/>
              <a:ext cx="2226642" cy="603901"/>
            </a:xfrm>
            <a:prstGeom prst="roundRect">
              <a:avLst>
                <a:gd name="adj" fmla="val 4682"/>
              </a:avLst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7074008" y="2439075"/>
              <a:ext cx="1200650" cy="46166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 err="1">
                  <a:solidFill>
                    <a:schemeClr val="tx1"/>
                  </a:solidFill>
                </a:rPr>
                <a:t>품류선택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조합</a:t>
              </a:r>
              <a:r>
                <a:rPr lang="en-US" altLang="ko-KR" sz="600" dirty="0">
                  <a:solidFill>
                    <a:schemeClr val="tx1"/>
                  </a:solidFill>
                </a:rPr>
                <a:t>/</a:t>
              </a:r>
              <a:r>
                <a:rPr lang="ko-KR" altLang="en-US" sz="600" dirty="0">
                  <a:solidFill>
                    <a:schemeClr val="tx1"/>
                  </a:solidFill>
                </a:rPr>
                <a:t>단체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등록대상 품목 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품목 조회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행정정보공동이용 </a:t>
              </a:r>
              <a:r>
                <a:rPr lang="ko-KR" altLang="en-US" sz="600" dirty="0" err="1">
                  <a:solidFill>
                    <a:schemeClr val="tx1"/>
                  </a:solidFill>
                </a:rPr>
                <a:t>사전동의서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F249990F-1DE5-C694-BDBD-2DE7009D57EA}"/>
                </a:ext>
              </a:extLst>
            </p:cNvPr>
            <p:cNvSpPr/>
            <p:nvPr/>
          </p:nvSpPr>
          <p:spPr>
            <a:xfrm>
              <a:off x="8365671" y="2531408"/>
              <a:ext cx="788677" cy="2769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보안측정인원등록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en-US" altLang="ko-KR" sz="600" dirty="0">
                  <a:solidFill>
                    <a:schemeClr val="tx1"/>
                  </a:solidFill>
                </a:rPr>
                <a:t>FSC </a:t>
              </a:r>
              <a:r>
                <a:rPr lang="ko-KR" altLang="en-US" sz="600" dirty="0">
                  <a:solidFill>
                    <a:schemeClr val="tx1"/>
                  </a:solidFill>
                </a:rPr>
                <a:t>선택</a:t>
              </a:r>
              <a:endParaRPr lang="en-US" altLang="ko-KR" sz="600" dirty="0">
                <a:solidFill>
                  <a:schemeClr val="tx1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600" dirty="0">
                  <a:solidFill>
                    <a:schemeClr val="tx1"/>
                  </a:solidFill>
                </a:rPr>
                <a:t>주거래은행 선택</a:t>
              </a:r>
              <a:endParaRPr lang="en-US" altLang="ko-KR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360366" y="3435184"/>
            <a:ext cx="68929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등록 개별 팝업</a:t>
            </a:r>
          </a:p>
        </p:txBody>
      </p:sp>
      <p:sp>
        <p:nvSpPr>
          <p:cNvPr id="22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22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5" idx="3"/>
            <a:endCxn id="227" idx="1"/>
          </p:cNvCxnSpPr>
          <p:nvPr/>
        </p:nvCxnSpPr>
        <p:spPr>
          <a:xfrm>
            <a:off x="6157461" y="4471014"/>
            <a:ext cx="931134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67969" y="1917460"/>
            <a:ext cx="634789" cy="36933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일반정보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물품</a:t>
            </a:r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내자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시설</a:t>
            </a:r>
            <a:endParaRPr lang="en-US" altLang="ko-KR" sz="600" dirty="0">
              <a:solidFill>
                <a:schemeClr val="tx1"/>
              </a:solidFill>
            </a:endParaRPr>
          </a:p>
          <a:p>
            <a:pPr marL="171450" indent="-171450">
              <a:buFontTx/>
              <a:buChar char="-"/>
            </a:pPr>
            <a:r>
              <a:rPr lang="ko-KR" altLang="en-US" sz="600" dirty="0">
                <a:solidFill>
                  <a:schemeClr val="tx1"/>
                </a:solidFill>
              </a:rPr>
              <a:t>국내소재상사</a:t>
            </a:r>
          </a:p>
        </p:txBody>
      </p:sp>
      <p:sp>
        <p:nvSpPr>
          <p:cNvPr id="2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2511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등록증 발급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3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8358283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78415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내역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15" idx="2"/>
            <a:endCxn id="232" idx="0"/>
          </p:cNvCxnSpPr>
          <p:nvPr/>
        </p:nvCxnSpPr>
        <p:spPr>
          <a:xfrm>
            <a:off x="5707461" y="4615014"/>
            <a:ext cx="0" cy="16914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5" idx="3"/>
            <a:endCxn id="230" idx="1"/>
          </p:cNvCxnSpPr>
          <p:nvPr/>
        </p:nvCxnSpPr>
        <p:spPr>
          <a:xfrm>
            <a:off x="6157461" y="4471014"/>
            <a:ext cx="931134" cy="92416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직선 화살표 연결선 2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7" idx="3"/>
            <a:endCxn id="231" idx="1"/>
          </p:cNvCxnSpPr>
          <p:nvPr/>
        </p:nvCxnSpPr>
        <p:spPr>
          <a:xfrm>
            <a:off x="7988595" y="4928155"/>
            <a:ext cx="36968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8" idx="3"/>
            <a:endCxn id="231" idx="1"/>
          </p:cNvCxnSpPr>
          <p:nvPr/>
        </p:nvCxnSpPr>
        <p:spPr>
          <a:xfrm>
            <a:off x="7988595" y="4471014"/>
            <a:ext cx="369688" cy="45714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1" idx="3"/>
            <a:endCxn id="211" idx="6"/>
          </p:cNvCxnSpPr>
          <p:nvPr/>
        </p:nvCxnSpPr>
        <p:spPr>
          <a:xfrm flipH="1" flipV="1">
            <a:off x="8898283" y="3569748"/>
            <a:ext cx="360000" cy="1358407"/>
          </a:xfrm>
          <a:prstGeom prst="bentConnector3">
            <a:avLst>
              <a:gd name="adj1" fmla="val -635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30" idx="3"/>
            <a:endCxn id="211" idx="6"/>
          </p:cNvCxnSpPr>
          <p:nvPr/>
        </p:nvCxnSpPr>
        <p:spPr>
          <a:xfrm flipV="1">
            <a:off x="7988595" y="3569748"/>
            <a:ext cx="909688" cy="1825433"/>
          </a:xfrm>
          <a:prstGeom prst="bentConnector3">
            <a:avLst>
              <a:gd name="adj1" fmla="val 164379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24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확인서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4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5678085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조달원 확인서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</a:t>
            </a:r>
          </a:p>
        </p:txBody>
      </p:sp>
      <p:cxnSp>
        <p:nvCxnSpPr>
          <p:cNvPr id="242" name="직선 화살표 연결선 24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40" idx="3"/>
            <a:endCxn id="241" idx="1"/>
          </p:cNvCxnSpPr>
          <p:nvPr/>
        </p:nvCxnSpPr>
        <p:spPr>
          <a:xfrm>
            <a:off x="6157461" y="5822085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13" idx="3"/>
            <a:endCxn id="211" idx="0"/>
          </p:cNvCxnSpPr>
          <p:nvPr/>
        </p:nvCxnSpPr>
        <p:spPr>
          <a:xfrm>
            <a:off x="6157461" y="1771664"/>
            <a:ext cx="2650822" cy="1708084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613049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국외조달원등록증신청안내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1" idx="3"/>
            <a:endCxn id="211" idx="6"/>
          </p:cNvCxnSpPr>
          <p:nvPr/>
        </p:nvCxnSpPr>
        <p:spPr>
          <a:xfrm flipV="1">
            <a:off x="7988595" y="3569748"/>
            <a:ext cx="909688" cy="2252337"/>
          </a:xfrm>
          <a:prstGeom prst="bentConnector3">
            <a:avLst>
              <a:gd name="adj1" fmla="val 16533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5" idx="3"/>
            <a:endCxn id="211" idx="6"/>
          </p:cNvCxnSpPr>
          <p:nvPr/>
        </p:nvCxnSpPr>
        <p:spPr>
          <a:xfrm flipV="1">
            <a:off x="6157461" y="3569748"/>
            <a:ext cx="2740822" cy="2704751"/>
          </a:xfrm>
          <a:prstGeom prst="bentConnector3">
            <a:avLst>
              <a:gd name="adj1" fmla="val 121686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52871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내역 상세</a:t>
            </a:r>
          </a:p>
        </p:txBody>
      </p:sp>
      <p:cxnSp>
        <p:nvCxnSpPr>
          <p:cNvPr id="25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49" idx="3"/>
            <a:endCxn id="211" idx="0"/>
          </p:cNvCxnSpPr>
          <p:nvPr/>
        </p:nvCxnSpPr>
        <p:spPr>
          <a:xfrm>
            <a:off x="7988595" y="2672710"/>
            <a:ext cx="819688" cy="807038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65996" y="342028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업체정보</a:t>
            </a:r>
            <a:endParaRPr lang="en-US" altLang="ko-KR" sz="800" dirty="0" smtClean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추가등록</a:t>
            </a:r>
            <a:r>
              <a:rPr lang="ko-KR" altLang="en-US" sz="800" dirty="0" smtClean="0">
                <a:solidFill>
                  <a:schemeClr val="tx1"/>
                </a:solidFill>
              </a:rPr>
              <a:t> </a:t>
            </a:r>
            <a:r>
              <a:rPr lang="en-US" altLang="ko-KR" sz="600" dirty="0" smtClean="0">
                <a:solidFill>
                  <a:schemeClr val="tx1"/>
                </a:solidFill>
              </a:rPr>
              <a:t>(</a:t>
            </a:r>
            <a:r>
              <a:rPr lang="ko-KR" altLang="en-US" sz="600" dirty="0" smtClean="0">
                <a:solidFill>
                  <a:schemeClr val="tx1"/>
                </a:solidFill>
              </a:rPr>
              <a:t>물품 내자</a:t>
            </a:r>
            <a:r>
              <a:rPr lang="en-US" altLang="ko-KR" sz="600" dirty="0" smtClean="0">
                <a:solidFill>
                  <a:schemeClr val="tx1"/>
                </a:solidFill>
              </a:rPr>
              <a:t>)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2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65996" y="3872751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국내소재상사 </a:t>
            </a:r>
            <a:r>
              <a:rPr lang="ko-KR" altLang="en-US" sz="800" dirty="0" smtClean="0">
                <a:solidFill>
                  <a:schemeClr val="tx1"/>
                </a:solidFill>
              </a:rPr>
              <a:t>정보 등록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14" idx="1"/>
          </p:cNvCxnSpPr>
          <p:nvPr/>
        </p:nvCxnSpPr>
        <p:spPr>
          <a:xfrm flipV="1">
            <a:off x="4329031" y="2672710"/>
            <a:ext cx="932977" cy="224196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13" idx="1"/>
          </p:cNvCxnSpPr>
          <p:nvPr/>
        </p:nvCxnSpPr>
        <p:spPr>
          <a:xfrm flipV="1">
            <a:off x="4329031" y="1771664"/>
            <a:ext cx="932977" cy="314301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40" idx="1"/>
          </p:cNvCxnSpPr>
          <p:nvPr/>
        </p:nvCxnSpPr>
        <p:spPr>
          <a:xfrm>
            <a:off x="4329031" y="4914678"/>
            <a:ext cx="932977" cy="90740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45" idx="1"/>
          </p:cNvCxnSpPr>
          <p:nvPr/>
        </p:nvCxnSpPr>
        <p:spPr>
          <a:xfrm>
            <a:off x="4329031" y="4914678"/>
            <a:ext cx="932977" cy="135982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20" idx="1"/>
          </p:cNvCxnSpPr>
          <p:nvPr/>
        </p:nvCxnSpPr>
        <p:spPr>
          <a:xfrm flipV="1">
            <a:off x="4329031" y="3122385"/>
            <a:ext cx="932977" cy="179229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15" idx="1"/>
          </p:cNvCxnSpPr>
          <p:nvPr/>
        </p:nvCxnSpPr>
        <p:spPr>
          <a:xfrm flipV="1">
            <a:off x="4329031" y="4471014"/>
            <a:ext cx="932977" cy="44366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53" idx="1"/>
          </p:cNvCxnSpPr>
          <p:nvPr/>
        </p:nvCxnSpPr>
        <p:spPr>
          <a:xfrm flipV="1">
            <a:off x="4329031" y="3564281"/>
            <a:ext cx="936965" cy="135039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254" idx="1"/>
          </p:cNvCxnSpPr>
          <p:nvPr/>
        </p:nvCxnSpPr>
        <p:spPr>
          <a:xfrm flipV="1">
            <a:off x="4329031" y="4016751"/>
            <a:ext cx="936965" cy="89792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155411" y="2897152"/>
            <a:ext cx="1112636" cy="1345330"/>
          </a:xfrm>
          <a:prstGeom prst="roundRect">
            <a:avLst>
              <a:gd name="adj" fmla="val 4682"/>
            </a:avLst>
          </a:prstGeom>
          <a:noFill/>
          <a:ln>
            <a:solidFill>
              <a:schemeClr val="bg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6324765" y="2893518"/>
            <a:ext cx="1024319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 dirty="0" smtClean="0">
                <a:solidFill>
                  <a:schemeClr val="tx1"/>
                </a:solidFill>
              </a:rPr>
              <a:t>업체정보 추가 등록</a:t>
            </a:r>
            <a:r>
              <a:rPr lang="en-US" altLang="ko-KR" sz="600" dirty="0" smtClean="0">
                <a:solidFill>
                  <a:schemeClr val="tx1"/>
                </a:solidFill>
              </a:rPr>
              <a:t/>
            </a:r>
            <a:br>
              <a:rPr lang="en-US" altLang="ko-KR" sz="600" dirty="0" smtClean="0">
                <a:solidFill>
                  <a:schemeClr val="tx1"/>
                </a:solidFill>
              </a:rPr>
            </a:br>
            <a:r>
              <a:rPr lang="ko-KR" altLang="en-US" sz="600" dirty="0" smtClean="0">
                <a:solidFill>
                  <a:schemeClr val="tx1"/>
                </a:solidFill>
              </a:rPr>
              <a:t>모바일에 맞게 화면 분리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5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0" idx="3"/>
            <a:endCxn id="211" idx="0"/>
          </p:cNvCxnSpPr>
          <p:nvPr/>
        </p:nvCxnSpPr>
        <p:spPr>
          <a:xfrm>
            <a:off x="6157461" y="3122385"/>
            <a:ext cx="2650822" cy="357363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3" idx="3"/>
            <a:endCxn id="223" idx="1"/>
          </p:cNvCxnSpPr>
          <p:nvPr/>
        </p:nvCxnSpPr>
        <p:spPr>
          <a:xfrm>
            <a:off x="6165996" y="3564281"/>
            <a:ext cx="194370" cy="29684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54" idx="3"/>
            <a:endCxn id="223" idx="1"/>
          </p:cNvCxnSpPr>
          <p:nvPr/>
        </p:nvCxnSpPr>
        <p:spPr>
          <a:xfrm flipV="1">
            <a:off x="6165996" y="3861128"/>
            <a:ext cx="194370" cy="15562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3" idx="0"/>
            <a:endCxn id="211" idx="0"/>
          </p:cNvCxnSpPr>
          <p:nvPr/>
        </p:nvCxnSpPr>
        <p:spPr>
          <a:xfrm rot="5400000" flipH="1" flipV="1">
            <a:off x="8101271" y="2852165"/>
            <a:ext cx="79429" cy="1334596"/>
          </a:xfrm>
          <a:prstGeom prst="bentConnector3">
            <a:avLst>
              <a:gd name="adj1" fmla="val 552263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865750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(3/4)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26862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13596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58563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03531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8498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 사용자 관리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1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2" idx="1"/>
          </p:cNvCxnSpPr>
          <p:nvPr/>
        </p:nvCxnSpPr>
        <p:spPr>
          <a:xfrm rot="16200000" flipH="1">
            <a:off x="5010477" y="3517206"/>
            <a:ext cx="1644659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59349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25349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수정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34259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1" name="직선 화살표 연결선 13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7" idx="3"/>
            <a:endCxn id="108" idx="1"/>
          </p:cNvCxnSpPr>
          <p:nvPr/>
        </p:nvCxnSpPr>
        <p:spPr>
          <a:xfrm>
            <a:off x="6858152" y="3116989"/>
            <a:ext cx="230443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66" idx="1"/>
          </p:cNvCxnSpPr>
          <p:nvPr/>
        </p:nvCxnSpPr>
        <p:spPr>
          <a:xfrm flipV="1">
            <a:off x="4326327" y="2676223"/>
            <a:ext cx="931134" cy="2682379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2972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개인정보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3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7" idx="1"/>
          </p:cNvCxnSpPr>
          <p:nvPr/>
        </p:nvCxnSpPr>
        <p:spPr>
          <a:xfrm rot="16200000" flipH="1">
            <a:off x="5684423" y="2843260"/>
            <a:ext cx="296766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958152" y="387134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개인신원확인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62" idx="1"/>
          </p:cNvCxnSpPr>
          <p:nvPr/>
        </p:nvCxnSpPr>
        <p:spPr>
          <a:xfrm rot="16200000" flipH="1">
            <a:off x="5235243" y="3292440"/>
            <a:ext cx="1195126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253222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개인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</a:rPr>
              <a:t>) </a:t>
            </a:r>
            <a:r>
              <a:rPr lang="ko-KR" altLang="en-US" sz="800" dirty="0">
                <a:solidFill>
                  <a:schemeClr val="tx1"/>
                </a:solidFill>
              </a:rPr>
              <a:t>인증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비밀번호 인증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6" idx="2"/>
            <a:endCxn id="130" idx="1"/>
          </p:cNvCxnSpPr>
          <p:nvPr/>
        </p:nvCxnSpPr>
        <p:spPr>
          <a:xfrm rot="16200000" flipH="1">
            <a:off x="5457956" y="3069727"/>
            <a:ext cx="749700" cy="2506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08" idx="3"/>
            <a:endCxn id="175" idx="2"/>
          </p:cNvCxnSpPr>
          <p:nvPr/>
        </p:nvCxnSpPr>
        <p:spPr>
          <a:xfrm>
            <a:off x="7988595" y="3116989"/>
            <a:ext cx="729688" cy="89836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0" idx="3"/>
            <a:endCxn id="175" idx="2"/>
          </p:cNvCxnSpPr>
          <p:nvPr/>
        </p:nvCxnSpPr>
        <p:spPr>
          <a:xfrm>
            <a:off x="6858152" y="3569923"/>
            <a:ext cx="1860131" cy="445426"/>
          </a:xfrm>
          <a:prstGeom prst="bentConnector3">
            <a:avLst>
              <a:gd name="adj1" fmla="val 79963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9" idx="3"/>
            <a:endCxn id="175" idx="2"/>
          </p:cNvCxnSpPr>
          <p:nvPr/>
        </p:nvCxnSpPr>
        <p:spPr>
          <a:xfrm flipV="1">
            <a:off x="7988595" y="4015349"/>
            <a:ext cx="729688" cy="44953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extBox 9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543140" y="6326480"/>
            <a:ext cx="847989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다음페이지 계속</a:t>
            </a:r>
          </a:p>
        </p:txBody>
      </p:sp>
      <p:sp>
        <p:nvSpPr>
          <p:cNvPr id="9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088595" y="432088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 </a:t>
            </a:r>
            <a:r>
              <a:rPr lang="ko-KR" altLang="en-US" sz="800" dirty="0" err="1">
                <a:solidFill>
                  <a:schemeClr val="tx1"/>
                </a:solidFill>
              </a:rPr>
              <a:t>상태변경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103" name="직선 화살표 연결선 102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32" idx="3"/>
            <a:endCxn id="99" idx="1"/>
          </p:cNvCxnSpPr>
          <p:nvPr/>
        </p:nvCxnSpPr>
        <p:spPr>
          <a:xfrm>
            <a:off x="6858152" y="4464882"/>
            <a:ext cx="230443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162" idx="3"/>
            <a:endCxn id="175" idx="2"/>
          </p:cNvCxnSpPr>
          <p:nvPr/>
        </p:nvCxnSpPr>
        <p:spPr>
          <a:xfrm>
            <a:off x="6858152" y="4015349"/>
            <a:ext cx="1860131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959807" y="4192141"/>
            <a:ext cx="652423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대표자만 표시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9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</p:cNvCxnSpPr>
          <p:nvPr/>
        </p:nvCxnSpPr>
        <p:spPr>
          <a:xfrm>
            <a:off x="2495193" y="1772964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7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9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</p:spTree>
    <p:extLst>
      <p:ext uri="{BB962C8B-B14F-4D97-AF65-F5344CB8AC3E}">
        <p14:creationId xmlns:p14="http://schemas.microsoft.com/office/powerpoint/2010/main" val="23147377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1595193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마이페이지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457199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664059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6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1E8D88-E9A4-C688-7101-A25821FC8D9D}"/>
              </a:ext>
            </a:extLst>
          </p:cNvPr>
          <p:cNvSpPr/>
          <p:nvPr/>
        </p:nvSpPr>
        <p:spPr>
          <a:xfrm>
            <a:off x="749717" y="1026000"/>
            <a:ext cx="5603271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1.2.1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(4/4)</a:t>
            </a:r>
            <a:endParaRPr lang="ko-KR" altLang="en-US" sz="1200" dirty="0">
              <a:solidFill>
                <a:schemeClr val="tx1"/>
              </a:solidFill>
            </a:endParaRPr>
          </a:p>
        </p:txBody>
      </p:sp>
      <p:cxnSp>
        <p:nvCxnSpPr>
          <p:cNvPr id="6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26084" cy="899350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179678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26917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14145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359113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040807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2495193" y="1772964"/>
            <a:ext cx="931134" cy="449048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414129" y="1543298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8689286" y="414673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8718283" y="3935890"/>
            <a:ext cx="180000" cy="180000"/>
            <a:chOff x="5058274" y="2498299"/>
            <a:chExt cx="180000" cy="180000"/>
          </a:xfrm>
        </p:grpSpPr>
        <p:sp>
          <p:nvSpPr>
            <p:cNvPr id="175" name="타원 174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3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66" idx="1"/>
          </p:cNvCxnSpPr>
          <p:nvPr/>
        </p:nvCxnSpPr>
        <p:spPr>
          <a:xfrm flipV="1">
            <a:off x="4326327" y="4025890"/>
            <a:ext cx="931134" cy="1787881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432074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내 파일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5257461" y="388189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폴더 설정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권한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37" idx="1"/>
          </p:cNvCxnSpPr>
          <p:nvPr/>
        </p:nvCxnSpPr>
        <p:spPr>
          <a:xfrm flipV="1">
            <a:off x="4326327" y="4464746"/>
            <a:ext cx="931134" cy="134902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6" idx="3"/>
            <a:endCxn id="175" idx="2"/>
          </p:cNvCxnSpPr>
          <p:nvPr/>
        </p:nvCxnSpPr>
        <p:spPr>
          <a:xfrm>
            <a:off x="6157461" y="4025890"/>
            <a:ext cx="2560822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37" idx="3"/>
            <a:endCxn id="175" idx="2"/>
          </p:cNvCxnSpPr>
          <p:nvPr/>
        </p:nvCxnSpPr>
        <p:spPr>
          <a:xfrm flipV="1">
            <a:off x="6157461" y="4025890"/>
            <a:ext cx="2560822" cy="43885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endCxn id="175" idx="2"/>
          </p:cNvCxnSpPr>
          <p:nvPr/>
        </p:nvCxnSpPr>
        <p:spPr>
          <a:xfrm flipV="1">
            <a:off x="4326327" y="4025890"/>
            <a:ext cx="4391956" cy="2237556"/>
          </a:xfrm>
          <a:prstGeom prst="bentConnector3">
            <a:avLst>
              <a:gd name="adj1" fmla="val 7082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259116" y="3760565"/>
            <a:ext cx="894476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대표자만 관리 표시</a:t>
            </a:r>
          </a:p>
        </p:txBody>
      </p:sp>
      <p:cxnSp>
        <p:nvCxnSpPr>
          <p:cNvPr id="4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</p:cNvCxnSpPr>
          <p:nvPr/>
        </p:nvCxnSpPr>
        <p:spPr>
          <a:xfrm>
            <a:off x="2490143" y="1769731"/>
            <a:ext cx="931134" cy="2248375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나의진행업무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07863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나의업무이력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현황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1277" y="252831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관심 </a:t>
            </a:r>
            <a:r>
              <a:rPr lang="ko-KR" altLang="en-US" sz="800" dirty="0" smtClean="0">
                <a:solidFill>
                  <a:schemeClr val="tx1"/>
                </a:solidFill>
              </a:rPr>
              <a:t>입찰공고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2977989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업무 캘린더</a:t>
            </a:r>
          </a:p>
        </p:txBody>
      </p:sp>
      <p:sp>
        <p:nvSpPr>
          <p:cNvPr id="5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42574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문서함 목록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600" dirty="0">
                <a:solidFill>
                  <a:schemeClr val="tx1"/>
                </a:solidFill>
              </a:rPr>
              <a:t>(</a:t>
            </a:r>
            <a:r>
              <a:rPr lang="ko-KR" altLang="en-US" sz="600" dirty="0">
                <a:solidFill>
                  <a:schemeClr val="tx1"/>
                </a:solidFill>
              </a:rPr>
              <a:t>보낸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받은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임시</a:t>
            </a:r>
            <a:r>
              <a:rPr lang="en-US" altLang="ko-KR" sz="600" dirty="0">
                <a:solidFill>
                  <a:schemeClr val="tx1"/>
                </a:solidFill>
              </a:rPr>
              <a:t>, </a:t>
            </a:r>
            <a:r>
              <a:rPr lang="ko-KR" altLang="en-US" sz="600" dirty="0">
                <a:solidFill>
                  <a:schemeClr val="tx1"/>
                </a:solidFill>
              </a:rPr>
              <a:t>반려</a:t>
            </a:r>
            <a:r>
              <a:rPr lang="en-US" altLang="ko-KR" sz="6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3210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 smtClean="0">
                <a:solidFill>
                  <a:schemeClr val="tx1"/>
                </a:solidFill>
              </a:rPr>
              <a:t>관심법령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477067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업체정보관리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22035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사용자정보관리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567002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디지털캐비닛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폴더 목록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6119703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알림서비스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신청 및 해지</a:t>
            </a:r>
          </a:p>
        </p:txBody>
      </p:sp>
      <p:sp>
        <p:nvSpPr>
          <p:cNvPr id="6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3426327" y="387733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나의 게시물</a:t>
            </a:r>
          </a:p>
        </p:txBody>
      </p:sp>
    </p:spTree>
    <p:extLst>
      <p:ext uri="{BB962C8B-B14F-4D97-AF65-F5344CB8AC3E}">
        <p14:creationId xmlns:p14="http://schemas.microsoft.com/office/powerpoint/2010/main" val="276941833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마이페이지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MyPage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세부스텝팝업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MyPrgrsHstryDtl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나의진행업무현황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MyPrgrsHstryPage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나의업무이력현황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MyTaskHstryPage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관심입찰공고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ItrstBidPbancPage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업무캘린더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일정상세정보팝업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TaskCldrDtlPage.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(</a:t>
            </a:r>
            <a:r>
              <a:rPr lang="en-US" altLang="ko-KR" sz="1200" dirty="0" smtClean="0">
                <a:solidFill>
                  <a:schemeClr val="tx1"/>
                </a:solidFill>
              </a:rPr>
              <a:t>1/5)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,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수정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TaskCldrRegPage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삭제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TaskCldrDelPage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문서함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문서함상세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492727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문서정보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DocBoxDtl_Info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첨언상세보기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DocBoxDtl_AtchOpnn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첨부파일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DocBoxDtl_Atch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2747194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 err="1"/>
              <a:t>위젯관리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WdgtMngController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6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개인별수신처관리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IndvRcofcMngPage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관심법령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ItrstSttPage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나의게시물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myPstPage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디지털캐비닛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3455423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MyTaskMngController</a:t>
            </a:r>
            <a:endParaRPr lang="en-US" altLang="ko-KR" sz="9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6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715812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(2/5) </a:t>
            </a:r>
            <a:r>
              <a:rPr lang="en-US" altLang="ko-KR" sz="1200" dirty="0">
                <a:solidFill>
                  <a:schemeClr val="tx1"/>
                </a:solidFill>
              </a:rPr>
              <a:t>– </a:t>
            </a:r>
            <a:r>
              <a:rPr lang="ko-KR" altLang="en-US" sz="1200" dirty="0">
                <a:solidFill>
                  <a:schemeClr val="tx1"/>
                </a:solidFill>
              </a:rPr>
              <a:t>공고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캘린더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문서함</a:t>
            </a:r>
            <a:r>
              <a:rPr lang="en-US" altLang="ko-KR" sz="1200" dirty="0">
                <a:solidFill>
                  <a:schemeClr val="tx1"/>
                </a:solidFill>
              </a:rPr>
              <a:t>, </a:t>
            </a:r>
            <a:r>
              <a:rPr lang="ko-KR" altLang="en-US" sz="1200" dirty="0">
                <a:solidFill>
                  <a:schemeClr val="tx1"/>
                </a:solidFill>
              </a:rPr>
              <a:t>캐비닛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폴더설정권한관리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digitalCabinetMng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폴더내파일목록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digitalCabinetFileListPage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dirty="0">
                <a:solidFill>
                  <a:schemeClr val="tx1"/>
                </a:solidFill>
              </a:rPr>
              <a:t> 1)</a:t>
            </a: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163022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나의업무이력관리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TaskHstryMngController</a:t>
            </a:r>
            <a:endParaRPr lang="en-US" altLang="ko-KR" sz="900" dirty="0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4" idx="1"/>
          </p:cNvCxnSpPr>
          <p:nvPr/>
        </p:nvCxnSpPr>
        <p:spPr>
          <a:xfrm>
            <a:off x="5687291" y="2990174"/>
            <a:ext cx="1226126" cy="141582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4876636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/>
              <a:t>디지털캐비닛관리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DigitalCabinetMngController</a:t>
            </a:r>
            <a:endParaRPr lang="en-US" altLang="ko-KR" sz="900" dirty="0"/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5" idx="1"/>
          </p:cNvCxnSpPr>
          <p:nvPr/>
        </p:nvCxnSpPr>
        <p:spPr>
          <a:xfrm>
            <a:off x="5687291" y="2990174"/>
            <a:ext cx="1226126" cy="212944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7" y="5561658"/>
            <a:ext cx="1969326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UserMngController</a:t>
            </a:r>
            <a:endParaRPr lang="en-US" altLang="ko-KR" sz="900" dirty="0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57" idx="1"/>
          </p:cNvCxnSpPr>
          <p:nvPr/>
        </p:nvCxnSpPr>
        <p:spPr>
          <a:xfrm>
            <a:off x="5687291" y="2990174"/>
            <a:ext cx="1226126" cy="281446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1294384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업체정보관리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  <a:latin typeface="+mn-ea"/>
              </a:rPr>
              <a:t>업체정보상세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bzentyGnrlInfoDtlPage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8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800" dirty="0" err="1" smtClean="0">
                <a:solidFill>
                  <a:schemeClr val="tx1"/>
                </a:solidFill>
              </a:rPr>
              <a:t>업체일반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 smtClean="0">
                <a:solidFill>
                  <a:schemeClr val="tx1"/>
                </a:solidFill>
                <a:latin typeface="+mn-ea"/>
              </a:rPr>
              <a:t>bzentyGnrlInfoDtl_Gnrl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bzentyGnrlInfoDtl_Cmdty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시설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bzentyGnrlInfoDtl_Fclt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업체정보상세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bzentyGnrlInfoDtl_DmsAgt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추가정보신청목록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DmstLctnColInfoAddRegPage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(3/5)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신청내역상세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신청내역상세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addRegInfoAplyDtl_Cmdty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신청내역상세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국내소재상사신청정보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addRegInfoAplyDtl_DmsAgt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업체정보추가등록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물품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내자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9" idx="3"/>
            <a:endCxn id="9" idx="1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조합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단체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AsctGrpChc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FSC 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FSCChc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6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2" name="직선 화살표 연결선 4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7" idx="0"/>
            <a:endCxn id="9" idx="2"/>
          </p:cNvCxnSpPr>
          <p:nvPr/>
        </p:nvCxnSpPr>
        <p:spPr>
          <a:xfrm flipH="1" flipV="1">
            <a:off x="4823691" y="3810190"/>
            <a:ext cx="509121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품류선택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KnditmChc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37833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보안측정인원등록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ScrtyMsrmtPrsnlReg.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6" idx="0"/>
            <a:endCxn id="9" idx="2"/>
          </p:cNvCxnSpPr>
          <p:nvPr/>
        </p:nvCxnSpPr>
        <p:spPr>
          <a:xfrm flipV="1">
            <a:off x="3855704" y="3810190"/>
            <a:ext cx="967987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7" idx="0"/>
            <a:endCxn id="9" idx="2"/>
          </p:cNvCxnSpPr>
          <p:nvPr/>
        </p:nvCxnSpPr>
        <p:spPr>
          <a:xfrm flipH="1" flipV="1">
            <a:off x="4823691" y="3810190"/>
            <a:ext cx="509121" cy="156814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891554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품목 조회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ItemInq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49" idx="0"/>
            <a:endCxn id="9" idx="2"/>
          </p:cNvCxnSpPr>
          <p:nvPr/>
        </p:nvCxnSpPr>
        <p:spPr>
          <a:xfrm flipH="1" flipV="1">
            <a:off x="4823691" y="3810190"/>
            <a:ext cx="509121" cy="108136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441300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등록대상 품목 선택 팝업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RegTrgtItemChc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890347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업체정보추가등록</a:t>
            </a:r>
            <a:r>
              <a:rPr lang="en-US" altLang="ko-KR" sz="7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국내소재상사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dmstLctnColInfoAddReg_Cmbz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2" idx="0"/>
            <a:endCxn id="9" idx="2"/>
          </p:cNvCxnSpPr>
          <p:nvPr/>
        </p:nvCxnSpPr>
        <p:spPr>
          <a:xfrm flipH="1" flipV="1">
            <a:off x="4823691" y="3810190"/>
            <a:ext cx="509121" cy="60281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3" idx="0"/>
            <a:endCxn id="9" idx="2"/>
          </p:cNvCxnSpPr>
          <p:nvPr/>
        </p:nvCxnSpPr>
        <p:spPr>
          <a:xfrm flipV="1">
            <a:off x="3855704" y="3810190"/>
            <a:ext cx="967987" cy="108015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4" idx="0"/>
            <a:endCxn id="9" idx="2"/>
          </p:cNvCxnSpPr>
          <p:nvPr/>
        </p:nvCxnSpPr>
        <p:spPr>
          <a:xfrm flipV="1">
            <a:off x="3855704" y="3810190"/>
            <a:ext cx="967987" cy="6023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4412518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6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업체정보추가등록</a:t>
            </a:r>
            <a:r>
              <a:rPr lang="en-US" altLang="ko-KR" sz="600" dirty="0" smtClean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담당자정보저장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600" dirty="0" err="1">
                <a:solidFill>
                  <a:schemeClr val="tx1"/>
                </a:solidFill>
                <a:latin typeface="+mn-ea"/>
              </a:rPr>
              <a:t>dmstLctnColInfoAddReg_Pic</a:t>
            </a:r>
            <a:r>
              <a:rPr lang="en-US" altLang="ko-KR" sz="6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6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88483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주거래은행 선택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BankChc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행정정보공동이용 </a:t>
            </a: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사전동의서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PbamdsInfoJntUtztnBfhdWtcs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+mn-ea"/>
              </a:rPr>
              <a:t>확인팝업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Confirm</a:t>
            </a:r>
            <a:r>
              <a:rPr lang="en-US" altLang="ko-KR" sz="8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군수품무역대리업신청및발급목록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신청내역상세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DfEqpmntTradeAgncAplyDtlPage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신규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갱신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DfEqpmntTradeAgncChgPage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>
                <a:latin typeface="+mn-ea"/>
              </a:rPr>
              <a:t>&lt;&lt;</a:t>
            </a:r>
            <a:r>
              <a:rPr lang="ko-KR" altLang="en-US" sz="900" dirty="0" err="1">
                <a:latin typeface="+mn-ea"/>
              </a:rPr>
              <a:t>조달청요청</a:t>
            </a:r>
            <a:r>
              <a:rPr lang="en-US" altLang="ko-KR" sz="9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900" kern="0" dirty="0">
                <a:solidFill>
                  <a:srgbClr val="000000"/>
                </a:solidFill>
                <a:latin typeface="+mn-ea"/>
              </a:rPr>
              <a:t>G2bReqController</a:t>
            </a:r>
            <a:endParaRPr lang="en-US" altLang="ko-KR" sz="1200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28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(4/5)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업체정보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국내조달원확인서신청목록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dmstSosCnfdocListPage.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조달원확인서신청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dmstSosCnfdocAplyPage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국외조달원등록증신청안내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ovsdmstSosCnfdoc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5605440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>
                <a:solidFill>
                  <a:schemeClr val="tx1"/>
                </a:solidFill>
              </a:rPr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79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사용자정보관리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개인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생체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인증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비밀번호인증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IndvCertPage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smtClean="0">
                <a:solidFill>
                  <a:schemeClr val="tx1"/>
                </a:solidFill>
              </a:rPr>
              <a:t>개인정보상세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IndvInfoDtlPage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dirty="0">
                <a:solidFill>
                  <a:schemeClr val="tx1"/>
                </a:solidFill>
              </a:rPr>
              <a:t> 1)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사용자관리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UserMngController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개인정보수정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IndvInfoMdfcnPage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+mn-ea"/>
              </a:rPr>
              <a:t>비밀번호변경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PswdChgPage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개인신원확인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IndvIdntIdntyPage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인증서관리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CrtfMng.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975C9-B669-2E0F-A599-7B64FBAF2727}"/>
              </a:ext>
            </a:extLst>
          </p:cNvPr>
          <p:cNvSpPr/>
          <p:nvPr/>
        </p:nvSpPr>
        <p:spPr>
          <a:xfrm>
            <a:off x="749717" y="1026000"/>
            <a:ext cx="3665708" cy="18466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2.3.1 </a:t>
            </a:r>
            <a:r>
              <a:rPr lang="ko-KR" altLang="en-US" sz="1200" dirty="0" err="1">
                <a:solidFill>
                  <a:schemeClr val="tx1"/>
                </a:solidFill>
              </a:rPr>
              <a:t>마이페이지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 smtClean="0">
                <a:solidFill>
                  <a:schemeClr val="tx1"/>
                </a:solidFill>
              </a:rPr>
              <a:t>(5/5) </a:t>
            </a:r>
            <a:r>
              <a:rPr lang="en-US" altLang="ko-KR" sz="1200" dirty="0">
                <a:solidFill>
                  <a:schemeClr val="tx1"/>
                </a:solidFill>
              </a:rPr>
              <a:t>- </a:t>
            </a:r>
            <a:r>
              <a:rPr lang="ko-KR" altLang="en-US" sz="1200" dirty="0">
                <a:solidFill>
                  <a:schemeClr val="tx1"/>
                </a:solidFill>
              </a:rPr>
              <a:t>개인정보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인증서확인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CrtfIdnty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4329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업체 소속 사용자 목록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PrcmBzentyUserMngPage.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8" idx="3"/>
            <a:endCxn id="9" idx="1"/>
          </p:cNvCxnSpPr>
          <p:nvPr/>
        </p:nvCxnSpPr>
        <p:spPr>
          <a:xfrm flipV="1">
            <a:off x="2992582" y="2990174"/>
            <a:ext cx="967509" cy="223982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알림서비스신청및해지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NotiSrvcAplyPage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3" idx="3"/>
          </p:cNvCxnSpPr>
          <p:nvPr/>
        </p:nvCxnSpPr>
        <p:spPr>
          <a:xfrm flipV="1">
            <a:off x="2992582" y="2990174"/>
            <a:ext cx="967509" cy="30600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회원탈퇴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MbWithdrawal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상태 변경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PrcmBzentyUserSttsChg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23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800" dirty="0">
                <a:latin typeface="+mn-ea"/>
              </a:rPr>
              <a:t>&lt;&lt;</a:t>
            </a:r>
            <a:r>
              <a:rPr lang="ko-KR" altLang="en-US" sz="800" dirty="0">
                <a:latin typeface="+mn-ea"/>
              </a:rPr>
              <a:t>업체정보관리</a:t>
            </a:r>
            <a:r>
              <a:rPr lang="en-US" altLang="ko-KR" sz="800" dirty="0">
                <a:latin typeface="+mn-ea"/>
              </a:rPr>
              <a:t>Controller&gt;&gt;</a:t>
            </a:r>
          </a:p>
          <a:p>
            <a:pPr algn="ctr"/>
            <a:r>
              <a:rPr lang="en-US" altLang="ko-KR" sz="800" kern="0" dirty="0" err="1">
                <a:solidFill>
                  <a:srgbClr val="000000"/>
                </a:solidFill>
                <a:latin typeface="+mn-ea"/>
              </a:rPr>
              <a:t>PrcmBzentyInfoMngController</a:t>
            </a:r>
            <a:endParaRPr lang="en-US" altLang="ko-KR" sz="1400" dirty="0"/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endCxn id="67" idx="1"/>
          </p:cNvCxnSpPr>
          <p:nvPr/>
        </p:nvCxnSpPr>
        <p:spPr>
          <a:xfrm>
            <a:off x="5687291" y="2990174"/>
            <a:ext cx="1226127" cy="70822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직선 화살표 연결선 68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5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0665537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9" name="그림 118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r="4806" b="32893"/>
          <a:stretch/>
        </p:blipFill>
        <p:spPr>
          <a:xfrm>
            <a:off x="856015" y="4368527"/>
            <a:ext cx="2362786" cy="1856909"/>
          </a:xfrm>
          <a:prstGeom prst="rect">
            <a:avLst/>
          </a:prstGeom>
        </p:spPr>
      </p:pic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>
            <a:normAutofit fontScale="92500" lnSpcReduction="10000"/>
          </a:bodyPr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진행 업무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진행중인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입찰참가신청 등 하단 메뉴 진입 시 검색 필터에 해당 정보를 </a:t>
            </a:r>
            <a:r>
              <a:rPr lang="ko-KR" altLang="en-US" dirty="0" err="1" smtClean="0"/>
              <a:t>필터링</a:t>
            </a:r>
            <a:r>
              <a:rPr lang="ko-KR" altLang="en-US" dirty="0" smtClean="0"/>
              <a:t> 하여 진입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입찰참가신청 건만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목록에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MUI-CM-06-M02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나의 업무 이력 현황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</a:t>
            </a:r>
            <a:r>
              <a:rPr lang="en-US" altLang="ko-KR" dirty="0"/>
              <a:t>, </a:t>
            </a:r>
            <a:r>
              <a:rPr lang="ko-KR" altLang="en-US" dirty="0"/>
              <a:t>취소</a:t>
            </a:r>
            <a:r>
              <a:rPr lang="en-US" altLang="ko-KR" dirty="0"/>
              <a:t>, </a:t>
            </a:r>
            <a:r>
              <a:rPr lang="ko-KR" altLang="en-US" dirty="0"/>
              <a:t>포기 </a:t>
            </a:r>
            <a:r>
              <a:rPr lang="ko-KR" altLang="en-US" dirty="0" smtClean="0"/>
              <a:t>건수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MUI-CM-06-M04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입찰 공고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한달 이내 건수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>- </a:t>
            </a:r>
            <a:r>
              <a:rPr lang="en-US" altLang="ko-KR" dirty="0" smtClean="0"/>
              <a:t>MUI-CM-06-M05 </a:t>
            </a:r>
            <a:r>
              <a:rPr lang="ko-KR" altLang="en-US" dirty="0" smtClean="0"/>
              <a:t>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</a:t>
            </a:r>
            <a:r>
              <a:rPr lang="ko-KR" altLang="en-US" dirty="0" smtClean="0"/>
              <a:t>캘린더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더보기</a:t>
            </a:r>
            <a:r>
              <a:rPr lang="ko-KR" altLang="en-US" dirty="0" smtClean="0"/>
              <a:t> 클릭 시 </a:t>
            </a:r>
            <a:r>
              <a:rPr lang="en-US" altLang="ko-KR" dirty="0" smtClean="0"/>
              <a:t>MUI-CM-06-M06 </a:t>
            </a:r>
            <a:r>
              <a:rPr lang="ko-KR" altLang="en-US" dirty="0" smtClean="0"/>
              <a:t>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즐겨찾기</a:t>
            </a:r>
            <a:r>
              <a:rPr lang="ko-KR" altLang="en-US" dirty="0"/>
              <a:t> 입찰공고</a:t>
            </a:r>
            <a:r>
              <a:rPr lang="en-US" altLang="ko-KR" dirty="0"/>
              <a:t>, </a:t>
            </a:r>
            <a:r>
              <a:rPr lang="ko-KR" altLang="en-US" dirty="0"/>
              <a:t>개인이 작성한 캘린더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캘린더에 노출</a:t>
            </a:r>
            <a:r>
              <a:rPr lang="en-US" altLang="ko-KR" dirty="0"/>
              <a:t>, </a:t>
            </a:r>
            <a:r>
              <a:rPr lang="ko-KR" altLang="en-US" dirty="0"/>
              <a:t>업무가 있는 날짜에 표식 </a:t>
            </a:r>
            <a:r>
              <a:rPr lang="ko-KR" altLang="en-US" dirty="0" smtClean="0"/>
              <a:t>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날짜 선택 시 하단 </a:t>
            </a:r>
            <a:r>
              <a:rPr lang="en-US" altLang="ko-KR" dirty="0" smtClean="0"/>
              <a:t>6</a:t>
            </a:r>
            <a:r>
              <a:rPr lang="ko-KR" altLang="en-US" dirty="0" err="1" smtClean="0"/>
              <a:t>번항에</a:t>
            </a:r>
            <a:r>
              <a:rPr lang="ko-KR" altLang="en-US" dirty="0" smtClean="0"/>
              <a:t> </a:t>
            </a:r>
            <a:r>
              <a:rPr lang="en-US" altLang="ko-KR" dirty="0" smtClean="0"/>
              <a:t>3</a:t>
            </a:r>
            <a:r>
              <a:rPr lang="ko-KR" altLang="en-US" dirty="0" smtClean="0"/>
              <a:t>개까지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</a:t>
            </a:r>
            <a:r>
              <a:rPr lang="en-US" altLang="ko-KR" dirty="0"/>
              <a:t>(stared) </a:t>
            </a:r>
            <a:r>
              <a:rPr lang="ko-KR" altLang="en-US" dirty="0"/>
              <a:t>체크한 공고 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해당 입찰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개인이 작성한 스케줄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- 6~7 </a:t>
            </a:r>
            <a:r>
              <a:rPr lang="ko-KR" altLang="en-US" dirty="0"/>
              <a:t>항목은 합쳐서 최대 </a:t>
            </a:r>
            <a:r>
              <a:rPr lang="en-US" altLang="ko-KR" dirty="0"/>
              <a:t>3</a:t>
            </a:r>
            <a:r>
              <a:rPr lang="ko-KR" altLang="en-US" dirty="0"/>
              <a:t>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err="1"/>
              <a:t>바텀시트로</a:t>
            </a:r>
            <a:r>
              <a:rPr lang="ko-KR" altLang="en-US" dirty="0"/>
              <a:t> 세부 정보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MUI-CM-06-P07 </a:t>
            </a:r>
            <a:r>
              <a:rPr lang="ko-KR" altLang="en-US" dirty="0" smtClean="0"/>
              <a:t>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정보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하단 받은 문서 등으로 진입할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검색 필터에 해당 정보로 </a:t>
            </a:r>
            <a:r>
              <a:rPr lang="ko-KR" altLang="en-US" dirty="0" err="1" smtClean="0"/>
              <a:t>필터하여</a:t>
            </a:r>
            <a:r>
              <a:rPr lang="ko-KR" altLang="en-US" dirty="0" smtClean="0"/>
              <a:t> 목록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최근 </a:t>
            </a:r>
            <a:r>
              <a:rPr lang="ko-KR" altLang="en-US" dirty="0" err="1" smtClean="0"/>
              <a:t>한달이내</a:t>
            </a:r>
            <a:r>
              <a:rPr lang="ko-KR" altLang="en-US" dirty="0" smtClean="0"/>
              <a:t>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문서함 클릭 </a:t>
            </a:r>
            <a:r>
              <a:rPr lang="en-US" altLang="ko-KR" dirty="0" smtClean="0"/>
              <a:t>- MUI-CM-06-M10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보낸 문서 등 클릭 시 </a:t>
            </a:r>
            <a:r>
              <a:rPr lang="en-US" altLang="ko-KR" dirty="0" smtClean="0"/>
              <a:t>MUI-CM-06-M10</a:t>
            </a:r>
            <a:r>
              <a:rPr lang="ko-KR" altLang="en-US" dirty="0" smtClean="0"/>
              <a:t>이동하면서 검색 필터 적용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즐겨찾기한</a:t>
            </a:r>
            <a:r>
              <a:rPr lang="ko-KR" altLang="en-US" dirty="0"/>
              <a:t> </a:t>
            </a:r>
            <a:r>
              <a:rPr lang="ko-KR" altLang="en-US" dirty="0" err="1"/>
              <a:t>관심법령</a:t>
            </a:r>
            <a:r>
              <a:rPr lang="ko-KR" altLang="en-US" dirty="0"/>
              <a:t>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건수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MUI-CM-06-M13 </a:t>
            </a:r>
            <a:r>
              <a:rPr lang="ko-KR" altLang="en-US" dirty="0" smtClean="0"/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나의 게시물 </a:t>
            </a:r>
            <a:r>
              <a:rPr lang="en-US" altLang="ko-KR" dirty="0"/>
              <a:t>MUI-CM-06-M17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205597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[A </a:t>
            </a:r>
            <a:r>
              <a:rPr lang="ko-KR" altLang="en-US" sz="800" b="1" dirty="0">
                <a:latin typeface="+mn-ea"/>
              </a:rPr>
              <a:t>업체</a:t>
            </a:r>
            <a:r>
              <a:rPr lang="en-US" altLang="ko-KR" sz="800" b="1" dirty="0">
                <a:latin typeface="+mn-ea"/>
              </a:rPr>
              <a:t>] </a:t>
            </a:r>
            <a:r>
              <a:rPr lang="ko-KR" altLang="en-US" sz="800" b="1" dirty="0">
                <a:latin typeface="+mn-ea"/>
              </a:rPr>
              <a:t>홍길동 님</a:t>
            </a:r>
          </a:p>
        </p:txBody>
      </p:sp>
      <p:sp>
        <p:nvSpPr>
          <p:cNvPr id="43" name="타원 42"/>
          <p:cNvSpPr/>
          <p:nvPr/>
        </p:nvSpPr>
        <p:spPr>
          <a:xfrm>
            <a:off x="3044537" y="1995960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/>
          <p:cNvSpPr txBox="1"/>
          <p:nvPr/>
        </p:nvSpPr>
        <p:spPr>
          <a:xfrm>
            <a:off x="3002436" y="1977892"/>
            <a:ext cx="28245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900" dirty="0"/>
              <a:t>⚙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45" name="모서리가 둥근 직사각형 44"/>
          <p:cNvSpPr/>
          <p:nvPr/>
        </p:nvSpPr>
        <p:spPr>
          <a:xfrm>
            <a:off x="903581" y="2423118"/>
            <a:ext cx="2255663" cy="101212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" name="그룹 20"/>
          <p:cNvGrpSpPr/>
          <p:nvPr/>
        </p:nvGrpSpPr>
        <p:grpSpPr>
          <a:xfrm>
            <a:off x="903581" y="2344367"/>
            <a:ext cx="2255663" cy="306146"/>
            <a:chOff x="903581" y="2074658"/>
            <a:chExt cx="2255663" cy="306146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진행 업무 현황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21050"/>
            <a:ext cx="1731957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입찰참가신청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적격심사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기술평가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>
                <a:latin typeface="+mn-ea"/>
              </a:rPr>
              <a:t>사양서평가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0713" y="2721050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2721050"/>
            <a:ext cx="17325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511341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업무 이력 현황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3893585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입찰공고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429257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업무 캘린더</a:t>
            </a:r>
          </a:p>
        </p:txBody>
      </p:sp>
      <p:sp>
        <p:nvSpPr>
          <p:cNvPr id="62" name="모서리가 둥근 직사각형 61"/>
          <p:cNvSpPr/>
          <p:nvPr/>
        </p:nvSpPr>
        <p:spPr>
          <a:xfrm>
            <a:off x="2737360" y="4273131"/>
            <a:ext cx="419793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 err="1">
                <a:solidFill>
                  <a:schemeClr val="tx1"/>
                </a:solidFill>
              </a:rPr>
              <a:t>더보기</a:t>
            </a:r>
            <a:r>
              <a:rPr lang="ko-KR" altLang="en-US" sz="600" b="1" dirty="0">
                <a:solidFill>
                  <a:schemeClr val="tx1"/>
                </a:solidFill>
              </a:rPr>
              <a:t> </a:t>
            </a:r>
            <a:r>
              <a:rPr lang="en-US" altLang="ko-KR" sz="600" b="1" dirty="0">
                <a:solidFill>
                  <a:schemeClr val="tx1"/>
                </a:solidFill>
              </a:rPr>
              <a:t>&gt;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8" name="그룹 67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69" name="직선 연결선 6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1" name="타원 7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/>
          <p:cNvGrpSpPr/>
          <p:nvPr/>
        </p:nvGrpSpPr>
        <p:grpSpPr>
          <a:xfrm>
            <a:off x="4018745" y="5625865"/>
            <a:ext cx="2255663" cy="306146"/>
            <a:chOff x="903581" y="2074658"/>
            <a:chExt cx="2255663" cy="306146"/>
          </a:xfrm>
        </p:grpSpPr>
        <p:sp>
          <p:nvSpPr>
            <p:cNvPr id="74" name="모서리가 둥근 직사각형 73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관심 법령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4018745" y="255130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27957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26475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417277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모서리가 둥근 직사각형 83"/>
          <p:cNvSpPr/>
          <p:nvPr/>
        </p:nvSpPr>
        <p:spPr>
          <a:xfrm>
            <a:off x="4150219" y="26421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27313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8745" y="3060026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3045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1562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150219" y="31508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2400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4018745" y="3568751"/>
            <a:ext cx="2255663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38132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68074" y="366502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모서리가 둥근 직사각형 97"/>
          <p:cNvSpPr/>
          <p:nvPr/>
        </p:nvSpPr>
        <p:spPr>
          <a:xfrm>
            <a:off x="4150219" y="365955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791689" y="374876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4018745" y="4379511"/>
            <a:ext cx="2255663" cy="1166485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2" name="그룹 101"/>
          <p:cNvGrpSpPr/>
          <p:nvPr/>
        </p:nvGrpSpPr>
        <p:grpSpPr>
          <a:xfrm>
            <a:off x="4018745" y="4300760"/>
            <a:ext cx="2255663" cy="306146"/>
            <a:chOff x="903581" y="2074658"/>
            <a:chExt cx="2255663" cy="306146"/>
          </a:xfrm>
        </p:grpSpPr>
        <p:sp>
          <p:nvSpPr>
            <p:cNvPr id="103" name="모서리가 둥근 직사각형 10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문서함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20900" y="2166176"/>
              <a:ext cx="79878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800" b="1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800" b="1" dirty="0">
                  <a:latin typeface="+mn-ea"/>
                </a:rPr>
                <a:t> </a:t>
              </a:r>
              <a:r>
                <a:rPr lang="ko-KR" altLang="en-US" sz="800" b="1" dirty="0">
                  <a:latin typeface="+mn-ea"/>
                </a:rPr>
                <a:t>건</a:t>
              </a: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219" y="4677443"/>
            <a:ext cx="1731957" cy="8079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받은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보낸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반려 문서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err="1" smtClean="0">
                <a:latin typeface="+mn-ea"/>
              </a:rPr>
              <a:t>임시저장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개인별수신처관리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5877" y="4677443"/>
            <a:ext cx="64896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986447" y="4677443"/>
            <a:ext cx="173253" cy="8079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783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661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2824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086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29582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37357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7</a:t>
            </a:r>
            <a:endParaRPr lang="ko-KR" altLang="en-US" sz="900" b="1" dirty="0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43921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8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57163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9</a:t>
            </a:r>
            <a:endParaRPr lang="ko-KR" altLang="en-US" sz="900" b="1" dirty="0"/>
          </a:p>
        </p:txBody>
      </p:sp>
      <p:pic>
        <p:nvPicPr>
          <p:cNvPr id="120" name="그림 119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75623" r="4806" b="2422"/>
          <a:stretch/>
        </p:blipFill>
        <p:spPr>
          <a:xfrm>
            <a:off x="3964017" y="1859484"/>
            <a:ext cx="2362786" cy="607512"/>
          </a:xfrm>
          <a:prstGeom prst="rect">
            <a:avLst/>
          </a:prstGeom>
        </p:spPr>
      </p:pic>
      <p:grpSp>
        <p:nvGrpSpPr>
          <p:cNvPr id="118" name="그룹 117"/>
          <p:cNvGrpSpPr/>
          <p:nvPr/>
        </p:nvGrpSpPr>
        <p:grpSpPr>
          <a:xfrm>
            <a:off x="4018745" y="6004904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나의 게시물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3013" y="6039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 smtClean="0"/>
              <a:t>10</a:t>
            </a:r>
            <a:endParaRPr lang="ko-KR" altLang="en-US" sz="800" b="1" dirty="0"/>
          </a:p>
        </p:txBody>
      </p:sp>
      <p:grpSp>
        <p:nvGrpSpPr>
          <p:cNvPr id="125" name="그룹 12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6" name="직사각형 12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2026-07-27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7" name="직사각형 12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개인별수신처관리 진입 포인트 생성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93852922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페이지 또는 팝업 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 보관함 </a:t>
            </a:r>
            <a:r>
              <a:rPr lang="en-US" altLang="ko-KR" dirty="0"/>
              <a:t>MUI-CM-01-M71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latin typeface="+mn-ea"/>
              </a:rPr>
              <a:t>업체정보 관리 </a:t>
            </a:r>
            <a:r>
              <a:rPr lang="en-US" altLang="ko-KR" dirty="0" smtClean="0">
                <a:latin typeface="+mn-ea"/>
              </a:rPr>
              <a:t>MUI-CM-01-M01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사용자 정보 관리 </a:t>
            </a:r>
            <a:r>
              <a:rPr lang="en-US" altLang="ko-KR" dirty="0" smtClean="0">
                <a:latin typeface="+mn-ea"/>
              </a:rPr>
              <a:t>MUI-CM-02-M01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디지털 캐비닛 </a:t>
            </a:r>
            <a:r>
              <a:rPr lang="en-US" altLang="ko-KR" dirty="0" smtClean="0">
                <a:latin typeface="+mn-ea"/>
              </a:rPr>
              <a:t>MUI-CM-06-M14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알림 서비스 </a:t>
            </a:r>
            <a:r>
              <a:rPr lang="en-US" altLang="ko-KR" dirty="0">
                <a:latin typeface="+mn-ea"/>
              </a:rPr>
              <a:t>MUI-CM-02-M09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마이페이지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2411372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</a:t>
              </a:r>
              <a:r>
                <a:rPr lang="ko-KR" altLang="en-US" sz="800" b="1" dirty="0" smtClean="0">
                  <a:latin typeface="+mn-ea"/>
                </a:rPr>
                <a:t>정보 관리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2793616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사용자 </a:t>
              </a:r>
              <a:r>
                <a:rPr lang="ko-KR" altLang="en-US" sz="800" b="1" dirty="0" smtClean="0">
                  <a:latin typeface="+mn-ea"/>
                </a:rPr>
                <a:t>정보 관리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3173892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디지털 캐비닛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3559184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903581" y="202149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보관함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10362424" y="585047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회원탈퇴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2" name="직사각형 4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국외보관함</a:t>
              </a:r>
              <a:r>
                <a:rPr lang="ko-KR" altLang="en-US" sz="700" dirty="0" smtClean="0"/>
                <a:t> 추가</a:t>
              </a:r>
              <a:endParaRPr lang="en-US" altLang="ko-KR" sz="700" dirty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회원탈퇴 제거 </a:t>
              </a:r>
              <a:r>
                <a:rPr lang="en-US" altLang="ko-KR" sz="700" dirty="0" smtClean="0"/>
                <a:t>– </a:t>
              </a:r>
              <a:r>
                <a:rPr lang="ko-KR" altLang="en-US" sz="700" dirty="0" smtClean="0"/>
                <a:t>회원탈퇴는 사용자 정보 화면으로 이동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5078510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30297"/>
            <a:ext cx="217424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위젯관리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dl_wdgtList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590978"/>
              </p:ext>
            </p:extLst>
          </p:nvPr>
        </p:nvGraphicFramePr>
        <p:xfrm>
          <a:off x="452999" y="1814051"/>
          <a:ext cx="8994883" cy="1867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위젯명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위젯명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wdgtMyTaskPrgrsPrst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나의업무진행현황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23934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wdgtMyPst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나의게시물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811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wdgtItrstPbanc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관심공고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58752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wdgtTaskCldr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78170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wdgtMyDocBox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나의문서함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5187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wdgtNotiPrst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알림현황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7758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wdgtItrstStt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32971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054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8027433"/>
              </p:ext>
            </p:extLst>
          </p:nvPr>
        </p:nvGraphicFramePr>
        <p:xfrm>
          <a:off x="453000" y="4200291"/>
          <a:ext cx="8995591" cy="1069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사용자가 정의한 위젯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scwin.showMore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위젯 정보의 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UI-CM-06-M03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UI-CM-06-M05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800" dirty="0"/>
                        <a:t>UI-CM-06-M06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7293962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FFAC1962-C944-E2B4-5DF0-0324665AB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777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57D18B0-B117-96B9-3853-C02FAA96F96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8E0EA43-D1BD-0BAA-E3BC-D7F36797F54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35F1B0E-0FD5-E54A-A8DB-6022A7B6F1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131528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진행중인 업무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진행단계</a:t>
            </a:r>
            <a:r>
              <a:rPr lang="ko-KR" altLang="en-US" dirty="0"/>
              <a:t> 보기 버튼</a:t>
            </a:r>
            <a:r>
              <a:rPr lang="en-US" altLang="ko-KR" dirty="0"/>
              <a:t>, </a:t>
            </a:r>
            <a:r>
              <a:rPr lang="ko-KR" altLang="en-US" dirty="0"/>
              <a:t>공고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진행단계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팝업 </a:t>
            </a:r>
            <a:r>
              <a:rPr lang="ko-KR" altLang="en-US" dirty="0" smtClean="0">
                <a:sym typeface="Wingdings" panose="05000000000000000000" pitchFamily="2" charset="2"/>
              </a:rPr>
              <a:t>호출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MUI-CM-06-P03</a:t>
            </a:r>
            <a:endParaRPr lang="en-US" altLang="ko-KR" dirty="0" smtClean="0">
              <a:sym typeface="Wingdings" panose="05000000000000000000" pitchFamily="2" charset="2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665237"/>
            <a:chOff x="781461" y="2610063"/>
            <a:chExt cx="2473257" cy="665237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25771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2026-03-30 16:30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638607"/>
            <a:ext cx="2476203" cy="665237"/>
            <a:chOff x="778515" y="2610063"/>
            <a:chExt cx="2476203" cy="66523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460048" y="3139237"/>
              <a:ext cx="609141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2026-03-15 11:30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1211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적격심사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48687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45827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3187874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진행 단계 보기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069844" y="4426429"/>
            <a:ext cx="1184875" cy="196327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공고 </a:t>
            </a:r>
            <a:r>
              <a:rPr kumimoji="1" lang="ko-KR" altLang="en-US" sz="7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700" kern="0" dirty="0">
              <a:solidFill>
                <a:srgbClr val="0070C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0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909786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grpSp>
        <p:nvGrpSpPr>
          <p:cNvPr id="117" name="그룹 11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60259543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 단계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 진행 단계 클릭 시 선택이 유지되며</a:t>
            </a:r>
            <a:r>
              <a:rPr lang="en-US" altLang="ko-KR" dirty="0" smtClean="0"/>
              <a:t>,</a:t>
            </a:r>
            <a:r>
              <a:rPr lang="ko-KR" altLang="en-US" dirty="0" smtClean="0"/>
              <a:t> 하단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버튼으로 해당하는 목록으로 이동함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공고에 매칭되는 정보만 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해당 공고의 정보가 사용자가 선택하는 목록에 없는 경우 정보가 없음을 표시</a:t>
            </a:r>
            <a:r>
              <a:rPr lang="en-US" altLang="ko-KR" dirty="0" smtClean="0">
                <a:solidFill>
                  <a:srgbClr val="FF0000"/>
                </a:solidFill>
              </a:rPr>
              <a:t/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</a:t>
            </a:r>
            <a:r>
              <a:rPr lang="ko-KR" altLang="en-US" dirty="0" smtClean="0">
                <a:solidFill>
                  <a:srgbClr val="FF0000"/>
                </a:solidFill>
              </a:rPr>
              <a:t> 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목록까지 해당 공고가 표시되고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err="1" smtClean="0">
                <a:solidFill>
                  <a:srgbClr val="FF0000"/>
                </a:solidFill>
              </a:rPr>
              <a:t>전자계약</a:t>
            </a:r>
            <a:r>
              <a:rPr lang="ko-KR" altLang="en-US" dirty="0" smtClean="0">
                <a:solidFill>
                  <a:srgbClr val="FF0000"/>
                </a:solidFill>
              </a:rPr>
              <a:t> 목록부터는 해당 공고가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선택된 목록에는 검색 영역이 숨겨지고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선택한 공고에 해당하는 정보만 표시함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br>
              <a:rPr lang="en-US" altLang="ko-KR" dirty="0" smtClean="0">
                <a:solidFill>
                  <a:srgbClr val="FF0000"/>
                </a:solidFill>
              </a:rPr>
            </a:br>
            <a:r>
              <a:rPr lang="en-US" altLang="ko-KR" dirty="0" smtClean="0">
                <a:solidFill>
                  <a:srgbClr val="FF0000"/>
                </a:solidFill>
              </a:rPr>
              <a:t>    o </a:t>
            </a:r>
            <a:r>
              <a:rPr lang="ko-KR" altLang="en-US" dirty="0" smtClean="0">
                <a:solidFill>
                  <a:srgbClr val="FF0000"/>
                </a:solidFill>
              </a:rPr>
              <a:t>예를 들어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공고의 진행 상태가 개찰까지 이루어졌다면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개찰 목록에서 해당 공고가 표시될 때</a:t>
            </a:r>
            <a:r>
              <a:rPr lang="en-US" altLang="ko-KR" dirty="0" smtClean="0">
                <a:solidFill>
                  <a:srgbClr val="FF0000"/>
                </a:solidFill>
              </a:rPr>
              <a:t>, </a:t>
            </a:r>
            <a:r>
              <a:rPr lang="ko-KR" altLang="en-US" dirty="0" smtClean="0">
                <a:solidFill>
                  <a:srgbClr val="FF0000"/>
                </a:solidFill>
              </a:rPr>
              <a:t>검색 영역이 표시되지 않음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상기 표시된 단계 상태에 선택된 목록으로 이동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세부 스텝 팝업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진행중인 공고의 진행 단계를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나의진행업무현황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진행 단계 확인</a:t>
            </a:r>
          </a:p>
          <a:p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진행 업무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진행 단계 확인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26417" b="16151"/>
          <a:stretch/>
        </p:blipFill>
        <p:spPr>
          <a:xfrm>
            <a:off x="754234" y="2403907"/>
            <a:ext cx="2563266" cy="3320488"/>
          </a:xfrm>
          <a:prstGeom prst="rect">
            <a:avLst/>
          </a:prstGeom>
        </p:spPr>
      </p:pic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바로가기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29" name="그룹 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0" name="직사각형 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버튼 명칭 </a:t>
              </a:r>
              <a:r>
                <a:rPr lang="en-US" altLang="ko-KR" sz="700" dirty="0" smtClean="0"/>
                <a:t>[</a:t>
              </a:r>
              <a:r>
                <a:rPr lang="ko-KR" altLang="en-US" sz="700" dirty="0" smtClean="0"/>
                <a:t>공고 </a:t>
              </a:r>
              <a:r>
                <a:rPr lang="ko-KR" altLang="en-US" sz="700" dirty="0" err="1" smtClean="0"/>
                <a:t>바로가기</a:t>
              </a:r>
              <a:r>
                <a:rPr lang="en-US" altLang="ko-KR" sz="700" dirty="0" smtClean="0"/>
                <a:t>]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[</a:t>
              </a:r>
              <a:r>
                <a:rPr lang="ko-KR" altLang="en-US" sz="700" dirty="0" err="1" smtClean="0">
                  <a:sym typeface="Wingdings" panose="05000000000000000000" pitchFamily="2" charset="2"/>
                </a:rPr>
                <a:t>바로가기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] 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로 변경</a:t>
              </a:r>
              <a:endParaRPr lang="en-US" altLang="ko-KR" sz="700" dirty="0" smtClean="0">
                <a:sym typeface="Wingdings" panose="05000000000000000000" pitchFamily="2" charset="2"/>
              </a:endParaRPr>
            </a:p>
            <a:p>
              <a:pPr marL="228600" indent="-228600">
                <a:buAutoNum type="arabicPeriod"/>
              </a:pPr>
              <a:r>
                <a:rPr lang="ko-KR" altLang="en-US" sz="700" dirty="0" smtClean="0">
                  <a:sym typeface="Wingdings" panose="05000000000000000000" pitchFamily="2" charset="2"/>
                </a:rPr>
                <a:t>설명 추가 작성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7286207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업무 이력 현황에 표시되는 </a:t>
            </a:r>
            <a:r>
              <a:rPr lang="en-US" altLang="ko-KR" dirty="0" smtClean="0"/>
              <a:t>4</a:t>
            </a:r>
            <a:r>
              <a:rPr lang="ko-KR" altLang="en-US" dirty="0" smtClean="0"/>
              <a:t>가지 현황을 선택하여 볼 수 있음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각각 표시되는 항목은 개별 목록에 따라 다름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표시 정보 아래의 목록 참조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입찰참가신청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입찰서 제출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공개수의협상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입찰 진행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계약통합목록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진행중인 </a:t>
            </a:r>
            <a:r>
              <a:rPr lang="ko-KR" altLang="en-US" dirty="0"/>
              <a:t>업무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상세 화면으로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입찰 진행 상세 </a:t>
            </a:r>
            <a:r>
              <a:rPr lang="en-US" altLang="ko-KR" dirty="0" smtClean="0"/>
              <a:t>MUI-BD-03-M02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계약 상세는 조건에 따라 분기되어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MUI-CT-01-M03 </a:t>
            </a:r>
            <a:r>
              <a:rPr lang="ko-KR" altLang="en-US" dirty="0" err="1"/>
              <a:t>물품전자계약진행상세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MUI-CT-01-M04 </a:t>
            </a:r>
            <a:r>
              <a:rPr lang="ko-KR" altLang="en-US" dirty="0" err="1"/>
              <a:t>물품전자계약확정상세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MUI-CT-01-M09 </a:t>
            </a:r>
            <a:r>
              <a:rPr lang="ko-KR" altLang="en-US" dirty="0" err="1"/>
              <a:t>공사전자계약진행상세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MUI-CT-01-M07 </a:t>
            </a:r>
            <a:r>
              <a:rPr lang="ko-KR" altLang="en-US" dirty="0" smtClean="0"/>
              <a:t>물품총액계약서상세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MUI-CT-01-M08 </a:t>
            </a:r>
            <a:r>
              <a:rPr lang="ko-KR" altLang="en-US" dirty="0" smtClean="0"/>
              <a:t>물품단가계약서상세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MUI-CT-01-M05 </a:t>
            </a:r>
            <a:r>
              <a:rPr lang="ko-KR" altLang="en-US" dirty="0" smtClean="0"/>
              <a:t>물품일반계약서상세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MUI-CT-01-M10 </a:t>
            </a:r>
            <a:r>
              <a:rPr lang="ko-KR" altLang="en-US" dirty="0" smtClean="0"/>
              <a:t>공사계약서상세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MUI-CT-01-M06 </a:t>
            </a:r>
            <a:r>
              <a:rPr lang="ko-KR" altLang="en-US" dirty="0"/>
              <a:t>물품수정계약서상세</a:t>
            </a:r>
            <a:endParaRPr lang="en-US" altLang="ko-KR" dirty="0" smtClean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나의업무이력현황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나의업무이력현황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업무 이력 현황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5940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57276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265283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265283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367106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751142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6000A</a:t>
              </a:r>
            </a:p>
            <a:p>
              <a:r>
                <a:rPr lang="en-US" altLang="ko-KR" sz="900" b="1" dirty="0"/>
                <a:t>‘26</a:t>
              </a:r>
              <a:r>
                <a:rPr lang="ko-KR" altLang="en-US" sz="900" b="1" dirty="0"/>
                <a:t>년 </a:t>
              </a:r>
              <a:r>
                <a:rPr lang="en-US" altLang="ko-KR" sz="900" b="1" dirty="0"/>
                <a:t>K5</a:t>
              </a:r>
              <a:r>
                <a:rPr lang="ko-KR" altLang="en-US" sz="900" b="1" dirty="0"/>
                <a:t>방독면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781461" y="2610063"/>
              <a:ext cx="54965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latin typeface="+mn-ea"/>
                </a:rPr>
                <a:t>입찰참가신청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37923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67342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5" y="3994104"/>
            <a:ext cx="2476203" cy="1080735"/>
            <a:chOff x="778515" y="2610063"/>
            <a:chExt cx="2476203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778515" y="2610063"/>
              <a:ext cx="470172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>
                  <a:latin typeface="+mn-ea"/>
                </a:rPr>
                <a:t>입찰서제출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129942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59656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7558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1685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265283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99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25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20491" y="1941161"/>
            <a:ext cx="2621844" cy="199577"/>
            <a:chOff x="720490" y="1941161"/>
            <a:chExt cx="2938973" cy="199577"/>
          </a:xfrm>
        </p:grpSpPr>
        <p:sp>
          <p:nvSpPr>
            <p:cNvPr id="11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20490" y="1941161"/>
              <a:ext cx="698735" cy="199577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>
                  <a:solidFill>
                    <a:schemeClr val="bg1"/>
                  </a:solidFill>
                </a:rPr>
                <a:t>입찰참가신청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66334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 err="1"/>
                <a:t>입찰서제출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213531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공개수의협상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960728" y="1941161"/>
              <a:ext cx="698735" cy="199577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700" kern="0" dirty="0"/>
                <a:t>계약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2026-07-08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2" name="직사각형 12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상단 분기 버튼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삭제</a:t>
              </a:r>
              <a:endParaRPr lang="ko-KR" altLang="en-US" sz="700" dirty="0"/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66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90027646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입찰공고 내역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해당 공고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표시 아이콘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ko-KR" altLang="en-US" dirty="0" smtClean="0"/>
              <a:t>토스트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현재 페이지 유지 시 </a:t>
            </a:r>
            <a:r>
              <a:rPr lang="ko-KR" altLang="en-US" dirty="0" err="1" smtClean="0"/>
              <a:t>리로드하지</a:t>
            </a:r>
            <a:r>
              <a:rPr lang="ko-KR" altLang="en-US" dirty="0" smtClean="0"/>
              <a:t> 않고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별 하이라이트가 </a:t>
            </a:r>
            <a:r>
              <a:rPr lang="en-US" altLang="ko-KR" dirty="0" smtClean="0"/>
              <a:t>OFF</a:t>
            </a:r>
            <a:r>
              <a:rPr lang="ko-KR" altLang="en-US" dirty="0" smtClean="0"/>
              <a:t>으로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페이지를 이탈했다 다시 접근하는 경우 </a:t>
            </a:r>
            <a:r>
              <a:rPr lang="ko-KR" altLang="en-US" dirty="0" err="1" smtClean="0">
                <a:solidFill>
                  <a:srgbClr val="FF0000"/>
                </a:solidFill>
              </a:rPr>
              <a:t>즐겨찾기</a:t>
            </a:r>
            <a:r>
              <a:rPr lang="ko-KR" altLang="en-US" dirty="0" smtClean="0">
                <a:solidFill>
                  <a:srgbClr val="FF0000"/>
                </a:solidFill>
              </a:rPr>
              <a:t> 된 항목만 표시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즐겨찾기</a:t>
            </a:r>
            <a:r>
              <a:rPr lang="ko-KR" altLang="en-US" dirty="0"/>
              <a:t> 해제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다음부터 묻지 않기를 통해 앱 </a:t>
            </a:r>
            <a:r>
              <a:rPr lang="ko-KR" altLang="en-US" dirty="0" err="1"/>
              <a:t>스토리지에</a:t>
            </a:r>
            <a:r>
              <a:rPr lang="ko-KR" altLang="en-US" dirty="0"/>
              <a:t> 내역 저장하고</a:t>
            </a:r>
            <a:r>
              <a:rPr lang="en-US" altLang="ko-KR" dirty="0"/>
              <a:t>, </a:t>
            </a:r>
            <a:r>
              <a:rPr lang="ko-KR" altLang="en-US" dirty="0"/>
              <a:t>클릭 이후 즉시 </a:t>
            </a:r>
            <a:r>
              <a:rPr lang="ko-KR" altLang="en-US" dirty="0" err="1"/>
              <a:t>즐겨찾기</a:t>
            </a:r>
            <a:r>
              <a:rPr lang="ko-KR" altLang="en-US" dirty="0"/>
              <a:t> </a:t>
            </a:r>
            <a:r>
              <a:rPr lang="ko-KR" altLang="en-US" dirty="0" smtClean="0"/>
              <a:t>해제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즐겨찾기</a:t>
            </a:r>
            <a:r>
              <a:rPr lang="ko-KR" altLang="en-US" dirty="0" smtClean="0"/>
              <a:t> 해제 시 토스트 메시지 노출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관심입찰공고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관심입찰공고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관심입찰공고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1080735"/>
            <a:chOff x="781461" y="2610063"/>
            <a:chExt cx="2473257" cy="1080735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538609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화력총괄계약팀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2178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1076372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수의계약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604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78516" y="3638607"/>
            <a:ext cx="2476202" cy="1080735"/>
            <a:chOff x="778516" y="2610063"/>
            <a:chExt cx="2476202" cy="1080735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정상공고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2026LGM000604191-01</a:t>
              </a:r>
            </a:p>
            <a:p>
              <a:pPr lvl="0"/>
              <a:r>
                <a:rPr lang="en-US" altLang="ko-KR" sz="900" b="1" dirty="0">
                  <a:solidFill>
                    <a:prstClr val="black"/>
                  </a:solidFill>
                </a:rPr>
                <a:t>(26-</a:t>
              </a:r>
              <a:r>
                <a:rPr lang="ko-KR" altLang="en-US" sz="900" b="1" dirty="0">
                  <a:solidFill>
                    <a:srgbClr val="5B9BD5">
                      <a:lumMod val="75000"/>
                    </a:srgbClr>
                  </a:solidFill>
                </a:rPr>
                <a:t>물품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-04)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간편한 </a:t>
              </a:r>
              <a:r>
                <a:rPr lang="ko-KR" altLang="en-US" sz="900" b="1" dirty="0" err="1">
                  <a:solidFill>
                    <a:prstClr val="black"/>
                  </a:solidFill>
                </a:rPr>
                <a:t>아침식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 제조 및 납품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84721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발주예정월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계약방법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예산금액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303" y="3139237"/>
              <a:ext cx="47288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제</a:t>
              </a:r>
              <a:r>
                <a:rPr lang="en-US" altLang="ko-KR" sz="600" dirty="0">
                  <a:latin typeface="+mn-ea"/>
                </a:rPr>
                <a:t>9911</a:t>
              </a:r>
              <a:r>
                <a:rPr lang="ko-KR" altLang="en-US" sz="600" dirty="0">
                  <a:latin typeface="+mn-ea"/>
                </a:rPr>
                <a:t>부대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총액제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92,472,000 </a:t>
              </a:r>
              <a:r>
                <a:rPr lang="ko-KR" altLang="en-US" sz="600" dirty="0">
                  <a:latin typeface="+mn-ea"/>
                </a:rPr>
                <a:t>원</a:t>
              </a: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78516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81" name="모서리가 둥근 직사각형 80"/>
            <p:cNvSpPr/>
            <p:nvPr/>
          </p:nvSpPr>
          <p:spPr>
            <a:xfrm>
              <a:off x="1075656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제한경쟁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200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613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42334" y="2522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9" name="포인트가 5개인 별 98"/>
          <p:cNvSpPr/>
          <p:nvPr/>
        </p:nvSpPr>
        <p:spPr>
          <a:xfrm>
            <a:off x="3095327" y="252217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포인트가 5개인 별 99"/>
          <p:cNvSpPr/>
          <p:nvPr/>
        </p:nvSpPr>
        <p:spPr>
          <a:xfrm>
            <a:off x="3095327" y="3781959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3861751" y="3094459"/>
            <a:ext cx="2579992" cy="1519296"/>
            <a:chOff x="3905688" y="3002600"/>
            <a:chExt cx="2579992" cy="1519296"/>
          </a:xfrm>
        </p:grpSpPr>
        <p:sp>
          <p:nvSpPr>
            <p:cNvPr id="110" name="모서리가 둥근 직사각형 109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1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해제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관심공고</a:t>
              </a:r>
              <a:r>
                <a:rPr lang="ko-KR" altLang="en-US" sz="900" b="1" dirty="0">
                  <a:latin typeface="+mn-ea"/>
                </a:rPr>
                <a:t> 해제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94108" y="3769306"/>
              <a:ext cx="153441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다음부터 묻지 않기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해제하면 관심입찰공고 목록과 업무 캘린더에서 선택하신 입찰공고가 사라집니다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</a:t>
              </a:r>
              <a:r>
                <a:rPr lang="ko-KR" altLang="en-US" sz="700" dirty="0" err="1">
                  <a:latin typeface="+mn-ea"/>
                </a:rPr>
                <a:t>관심공고를</a:t>
              </a:r>
              <a:r>
                <a:rPr lang="ko-KR" altLang="en-US" sz="700" dirty="0">
                  <a:latin typeface="+mn-ea"/>
                </a:rPr>
                <a:t> 해제할까요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8" name="그룹 117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" name="그룹 4"/>
          <p:cNvGrpSpPr/>
          <p:nvPr/>
        </p:nvGrpSpPr>
        <p:grpSpPr>
          <a:xfrm>
            <a:off x="4514140" y="3832746"/>
            <a:ext cx="221536" cy="184666"/>
            <a:chOff x="3830871" y="2481673"/>
            <a:chExt cx="221536" cy="184666"/>
          </a:xfrm>
        </p:grpSpPr>
        <p:sp>
          <p:nvSpPr>
            <p:cNvPr id="123" name="직사각형 122"/>
            <p:cNvSpPr/>
            <p:nvPr/>
          </p:nvSpPr>
          <p:spPr>
            <a:xfrm>
              <a:off x="3890202" y="2520031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830871" y="2481673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4" name="타원 1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31929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1" name="모서리가 둥근 직사각형 70"/>
          <p:cNvSpPr/>
          <p:nvPr/>
        </p:nvSpPr>
        <p:spPr>
          <a:xfrm>
            <a:off x="4435552" y="5845175"/>
            <a:ext cx="143239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관심공고에서 제외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0924" y="58536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3609652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26865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01"/>
            <a:ext cx="28539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관심입찰공고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dl_itrstBidPbancList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3806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bdopnEndYmd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0037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intgRfrncNo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통합참조번호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pbancItemNm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8322261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6655"/>
          <a:ext cx="8994883" cy="2836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511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761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taskSeNm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:GTSA0001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g2bPbancNoCycl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G2B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prcmNo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구매요청 번호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입찰건명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prdcpvSbmsnDcmntDdlnDt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생산능력제출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45716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bidRegDdlnDt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입찰참가등록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52245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tndrSbmsnDdlnDt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입찰서제출 마감일시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47063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bdopnDt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70713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ctrtMthd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:CTMC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0332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bidShp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입찰형태코드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:BMDC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3381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6781103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090E7E8-C9B9-2137-4E56-5636F631CC8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8CDD53D7-9569-50DE-5C9A-9DA088329DC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6369C9BE-4C9F-797E-A3BA-7BAB624BF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1070199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88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617717"/>
            <a:ext cx="1222242" cy="22659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D9706EB-63A9-0124-E495-42F1454AEE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868603"/>
              </p:ext>
            </p:extLst>
          </p:nvPr>
        </p:nvGraphicFramePr>
        <p:xfrm>
          <a:off x="453000" y="872100"/>
          <a:ext cx="8995591" cy="1213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7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09133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140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343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 err="1"/>
                        <a:t>입찰건명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itrstBidPbancList</a:t>
                      </a:r>
                      <a:r>
                        <a:rPr lang="en-US" altLang="ko-KR" sz="800" dirty="0" err="1"/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관심입찰에서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02181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B5224CA-452A-F073-EA56-08ACA48E9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76138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0647959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캘린더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 스케줄 표시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 smtClean="0"/>
              <a:t>관심공고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클릭 시 해당 공고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 등록 </a:t>
            </a:r>
            <a:r>
              <a:rPr lang="ko-KR" altLang="en-US" dirty="0" smtClean="0"/>
              <a:t>스케줄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상세내역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바텀</a:t>
            </a:r>
            <a:r>
              <a:rPr lang="ko-KR" altLang="en-US" dirty="0" smtClean="0"/>
              <a:t> 시트 호출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-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즐겨찾기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해제시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err="1" smtClean="0">
                <a:solidFill>
                  <a:srgbClr val="000000"/>
                </a:solidFill>
                <a:latin typeface="맑은 고딕" panose="020B0503020000020004" pitchFamily="50" charset="-127"/>
              </a:rPr>
              <a:t>관심공고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해제 팝업 다음부터 묻지 않기가 설정되지 않은 경우 팝업 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해당일에 일정이 없는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 일정 없음  텍스트 및 일정 등록 버튼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89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6075740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1" name="모서리가 둥근 직사각형 70"/>
          <p:cNvSpPr/>
          <p:nvPr/>
        </p:nvSpPr>
        <p:spPr>
          <a:xfrm>
            <a:off x="778516" y="450477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474925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즐겨찾기</a:t>
            </a:r>
            <a:r>
              <a:rPr lang="en-US" altLang="ko-KR" sz="800" b="1" dirty="0">
                <a:latin typeface="+mn-ea"/>
              </a:rPr>
              <a:t>(</a:t>
            </a:r>
            <a:r>
              <a:rPr lang="ko-KR" altLang="en-US" sz="800" b="1" dirty="0">
                <a:latin typeface="+mn-ea"/>
              </a:rPr>
              <a:t>찜</a:t>
            </a:r>
            <a:r>
              <a:rPr lang="en-US" altLang="ko-KR" sz="800" b="1" dirty="0">
                <a:latin typeface="+mn-ea"/>
              </a:rPr>
              <a:t>)</a:t>
            </a:r>
            <a:r>
              <a:rPr lang="ko-KR" altLang="en-US" sz="800" b="1" dirty="0">
                <a:latin typeface="+mn-ea"/>
              </a:rPr>
              <a:t>한 입찰공고 표시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460104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75" name="모서리가 둥근 직사각형 74"/>
          <p:cNvSpPr/>
          <p:nvPr/>
        </p:nvSpPr>
        <p:spPr>
          <a:xfrm>
            <a:off x="909990" y="459558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468479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77" name="모서리가 둥근 직사각형 76"/>
          <p:cNvSpPr/>
          <p:nvPr/>
        </p:nvSpPr>
        <p:spPr>
          <a:xfrm>
            <a:off x="778516" y="5013501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2579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입찰공고명이 표시됩니다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1097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공고번호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000 00 0000</a:t>
            </a:r>
            <a:endParaRPr lang="ko-KR" altLang="en-US" sz="700" dirty="0"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9990" y="5104309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193517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778516" y="5522226"/>
            <a:ext cx="2453982" cy="467755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9990" y="576670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작성한 스케줄이 있는 경우 </a:t>
            </a:r>
            <a:r>
              <a:rPr lang="ko-KR" altLang="en-US" sz="800" b="1" dirty="0" err="1">
                <a:latin typeface="+mn-ea"/>
              </a:rPr>
              <a:t>표시됩</a:t>
            </a:r>
            <a:r>
              <a:rPr lang="en-US" altLang="ko-KR" sz="800" b="1" dirty="0">
                <a:latin typeface="+mn-ea"/>
              </a:rPr>
              <a:t>…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7845" y="561849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모서리가 둥근 직사각형 88"/>
          <p:cNvSpPr/>
          <p:nvPr/>
        </p:nvSpPr>
        <p:spPr>
          <a:xfrm>
            <a:off x="909990" y="5613034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개인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315" y="5702242"/>
            <a:ext cx="36801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700" dirty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6EA78311-C2E0-881B-8EBE-A8E77192A99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4" t="3350" r="4806" b="2041"/>
          <a:stretch/>
        </p:blipFill>
        <p:spPr>
          <a:xfrm>
            <a:off x="739935" y="1892593"/>
            <a:ext cx="2545377" cy="2219046"/>
          </a:xfrm>
          <a:prstGeom prst="rect">
            <a:avLst/>
          </a:prstGeom>
        </p:spPr>
      </p:pic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1856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428385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b="1" dirty="0">
                <a:latin typeface="+mn-ea"/>
              </a:rPr>
              <a:t>2026</a:t>
            </a:r>
            <a:r>
              <a:rPr lang="ko-KR" altLang="en-US" sz="800" b="1" dirty="0">
                <a:latin typeface="+mn-ea"/>
              </a:rPr>
              <a:t>년 </a:t>
            </a:r>
            <a:r>
              <a:rPr lang="en-US" altLang="ko-KR" sz="800" b="1" dirty="0">
                <a:latin typeface="+mn-ea"/>
              </a:rPr>
              <a:t>8</a:t>
            </a:r>
            <a:r>
              <a:rPr lang="ko-KR" altLang="en-US" sz="800" b="1" dirty="0">
                <a:latin typeface="+mn-ea"/>
              </a:rPr>
              <a:t>월 </a:t>
            </a:r>
            <a:r>
              <a:rPr lang="en-US" altLang="ko-KR" sz="800" b="1" dirty="0">
                <a:latin typeface="+mn-ea"/>
              </a:rPr>
              <a:t>12</a:t>
            </a:r>
            <a:r>
              <a:rPr lang="ko-KR" altLang="en-US" sz="800" b="1" dirty="0">
                <a:latin typeface="+mn-ea"/>
              </a:rPr>
              <a:t>일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6243" y="425915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5" name="포인트가 5개인 별 94"/>
          <p:cNvSpPr/>
          <p:nvPr/>
        </p:nvSpPr>
        <p:spPr>
          <a:xfrm>
            <a:off x="2777831" y="4658958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포인트가 5개인 별 95"/>
          <p:cNvSpPr/>
          <p:nvPr/>
        </p:nvSpPr>
        <p:spPr>
          <a:xfrm>
            <a:off x="2777831" y="5167683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3646" y="5193517"/>
            <a:ext cx="2476202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등록하기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27315" y="4266950"/>
            <a:ext cx="527403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일정 등록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285769" y="49596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표시할 일정이 없습니다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3795734" y="1515996"/>
            <a:ext cx="2712027" cy="2890970"/>
            <a:chOff x="3777376" y="1515996"/>
            <a:chExt cx="2712027" cy="2890970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32878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업무 캘린더</a:t>
              </a:r>
            </a:p>
          </p:txBody>
        </p: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5" name="그룹 104"/>
            <p:cNvGrpSpPr/>
            <p:nvPr/>
          </p:nvGrpSpPr>
          <p:grpSpPr>
            <a:xfrm rot="5400000">
              <a:off x="3851819" y="1640499"/>
              <a:ext cx="94010" cy="47005"/>
              <a:chOff x="6812560" y="3297172"/>
              <a:chExt cx="94010" cy="47005"/>
            </a:xfrm>
          </p:grpSpPr>
          <p:cxnSp>
            <p:nvCxnSpPr>
              <p:cNvPr id="106" name="직선 연결선 1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7" name="직선 연결선 1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8" name="타원 107"/>
            <p:cNvSpPr/>
            <p:nvPr/>
          </p:nvSpPr>
          <p:spPr>
            <a:xfrm>
              <a:off x="6141343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6090092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pic>
          <p:nvPicPr>
            <p:cNvPr id="115" name="그림 114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t="3350" r="4806" b="2041"/>
            <a:stretch/>
          </p:blipFill>
          <p:spPr>
            <a:xfrm>
              <a:off x="3836741" y="1892593"/>
              <a:ext cx="2545377" cy="2219046"/>
            </a:xfrm>
            <a:prstGeom prst="rect">
              <a:avLst/>
            </a:prstGeom>
          </p:spPr>
        </p:pic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77376" y="41856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75322" y="4283855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2026</a:t>
              </a:r>
              <a:r>
                <a:rPr lang="ko-KR" altLang="en-US" sz="800" b="1" dirty="0">
                  <a:latin typeface="+mn-ea"/>
                </a:rPr>
                <a:t>년 </a:t>
              </a:r>
              <a:r>
                <a:rPr lang="en-US" altLang="ko-KR" sz="800" b="1" dirty="0">
                  <a:latin typeface="+mn-ea"/>
                </a:rPr>
                <a:t>8</a:t>
              </a:r>
              <a:r>
                <a:rPr lang="ko-KR" altLang="en-US" sz="800" b="1" dirty="0">
                  <a:latin typeface="+mn-ea"/>
                </a:rPr>
                <a:t>월 </a:t>
              </a:r>
              <a:r>
                <a:rPr lang="en-US" altLang="ko-KR" sz="800" b="1" dirty="0">
                  <a:latin typeface="+mn-ea"/>
                </a:rPr>
                <a:t>12</a:t>
              </a:r>
              <a:r>
                <a:rPr lang="ko-KR" altLang="en-US" sz="800" b="1" dirty="0">
                  <a:latin typeface="+mn-ea"/>
                </a:rPr>
                <a:t>일</a:t>
              </a:r>
            </a:p>
          </p:txBody>
        </p:sp>
      </p:grp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2807" y="188542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0302360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3060654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13487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41543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수정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ko-KR" altLang="en-US" dirty="0" smtClean="0"/>
              <a:t>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수정 시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이동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삭제 시 확인 팝업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팝업에서 삭제 시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삭제되었습니다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토스트 메시지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업무캘린더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일정 상세 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표시하는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상세 정보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82728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90860"/>
            <a:ext cx="25326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사용자가 작성한 내용 </a:t>
            </a:r>
            <a:r>
              <a:rPr lang="en-US" altLang="ko-KR" sz="7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⁞</a:t>
            </a:r>
            <a:endParaRPr lang="ko-KR" altLang="en-US" sz="700" dirty="0">
              <a:latin typeface="+mn-ea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2585131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2026</a:t>
            </a:r>
            <a:r>
              <a:rPr lang="ko-KR" altLang="en-US" sz="800" dirty="0">
                <a:latin typeface="+mn-ea"/>
              </a:rPr>
              <a:t>년 </a:t>
            </a:r>
            <a:r>
              <a:rPr lang="en-US" altLang="ko-KR" sz="800" dirty="0">
                <a:latin typeface="+mn-ea"/>
              </a:rPr>
              <a:t>8</a:t>
            </a:r>
            <a:r>
              <a:rPr lang="ko-KR" altLang="en-US" sz="800" dirty="0">
                <a:latin typeface="+mn-ea"/>
              </a:rPr>
              <a:t>월 </a:t>
            </a:r>
            <a:r>
              <a:rPr lang="en-US" altLang="ko-KR" sz="800" dirty="0">
                <a:latin typeface="+mn-ea"/>
              </a:rPr>
              <a:t>12</a:t>
            </a:r>
            <a:r>
              <a:rPr lang="ko-KR" altLang="en-US" sz="800" dirty="0">
                <a:latin typeface="+mn-ea"/>
              </a:rPr>
              <a:t>일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선택 날짜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029079"/>
            <a:ext cx="248428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작성한 스케줄이 있는 경우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28004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6743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873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084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10630888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업무 캘린더 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미입력</a:t>
            </a:r>
            <a:r>
              <a:rPr lang="ko-KR" altLang="en-US" dirty="0"/>
              <a:t> 유효성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수정에 따라 버튼 표시 </a:t>
            </a:r>
            <a:r>
              <a:rPr lang="ko-KR" altLang="en-US" dirty="0" smtClean="0"/>
              <a:t>변경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등록</a:t>
            </a:r>
            <a:r>
              <a:rPr lang="en-US" altLang="ko-KR" dirty="0" smtClean="0"/>
              <a:t>,</a:t>
            </a:r>
            <a:r>
              <a:rPr lang="ko-KR" altLang="en-US" dirty="0" smtClean="0"/>
              <a:t> </a:t>
            </a:r>
            <a:r>
              <a:rPr lang="ko-KR" altLang="en-US" dirty="0" smtClean="0"/>
              <a:t>수정됨에 따라 토스트 메시지 노출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등록 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수정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등록</a:t>
            </a:r>
            <a:r>
              <a:rPr lang="en-US" altLang="ko-KR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수정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일정을 등록하거나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등록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수정 팝업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MUI-CM-06-P08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등록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등록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034351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619437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406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8812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01556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0" name="모서리가 둥근 직사각형 39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41" name="그림 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80925" y="2655701"/>
            <a:ext cx="134873" cy="137278"/>
          </a:xfrm>
          <a:prstGeom prst="rect">
            <a:avLst/>
          </a:prstGeom>
        </p:spPr>
      </p:pic>
      <p:sp>
        <p:nvSpPr>
          <p:cNvPr id="42" name="모서리가 둥근 직사각형 41"/>
          <p:cNvSpPr/>
          <p:nvPr/>
        </p:nvSpPr>
        <p:spPr>
          <a:xfrm>
            <a:off x="720467" y="3244531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제목을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720467" y="3823033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bg1">
                    <a:lumMod val="75000"/>
                  </a:schemeClr>
                </a:solidFill>
              </a:rPr>
              <a:t>내용을 입력해주세요</a:t>
            </a:r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.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8301" y="1608355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799" y="184693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 rot="5400000">
            <a:off x="3877242" y="1640498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3" name="타원 52"/>
          <p:cNvSpPr/>
          <p:nvPr/>
        </p:nvSpPr>
        <p:spPr>
          <a:xfrm>
            <a:off x="6166766" y="158037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/>
          <p:cNvSpPr txBox="1"/>
          <p:nvPr/>
        </p:nvSpPr>
        <p:spPr>
          <a:xfrm>
            <a:off x="6115515" y="1515995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8908" y="1493926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6" name="양쪽 모서리가 둥근 사각형 55"/>
          <p:cNvSpPr/>
          <p:nvPr/>
        </p:nvSpPr>
        <p:spPr>
          <a:xfrm>
            <a:off x="3802083" y="1908438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4888096" y="1945065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6291022" y="2079481"/>
            <a:ext cx="94010" cy="94010"/>
            <a:chOff x="6812560" y="3297172"/>
            <a:chExt cx="94010" cy="94010"/>
          </a:xfrm>
        </p:grpSpPr>
        <p:cxnSp>
          <p:nvCxnSpPr>
            <p:cNvPr id="59" name="직선 연결선 5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0" name="직선 연결선 5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1160" y="2060160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일정 수정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83" y="232156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4616642" y="5828261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수정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6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31159" y="5828261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034350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제목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245731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 날짜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375" y="3619436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내용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540682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5881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2719" y="30155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>
            <a:off x="3842696" y="260497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latin typeface="+mn-ea"/>
              </a:rPr>
              <a:t>2026-08-12</a:t>
            </a:r>
            <a:endParaRPr lang="ko-KR" altLang="en-US" sz="800" dirty="0">
              <a:latin typeface="+mn-ea"/>
            </a:endParaRP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03154" y="2655700"/>
            <a:ext cx="134873" cy="137278"/>
          </a:xfrm>
          <a:prstGeom prst="rect">
            <a:avLst/>
          </a:prstGeom>
        </p:spPr>
      </p:pic>
      <p:sp>
        <p:nvSpPr>
          <p:cNvPr id="73" name="모서리가 둥근 직사각형 72"/>
          <p:cNvSpPr/>
          <p:nvPr/>
        </p:nvSpPr>
        <p:spPr>
          <a:xfrm>
            <a:off x="3842696" y="3244530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800" dirty="0">
                <a:latin typeface="+mn-ea"/>
              </a:rPr>
              <a:t>작성한 제목이 표시됩니다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3842696" y="3823032"/>
            <a:ext cx="2610778" cy="1528248"/>
          </a:xfrm>
          <a:prstGeom prst="roundRect">
            <a:avLst>
              <a:gd name="adj" fmla="val 5377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t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작성한 내용이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 err="1">
                <a:solidFill>
                  <a:schemeClr val="tx1"/>
                </a:solidFill>
              </a:rPr>
              <a:t>여러줄이</a:t>
            </a:r>
            <a:r>
              <a:rPr lang="ko-KR" altLang="en-US" sz="800" dirty="0">
                <a:solidFill>
                  <a:schemeClr val="tx1"/>
                </a:solidFill>
              </a:rPr>
              <a:t> 있는 경우 맞춰서 표시 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en-US" altLang="ko-KR" sz="800" dirty="0">
                <a:solidFill>
                  <a:schemeClr val="tx1"/>
                </a:solidFill>
              </a:rPr>
              <a:t>Input </a:t>
            </a:r>
            <a:r>
              <a:rPr lang="ko-KR" altLang="en-US" sz="800" dirty="0">
                <a:solidFill>
                  <a:schemeClr val="tx1"/>
                </a:solidFill>
              </a:rPr>
              <a:t>박스의 기본 세로 크기는 </a:t>
            </a:r>
            <a:r>
              <a:rPr lang="en-US" altLang="ko-KR" sz="800" dirty="0">
                <a:solidFill>
                  <a:schemeClr val="tx1"/>
                </a:solidFill>
              </a:rPr>
              <a:t>10</a:t>
            </a:r>
            <a:r>
              <a:rPr lang="ko-KR" altLang="en-US" sz="800" dirty="0">
                <a:solidFill>
                  <a:schemeClr val="tx1"/>
                </a:solidFill>
              </a:rPr>
              <a:t>줄이며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입력한 내용에 따라 늘어나며 표시됩니다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3107769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6849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6862046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확인 팝업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삭제 클릭 시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삭제 되었습니다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삭제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등록한 일정을 삭제하는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업무캘린더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상세 정보 팝업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일정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MUI-CM-06-P09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업무 캘린더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39" name="그룹 38"/>
          <p:cNvGrpSpPr/>
          <p:nvPr/>
        </p:nvGrpSpPr>
        <p:grpSpPr>
          <a:xfrm>
            <a:off x="741416" y="3094459"/>
            <a:ext cx="2579992" cy="1519296"/>
            <a:chOff x="3905688" y="3002600"/>
            <a:chExt cx="2579992" cy="1519296"/>
          </a:xfrm>
        </p:grpSpPr>
        <p:sp>
          <p:nvSpPr>
            <p:cNvPr id="45" name="모서리가 둥근 직사각형 44"/>
            <p:cNvSpPr/>
            <p:nvPr/>
          </p:nvSpPr>
          <p:spPr>
            <a:xfrm>
              <a:off x="3905688" y="3002600"/>
              <a:ext cx="2579992" cy="1519296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5248526" y="4069159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삭제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023382" y="4069159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382" y="31493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일정 삭제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43112" y="3381838"/>
              <a:ext cx="2305144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업무 캘린더에 등록된 일정을 삭제합니다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삭제된 일정은 복구할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>
                  <a:latin typeface="+mn-ea"/>
                </a:rPr>
                <a:t>정말 삭제할까요</a:t>
              </a:r>
              <a:r>
                <a:rPr lang="en-US" altLang="ko-KR" sz="700" dirty="0">
                  <a:latin typeface="+mn-ea"/>
                </a:rPr>
                <a:t>?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2" name="그룹 51"/>
            <p:cNvGrpSpPr/>
            <p:nvPr/>
          </p:nvGrpSpPr>
          <p:grpSpPr>
            <a:xfrm>
              <a:off x="6234516" y="3149329"/>
              <a:ext cx="94010" cy="94010"/>
              <a:chOff x="6812560" y="3297172"/>
              <a:chExt cx="94010" cy="94010"/>
            </a:xfrm>
          </p:grpSpPr>
          <p:cxnSp>
            <p:nvCxnSpPr>
              <p:cNvPr id="53" name="직선 연결선 52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32965694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94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09414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업무캘린더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dl_taskCldrList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93168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제목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schdlTtl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291" y="19725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5456713"/>
              </p:ext>
            </p:extLst>
          </p:nvPr>
        </p:nvGraphicFramePr>
        <p:xfrm>
          <a:off x="453000" y="2202145"/>
          <a:ext cx="8995591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캘린더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날짜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scwin.getSchdlDtl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해당날짜에 등록된 상세내용이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3622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등록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업무캘린더에 일정을 등록한다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7871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등록된 일정을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작성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scwin.btn_wrt_onclick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업무캘린더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일정 등록화면으로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UI-CM-06-M04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682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0850663-6D69-7CD5-CA30-B78A0AE4F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09143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C7D208F1-F7C0-67E8-82DE-6E1266B13A1B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883B8588-F8C5-021F-37D3-ABFFEEDD334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075AC32-2550-E900-71E4-B0A0220BC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043737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있는 경우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</a:t>
            </a:r>
            <a:r>
              <a:rPr lang="ko-KR" altLang="en-US" dirty="0" smtClean="0"/>
              <a:t>정렬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보낸 문서 데이터 항목이 따로 존재하여</a:t>
            </a:r>
            <a:r>
              <a:rPr lang="en-US" altLang="ko-KR" dirty="0" smtClean="0"/>
              <a:t>, </a:t>
            </a:r>
            <a:r>
              <a:rPr lang="ko-KR" altLang="en-US" dirty="0" smtClean="0"/>
              <a:t>하나로 합쳐서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이때 받은 데이터 영역의 정보를 레이블로 표시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받은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보낸 문서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임시저장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반려받은</a:t>
            </a:r>
            <a:r>
              <a:rPr lang="ko-KR" altLang="en-US" dirty="0" smtClean="0"/>
              <a:t> 문서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반려한 문서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상세 화면 이동 </a:t>
            </a:r>
            <a:r>
              <a:rPr lang="en-US" altLang="ko-KR" dirty="0"/>
              <a:t>MUI-CM-06-M11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95645"/>
            <a:ext cx="2473257" cy="806173"/>
            <a:chOff x="781461" y="2610063"/>
            <a:chExt cx="2473257" cy="806173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79" name="모서리가 둥근 직사각형 78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71" name="모서리가 둥근 직사각형 70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72" name="모서리가 둥근 직사각형 71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3245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4" name="그룹 73"/>
          <p:cNvGrpSpPr/>
          <p:nvPr/>
        </p:nvGrpSpPr>
        <p:grpSpPr>
          <a:xfrm>
            <a:off x="781461" y="3436694"/>
            <a:ext cx="2473257" cy="821562"/>
            <a:chOff x="781461" y="2610063"/>
            <a:chExt cx="2473257" cy="821562"/>
          </a:xfrm>
        </p:grpSpPr>
        <p:sp>
          <p:nvSpPr>
            <p:cNvPr id="7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수신처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7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송신일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확인일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82" name="모서리가 둥근 직사각형 81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보낸 문서</a:t>
              </a:r>
            </a:p>
          </p:txBody>
        </p:sp>
        <p:sp>
          <p:nvSpPr>
            <p:cNvPr id="83" name="모서리가 둥근 직사각형 82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84" name="모서리가 둥근 직사각형 83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564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6" name="그룹 85"/>
          <p:cNvGrpSpPr/>
          <p:nvPr/>
        </p:nvGrpSpPr>
        <p:grpSpPr>
          <a:xfrm>
            <a:off x="781461" y="4493250"/>
            <a:ext cx="2473257" cy="532810"/>
            <a:chOff x="781461" y="2610063"/>
            <a:chExt cx="2473257" cy="532810"/>
          </a:xfrm>
        </p:grpSpPr>
        <p:sp>
          <p:nvSpPr>
            <p:cNvPr id="8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8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2199"/>
              <a:ext cx="230832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8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006810"/>
              <a:ext cx="397545" cy="1206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</p:txBody>
        </p:sp>
        <p:sp>
          <p:nvSpPr>
            <p:cNvPr id="90" name="모서리가 둥근 직사각형 89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임시저장</a:t>
              </a:r>
              <a:endParaRPr lang="ko-KR" altLang="en-US" sz="600" dirty="0"/>
            </a:p>
          </p:txBody>
        </p:sp>
      </p:grp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14081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1" name="타원 100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103" name="그룹 102"/>
          <p:cNvGrpSpPr/>
          <p:nvPr/>
        </p:nvGrpSpPr>
        <p:grpSpPr>
          <a:xfrm>
            <a:off x="3896624" y="1979532"/>
            <a:ext cx="2473258" cy="806173"/>
            <a:chOff x="781460" y="2610063"/>
            <a:chExt cx="2473258" cy="806173"/>
          </a:xfrm>
        </p:grpSpPr>
        <p:sp>
          <p:nvSpPr>
            <p:cNvPr id="10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0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0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07" name="모서리가 둥근 직사각형 106"/>
            <p:cNvSpPr/>
            <p:nvPr/>
          </p:nvSpPr>
          <p:spPr>
            <a:xfrm>
              <a:off x="781460" y="2610063"/>
              <a:ext cx="575363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반려받은</a:t>
              </a:r>
              <a:r>
                <a:rPr lang="ko-KR" altLang="en-US" sz="600" dirty="0"/>
                <a:t> 문서</a:t>
              </a:r>
            </a:p>
          </p:txBody>
        </p:sp>
      </p:grp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290847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/>
          <p:cNvGrpSpPr/>
          <p:nvPr/>
        </p:nvGrpSpPr>
        <p:grpSpPr>
          <a:xfrm>
            <a:off x="3896625" y="3020581"/>
            <a:ext cx="2473257" cy="821562"/>
            <a:chOff x="781461" y="2610063"/>
            <a:chExt cx="2473257" cy="821562"/>
          </a:xfrm>
        </p:grpSpPr>
        <p:sp>
          <p:nvSpPr>
            <p:cNvPr id="1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반려처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반려자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28" name="모서리가 둥근 직사각형 127"/>
            <p:cNvSpPr/>
            <p:nvPr/>
          </p:nvSpPr>
          <p:spPr>
            <a:xfrm>
              <a:off x="781461" y="2610063"/>
              <a:ext cx="51345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반려한 문서</a:t>
              </a:r>
            </a:p>
          </p:txBody>
        </p:sp>
      </p:grp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54" y="39495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49637499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문서함 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 err="1"/>
              <a:t>받은문서</a:t>
            </a:r>
            <a:r>
              <a:rPr lang="en-US" altLang="ko-KR" dirty="0"/>
              <a:t>, </a:t>
            </a:r>
            <a:r>
              <a:rPr lang="ko-KR" altLang="en-US" dirty="0" err="1"/>
              <a:t>임시저장</a:t>
            </a:r>
            <a:r>
              <a:rPr lang="en-US" altLang="ko-KR" dirty="0"/>
              <a:t>, </a:t>
            </a:r>
            <a:r>
              <a:rPr lang="ko-KR" altLang="en-US" dirty="0" err="1"/>
              <a:t>반려받은</a:t>
            </a:r>
            <a:r>
              <a:rPr lang="ko-KR" altLang="en-US" dirty="0"/>
              <a:t> 문서</a:t>
            </a:r>
            <a:r>
              <a:rPr lang="en-US" altLang="ko-KR" dirty="0"/>
              <a:t>, </a:t>
            </a:r>
            <a:r>
              <a:rPr lang="ko-KR" altLang="en-US" dirty="0"/>
              <a:t>반려한 문서 일괄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필터를 통해 사용자가 </a:t>
            </a:r>
            <a:r>
              <a:rPr lang="ko-KR" altLang="en-US" dirty="0" err="1"/>
              <a:t>필터하여</a:t>
            </a:r>
            <a:r>
              <a:rPr lang="ko-KR" altLang="en-US" dirty="0"/>
              <a:t> 볼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 상단 레이블을 통해 </a:t>
            </a:r>
            <a:r>
              <a:rPr lang="ko-KR" altLang="en-US" dirty="0" err="1"/>
              <a:t>보낸문서</a:t>
            </a:r>
            <a:r>
              <a:rPr lang="en-US" altLang="ko-KR" dirty="0"/>
              <a:t>, </a:t>
            </a:r>
            <a:r>
              <a:rPr lang="ko-KR" altLang="en-US" dirty="0"/>
              <a:t>받은 </a:t>
            </a:r>
            <a:r>
              <a:rPr lang="ko-KR" altLang="en-US" dirty="0" err="1"/>
              <a:t>문서등</a:t>
            </a:r>
            <a:r>
              <a:rPr lang="ko-KR" altLang="en-US" dirty="0"/>
              <a:t> 분리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첨부가 </a:t>
            </a:r>
            <a:r>
              <a:rPr lang="ko-KR" altLang="en-US" dirty="0" err="1"/>
              <a:t>있는경우</a:t>
            </a:r>
            <a:r>
              <a:rPr lang="ko-KR" altLang="en-US" dirty="0"/>
              <a:t>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문서는 </a:t>
            </a:r>
            <a:r>
              <a:rPr lang="ko-KR" altLang="en-US" dirty="0" err="1"/>
              <a:t>최신순으로</a:t>
            </a:r>
            <a:r>
              <a:rPr lang="ko-KR" altLang="en-US" dirty="0"/>
              <a:t> 정렬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초기값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문서구분</a:t>
            </a:r>
            <a:r>
              <a:rPr lang="en-US" altLang="ko-KR" dirty="0"/>
              <a:t>:</a:t>
            </a:r>
            <a:r>
              <a:rPr lang="ko-KR" altLang="en-US" dirty="0"/>
              <a:t>전체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/>
              <a:t>첨부 여부</a:t>
            </a:r>
            <a:r>
              <a:rPr lang="en-US" altLang="ko-KR" dirty="0"/>
              <a:t>: </a:t>
            </a:r>
            <a:r>
              <a:rPr lang="ko-KR" altLang="en-US" dirty="0"/>
              <a:t>전체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기간</a:t>
            </a:r>
            <a:r>
              <a:rPr lang="en-US" altLang="ko-KR" dirty="0"/>
              <a:t>: 1</a:t>
            </a:r>
            <a:r>
              <a:rPr lang="ko-KR" altLang="en-US" dirty="0"/>
              <a:t>개월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목록 </a:t>
            </a:r>
            <a:r>
              <a:rPr lang="ko-KR" altLang="en-US" dirty="0" err="1">
                <a:latin typeface="+mn-ea"/>
              </a:rPr>
              <a:t>검색필터</a:t>
            </a:r>
            <a:r>
              <a:rPr lang="ko-KR" altLang="en-US" dirty="0">
                <a:latin typeface="+mn-ea"/>
              </a:rPr>
              <a:t>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2112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1" name="그룹 80"/>
          <p:cNvGrpSpPr/>
          <p:nvPr/>
        </p:nvGrpSpPr>
        <p:grpSpPr>
          <a:xfrm>
            <a:off x="3135090" y="1650089"/>
            <a:ext cx="94010" cy="94010"/>
            <a:chOff x="6812560" y="3297172"/>
            <a:chExt cx="94010" cy="94010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2769812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5228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4170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9" name="그룹 108"/>
          <p:cNvGrpSpPr/>
          <p:nvPr/>
        </p:nvGrpSpPr>
        <p:grpSpPr>
          <a:xfrm>
            <a:off x="672112" y="3614651"/>
            <a:ext cx="2712027" cy="1085258"/>
            <a:chOff x="675399" y="1921801"/>
            <a:chExt cx="2712027" cy="1085258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199593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첨언</a:t>
              </a:r>
              <a:r>
                <a:rPr lang="en-US" altLang="ko-KR" sz="700" b="1" dirty="0">
                  <a:latin typeface="+mn-ea"/>
                </a:rPr>
                <a:t>, </a:t>
              </a:r>
              <a:r>
                <a:rPr lang="ko-KR" altLang="en-US" sz="700" b="1" dirty="0">
                  <a:latin typeface="+mn-ea"/>
                </a:rPr>
                <a:t>첨부 여부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41620" y="2226095"/>
              <a:ext cx="2305144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2" name="직사각형 111"/>
            <p:cNvSpPr/>
            <p:nvPr/>
          </p:nvSpPr>
          <p:spPr>
            <a:xfrm>
              <a:off x="772169" y="2292407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772169" y="2509633"/>
              <a:ext cx="107950" cy="10795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0949" y="2093627"/>
              <a:ext cx="91438" cy="45719"/>
              <a:chOff x="6812560" y="3297172"/>
              <a:chExt cx="94010" cy="47005"/>
            </a:xfrm>
          </p:grpSpPr>
          <p:cxnSp>
            <p:nvCxnSpPr>
              <p:cNvPr id="123" name="직선 연결선 1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9" name="직선 연결선 12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6" name="직사각형 115"/>
            <p:cNvSpPr/>
            <p:nvPr/>
          </p:nvSpPr>
          <p:spPr>
            <a:xfrm>
              <a:off x="772169" y="2706723"/>
              <a:ext cx="107950" cy="107950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712771" y="2471275"/>
              <a:ext cx="22153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600" dirty="0">
                  <a:solidFill>
                    <a:schemeClr val="bg1"/>
                  </a:solidFill>
                </a:rPr>
                <a:t>v</a:t>
              </a:r>
              <a:endParaRPr lang="ko-KR" altLang="en-US" sz="600" dirty="0">
                <a:solidFill>
                  <a:schemeClr val="bg1"/>
                </a:solidFill>
              </a:endParaRPr>
            </a:p>
          </p:txBody>
        </p: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00705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92180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672112" y="4775939"/>
            <a:ext cx="2712027" cy="797589"/>
            <a:chOff x="675399" y="3490553"/>
            <a:chExt cx="2712027" cy="797589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35" name="그룹 13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9" name="직선 연결선 1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4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7" name="그림 14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3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38" name="그룹 13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4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4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4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42" name="그림 14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0" name="그룹 149"/>
          <p:cNvGrpSpPr/>
          <p:nvPr/>
        </p:nvGrpSpPr>
        <p:grpSpPr>
          <a:xfrm>
            <a:off x="797174" y="1977748"/>
            <a:ext cx="2468249" cy="1536487"/>
            <a:chOff x="3898850" y="4660546"/>
            <a:chExt cx="2468249" cy="1536487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60546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문서 구분</a:t>
              </a:r>
            </a:p>
          </p:txBody>
        </p:sp>
        <p:grpSp>
          <p:nvGrpSpPr>
            <p:cNvPr id="152" name="그룹 151"/>
            <p:cNvGrpSpPr/>
            <p:nvPr/>
          </p:nvGrpSpPr>
          <p:grpSpPr>
            <a:xfrm flipV="1">
              <a:off x="6261284" y="4758236"/>
              <a:ext cx="91438" cy="45719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61955" y="4904371"/>
              <a:ext cx="2305144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받은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보낸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 받은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반려한 문서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임시 저장</a:t>
              </a:r>
            </a:p>
          </p:txBody>
        </p:sp>
      </p:grpSp>
      <p:sp>
        <p:nvSpPr>
          <p:cNvPr id="156" name="직사각형 155"/>
          <p:cNvSpPr/>
          <p:nvPr/>
        </p:nvSpPr>
        <p:spPr>
          <a:xfrm>
            <a:off x="769934" y="2302805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직사각형 156"/>
          <p:cNvSpPr/>
          <p:nvPr/>
        </p:nvSpPr>
        <p:spPr>
          <a:xfrm>
            <a:off x="769934" y="2717121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직사각형 157"/>
          <p:cNvSpPr/>
          <p:nvPr/>
        </p:nvSpPr>
        <p:spPr>
          <a:xfrm>
            <a:off x="769934" y="2931782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/>
          <p:cNvSpPr/>
          <p:nvPr/>
        </p:nvSpPr>
        <p:spPr>
          <a:xfrm>
            <a:off x="769867" y="2520031"/>
            <a:ext cx="107950" cy="1079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TextBox 159"/>
          <p:cNvSpPr txBox="1"/>
          <p:nvPr/>
        </p:nvSpPr>
        <p:spPr>
          <a:xfrm>
            <a:off x="710536" y="2481673"/>
            <a:ext cx="221536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" dirty="0">
                <a:solidFill>
                  <a:schemeClr val="bg1"/>
                </a:solidFill>
              </a:rPr>
              <a:t>v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1" name="직사각형 160"/>
          <p:cNvSpPr/>
          <p:nvPr/>
        </p:nvSpPr>
        <p:spPr>
          <a:xfrm>
            <a:off x="769934" y="3144406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/>
          <p:cNvSpPr/>
          <p:nvPr/>
        </p:nvSpPr>
        <p:spPr>
          <a:xfrm>
            <a:off x="769934" y="3359067"/>
            <a:ext cx="107950" cy="107950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3209" y="16289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6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004155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상세 화면 상단에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smtClean="0"/>
              <a:t>추가 정보가 </a:t>
            </a:r>
            <a:r>
              <a:rPr lang="ko-KR" altLang="en-US" dirty="0"/>
              <a:t>발생하는 </a:t>
            </a:r>
            <a:r>
              <a:rPr lang="ko-KR" altLang="en-US" dirty="0" smtClean="0"/>
              <a:t>경우 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문서정보</a:t>
            </a:r>
            <a:r>
              <a:rPr lang="en-US" altLang="ko-KR" dirty="0"/>
              <a:t>, </a:t>
            </a:r>
            <a:r>
              <a:rPr lang="ko-KR" altLang="en-US" dirty="0"/>
              <a:t>첨언</a:t>
            </a:r>
            <a:r>
              <a:rPr lang="en-US" altLang="ko-KR" dirty="0"/>
              <a:t>, </a:t>
            </a:r>
            <a:r>
              <a:rPr lang="ko-KR" altLang="en-US" dirty="0" err="1"/>
              <a:t>반려사유</a:t>
            </a:r>
            <a:r>
              <a:rPr lang="en-US" altLang="ko-KR" dirty="0"/>
              <a:t>, </a:t>
            </a:r>
            <a:r>
              <a:rPr lang="ko-KR" altLang="en-US" dirty="0"/>
              <a:t>첨부파일 순으로 </a:t>
            </a:r>
            <a:r>
              <a:rPr lang="ko-KR" altLang="en-US" dirty="0" smtClean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MUI-CM-06-T01 </a:t>
            </a:r>
            <a:r>
              <a:rPr lang="ko-KR" altLang="en-US" dirty="0" err="1" smtClean="0"/>
              <a:t>문서정보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MUI-CM-06-T02 </a:t>
            </a:r>
            <a:r>
              <a:rPr lang="ko-KR" altLang="en-US" dirty="0"/>
              <a:t>첨언상세보기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MUI-CM-06-T03 </a:t>
            </a:r>
            <a:r>
              <a:rPr lang="ko-KR" altLang="en-US" dirty="0"/>
              <a:t>첨부파일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문서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2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3758" y="1816476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24022" y="181647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26449"/>
            <a:ext cx="76863" cy="292489"/>
            <a:chOff x="3750067" y="4683795"/>
            <a:chExt cx="76863" cy="292489"/>
          </a:xfrm>
        </p:grpSpPr>
        <p:sp>
          <p:nvSpPr>
            <p:cNvPr id="176" name="타원 17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78" name="타원 17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206" name="그룹 205"/>
          <p:cNvGrpSpPr/>
          <p:nvPr/>
        </p:nvGrpSpPr>
        <p:grpSpPr>
          <a:xfrm>
            <a:off x="3869962" y="1597475"/>
            <a:ext cx="1636583" cy="107722"/>
            <a:chOff x="764168" y="4142235"/>
            <a:chExt cx="1636583" cy="107722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6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564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96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66" name="그룹 6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7" name="직사각형 6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  <p:sp>
        <p:nvSpPr>
          <p:cNvPr id="6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70" name="평행 사변형 69"/>
          <p:cNvSpPr/>
          <p:nvPr/>
        </p:nvSpPr>
        <p:spPr>
          <a:xfrm rot="16200000" flipH="1">
            <a:off x="2743131" y="2136323"/>
            <a:ext cx="1696903" cy="408308"/>
          </a:xfrm>
          <a:prstGeom prst="parallelogram">
            <a:avLst>
              <a:gd name="adj" fmla="val 33065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613105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문서정보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</a:t>
            </a:r>
            <a:r>
              <a:rPr lang="ko-KR" altLang="en-US" dirty="0" err="1">
                <a:latin typeface="+mn-ea"/>
              </a:rPr>
              <a:t>문서정보</a:t>
            </a:r>
            <a:r>
              <a:rPr lang="ko-KR" altLang="en-US" dirty="0">
                <a:latin typeface="+mn-ea"/>
              </a:rPr>
              <a:t>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8892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err="1">
                  <a:latin typeface="+mn-ea"/>
                </a:rPr>
                <a:t>문서정보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978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grpSp>
        <p:nvGrpSpPr>
          <p:cNvPr id="66" name="그룹 6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7" name="직사각형 6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68" name="직사각형 6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1455567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첨언 상세 내용 </a:t>
            </a:r>
            <a:r>
              <a:rPr lang="ko-KR" altLang="en-US" dirty="0" smtClean="0"/>
              <a:t>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첨언상세보기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첨언상세보기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1889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58764" y="3188926"/>
            <a:ext cx="65201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582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64168" y="2972319"/>
            <a:ext cx="1636583" cy="107722"/>
            <a:chOff x="764168" y="4142235"/>
            <a:chExt cx="1636583" cy="10772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첨언 상세보기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첨부파일</a:t>
              </a: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42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43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44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47" name="모서리가 둥근 직사각형 146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cxnSp>
        <p:nvCxnSpPr>
          <p:cNvPr id="225" name="직선 연결선 2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3015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441714"/>
            <a:ext cx="2532688" cy="16880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1.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2.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3.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4.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5.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6. </a:t>
            </a:r>
            <a:r>
              <a:rPr lang="ko-KR" altLang="en-US" sz="800" dirty="0">
                <a:latin typeface="+mn-ea"/>
              </a:rPr>
              <a:t>문서 내용 </a:t>
            </a:r>
            <a:r>
              <a:rPr lang="en-US" altLang="ko-KR" sz="800" dirty="0">
                <a:latin typeface="+mn-ea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en-US" altLang="ko-KR" sz="800" dirty="0">
                <a:latin typeface="+mn-ea"/>
              </a:rPr>
              <a:t>⁞</a:t>
            </a:r>
            <a:endParaRPr lang="ko-KR" altLang="en-US" sz="800" dirty="0">
              <a:latin typeface="+mn-ea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31477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내용</a:t>
            </a:r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8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08" name="그룹 107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9" name="직사각형 108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11" name="직사각형 11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0152696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첨부파일 </a:t>
            </a:r>
            <a:r>
              <a:rPr lang="ko-KR" altLang="en-US" dirty="0"/>
              <a:t>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첨부파일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문서함 상세 첨부파일 조회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MUI-CM-06-T03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339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3423" y="3187842"/>
            <a:ext cx="270400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992981" y="318784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74274"/>
            <a:ext cx="76863" cy="292489"/>
            <a:chOff x="3750067" y="4683795"/>
            <a:chExt cx="76863" cy="292489"/>
          </a:xfrm>
        </p:grpSpPr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749627" y="2968841"/>
            <a:ext cx="1636583" cy="107722"/>
            <a:chOff x="764168" y="4142235"/>
            <a:chExt cx="1636583" cy="107722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4168" y="4142235"/>
              <a:ext cx="391531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 err="1">
                  <a:latin typeface="+mn-ea"/>
                </a:rPr>
                <a:t>문서정보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302043" y="4142235"/>
              <a:ext cx="593979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latin typeface="+mn-ea"/>
                </a:rPr>
                <a:t>첨언 상세보기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036583" y="4142235"/>
              <a:ext cx="36416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latin typeface="+mn-ea"/>
                </a:rPr>
                <a:t>첨부파일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4163" y="33225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grpSp>
        <p:nvGrpSpPr>
          <p:cNvPr id="8" name="그룹 7"/>
          <p:cNvGrpSpPr/>
          <p:nvPr/>
        </p:nvGrpSpPr>
        <p:grpSpPr>
          <a:xfrm>
            <a:off x="675399" y="3352396"/>
            <a:ext cx="2712027" cy="1351549"/>
            <a:chOff x="675399" y="1880640"/>
            <a:chExt cx="2712027" cy="1351549"/>
          </a:xfrm>
        </p:grpSpPr>
        <p:grpSp>
          <p:nvGrpSpPr>
            <p:cNvPr id="94" name="그룹 93"/>
            <p:cNvGrpSpPr/>
            <p:nvPr/>
          </p:nvGrpSpPr>
          <p:grpSpPr>
            <a:xfrm>
              <a:off x="705041" y="1880640"/>
              <a:ext cx="2652743" cy="906290"/>
              <a:chOff x="675929" y="1954020"/>
              <a:chExt cx="2652743" cy="906290"/>
            </a:xfrm>
          </p:grpSpPr>
          <p:sp>
            <p:nvSpPr>
              <p:cNvPr id="95" name="모서리가 둥근 직사각형 94"/>
              <p:cNvSpPr/>
              <p:nvPr/>
            </p:nvSpPr>
            <p:spPr>
              <a:xfrm>
                <a:off x="675929" y="2089138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163659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217520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1</a:t>
                </a:r>
              </a:p>
            </p:txBody>
          </p:sp>
          <p:sp>
            <p:nvSpPr>
              <p:cNvPr id="98" name="타원 97"/>
              <p:cNvSpPr/>
              <p:nvPr/>
            </p:nvSpPr>
            <p:spPr>
              <a:xfrm>
                <a:off x="3063926" y="2199381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9" name="모서리가 둥근 직사각형 98"/>
              <p:cNvSpPr/>
              <p:nvPr/>
            </p:nvSpPr>
            <p:spPr>
              <a:xfrm>
                <a:off x="675929" y="2495824"/>
                <a:ext cx="2652743" cy="364486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2570345"/>
                <a:ext cx="1682738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첨부파일명칭 표시</a:t>
                </a:r>
                <a:endPara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  <a:p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.</a:t>
                </a:r>
                <a:r>
                  <a:rPr lang="en-US" altLang="ko-KR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hwp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 [</a:t>
                </a:r>
                <a:r>
                  <a:rPr lang="ko-KR" altLang="en-US" sz="7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파일크기</a:t>
                </a:r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]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4125" y="2624206"/>
                <a:ext cx="24778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2</a:t>
                </a:r>
              </a:p>
            </p:txBody>
          </p:sp>
          <p:sp>
            <p:nvSpPr>
              <p:cNvPr id="103" name="타원 102"/>
              <p:cNvSpPr/>
              <p:nvPr/>
            </p:nvSpPr>
            <p:spPr>
              <a:xfrm>
                <a:off x="3063926" y="2606067"/>
                <a:ext cx="144000" cy="144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176597" y="1954020"/>
                <a:ext cx="47434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6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첨부파일명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973442" y="1954020"/>
                <a:ext cx="32496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다운로드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1074" y="195402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:r>
                  <a:rPr lang="ko-KR" altLang="en-US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rPr>
                  <a:t>번호</a:t>
                </a:r>
                <a:endParaRPr lang="en-US" altLang="ko-KR" sz="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endParaRPr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23218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문서함 </a:t>
            </a:r>
            <a:r>
              <a:rPr lang="ko-KR" altLang="en-US" sz="800" dirty="0" err="1">
                <a:latin typeface="+mn-ea"/>
              </a:rPr>
              <a:t>상세조회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4" name="타원 113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6" name="그룹 115"/>
          <p:cNvGrpSpPr/>
          <p:nvPr/>
        </p:nvGrpSpPr>
        <p:grpSpPr>
          <a:xfrm>
            <a:off x="794784" y="1947622"/>
            <a:ext cx="2473257" cy="806173"/>
            <a:chOff x="781461" y="2610063"/>
            <a:chExt cx="2473257" cy="806173"/>
          </a:xfrm>
        </p:grpSpPr>
        <p:sp>
          <p:nvSpPr>
            <p:cNvPr id="11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송신처</a:t>
              </a:r>
              <a:r>
                <a:rPr lang="ko-KR" altLang="en-US" sz="700" dirty="0">
                  <a:solidFill>
                    <a:prstClr val="black"/>
                  </a:solidFill>
                </a:rPr>
                <a:t> </a:t>
              </a:r>
              <a:r>
                <a:rPr lang="en-US" altLang="ko-KR" sz="700" dirty="0">
                  <a:solidFill>
                    <a:prstClr val="black"/>
                  </a:solidFill>
                </a:rPr>
                <a:t>–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문서 제목을 표시합니다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.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11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230832" cy="25917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도착일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수신일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1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2026-03-11</a:t>
              </a:r>
            </a:p>
          </p:txBody>
        </p:sp>
        <p:sp>
          <p:nvSpPr>
            <p:cNvPr id="120" name="모서리가 둥근 직사각형 119"/>
            <p:cNvSpPr/>
            <p:nvPr/>
          </p:nvSpPr>
          <p:spPr>
            <a:xfrm>
              <a:off x="781461" y="2610063"/>
              <a:ext cx="42821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받은 문서</a:t>
              </a:r>
            </a:p>
          </p:txBody>
        </p:sp>
        <p:sp>
          <p:nvSpPr>
            <p:cNvPr id="121" name="모서리가 둥근 직사각형 120"/>
            <p:cNvSpPr/>
            <p:nvPr/>
          </p:nvSpPr>
          <p:spPr>
            <a:xfrm>
              <a:off x="1276971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첨언</a:t>
              </a:r>
              <a:endParaRPr lang="ko-KR" altLang="en-US" sz="600" dirty="0"/>
            </a:p>
          </p:txBody>
        </p:sp>
        <p:sp>
          <p:nvSpPr>
            <p:cNvPr id="122" name="모서리가 둥근 직사각형 121"/>
            <p:cNvSpPr/>
            <p:nvPr/>
          </p:nvSpPr>
          <p:spPr>
            <a:xfrm>
              <a:off x="1588278" y="2610063"/>
              <a:ext cx="24385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첨부</a:t>
              </a: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화면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 화면 분리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86110122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3517"/>
            <a:ext cx="27208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받은문서함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dl_rcptnDocBoxList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Idnty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95811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7271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trsmOgnzCd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도착일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도착일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접수확인일시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9530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1563240"/>
              </p:ext>
            </p:extLst>
          </p:nvPr>
        </p:nvGraphicFramePr>
        <p:xfrm>
          <a:off x="453000" y="4321897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카드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scwin.grd_rcptnDocBoxList_oncellclick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9B3FC3F-44C8-AA76-E87C-D8F513C0C0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2052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856F0DC-4AC5-DFA7-F72E-BA04B94B5918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329A1BF-B567-C483-B2E8-33E3874D72AC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D469DDBC-E680-75E9-4D85-0D21C7C9F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490802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170111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32564"/>
            <a:ext cx="258140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첨언상세보기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dm_addCnInfo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930709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35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880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발주기관 검색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16318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첨언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029ECBC4-6D9B-D7FA-B257-E87707339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181698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5BFF1C7-887B-32AA-24EE-EBE46D67EEAF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FFA3ED1D-D653-0078-76A8-8AD322EB9D0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6" name="Text Box 73">
              <a:extLst>
                <a:ext uri="{FF2B5EF4-FFF2-40B4-BE49-F238E27FC236}">
                  <a16:creationId xmlns:a16="http://schemas.microsoft.com/office/drawing/2014/main" id="{77BEF055-45FA-F5E1-7995-1C9453CA2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3981145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7" y="25782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481090"/>
            <a:ext cx="28042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첨부문서다운로드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dl_atchDocList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7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받은 문서 또는 보낸 문서에서 받아온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EDMS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3258132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804861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scwin.btn_dwnld_onclick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선택한 파일을 다운로드 한다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10382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닫기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scwin.btn_close_onclick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첨부파일다운로드 팝업창이 닫힌다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0031607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76484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첨부문서명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첨부문서명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파일명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파일명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928218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5505DE0D-16CC-3C4F-C939-DC20317EC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7030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A02BF9D5-5273-4F6F-CB5E-11F91278AED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D826C1C-0132-3CB3-AC8A-80FE3A0C3571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AD4D73E-E849-1E51-9D60-482A015D7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9170107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27581"/>
            <a:ext cx="26920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보낸문서함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dl_sendDocBoxList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2185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3746398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11335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rcptnOgnzCd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송신일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송신일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확인일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rcptIdntyDt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첨언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addCn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첨언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첨부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edmsDocId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0437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937466"/>
              </p:ext>
            </p:extLst>
          </p:nvPr>
        </p:nvGraphicFramePr>
        <p:xfrm>
          <a:off x="453000" y="432189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96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219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scwin.grd_sendDocBoxList_oncellclick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CAFF8A0-50EC-82AE-BA5A-D1527BD4D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993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E98179B-2A5F-DCA0-6FB1-5254512490D4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0AFDD93-06A1-7721-9E3F-045B7346CD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4735F0DC-C396-6A0B-A66C-37731D6CC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387127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96950"/>
            <a:ext cx="27000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임시저장함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dl_tmprDocBoxList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31761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280704"/>
          <a:ext cx="8994883" cy="654676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작성일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02248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300619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276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388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scwin.grd_tmprDocBoxList_oncellclick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BE24769-50A8-B14F-3957-A7A3A03CF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19584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7F39A60-AAE4-10F9-971A-14BEA40553D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5504B0-219F-7020-36D2-5A22C9604AF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794ABDE-C3BD-6C8C-B743-65102D925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737851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0796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139458"/>
            <a:ext cx="23794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반려함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dl_rjctDocBoxList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docWrtEndYmd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8668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반려받은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반려한 문서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581463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343690"/>
          <a:ext cx="8994883" cy="157618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반려처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trsmOgnzCd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반려처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rturId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</a:rPr>
                        <a:t>반려자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문서명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문서명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반려여부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rjctYn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반려여부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반려일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docWrtDt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반려일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536272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2999" y="401513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250648"/>
          <a:ext cx="8995591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20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95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2185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scwin.grd_rjctDocBoxList_oncellclick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팝업창이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/>
                        <a:t>UI-CM-06-P13 </a:t>
                      </a:r>
                      <a:r>
                        <a:rPr lang="ko-KR" altLang="en-US" sz="800" dirty="0"/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844FB6C-BF5D-D2C1-8CC7-7295814E1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1340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4F34269-FA1F-CAFC-925F-EB508475034C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A36E5A4B-8498-C576-9110-316A94C9091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63761980-DED2-5628-B24D-04AFEFCB2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487930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879953"/>
            <a:ext cx="2376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반려사유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dm_rjctRsnInfo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163707"/>
          <a:ext cx="8994883" cy="424298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반려사유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rjctRsn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반려사유 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E1AFFECE-E5E8-396C-84F0-3EB6A65AC3F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BA240484-4FCF-6BAA-7C44-24FA614779E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E6A817EE-0532-A5EC-D59B-9990726EE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6559202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개인별 수신처 정보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모바일에서 조회만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등록</a:t>
            </a:r>
            <a:r>
              <a:rPr lang="en-US" altLang="ko-KR" dirty="0"/>
              <a:t>, </a:t>
            </a:r>
            <a:r>
              <a:rPr lang="ko-KR" altLang="en-US" dirty="0"/>
              <a:t>수정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</a:t>
            </a:r>
            <a:r>
              <a:rPr lang="ko-KR" altLang="en-US" dirty="0" smtClean="0"/>
              <a:t>가능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상세화면</a:t>
            </a:r>
            <a:r>
              <a:rPr lang="ko-KR" altLang="en-US" dirty="0" smtClean="0"/>
              <a:t> 없음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개인별수신처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개인별수신처관리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문서함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개인별수신처관리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개인별 수신처 관리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781461" y="2325444"/>
            <a:ext cx="2473257" cy="498731"/>
            <a:chOff x="781461" y="2794394"/>
            <a:chExt cx="2473257" cy="49873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84597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0480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781461" y="3018547"/>
            <a:ext cx="2473257" cy="498731"/>
            <a:chOff x="781461" y="2794394"/>
            <a:chExt cx="2473257" cy="498731"/>
          </a:xfrm>
        </p:grpSpPr>
        <p:sp>
          <p:nvSpPr>
            <p:cNvPr id="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부서 </a:t>
              </a:r>
              <a:r>
                <a:rPr lang="en-US" altLang="ko-KR" sz="700" dirty="0">
                  <a:solidFill>
                    <a:prstClr val="black"/>
                  </a:solidFill>
                </a:rPr>
                <a:t>-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방위사업청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수신자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- </a:t>
              </a:r>
              <a:r>
                <a:rPr lang="ko-KR" altLang="en-US" sz="900" b="1" dirty="0">
                  <a:solidFill>
                    <a:prstClr val="black"/>
                  </a:solidFill>
                </a:rPr>
                <a:t>홍길동</a:t>
              </a:r>
            </a:p>
          </p:txBody>
        </p:sp>
        <p:sp>
          <p:nvSpPr>
            <p:cNvPr id="8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전자문서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91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50191" y="3139237"/>
              <a:ext cx="384721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물량배정서</a:t>
              </a:r>
              <a:endParaRPr lang="en-US" altLang="ko-KR" sz="600" dirty="0">
                <a:latin typeface="+mn-ea"/>
              </a:endParaRPr>
            </a:p>
          </p:txBody>
        </p:sp>
      </p:grp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9791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762982998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109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097698"/>
            <a:ext cx="28955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개인별수신처관리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dl_indvRcofcList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896653"/>
              </p:ext>
            </p:extLst>
          </p:nvPr>
        </p:nvGraphicFramePr>
        <p:xfrm>
          <a:off x="452999" y="1381452"/>
          <a:ext cx="8994883" cy="134581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전자문서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전자문서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:XSTORECATE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46621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수신부서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rcptnOgnzNm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부신부서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5454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수신자</a:t>
                      </a:r>
                    </a:p>
                  </a:txBody>
                  <a:tcPr marL="35941" marR="35941" marT="35941" marB="35941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rcvrNm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611593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328968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3143381"/>
              </p:ext>
            </p:extLst>
          </p:nvPr>
        </p:nvGraphicFramePr>
        <p:xfrm>
          <a:off x="453000" y="3567814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049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11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C37E3C67-E84D-7FF6-3F6C-3608A6AC55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34511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05B97E-644A-CE99-3CF6-BB586B8CAA5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40EE7967-76BA-EAD7-3853-B4F644E279C5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23DC1AB0-DD2A-250D-CC23-F4690B66C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4607164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별표 하이라이트가 꺼지고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현재 페이지에서는 유지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페이지를 이탈했다가 다시 돌아오는 경우 </a:t>
            </a:r>
            <a:r>
              <a:rPr lang="ko-KR" altLang="en-US" dirty="0" err="1" smtClean="0"/>
              <a:t>즐겨찾기</a:t>
            </a:r>
            <a:r>
              <a:rPr lang="ko-KR" altLang="en-US" dirty="0" smtClean="0"/>
              <a:t> 된 관심 법령만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해제 </a:t>
            </a:r>
            <a:r>
              <a:rPr lang="ko-KR" altLang="en-US" dirty="0" smtClean="0"/>
              <a:t>메시지 </a:t>
            </a:r>
            <a:r>
              <a:rPr lang="ko-KR" altLang="en-US" dirty="0" smtClean="0"/>
              <a:t>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해제 되었습니다</a:t>
            </a:r>
            <a:r>
              <a:rPr lang="en-US" altLang="ko-KR" dirty="0" smtClean="0"/>
              <a:t>.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외부 페이지 링크로 법령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외부 </a:t>
            </a:r>
            <a:r>
              <a:rPr lang="en-US" altLang="ko-KR" dirty="0" smtClean="0"/>
              <a:t>URL</a:t>
            </a:r>
            <a:r>
              <a:rPr lang="ko-KR" altLang="en-US" dirty="0" smtClean="0"/>
              <a:t>은 법령 </a:t>
            </a:r>
            <a:r>
              <a:rPr lang="ko-KR" altLang="en-US" dirty="0" err="1" smtClean="0"/>
              <a:t>등록시</a:t>
            </a:r>
            <a:r>
              <a:rPr lang="ko-KR" altLang="en-US" dirty="0" smtClean="0"/>
              <a:t> 관리자가 작성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관심법령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관심법령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54041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3282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2397456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864279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24305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290769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374517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75329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3417932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78989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9019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3991654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1559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2583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436072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0097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5048449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544736"/>
            <a:ext cx="2268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 smtClean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관심법령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dl_itrstSttList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378913"/>
              </p:ext>
            </p:extLst>
          </p:nvPr>
        </p:nvGraphicFramePr>
        <p:xfrm>
          <a:off x="452999" y="175593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법령구분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조회결과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delYn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6198C864-1099-ED75-CDC1-61C407DF8911}"/>
              </a:ext>
            </a:extLst>
          </p:cNvPr>
          <p:cNvSpPr txBox="1"/>
          <p:nvPr/>
        </p:nvSpPr>
        <p:spPr>
          <a:xfrm>
            <a:off x="458117" y="418733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8EEE543-E1D3-3B19-FEF2-B6335F0688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4300751"/>
              </p:ext>
            </p:extLst>
          </p:nvPr>
        </p:nvGraphicFramePr>
        <p:xfrm>
          <a:off x="453000" y="446547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6632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5049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그리드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67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scwin.grd_itrstSttList_oncellclick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관심법령에서 삭제된다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001118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7F5CC1D-2566-7E2B-B0F3-7FAF0EF6A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34289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7615BA-8AA0-390C-2414-6B3A13575B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34B53F6-B152-0E8A-06E0-7268AD46F08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080E219-6A88-FE2C-9DE5-38900941F7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151131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작성한 게시물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trike="sngStrike" dirty="0"/>
              <a:t>- </a:t>
            </a:r>
            <a:r>
              <a:rPr lang="ko-KR" altLang="en-US" strike="sngStrike" dirty="0"/>
              <a:t>작성 </a:t>
            </a:r>
            <a:r>
              <a:rPr lang="ko-KR" altLang="en-US" strike="sngStrike" dirty="0" smtClean="0"/>
              <a:t>위치정보 </a:t>
            </a:r>
            <a:r>
              <a:rPr lang="en-US" altLang="ko-KR" strike="sngStrike" dirty="0" smtClean="0"/>
              <a:t>(</a:t>
            </a:r>
            <a:r>
              <a:rPr lang="ko-KR" altLang="en-US" strike="sngStrike" dirty="0" smtClean="0"/>
              <a:t>삭제</a:t>
            </a:r>
            <a:r>
              <a:rPr lang="en-US" altLang="ko-KR" strike="sngStrike" dirty="0" smtClean="0"/>
              <a:t>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 제목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작성일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클릭 시 해당 게시물 화면으로 이동하여 콘텐츠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관심법령</a:t>
            </a:r>
            <a:r>
              <a:rPr lang="ko-KR" altLang="en-US" dirty="0">
                <a:latin typeface="+mn-ea"/>
              </a:rPr>
              <a:t>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나의 게시물</a:t>
            </a:r>
            <a:endParaRPr lang="en-US" altLang="ko-KR" dirty="0">
              <a:latin typeface="+mn-ea"/>
            </a:endParaRPr>
          </a:p>
          <a:p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MUI-CM-06-M17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나의 게시물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336949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69703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2682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00619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131886"/>
            <a:ext cx="2061246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두줄이</a:t>
            </a:r>
            <a:r>
              <a:rPr lang="ko-KR" altLang="en-US" sz="900" b="1" dirty="0">
                <a:solidFill>
                  <a:prstClr val="black"/>
                </a:solidFill>
              </a:rPr>
              <a:t> 되는 경우 </a:t>
            </a:r>
            <a:r>
              <a:rPr lang="ko-KR" altLang="en-US" sz="900" b="1" dirty="0" err="1">
                <a:solidFill>
                  <a:prstClr val="black"/>
                </a:solidFill>
              </a:rPr>
              <a:t>두줄까지</a:t>
            </a:r>
            <a:r>
              <a:rPr lang="ko-KR" altLang="en-US" sz="900" b="1" dirty="0">
                <a:solidFill>
                  <a:prstClr val="black"/>
                </a:solidFill>
              </a:rPr>
              <a:t> 표시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883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460494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3572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49" name="그룹 48"/>
          <p:cNvGrpSpPr/>
          <p:nvPr/>
        </p:nvGrpSpPr>
        <p:grpSpPr>
          <a:xfrm rot="16200000" flipH="1">
            <a:off x="3096543" y="2498546"/>
            <a:ext cx="94010" cy="47005"/>
            <a:chOff x="6812560" y="3297172"/>
            <a:chExt cx="94010" cy="47005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직선 연결선 5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9" name="그룹 58"/>
          <p:cNvGrpSpPr/>
          <p:nvPr/>
        </p:nvGrpSpPr>
        <p:grpSpPr>
          <a:xfrm rot="16200000" flipH="1">
            <a:off x="3096545" y="4373782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619927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2927022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169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050567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0" name="그룹 69"/>
          <p:cNvGrpSpPr/>
          <p:nvPr/>
        </p:nvGrpSpPr>
        <p:grpSpPr>
          <a:xfrm rot="16200000" flipH="1">
            <a:off x="3096543" y="3088619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10000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517094"/>
            <a:ext cx="2061246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b="1" dirty="0" smtClean="0">
                <a:solidFill>
                  <a:prstClr val="black"/>
                </a:solidFill>
              </a:rPr>
              <a:t>작성한 </a:t>
            </a:r>
            <a:r>
              <a:rPr lang="ko-KR" altLang="en-US" sz="900" b="1" dirty="0">
                <a:solidFill>
                  <a:prstClr val="black"/>
                </a:solidFill>
              </a:rPr>
              <a:t>제목 표시 영역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4" y="3640639"/>
            <a:ext cx="156074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78" name="그룹 77"/>
          <p:cNvGrpSpPr/>
          <p:nvPr/>
        </p:nvGrpSpPr>
        <p:grpSpPr>
          <a:xfrm rot="16200000" flipH="1">
            <a:off x="3096543" y="367869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80007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556108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56" name="그룹 5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7" name="직사각형 5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작성 위치정보 표시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3899640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폴더 상세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폴더의</a:t>
            </a:r>
            <a:r>
              <a:rPr lang="en-US" altLang="ko-KR" dirty="0"/>
              <a:t> </a:t>
            </a:r>
            <a:r>
              <a:rPr lang="ko-KR" altLang="en-US" dirty="0"/>
              <a:t>생성</a:t>
            </a:r>
            <a:r>
              <a:rPr lang="en-US" altLang="ko-KR" dirty="0"/>
              <a:t>, </a:t>
            </a:r>
            <a:r>
              <a:rPr lang="ko-KR" altLang="en-US" dirty="0"/>
              <a:t>삭제는 </a:t>
            </a:r>
            <a:r>
              <a:rPr lang="en-US" altLang="ko-KR" dirty="0"/>
              <a:t>PC</a:t>
            </a:r>
            <a:r>
              <a:rPr lang="ko-KR" altLang="en-US" dirty="0"/>
              <a:t>에서 제공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권한 </a:t>
            </a:r>
            <a:r>
              <a:rPr lang="ko-KR" altLang="en-US" dirty="0"/>
              <a:t>관리는 업체 대표자에게만 표시됨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파일첨부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 업로드 </a:t>
            </a:r>
            <a:r>
              <a:rPr lang="en-US" altLang="ko-KR" dirty="0" smtClean="0"/>
              <a:t>&gt; </a:t>
            </a:r>
            <a:r>
              <a:rPr lang="ko-KR" altLang="en-US" dirty="0" smtClean="0"/>
              <a:t>디지털 캐비닛 선택으로 진입하는 경우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권한 버튼 숨김 </a:t>
            </a:r>
            <a:r>
              <a:rPr lang="ko-KR" altLang="en-US" dirty="0" smtClean="0"/>
              <a:t>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입찰참가</a:t>
            </a:r>
            <a:r>
              <a:rPr lang="en-US" altLang="ko-KR" dirty="0"/>
              <a:t>, </a:t>
            </a:r>
            <a:r>
              <a:rPr lang="ko-KR" altLang="en-US" dirty="0"/>
              <a:t>입찰서 등을 작성할 때</a:t>
            </a:r>
            <a:r>
              <a:rPr lang="en-US" altLang="ko-KR" dirty="0"/>
              <a:t>, </a:t>
            </a:r>
            <a:r>
              <a:rPr lang="ko-KR" altLang="en-US" dirty="0"/>
              <a:t>사용자가 디지털 캐비닛의 파일첨부</a:t>
            </a:r>
            <a:r>
              <a:rPr lang="en-US" altLang="ko-KR" dirty="0"/>
              <a:t>, </a:t>
            </a:r>
            <a:r>
              <a:rPr lang="ko-KR" altLang="en-US" dirty="0"/>
              <a:t>파일업로드를 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폴더의 권한은 표시하지 않음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디지털 캐비닛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,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사용자가 등록한 자료 폴더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MUI-CM-06-M14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875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35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45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타원 9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33470" y="256702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5356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 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25866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577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787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0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00886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0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9120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1007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71225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10MB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2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422215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2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6037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3132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2480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3843470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80031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📁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509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12136"/>
            <a:ext cx="2024722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  <a:p>
            <a:pPr lvl="0">
              <a:lnSpc>
                <a:spcPct val="120000"/>
              </a:lnSpc>
            </a:pPr>
            <a:r>
              <a:rPr lang="ko-KR" altLang="en-US" sz="600" dirty="0" err="1">
                <a:solidFill>
                  <a:prstClr val="black"/>
                </a:solidFill>
              </a:rPr>
              <a:t>수정일시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2025-01-31 12:12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| </a:t>
            </a:r>
            <a:r>
              <a:rPr lang="ko-KR" altLang="en-US" sz="600" dirty="0" err="1">
                <a:solidFill>
                  <a:prstClr val="black"/>
                </a:solidFill>
              </a:rPr>
              <a:t>폴더크기</a:t>
            </a:r>
            <a:r>
              <a:rPr lang="ko-KR" altLang="en-US" sz="600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5MB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13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993286" y="4263126"/>
            <a:ext cx="290464" cy="15692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권한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0" name="타원 139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1" name="그룹 140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42" name="직선 연결선 1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" name="직선 연결선 1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53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416078185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폴더명</a:t>
            </a:r>
            <a:r>
              <a:rPr lang="en-US" altLang="ko-KR" dirty="0"/>
              <a:t>, </a:t>
            </a:r>
            <a:r>
              <a:rPr lang="ko-KR" altLang="en-US" dirty="0"/>
              <a:t>폴더 사이즈</a:t>
            </a:r>
            <a:r>
              <a:rPr lang="en-US" altLang="ko-KR" dirty="0"/>
              <a:t>, </a:t>
            </a:r>
            <a:r>
              <a:rPr lang="ko-KR" altLang="en-US" dirty="0"/>
              <a:t>사용자 권한을 조정할 수 있음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권한 설정은 업체 대표자만 가능함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취소시</a:t>
            </a:r>
            <a:r>
              <a:rPr lang="en-US" altLang="ko-KR" dirty="0"/>
              <a:t> </a:t>
            </a:r>
            <a:r>
              <a:rPr lang="ko-KR" altLang="en-US" dirty="0"/>
              <a:t>팝업 그대로 닫힘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ko-KR" altLang="en-US" dirty="0"/>
              <a:t>저장 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변경 저장 되었습니다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설정 권한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폴더의 권한 설정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권한 설정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MUI-CM-06-P15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0" name="양쪽 모서리가 둥근 사각형 5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1" name="모서리가 둥근 직사각형 6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2" name="그룹 6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67" name="직선 연결선 6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직선 연결선 6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권한 설정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타원 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7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94413" y="5828262"/>
            <a:ext cx="1760305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저장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6127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959173"/>
            <a:ext cx="103509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폴더 사이즈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폴더명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544259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사용자 권한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129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94038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모서리가 둥근 직사각형 81"/>
          <p:cNvSpPr/>
          <p:nvPr/>
        </p:nvSpPr>
        <p:spPr>
          <a:xfrm>
            <a:off x="720467" y="2604974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lvl="0">
              <a:lnSpc>
                <a:spcPct val="120000"/>
              </a:lnSpc>
            </a:pPr>
            <a:r>
              <a:rPr lang="ko-KR" altLang="en-US" sz="800" b="1" dirty="0" err="1">
                <a:solidFill>
                  <a:prstClr val="black"/>
                </a:solidFill>
              </a:rPr>
              <a:t>폴더명이</a:t>
            </a:r>
            <a:r>
              <a:rPr lang="ko-KR" altLang="en-US" sz="800" b="1" dirty="0">
                <a:solidFill>
                  <a:prstClr val="black"/>
                </a:solidFill>
              </a:rPr>
              <a:t> 표시됩니다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720467" y="3169353"/>
            <a:ext cx="2610778" cy="247250"/>
          </a:xfrm>
          <a:prstGeom prst="roundRect">
            <a:avLst>
              <a:gd name="adj" fmla="val 23409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10MB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032591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3264043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4" name="모서리가 둥근 직사각형 93"/>
          <p:cNvSpPr/>
          <p:nvPr/>
        </p:nvSpPr>
        <p:spPr>
          <a:xfrm>
            <a:off x="712057" y="376985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384437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김대표</a:t>
            </a:r>
            <a:endParaRPr lang="en-US" altLang="ko-KR" sz="800" b="1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2025-01-15 13:25</a:t>
            </a:r>
          </a:p>
        </p:txBody>
      </p:sp>
      <p:sp>
        <p:nvSpPr>
          <p:cNvPr id="99" name="모서리가 둥근 직사각형 98"/>
          <p:cNvSpPr/>
          <p:nvPr/>
        </p:nvSpPr>
        <p:spPr>
          <a:xfrm>
            <a:off x="712057" y="417654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25106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ko-KR" altLang="en-US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박영업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14:47 </a:t>
            </a: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4620" y="3617677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16" name="그룹 115"/>
          <p:cNvGrpSpPr/>
          <p:nvPr/>
        </p:nvGrpSpPr>
        <p:grpSpPr>
          <a:xfrm>
            <a:off x="2305867" y="3874106"/>
            <a:ext cx="993848" cy="155984"/>
            <a:chOff x="808107" y="2288229"/>
            <a:chExt cx="1811459" cy="168318"/>
          </a:xfrm>
        </p:grpSpPr>
        <p:sp>
          <p:nvSpPr>
            <p:cNvPr id="11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3" name="그룹 122"/>
          <p:cNvGrpSpPr/>
          <p:nvPr/>
        </p:nvGrpSpPr>
        <p:grpSpPr>
          <a:xfrm>
            <a:off x="2305867" y="4280792"/>
            <a:ext cx="993848" cy="155984"/>
            <a:chOff x="808107" y="2288229"/>
            <a:chExt cx="1811459" cy="168318"/>
          </a:xfrm>
        </p:grpSpPr>
        <p:sp>
          <p:nvSpPr>
            <p:cNvPr id="12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3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35" name="모서리가 둥근 직사각형 134"/>
          <p:cNvSpPr/>
          <p:nvPr/>
        </p:nvSpPr>
        <p:spPr>
          <a:xfrm>
            <a:off x="712057" y="4581074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55122" y="4655595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/>
            <a:r>
              <a:rPr lang="en-US" altLang="ko-KR" sz="800" b="1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James </a:t>
            </a:r>
            <a:r>
              <a:rPr lang="en-US" altLang="ko-KR" sz="800" b="1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Burkley</a:t>
            </a:r>
            <a:endParaRPr lang="en-US" altLang="ko-KR" sz="800" b="1" dirty="0">
              <a:solidFill>
                <a:prstClr val="black">
                  <a:lumMod val="85000"/>
                  <a:lumOff val="15000"/>
                </a:prstClr>
              </a:solidFill>
              <a:latin typeface="맑은 고딕" panose="020B0503020000020004" pitchFamily="50" charset="-127"/>
            </a:endParaRPr>
          </a:p>
          <a:p>
            <a:pPr lvl="0"/>
            <a:r>
              <a:rPr lang="ko-KR" altLang="en-US" sz="600" dirty="0" err="1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수정일시</a:t>
            </a:r>
            <a:r>
              <a:rPr lang="ko-KR" altLang="en-US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prstClr val="black">
                    <a:lumMod val="85000"/>
                    <a:lumOff val="15000"/>
                  </a:prstClr>
                </a:solidFill>
                <a:latin typeface="맑은 고딕" panose="020B0503020000020004" pitchFamily="50" charset="-127"/>
              </a:rPr>
              <a:t>2025-01-15 16:22</a:t>
            </a:r>
          </a:p>
        </p:txBody>
      </p:sp>
      <p:grpSp>
        <p:nvGrpSpPr>
          <p:cNvPr id="144" name="그룹 143"/>
          <p:cNvGrpSpPr/>
          <p:nvPr/>
        </p:nvGrpSpPr>
        <p:grpSpPr>
          <a:xfrm>
            <a:off x="2305867" y="4685325"/>
            <a:ext cx="993848" cy="155984"/>
            <a:chOff x="808107" y="2288229"/>
            <a:chExt cx="1811459" cy="168318"/>
          </a:xfrm>
        </p:grpSpPr>
        <p:sp>
          <p:nvSpPr>
            <p:cNvPr id="14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7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쓰기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4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3435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읽기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056072" y="2288229"/>
              <a:ext cx="563494" cy="168318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없음</a:t>
              </a:r>
              <a:endParaRPr kumimoji="1" lang="en-US" sz="7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32020"/>
            <a:ext cx="76863" cy="292489"/>
            <a:chOff x="3750067" y="4683795"/>
            <a:chExt cx="76863" cy="292489"/>
          </a:xfrm>
        </p:grpSpPr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1" name="타원 15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2" name="타원 15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5148498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896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53662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3741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fldrSz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등록일시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3156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BD3DF6E4-3604-ED94-DEC3-2A8F6364DA0E}"/>
              </a:ext>
            </a:extLst>
          </p:cNvPr>
          <p:cNvSpPr txBox="1"/>
          <p:nvPr/>
        </p:nvSpPr>
        <p:spPr>
          <a:xfrm>
            <a:off x="463235" y="2347416"/>
            <a:ext cx="305909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권한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dl_digitalCabinetAuthrtList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428DE66F-5F85-32C0-B139-005B58225AB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5955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사용자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authrtSe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권한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접근권한코드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:GTSC0009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mdfcnDt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68353" y="3427342"/>
            <a:ext cx="329794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366953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(MB)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(Y/N)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3235" y="487937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813785"/>
              </p:ext>
            </p:extLst>
          </p:nvPr>
        </p:nvGraphicFramePr>
        <p:xfrm>
          <a:off x="455204" y="5100670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349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846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312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scwin.btn_save_onclick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변경된 정보를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쓰기 권한이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820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345BDA-72F8-A50F-5DEE-1DC664B80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9874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CC302D0-0791-F56B-8FCB-36A5979D6C4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D7D3E1E8-2A83-F048-7179-4CE69B789918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7" name="Text Box 73">
              <a:extLst>
                <a:ext uri="{FF2B5EF4-FFF2-40B4-BE49-F238E27FC236}">
                  <a16:creationId xmlns:a16="http://schemas.microsoft.com/office/drawing/2014/main" id="{E5988E95-6757-1BE7-B513-585E4D65CB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11325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생성한 폴더 구조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상위 폴더 이동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파일 등록</a:t>
            </a:r>
            <a:r>
              <a:rPr lang="en-US" altLang="ko-KR" dirty="0"/>
              <a:t>, </a:t>
            </a:r>
            <a:r>
              <a:rPr lang="ko-KR" altLang="en-US" dirty="0"/>
              <a:t>삭제 </a:t>
            </a:r>
            <a:r>
              <a:rPr lang="en-US" altLang="ko-KR" dirty="0"/>
              <a:t>PC</a:t>
            </a:r>
            <a:r>
              <a:rPr lang="ko-KR" altLang="en-US" dirty="0"/>
              <a:t>에서 </a:t>
            </a:r>
            <a:r>
              <a:rPr lang="ko-KR" altLang="en-US" dirty="0" smtClean="0"/>
              <a:t>제공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파일첨부</a:t>
            </a:r>
            <a:r>
              <a:rPr lang="en-US" altLang="ko-KR" dirty="0"/>
              <a:t>, </a:t>
            </a:r>
            <a:r>
              <a:rPr lang="ko-KR" altLang="en-US" dirty="0"/>
              <a:t>파일 업로드 </a:t>
            </a:r>
            <a:r>
              <a:rPr lang="en-US" altLang="ko-KR" dirty="0"/>
              <a:t>&gt; </a:t>
            </a:r>
            <a:r>
              <a:rPr lang="ko-KR" altLang="en-US" dirty="0"/>
              <a:t>디지털 캐비닛 선택으로 진입하는 경우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선택 시 하이라이트 처리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입찰참가</a:t>
            </a:r>
            <a:r>
              <a:rPr lang="en-US" altLang="ko-KR" dirty="0" smtClean="0"/>
              <a:t>, </a:t>
            </a:r>
            <a:r>
              <a:rPr lang="ko-KR" altLang="en-US" dirty="0" smtClean="0"/>
              <a:t>입찰서 등을 작성할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사용자가 디지털 캐비닛의 파일첨부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파일업로드를 하는 </a:t>
            </a:r>
            <a:r>
              <a:rPr lang="ko-KR" altLang="en-US" dirty="0" smtClean="0"/>
              <a:t>경우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파일 업로드 버튼 </a:t>
            </a:r>
            <a:r>
              <a:rPr lang="ko-KR" altLang="en-US" dirty="0" smtClean="0"/>
              <a:t>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사용자가 선택 여부를 확인할 수 있는 체크박스 추가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선택 파일 첨부를 통해 신청서 작성 등의 파일 </a:t>
            </a:r>
            <a:r>
              <a:rPr lang="ko-KR" altLang="en-US" dirty="0" err="1" smtClean="0"/>
              <a:t>첨부항목에</a:t>
            </a:r>
            <a:r>
              <a:rPr lang="ko-KR" altLang="en-US" dirty="0" smtClean="0"/>
              <a:t> 선택된 캐비닛 자료 업로드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 </a:t>
            </a:r>
            <a:r>
              <a:rPr lang="ko-KR" altLang="en-US" dirty="0" err="1" smtClean="0"/>
              <a:t>파일첨부하던</a:t>
            </a:r>
            <a:r>
              <a:rPr lang="ko-KR" altLang="en-US" dirty="0" smtClean="0"/>
              <a:t> 화면으로 복귀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폴더 내 파일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디지털캐비닛 파일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디지털캐비닛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MUI-CM-06-M16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924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74158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6" name="모서리가 둥근 직사각형 55"/>
          <p:cNvSpPr/>
          <p:nvPr/>
        </p:nvSpPr>
        <p:spPr>
          <a:xfrm>
            <a:off x="781461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82843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0620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6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72625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1019814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4" name="타원 103"/>
          <p:cNvSpPr/>
          <p:nvPr/>
        </p:nvSpPr>
        <p:spPr>
          <a:xfrm>
            <a:off x="783686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5" name="그룹 104"/>
          <p:cNvGrpSpPr/>
          <p:nvPr/>
        </p:nvGrpSpPr>
        <p:grpSpPr>
          <a:xfrm>
            <a:off x="3143548" y="2279636"/>
            <a:ext cx="94010" cy="47005"/>
            <a:chOff x="6812560" y="3297172"/>
            <a:chExt cx="94010" cy="47005"/>
          </a:xfrm>
        </p:grpSpPr>
        <p:cxnSp>
          <p:nvCxnSpPr>
            <p:cNvPr id="106" name="직선 연결선 10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직선 연결선 10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36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선택 파일 첨부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62763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디지털캐비닛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7261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5" name="그룹 54"/>
          <p:cNvGrpSpPr/>
          <p:nvPr/>
        </p:nvGrpSpPr>
        <p:grpSpPr>
          <a:xfrm rot="5400000">
            <a:off x="3881704" y="1640499"/>
            <a:ext cx="94010" cy="47005"/>
            <a:chOff x="6812560" y="3297172"/>
            <a:chExt cx="94010" cy="47005"/>
          </a:xfrm>
        </p:grpSpPr>
        <p:cxnSp>
          <p:nvCxnSpPr>
            <p:cNvPr id="62" name="직선 연결선 6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타원 69"/>
          <p:cNvSpPr/>
          <p:nvPr/>
        </p:nvSpPr>
        <p:spPr>
          <a:xfrm>
            <a:off x="6171228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/>
          <p:cNvSpPr txBox="1"/>
          <p:nvPr/>
        </p:nvSpPr>
        <p:spPr>
          <a:xfrm>
            <a:off x="6119977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9672" y="4874158"/>
            <a:ext cx="76863" cy="292489"/>
            <a:chOff x="3750067" y="4683795"/>
            <a:chExt cx="76863" cy="292489"/>
          </a:xfrm>
        </p:grpSpPr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모서리가 둥근 직사각형 77"/>
          <p:cNvSpPr/>
          <p:nvPr/>
        </p:nvSpPr>
        <p:spPr>
          <a:xfrm>
            <a:off x="3908152" y="1944348"/>
            <a:ext cx="243478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>
                <a:solidFill>
                  <a:srgbClr val="FF0000"/>
                </a:solidFill>
              </a:rPr>
              <a:t>중요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7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209534" y="1950187"/>
            <a:ext cx="220200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폴더와</a:t>
            </a:r>
            <a:r>
              <a:rPr lang="en-US" altLang="ko-KR" sz="700" dirty="0">
                <a:solidFill>
                  <a:prstClr val="black"/>
                </a:solidFill>
              </a:rPr>
              <a:t> </a:t>
            </a:r>
            <a:r>
              <a:rPr lang="ko-KR" altLang="en-US" sz="700" dirty="0">
                <a:solidFill>
                  <a:prstClr val="black"/>
                </a:solidFill>
              </a:rPr>
              <a:t>파일의 추가</a:t>
            </a:r>
            <a:r>
              <a:rPr lang="en-US" altLang="ko-KR" sz="700" dirty="0">
                <a:solidFill>
                  <a:prstClr val="black"/>
                </a:solidFill>
              </a:rPr>
              <a:t>, </a:t>
            </a:r>
            <a:r>
              <a:rPr lang="ko-KR" altLang="en-US" sz="700" dirty="0">
                <a:solidFill>
                  <a:prstClr val="black"/>
                </a:solidFill>
              </a:rPr>
              <a:t>삭제는 </a:t>
            </a:r>
            <a:r>
              <a:rPr lang="en-US" altLang="ko-KR" sz="700" dirty="0">
                <a:solidFill>
                  <a:prstClr val="black"/>
                </a:solidFill>
              </a:rPr>
              <a:t>PC </a:t>
            </a:r>
            <a:r>
              <a:rPr lang="ko-KR" altLang="en-US" sz="700" dirty="0">
                <a:solidFill>
                  <a:prstClr val="black"/>
                </a:solidFill>
              </a:rPr>
              <a:t>버전에서 가능합니다</a:t>
            </a:r>
            <a:r>
              <a:rPr lang="en-US" altLang="ko-KR" sz="700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2453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99316" y="26014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dirty="0">
                <a:latin typeface="+mn-ea"/>
              </a:rPr>
              <a:t>←</a:t>
            </a:r>
            <a:endParaRPr lang="ko-KR" altLang="en-US" sz="800" b="1" dirty="0">
              <a:latin typeface="+mn-ea"/>
            </a:endParaRPr>
          </a:p>
        </p:txBody>
      </p:sp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28723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107311" y="2588929"/>
            <a:ext cx="2063916" cy="133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20000"/>
              </a:lnSpc>
            </a:pPr>
            <a:r>
              <a:rPr lang="ko-KR" altLang="en-US" sz="800" dirty="0">
                <a:solidFill>
                  <a:prstClr val="black"/>
                </a:solidFill>
              </a:rPr>
              <a:t>📁 </a:t>
            </a:r>
            <a:r>
              <a:rPr lang="ko-KR" altLang="en-US" sz="800" b="1" dirty="0">
                <a:solidFill>
                  <a:prstClr val="black"/>
                </a:solidFill>
              </a:rPr>
              <a:t>상위 폴더 목록 이동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302362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32945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295572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사업자등록증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[369KB]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8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3436974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37079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3369079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대사회보험사업장가입자명부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3858229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41291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3790334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en-US" altLang="ko-KR" sz="800" b="1" dirty="0">
                <a:solidFill>
                  <a:prstClr val="black"/>
                </a:solidFill>
              </a:rPr>
              <a:t>4</a:t>
            </a:r>
            <a:r>
              <a:rPr lang="ko-KR" altLang="en-US" sz="800" b="1" dirty="0" err="1">
                <a:solidFill>
                  <a:prstClr val="black"/>
                </a:solidFill>
              </a:rPr>
              <a:t>대사회보험사업장가입내역확인서</a:t>
            </a:r>
            <a:r>
              <a:rPr lang="en-US" altLang="ko-KR" sz="800" b="1" dirty="0">
                <a:solidFill>
                  <a:prstClr val="black"/>
                </a:solidFill>
              </a:rPr>
              <a:t>.pdf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2025-01-31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sp>
        <p:nvSpPr>
          <p:cNvPr id="9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089407" y="4277885"/>
            <a:ext cx="15827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800" dirty="0">
                <a:solidFill>
                  <a:prstClr val="black"/>
                </a:solidFill>
              </a:rPr>
              <a:t>📄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45488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4336596" y="4209990"/>
            <a:ext cx="2212684" cy="2585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20000"/>
              </a:lnSpc>
            </a:pPr>
            <a:r>
              <a:rPr lang="ko-KR" altLang="en-US" sz="800" b="1" dirty="0">
                <a:solidFill>
                  <a:prstClr val="black"/>
                </a:solidFill>
              </a:rPr>
              <a:t>파일명</a:t>
            </a:r>
            <a:r>
              <a:rPr lang="en-US" altLang="ko-KR" sz="800" b="1" dirty="0">
                <a:solidFill>
                  <a:prstClr val="black"/>
                </a:solidFill>
              </a:rPr>
              <a:t>.</a:t>
            </a:r>
            <a:r>
              <a:rPr lang="ko-KR" altLang="en-US" sz="800" b="1" dirty="0" err="1">
                <a:solidFill>
                  <a:prstClr val="black"/>
                </a:solidFill>
              </a:rPr>
              <a:t>확장자</a:t>
            </a:r>
            <a:r>
              <a:rPr lang="en-US" altLang="ko-KR" sz="800" b="1" dirty="0">
                <a:solidFill>
                  <a:prstClr val="black"/>
                </a:solidFill>
              </a:rPr>
              <a:t> </a:t>
            </a:r>
            <a:r>
              <a:rPr lang="en-US" altLang="ko-KR" sz="600" dirty="0">
                <a:solidFill>
                  <a:prstClr val="black"/>
                </a:solidFill>
              </a:rPr>
              <a:t>[20KB]</a:t>
            </a:r>
            <a:endParaRPr lang="en-US" altLang="ko-KR" sz="800" b="1" dirty="0">
              <a:solidFill>
                <a:prstClr val="black"/>
              </a:solidFill>
            </a:endParaRPr>
          </a:p>
          <a:p>
            <a:pPr lvl="0">
              <a:lnSpc>
                <a:spcPct val="120000"/>
              </a:lnSpc>
            </a:pPr>
            <a:r>
              <a:rPr lang="ko-KR" altLang="en-US" sz="600" dirty="0">
                <a:solidFill>
                  <a:prstClr val="black"/>
                </a:solidFill>
              </a:rPr>
              <a:t>유효기간 </a:t>
            </a:r>
            <a:r>
              <a:rPr lang="en-US" altLang="ko-KR" sz="600" dirty="0">
                <a:solidFill>
                  <a:prstClr val="black"/>
                </a:solidFill>
              </a:rPr>
              <a:t>-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2090" y="21509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46505" y="2249278"/>
            <a:ext cx="45225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0" name="타원 109"/>
          <p:cNvSpPr/>
          <p:nvPr/>
        </p:nvSpPr>
        <p:spPr>
          <a:xfrm>
            <a:off x="3910377" y="221671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1" name="그룹 110"/>
          <p:cNvGrpSpPr/>
          <p:nvPr/>
        </p:nvGrpSpPr>
        <p:grpSpPr>
          <a:xfrm>
            <a:off x="6270239" y="2279636"/>
            <a:ext cx="94010" cy="47005"/>
            <a:chOff x="6812560" y="3297172"/>
            <a:chExt cx="94010" cy="47005"/>
          </a:xfrm>
        </p:grpSpPr>
        <p:cxnSp>
          <p:nvCxnSpPr>
            <p:cNvPr id="112" name="직선 연결선 1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직선 연결선 1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3028158"/>
            <a:ext cx="108000" cy="108000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3444097"/>
            <a:ext cx="108000" cy="108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sz="7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V</a:t>
            </a:r>
            <a:endParaRPr kumimoji="1" lang="en-US" sz="7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3861946"/>
            <a:ext cx="108000" cy="108000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12489" y="4277885"/>
            <a:ext cx="108000" cy="108000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6896" y="14138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20" name="그룹 11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1" name="직사각형 12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22" name="직사각형 12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이해를 돕기 위해 디지털 캐비닛에서 파일을 첨부하는 화면을 추가함</a:t>
              </a:r>
              <a:endParaRPr lang="ko-KR" altLang="en-US" sz="700" dirty="0"/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6896" y="27835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6896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1433306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02438"/>
            <a:ext cx="26407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폴더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dl_digitalCabinetFldrList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192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0329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폴더명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fldrSz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폴더사이즈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수정자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수정일시 항목 검색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2110824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621256E-2BA7-6BAA-111B-197BD14DF222}"/>
              </a:ext>
            </a:extLst>
          </p:cNvPr>
          <p:cNvSpPr txBox="1"/>
          <p:nvPr/>
        </p:nvSpPr>
        <p:spPr>
          <a:xfrm>
            <a:off x="438119" y="2449502"/>
            <a:ext cx="32771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폴더 내 파일목록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dl_digitalCabinetFileList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CC675FA-CA9A-F7D0-E1A9-801F009BFC83}"/>
              </a:ext>
            </a:extLst>
          </p:cNvPr>
          <p:cNvGraphicFramePr>
            <a:graphicFrameLocks noGrp="1"/>
          </p:cNvGraphicFramePr>
          <p:nvPr/>
        </p:nvGraphicFramePr>
        <p:xfrm>
          <a:off x="433001" y="273325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fileId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38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6854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파일명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255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파일사이즈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fileSz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파일사이즈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9380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유효기간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</a:rPr>
                        <a:t>vldPrdEndYmd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유효기간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1118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전자문서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lt"/>
                          <a:ea typeface="+mn-ea"/>
                        </a:rPr>
                        <a:t>eldocYn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폴더 내 전자문서 여부 항목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Y/N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117431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EACD273-95D4-61F0-0E38-A6B2B35E67F9}"/>
              </a:ext>
            </a:extLst>
          </p:cNvPr>
          <p:cNvSpPr txBox="1"/>
          <p:nvPr/>
        </p:nvSpPr>
        <p:spPr>
          <a:xfrm>
            <a:off x="463575" y="42673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49227A-FD55-5483-94A2-84441908A1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609147"/>
              </p:ext>
            </p:extLst>
          </p:nvPr>
        </p:nvGraphicFramePr>
        <p:xfrm>
          <a:off x="433001" y="4551087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5097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765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디지털캐비닛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scwin.fldrInfo_onclick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폴더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해당하는 파일목록 정보를 조회한다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384D4DE-1334-2648-261A-B57C67E0D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4409" y="442250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A4350DC5-4272-6447-12B9-D0BD5DC6A61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205CD74-5F48-3EBE-9AE5-0C8C7BC4E2C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0" name="Text Box 73">
              <a:extLst>
                <a:ext uri="{FF2B5EF4-FFF2-40B4-BE49-F238E27FC236}">
                  <a16:creationId xmlns:a16="http://schemas.microsoft.com/office/drawing/2014/main" id="{6EE07283-DD02-DC10-0DF5-55ADA5519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5031933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선택된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사용중인 업체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MUI-CM-01-M02 </a:t>
            </a:r>
            <a:r>
              <a:rPr lang="ko-KR" altLang="en-US" dirty="0" smtClean="0"/>
              <a:t>업체정보상세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MUI-CM-01-M03 </a:t>
            </a:r>
            <a:r>
              <a:rPr lang="ko-KR" altLang="en-US" dirty="0" smtClean="0"/>
              <a:t>추가정보신청목록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이동없음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담당자 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MUI-CM-01-M05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물품 </a:t>
            </a:r>
            <a:r>
              <a:rPr lang="en-US" altLang="ko-KR" dirty="0" smtClean="0"/>
              <a:t>(</a:t>
            </a:r>
            <a:r>
              <a:rPr lang="ko-KR" altLang="en-US" dirty="0" smtClean="0"/>
              <a:t>내자</a:t>
            </a:r>
            <a:r>
              <a:rPr lang="en-US" altLang="ko-KR" dirty="0" smtClean="0"/>
              <a:t>) </a:t>
            </a:r>
            <a:r>
              <a:rPr lang="ko-KR" altLang="en-US" dirty="0" smtClean="0"/>
              <a:t>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MUI-CM-01-M22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국내소재상사 정보 </a:t>
            </a:r>
            <a:r>
              <a:rPr lang="ko-KR" altLang="en-US" dirty="0" err="1" smtClean="0"/>
              <a:t>추가등록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MUI-CM-01-M23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군수품무역대리업 신청 및 발급 목록 </a:t>
            </a:r>
            <a:r>
              <a:rPr lang="en-US" altLang="ko-KR" dirty="0" smtClean="0"/>
              <a:t>MUI-CM-01-M15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 조달원 확인서 신청 목록 </a:t>
            </a:r>
            <a:r>
              <a:rPr lang="en-US" altLang="ko-KR" dirty="0" smtClean="0"/>
              <a:t>MUI-CM-01-M19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국내 조달원 확인서 신청 </a:t>
            </a:r>
            <a:r>
              <a:rPr lang="en-US" altLang="ko-KR" dirty="0"/>
              <a:t>MUI-CM-01-P20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국외 조달원등록증 </a:t>
            </a:r>
            <a:r>
              <a:rPr lang="ko-KR" altLang="en-US" dirty="0" smtClean="0"/>
              <a:t>신청안내 </a:t>
            </a:r>
            <a:r>
              <a:rPr lang="en-US" altLang="ko-KR" dirty="0" smtClean="0"/>
              <a:t>MUI-CM-01-P21</a:t>
            </a: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 smtClean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118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63608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 정보 상세보기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45852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추가정보 신청 목록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4023916" y="1684175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군수품무역대리업 신청 및 발급 목록</a:t>
              </a: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4023916" y="2072811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국내 조달원 </a:t>
              </a:r>
              <a:r>
                <a:rPr lang="ko-KR" altLang="en-US" sz="800" b="1" dirty="0">
                  <a:latin typeface="+mn-ea"/>
                </a:rPr>
                <a:t>확인서 </a:t>
              </a:r>
              <a:r>
                <a:rPr lang="ko-KR" altLang="en-US" sz="800" b="1" dirty="0" smtClean="0">
                  <a:latin typeface="+mn-ea"/>
                </a:rPr>
                <a:t>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7379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grpSp>
        <p:nvGrpSpPr>
          <p:cNvPr id="37" name="그룹 36"/>
          <p:cNvGrpSpPr/>
          <p:nvPr/>
        </p:nvGrpSpPr>
        <p:grpSpPr>
          <a:xfrm>
            <a:off x="4023916" y="2461447"/>
            <a:ext cx="2255663" cy="306146"/>
            <a:chOff x="903581" y="2074658"/>
            <a:chExt cx="2255663" cy="306146"/>
          </a:xfrm>
        </p:grpSpPr>
        <p:sp>
          <p:nvSpPr>
            <p:cNvPr id="38" name="모서리가 둥근 직사각형 37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국내 조달원 </a:t>
              </a:r>
              <a:r>
                <a:rPr lang="ko-KR" altLang="en-US" sz="800" b="1" dirty="0">
                  <a:latin typeface="+mn-ea"/>
                </a:rPr>
                <a:t>확인서 </a:t>
              </a:r>
              <a:r>
                <a:rPr lang="ko-KR" altLang="en-US" sz="800" b="1" dirty="0" smtClean="0">
                  <a:latin typeface="+mn-ea"/>
                </a:rPr>
                <a:t>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43" name="그룹 42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64" name="직선 연결선 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45" name="직사각형 4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68" name="모서리가 둥근 직사각형 67"/>
          <p:cNvSpPr/>
          <p:nvPr/>
        </p:nvSpPr>
        <p:spPr>
          <a:xfrm>
            <a:off x="903581" y="4511691"/>
            <a:ext cx="2255663" cy="865240"/>
          </a:xfrm>
          <a:prstGeom prst="roundRect">
            <a:avLst>
              <a:gd name="adj" fmla="val 654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809622"/>
            <a:ext cx="1731957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담당자 정보 </a:t>
            </a:r>
            <a:r>
              <a:rPr lang="ko-KR" altLang="en-US" sz="700" dirty="0" err="1" smtClean="0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 smtClean="0">
                <a:latin typeface="+mn-ea"/>
              </a:rPr>
              <a:t>물품 </a:t>
            </a:r>
            <a:r>
              <a:rPr lang="en-US" altLang="ko-KR" sz="700" dirty="0" smtClean="0">
                <a:latin typeface="+mn-ea"/>
              </a:rPr>
              <a:t>(</a:t>
            </a:r>
            <a:r>
              <a:rPr lang="ko-KR" altLang="en-US" sz="700" dirty="0" smtClean="0">
                <a:latin typeface="+mn-ea"/>
              </a:rPr>
              <a:t>내자</a:t>
            </a:r>
            <a:r>
              <a:rPr lang="en-US" altLang="ko-KR" sz="700" dirty="0" smtClean="0">
                <a:latin typeface="+mn-ea"/>
              </a:rPr>
              <a:t>) </a:t>
            </a:r>
            <a:r>
              <a:rPr lang="ko-KR" altLang="en-US" sz="700" dirty="0" smtClean="0">
                <a:latin typeface="+mn-ea"/>
              </a:rPr>
              <a:t>정보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en-US" altLang="ko-KR" sz="700" dirty="0" smtClean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국내소재상사 정보 </a:t>
            </a:r>
            <a:r>
              <a:rPr lang="ko-KR" altLang="en-US" sz="700" dirty="0" err="1">
                <a:latin typeface="+mn-ea"/>
              </a:rPr>
              <a:t>추가등록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871283" y="4809622"/>
            <a:ext cx="173253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&gt;</a:t>
            </a:r>
          </a:p>
          <a:p>
            <a:pPr algn="r">
              <a:lnSpc>
                <a:spcPct val="150000"/>
              </a:lnSpc>
            </a:pPr>
            <a:r>
              <a:rPr lang="en-US" altLang="ko-KR" sz="700" dirty="0" smtClean="0">
                <a:latin typeface="+mn-ea"/>
              </a:rPr>
              <a:t>&gt;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903581" y="4426128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업체정보 </a:t>
              </a:r>
              <a:r>
                <a:rPr lang="ko-KR" altLang="en-US" sz="800" b="1" dirty="0" err="1">
                  <a:latin typeface="+mn-ea"/>
                </a:rPr>
                <a:t>추가등록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2" name="직사각형 7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하위 버튼 구조 추가</a:t>
              </a:r>
              <a:endParaRPr lang="ko-KR" altLang="en-US" sz="700" dirty="0"/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09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75" name="그룹 74"/>
          <p:cNvGrpSpPr/>
          <p:nvPr/>
        </p:nvGrpSpPr>
        <p:grpSpPr>
          <a:xfrm>
            <a:off x="4023916" y="2874833"/>
            <a:ext cx="2255663" cy="306146"/>
            <a:chOff x="903581" y="2074658"/>
            <a:chExt cx="2255663" cy="306146"/>
          </a:xfrm>
        </p:grpSpPr>
        <p:sp>
          <p:nvSpPr>
            <p:cNvPr id="76" name="모서리가 둥근 직사각형 7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국외 </a:t>
              </a:r>
              <a:r>
                <a:rPr lang="ko-KR" altLang="en-US" sz="800" b="1" dirty="0" smtClean="0">
                  <a:latin typeface="+mn-ea"/>
                </a:rPr>
                <a:t>조달원 등록증 신청 안내</a:t>
              </a:r>
              <a:endParaRPr lang="ko-KR" altLang="en-US" sz="8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4238977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199505"/>
              </p:ext>
            </p:extLst>
          </p:nvPr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676398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나라장터 갱신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 제한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제한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갱신은 </a:t>
            </a:r>
            <a:r>
              <a:rPr lang="en-US" altLang="ko-KR" dirty="0"/>
              <a:t>1</a:t>
            </a:r>
            <a:r>
              <a:rPr lang="ko-KR" altLang="en-US" dirty="0"/>
              <a:t>일 </a:t>
            </a:r>
            <a:r>
              <a:rPr lang="en-US" altLang="ko-KR" dirty="0"/>
              <a:t>1</a:t>
            </a:r>
            <a:r>
              <a:rPr lang="ko-KR" altLang="en-US" dirty="0"/>
              <a:t>회로 제한됩니다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탭 콘텐츠 표시 영역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1248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5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28876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>
                <a:latin typeface="+mn-ea"/>
              </a:rPr>
              <a:t>업체 정보 조회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모서리가 둥근 직사각형 190"/>
          <p:cNvSpPr/>
          <p:nvPr/>
        </p:nvSpPr>
        <p:spPr>
          <a:xfrm>
            <a:off x="1481931" y="2178612"/>
            <a:ext cx="420460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물품</a:t>
            </a:r>
            <a:r>
              <a:rPr lang="en-US" altLang="ko-KR" sz="600" dirty="0">
                <a:solidFill>
                  <a:schemeClr val="dk1"/>
                </a:solidFill>
              </a:rPr>
              <a:t>(</a:t>
            </a:r>
            <a:r>
              <a:rPr lang="ko-KR" altLang="en-US" sz="600" dirty="0">
                <a:solidFill>
                  <a:schemeClr val="dk1"/>
                </a:solidFill>
              </a:rPr>
              <a:t>내자</a:t>
            </a:r>
            <a:r>
              <a:rPr lang="en-US" altLang="ko-KR" sz="600" dirty="0">
                <a:solidFill>
                  <a:schemeClr val="dk1"/>
                </a:solidFill>
              </a:rPr>
              <a:t>)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192" name="모서리가 둥근 직사각형 191"/>
          <p:cNvSpPr/>
          <p:nvPr/>
        </p:nvSpPr>
        <p:spPr>
          <a:xfrm>
            <a:off x="1959511" y="2178612"/>
            <a:ext cx="2666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공사</a:t>
            </a:r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6" name="모서리가 둥근 직사각형 155"/>
          <p:cNvSpPr/>
          <p:nvPr/>
        </p:nvSpPr>
        <p:spPr>
          <a:xfrm>
            <a:off x="2279644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/>
              <a:t>용역</a:t>
            </a:r>
            <a:endParaRPr lang="ko-KR" altLang="en-US" sz="600" dirty="0"/>
          </a:p>
        </p:txBody>
      </p:sp>
      <p:grpSp>
        <p:nvGrpSpPr>
          <p:cNvPr id="8" name="그룹 7"/>
          <p:cNvGrpSpPr/>
          <p:nvPr/>
        </p:nvGrpSpPr>
        <p:grpSpPr>
          <a:xfrm>
            <a:off x="720490" y="3219475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62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94784" y="2164911"/>
            <a:ext cx="30777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사업구분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업체코드</a:t>
            </a:r>
            <a:endParaRPr lang="en-US" altLang="ko-KR" sz="600" dirty="0">
              <a:latin typeface="+mn-ea"/>
            </a:endParaRPr>
          </a:p>
        </p:txBody>
      </p:sp>
      <p:sp>
        <p:nvSpPr>
          <p:cNvPr id="163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3108679" y="2149522"/>
            <a:ext cx="163571" cy="2591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100F</a:t>
            </a:r>
          </a:p>
        </p:txBody>
      </p:sp>
      <p:sp>
        <p:nvSpPr>
          <p:cNvPr id="178" name="모서리가 둥근 직사각형 177"/>
          <p:cNvSpPr/>
          <p:nvPr/>
        </p:nvSpPr>
        <p:spPr>
          <a:xfrm>
            <a:off x="2587167" y="2178612"/>
            <a:ext cx="39641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일반용역</a:t>
            </a:r>
          </a:p>
        </p:txBody>
      </p:sp>
      <p:sp>
        <p:nvSpPr>
          <p:cNvPr id="179" name="모서리가 둥근 직사각형 178"/>
          <p:cNvSpPr/>
          <p:nvPr/>
        </p:nvSpPr>
        <p:spPr>
          <a:xfrm>
            <a:off x="3030985" y="2178612"/>
            <a:ext cx="25400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외자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5066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" name="그룹 17"/>
          <p:cNvGrpSpPr/>
          <p:nvPr/>
        </p:nvGrpSpPr>
        <p:grpSpPr>
          <a:xfrm>
            <a:off x="670228" y="2861112"/>
            <a:ext cx="2717198" cy="303979"/>
            <a:chOff x="675399" y="1846937"/>
            <a:chExt cx="2717198" cy="303979"/>
          </a:xfrm>
        </p:grpSpPr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6105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64445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2644450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86105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2644450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2644450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85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12" name="그룹 11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en-US" altLang="ko-KR" sz="700" dirty="0" smtClean="0"/>
            </a:p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탭 화면 </a:t>
              </a:r>
              <a:r>
                <a:rPr lang="en-US" altLang="ko-KR" sz="700" dirty="0"/>
                <a:t>ID</a:t>
              </a:r>
              <a:r>
                <a:rPr lang="ko-KR" altLang="en-US" sz="700" dirty="0"/>
                <a:t> 화면 </a:t>
              </a:r>
              <a:r>
                <a:rPr lang="ko-KR" altLang="en-US" sz="700" dirty="0" smtClean="0"/>
                <a:t>분리</a:t>
              </a:r>
              <a:endParaRPr lang="ko-KR" altLang="en-US" sz="700" dirty="0"/>
            </a:p>
          </p:txBody>
        </p:sp>
      </p:grpSp>
      <p:sp>
        <p:nvSpPr>
          <p:cNvPr id="12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25" name="평행 사변형 124"/>
          <p:cNvSpPr/>
          <p:nvPr/>
        </p:nvSpPr>
        <p:spPr>
          <a:xfrm rot="16200000" flipH="1">
            <a:off x="2896851" y="1982604"/>
            <a:ext cx="1389463" cy="408308"/>
          </a:xfrm>
          <a:prstGeom prst="parallelogram">
            <a:avLst>
              <a:gd name="adj" fmla="val 247469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51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9691775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업체일반</a:t>
            </a:r>
            <a:r>
              <a:rPr lang="ko-KR" altLang="en-US" dirty="0" smtClean="0"/>
              <a:t>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사업구분은</a:t>
            </a:r>
            <a:r>
              <a:rPr lang="ko-KR" altLang="en-US" dirty="0" smtClean="0"/>
              <a:t> 여러 개 노출될 수 있음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상태</a:t>
            </a:r>
            <a:r>
              <a:rPr lang="en-US" altLang="ko-KR" dirty="0" smtClean="0"/>
              <a:t>/</a:t>
            </a:r>
            <a:r>
              <a:rPr lang="ko-KR" altLang="en-US" dirty="0" smtClean="0"/>
              <a:t>부정당 데이터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상태</a:t>
            </a:r>
            <a:r>
              <a:rPr lang="en-US" altLang="ko-KR" dirty="0" smtClean="0"/>
              <a:t>/</a:t>
            </a:r>
            <a:r>
              <a:rPr lang="ko-KR" altLang="en-US" dirty="0" smtClean="0"/>
              <a:t>부정당 데이터가 없는 경우 표시 정보 데이터 확인이 필요함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업체일반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2210568"/>
            <a:ext cx="2630093" cy="3108252"/>
            <a:chOff x="720490" y="4465173"/>
            <a:chExt cx="2630093" cy="3108252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업체일반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27179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영문상호명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개업일자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홈페이지주소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종업원수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280076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조달테스트업체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err="1">
                  <a:latin typeface="+mn-ea"/>
                </a:rPr>
                <a:t>Jodal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대한민국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www.dapa.go.kr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[12345] </a:t>
              </a: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 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76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4897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6846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898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112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73452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232" name="그룹 231"/>
          <p:cNvGrpSpPr/>
          <p:nvPr/>
        </p:nvGrpSpPr>
        <p:grpSpPr>
          <a:xfrm>
            <a:off x="3836701" y="1850834"/>
            <a:ext cx="2630093" cy="1515507"/>
            <a:chOff x="720490" y="4772658"/>
            <a:chExt cx="2630093" cy="1515507"/>
          </a:xfrm>
        </p:grpSpPr>
        <p:sp>
          <p:nvSpPr>
            <p:cNvPr id="237" name="직사각형 236"/>
            <p:cNvSpPr/>
            <p:nvPr/>
          </p:nvSpPr>
          <p:spPr>
            <a:xfrm>
              <a:off x="722583" y="4772658"/>
              <a:ext cx="792000" cy="151252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제조구분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기업구분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기업구분해당년도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지역코드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내자</a:t>
              </a:r>
              <a:r>
                <a:rPr lang="en-US" altLang="ko-KR" sz="700" dirty="0">
                  <a:latin typeface="+mn-ea"/>
                </a:rPr>
                <a:t>) | </a:t>
              </a:r>
              <a:r>
                <a:rPr lang="ko-KR" altLang="en-US" sz="700" dirty="0">
                  <a:latin typeface="+mn-ea"/>
                </a:rPr>
                <a:t>공사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일반용역 </a:t>
              </a:r>
              <a:r>
                <a:rPr lang="en-US" altLang="ko-KR" sz="700" dirty="0">
                  <a:latin typeface="+mn-ea"/>
                </a:rPr>
                <a:t>| </a:t>
              </a:r>
              <a:r>
                <a:rPr lang="ko-KR" altLang="en-US" sz="700" dirty="0">
                  <a:latin typeface="+mn-ea"/>
                </a:rPr>
                <a:t>외자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중소기업 </a:t>
              </a:r>
              <a:r>
                <a:rPr lang="ko-KR" altLang="en-US" sz="700" dirty="0" err="1">
                  <a:latin typeface="+mn-ea"/>
                </a:rPr>
                <a:t>원호기업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</a:t>
              </a:r>
              <a:r>
                <a:rPr lang="ko-KR" altLang="en-US" sz="700" dirty="0">
                  <a:latin typeface="+mn-ea"/>
                </a:rPr>
                <a:t>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11-</a:t>
              </a:r>
              <a:r>
                <a:rPr lang="ko-KR" altLang="en-US" sz="700" dirty="0">
                  <a:latin typeface="+mn-ea"/>
                </a:rPr>
                <a:t>서울특별시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839523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공장설립특례 해당여부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881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5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490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490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1516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490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490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3493374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부정당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상태명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발생일자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시작일자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종료일자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양수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2018-02-05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2021-10-17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양도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385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7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" name="그룹 17"/>
          <p:cNvGrpSpPr/>
          <p:nvPr/>
        </p:nvGrpSpPr>
        <p:grpSpPr>
          <a:xfrm>
            <a:off x="670228" y="1852205"/>
            <a:ext cx="2717198" cy="303979"/>
            <a:chOff x="675399" y="1846937"/>
            <a:chExt cx="2717198" cy="303979"/>
          </a:xfrm>
        </p:grpSpPr>
        <p:cxnSp>
          <p:nvCxnSpPr>
            <p:cNvPr id="331" name="직선 연결선 3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334" name="직선 연결선 3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21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5543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5543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1852150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5543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5543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12" name="그룹 11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8" name="직사각형 11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9" name="직사각형 11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en-US" altLang="ko-KR" sz="700" dirty="0" smtClean="0"/>
            </a:p>
            <a:p>
              <a:pPr marL="228600" indent="-228600">
                <a:buFontTx/>
                <a:buAutoNum type="arabicPeriod"/>
              </a:pPr>
              <a:r>
                <a:rPr lang="ko-KR" altLang="en-US" sz="700" dirty="0"/>
                <a:t>탭 화면 </a:t>
              </a:r>
              <a:r>
                <a:rPr lang="en-US" altLang="ko-KR" sz="700" dirty="0"/>
                <a:t>ID</a:t>
              </a:r>
              <a:r>
                <a:rPr lang="ko-KR" altLang="en-US" sz="700" dirty="0"/>
                <a:t> 화면 </a:t>
              </a:r>
              <a:r>
                <a:rPr lang="ko-KR" altLang="en-US" sz="700" dirty="0" smtClean="0"/>
                <a:t>분리</a:t>
              </a:r>
              <a:endParaRPr lang="ko-KR" altLang="en-US" sz="700" dirty="0"/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762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9469" y="18577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9469" y="35284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53907778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업체 일반 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수의계약 배제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 3</a:t>
            </a:r>
            <a:r>
              <a:rPr lang="ko-KR" altLang="en-US" dirty="0" smtClean="0"/>
              <a:t>개월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배제된 정보가 없는 경우 표시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수의계약에 배제된 사실이 없습니다</a:t>
            </a:r>
            <a:r>
              <a:rPr lang="en-US" altLang="ko-KR" dirty="0" smtClean="0"/>
              <a:t>.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업체일반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자신이 속한 업체 정보 표시</a:t>
            </a:r>
            <a:endParaRPr lang="en-US" altLang="ko-KR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MUI-CM-01-T01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11781" y="1909918"/>
            <a:ext cx="2630093" cy="2031034"/>
            <a:chOff x="720490" y="2967388"/>
            <a:chExt cx="2630093" cy="2031034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수의계약배제</a:t>
              </a: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3274873"/>
              <a:ext cx="792000" cy="17170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판단번호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공고명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개찰일자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계약포기사유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285608N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5608N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원격관제시스템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2025-10-18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맑은 고딕" panose="020B0503020000020004" pitchFamily="50" charset="-127"/>
                  <a:cs typeface="Segoe UI" panose="020B0502040204020203" pitchFamily="34" charset="0"/>
                </a:rPr>
                <a:t>방위사업청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일</a:t>
              </a:r>
              <a:endParaRPr lang="en-US" altLang="ko-KR" sz="7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포기합니다</a:t>
              </a: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2025-09-01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419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556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782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9196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344542"/>
              <a:ext cx="67077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수의계약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배제기간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0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4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8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806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40825" y="18554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80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806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50213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18565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5460" y="16399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업체일반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0787" y="163994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1781" y="18565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893012" y="163994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58093" y="163994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82" name="그룹 181"/>
          <p:cNvGrpSpPr/>
          <p:nvPr/>
        </p:nvGrpSpPr>
        <p:grpSpPr>
          <a:xfrm>
            <a:off x="3828452" y="1903968"/>
            <a:ext cx="2630093" cy="1169259"/>
            <a:chOff x="720490" y="2967388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02" name="직선 연결선 2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3" name="직선 연결선 2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3274873"/>
              <a:ext cx="792000" cy="8617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대표대표자여부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대표자영문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대대표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Hong </a:t>
              </a:r>
              <a:r>
                <a:rPr lang="en-US" altLang="ko-KR" sz="700" dirty="0" err="1">
                  <a:latin typeface="+mn-ea"/>
                </a:rPr>
                <a:t>kil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en-US" altLang="ko-KR" sz="700" dirty="0" smtClean="0">
                  <a:latin typeface="+mn-ea"/>
                </a:rPr>
                <a:t>dong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abcde@dapa.go.kr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6690" y="519697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5" name="그룹 204"/>
          <p:cNvGrpSpPr/>
          <p:nvPr/>
        </p:nvGrpSpPr>
        <p:grpSpPr>
          <a:xfrm>
            <a:off x="3836701" y="3566683"/>
            <a:ext cx="2630093" cy="966004"/>
            <a:chOff x="720490" y="2967388"/>
            <a:chExt cx="2630093" cy="966004"/>
          </a:xfrm>
        </p:grpSpPr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입찰대리인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9" name="그룹 208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34" name="직선 연결선 23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 23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0" name="직사각형 209"/>
            <p:cNvSpPr/>
            <p:nvPr/>
          </p:nvSpPr>
          <p:spPr>
            <a:xfrm>
              <a:off x="722583" y="3274873"/>
              <a:ext cx="792000" cy="6463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직위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과장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 smtClean="0">
                  <a:latin typeface="+mn-ea"/>
                </a:rPr>
                <a:t>김길동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02-1234-5678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6" name="직선 연결선 2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2418" y="19668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25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2315386" y="1952353"/>
            <a:ext cx="713326" cy="188135"/>
            <a:chOff x="1823840" y="2598090"/>
            <a:chExt cx="1213581" cy="188135"/>
          </a:xfrm>
        </p:grpSpPr>
        <p:sp>
          <p:nvSpPr>
            <p:cNvPr id="101" name="사각형: 둥근 모서리 169">
              <a:extLst>
                <a:ext uri="{FF2B5EF4-FFF2-40B4-BE49-F238E27FC236}">
                  <a16:creationId xmlns:a16="http://schemas.microsoft.com/office/drawing/2014/main" id="{A28DD831-0E4B-31EE-CB08-9E188754698D}"/>
                </a:ext>
              </a:extLst>
            </p:cNvPr>
            <p:cNvSpPr/>
            <p:nvPr/>
          </p:nvSpPr>
          <p:spPr>
            <a:xfrm>
              <a:off x="1823840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700" kern="0" dirty="0"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sz="700" kern="0" dirty="0"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" name="사각형: 둥근 모서리 171">
              <a:extLst>
                <a:ext uri="{FF2B5EF4-FFF2-40B4-BE49-F238E27FC236}">
                  <a16:creationId xmlns:a16="http://schemas.microsoft.com/office/drawing/2014/main" id="{75BECEC6-4045-95B1-98C2-242CA0FC5A06}"/>
                </a:ext>
              </a:extLst>
            </p:cNvPr>
            <p:cNvSpPr/>
            <p:nvPr/>
          </p:nvSpPr>
          <p:spPr>
            <a:xfrm>
              <a:off x="2455404" y="2598090"/>
              <a:ext cx="582017" cy="188135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700" kern="0" dirty="0">
                  <a:solidFill>
                    <a:srgbClr val="0070C0"/>
                  </a:solidFill>
                  <a:latin typeface="+mn-ea"/>
                </a:rPr>
                <a:t>3</a:t>
              </a:r>
              <a:r>
                <a:rPr kumimoji="1" lang="ko-KR" altLang="en-US" sz="700" kern="0" dirty="0">
                  <a:solidFill>
                    <a:srgbClr val="0070C0"/>
                  </a:solidFill>
                  <a:latin typeface="+mn-ea"/>
                </a:rPr>
                <a:t>개월</a:t>
              </a:r>
              <a:endParaRPr kumimoji="1" lang="en-US" altLang="ko-KR" sz="700" kern="0" dirty="0">
                <a:solidFill>
                  <a:srgbClr val="0070C0"/>
                </a:solidFill>
                <a:latin typeface="+mn-ea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84272" y="4264461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1" name="타원 11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2" name="타원 11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3" name="직사각형 8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85" name="타원 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2418" y="15567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9685058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1968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업체일반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8532"/>
          <a:ext cx="8994883" cy="4460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bzentyEngNm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영문상호명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ntnCd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opbizYmd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개업일자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hmpgAddr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홈페이지주소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bzentyAddr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rprsvTelno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rprsvFxno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9491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fndnYmd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860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3266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hdofcBrno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4063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empCnt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종업원수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86661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bizCd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4687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entTpcd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27452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0297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entShcd2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기업구분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값이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있을때만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표시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77407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entSeRlvtYr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기업구분해당년도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94591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rgnCd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지역코드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57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fctryFndnSpcsYn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공장설립특례해당여부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0311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bplcSecd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986147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051650A0-6477-9D01-FA0C-D7C3BF87DA84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3" name="Text Box 73">
            <a:extLst>
              <a:ext uri="{FF2B5EF4-FFF2-40B4-BE49-F238E27FC236}">
                <a16:creationId xmlns:a16="http://schemas.microsoft.com/office/drawing/2014/main" id="{258E0144-829A-EA7C-666D-8E58B6D64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8756976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124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60676" y="810730"/>
            <a:ext cx="26391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상태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부정당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dl_bzentySttsList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47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상태구분코드로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상태명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crtrYmd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rmrkCn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6378ACA8-0DBB-242F-7302-6161CBC92EC3}"/>
              </a:ext>
            </a:extLst>
          </p:cNvPr>
          <p:cNvSpPr txBox="1"/>
          <p:nvPr/>
        </p:nvSpPr>
        <p:spPr>
          <a:xfrm>
            <a:off x="460676" y="2627659"/>
            <a:ext cx="32835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수의계약배제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dl_bzentyRlsVltrnsRstricList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A266717-41A4-FFE0-9028-C30737B2931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62151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pbancNo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prcmNo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판단번호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pbancNm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공고번호로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bdopnYmd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exclPrd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 배제기간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배제기간 종료일자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시작일자로 기간 설정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exclRsn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계약포기사유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9006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5602106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03B252C2-8DD7-95F1-F37C-1DD64918DF71}"/>
              </a:ext>
            </a:extLst>
          </p:cNvPr>
          <p:cNvSpPr txBox="1"/>
          <p:nvPr/>
        </p:nvSpPr>
        <p:spPr>
          <a:xfrm>
            <a:off x="430810" y="4807345"/>
            <a:ext cx="24563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대표자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dl_bzentyRprsvList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0C2491EF-77B1-8CF0-7D2E-53A4A7C6B3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81084"/>
              </p:ext>
            </p:extLst>
          </p:nvPr>
        </p:nvGraphicFramePr>
        <p:xfrm>
          <a:off x="425692" y="50317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대표대표자여부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rprsvEngNm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대표자영문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rprsvEmlAddr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대표자이메일주소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A568EBA1-28CC-955A-4797-32A7FB98B4A6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9" name="Text Box 73">
            <a:extLst>
              <a:ext uri="{FF2B5EF4-FFF2-40B4-BE49-F238E27FC236}">
                <a16:creationId xmlns:a16="http://schemas.microsoft.com/office/drawing/2014/main" id="{802FEBB7-652C-3886-F1E0-11862D6BD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1462394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125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16425D-4BD5-6E29-5732-73E636F8FE4D}"/>
              </a:ext>
            </a:extLst>
          </p:cNvPr>
          <p:cNvSpPr txBox="1"/>
          <p:nvPr/>
        </p:nvSpPr>
        <p:spPr>
          <a:xfrm>
            <a:off x="458118" y="811578"/>
            <a:ext cx="27561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입찰대리인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dl_bzentyBidAgtList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A8587-5819-67EB-81EE-F25A40AE7C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783636"/>
              </p:ext>
            </p:extLst>
          </p:nvPr>
        </p:nvGraphicFramePr>
        <p:xfrm>
          <a:off x="458117" y="1022781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agtJbpsNm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직위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100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agtEntlno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lt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lt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784BD3DB-3D3A-4BBF-F92F-9CA0617EEF77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(3/3)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809A899B-AE9E-80CA-B3B3-E3F177454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470353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126</a:t>
            </a:fld>
            <a:endParaRPr lang="ko-KR" altLang="en-US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F682E38-8D2E-2EA1-FA7C-426AFDAB2F3C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799547"/>
          <a:ext cx="8995591" cy="138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일반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수의계약배제조회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scwin.btn_rlsVltrnsRstricList_onclick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수의계약배제정보를 조회한다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조건에 따라 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개월 수의계약배제 정보를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52398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조달업체정보수신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조달업체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99126BC-7F95-33D5-ED23-60F3C4E82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68334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6521E2C-E736-42FD-BA08-C70A616ED481}"/>
              </a:ext>
            </a:extLst>
          </p:cNvPr>
          <p:cNvSpPr txBox="1"/>
          <p:nvPr/>
        </p:nvSpPr>
        <p:spPr>
          <a:xfrm>
            <a:off x="458117" y="5729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2. </a:t>
            </a:r>
            <a:r>
              <a:rPr lang="ko-KR" altLang="en-US" sz="1000" b="1" dirty="0">
                <a:solidFill>
                  <a:prstClr val="black"/>
                </a:solidFill>
              </a:rPr>
              <a:t>이벤트 설명</a:t>
            </a:r>
          </a:p>
        </p:txBody>
      </p:sp>
    </p:spTree>
    <p:extLst>
      <p:ext uri="{BB962C8B-B14F-4D97-AF65-F5344CB8AC3E}">
        <p14:creationId xmlns:p14="http://schemas.microsoft.com/office/powerpoint/2010/main" val="3060327881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</a:t>
            </a:r>
            <a:r>
              <a:rPr lang="ko-KR" altLang="en-US" dirty="0" smtClean="0"/>
              <a:t>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물품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내자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)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50127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556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9333" y="163908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4660" y="163908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408018" y="1855689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16885" y="163908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1966" y="163908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483"/>
            <a:ext cx="2630093" cy="1600147"/>
            <a:chOff x="720490" y="4465173"/>
            <a:chExt cx="2630093" cy="16001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22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902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9027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물품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내자</a:t>
            </a:r>
            <a:r>
              <a:rPr lang="en-US" altLang="ko-KR" sz="700" b="1" dirty="0">
                <a:latin typeface="+mn-ea"/>
              </a:rPr>
              <a:t>)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9027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9027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270782"/>
            <a:ext cx="2630093" cy="1169259"/>
            <a:chOff x="720490" y="2967388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6366" y="3566639"/>
            <a:ext cx="2630093" cy="966004"/>
            <a:chOff x="720490" y="2967388"/>
            <a:chExt cx="2630093" cy="966004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5042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790431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21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34128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" name="모서리가 둥근 직사각형 2"/>
          <p:cNvSpPr/>
          <p:nvPr/>
        </p:nvSpPr>
        <p:spPr>
          <a:xfrm>
            <a:off x="3880034" y="4417833"/>
            <a:ext cx="2543426" cy="608387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479652"/>
            <a:ext cx="2154318" cy="48474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물품</a:t>
            </a:r>
            <a:r>
              <a:rPr lang="en-US" altLang="ko-KR" sz="700" b="1" dirty="0">
                <a:latin typeface="Consolas" panose="020B0609020204030204" pitchFamily="49" charset="0"/>
              </a:rPr>
              <a:t>[</a:t>
            </a:r>
            <a:r>
              <a:rPr lang="ko-KR" altLang="en-US" sz="700" b="1" dirty="0">
                <a:latin typeface="Consolas" panose="020B0609020204030204" pitchFamily="49" charset="0"/>
              </a:rPr>
              <a:t>내자</a:t>
            </a:r>
            <a:r>
              <a:rPr lang="en-US" altLang="ko-KR" sz="700" b="1" dirty="0">
                <a:latin typeface="Consolas" panose="020B0609020204030204" pitchFamily="49" charset="0"/>
              </a:rPr>
              <a:t>]</a:t>
            </a:r>
            <a:r>
              <a:rPr lang="ko-KR" altLang="en-US" sz="700" b="1" dirty="0">
                <a:latin typeface="Consolas" panose="020B0609020204030204" pitchFamily="49" charset="0"/>
              </a:rPr>
              <a:t>업체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공장등록증명서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관련업체만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인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 err="1">
                <a:latin typeface="Consolas" panose="020B0609020204030204" pitchFamily="49" charset="0"/>
              </a:rPr>
              <a:t>허가증사본</a:t>
            </a:r>
            <a:r>
              <a:rPr lang="ko-KR" altLang="en-US" sz="700" dirty="0">
                <a:latin typeface="Consolas" panose="020B0609020204030204" pitchFamily="49" charset="0"/>
              </a:rPr>
              <a:t> 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 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해당품목 제출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180" name="타원 179"/>
          <p:cNvSpPr/>
          <p:nvPr/>
        </p:nvSpPr>
        <p:spPr>
          <a:xfrm>
            <a:off x="3953173" y="448438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0" name="그룹 159"/>
          <p:cNvGrpSpPr/>
          <p:nvPr/>
        </p:nvGrpSpPr>
        <p:grpSpPr>
          <a:xfrm>
            <a:off x="670228" y="1855689"/>
            <a:ext cx="2717198" cy="303979"/>
            <a:chOff x="675399" y="1846937"/>
            <a:chExt cx="2717198" cy="303979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80966" y="185563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1" name="그룹 11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2" name="직사각형 11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조달원 등록증 신청 </a:t>
              </a:r>
              <a:r>
                <a:rPr lang="ko-KR" altLang="en-US" sz="700" dirty="0" err="1" smtClean="0"/>
                <a:t>버즌</a:t>
              </a:r>
              <a:r>
                <a:rPr lang="ko-KR" altLang="en-US" sz="700" dirty="0" smtClean="0"/>
                <a:t>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업체정보 화면에서 신청 일원화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83900738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60676" y="815597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3997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660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C5F4BF4-FFA6-A8E0-BAA2-8E1C1F22F9AA}"/>
              </a:ext>
            </a:extLst>
          </p:cNvPr>
          <p:cNvSpPr txBox="1"/>
          <p:nvPr/>
        </p:nvSpPr>
        <p:spPr>
          <a:xfrm>
            <a:off x="455559" y="2074614"/>
            <a:ext cx="368106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A928137-514C-9ABE-6A4F-A4CBC3407BFF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229305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3370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업태구분코드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MBTC (CODE_VLUE like ‘1%’)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827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477628B-DB8C-186D-A7E8-513CE70CB873}"/>
              </a:ext>
            </a:extLst>
          </p:cNvPr>
          <p:cNvSpPr txBox="1"/>
          <p:nvPr/>
        </p:nvSpPr>
        <p:spPr>
          <a:xfrm>
            <a:off x="458117" y="3636964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59B016F-59AB-0FCE-204C-B71BDF4D991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861969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391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품목등재구분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ITRGDVCD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51344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42305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품목적부판정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2679792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E4990925-92C3-E007-B9FA-BA5B8BF20032}"/>
              </a:ext>
            </a:extLst>
          </p:cNvPr>
          <p:cNvSpPr txBox="1"/>
          <p:nvPr/>
        </p:nvSpPr>
        <p:spPr>
          <a:xfrm>
            <a:off x="460676" y="548625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E2DA2A7-544D-3515-5CBD-3763E6944CE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681315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조달원확인서신청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scwin.btn_sosCnfdocAply_onclick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 확인서 신청서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9" name="Text Box 73">
            <a:extLst>
              <a:ext uri="{FF2B5EF4-FFF2-40B4-BE49-F238E27FC236}">
                <a16:creationId xmlns:a16="http://schemas.microsoft.com/office/drawing/2014/main" id="{204B93B3-59EC-7870-C562-484E348BB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557039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C1C9B76-0F5C-A916-E7F3-A4F4CC861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5118782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업체정보 상세 데이터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시설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시설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090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5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87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8707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022056" y="1855314"/>
            <a:ext cx="185793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8707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8707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1915108"/>
            <a:ext cx="2630093" cy="2051510"/>
            <a:chOff x="720490" y="4465173"/>
            <a:chExt cx="2630093" cy="2051510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74121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공종명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해제일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평가액</a:t>
              </a:r>
              <a:r>
                <a:rPr lang="ko-KR" altLang="en-US" sz="700" dirty="0">
                  <a:latin typeface="+mn-ea"/>
                </a:rPr>
                <a:t> 기준년도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입찰제한대상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96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7419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7419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7419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7419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국내소재상사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716366" y="2215176"/>
            <a:ext cx="2630093" cy="756958"/>
            <a:chOff x="720490" y="2967388"/>
            <a:chExt cx="2630093" cy="756958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시설정보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35" name="직선 연결선 13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연락소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전화번호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7" name="그룹 136"/>
          <p:cNvGrpSpPr/>
          <p:nvPr/>
        </p:nvGrpSpPr>
        <p:grpSpPr>
          <a:xfrm>
            <a:off x="713288" y="3111091"/>
            <a:ext cx="2633171" cy="1775727"/>
            <a:chOff x="717412" y="2967388"/>
            <a:chExt cx="2633171" cy="1775727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시설면허정보</a:t>
              </a:r>
            </a:p>
          </p:txBody>
        </p:sp>
        <p:grpSp>
          <p:nvGrpSpPr>
            <p:cNvPr id="140" name="그룹 139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49" name="직선 연결선 14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0" name="직선 연결선 14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1" name="직사각형 140"/>
            <p:cNvSpPr/>
            <p:nvPr/>
          </p:nvSpPr>
          <p:spPr>
            <a:xfrm>
              <a:off x="722583" y="3274874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공통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업종코드</a:t>
              </a:r>
              <a:r>
                <a:rPr lang="en-US" altLang="ko-KR" sz="700" dirty="0">
                  <a:latin typeface="+mn-ea"/>
                </a:rPr>
                <a:t>]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시공능력 </a:t>
              </a:r>
              <a:r>
                <a:rPr lang="ko-KR" altLang="en-US" sz="700" dirty="0" err="1">
                  <a:latin typeface="+mn-ea"/>
                </a:rPr>
                <a:t>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면허유효기간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폐업여부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소방공사업</a:t>
              </a:r>
              <a:r>
                <a:rPr lang="en-US" altLang="ko-KR" sz="700" dirty="0">
                  <a:latin typeface="+mn-ea"/>
                </a:rPr>
                <a:t> [0001]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1000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1999-12-31 ~ 2000-01-01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417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54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431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17412" y="4441695"/>
              <a:ext cx="2633171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시공능력평가액은 </a:t>
              </a:r>
              <a:r>
                <a:rPr lang="ko-KR" altLang="en-US" sz="700" dirty="0" err="1">
                  <a:solidFill>
                    <a:srgbClr val="FF0000"/>
                  </a:solidFill>
                  <a:latin typeface="+mn-ea"/>
                </a:rPr>
                <a:t>해당협회에</a:t>
              </a:r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 등록된 금액과 </a:t>
              </a:r>
              <a:endParaRPr lang="en-US" altLang="ko-KR" sz="700" dirty="0">
                <a:solidFill>
                  <a:srgbClr val="FF0000"/>
                </a:solidFill>
                <a:latin typeface="+mn-ea"/>
              </a:endParaRPr>
            </a:p>
            <a:p>
              <a:pPr algn="ctr"/>
              <a:r>
                <a:rPr lang="ko-KR" altLang="en-US" sz="700" dirty="0">
                  <a:solidFill>
                    <a:srgbClr val="FF0000"/>
                  </a:solidFill>
                  <a:latin typeface="+mn-ea"/>
                </a:rPr>
                <a:t>동일하지 않을 수 있습니다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.</a:t>
              </a:r>
            </a:p>
          </p:txBody>
        </p:sp>
      </p:grp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486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1824" y="4365750"/>
            <a:ext cx="76863" cy="292489"/>
            <a:chOff x="3750067" y="4683795"/>
            <a:chExt cx="76863" cy="292489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55" name="타원 15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9918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54081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402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876497" y="1854026"/>
            <a:ext cx="224359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16489"/>
            <a:ext cx="76863" cy="292489"/>
            <a:chOff x="3750067" y="4683795"/>
            <a:chExt cx="76863" cy="292489"/>
          </a:xfrm>
        </p:grpSpPr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9" name="타원 118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11" name="타원 11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701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34343859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73471" y="803322"/>
            <a:ext cx="256377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시설정보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dm_bzentyFcltInfo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1012431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lcofcTelno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73471" y="1816320"/>
            <a:ext cx="29276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시설면허정보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dl_bzentyFcltLcnsList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02882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lcnsAcqsYmd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lcnsExpryYmd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면허유효기간 종료일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bzentyStcd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폐업여부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5035AD7-61D7-42A4-0EE3-846A701AAECE}"/>
              </a:ext>
            </a:extLst>
          </p:cNvPr>
          <p:cNvSpPr txBox="1"/>
          <p:nvPr/>
        </p:nvSpPr>
        <p:spPr>
          <a:xfrm>
            <a:off x="460676" y="3810138"/>
            <a:ext cx="287795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주력분야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dl_bzentyFcltMfrcFldList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512A68A4-F4C6-2E22-999E-2BD5A6683B4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2857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mfrcFldRmvYmd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해제일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cnstAbltEvlAmt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시공능력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공시액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evlAmtCrtrYr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평가액기준년도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mfrcFldDsgnYmd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mdfcnDt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갱신일시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excptnMttrCd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입찰제한대상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특이사항코드로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9174944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60A7DED2-DDAA-2987-A018-643D3CE5E6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646844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131</a:t>
            </a:fld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0322" y="597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34444"/>
          <a:ext cx="8995591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시설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나라장터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(G2B)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시설면허정보 수신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)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 등록된 시설면허 정보를 갱신한다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1E445BA-02EE-5737-FF0C-91467146F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1896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41576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법인 개인 구분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법인</a:t>
            </a:r>
            <a:r>
              <a:rPr lang="en-US" altLang="ko-KR" dirty="0"/>
              <a:t> </a:t>
            </a:r>
            <a:r>
              <a:rPr lang="ko-KR" altLang="en-US" dirty="0"/>
              <a:t>또는 개인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국내소재상사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4438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21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6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84504" y="1636022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429831" y="1636022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5346458" y="1852629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056" y="1636022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387137" y="1636022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287" name="그룹 286"/>
          <p:cNvGrpSpPr/>
          <p:nvPr/>
        </p:nvGrpSpPr>
        <p:grpSpPr>
          <a:xfrm>
            <a:off x="3836701" y="2925419"/>
            <a:ext cx="2630093" cy="2274245"/>
            <a:chOff x="720490" y="4465173"/>
            <a:chExt cx="2630093" cy="2274245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1" name="그룹 290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321" name="직선 연결선 3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92" name="직사각형 291"/>
            <p:cNvSpPr/>
            <p:nvPr/>
          </p:nvSpPr>
          <p:spPr>
            <a:xfrm>
              <a:off x="722583" y="4772658"/>
              <a:ext cx="792000" cy="19667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군납최초</a:t>
              </a:r>
              <a:r>
                <a:rPr lang="ko-KR" altLang="en-US" sz="700" dirty="0">
                  <a:latin typeface="+mn-ea"/>
                </a:rPr>
                <a:t> 참여일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(F)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r>
                <a:rPr lang="en-US" altLang="ko-KR" sz="700" dirty="0">
                  <a:latin typeface="+mn-ea"/>
                </a:rPr>
                <a:t>(T)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Dun`s Number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300,000,000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한국외환은행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298" name="직선 연결선 2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9" name="직선 연결선 2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1" name="직선 연결선 3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0" name="직선 연결선 3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307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53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3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3106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3106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3106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21" name="그룹 120"/>
          <p:cNvGrpSpPr/>
          <p:nvPr/>
        </p:nvGrpSpPr>
        <p:grpSpPr>
          <a:xfrm>
            <a:off x="670228" y="1849768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1849713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613843" y="2250314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개인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59" name="그룹 158"/>
          <p:cNvGrpSpPr/>
          <p:nvPr/>
        </p:nvGrpSpPr>
        <p:grpSpPr>
          <a:xfrm>
            <a:off x="3836701" y="1929674"/>
            <a:ext cx="2630093" cy="756958"/>
            <a:chOff x="720490" y="2967388"/>
            <a:chExt cx="2630093" cy="756958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214870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 Codes (Federal Supply Classification Codes)</a:t>
              </a:r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77" name="직선 연결선 1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3274873"/>
              <a:ext cx="792000" cy="4494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항공기 </a:t>
              </a:r>
              <a:r>
                <a:rPr lang="ko-KR" altLang="en-US" sz="700" dirty="0" err="1">
                  <a:latin typeface="+mn-ea"/>
                </a:rPr>
                <a:t>부수품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74" name="직선 연결선 1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2" name="그룹 181"/>
          <p:cNvGrpSpPr/>
          <p:nvPr/>
        </p:nvGrpSpPr>
        <p:grpSpPr>
          <a:xfrm>
            <a:off x="716366" y="2210863"/>
            <a:ext cx="2630093" cy="2255186"/>
            <a:chOff x="720490" y="4465173"/>
            <a:chExt cx="2630093" cy="2255186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 </a:t>
              </a: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7"/>
              <a:ext cx="792000" cy="19477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취급품목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보안측정점수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개업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무기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2020-01-01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90</a:t>
              </a: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0297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166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720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8176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078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963651444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 smtClean="0"/>
              <a:t>해외관련</a:t>
            </a:r>
            <a:r>
              <a:rPr lang="ko-KR" altLang="en-US" dirty="0" smtClean="0"/>
              <a:t> 업체 정보 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상세 구성 화면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MUI-CM-01-T04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4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87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215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업체일반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09496" y="1632151"/>
            <a:ext cx="4066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물품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내자</a:t>
            </a:r>
            <a:r>
              <a:rPr lang="en-US" altLang="ko-KR" sz="700" dirty="0">
                <a:latin typeface="+mn-ea"/>
              </a:rPr>
              <a:t>)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2226123" y="1848758"/>
            <a:ext cx="579528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901721" y="1632151"/>
            <a:ext cx="179536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시설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66802" y="1632151"/>
            <a:ext cx="5388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국내소재상사</a:t>
            </a:r>
          </a:p>
        </p:txBody>
      </p:sp>
      <p:grpSp>
        <p:nvGrpSpPr>
          <p:cNvPr id="146" name="그룹 145"/>
          <p:cNvGrpSpPr/>
          <p:nvPr/>
        </p:nvGrpSpPr>
        <p:grpSpPr>
          <a:xfrm>
            <a:off x="716366" y="1925803"/>
            <a:ext cx="2630093" cy="1169259"/>
            <a:chOff x="720490" y="4465173"/>
            <a:chExt cx="2630093" cy="1169259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해외관련</a:t>
              </a:r>
              <a:r>
                <a:rPr lang="ko-KR" altLang="en-US" sz="700" dirty="0">
                  <a:latin typeface="+mn-ea"/>
                </a:rPr>
                <a:t> 업체정보</a:t>
              </a:r>
            </a:p>
          </p:txBody>
        </p:sp>
        <p:grpSp>
          <p:nvGrpSpPr>
            <p:cNvPr id="149" name="그룹 148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15" name="직선 연결선 2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6" name="직선 연결선 2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/>
            <p:cNvSpPr/>
            <p:nvPr/>
          </p:nvSpPr>
          <p:spPr>
            <a:xfrm>
              <a:off x="722583" y="4772658"/>
              <a:ext cx="792000" cy="8485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국적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 Corp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프랑스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+33-1-34-88-30-00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471" y="317852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4" name="모서리가 둥근 직사각형 243"/>
          <p:cNvSpPr/>
          <p:nvPr/>
        </p:nvSpPr>
        <p:spPr>
          <a:xfrm>
            <a:off x="764771" y="3255073"/>
            <a:ext cx="2543426" cy="485210"/>
          </a:xfrm>
          <a:prstGeom prst="roundRect">
            <a:avLst>
              <a:gd name="adj" fmla="val 824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7851" y="3316891"/>
            <a:ext cx="215431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국내소재상사 제출서류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보안측정결과서 </a:t>
            </a:r>
            <a:r>
              <a:rPr lang="en-US" altLang="ko-KR" sz="700" dirty="0">
                <a:latin typeface="Consolas" panose="020B0609020204030204" pitchFamily="49" charset="0"/>
              </a:rPr>
              <a:t>- 1</a:t>
            </a:r>
            <a:r>
              <a:rPr lang="ko-KR" altLang="en-US" sz="700" dirty="0">
                <a:latin typeface="Consolas" panose="020B0609020204030204" pitchFamily="49" charset="0"/>
              </a:rPr>
              <a:t>부</a:t>
            </a:r>
            <a:endParaRPr lang="ko-KR" altLang="en-US" sz="700" b="1" dirty="0">
              <a:latin typeface="맑은 고딕" panose="020B0503020000020004" pitchFamily="50" charset="-127"/>
            </a:endParaRPr>
          </a:p>
        </p:txBody>
      </p:sp>
      <p:sp>
        <p:nvSpPr>
          <p:cNvPr id="246" name="타원 245"/>
          <p:cNvSpPr/>
          <p:nvPr/>
        </p:nvSpPr>
        <p:spPr>
          <a:xfrm>
            <a:off x="837910" y="332162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그룹 4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48" name="직사각형 4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조달원 등록증 신청 </a:t>
              </a:r>
              <a:r>
                <a:rPr lang="ko-KR" altLang="en-US" sz="700" dirty="0" err="1" smtClean="0"/>
                <a:t>버즌</a:t>
              </a:r>
              <a:r>
                <a:rPr lang="ko-KR" altLang="en-US" sz="700" dirty="0" smtClean="0"/>
                <a:t> 제거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ko-KR" altLang="en-US" sz="700" dirty="0" smtClean="0"/>
                <a:t>업체정보 화면에서 신청 일원화</a:t>
              </a:r>
              <a:endParaRPr lang="ko-KR" altLang="en-US" sz="700" dirty="0"/>
            </a:p>
          </p:txBody>
        </p:sp>
      </p:grpSp>
      <p:sp>
        <p:nvSpPr>
          <p:cNvPr id="43" name="타원 4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72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524235261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458117" y="810854"/>
            <a:ext cx="346305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 구분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29291"/>
          <a:ext cx="8994883" cy="225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3645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02070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7394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취급품목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88806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5121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241658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29466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scrtyMsrmtScr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보안측정점수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155222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2B55895-1826-4B4A-ACFB-AC296EFA55E0}"/>
              </a:ext>
            </a:extLst>
          </p:cNvPr>
          <p:cNvSpPr txBox="1"/>
          <p:nvPr/>
        </p:nvSpPr>
        <p:spPr>
          <a:xfrm>
            <a:off x="454738" y="3303474"/>
            <a:ext cx="21598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 Codes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1937E17B-C201-E238-9E2D-3808BCD3B49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523957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" name="슬라이드 번호 개체 틀 2">
            <a:extLst>
              <a:ext uri="{FF2B5EF4-FFF2-40B4-BE49-F238E27FC236}">
                <a16:creationId xmlns:a16="http://schemas.microsoft.com/office/drawing/2014/main" id="{7DC5BC1B-3BF8-AE98-6489-9A230033BA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134</a:t>
            </a:fld>
            <a:endParaRPr lang="ko-KR" altLang="en-US" dirty="0"/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67FBFABC-E371-E401-4A89-DA12D13DB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7343ACF-5BC3-E425-3D2D-99FD5BAE7747}"/>
              </a:ext>
            </a:extLst>
          </p:cNvPr>
          <p:cNvSpPr txBox="1"/>
          <p:nvPr/>
        </p:nvSpPr>
        <p:spPr>
          <a:xfrm>
            <a:off x="460676" y="4187679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23424BA-7526-CE95-2C32-8EB6AC874394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41205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6050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7382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517837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 참여일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6629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63281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6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Dun’s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Number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56419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530384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135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A0B1330-1965-F7B3-6343-F3DFC320FABC}"/>
              </a:ext>
            </a:extLst>
          </p:cNvPr>
          <p:cNvSpPr txBox="1"/>
          <p:nvPr/>
        </p:nvSpPr>
        <p:spPr>
          <a:xfrm>
            <a:off x="455559" y="810880"/>
            <a:ext cx="28891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해외관련 업체정보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dl_rltBzentyList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F40061-64B0-F241-8E6C-7410FA619430}"/>
              </a:ext>
            </a:extLst>
          </p:cNvPr>
          <p:cNvGraphicFramePr>
            <a:graphicFrameLocks noGrp="1"/>
          </p:cNvGraphicFramePr>
          <p:nvPr/>
        </p:nvGraphicFramePr>
        <p:xfrm>
          <a:off x="450441" y="103136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36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relBzentyNm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bzentyNtnNm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8670465"/>
                  </a:ext>
                </a:extLst>
              </a:tr>
              <a:tr h="1936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784294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44A396A-9808-139A-7902-BB55FB3F41B5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FEBA482D-2159-14A9-177A-11A52856A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63328358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136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336181E-20DF-7FEF-8E97-4499D0663810}"/>
              </a:ext>
            </a:extLst>
          </p:cNvPr>
          <p:cNvSpPr txBox="1"/>
          <p:nvPr/>
        </p:nvSpPr>
        <p:spPr>
          <a:xfrm>
            <a:off x="460322" y="58821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AB1A6D0-A54B-6213-F6C8-3BE1C47DEC0F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82483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국내소재상사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국외조달원등록증 신청 안내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scwin.btn_ovsSosAplyGd_onclick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 신청서 안내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C03E5E3-1A31-5A2B-C8FA-042670147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0696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5021704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서류 </a:t>
            </a:r>
            <a:r>
              <a:rPr lang="ko-KR" altLang="en-US" dirty="0"/>
              <a:t>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즉시 발급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타이틀 사용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팝업 </a:t>
            </a:r>
            <a:r>
              <a:rPr lang="ko-KR" altLang="en-US" dirty="0" smtClean="0"/>
              <a:t>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MUI-CM-01-P20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국내조달원확인서신청목록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 err="1">
                <a:latin typeface="+mn-ea"/>
              </a:rPr>
              <a:t>국내조달원확인서신청목록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MUI-CM-01-M19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국내 조달원 </a:t>
            </a:r>
            <a:r>
              <a:rPr lang="ko-KR" altLang="en-US" sz="800" dirty="0">
                <a:latin typeface="+mn-ea"/>
              </a:rPr>
              <a:t>확인서 신청 목록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21727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95645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 err="1"/>
                <a:t>입찰참가용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592072"/>
            <a:ext cx="2473257" cy="942236"/>
            <a:chOff x="781461" y="2610063"/>
            <a:chExt cx="2473257" cy="942236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700" dirty="0">
                  <a:solidFill>
                    <a:prstClr val="black"/>
                  </a:solidFill>
                </a:rPr>
                <a:t>2020101010</a:t>
              </a:r>
            </a:p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확인용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신청날짜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39767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4701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4785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592167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675399" y="5750826"/>
            <a:ext cx="2712027" cy="481472"/>
            <a:chOff x="675399" y="5750826"/>
            <a:chExt cx="2712027" cy="481472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750826"/>
              <a:ext cx="2712027" cy="48147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9" name="타원 15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658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신청인을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</a:t>
            </a:r>
            <a:r>
              <a:rPr lang="ko-KR" altLang="en-US" sz="900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확인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4457309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사유 필수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</a:t>
            </a:r>
            <a:r>
              <a:rPr lang="ko-KR" altLang="en-US" dirty="0" smtClean="0"/>
              <a:t>닫기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업체정보관리에서 진입한 경우 신청목록으로 이동</a:t>
            </a:r>
            <a:r>
              <a:rPr lang="en-US" altLang="ko-KR" dirty="0" smtClean="0"/>
              <a:t>. </a:t>
            </a:r>
            <a:r>
              <a:rPr lang="en-US" altLang="ko-KR" dirty="0"/>
              <a:t>MUI-CM-01-M03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조달원 확인서 신청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조달원 확인서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2953467"/>
            <a:ext cx="2712027" cy="3278832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299009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3124510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0518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조달원 확인서 신청서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36658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48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4433682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010-1234-5678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2947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연락처</a:t>
            </a:r>
          </a:p>
        </p:txBody>
      </p:sp>
      <p:grpSp>
        <p:nvGrpSpPr>
          <p:cNvPr id="52" name="그룹 51"/>
          <p:cNvGrpSpPr/>
          <p:nvPr/>
        </p:nvGrpSpPr>
        <p:grpSpPr>
          <a:xfrm>
            <a:off x="903581" y="5065353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신청사유를</a:t>
              </a:r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 작성해주세요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92641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신청사유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92641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6488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신청인 성명</a:t>
            </a:r>
          </a:p>
        </p:txBody>
      </p:sp>
      <p:grpSp>
        <p:nvGrpSpPr>
          <p:cNvPr id="58" name="그룹 57"/>
          <p:cNvGrpSpPr/>
          <p:nvPr/>
        </p:nvGrpSpPr>
        <p:grpSpPr>
          <a:xfrm>
            <a:off x="903581" y="3795966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679854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4482273" y="5491535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416299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139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D5E7BC-2F20-E769-ABD1-A1599668D8AB}"/>
              </a:ext>
            </a:extLst>
          </p:cNvPr>
          <p:cNvSpPr txBox="1"/>
          <p:nvPr/>
        </p:nvSpPr>
        <p:spPr>
          <a:xfrm>
            <a:off x="522093" y="3760674"/>
            <a:ext cx="34710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조달원 확인서 신청서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dm_sosCnfdocAplyInfo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CC65F83-4317-B2AC-2278-7907C354C359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398498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성명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77355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78B2212E-EACF-2FEC-3C17-024016BD85B5}"/>
              </a:ext>
            </a:extLst>
          </p:cNvPr>
          <p:cNvSpPr txBox="1"/>
          <p:nvPr/>
        </p:nvSpPr>
        <p:spPr>
          <a:xfrm>
            <a:off x="463235" y="50252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BE982B75-03ED-2F22-5FB5-61DE604C9F42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5255952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9401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86903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7182860-4B9B-70CE-622F-13259DE86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5118" y="514233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85507F8-28E0-D2CA-01CD-17DF2435587F}"/>
              </a:ext>
            </a:extLst>
          </p:cNvPr>
          <p:cNvSpPr txBox="1"/>
          <p:nvPr/>
        </p:nvSpPr>
        <p:spPr>
          <a:xfrm>
            <a:off x="458117" y="803113"/>
            <a:ext cx="27368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E81E11-11C2-8458-E644-A59A8353417A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65433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6668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1AA0CC25-8071-DF85-A256-E63F30ED3979}"/>
              </a:ext>
            </a:extLst>
          </p:cNvPr>
          <p:cNvSpPr txBox="1"/>
          <p:nvPr/>
        </p:nvSpPr>
        <p:spPr>
          <a:xfrm>
            <a:off x="462690" y="1915388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조달원확인서 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82E04866-3FC5-182D-95B7-506561A0BF7E}"/>
              </a:ext>
            </a:extLst>
          </p:cNvPr>
          <p:cNvGraphicFramePr>
            <a:graphicFrameLocks noGrp="1"/>
          </p:cNvGraphicFramePr>
          <p:nvPr/>
        </p:nvGraphicFramePr>
        <p:xfrm>
          <a:off x="522801" y="213589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03423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6541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edpPrcsYmd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신청날짜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70806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70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상태는 발급으로 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시 바로 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321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2FD39B29-B133-C3EF-9680-05C8D964B0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1086545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140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42720F-AF70-E4AE-D8B4-96C457197793}"/>
              </a:ext>
            </a:extLst>
          </p:cNvPr>
          <p:cNvSpPr txBox="1"/>
          <p:nvPr/>
        </p:nvSpPr>
        <p:spPr>
          <a:xfrm>
            <a:off x="460322" y="6203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8D655E8-CDC4-162F-5F06-66C766C37F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774719"/>
              </p:ext>
            </p:extLst>
          </p:nvPr>
        </p:nvGraphicFramePr>
        <p:xfrm>
          <a:off x="455204" y="851006"/>
          <a:ext cx="8995591" cy="157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0710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469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 신청 정보를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2839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검색 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scwin.btn_sosCndfdocSrch_onclick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검색조건으로 국내조달원확인서 신청 정보를 검색한다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802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신청사유를 입력하고 신청 버튼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국내조달원 확인서 팝업을 호출한다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UI-CM-01-P04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승인 없이 바로 국내조달원 확인서 정보   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90797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Consolas" panose="020B0609020204030204" pitchFamily="49" charset="0"/>
                        </a:rPr>
                        <a:t>카드 </a:t>
                      </a:r>
                      <a:r>
                        <a:rPr lang="ko-KR" altLang="en-US" sz="800" dirty="0"/>
                        <a:t>클릭</a:t>
                      </a:r>
                      <a:endParaRPr lang="en-US" altLang="ko-KR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scwin.btn_otpt_onclick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국내조달원확인서를  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OZ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리포트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80C0FEC0-EB0B-0C17-7551-2AEA97E98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05" y="7373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25787716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파일명 정보 표시</a:t>
            </a:r>
            <a:r>
              <a:rPr lang="en-US" altLang="ko-KR" dirty="0"/>
              <a:t>,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다운로드 실행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경로 </a:t>
            </a:r>
            <a:r>
              <a:rPr lang="en-US" altLang="ko-KR" dirty="0"/>
              <a:t>/download/manual/AppCertOfRegi.pdf </a:t>
            </a:r>
            <a:r>
              <a:rPr lang="ko-KR" altLang="en-US" dirty="0"/>
              <a:t>파일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닫기 버튼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조달원등록증 신청안내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조달원등록증 신청안내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양쪽 모서리가 둥근 사각형 109"/>
          <p:cNvSpPr/>
          <p:nvPr/>
        </p:nvSpPr>
        <p:spPr>
          <a:xfrm>
            <a:off x="679854" y="1908439"/>
            <a:ext cx="2712027" cy="4314854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1765867" y="19450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12" name="그룹 111"/>
          <p:cNvGrpSpPr/>
          <p:nvPr/>
        </p:nvGrpSpPr>
        <p:grpSpPr>
          <a:xfrm>
            <a:off x="3168793" y="2079482"/>
            <a:ext cx="94010" cy="94010"/>
            <a:chOff x="6812560" y="3297172"/>
            <a:chExt cx="94010" cy="94010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0601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국외 조달원등록증 신청안내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3215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930" y="5828262"/>
            <a:ext cx="2453873" cy="279492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noProof="0">
                <a:latin typeface="맑은 고딕"/>
                <a:ea typeface="맑은 고딕" panose="020B0503020000020004" pitchFamily="50" charset="-127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140165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처리절자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0331" y="3922514"/>
            <a:ext cx="25326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조회</a:t>
            </a:r>
            <a:r>
              <a:rPr lang="ko-KR" altLang="en-US" sz="700" dirty="0">
                <a:latin typeface="+mn-ea"/>
              </a:rPr>
              <a:t> 에서 영문상호명이 있어야 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빈 값인 경우 조달청에서 등록하세요</a:t>
            </a:r>
            <a:r>
              <a:rPr lang="en-US" altLang="ko-KR" sz="700" dirty="0"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Tx/>
              <a:buChar char="-"/>
            </a:pPr>
            <a:r>
              <a:rPr lang="ko-KR" altLang="en-US" sz="700" dirty="0">
                <a:latin typeface="+mn-ea"/>
              </a:rPr>
              <a:t>업체정보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대표자 주소 등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변경사항이 있는 경우 나라장터</a:t>
            </a:r>
            <a:r>
              <a:rPr lang="en-US" altLang="ko-KR" sz="700" dirty="0">
                <a:latin typeface="+mn-ea"/>
              </a:rPr>
              <a:t>(www.g2b.go.kr)</a:t>
            </a:r>
            <a:r>
              <a:rPr lang="ko-KR" altLang="en-US" sz="700" dirty="0">
                <a:latin typeface="+mn-ea"/>
              </a:rPr>
              <a:t>에 변경 요청하여 승인 처리되면  다음 날 국방전자조달</a:t>
            </a:r>
            <a:r>
              <a:rPr lang="en-US" altLang="ko-KR" sz="700" dirty="0">
                <a:latin typeface="+mn-ea"/>
              </a:rPr>
              <a:t>(www.d2b.go.kr)</a:t>
            </a:r>
            <a:r>
              <a:rPr lang="ko-KR" altLang="en-US" sz="700" dirty="0">
                <a:latin typeface="+mn-ea"/>
              </a:rPr>
              <a:t>에 자동 반영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b="1" dirty="0" err="1">
                <a:latin typeface="+mn-ea"/>
              </a:rPr>
              <a:t>마이페이지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업체정보관리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업체정보 추가정보 </a:t>
            </a:r>
            <a:r>
              <a:rPr lang="en-US" altLang="ko-KR" sz="700" b="1" dirty="0">
                <a:latin typeface="+mn-ea"/>
              </a:rPr>
              <a:t>&gt; </a:t>
            </a:r>
            <a:r>
              <a:rPr lang="ko-KR" altLang="en-US" sz="700" b="1" dirty="0">
                <a:latin typeface="+mn-ea"/>
              </a:rPr>
              <a:t>신청 버튼</a:t>
            </a:r>
            <a:r>
              <a:rPr lang="ko-KR" altLang="en-US" sz="700" dirty="0">
                <a:latin typeface="+mn-ea"/>
              </a:rPr>
              <a:t> 클릭 후 </a:t>
            </a:r>
            <a:r>
              <a:rPr lang="ko-KR" altLang="en-US" sz="700" dirty="0" err="1">
                <a:latin typeface="+mn-ea"/>
              </a:rPr>
              <a:t>일반정보에</a:t>
            </a:r>
            <a:r>
              <a:rPr lang="ko-KR" altLang="en-US" sz="700" dirty="0">
                <a:latin typeface="+mn-ea"/>
              </a:rPr>
              <a:t>  대표자명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), </a:t>
            </a:r>
            <a:r>
              <a:rPr lang="ko-KR" altLang="en-US" sz="700" dirty="0">
                <a:latin typeface="+mn-ea"/>
              </a:rPr>
              <a:t>주소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영문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은 필수입니다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 err="1">
                <a:latin typeface="+mn-ea"/>
              </a:rPr>
              <a:t>빈값인경우</a:t>
            </a:r>
            <a:r>
              <a:rPr lang="ko-KR" altLang="en-US" sz="700" dirty="0">
                <a:latin typeface="+mn-ea"/>
              </a:rPr>
              <a:t> 추가정보등록 후 신청하세요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2457312"/>
            <a:ext cx="103509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양식 다운로드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6" y="3341961"/>
            <a:ext cx="248428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국외조달원</a:t>
            </a:r>
            <a:r>
              <a:rPr lang="ko-KR" altLang="en-US" sz="800" dirty="0">
                <a:latin typeface="+mn-ea"/>
              </a:rPr>
              <a:t> 등록증 발급 신청서 양식을  하여 수기로 작성 후 팩스 또는 직접 방문 접수합니다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2146" y="3711703"/>
            <a:ext cx="1035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신청서 </a:t>
            </a:r>
            <a:r>
              <a:rPr lang="ko-KR" altLang="en-US" sz="700" b="1" dirty="0" err="1">
                <a:latin typeface="+mn-ea"/>
              </a:rPr>
              <a:t>확인사항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803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2137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2415" y="57357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모서리가 둥근 직사각형 30"/>
          <p:cNvSpPr/>
          <p:nvPr/>
        </p:nvSpPr>
        <p:spPr>
          <a:xfrm>
            <a:off x="718021" y="266646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8698" y="274098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등록증 신청서 양식</a:t>
            </a:r>
          </a:p>
          <a:p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AppCertOfRegi.pdf : [51KB]</a:t>
            </a:r>
          </a:p>
        </p:txBody>
      </p:sp>
      <p:sp>
        <p:nvSpPr>
          <p:cNvPr id="42" name="타원 41"/>
          <p:cNvSpPr/>
          <p:nvPr/>
        </p:nvSpPr>
        <p:spPr>
          <a:xfrm>
            <a:off x="3078140" y="277670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2497654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현재 업체 정보 표시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추가등록</a:t>
            </a:r>
            <a:r>
              <a:rPr lang="ko-KR" altLang="en-US" dirty="0"/>
              <a:t> 내역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내역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/>
              <a:t>상태값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(‘A’)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(‘U’)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(‘R’)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승인</a:t>
            </a:r>
            <a:r>
              <a:rPr lang="en-US" altLang="ko-KR" dirty="0">
                <a:latin typeface="+mn-ea"/>
              </a:rPr>
              <a:t>(‘F</a:t>
            </a:r>
            <a:r>
              <a:rPr lang="en-US" altLang="ko-KR" dirty="0" smtClean="0">
                <a:latin typeface="+mn-ea"/>
              </a:rPr>
              <a:t>’)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상태값에</a:t>
            </a:r>
            <a:r>
              <a:rPr lang="ko-KR" altLang="en-US" dirty="0" smtClean="0"/>
              <a:t> 상관 없이 상세 페이지 진입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MUI-CM-01-T05 </a:t>
            </a:r>
            <a:r>
              <a:rPr lang="ko-KR" altLang="en-US" dirty="0" smtClean="0"/>
              <a:t>물품</a:t>
            </a:r>
            <a:r>
              <a:rPr lang="en-US" altLang="ko-KR" dirty="0" smtClean="0"/>
              <a:t>(</a:t>
            </a:r>
            <a:r>
              <a:rPr lang="ko-KR" altLang="en-US" dirty="0" smtClean="0"/>
              <a:t>내자</a:t>
            </a:r>
            <a:r>
              <a:rPr lang="en-US" altLang="ko-KR" dirty="0" smtClean="0"/>
              <a:t>) </a:t>
            </a:r>
            <a:r>
              <a:rPr lang="ko-KR" altLang="en-US" dirty="0" smtClean="0"/>
              <a:t>신청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MUI-CM-01-T06 </a:t>
            </a:r>
            <a:r>
              <a:rPr lang="ko-KR" altLang="en-US" dirty="0" smtClean="0"/>
              <a:t>국내소재상사신청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담당자 변경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저장 건의 경우 목록에 표시하지 않음</a:t>
            </a:r>
            <a:r>
              <a:rPr lang="en-US" altLang="ko-KR" dirty="0" smtClean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목록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추가정보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6495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783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3070829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3102174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3070829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070829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3172652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3556688"/>
            <a:ext cx="2473257" cy="960061"/>
            <a:chOff x="781461" y="2610063"/>
            <a:chExt cx="2473257" cy="960061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추가정보구분 </a:t>
              </a:r>
              <a:r>
                <a:rPr lang="en-US" altLang="ko-KR" sz="900" b="1" dirty="0"/>
                <a:t>- </a:t>
              </a:r>
              <a:r>
                <a:rPr lang="ko-KR" altLang="en-US" sz="900" b="1" dirty="0"/>
                <a:t>물품</a:t>
              </a:r>
              <a:r>
                <a:rPr lang="en-US" altLang="ko-KR" sz="900" b="1" dirty="0"/>
                <a:t>(</a:t>
              </a:r>
              <a:r>
                <a:rPr lang="ko-KR" altLang="en-US" sz="900" b="1" dirty="0"/>
                <a:t>내자</a:t>
              </a:r>
              <a:r>
                <a:rPr lang="en-US" altLang="ko-KR" sz="900" b="1" dirty="0"/>
                <a:t>)</a:t>
              </a:r>
              <a:endParaRPr lang="ko-KR" altLang="en-US" sz="900" b="1" dirty="0"/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업무구분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1818649" y="3139237"/>
              <a:ext cx="1413849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물품</a:t>
              </a:r>
              <a:r>
                <a:rPr lang="en-US" altLang="ko-KR" sz="600" dirty="0">
                  <a:latin typeface="+mn-ea"/>
                </a:rPr>
                <a:t>(</a:t>
              </a:r>
              <a:r>
                <a:rPr lang="ko-KR" altLang="en-US" sz="600" dirty="0">
                  <a:latin typeface="+mn-ea"/>
                </a:rPr>
                <a:t>내자</a:t>
              </a:r>
              <a:r>
                <a:rPr lang="en-US" altLang="ko-KR" sz="600" dirty="0">
                  <a:latin typeface="+mn-ea"/>
                </a:rPr>
                <a:t>) | </a:t>
              </a:r>
              <a:r>
                <a:rPr lang="ko-KR" altLang="en-US" sz="600" dirty="0">
                  <a:latin typeface="+mn-ea"/>
                </a:rPr>
                <a:t>공사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일반용역 </a:t>
              </a:r>
              <a:r>
                <a:rPr lang="en-US" altLang="ko-KR" sz="600" dirty="0">
                  <a:latin typeface="+mn-ea"/>
                </a:rPr>
                <a:t>| </a:t>
              </a:r>
              <a:r>
                <a:rPr lang="ko-KR" altLang="en-US" sz="600" dirty="0">
                  <a:latin typeface="+mn-ea"/>
                </a:rPr>
                <a:t>외자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/>
                <a:t>접수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312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89"/>
            <a:ext cx="2446613" cy="317086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2203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1991086"/>
            <a:ext cx="247325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 err="1"/>
              <a:t>업체코드</a:t>
            </a:r>
            <a:r>
              <a:rPr lang="ko-KR" altLang="en-US" sz="700" dirty="0"/>
              <a:t> </a:t>
            </a:r>
            <a:r>
              <a:rPr lang="en-US" altLang="ko-KR" sz="700" dirty="0"/>
              <a:t>7004F</a:t>
            </a:r>
          </a:p>
          <a:p>
            <a:r>
              <a:rPr lang="ko-KR" altLang="en-US" sz="900" b="1" dirty="0"/>
              <a:t>주식회사 국방전자조달</a:t>
            </a:r>
          </a:p>
        </p:txBody>
      </p:sp>
      <p:sp>
        <p:nvSpPr>
          <p:cNvPr id="150" name="TextBox 59">
            <a:extLst>
              <a:ext uri="{FF2B5EF4-FFF2-40B4-BE49-F238E27FC236}">
                <a16:creationId xmlns:a16="http://schemas.microsoft.com/office/drawing/2014/main" id="{F77C802D-3BC8-270F-87FC-5F442BD8054D}"/>
              </a:ext>
            </a:extLst>
          </p:cNvPr>
          <p:cNvSpPr txBox="1"/>
          <p:nvPr/>
        </p:nvSpPr>
        <p:spPr>
          <a:xfrm>
            <a:off x="781461" y="2326151"/>
            <a:ext cx="538609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대표자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사업자등록번호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주소</a:t>
            </a:r>
            <a:endParaRPr lang="en-US" altLang="ko-KR" sz="6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 err="1">
                <a:latin typeface="+mn-ea"/>
              </a:rPr>
              <a:t>등록구분</a:t>
            </a:r>
            <a:endParaRPr lang="en-US" altLang="ko-KR" sz="600" dirty="0">
              <a:latin typeface="+mn-ea"/>
            </a:endParaRPr>
          </a:p>
        </p:txBody>
      </p:sp>
      <p:sp>
        <p:nvSpPr>
          <p:cNvPr id="151" name="TextBox 60">
            <a:extLst>
              <a:ext uri="{FF2B5EF4-FFF2-40B4-BE49-F238E27FC236}">
                <a16:creationId xmlns:a16="http://schemas.microsoft.com/office/drawing/2014/main" id="{8F5E3227-69E6-C89F-B8C5-534226E95EA8}"/>
              </a:ext>
            </a:extLst>
          </p:cNvPr>
          <p:cNvSpPr txBox="1"/>
          <p:nvPr/>
        </p:nvSpPr>
        <p:spPr>
          <a:xfrm>
            <a:off x="1727214" y="2310762"/>
            <a:ext cx="15052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홍길동</a:t>
            </a:r>
            <a:endParaRPr lang="en-US" altLang="ko-KR" sz="600" dirty="0">
              <a:latin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123-45-67890</a:t>
            </a:r>
          </a:p>
          <a:p>
            <a:pPr algn="r">
              <a:lnSpc>
                <a:spcPct val="150000"/>
              </a:lnSpc>
            </a:pPr>
            <a:r>
              <a:rPr lang="ko-KR" altLang="en-US" sz="600" dirty="0">
                <a:latin typeface="+mn-ea"/>
              </a:rPr>
              <a:t>서울특별시 중구 세종대로 </a:t>
            </a:r>
            <a:r>
              <a:rPr lang="en-US" altLang="ko-KR" sz="600" dirty="0">
                <a:latin typeface="+mn-ea"/>
              </a:rPr>
              <a:t>110 (</a:t>
            </a:r>
            <a:r>
              <a:rPr lang="ko-KR" altLang="en-US" sz="600" dirty="0">
                <a:latin typeface="+mn-ea"/>
              </a:rPr>
              <a:t>태평로 </a:t>
            </a:r>
            <a:r>
              <a:rPr lang="en-US" altLang="ko-KR" sz="600" dirty="0">
                <a:latin typeface="+mn-ea"/>
              </a:rPr>
              <a:t>1</a:t>
            </a:r>
            <a:r>
              <a:rPr lang="ko-KR" altLang="en-US" sz="600" dirty="0">
                <a:latin typeface="+mn-ea"/>
              </a:rPr>
              <a:t>가</a:t>
            </a:r>
            <a:r>
              <a:rPr lang="en-US" altLang="ko-KR" sz="600" dirty="0">
                <a:latin typeface="+mn-ea"/>
              </a:rPr>
              <a:t>)</a:t>
            </a:r>
          </a:p>
          <a:p>
            <a:pPr algn="r">
              <a:lnSpc>
                <a:spcPct val="150000"/>
              </a:lnSpc>
            </a:pPr>
            <a:r>
              <a:rPr lang="en-US" altLang="ko-KR" sz="600" dirty="0">
                <a:latin typeface="+mn-ea"/>
              </a:rPr>
              <a:t>-</a:t>
            </a:r>
            <a:endParaRPr lang="ko-KR" altLang="en-US" sz="600" dirty="0">
              <a:latin typeface="+mn-ea"/>
            </a:endParaRPr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7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업체정보 </a:t>
              </a:r>
              <a:r>
                <a:rPr lang="ko-KR" altLang="en-US" sz="700" dirty="0" err="1" smtClean="0"/>
                <a:t>추가등록</a:t>
              </a:r>
              <a:r>
                <a:rPr lang="ko-KR" altLang="en-US" sz="700" dirty="0" smtClean="0"/>
                <a:t> 버튼</a:t>
              </a:r>
              <a:r>
                <a:rPr lang="en-US" altLang="ko-KR" sz="700" dirty="0" smtClean="0"/>
                <a:t>,</a:t>
              </a:r>
              <a:r>
                <a:rPr lang="ko-KR" altLang="en-US" sz="700" dirty="0" smtClean="0"/>
                <a:t> 진입 포인트 삭제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smtClean="0"/>
                <a:t>상위 메뉴에서 업체정보 추가 등록 통일되게 진입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15641412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기본값 </a:t>
            </a:r>
            <a:r>
              <a:rPr lang="en-US" altLang="ko-KR" dirty="0" smtClean="0"/>
              <a:t>1</a:t>
            </a:r>
            <a:r>
              <a:rPr lang="ko-KR" altLang="en-US" dirty="0" smtClean="0"/>
              <a:t>개월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처리 </a:t>
            </a:r>
            <a:r>
              <a:rPr lang="ko-KR" altLang="en-US" dirty="0" err="1" smtClean="0"/>
              <a:t>상태값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(‘A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(‘U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반송</a:t>
            </a:r>
            <a:r>
              <a:rPr lang="en-US" altLang="ko-KR" dirty="0">
                <a:latin typeface="+mn-ea"/>
              </a:rPr>
              <a:t>(‘R</a:t>
            </a:r>
            <a:r>
              <a:rPr lang="en-US" altLang="ko-KR" dirty="0" smtClean="0">
                <a:latin typeface="+mn-ea"/>
              </a:rPr>
              <a:t>’)</a:t>
            </a:r>
            <a:br>
              <a:rPr lang="en-US" altLang="ko-KR" dirty="0" smtClean="0">
                <a:latin typeface="+mn-ea"/>
              </a:rPr>
            </a:br>
            <a:r>
              <a:rPr lang="en-US" altLang="ko-KR" dirty="0" smtClean="0">
                <a:latin typeface="+mn-ea"/>
              </a:rPr>
              <a:t>- </a:t>
            </a:r>
            <a:r>
              <a:rPr lang="ko-KR" altLang="en-US" dirty="0" smtClean="0">
                <a:latin typeface="+mn-ea"/>
              </a:rPr>
              <a:t>승인</a:t>
            </a:r>
            <a:r>
              <a:rPr lang="en-US" altLang="ko-KR" dirty="0">
                <a:latin typeface="+mn-ea"/>
              </a:rPr>
              <a:t>(‘F’)</a:t>
            </a:r>
            <a:endParaRPr lang="ko-KR" altLang="en-US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 smtClean="0">
                <a:latin typeface="+mn-ea"/>
              </a:rPr>
              <a:t>검색필터</a:t>
            </a:r>
            <a:r>
              <a:rPr lang="en-US" altLang="ko-KR" dirty="0" smtClean="0">
                <a:latin typeface="+mn-ea"/>
              </a:rPr>
              <a:t>-</a:t>
            </a:r>
            <a:r>
              <a:rPr lang="ko-KR" altLang="en-US" dirty="0" smtClean="0">
                <a:latin typeface="+mn-ea"/>
              </a:rPr>
              <a:t>추가정보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목록의 </a:t>
            </a:r>
            <a:r>
              <a:rPr lang="ko-KR" altLang="en-US" dirty="0" err="1" smtClean="0">
                <a:latin typeface="+mn-ea"/>
              </a:rPr>
              <a:t>검색필터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</a:t>
            </a:r>
            <a:r>
              <a:rPr lang="ko-KR" altLang="en-US" dirty="0" smtClean="0">
                <a:latin typeface="+mn-ea"/>
              </a:rPr>
              <a:t>목록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err="1" smtClean="0">
                <a:latin typeface="+mn-ea"/>
              </a:rPr>
              <a:t>검색필터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MUI-CM-01-P24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675399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678686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678686" y="3581561"/>
            <a:ext cx="2712027" cy="505089"/>
            <a:chOff x="3795734" y="4353857"/>
            <a:chExt cx="2712027" cy="505089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91" name="그룹 90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4" name="모서리가 둥근 직사각형 93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 smtClean="0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97" name="직선 연결선 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8" name="직선 연결선 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2" name="그룹 101"/>
          <p:cNvGrpSpPr/>
          <p:nvPr/>
        </p:nvGrpSpPr>
        <p:grpSpPr>
          <a:xfrm>
            <a:off x="786574" y="2893083"/>
            <a:ext cx="2516607" cy="467691"/>
            <a:chOff x="778515" y="4388257"/>
            <a:chExt cx="2516607" cy="46769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04" name="그룹 103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6" name="직선 연결선 14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7" name="직선 연결선 14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5" name="모서리가 둥근 직사각형 10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품명을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6" name="직사각형 11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 목록과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화면</a:t>
              </a:r>
              <a:r>
                <a:rPr lang="en-US" altLang="ko-KR" sz="700" dirty="0" smtClean="0"/>
                <a:t> </a:t>
              </a:r>
              <a:r>
                <a:rPr lang="ko-KR" altLang="en-US" sz="700" dirty="0" smtClean="0"/>
                <a:t>분리</a:t>
              </a:r>
              <a:r>
                <a:rPr lang="en-US" altLang="ko-KR" sz="700" dirty="0" smtClean="0"/>
                <a:t> </a:t>
              </a:r>
              <a:endParaRPr lang="ko-KR" altLang="en-US" sz="700" dirty="0"/>
            </a:p>
          </p:txBody>
        </p:sp>
      </p:grpSp>
      <p:sp>
        <p:nvSpPr>
          <p:cNvPr id="114" name="타원 1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765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534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35739633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9677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1534866"/>
              </p:ext>
            </p:extLst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21699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(‘A’)/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5544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738315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2198112"/>
            <a:ext cx="297574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추가등록정보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2063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addInfoCdNm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추가정보구분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국내소재상사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2F125368-2857-C82E-1284-3681067E57A2}"/>
              </a:ext>
            </a:extLst>
          </p:cNvPr>
          <p:cNvSpPr txBox="1"/>
          <p:nvPr/>
        </p:nvSpPr>
        <p:spPr>
          <a:xfrm>
            <a:off x="452999" y="399991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A706DBE-0422-0FB5-452E-C5076DB397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2207010"/>
              </p:ext>
            </p:extLst>
          </p:nvPr>
        </p:nvGraphicFramePr>
        <p:xfrm>
          <a:off x="455204" y="4191095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scwin.btn_bzentyInfoAddRegAplySrch_onclick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추가등록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scwin.grd_bzentyInfoAddRegAplyList_oncellclick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추가등록정보 신청 상세조회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9E9827DD-9569-58C6-A5A8-D5F9A0717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405935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3C2A901-2C93-18D5-49AD-6B86C606B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7514368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 err="1">
                <a:latin typeface="+mn-ea"/>
              </a:rPr>
              <a:t>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4" name="타원 283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288" name="직선 연결선 28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9" name="직선 연결선 28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600147"/>
            <a:chOff x="720490" y="4465173"/>
            <a:chExt cx="2630093" cy="160014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등록품목명세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8"/>
              <a:ext cx="792000" cy="128968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품목적부판정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1001100001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60 / </a:t>
              </a:r>
              <a:r>
                <a:rPr lang="ko-KR" altLang="en-US" sz="700" dirty="0">
                  <a:latin typeface="+mn-ea"/>
                </a:rPr>
                <a:t>총탄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이불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>
                  <a:latin typeface="+mn-ea"/>
                </a:rPr>
                <a:t>공장 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1169259"/>
            <a:chOff x="720490" y="2967388"/>
            <a:chExt cx="2630093" cy="1169259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849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담당자명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이메일주소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abcde@dapa.go.kr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282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53" name="그룹 152"/>
          <p:cNvGrpSpPr/>
          <p:nvPr/>
        </p:nvGrpSpPr>
        <p:grpSpPr>
          <a:xfrm>
            <a:off x="3847283" y="2869262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6120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/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한국피복공업협동조합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78800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76415535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96321CF-EFC5-26E2-090C-8CF7B965CFBA}"/>
              </a:ext>
            </a:extLst>
          </p:cNvPr>
          <p:cNvSpPr txBox="1"/>
          <p:nvPr/>
        </p:nvSpPr>
        <p:spPr>
          <a:xfrm>
            <a:off x="474315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E1DDAE6-399C-5859-4E69-5305126997B8}"/>
              </a:ext>
            </a:extLst>
          </p:cNvPr>
          <p:cNvGraphicFramePr>
            <a:graphicFrameLocks noGrp="1"/>
          </p:cNvGraphicFramePr>
          <p:nvPr/>
        </p:nvGraphicFramePr>
        <p:xfrm>
          <a:off x="474315" y="1024937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CEC06C9-0FC7-2BF3-5CEB-CB78D451E6FB}"/>
              </a:ext>
            </a:extLst>
          </p:cNvPr>
          <p:cNvSpPr txBox="1"/>
          <p:nvPr/>
        </p:nvSpPr>
        <p:spPr>
          <a:xfrm>
            <a:off x="482823" y="4356619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CC68990-859E-3037-E963-31F8A2C42A4A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456782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88BFD90-EEC4-AF19-B43C-80320D9DE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E76E3AA-F395-D558-C9E9-19120457B5D8}"/>
              </a:ext>
            </a:extLst>
          </p:cNvPr>
          <p:cNvSpPr txBox="1"/>
          <p:nvPr/>
        </p:nvSpPr>
        <p:spPr>
          <a:xfrm>
            <a:off x="474315" y="262560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4ED29EF-B202-6F60-88C5-CFDB8D291C7E}"/>
              </a:ext>
            </a:extLst>
          </p:cNvPr>
          <p:cNvGraphicFramePr>
            <a:graphicFrameLocks noGrp="1"/>
          </p:cNvGraphicFramePr>
          <p:nvPr/>
        </p:nvGraphicFramePr>
        <p:xfrm>
          <a:off x="482823" y="2847240"/>
          <a:ext cx="8994883" cy="1407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4697393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147</a:t>
            </a:fld>
            <a:endParaRPr lang="ko-KR" alt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34B50EA-5906-EB6B-7138-D3E9BBE51945}"/>
              </a:ext>
            </a:extLst>
          </p:cNvPr>
          <p:cNvSpPr txBox="1"/>
          <p:nvPr/>
        </p:nvSpPr>
        <p:spPr>
          <a:xfrm>
            <a:off x="453000" y="2536597"/>
            <a:ext cx="278498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B578D07-5309-68EA-0BE0-60EAC189B148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275028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14950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956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8341192-35F9-FD22-371F-1BFB9813957E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01AA5351-B4D7-2A42-A2FD-535C648BA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33D6EF6-B35E-C07B-C39C-1AAFB1030A81}"/>
              </a:ext>
            </a:extLst>
          </p:cNvPr>
          <p:cNvSpPr txBox="1"/>
          <p:nvPr/>
        </p:nvSpPr>
        <p:spPr>
          <a:xfrm>
            <a:off x="455558" y="875109"/>
            <a:ext cx="367465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dm_knditmInfoAsctGrpInfo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41A4CC9-2271-61B9-E859-7A8617C8C15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6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70028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148</a:t>
            </a:fld>
            <a:endParaRPr lang="ko-KR" alt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70C8C92-A1A0-9A18-1192-672370EB4B24}"/>
              </a:ext>
            </a:extLst>
          </p:cNvPr>
          <p:cNvSpPr txBox="1"/>
          <p:nvPr/>
        </p:nvSpPr>
        <p:spPr>
          <a:xfrm>
            <a:off x="449379" y="64420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DC3447D6-2C6E-9D8B-15D4-E55C6F39B2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506251"/>
              </p:ext>
            </p:extLst>
          </p:nvPr>
        </p:nvGraphicFramePr>
        <p:xfrm>
          <a:off x="455204" y="879986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A85913A9-6A57-6952-B52D-4279CDAA9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630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904140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국내소재상사신청정보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MUI-CM-01-T06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720490" y="1926939"/>
            <a:ext cx="2630093" cy="1600147"/>
            <a:chOff x="720490" y="4465173"/>
            <a:chExt cx="2630093" cy="16001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202602027888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3" name="그룹 122"/>
          <p:cNvGrpSpPr/>
          <p:nvPr/>
        </p:nvGrpSpPr>
        <p:grpSpPr>
          <a:xfrm>
            <a:off x="3836701" y="4002480"/>
            <a:ext cx="2630093" cy="1169259"/>
            <a:chOff x="720490" y="4465173"/>
            <a:chExt cx="2630093" cy="1169259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보안측정인원</a:t>
              </a:r>
            </a:p>
          </p:txBody>
        </p:sp>
        <p:grpSp>
          <p:nvGrpSpPr>
            <p:cNvPr id="125" name="그룹 12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6" name="직사각형 125"/>
            <p:cNvSpPr/>
            <p:nvPr/>
          </p:nvSpPr>
          <p:spPr>
            <a:xfrm>
              <a:off x="722583" y="4772659"/>
              <a:ext cx="792000" cy="86177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40" name="그룹 139"/>
          <p:cNvGrpSpPr/>
          <p:nvPr/>
        </p:nvGrpSpPr>
        <p:grpSpPr>
          <a:xfrm>
            <a:off x="3847283" y="1573405"/>
            <a:ext cx="2630093" cy="2261591"/>
            <a:chOff x="720490" y="2967388"/>
            <a:chExt cx="2630093" cy="2261591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142" name="그룹 141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51" name="직선 연결선 15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직사각형 142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72436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기관명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등기일자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등기목적</a:t>
              </a:r>
              <a:r>
                <a:rPr lang="ko-KR" altLang="en-US" sz="700" dirty="0">
                  <a:latin typeface="+mn-ea"/>
                </a:rPr>
                <a:t> 표시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공급업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군수품 </a:t>
              </a:r>
              <a:r>
                <a:rPr lang="ko-KR" altLang="en-US" sz="700" dirty="0" err="1">
                  <a:latin typeface="+mn-ea"/>
                </a:rPr>
                <a:t>무역대리업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</a:t>
              </a:r>
              <a:r>
                <a:rPr lang="ko-KR" altLang="en-US" sz="700" dirty="0">
                  <a:latin typeface="+mn-ea"/>
                </a:rPr>
                <a:t> 비대상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5657181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3760274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1-</a:t>
              </a:r>
              <a:r>
                <a:rPr lang="ko-KR" altLang="en-US" sz="700" dirty="0">
                  <a:latin typeface="+mn-ea"/>
                </a:rPr>
                <a:t>본사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 smtClean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여 </a:t>
              </a:r>
              <a:r>
                <a:rPr lang="en-US" altLang="ko-KR" sz="700" dirty="0" smtClean="0">
                  <a:latin typeface="+mn-ea"/>
                </a:rPr>
                <a:t>/ </a:t>
              </a:r>
              <a:r>
                <a:rPr lang="ko-KR" altLang="en-US" sz="700" dirty="0" smtClean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kumimoji="1" lang="en-US" altLang="ko-KR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Hong </a:t>
              </a:r>
              <a:r>
                <a:rPr kumimoji="1" lang="en-US" altLang="ko-KR" sz="700" spc="-60" dirty="0" err="1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Gildong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102, 11st, </a:t>
              </a:r>
              <a:r>
                <a:rPr lang="en-US" altLang="ko-KR" sz="700" dirty="0" err="1">
                  <a:latin typeface="+mn-ea"/>
                </a:rPr>
                <a:t>jonglo-gu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seoul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en-US" altLang="ko-KR" sz="700" dirty="0" err="1">
                  <a:latin typeface="+mn-ea"/>
                </a:rPr>
                <a:t>korea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6145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52927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91015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729060" y="1613364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법인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5939993" y="4988057"/>
            <a:ext cx="421867" cy="15692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다운로드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7" name="직사각형 12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6" name="직사각형 13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230257964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추가정보 신청 접수한 데이터 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국내소재상사신청정보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추가정보 </a:t>
            </a:r>
            <a:r>
              <a:rPr lang="ko-KR" altLang="en-US" dirty="0" smtClean="0">
                <a:latin typeface="+mn-ea"/>
              </a:rPr>
              <a:t>신청내역상세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추가정보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MUI-CM-01-T06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신청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7"/>
          <p:cNvGrpSpPr/>
          <p:nvPr/>
        </p:nvGrpSpPr>
        <p:grpSpPr>
          <a:xfrm>
            <a:off x="720490" y="1926939"/>
            <a:ext cx="2630093" cy="756006"/>
            <a:chOff x="720490" y="4465173"/>
            <a:chExt cx="2630093" cy="75600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7" name="그룹 106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108" name="직선 연결선 1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9" name="직선 연결선 1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/>
            <p:cNvSpPr/>
            <p:nvPr/>
          </p:nvSpPr>
          <p:spPr>
            <a:xfrm>
              <a:off x="722583" y="4772659"/>
              <a:ext cx="792000" cy="448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FSC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군급명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0001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테스트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632648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2866974"/>
            <a:ext cx="2630093" cy="1847384"/>
            <a:chOff x="720490" y="4465173"/>
            <a:chExt cx="2630093" cy="184738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8"/>
              <a:ext cx="792000" cy="15398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연간매출액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자산규모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여신한도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주거래은행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군납최초참여일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거래기간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Dun’s Number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3,000,000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농협은행 과천 지점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2020-03-01 ~ 2025-12-31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728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2966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27639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80978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468407575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47174" y="3909817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4121660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1687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taskHdlrRsltCd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799547"/>
            <a:ext cx="29068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추가정보신청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dm_addInfoAplyInfo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976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prgrsSttsNm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(‘U’)/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(‘F’)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3EA6E52F-BCA3-96C8-67C6-5E72F655E2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C04E473-0C76-97CA-2568-CFE2A9FA3350}"/>
              </a:ext>
            </a:extLst>
          </p:cNvPr>
          <p:cNvSpPr txBox="1"/>
          <p:nvPr/>
        </p:nvSpPr>
        <p:spPr>
          <a:xfrm>
            <a:off x="455558" y="2386850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BCFB3BB-1666-4E22-E474-40FF6DDFA289}"/>
              </a:ext>
            </a:extLst>
          </p:cNvPr>
          <p:cNvGraphicFramePr>
            <a:graphicFrameLocks noGrp="1"/>
          </p:cNvGraphicFramePr>
          <p:nvPr/>
        </p:nvGraphicFramePr>
        <p:xfrm>
          <a:off x="464066" y="2608489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523429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152</a:t>
            </a:fld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C6C9223-6B36-72B2-E590-EA6F1BDF23A1}"/>
              </a:ext>
            </a:extLst>
          </p:cNvPr>
          <p:cNvSpPr txBox="1"/>
          <p:nvPr/>
        </p:nvSpPr>
        <p:spPr>
          <a:xfrm>
            <a:off x="452999" y="2453560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1FD1C73-2B10-B728-AEA1-41D040F8CC8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66724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0E2433EC-83E1-AA99-16EC-8E7F3A34098B}"/>
              </a:ext>
            </a:extLst>
          </p:cNvPr>
          <p:cNvSpPr txBox="1"/>
          <p:nvPr/>
        </p:nvSpPr>
        <p:spPr>
          <a:xfrm>
            <a:off x="450440" y="3452123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BB98065F-80E8-B992-6DDD-013FDDB112C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366580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02567EC-AC2D-D7F0-9930-7CFF5017627D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5C4B852D-8926-43DC-F609-972BFE9A8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866105B-EE72-9A35-138D-E979B30E8004}"/>
              </a:ext>
            </a:extLst>
          </p:cNvPr>
          <p:cNvSpPr txBox="1"/>
          <p:nvPr/>
        </p:nvSpPr>
        <p:spPr>
          <a:xfrm>
            <a:off x="452999" y="86763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A946394-CDEF-ED25-B2A5-A7B1388904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126752"/>
              </p:ext>
            </p:extLst>
          </p:nvPr>
        </p:nvGraphicFramePr>
        <p:xfrm>
          <a:off x="453000" y="107883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첨부파일명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9211054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153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EA09851-DB8A-5E75-D951-D3802196DB2B}"/>
              </a:ext>
            </a:extLst>
          </p:cNvPr>
          <p:cNvSpPr txBox="1"/>
          <p:nvPr/>
        </p:nvSpPr>
        <p:spPr>
          <a:xfrm>
            <a:off x="455204" y="59125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AF02EB9-4E0B-A76D-D6AA-BDE3E17622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8768327"/>
              </p:ext>
            </p:extLst>
          </p:nvPr>
        </p:nvGraphicFramePr>
        <p:xfrm>
          <a:off x="455204" y="827041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추가등록정보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E3266B3-2502-5567-2F29-36F4DC570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1012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7615057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담당자 </a:t>
            </a:r>
            <a:r>
              <a:rPr lang="ko-KR" altLang="en-US" dirty="0"/>
              <a:t>정보만 저장 시 즉시 완료 처리 </a:t>
            </a:r>
            <a:r>
              <a:rPr lang="en-US" altLang="ko-KR" dirty="0"/>
              <a:t>&gt; </a:t>
            </a:r>
            <a:r>
              <a:rPr lang="ko-KR" altLang="en-US" dirty="0"/>
              <a:t>목록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완료 토스트 메시지 </a:t>
            </a:r>
            <a:r>
              <a:rPr lang="en-US" altLang="ko-KR" dirty="0"/>
              <a:t>: </a:t>
            </a:r>
            <a:r>
              <a:rPr lang="ko-KR" altLang="en-US" dirty="0"/>
              <a:t>저장되었습니다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MUI-CM-01-M22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3673" y="491781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담당자정보는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저장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버튼 클릭 시 승인 없이 변경됩니다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5" name="그룹 10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담당자 정보 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11" name="직사각형 11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13" name="직사각형 11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</a:t>
              </a:r>
              <a:endParaRPr lang="ko-KR" altLang="en-US" sz="700" dirty="0"/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121348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담당자명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115" name="그룹 114"/>
          <p:cNvGrpSpPr/>
          <p:nvPr/>
        </p:nvGrpSpPr>
        <p:grpSpPr>
          <a:xfrm>
            <a:off x="903581" y="2268480"/>
            <a:ext cx="2255663" cy="306146"/>
            <a:chOff x="3982951" y="3679873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21" name="그룹 120"/>
          <p:cNvGrpSpPr/>
          <p:nvPr/>
        </p:nvGrpSpPr>
        <p:grpSpPr>
          <a:xfrm>
            <a:off x="903581" y="2955549"/>
            <a:ext cx="2255663" cy="306146"/>
            <a:chOff x="3982951" y="3679873"/>
            <a:chExt cx="2255663" cy="306146"/>
          </a:xfrm>
        </p:grpSpPr>
        <p:sp>
          <p:nvSpPr>
            <p:cNvPr id="122" name="모서리가 둥근 직사각형 12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166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전화번호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8420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smtClean="0"/>
              <a:t>팩스번호</a:t>
            </a:r>
            <a:endParaRPr lang="ko-KR" altLang="en-US" dirty="0"/>
          </a:p>
        </p:txBody>
      </p:sp>
      <p:grpSp>
        <p:nvGrpSpPr>
          <p:cNvPr id="128" name="그룹 127"/>
          <p:cNvGrpSpPr/>
          <p:nvPr/>
        </p:nvGrpSpPr>
        <p:grpSpPr>
          <a:xfrm>
            <a:off x="903581" y="3631341"/>
            <a:ext cx="2255663" cy="306146"/>
            <a:chOff x="3982951" y="3679873"/>
            <a:chExt cx="2255663" cy="306146"/>
          </a:xfrm>
        </p:grpSpPr>
        <p:sp>
          <p:nvSpPr>
            <p:cNvPr id="129" name="모서리가 둥근 직사각형 12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</a:p>
          </p:txBody>
        </p:sp>
      </p:grpSp>
      <p:grpSp>
        <p:nvGrpSpPr>
          <p:cNvPr id="131" name="그룹 130"/>
          <p:cNvGrpSpPr/>
          <p:nvPr/>
        </p:nvGrpSpPr>
        <p:grpSpPr>
          <a:xfrm>
            <a:off x="903581" y="4318410"/>
            <a:ext cx="2255663" cy="306146"/>
            <a:chOff x="3982951" y="3679873"/>
            <a:chExt cx="2255663" cy="306146"/>
          </a:xfrm>
        </p:grpSpPr>
        <p:sp>
          <p:nvSpPr>
            <p:cNvPr id="132" name="모서리가 둥근 직사각형 13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smtClean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입력해주세요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179475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 b="1">
                <a:latin typeface="+mn-ea"/>
              </a:defRPr>
            </a:lvl1pPr>
          </a:lstStyle>
          <a:p>
            <a:r>
              <a:rPr lang="ko-KR" altLang="en-US" dirty="0" err="1" smtClean="0"/>
              <a:t>이메일주소</a:t>
            </a:r>
            <a:r>
              <a:rPr lang="ko-KR" altLang="en-US" dirty="0"/>
              <a:t> </a:t>
            </a:r>
            <a:r>
              <a:rPr lang="en-US" altLang="ko-KR" dirty="0">
                <a:solidFill>
                  <a:srgbClr val="FF0000"/>
                </a:solidFill>
              </a:rPr>
              <a:t>*</a:t>
            </a:r>
            <a:endParaRPr lang="ko-KR" altLang="en-US" dirty="0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81661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121348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417947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452232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등록할 내용 탭 선택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</a:t>
            </a:r>
            <a:r>
              <a:rPr lang="ko-KR" altLang="en-US" dirty="0" smtClean="0"/>
              <a:t>입력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/>
              <a:t>정보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대표품류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 err="1"/>
              <a:t>품류</a:t>
            </a:r>
            <a:r>
              <a:rPr lang="ko-KR" altLang="en-US" dirty="0"/>
              <a:t> 선택 </a:t>
            </a:r>
            <a:r>
              <a:rPr lang="ko-KR" altLang="en-US" dirty="0" smtClean="0"/>
              <a:t>팝업 </a:t>
            </a:r>
            <a:r>
              <a:rPr lang="en-US" altLang="ko-KR" dirty="0" smtClean="0"/>
              <a:t>MUI-CM-01-P06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</a:t>
            </a:r>
            <a:r>
              <a:rPr lang="en-US" altLang="ko-KR" dirty="0"/>
              <a:t>: </a:t>
            </a:r>
            <a:r>
              <a:rPr lang="ko-KR" altLang="en-US" dirty="0"/>
              <a:t>조합</a:t>
            </a:r>
            <a:r>
              <a:rPr lang="en-US" altLang="ko-KR" dirty="0"/>
              <a:t>/</a:t>
            </a:r>
            <a:r>
              <a:rPr lang="ko-KR" altLang="en-US" dirty="0"/>
              <a:t>단체 선택 </a:t>
            </a:r>
            <a:r>
              <a:rPr lang="ko-KR" altLang="en-US" dirty="0" smtClean="0"/>
              <a:t>팝업 </a:t>
            </a:r>
            <a:r>
              <a:rPr lang="en-US" altLang="ko-KR" dirty="0" smtClean="0"/>
              <a:t>MUI-CM-01-P07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업태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제조</a:t>
            </a:r>
            <a:r>
              <a:rPr lang="en-US" altLang="ko-KR" dirty="0"/>
              <a:t>(’11’)/</a:t>
            </a:r>
            <a:r>
              <a:rPr lang="ko-KR" altLang="en-US" dirty="0"/>
              <a:t>판매</a:t>
            </a:r>
            <a:r>
              <a:rPr lang="en-US" altLang="ko-KR" dirty="0"/>
              <a:t>(‘12’)/</a:t>
            </a:r>
            <a:r>
              <a:rPr lang="ko-KR" altLang="en-US" dirty="0" err="1"/>
              <a:t>조합및단체</a:t>
            </a:r>
            <a:r>
              <a:rPr lang="en-US" altLang="ko-KR" dirty="0"/>
              <a:t>(‘13’)/</a:t>
            </a:r>
            <a:r>
              <a:rPr lang="ko-KR" altLang="en-US" dirty="0"/>
              <a:t>용역</a:t>
            </a:r>
            <a:r>
              <a:rPr lang="en-US" altLang="ko-KR" dirty="0"/>
              <a:t>(‘14’)/</a:t>
            </a:r>
            <a:r>
              <a:rPr lang="ko-KR" altLang="en-US" dirty="0" err="1"/>
              <a:t>벤처제조</a:t>
            </a:r>
            <a:r>
              <a:rPr lang="en-US" altLang="ko-KR" dirty="0"/>
              <a:t>(‘15’)/</a:t>
            </a:r>
            <a:r>
              <a:rPr lang="ko-KR" altLang="en-US" dirty="0" err="1"/>
              <a:t>벤처판매</a:t>
            </a:r>
            <a:r>
              <a:rPr lang="en-US" altLang="ko-KR" dirty="0"/>
              <a:t>(‘16’)/</a:t>
            </a:r>
            <a:r>
              <a:rPr lang="ko-KR" altLang="en-US" dirty="0" err="1"/>
              <a:t>벤처용역</a:t>
            </a:r>
            <a:r>
              <a:rPr lang="en-US" altLang="ko-KR" dirty="0"/>
              <a:t>(‘17’)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53" name="그룹 152"/>
          <p:cNvGrpSpPr/>
          <p:nvPr/>
        </p:nvGrpSpPr>
        <p:grpSpPr>
          <a:xfrm>
            <a:off x="3832576" y="1573405"/>
            <a:ext cx="2630093" cy="966004"/>
            <a:chOff x="720490" y="2967388"/>
            <a:chExt cx="2630093" cy="966004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0" y="2967388"/>
              <a:ext cx="1136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r>
                <a:rPr lang="ko-KR" altLang="en-US" sz="700" dirty="0">
                  <a:latin typeface="+mn-ea"/>
                </a:rPr>
                <a:t> 및 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</a:p>
          </p:txBody>
        </p:sp>
        <p:grpSp>
          <p:nvGrpSpPr>
            <p:cNvPr id="155" name="그룹 154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722583" y="3274873"/>
              <a:ext cx="792000" cy="6563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74873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대표품류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조합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단체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61734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2203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40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8270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8270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9409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4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41685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9763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31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760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6902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13751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41" name="그룹 240"/>
          <p:cNvGrpSpPr/>
          <p:nvPr/>
        </p:nvGrpSpPr>
        <p:grpSpPr>
          <a:xfrm>
            <a:off x="6257515" y="2195010"/>
            <a:ext cx="94010" cy="47005"/>
            <a:chOff x="6812560" y="3297172"/>
            <a:chExt cx="94010" cy="47005"/>
          </a:xfrm>
        </p:grpSpPr>
        <p:cxnSp>
          <p:nvCxnSpPr>
            <p:cNvPr id="242" name="직선 연결선 24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3" name="직선 연결선 24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19171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9906" y="235761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6" name="타원 245"/>
          <p:cNvSpPr/>
          <p:nvPr/>
        </p:nvSpPr>
        <p:spPr>
          <a:xfrm>
            <a:off x="6249717" y="1930795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/>
          <p:cNvSpPr/>
          <p:nvPr/>
        </p:nvSpPr>
        <p:spPr>
          <a:xfrm>
            <a:off x="6249717" y="2372863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32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264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106" name="그룹 10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07" name="직사각형 10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08" name="직사각형 10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담당자 정보 별도 등록 하도록 분리 제거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775500751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등록품목</a:t>
            </a:r>
            <a:r>
              <a:rPr lang="ko-KR" altLang="en-US" dirty="0"/>
              <a:t> 명세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</a:t>
            </a:r>
            <a:r>
              <a:rPr lang="en-US" altLang="ko-KR" dirty="0"/>
              <a:t>, </a:t>
            </a:r>
            <a:r>
              <a:rPr lang="ko-KR" altLang="en-US" dirty="0"/>
              <a:t>변경</a:t>
            </a:r>
            <a:r>
              <a:rPr lang="en-US" altLang="ko-KR" dirty="0"/>
              <a:t>, </a:t>
            </a:r>
            <a:r>
              <a:rPr lang="ko-KR" altLang="en-US" dirty="0"/>
              <a:t>삭제한 내역을 초기상태로 </a:t>
            </a:r>
            <a:r>
              <a:rPr lang="ko-KR" altLang="en-US" dirty="0" smtClean="0"/>
              <a:t>되돌림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초기화 되었습니다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명세 내역 중에서 </a:t>
            </a:r>
            <a:r>
              <a:rPr lang="ko-KR" altLang="en-US" dirty="0" smtClean="0"/>
              <a:t>검색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아래 목록에서 검색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등록대상 품목 선택 </a:t>
            </a:r>
            <a:r>
              <a:rPr lang="ko-KR" altLang="en-US" dirty="0" smtClean="0"/>
              <a:t>팝업 </a:t>
            </a:r>
            <a:r>
              <a:rPr lang="en-US" altLang="ko-KR" dirty="0"/>
              <a:t>MUI-CM-01-P08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품목 삭제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갱신 </a:t>
            </a:r>
            <a:r>
              <a:rPr lang="en-US" altLang="ko-KR" dirty="0"/>
              <a:t>: </a:t>
            </a:r>
            <a:r>
              <a:rPr lang="ko-KR" altLang="en-US" dirty="0"/>
              <a:t>선택된 품목 만료 갱신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선택하여 갱신 시 </a:t>
            </a:r>
            <a:r>
              <a:rPr lang="en-US" altLang="ko-KR" dirty="0"/>
              <a:t>[</a:t>
            </a:r>
            <a:r>
              <a:rPr lang="ko-KR" altLang="en-US" dirty="0" err="1"/>
              <a:t>접수상태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ko-KR" altLang="en-US" dirty="0" err="1"/>
              <a:t>상태값</a:t>
            </a:r>
            <a:r>
              <a:rPr lang="ko-KR" altLang="en-US" dirty="0"/>
              <a:t> 임시 변경 </a:t>
            </a:r>
            <a:r>
              <a:rPr lang="en-US" altLang="ko-KR" dirty="0"/>
              <a:t>- </a:t>
            </a:r>
            <a:r>
              <a:rPr lang="ko-KR" altLang="en-US" dirty="0"/>
              <a:t>갱신 접수 신청 필요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다음 페이지의 </a:t>
            </a:r>
            <a:r>
              <a:rPr lang="ko-KR" altLang="en-US" dirty="0" err="1"/>
              <a:t>설명글에</a:t>
            </a:r>
            <a:r>
              <a:rPr lang="ko-KR" altLang="en-US" dirty="0"/>
              <a:t> 해당 내용 존재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만료되기 전 </a:t>
            </a:r>
            <a:r>
              <a:rPr lang="en-US" altLang="ko-KR" dirty="0"/>
              <a:t>90</a:t>
            </a:r>
            <a:r>
              <a:rPr lang="ko-KR" altLang="en-US" dirty="0"/>
              <a:t>일 이내 갱신 신청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  o </a:t>
            </a:r>
            <a:r>
              <a:rPr lang="ko-KR" altLang="en-US" dirty="0"/>
              <a:t>만료된 이후는 만료 품목 삭제 후 조달청 승인 이후에 별도 신규 추가 필요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 삭제</a:t>
            </a:r>
            <a:r>
              <a:rPr lang="en-US" altLang="ko-KR" dirty="0"/>
              <a:t>, </a:t>
            </a:r>
            <a:r>
              <a:rPr lang="ko-KR" altLang="en-US" dirty="0"/>
              <a:t>선택 갱신을 위한 선택 </a:t>
            </a:r>
            <a:r>
              <a:rPr lang="ko-KR" altLang="en-US" dirty="0" smtClean="0"/>
              <a:t>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on/off </a:t>
            </a:r>
            <a:r>
              <a:rPr lang="ko-KR" altLang="en-US" dirty="0" err="1" smtClean="0"/>
              <a:t>토글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latin typeface="+mn-ea"/>
              </a:rPr>
              <a:t>품목 조회 </a:t>
            </a:r>
            <a:r>
              <a:rPr lang="ko-KR" altLang="en-US" dirty="0" smtClean="0">
                <a:latin typeface="+mn-ea"/>
              </a:rPr>
              <a:t>팝업 </a:t>
            </a:r>
            <a:r>
              <a:rPr lang="en-US" altLang="ko-KR" dirty="0">
                <a:latin typeface="+mn-ea"/>
              </a:rPr>
              <a:t>MUI-CM-01-P09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166" y="1903473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등록품목명세</a:t>
            </a:r>
          </a:p>
        </p:txBody>
      </p:sp>
      <p:grpSp>
        <p:nvGrpSpPr>
          <p:cNvPr id="125" name="그룹 124"/>
          <p:cNvGrpSpPr/>
          <p:nvPr/>
        </p:nvGrpSpPr>
        <p:grpSpPr>
          <a:xfrm flipV="1">
            <a:off x="3134253" y="2016804"/>
            <a:ext cx="94010" cy="47005"/>
            <a:chOff x="6812560" y="3297172"/>
            <a:chExt cx="94010" cy="47005"/>
          </a:xfrm>
        </p:grpSpPr>
        <p:cxnSp>
          <p:nvCxnSpPr>
            <p:cNvPr id="137" name="직선 연결선 1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8" name="직선 연결선 13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184" name="타원 18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4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2109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TextBox 2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8502" y="2614195"/>
            <a:ext cx="261547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회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등록품목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신청은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30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개 이내로 신청해주시기 바랍니다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253" name="모서리가 둥근 직사각형 252"/>
          <p:cNvSpPr/>
          <p:nvPr/>
        </p:nvSpPr>
        <p:spPr>
          <a:xfrm>
            <a:off x="1423023" y="225344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검색 코드를 입력해주세요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21" y="232175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품목 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255" name="타원 254"/>
          <p:cNvSpPr/>
          <p:nvPr/>
        </p:nvSpPr>
        <p:spPr>
          <a:xfrm>
            <a:off x="3091939" y="2302674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5310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" name="그룹 14"/>
          <p:cNvGrpSpPr/>
          <p:nvPr/>
        </p:nvGrpSpPr>
        <p:grpSpPr>
          <a:xfrm>
            <a:off x="711195" y="2937990"/>
            <a:ext cx="2630093" cy="2684352"/>
            <a:chOff x="3836701" y="2666788"/>
            <a:chExt cx="2630093" cy="2684352"/>
          </a:xfrm>
        </p:grpSpPr>
        <p:sp>
          <p:nvSpPr>
            <p:cNvPr id="126" name="직사각형 125"/>
            <p:cNvSpPr/>
            <p:nvPr/>
          </p:nvSpPr>
          <p:spPr>
            <a:xfrm>
              <a:off x="3838794" y="2981260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98126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981260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981260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2123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4260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63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8346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04837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620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851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0191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44008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신규 추가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394565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삭제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933880" y="266678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 갱신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965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91030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1240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3470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7" y="3238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05" name="TextBox 2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9046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 err="1">
                <a:latin typeface="+mn-ea"/>
              </a:rPr>
              <a:t>적격상태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90466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전체</a:t>
            </a:r>
          </a:p>
        </p:txBody>
      </p:sp>
      <p:grpSp>
        <p:nvGrpSpPr>
          <p:cNvPr id="207" name="그룹 206"/>
          <p:cNvGrpSpPr/>
          <p:nvPr/>
        </p:nvGrpSpPr>
        <p:grpSpPr>
          <a:xfrm>
            <a:off x="3143548" y="2992289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49865" y="1966849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0228" y="28005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2913383" y="2312615"/>
            <a:ext cx="126000" cy="126000"/>
            <a:chOff x="2913383" y="2291727"/>
            <a:chExt cx="145884" cy="145882"/>
          </a:xfrm>
        </p:grpSpPr>
        <p:sp>
          <p:nvSpPr>
            <p:cNvPr id="226" name="타원 225"/>
            <p:cNvSpPr/>
            <p:nvPr/>
          </p:nvSpPr>
          <p:spPr>
            <a:xfrm>
              <a:off x="2913383" y="2291727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7" name="그룹 226"/>
            <p:cNvGrpSpPr/>
            <p:nvPr/>
          </p:nvGrpSpPr>
          <p:grpSpPr>
            <a:xfrm>
              <a:off x="2957288" y="2335631"/>
              <a:ext cx="58075" cy="58074"/>
              <a:chOff x="6812560" y="3297172"/>
              <a:chExt cx="94010" cy="94010"/>
            </a:xfrm>
          </p:grpSpPr>
          <p:cxnSp>
            <p:nvCxnSpPr>
              <p:cNvPr id="228" name="직선 연결선 22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9" name="직선 연결선 22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/>
          <p:cNvGrpSpPr/>
          <p:nvPr/>
        </p:nvGrpSpPr>
        <p:grpSpPr>
          <a:xfrm>
            <a:off x="3823529" y="1568325"/>
            <a:ext cx="2630093" cy="2369880"/>
            <a:chOff x="3823529" y="2016849"/>
            <a:chExt cx="2630093" cy="2369880"/>
          </a:xfrm>
        </p:grpSpPr>
        <p:sp>
          <p:nvSpPr>
            <p:cNvPr id="271" name="직사각형 270"/>
            <p:cNvSpPr/>
            <p:nvPr/>
          </p:nvSpPr>
          <p:spPr>
            <a:xfrm>
              <a:off x="3825622" y="2016849"/>
              <a:ext cx="792000" cy="2369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3529" y="201684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2686" y="2016849"/>
              <a:ext cx="715881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승인일자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만료일자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갱신요청일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접수상태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69534" y="2016849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2222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소시지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9999-12-31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2479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4616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6753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28702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0839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29766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52071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05477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290" name="직선 연결선 28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7321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39458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2" name="직선 연결선 2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15960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3" name="직선 연결선 2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5622" y="43826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59275" y="2280152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90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547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8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5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2410716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</a:t>
            </a:r>
            <a:r>
              <a:rPr lang="ko-KR" altLang="en-US" dirty="0" smtClean="0"/>
              <a:t>닫힘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 동의 </a:t>
            </a:r>
            <a:r>
              <a:rPr lang="ko-KR" altLang="en-US" dirty="0" smtClean="0"/>
              <a:t>체크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호출 </a:t>
            </a:r>
            <a:r>
              <a:rPr lang="en-US" altLang="ko-KR" dirty="0" smtClean="0"/>
              <a:t>MUI-CM-01-P13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미체크한</a:t>
            </a:r>
            <a:r>
              <a:rPr lang="ko-KR" altLang="en-US" dirty="0"/>
              <a:t> 상태로 등록 신청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모달</a:t>
            </a:r>
            <a:r>
              <a:rPr lang="ko-KR" altLang="en-US" dirty="0"/>
              <a:t> 확인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메시지 </a:t>
            </a:r>
            <a:r>
              <a:rPr lang="en-US" altLang="ko-KR" dirty="0"/>
              <a:t>: </a:t>
            </a:r>
            <a:r>
              <a:rPr lang="ko-KR" altLang="en-US" dirty="0"/>
              <a:t>동의여부에 체크하지 않는 경우 오프라인으로 서류를 제출하셔야 합니다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</a:t>
            </a:r>
            <a:r>
              <a:rPr lang="en-US" altLang="ko-KR" dirty="0"/>
              <a:t>, </a:t>
            </a:r>
            <a:r>
              <a:rPr lang="ko-KR" altLang="en-US" dirty="0"/>
              <a:t>닫기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그대로 신청 시 다음 </a:t>
            </a:r>
            <a:r>
              <a:rPr lang="ko-KR" altLang="en-US" dirty="0" smtClean="0"/>
              <a:t>프로세스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기본 닫힘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물품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내자</a:t>
            </a:r>
            <a:r>
              <a:rPr lang="en-US" altLang="ko-KR" dirty="0">
                <a:latin typeface="+mn-ea"/>
              </a:rPr>
              <a:t>)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MUI-CM-01-M05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740592" y="1919057"/>
            <a:ext cx="2543426" cy="4002058"/>
          </a:xfrm>
          <a:prstGeom prst="roundRect">
            <a:avLst>
              <a:gd name="adj" fmla="val 3825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43672" y="1980876"/>
            <a:ext cx="2154318" cy="38779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등록하시려는 품목이 상단에 이미 등록되어진 상태라면 별도로 추가하실 필요가 없습니다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신규 품목은 우측의 추가 버튼을 이용해 리스트에 추가 후 접수해 주시면 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삭제</a:t>
            </a:r>
            <a:r>
              <a:rPr lang="en-US" altLang="ko-KR" sz="700" dirty="0">
                <a:latin typeface="Consolas" panose="020B0609020204030204" pitchFamily="49" charset="0"/>
              </a:rPr>
              <a:t>,</a:t>
            </a:r>
            <a:r>
              <a:rPr lang="ko-KR" altLang="en-US" sz="700" dirty="0">
                <a:latin typeface="Consolas" panose="020B0609020204030204" pitchFamily="49" charset="0"/>
              </a:rPr>
              <a:t>갱신이 필요한 경우에는 선택에 체크 후 우측의 해당업무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삭제 혹은 갱신</a:t>
            </a:r>
            <a:r>
              <a:rPr lang="en-US" altLang="ko-KR" sz="700" dirty="0">
                <a:latin typeface="Consolas" panose="020B0609020204030204" pitchFamily="49" charset="0"/>
              </a:rPr>
              <a:t>) </a:t>
            </a:r>
            <a:r>
              <a:rPr lang="ko-KR" altLang="en-US" sz="700" dirty="0">
                <a:latin typeface="Consolas" panose="020B0609020204030204" pitchFamily="49" charset="0"/>
              </a:rPr>
              <a:t>버튼을 꼭 클릭하신 후 접수해 주시기 바랍니다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부적격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</a:t>
            </a:r>
            <a:r>
              <a:rPr lang="ko-KR" altLang="en-US" sz="700" dirty="0" err="1">
                <a:latin typeface="Consolas" panose="020B0609020204030204" pitchFamily="49" charset="0"/>
              </a:rPr>
              <a:t>등록품목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ko-KR" altLang="en-US" sz="700" dirty="0" err="1">
                <a:latin typeface="Consolas" panose="020B0609020204030204" pitchFamily="49" charset="0"/>
              </a:rPr>
              <a:t>신청조회</a:t>
            </a:r>
            <a:r>
              <a:rPr lang="ko-KR" altLang="en-US" sz="700" dirty="0">
                <a:latin typeface="Consolas" panose="020B0609020204030204" pitchFamily="49" charset="0"/>
              </a:rPr>
              <a:t>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만료된 품목을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하실 경우는 먼저 해당 품목을 삭제하신 후 저장하시고 조달담당자의 승인을 받으신 다음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좌측메뉴 중 추가정보신청조회 코너에서 </a:t>
            </a:r>
            <a:r>
              <a:rPr lang="ko-KR" altLang="en-US" sz="700" dirty="0" err="1">
                <a:latin typeface="Consolas" panose="020B0609020204030204" pitchFamily="49" charset="0"/>
              </a:rPr>
              <a:t>품목삭제</a:t>
            </a:r>
            <a:r>
              <a:rPr lang="ko-KR" altLang="en-US" sz="700" dirty="0">
                <a:latin typeface="Consolas" panose="020B0609020204030204" pitchFamily="49" charset="0"/>
              </a:rPr>
              <a:t> 신청서의 </a:t>
            </a:r>
            <a:r>
              <a:rPr lang="ko-KR" altLang="en-US" sz="700" dirty="0" err="1">
                <a:latin typeface="Consolas" panose="020B0609020204030204" pitchFamily="49" charset="0"/>
              </a:rPr>
              <a:t>진행상태가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[</a:t>
            </a:r>
            <a:r>
              <a:rPr lang="ko-KR" altLang="en-US" sz="700" dirty="0">
                <a:latin typeface="Consolas" panose="020B0609020204030204" pitchFamily="49" charset="0"/>
              </a:rPr>
              <a:t>승인</a:t>
            </a:r>
            <a:r>
              <a:rPr lang="en-US" altLang="ko-KR" sz="700" dirty="0">
                <a:latin typeface="Consolas" panose="020B0609020204030204" pitchFamily="49" charset="0"/>
              </a:rPr>
              <a:t>]</a:t>
            </a:r>
            <a:r>
              <a:rPr lang="ko-KR" altLang="en-US" sz="700" dirty="0">
                <a:latin typeface="Consolas" panose="020B0609020204030204" pitchFamily="49" charset="0"/>
              </a:rPr>
              <a:t>으로 확정된 후에 </a:t>
            </a:r>
            <a:r>
              <a:rPr lang="ko-KR" altLang="en-US" sz="700" dirty="0" err="1">
                <a:latin typeface="Consolas" panose="020B0609020204030204" pitchFamily="49" charset="0"/>
              </a:rPr>
              <a:t>재신청</a:t>
            </a:r>
            <a:r>
              <a:rPr lang="ko-KR" altLang="en-US" sz="700" dirty="0">
                <a:latin typeface="Consolas" panose="020B0609020204030204" pitchFamily="49" charset="0"/>
              </a:rPr>
              <a:t> 하셔야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2016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년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11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월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30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일까지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유예기간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는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만료일자와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상관없이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갱신신청이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가능합니다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갱신은 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만료전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90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일부터 가능하며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만료된 건은 삭제 후 추가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solidFill>
                  <a:srgbClr val="FF0000"/>
                </a:solidFill>
                <a:latin typeface="Consolas" panose="020B0609020204030204" pitchFamily="49" charset="0"/>
              </a:rPr>
              <a:t>신규신청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solidFill>
                  <a:srgbClr val="FF0000"/>
                </a:solidFill>
                <a:latin typeface="Consolas" panose="020B0609020204030204" pitchFamily="49" charset="0"/>
              </a:rPr>
              <a:t>해 주시기 바랍니다</a:t>
            </a:r>
            <a:r>
              <a:rPr lang="en-US" altLang="ko-KR" sz="700" dirty="0">
                <a:solidFill>
                  <a:srgbClr val="FF0000"/>
                </a:solidFill>
                <a:latin typeface="Consolas" panose="020B0609020204030204" pitchFamily="49" charset="0"/>
              </a:rPr>
              <a:t>.</a:t>
            </a:r>
            <a:endParaRPr lang="ko-KR" altLang="en-US" sz="700" b="1" dirty="0">
              <a:solidFill>
                <a:srgbClr val="FF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299" name="타원 298"/>
          <p:cNvSpPr/>
          <p:nvPr/>
        </p:nvSpPr>
        <p:spPr>
          <a:xfrm>
            <a:off x="813731" y="1985612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3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모서리가 둥근 직사각형 102"/>
          <p:cNvSpPr/>
          <p:nvPr/>
        </p:nvSpPr>
        <p:spPr>
          <a:xfrm>
            <a:off x="3880034" y="2372951"/>
            <a:ext cx="2543426" cy="2071729"/>
          </a:xfrm>
          <a:prstGeom prst="roundRect">
            <a:avLst>
              <a:gd name="adj" fmla="val 2456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2434770"/>
            <a:ext cx="215431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팩스번호</a:t>
            </a:r>
            <a:r>
              <a:rPr lang="en-US" altLang="ko-KR" sz="700" dirty="0">
                <a:latin typeface="Consolas" panose="020B0609020204030204" pitchFamily="49" charset="0"/>
              </a:rPr>
              <a:t>) 02-773-7587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인</a:t>
            </a:r>
            <a:r>
              <a:rPr lang="en-US" altLang="ko-KR" sz="700" b="1" dirty="0">
                <a:latin typeface="맑은 고딕" panose="020B0503020000020004" pitchFamily="50" charset="-127"/>
              </a:rPr>
              <a:t>,</a:t>
            </a:r>
            <a:r>
              <a:rPr lang="ko-KR" altLang="en-US" sz="700" b="1" dirty="0">
                <a:latin typeface="맑은 고딕" panose="020B0503020000020004" pitchFamily="50" charset="-127"/>
              </a:rPr>
              <a:t>허가증 사본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 </a:t>
            </a:r>
            <a:r>
              <a:rPr lang="en-US" altLang="ko-KR" sz="700" b="1" dirty="0">
                <a:latin typeface="맑은 고딕" panose="020B0503020000020004" pitchFamily="50" charset="-127"/>
              </a:rPr>
              <a:t>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해당 공무원이 </a:t>
            </a:r>
            <a:r>
              <a:rPr lang="ko-KR" altLang="en-US" sz="700" b="1" dirty="0" err="1">
                <a:solidFill>
                  <a:srgbClr val="0070C0"/>
                </a:solidFill>
                <a:latin typeface="맑은 고딕" panose="020B0503020000020004" pitchFamily="50" charset="-127"/>
              </a:rPr>
              <a:t>행정정보공동이용센터</a:t>
            </a:r>
            <a:r>
              <a:rPr lang="en-US" altLang="ko-KR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(www.share.go.kr)</a:t>
            </a:r>
            <a:r>
              <a:rPr lang="ko-KR" altLang="en-US" sz="700" b="1" dirty="0">
                <a:solidFill>
                  <a:srgbClr val="0070C0"/>
                </a:solidFill>
                <a:latin typeface="맑은 고딕" panose="020B0503020000020004" pitchFamily="50" charset="-127"/>
              </a:rPr>
              <a:t>에서 직접 조회가 가능한 업체는 별도 제출 불필요</a:t>
            </a:r>
          </a:p>
        </p:txBody>
      </p:sp>
      <p:sp>
        <p:nvSpPr>
          <p:cNvPr id="105" name="타원 104"/>
          <p:cNvSpPr/>
          <p:nvPr/>
        </p:nvSpPr>
        <p:spPr>
          <a:xfrm>
            <a:off x="3953173" y="243950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6" name="그룹 105"/>
          <p:cNvGrpSpPr/>
          <p:nvPr/>
        </p:nvGrpSpPr>
        <p:grpSpPr>
          <a:xfrm flipV="1">
            <a:off x="6259047" y="2509984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9" name="그룹 108"/>
          <p:cNvGrpSpPr/>
          <p:nvPr/>
        </p:nvGrpSpPr>
        <p:grpSpPr>
          <a:xfrm flipV="1">
            <a:off x="3091512" y="2056090"/>
            <a:ext cx="94010" cy="47005"/>
            <a:chOff x="6812560" y="3297172"/>
            <a:chExt cx="94010" cy="47005"/>
          </a:xfrm>
        </p:grpSpPr>
        <p:cxnSp>
          <p:nvCxnSpPr>
            <p:cNvPr id="110" name="직선 연결선 10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1" name="직선 연결선 11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" name="그룹 6"/>
          <p:cNvGrpSpPr/>
          <p:nvPr/>
        </p:nvGrpSpPr>
        <p:grpSpPr>
          <a:xfrm>
            <a:off x="3888037" y="1899559"/>
            <a:ext cx="2522014" cy="342712"/>
            <a:chOff x="3888037" y="3794514"/>
            <a:chExt cx="2522014" cy="342712"/>
          </a:xfrm>
        </p:grpSpPr>
        <p:sp>
          <p:nvSpPr>
            <p:cNvPr id="11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1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1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16" name="타원 115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1573405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20" name="그룹 119"/>
          <p:cNvGrpSpPr/>
          <p:nvPr/>
        </p:nvGrpSpPr>
        <p:grpSpPr>
          <a:xfrm flipV="1">
            <a:off x="6255634" y="1686736"/>
            <a:ext cx="94010" cy="47005"/>
            <a:chOff x="6812560" y="3297172"/>
            <a:chExt cx="94010" cy="47005"/>
          </a:xfrm>
        </p:grpSpPr>
        <p:cxnSp>
          <p:nvCxnSpPr>
            <p:cNvPr id="143" name="직선 연결선 14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411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16083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7011" y="24553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116413446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158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28252" y="811137"/>
            <a:ext cx="31087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dm_regTrgtItemSearchInfo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022340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28252" y="3183315"/>
            <a:ext cx="22752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담당자정보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dm_picInfo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340175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picEmlAddr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CBA9035-2FE4-43FC-851D-ACB8514226FD}"/>
              </a:ext>
            </a:extLst>
          </p:cNvPr>
          <p:cNvSpPr txBox="1"/>
          <p:nvPr/>
        </p:nvSpPr>
        <p:spPr>
          <a:xfrm>
            <a:off x="428252" y="4481928"/>
            <a:ext cx="364098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대표품류및조합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dm_knditmListAsctGrpList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76D32D8-6D11-9959-CAB9-BEFE1941BB67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4694428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   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bzstatNm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(’11’)/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(‘12’)/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조합및단체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(‘14’)/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벤처용역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(‘17’)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팝업에서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단체명이 자동 입력됨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0C5FB957-A45F-4B4F-2640-D8567226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9AA4D52-15F1-C1B7-19DD-B51414D0715F}"/>
              </a:ext>
            </a:extLst>
          </p:cNvPr>
          <p:cNvSpPr txBox="1"/>
          <p:nvPr/>
        </p:nvSpPr>
        <p:spPr>
          <a:xfrm>
            <a:off x="428252" y="1569936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694037-F3B9-2054-5F07-92A12737A99B}"/>
              </a:ext>
            </a:extLst>
          </p:cNvPr>
          <p:cNvGraphicFramePr>
            <a:graphicFrameLocks noGrp="1"/>
          </p:cNvGraphicFramePr>
          <p:nvPr/>
        </p:nvGraphicFramePr>
        <p:xfrm>
          <a:off x="423134" y="1794312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5655330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78400772-3B60-9124-A735-5290802322DE}"/>
              </a:ext>
            </a:extLst>
          </p:cNvPr>
          <p:cNvSpPr txBox="1"/>
          <p:nvPr/>
        </p:nvSpPr>
        <p:spPr>
          <a:xfrm>
            <a:off x="500368" y="863475"/>
            <a:ext cx="27545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 </a:t>
            </a:r>
            <a:r>
              <a:rPr lang="ko-KR" altLang="en-US" sz="900" b="1" dirty="0">
                <a:solidFill>
                  <a:prstClr val="black"/>
                </a:solidFill>
              </a:rPr>
              <a:t>등록품목명세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dl_regTrgtItemList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3303F721-3421-5776-2FB7-04CBF1253BEC}"/>
              </a:ext>
            </a:extLst>
          </p:cNvPr>
          <p:cNvGraphicFramePr>
            <a:graphicFrameLocks noGrp="1"/>
          </p:cNvGraphicFramePr>
          <p:nvPr/>
        </p:nvGraphicFramePr>
        <p:xfrm>
          <a:off x="500368" y="1091804"/>
          <a:ext cx="883572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20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9569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itemRgstrtSecdNm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(`’1’)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 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(‘3’)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811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itemRgstrtRqmtNm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7273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itemRvwRsltYn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68690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291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rgstrtItemDelYmd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4087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lastChgYmd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갱싱요청일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46162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rcptStts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접수상태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2674162"/>
                  </a:ext>
                </a:extLst>
              </a:tr>
            </a:tbl>
          </a:graphicData>
        </a:graphic>
      </p:graphicFrame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159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2E873DA-3FA4-E42A-8661-789027343A34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91366235-70F1-95B2-0D00-97A6E6460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2594219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슬라이드 번호 개체 틀 2">
            <a:extLst>
              <a:ext uri="{FF2B5EF4-FFF2-40B4-BE49-F238E27FC236}">
                <a16:creationId xmlns:a16="http://schemas.microsoft.com/office/drawing/2014/main" id="{B8A40E36-9474-F1DA-5DF3-B847F71AE8C8}"/>
              </a:ext>
            </a:extLst>
          </p:cNvPr>
          <p:cNvSpPr txBox="1">
            <a:spLocks/>
          </p:cNvSpPr>
          <p:nvPr/>
        </p:nvSpPr>
        <p:spPr>
          <a:xfrm>
            <a:off x="4327200" y="6590501"/>
            <a:ext cx="1258128" cy="2160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DF8E3FD-B4FB-473B-BCAD-C4534B9A9D97}" type="slidenum">
              <a:rPr lang="ko-KR" altLang="en-US" smtClean="0"/>
              <a:pPr/>
              <a:t>160</a:t>
            </a:fld>
            <a:endParaRPr lang="ko-KR" alt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7B819BD-609A-92E3-FF98-CA2AAE2373C2}"/>
              </a:ext>
            </a:extLst>
          </p:cNvPr>
          <p:cNvSpPr txBox="1"/>
          <p:nvPr/>
        </p:nvSpPr>
        <p:spPr>
          <a:xfrm>
            <a:off x="528410" y="61805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E0B8B68-4462-5720-2F41-CE4CD60912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079505"/>
              </p:ext>
            </p:extLst>
          </p:nvPr>
        </p:nvGraphicFramePr>
        <p:xfrm>
          <a:off x="523292" y="854685"/>
          <a:ext cx="8995591" cy="3230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업체일반 정보와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담당자 정보 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담당자정보를 변경한다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승인없이 반영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대표품류</a:t>
                      </a:r>
                      <a:r>
                        <a:rPr lang="ko-KR" altLang="en-US" sz="800" dirty="0"/>
                        <a:t>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scwin.btn_rprsKnditmSrch_onclick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UI-CM-01-P10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조합</a:t>
                      </a:r>
                      <a:r>
                        <a:rPr lang="en-US" altLang="ko-KR" sz="800" dirty="0"/>
                        <a:t>/</a:t>
                      </a:r>
                      <a:r>
                        <a:rPr lang="ko-KR" altLang="en-US" sz="800" dirty="0"/>
                        <a:t>단체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scwin.btn_asctGrpSrch_onclick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품목 코드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등록품목명세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4500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추가를 위한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0605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140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등록품목명세 목록에서 선택한 등록품목명세를 갱신 요청한다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914105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등록품목명세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품목코드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조회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3065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행정정보공동이용 사전동의서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584524"/>
                  </a:ext>
                </a:extLst>
              </a:tr>
            </a:tbl>
          </a:graphicData>
        </a:graphic>
      </p:graphicFrame>
      <p:sp>
        <p:nvSpPr>
          <p:cNvPr id="3" name="Text Box 73">
            <a:extLst>
              <a:ext uri="{FF2B5EF4-FFF2-40B4-BE49-F238E27FC236}">
                <a16:creationId xmlns:a16="http://schemas.microsoft.com/office/drawing/2014/main" id="{D81CD3F1-A5D8-37E1-591B-2AC7425F1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1117" y="73693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6446092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추가 </a:t>
            </a:r>
            <a:r>
              <a:rPr lang="ko-KR" altLang="en-US" dirty="0" smtClean="0"/>
              <a:t>등록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개별 정보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</a:t>
            </a:r>
            <a:r>
              <a:rPr lang="en-US" altLang="ko-KR" dirty="0"/>
              <a:t>: </a:t>
            </a:r>
            <a:r>
              <a:rPr lang="ko-KR" altLang="en-US" dirty="0"/>
              <a:t>입력된 내역을 </a:t>
            </a:r>
            <a:r>
              <a:rPr lang="ko-KR" altLang="en-US" dirty="0" err="1"/>
              <a:t>최초상태로</a:t>
            </a:r>
            <a:r>
              <a:rPr lang="ko-KR" altLang="en-US" dirty="0"/>
              <a:t> 되돌림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신규 추가 </a:t>
            </a:r>
            <a:r>
              <a:rPr lang="en-US" altLang="ko-KR" dirty="0"/>
              <a:t>: </a:t>
            </a:r>
            <a:r>
              <a:rPr lang="ko-KR" altLang="en-US" dirty="0"/>
              <a:t>보안측정인원 등록 </a:t>
            </a:r>
            <a:r>
              <a:rPr lang="ko-KR" altLang="en-US" dirty="0" smtClean="0"/>
              <a:t>팝업 </a:t>
            </a:r>
            <a:r>
              <a:rPr lang="en-US" altLang="ko-KR" dirty="0"/>
              <a:t>MUI-CM-01-P10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삭제 </a:t>
            </a:r>
            <a:r>
              <a:rPr lang="en-US" altLang="ko-KR" dirty="0"/>
              <a:t>: </a:t>
            </a:r>
            <a:r>
              <a:rPr lang="ko-KR" altLang="en-US" dirty="0"/>
              <a:t>선택된 항목 </a:t>
            </a:r>
            <a:r>
              <a:rPr lang="ko-KR" altLang="en-US" dirty="0" smtClean="0"/>
              <a:t>삭제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파일 뷰어 솔루션 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93" name="그룹 192"/>
          <p:cNvGrpSpPr/>
          <p:nvPr/>
        </p:nvGrpSpPr>
        <p:grpSpPr>
          <a:xfrm>
            <a:off x="720490" y="1940035"/>
            <a:ext cx="2630093" cy="1403096"/>
            <a:chOff x="720490" y="4465173"/>
            <a:chExt cx="2630093" cy="1403096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일반정보</a:t>
              </a: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8" name="직선 연결선 20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9" name="직선 연결선 20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4772659"/>
              <a:ext cx="792000" cy="10956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40473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지사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본사 </a:t>
              </a:r>
              <a:r>
                <a:rPr lang="ko-KR" altLang="en-US" sz="700" dirty="0" err="1">
                  <a:latin typeface="+mn-ea"/>
                </a:rPr>
                <a:t>사업자번호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ISO </a:t>
              </a:r>
              <a:r>
                <a:rPr lang="ko-KR" altLang="en-US" sz="700" dirty="0" err="1">
                  <a:latin typeface="+mn-ea"/>
                </a:rPr>
                <a:t>인증여부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영문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4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6499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339879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5" name="타원 214"/>
          <p:cNvSpPr/>
          <p:nvPr/>
        </p:nvSpPr>
        <p:spPr>
          <a:xfrm>
            <a:off x="1597442" y="2756102"/>
            <a:ext cx="90000" cy="9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2348738" y="2756102"/>
            <a:ext cx="90000" cy="90000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4695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여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6466" y="2747241"/>
            <a:ext cx="89768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부</a:t>
            </a:r>
          </a:p>
        </p:txBody>
      </p:sp>
      <p:sp>
        <p:nvSpPr>
          <p:cNvPr id="1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2820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56" name="그룹 155"/>
          <p:cNvGrpSpPr/>
          <p:nvPr/>
        </p:nvGrpSpPr>
        <p:grpSpPr>
          <a:xfrm>
            <a:off x="3138674" y="2339517"/>
            <a:ext cx="94010" cy="47005"/>
            <a:chOff x="6812560" y="3297172"/>
            <a:chExt cx="94010" cy="47005"/>
          </a:xfrm>
        </p:grpSpPr>
        <p:cxnSp>
          <p:nvCxnSpPr>
            <p:cNvPr id="157" name="직선 연결선 15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8" name="직선 연결선 15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6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196224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1383" y="2507595"/>
            <a:ext cx="51060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자리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29309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7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1454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5510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50668" y="2534734"/>
            <a:ext cx="36870" cy="10772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-</a:t>
            </a:r>
            <a:endParaRPr lang="ko-KR" altLang="en-US" sz="700" dirty="0">
              <a:latin typeface="+mn-ea"/>
            </a:endParaRPr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16449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65" name="그룹 264"/>
          <p:cNvGrpSpPr/>
          <p:nvPr/>
        </p:nvGrpSpPr>
        <p:grpSpPr>
          <a:xfrm>
            <a:off x="720490" y="3447830"/>
            <a:ext cx="2630093" cy="2261591"/>
            <a:chOff x="720490" y="2967388"/>
            <a:chExt cx="2630093" cy="2261591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967388"/>
              <a:ext cx="84376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개인 구분</a:t>
              </a:r>
            </a:p>
          </p:txBody>
        </p:sp>
        <p:grpSp>
          <p:nvGrpSpPr>
            <p:cNvPr id="267" name="그룹 266"/>
            <p:cNvGrpSpPr/>
            <p:nvPr/>
          </p:nvGrpSpPr>
          <p:grpSpPr>
            <a:xfrm flipV="1">
              <a:off x="3143548" y="3080719"/>
              <a:ext cx="94010" cy="47005"/>
              <a:chOff x="6812560" y="3297172"/>
              <a:chExt cx="94010" cy="47005"/>
            </a:xfrm>
          </p:grpSpPr>
          <p:cxnSp>
            <p:nvCxnSpPr>
              <p:cNvPr id="286" name="직선 연결선 28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 28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8" name="직사각형 267"/>
            <p:cNvSpPr/>
            <p:nvPr/>
          </p:nvSpPr>
          <p:spPr>
            <a:xfrm>
              <a:off x="722583" y="3274873"/>
              <a:ext cx="792000" cy="19541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2748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6" y="3274873"/>
              <a:ext cx="877795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법인등기목적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사업등록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취급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종목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사업자등록기관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보안측정부대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보안측정일자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보안측정결과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74873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 err="1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 err="1">
                <a:latin typeface="+mn-ea"/>
              </a:endParaRPr>
            </a:p>
          </p:txBody>
        </p: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059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196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4" name="직선 연결선 2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333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358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6" name="직선 연결선 2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5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8" name="직선 연결선 2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736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8733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2" name="직선 연결선 2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9897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2897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6527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1" name="그룹 290"/>
          <p:cNvGrpSpPr/>
          <p:nvPr/>
        </p:nvGrpSpPr>
        <p:grpSpPr>
          <a:xfrm>
            <a:off x="3138674" y="4710211"/>
            <a:ext cx="94010" cy="47005"/>
            <a:chOff x="6812560" y="3297172"/>
            <a:chExt cx="94010" cy="47005"/>
          </a:xfrm>
        </p:grpSpPr>
        <p:cxnSp>
          <p:nvCxnSpPr>
            <p:cNvPr id="292" name="직선 연결선 2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3" name="직선 연결선 2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5067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5" name="그룹 294"/>
          <p:cNvGrpSpPr/>
          <p:nvPr/>
        </p:nvGrpSpPr>
        <p:grpSpPr>
          <a:xfrm>
            <a:off x="3138674" y="5564290"/>
            <a:ext cx="94010" cy="47005"/>
            <a:chOff x="6812560" y="3297172"/>
            <a:chExt cx="94010" cy="47005"/>
          </a:xfrm>
        </p:grpSpPr>
        <p:cxnSp>
          <p:nvCxnSpPr>
            <p:cNvPr id="296" name="직선 연결선 29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7" name="직선 연결선 29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3791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9" name="모서리가 둥근 직사각형 298"/>
          <p:cNvSpPr/>
          <p:nvPr/>
        </p:nvSpPr>
        <p:spPr>
          <a:xfrm>
            <a:off x="1558562" y="3503354"/>
            <a:ext cx="920382" cy="149124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 w="1270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300" name="모서리가 둥근 직사각형 299"/>
          <p:cNvSpPr/>
          <p:nvPr/>
        </p:nvSpPr>
        <p:spPr>
          <a:xfrm>
            <a:off x="1558563" y="3503354"/>
            <a:ext cx="462756" cy="149124"/>
          </a:xfrm>
          <a:prstGeom prst="roundRect">
            <a:avLst>
              <a:gd name="adj" fmla="val 50000"/>
            </a:avLst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800" kern="0">
              <a:solidFill>
                <a:prstClr val="white"/>
              </a:solidFill>
              <a:latin typeface="맑은 고딕"/>
            </a:endParaRP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94333" y="3529894"/>
            <a:ext cx="38880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법인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57089" y="3529894"/>
            <a:ext cx="36318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개인</a:t>
            </a:r>
          </a:p>
        </p:txBody>
      </p:sp>
      <p:sp>
        <p:nvSpPr>
          <p:cNvPr id="3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22618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4359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8622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0795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40152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065" y="52892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</a:rPr>
              <a:t>dd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pic>
        <p:nvPicPr>
          <p:cNvPr id="309" name="그림 3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4027628"/>
            <a:ext cx="134873" cy="137278"/>
          </a:xfrm>
          <a:prstGeom prst="rect">
            <a:avLst/>
          </a:prstGeom>
        </p:spPr>
      </p:pic>
      <p:pic>
        <p:nvPicPr>
          <p:cNvPr id="310" name="그림 30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7010" y="5301615"/>
            <a:ext cx="134873" cy="137278"/>
          </a:xfrm>
          <a:prstGeom prst="rect">
            <a:avLst/>
          </a:prstGeom>
        </p:spPr>
      </p:pic>
      <p:sp>
        <p:nvSpPr>
          <p:cNvPr id="313" name="TextBox 3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1" y="1596718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314" name="그룹 313"/>
          <p:cNvGrpSpPr/>
          <p:nvPr/>
        </p:nvGrpSpPr>
        <p:grpSpPr>
          <a:xfrm flipV="1">
            <a:off x="6259758" y="1710049"/>
            <a:ext cx="94010" cy="47005"/>
            <a:chOff x="6812560" y="3297172"/>
            <a:chExt cx="94010" cy="47005"/>
          </a:xfrm>
        </p:grpSpPr>
        <p:cxnSp>
          <p:nvCxnSpPr>
            <p:cNvPr id="315" name="직선 연결선 31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6" name="직선 연결선 31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7" name="직선 연결선 3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3" y="19042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" name="그룹 21"/>
          <p:cNvGrpSpPr/>
          <p:nvPr/>
        </p:nvGrpSpPr>
        <p:grpSpPr>
          <a:xfrm>
            <a:off x="3836700" y="2038216"/>
            <a:ext cx="2630093" cy="1391691"/>
            <a:chOff x="3836700" y="3066437"/>
            <a:chExt cx="2630093" cy="1391691"/>
          </a:xfrm>
        </p:grpSpPr>
        <p:sp>
          <p:nvSpPr>
            <p:cNvPr id="331" name="직사각형 330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32" name="직선 연결선 3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335" name="직선 연결선 3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6" name="직선 연결선 3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7" name="직선 연결선 3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418835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선택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grpSp>
          <p:nvGrpSpPr>
            <p:cNvPr id="21" name="그룹 20"/>
            <p:cNvGrpSpPr/>
            <p:nvPr/>
          </p:nvGrpSpPr>
          <p:grpSpPr>
            <a:xfrm>
              <a:off x="3844006" y="3066437"/>
              <a:ext cx="2610413" cy="162000"/>
              <a:chOff x="3844007" y="3066437"/>
              <a:chExt cx="1044904" cy="162000"/>
            </a:xfrm>
          </p:grpSpPr>
          <p:sp>
            <p:nvSpPr>
              <p:cNvPr id="343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3844007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신규 추가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344" name="사각형: 둥근 모서리 15">
                <a:extLst>
                  <a:ext uri="{FF2B5EF4-FFF2-40B4-BE49-F238E27FC236}">
                    <a16:creationId xmlns:a16="http://schemas.microsoft.com/office/drawing/2014/main" id="{E2B61CFB-AD16-68D0-8752-50D9C5E01971}"/>
                  </a:ext>
                </a:extLst>
              </p:cNvPr>
              <p:cNvSpPr/>
              <p:nvPr/>
            </p:nvSpPr>
            <p:spPr>
              <a:xfrm>
                <a:off x="4394564" y="3066437"/>
                <a:ext cx="494347" cy="162000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rPr>
                  <a:t>선택 삭제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</p:grpSp>
        <p:sp>
          <p:nvSpPr>
            <p:cNvPr id="35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260168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75370" y="166009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초기화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723300"/>
            <a:ext cx="76863" cy="292489"/>
            <a:chOff x="3750067" y="4683795"/>
            <a:chExt cx="76863" cy="292489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5" name="타원 3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66" name="타원 3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6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3928441" y="5925428"/>
            <a:ext cx="2446613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29" name="그룹 12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0" name="직사각형 12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1" name="직사각형 13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3297" y="616405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2232" y="5821046"/>
            <a:ext cx="2619751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 품목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취급업체는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부대명란에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“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보안측정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 비대상”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rgbClr val="0070C0"/>
                </a:solidFill>
                <a:latin typeface="+mn-ea"/>
              </a:rPr>
              <a:t>측정일자란은 “입력당일일자” 로 입력해 </a:t>
            </a:r>
            <a:r>
              <a:rPr lang="ko-KR" altLang="en-US" sz="700" dirty="0" err="1">
                <a:solidFill>
                  <a:srgbClr val="0070C0"/>
                </a:solidFill>
                <a:latin typeface="+mn-ea"/>
              </a:rPr>
              <a:t>주십시요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.</a:t>
            </a:r>
            <a:endParaRPr lang="ko-KR" altLang="en-US" sz="700" dirty="0">
              <a:solidFill>
                <a:srgbClr val="0070C0"/>
              </a:solidFill>
              <a:latin typeface="+mn-ea"/>
            </a:endParaRPr>
          </a:p>
        </p:txBody>
      </p:sp>
      <p:grpSp>
        <p:nvGrpSpPr>
          <p:cNvPr id="128" name="그룹 127"/>
          <p:cNvGrpSpPr/>
          <p:nvPr/>
        </p:nvGrpSpPr>
        <p:grpSpPr>
          <a:xfrm>
            <a:off x="8223250" y="906154"/>
            <a:ext cx="3365500" cy="634511"/>
            <a:chOff x="8223250" y="569392"/>
            <a:chExt cx="3365500" cy="634511"/>
          </a:xfrm>
        </p:grpSpPr>
        <p:sp>
          <p:nvSpPr>
            <p:cNvPr id="132" name="직사각형 13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35" name="직사각형 13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92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987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4498" y="32151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76343217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 smtClean="0"/>
              <a:t>FSC </a:t>
            </a:r>
            <a:r>
              <a:rPr lang="ko-KR" altLang="en-US" dirty="0" smtClean="0"/>
              <a:t>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MUI-CM-01-P11</a:t>
            </a:r>
            <a:br>
              <a:rPr lang="en-US" altLang="ko-KR" dirty="0" smtClean="0"/>
            </a:br>
            <a:r>
              <a:rPr lang="ko-KR" altLang="en-US" dirty="0" smtClean="0"/>
              <a:t>선택 삭제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하단 목록 선택 사항 삭제 확인 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선택 없이 선택 삭제 버튼 클릭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선택 항목이 없습니다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주거래은행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MUI-CM-01-P12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세부 팝업 없음</a:t>
            </a:r>
            <a:r>
              <a:rPr lang="en-US" altLang="ko-KR" dirty="0" smtClean="0"/>
              <a:t>. 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동의 체크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업체정보 추가 등록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국내소재상사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업체정보관리</a:t>
            </a:r>
            <a:r>
              <a:rPr lang="en-US" altLang="ko-KR" dirty="0">
                <a:latin typeface="+mn-ea"/>
              </a:rPr>
              <a:t> &gt; </a:t>
            </a:r>
            <a:r>
              <a:rPr lang="ko-KR" altLang="en-US" dirty="0">
                <a:latin typeface="+mn-ea"/>
              </a:rPr>
              <a:t>업체정보 추가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MUI-CM-01-M23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업체정보 추가 등록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1934886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07" name="그룹 106"/>
          <p:cNvGrpSpPr/>
          <p:nvPr/>
        </p:nvGrpSpPr>
        <p:grpSpPr>
          <a:xfrm flipV="1">
            <a:off x="3143548" y="2048217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>
            <a:off x="722583" y="2698005"/>
            <a:ext cx="792000" cy="6488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9800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9647" y="2698005"/>
            <a:ext cx="715881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순번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FSC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6495" y="2698005"/>
            <a:ext cx="178408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테스트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29291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1428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2583" y="334683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397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6618" y="1583764"/>
            <a:ext cx="84376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영업정보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195" name="그룹 194"/>
          <p:cNvGrpSpPr/>
          <p:nvPr/>
        </p:nvGrpSpPr>
        <p:grpSpPr>
          <a:xfrm flipV="1">
            <a:off x="6258705" y="1697095"/>
            <a:ext cx="94010" cy="47005"/>
            <a:chOff x="6812560" y="3297172"/>
            <a:chExt cx="94010" cy="47005"/>
          </a:xfrm>
        </p:grpSpPr>
        <p:cxnSp>
          <p:nvCxnSpPr>
            <p:cNvPr id="208" name="직선 연결선 2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9" name="직선 연결선 2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6" name="직사각형 195"/>
          <p:cNvSpPr/>
          <p:nvPr/>
        </p:nvSpPr>
        <p:spPr>
          <a:xfrm>
            <a:off x="3837740" y="1891249"/>
            <a:ext cx="792000" cy="15398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5647" y="189124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8" name="TextBox 1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04" y="1891249"/>
            <a:ext cx="715881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연간매출액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자산규모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여신한도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주거래은행 </a:t>
            </a:r>
            <a:r>
              <a:rPr lang="en-US" altLang="ko-KR" sz="700" dirty="0">
                <a:solidFill>
                  <a:srgbClr val="FF0000"/>
                </a:solidFill>
                <a:latin typeface="+mn-ea"/>
              </a:rPr>
              <a:t>*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군납최초참여일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거래기간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Dun’s Number</a:t>
            </a: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1223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336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54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75976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4" name="직선 연결선 2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29835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191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0" y="34152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73896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7367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56236" y="2737644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27795" y="2385246"/>
            <a:ext cx="126518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신규 추가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067062" y="2385246"/>
            <a:ext cx="12711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 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20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3997149"/>
            <a:ext cx="76863" cy="292489"/>
            <a:chOff x="3750067" y="4683795"/>
            <a:chExt cx="76863" cy="292489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192215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119141" y="1891249"/>
            <a:ext cx="1233574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1382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367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228815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은행</a:t>
            </a:r>
            <a:endParaRPr lang="en-US" altLang="ko-KR" sz="700" dirty="0">
              <a:latin typeface="+mn-ea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127133" y="2600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지점</a:t>
            </a:r>
            <a:endParaRPr lang="en-US" altLang="ko-KR" sz="700" dirty="0">
              <a:latin typeface="+mn-ea"/>
            </a:endParaRPr>
          </a:p>
        </p:txBody>
      </p:sp>
      <p:sp>
        <p:nvSpPr>
          <p:cNvPr id="7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575654" y="2574967"/>
            <a:ext cx="662960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68570" y="27882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2800568"/>
            <a:ext cx="134873" cy="137278"/>
          </a:xfrm>
          <a:prstGeom prst="rect">
            <a:avLst/>
          </a:prstGeom>
        </p:spPr>
      </p:pic>
      <p:sp>
        <p:nvSpPr>
          <p:cNvPr id="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643563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3" name="그림 8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54515" y="3015378"/>
            <a:ext cx="134873" cy="137278"/>
          </a:xfrm>
          <a:prstGeom prst="rect">
            <a:avLst/>
          </a:prstGeom>
        </p:spPr>
      </p:pic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00539" y="3021907"/>
            <a:ext cx="32439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~</a:t>
            </a:r>
          </a:p>
        </p:txBody>
      </p:sp>
      <p:sp>
        <p:nvSpPr>
          <p:cNvPr id="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0612" y="32247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8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1746" y="3003017"/>
            <a:ext cx="80592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89" name="그림 8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82698" y="3015378"/>
            <a:ext cx="134873" cy="137278"/>
          </a:xfrm>
          <a:prstGeom prst="rect">
            <a:avLst/>
          </a:prstGeom>
        </p:spPr>
      </p:pic>
      <p:sp>
        <p:nvSpPr>
          <p:cNvPr id="90" name="모서리가 둥근 직사각형 89"/>
          <p:cNvSpPr/>
          <p:nvPr/>
        </p:nvSpPr>
        <p:spPr>
          <a:xfrm>
            <a:off x="3880034" y="4335828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3114" y="4397647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err="1">
                <a:latin typeface="Consolas" panose="020B0609020204030204" pitchFamily="49" charset="0"/>
              </a:rPr>
              <a:t>내자업체</a:t>
            </a:r>
            <a:r>
              <a:rPr lang="ko-KR" altLang="en-US" sz="700" b="1" dirty="0">
                <a:latin typeface="Consolas" panose="020B0609020204030204" pitchFamily="49" charset="0"/>
              </a:rPr>
              <a:t> 제출서류 안내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전화</a:t>
            </a:r>
            <a:r>
              <a:rPr lang="en-US" altLang="ko-KR" sz="700" dirty="0">
                <a:latin typeface="Consolas" panose="020B0609020204030204" pitchFamily="49" charset="0"/>
              </a:rPr>
              <a:t>) 02-2079-6915,6925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Consolas" panose="020B0609020204030204" pitchFamily="49" charset="0"/>
            </a:endParaRPr>
          </a:p>
          <a:p>
            <a:pPr marL="179388" indent="-179388">
              <a:lnSpc>
                <a:spcPct val="150000"/>
              </a:lnSpc>
              <a:buFont typeface="+mj-lt"/>
              <a:buAutoNum type="arabicPeriod"/>
            </a:pPr>
            <a:r>
              <a:rPr lang="ko-KR" altLang="en-US" sz="700" b="1" dirty="0">
                <a:latin typeface="Consolas" panose="020B0609020204030204" pitchFamily="49" charset="0"/>
              </a:rPr>
              <a:t>공장등록증명서 또는 사업자등록증명원 조회 동의여부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동의여부에 체크하지 않는 경우 오프라인으로 서류를 제출하셔야 합니다</a:t>
            </a:r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</a:rPr>
              <a:t>.</a:t>
            </a:r>
          </a:p>
          <a:p>
            <a:pPr marL="179388" indent="-179388">
              <a:lnSpc>
                <a:spcPct val="150000"/>
              </a:lnSpc>
              <a:buFont typeface="+mj-lt"/>
              <a:buAutoNum type="arabicPeriod" startAt="2"/>
            </a:pPr>
            <a:r>
              <a:rPr lang="ko-KR" altLang="en-US" sz="700" b="1" dirty="0">
                <a:latin typeface="맑은 고딕" panose="020B0503020000020004" pitchFamily="50" charset="-127"/>
              </a:rPr>
              <a:t>보안측정결과서 </a:t>
            </a:r>
            <a:r>
              <a:rPr lang="en-US" altLang="ko-KR" sz="700" b="1" dirty="0">
                <a:latin typeface="맑은 고딕" panose="020B0503020000020004" pitchFamily="50" charset="-127"/>
              </a:rPr>
              <a:t>- 1</a:t>
            </a:r>
            <a:r>
              <a:rPr lang="ko-KR" altLang="en-US" sz="700" b="1" dirty="0">
                <a:latin typeface="맑은 고딕" panose="020B0503020000020004" pitchFamily="50" charset="-127"/>
              </a:rPr>
              <a:t>부</a:t>
            </a:r>
            <a:r>
              <a:rPr lang="en-US" altLang="ko-KR" sz="700" b="1" dirty="0">
                <a:latin typeface="맑은 고딕" panose="020B0503020000020004" pitchFamily="50" charset="-127"/>
              </a:rPr>
              <a:t> (</a:t>
            </a:r>
            <a:r>
              <a:rPr lang="ko-KR" altLang="en-US" sz="700" b="1" dirty="0">
                <a:latin typeface="맑은 고딕" panose="020B0503020000020004" pitchFamily="50" charset="-127"/>
              </a:rPr>
              <a:t>해당품목 제출</a:t>
            </a:r>
            <a:r>
              <a:rPr lang="en-US" altLang="ko-KR" sz="700" b="1" dirty="0">
                <a:latin typeface="맑은 고딕" panose="020B0503020000020004" pitchFamily="50" charset="-127"/>
              </a:rPr>
              <a:t>)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2" name="타원 91"/>
          <p:cNvSpPr/>
          <p:nvPr/>
        </p:nvSpPr>
        <p:spPr>
          <a:xfrm>
            <a:off x="3953173" y="4402383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3" name="그룹 92"/>
          <p:cNvGrpSpPr/>
          <p:nvPr/>
        </p:nvGrpSpPr>
        <p:grpSpPr>
          <a:xfrm flipV="1">
            <a:off x="6259047" y="4472861"/>
            <a:ext cx="94010" cy="47005"/>
            <a:chOff x="6812560" y="3297172"/>
            <a:chExt cx="94010" cy="47005"/>
          </a:xfrm>
        </p:grpSpPr>
        <p:cxnSp>
          <p:nvCxnSpPr>
            <p:cNvPr id="94" name="직선 연결선 9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5" name="직선 연결선 9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6" name="그룹 95"/>
          <p:cNvGrpSpPr/>
          <p:nvPr/>
        </p:nvGrpSpPr>
        <p:grpSpPr>
          <a:xfrm>
            <a:off x="3888037" y="3862436"/>
            <a:ext cx="2522014" cy="342712"/>
            <a:chOff x="3888037" y="3794514"/>
            <a:chExt cx="2522014" cy="342712"/>
          </a:xfrm>
        </p:grpSpPr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9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99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842760"/>
              <a:ext cx="1304844" cy="24622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공장등록증명서 또는</a:t>
              </a:r>
              <a:endParaRPr lang="en-US" altLang="ko-KR" sz="800" dirty="0">
                <a:latin typeface="맑은 고딕" panose="020B0503020000020004" pitchFamily="50" charset="-127"/>
              </a:endParaRPr>
            </a:p>
            <a:p>
              <a:r>
                <a:rPr lang="ko-KR" altLang="en-US" sz="800" dirty="0">
                  <a:latin typeface="맑은 고딕" panose="020B0503020000020004" pitchFamily="50" charset="-127"/>
                </a:rPr>
                <a:t>사업자등록증명원 조회 동의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00" name="모서리가 둥근 직사각형 99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101" name="타원 100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3546" y="3536282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103" name="그룹 102"/>
          <p:cNvGrpSpPr/>
          <p:nvPr/>
        </p:nvGrpSpPr>
        <p:grpSpPr>
          <a:xfrm flipV="1">
            <a:off x="6255634" y="3649613"/>
            <a:ext cx="94010" cy="47005"/>
            <a:chOff x="6812560" y="3297172"/>
            <a:chExt cx="94010" cy="47005"/>
          </a:xfrm>
        </p:grpSpPr>
        <p:cxnSp>
          <p:nvCxnSpPr>
            <p:cNvPr id="111" name="직선 연결선 1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2" name="직선 연결선 1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7" name="그룹 11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21" name="타원 120"/>
          <p:cNvSpPr/>
          <p:nvPr/>
        </p:nvSpPr>
        <p:spPr>
          <a:xfrm>
            <a:off x="5169760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6076492" y="2592967"/>
            <a:ext cx="126000" cy="126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3" name="그룹 12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24" name="직사각형 12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2026-06-19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5" name="직사각형 12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탭 제거</a:t>
              </a:r>
              <a:endParaRPr lang="ko-KR" altLang="en-US" sz="700" dirty="0"/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759" y="25775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759" y="392884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11859337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5794" y="2450608"/>
            <a:ext cx="312001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법인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개인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dm_bzentyDmstLctnColInfo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8353" y="2689347"/>
          <a:ext cx="8994883" cy="2376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corpYn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(‘1’)/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82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rgRegPrpsNm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법인등기목적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hndlItemNm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취급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(’20’)/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무역대리점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(‘23’)/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운송업체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(‘25’)/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보험업체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(‘26’)/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신용장개설은행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(‘27’)/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국내제작업체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(‘28’)/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공급업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(‘29’)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scrtyMsrmtDeptNm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보안측정부대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scrtyMsrmtYmd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noProof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kern="1200" noProof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scrtyMsrmtRslt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보안측정결과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(‘N’)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8117" y="5068054"/>
            <a:ext cx="301581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724917"/>
              </p:ext>
            </p:extLst>
          </p:nvPr>
        </p:nvGraphicFramePr>
        <p:xfrm>
          <a:off x="458117" y="52810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051595A2-D8F5-2926-33B2-CCF0EB248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8059D74-D4EA-34F7-19AD-4EB41F2EAAB7}"/>
              </a:ext>
            </a:extLst>
          </p:cNvPr>
          <p:cNvSpPr txBox="1"/>
          <p:nvPr/>
        </p:nvSpPr>
        <p:spPr>
          <a:xfrm>
            <a:off x="465794" y="891621"/>
            <a:ext cx="260063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dm_bzentyGnrlInfo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56179DD-A3CE-1CE4-4FC8-371172AF62A7}"/>
              </a:ext>
            </a:extLst>
          </p:cNvPr>
          <p:cNvGraphicFramePr>
            <a:graphicFrameLocks noGrp="1"/>
          </p:cNvGraphicFramePr>
          <p:nvPr/>
        </p:nvGraphicFramePr>
        <p:xfrm>
          <a:off x="460676" y="1115997"/>
          <a:ext cx="8994883" cy="1285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bplcSeNm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지사코드로 본사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대리점 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hdofcBrno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본사 사업자번호 압력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8051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isoCertYn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ISO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인증여부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13505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rprsvEngNm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380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bzentyEngAddr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9398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725971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5559" y="771706"/>
            <a:ext cx="17847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FSC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dl_fscList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98538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75A1E6DD-0E0E-2CF0-D8EA-229A368A69E5}"/>
              </a:ext>
            </a:extLst>
          </p:cNvPr>
          <p:cNvSpPr txBox="1"/>
          <p:nvPr/>
        </p:nvSpPr>
        <p:spPr>
          <a:xfrm>
            <a:off x="455558" y="1750511"/>
            <a:ext cx="258300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>
                <a:solidFill>
                  <a:prstClr val="black"/>
                </a:solidFill>
              </a:rPr>
              <a:t>영업정보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dm_bzentySalsInfo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B06246B-78E5-9F4F-A0D1-AB612259FD85}"/>
              </a:ext>
            </a:extLst>
          </p:cNvPr>
          <p:cNvGraphicFramePr>
            <a:graphicFrameLocks noGrp="1"/>
          </p:cNvGraphicFramePr>
          <p:nvPr/>
        </p:nvGraphicFramePr>
        <p:xfrm>
          <a:off x="455559" y="196171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anlSlsAmt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연간매출액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자산규모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crlnLimAmt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여신한도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3513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7442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fnstBrnchNm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지점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054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frstSgsmilPtcpYmd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군납최초참여일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0390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3794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dlngPrdEndYmd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거래기간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8582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crdtExmnRegNo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Dun`s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Numer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691097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1AA11892-67D6-D975-F687-EACF685C8120}"/>
              </a:ext>
            </a:extLst>
          </p:cNvPr>
          <p:cNvSpPr txBox="1"/>
          <p:nvPr/>
        </p:nvSpPr>
        <p:spPr>
          <a:xfrm>
            <a:off x="458117" y="572956"/>
            <a:ext cx="1124273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(2/2)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91763952-0038-ACB5-0038-6E291733E5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164</a:t>
            </a:fld>
            <a:endParaRPr lang="ko-KR" altLang="en-US" dirty="0"/>
          </a:p>
        </p:txBody>
      </p:sp>
      <p:sp>
        <p:nvSpPr>
          <p:cNvPr id="3" name="Text Box 73">
            <a:extLst>
              <a:ext uri="{FF2B5EF4-FFF2-40B4-BE49-F238E27FC236}">
                <a16:creationId xmlns:a16="http://schemas.microsoft.com/office/drawing/2014/main" id="{1F6010CD-0871-4D71-9A54-5EAEF62D33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3639113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8A3ED33-EB3B-311D-F1BA-9C062ED6DA05}"/>
              </a:ext>
            </a:extLst>
          </p:cNvPr>
          <p:cNvSpPr txBox="1"/>
          <p:nvPr/>
        </p:nvSpPr>
        <p:spPr>
          <a:xfrm>
            <a:off x="455204" y="67327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D31076B-307A-A070-51E8-7DCC5611D928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09064"/>
          <a:ext cx="8995591" cy="2210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등록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UI-CM-01-P16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보안측정인원 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scwin.btn_scrtyMsrmtPrsnlDel_onclick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보안측정인원 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추가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scwin.btn_fscAdd_onclick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UI-CM-01-P17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81879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FSC </a:t>
                      </a:r>
                      <a:r>
                        <a:rPr lang="ko-KR" altLang="en-US" sz="800" dirty="0"/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scwin.btn_fscDel_onclick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목록에서 선택된 열을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주거래은행 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검색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UI-CM-01-P18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111866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국내소재상사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395363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720F39F-F732-38C9-13B7-2F90D5426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7921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" name="슬라이드 번호 개체 틀 2">
            <a:extLst>
              <a:ext uri="{FF2B5EF4-FFF2-40B4-BE49-F238E27FC236}">
                <a16:creationId xmlns:a16="http://schemas.microsoft.com/office/drawing/2014/main" id="{798056B3-B053-7055-7C75-1972FFCEB2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90501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165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76393073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품류선택</a:t>
            </a:r>
            <a:r>
              <a:rPr lang="ko-KR" altLang="en-US" dirty="0" err="1"/>
              <a:t>을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품류선택</a:t>
            </a:r>
            <a:endParaRPr lang="ko-KR" altLang="en-US" dirty="0"/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MUI-CM-01-P06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tx1"/>
                </a:solidFill>
              </a:rPr>
              <a:t>품류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품류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품류명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품류명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품류코드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05772618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6" y="811812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1023015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39406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품류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3780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66303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78688"/>
              </p:ext>
            </p:extLst>
          </p:nvPr>
        </p:nvGraphicFramePr>
        <p:xfrm>
          <a:off x="455558" y="2899666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scwin.btn_knditmSrch_onclick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2" name="Text Box 73">
            <a:extLst>
              <a:ext uri="{FF2B5EF4-FFF2-40B4-BE49-F238E27FC236}">
                <a16:creationId xmlns:a16="http://schemas.microsoft.com/office/drawing/2014/main" id="{D4162E81-8A34-0A70-B464-DE534D08C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7839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D878C8DF-CE95-0969-EF4C-146F0D109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4017351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</a:t>
            </a:r>
            <a:r>
              <a:rPr lang="ko-KR" altLang="en-US" dirty="0"/>
              <a:t>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조합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단체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MUI-CM-01-P07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조합</a:t>
            </a:r>
            <a:r>
              <a:rPr lang="en-US" altLang="ko-KR" sz="900" dirty="0">
                <a:latin typeface="+mn-ea"/>
              </a:rPr>
              <a:t>/</a:t>
            </a:r>
            <a:r>
              <a:rPr lang="ko-KR" altLang="en-US" sz="900" dirty="0">
                <a:latin typeface="+mn-ea"/>
              </a:rPr>
              <a:t>단체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단체명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단체명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단체 </a:t>
            </a:r>
            <a:r>
              <a:rPr lang="ko-KR" altLang="en-US" sz="700" dirty="0" smtClean="0">
                <a:latin typeface="+mn-ea"/>
              </a:rPr>
              <a:t>명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조합코드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11740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11140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11170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11215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05297923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169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24637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입력 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8117" y="1621594"/>
            <a:ext cx="225439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조합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단체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4003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asctGrdCdNm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08621A12-99E3-9DA9-DCAD-2536B3F37656}"/>
              </a:ext>
            </a:extLst>
          </p:cNvPr>
          <p:cNvSpPr txBox="1"/>
          <p:nvPr/>
        </p:nvSpPr>
        <p:spPr>
          <a:xfrm>
            <a:off x="460676" y="259178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882D9C75-A45A-D84C-EEDE-5152CE71892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2841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scwin.btn_asctGrdSrch_onclick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7A9D0A13-E633-48CC-1B27-7E5B35798E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308" y="271226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 Box 73">
            <a:extLst>
              <a:ext uri="{FF2B5EF4-FFF2-40B4-BE49-F238E27FC236}">
                <a16:creationId xmlns:a16="http://schemas.microsoft.com/office/drawing/2014/main" id="{17EF71F0-EA5E-971E-1F0F-9270878CE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8765328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품류</a:t>
            </a:r>
            <a:r>
              <a:rPr lang="en-US" altLang="ko-KR" dirty="0"/>
              <a:t>, </a:t>
            </a:r>
            <a:r>
              <a:rPr lang="ko-KR" altLang="en-US" dirty="0"/>
              <a:t>품명</a:t>
            </a:r>
            <a:r>
              <a:rPr lang="en-US" altLang="ko-KR" dirty="0"/>
              <a:t>, </a:t>
            </a:r>
            <a:r>
              <a:rPr lang="ko-KR" altLang="en-US" dirty="0" err="1"/>
              <a:t>업종코드</a:t>
            </a:r>
            <a:r>
              <a:rPr lang="ko-KR" altLang="en-US" dirty="0"/>
              <a:t> 조건 설정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 err="1">
                <a:solidFill>
                  <a:srgbClr val="FF0000"/>
                </a:solidFill>
              </a:rPr>
              <a:t>품류의</a:t>
            </a:r>
            <a:r>
              <a:rPr lang="ko-KR" altLang="en-US" dirty="0">
                <a:solidFill>
                  <a:srgbClr val="FF0000"/>
                </a:solidFill>
              </a:rPr>
              <a:t> 경우 </a:t>
            </a:r>
            <a:r>
              <a:rPr lang="ko-KR" altLang="en-US" dirty="0" err="1">
                <a:solidFill>
                  <a:srgbClr val="FF0000"/>
                </a:solidFill>
              </a:rPr>
              <a:t>드롭다운</a:t>
            </a:r>
            <a:r>
              <a:rPr lang="ko-KR" altLang="en-US" dirty="0">
                <a:solidFill>
                  <a:srgbClr val="FF0000"/>
                </a:solidFill>
              </a:rPr>
              <a:t> 선택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품명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업종코드는</a:t>
            </a:r>
            <a:r>
              <a:rPr lang="ko-KR" altLang="en-US" dirty="0">
                <a:solidFill>
                  <a:srgbClr val="FF0000"/>
                </a:solidFill>
              </a:rPr>
              <a:t> 입력 검색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적용하기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표시개수</a:t>
            </a:r>
            <a:r>
              <a:rPr lang="ko-KR" altLang="en-US" dirty="0"/>
              <a:t> 이후 </a:t>
            </a:r>
            <a:r>
              <a:rPr lang="ko-KR" altLang="en-US" dirty="0" err="1"/>
              <a:t>더보기</a:t>
            </a:r>
            <a:r>
              <a:rPr lang="ko-KR" altLang="en-US" dirty="0"/>
              <a:t> 버튼으로 추가 로드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등록대상 품목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등록대상 품목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검색어를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 입력해주세요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등록대상 품목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검색조건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7892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78771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품류를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선택해주세요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708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검색어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1440240" y="3607819"/>
            <a:ext cx="1849475" cy="162000"/>
            <a:chOff x="1440240" y="3697863"/>
            <a:chExt cx="3983148" cy="162000"/>
          </a:xfrm>
        </p:grpSpPr>
        <p:sp>
          <p:nvSpPr>
            <p:cNvPr id="11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40240" y="3697863"/>
              <a:ext cx="1234994" cy="162000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</a:rPr>
                <a:t>품류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815659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품명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1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188394" y="3697863"/>
              <a:ext cx="1234994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업종코드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0" name="그룹 119"/>
          <p:cNvGrpSpPr/>
          <p:nvPr/>
        </p:nvGrpSpPr>
        <p:grpSpPr>
          <a:xfrm>
            <a:off x="3086905" y="3975898"/>
            <a:ext cx="94010" cy="47005"/>
            <a:chOff x="6812560" y="3297172"/>
            <a:chExt cx="94010" cy="47005"/>
          </a:xfrm>
        </p:grpSpPr>
        <p:cxnSp>
          <p:nvCxnSpPr>
            <p:cNvPr id="121" name="직선 연결선 1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23" name="그룹 122"/>
          <p:cNvGrpSpPr/>
          <p:nvPr/>
        </p:nvGrpSpPr>
        <p:grpSpPr>
          <a:xfrm>
            <a:off x="3836700" y="4599552"/>
            <a:ext cx="2630093" cy="1543815"/>
            <a:chOff x="3836700" y="3380909"/>
            <a:chExt cx="2630093" cy="1543815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순번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삭제여부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품목코드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품명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품류코드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등록요건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N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1234567890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05 </a:t>
              </a:r>
              <a:r>
                <a:rPr lang="ko-KR" altLang="en-US" sz="700" dirty="0">
                  <a:latin typeface="+mn-ea"/>
                </a:rPr>
                <a:t>피복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해당업종</a:t>
              </a:r>
              <a:r>
                <a:rPr lang="ko-KR" altLang="en-US" sz="700" dirty="0">
                  <a:latin typeface="+mn-ea"/>
                </a:rPr>
                <a:t> 사업자 </a:t>
              </a:r>
              <a:r>
                <a:rPr lang="en-US" altLang="ko-KR" sz="700" dirty="0">
                  <a:latin typeface="+mn-ea"/>
                </a:rPr>
                <a:t>/ </a:t>
              </a:r>
              <a:r>
                <a:rPr lang="ko-KR" altLang="en-US" sz="700" dirty="0" err="1">
                  <a:latin typeface="+mn-ea"/>
                </a:rPr>
                <a:t>공장등록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6617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3860986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상세보기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4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36700" y="4706456"/>
              <a:ext cx="2630093" cy="16200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적용하기 </a:t>
              </a:r>
              <a:r>
                <a:rPr kumimoji="1" lang="en-US" altLang="ko-KR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</a:rPr>
                <a:t>&gt;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9247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35444" y="6172490"/>
            <a:ext cx="76863" cy="292489"/>
            <a:chOff x="3750067" y="4683795"/>
            <a:chExt cx="76863" cy="292489"/>
          </a:xfrm>
        </p:grpSpPr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42" name="타원 14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8938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61478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81746369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642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6502" y="1966289"/>
            <a:ext cx="19722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품목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60624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741902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19066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삭제여부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itemCdNm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knditmCd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knditmCdNm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품류코드명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itemRgstrtRqmtCdNm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등록요건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등재요건코드로 등록요건명 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</a:tbl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4231" y="444098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D71539F7-D719-E668-93D4-7070D4913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6021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9096486"/>
              </p:ext>
            </p:extLst>
          </p:nvPr>
        </p:nvGraphicFramePr>
        <p:xfrm>
          <a:off x="450728" y="4677609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scwin.btn_regTrgtItemSrch_onclick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품목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30241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품목코드</a:t>
                      </a:r>
                      <a:r>
                        <a:rPr lang="ko-KR" altLang="en-US" sz="800" dirty="0"/>
                        <a:t> 상세보기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scwin.grd_regTrgtItemList_oncellclick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클릭된 품목의 상세정보를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624917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적용하기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단체 목록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UI-CM-01-M09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922238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CB1DDFE4-3EFD-C572-25BA-3E31DBC7D9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59188923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조회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상위에서 선택한 품목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품목 정보의 상세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업종코드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업종명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품목 코드 값은 품목 정보를 통해 들어왔을 때 노출함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예를 들어 </a:t>
            </a:r>
            <a:r>
              <a:rPr lang="en-US" altLang="ko-KR" dirty="0"/>
              <a:t>[</a:t>
            </a:r>
            <a:r>
              <a:rPr lang="ko-KR" altLang="en-US" dirty="0"/>
              <a:t>등록대상 품목 선택</a:t>
            </a:r>
            <a:r>
              <a:rPr lang="en-US" altLang="ko-KR" dirty="0"/>
              <a:t>] </a:t>
            </a:r>
            <a:r>
              <a:rPr lang="ko-KR" altLang="en-US" dirty="0"/>
              <a:t>품목 코드를 통해 접근했을 때 등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품목 조회 선택하는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품목 조회 선택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239138"/>
            <a:ext cx="2712027" cy="1993161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275766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410182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90861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/>
              <a:t>품목 조회 선택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5226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3711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16084" y="5131966"/>
            <a:ext cx="2630656" cy="452455"/>
            <a:chOff x="3824022" y="5160789"/>
            <a:chExt cx="2630656" cy="452455"/>
          </a:xfrm>
        </p:grpSpPr>
        <p:sp>
          <p:nvSpPr>
            <p:cNvPr id="75" name="직사각형 74"/>
            <p:cNvSpPr/>
            <p:nvPr/>
          </p:nvSpPr>
          <p:spPr>
            <a:xfrm>
              <a:off x="3826115" y="5160789"/>
              <a:ext cx="792000" cy="4524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4022" y="516078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13179" y="5160789"/>
              <a:ext cx="67077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업종명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70028" y="5160789"/>
              <a:ext cx="178465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39189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26115" y="560560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닫기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090" y="4829459"/>
            <a:ext cx="177583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b="1" dirty="0">
                <a:latin typeface="+mn-ea"/>
              </a:rPr>
              <a:t>1234567890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4829459"/>
            <a:ext cx="84376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품목 코드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78424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60396947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60322" y="1795605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204356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품목 상세정보를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2F61A5C-A648-D9E6-5526-6D8BEEA5B061}"/>
              </a:ext>
            </a:extLst>
          </p:cNvPr>
          <p:cNvSpPr txBox="1"/>
          <p:nvPr/>
        </p:nvSpPr>
        <p:spPr>
          <a:xfrm>
            <a:off x="471620" y="839274"/>
            <a:ext cx="268078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품목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dm_itemDtlInfo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B4B03EF8-44BD-58B1-6DF4-D0A6F76F08BC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63649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업종명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63225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9872E36D-7EF0-0ED9-122D-F6E4C783D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9902" y="1926722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87A0C63-89B0-F26C-155A-035A23D62921}"/>
              </a:ext>
            </a:extLst>
          </p:cNvPr>
          <p:cNvSpPr/>
          <p:nvPr/>
        </p:nvSpPr>
        <p:spPr>
          <a:xfrm>
            <a:off x="6367463" y="634871"/>
            <a:ext cx="3157537" cy="226591"/>
          </a:xfrm>
          <a:prstGeom prst="rect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n>
                <a:solidFill>
                  <a:schemeClr val="bg1"/>
                </a:solidFill>
              </a:ln>
              <a:solidFill>
                <a:schemeClr val="bg1"/>
              </a:solidFill>
            </a:endParaRPr>
          </a:p>
        </p:txBody>
      </p:sp>
      <p:sp>
        <p:nvSpPr>
          <p:cNvPr id="15" name="Text Box 73">
            <a:extLst>
              <a:ext uri="{FF2B5EF4-FFF2-40B4-BE49-F238E27FC236}">
                <a16:creationId xmlns:a16="http://schemas.microsoft.com/office/drawing/2014/main" id="{2804CB70-CFA7-31A1-1A73-6F4C96572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94032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보안측정인원 등록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적격여부 </a:t>
            </a:r>
            <a:r>
              <a:rPr lang="en-US" altLang="ko-KR" dirty="0"/>
              <a:t>: </a:t>
            </a:r>
            <a:r>
              <a:rPr lang="ko-KR" altLang="en-US" dirty="0"/>
              <a:t>적격</a:t>
            </a:r>
            <a:r>
              <a:rPr lang="en-US" altLang="ko-KR" dirty="0"/>
              <a:t>, </a:t>
            </a:r>
            <a:r>
              <a:rPr lang="ko-KR" altLang="en-US" dirty="0"/>
              <a:t>부적격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인원 정보는 필수 아님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첨부파일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파일 업로드 버튼 </a:t>
            </a:r>
            <a:r>
              <a:rPr lang="ko-KR" altLang="en-US" dirty="0" err="1">
                <a:latin typeface="+mn-ea"/>
              </a:rPr>
              <a:t>클릭시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캐비닛 파일 선택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파일 업로드 선택 팝업 호출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첨부파일 명 입력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업로드 파일 삭제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보안측정인원 등록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보안측정인원 등록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보안측정인원 등록</a:t>
            </a: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32231"/>
            <a:ext cx="2154318" cy="16087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보안측정인원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3282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1571" y="3412216"/>
            <a:ext cx="138461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b="1" dirty="0">
                <a:latin typeface="+mn-ea"/>
              </a:rPr>
              <a:t>첨부파일</a:t>
            </a:r>
            <a:r>
              <a:rPr lang="ko-KR" altLang="en-US" sz="8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8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800" dirty="0">
              <a:latin typeface="+mn-ea"/>
            </a:endParaRP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705041" y="41857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29203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3141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705041" y="459244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69871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472082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05041" y="3729525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4050641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6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944285" y="4050641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1805" y="4050641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697246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428045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4" name="모서리가 둥근 직사각형 113"/>
          <p:cNvSpPr/>
          <p:nvPr/>
        </p:nvSpPr>
        <p:spPr>
          <a:xfrm>
            <a:off x="705041" y="499445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1007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12283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17" name="모서리가 둥근 직사각형 116"/>
          <p:cNvSpPr/>
          <p:nvPr/>
        </p:nvSpPr>
        <p:spPr>
          <a:xfrm>
            <a:off x="705041" y="540114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709" y="550741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237" y="552952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1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505943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964706" y="5089151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23" name="그룹 122"/>
          <p:cNvGrpSpPr/>
          <p:nvPr/>
        </p:nvGrpSpPr>
        <p:grpSpPr>
          <a:xfrm>
            <a:off x="724173" y="2393975"/>
            <a:ext cx="2630093" cy="677031"/>
            <a:chOff x="3836700" y="3380909"/>
            <a:chExt cx="2630093" cy="677031"/>
          </a:xfrm>
        </p:grpSpPr>
        <p:sp>
          <p:nvSpPr>
            <p:cNvPr id="124" name="직사각형 123"/>
            <p:cNvSpPr/>
            <p:nvPr/>
          </p:nvSpPr>
          <p:spPr>
            <a:xfrm>
              <a:off x="3838793" y="3380909"/>
              <a:ext cx="792000" cy="67703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421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4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191" y="286139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yyyy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-MM-</a:t>
            </a:r>
            <a:r>
              <a:rPr kumimoji="1" lang="en-US" altLang="ko-KR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dd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141" name="그림 14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2873752"/>
            <a:ext cx="134873" cy="137278"/>
          </a:xfrm>
          <a:prstGeom prst="rect">
            <a:avLst/>
          </a:prstGeom>
        </p:spPr>
      </p:pic>
      <p:sp>
        <p:nvSpPr>
          <p:cNvPr id="1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26606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3153204" y="2718956"/>
            <a:ext cx="94010" cy="47005"/>
            <a:chOff x="6812560" y="3297172"/>
            <a:chExt cx="94010" cy="47005"/>
          </a:xfrm>
        </p:grpSpPr>
        <p:cxnSp>
          <p:nvCxnSpPr>
            <p:cNvPr id="147" name="직선 연결선 14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8" name="직선 연결선 14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21479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462774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021555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209174" y="5434502"/>
            <a:ext cx="1563656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 err="1">
                <a:solidFill>
                  <a:schemeClr val="bg1">
                    <a:lumMod val="75000"/>
                  </a:schemeClr>
                </a:solidFill>
              </a:rPr>
              <a:t>서류명을</a:t>
            </a: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0647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9" name="직사각형 158"/>
          <p:cNvSpPr/>
          <p:nvPr/>
        </p:nvSpPr>
        <p:spPr>
          <a:xfrm>
            <a:off x="7072313" y="6061717"/>
            <a:ext cx="2370049" cy="22310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/>
              <a:t>보안측정인원</a:t>
            </a:r>
            <a:endParaRPr lang="en-US" altLang="ko-KR" sz="400" dirty="0"/>
          </a:p>
          <a:p>
            <a:pPr algn="ctr"/>
            <a:r>
              <a:rPr lang="en-US" altLang="ko-KR" sz="400" dirty="0"/>
              <a:t>PC </a:t>
            </a:r>
            <a:r>
              <a:rPr lang="ko-KR" altLang="en-US" sz="400" dirty="0"/>
              <a:t>버전 필수가 아닌데 확인 필요함</a:t>
            </a:r>
            <a:r>
              <a:rPr lang="en-US" altLang="ko-KR" sz="400" dirty="0"/>
              <a:t>.</a:t>
            </a:r>
          </a:p>
          <a:p>
            <a:pPr algn="ctr"/>
            <a:r>
              <a:rPr lang="ko-KR" altLang="en-US" sz="400" dirty="0"/>
              <a:t>인원 정보 없이 등록이 가능한가</a:t>
            </a:r>
            <a:r>
              <a:rPr lang="en-US" altLang="ko-KR" sz="400" dirty="0"/>
              <a:t>?</a:t>
            </a:r>
            <a:endParaRPr lang="ko-KR" altLang="en-US" sz="400" dirty="0"/>
          </a:p>
        </p:txBody>
      </p:sp>
      <p:grpSp>
        <p:nvGrpSpPr>
          <p:cNvPr id="79" name="그룹 7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365308085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3000" y="799547"/>
            <a:ext cx="3057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318475"/>
              </p:ext>
            </p:extLst>
          </p:nvPr>
        </p:nvGraphicFramePr>
        <p:xfrm>
          <a:off x="453000" y="1013230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72466768-56E0-8CB1-74A1-23CD9C0360E1}"/>
              </a:ext>
            </a:extLst>
          </p:cNvPr>
          <p:cNvSpPr txBox="1"/>
          <p:nvPr/>
        </p:nvSpPr>
        <p:spPr>
          <a:xfrm>
            <a:off x="453864" y="2152029"/>
            <a:ext cx="23169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첨부파일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D4F7E72-27F9-228D-50B4-AB30BCA05E8A}"/>
              </a:ext>
            </a:extLst>
          </p:cNvPr>
          <p:cNvGraphicFramePr>
            <a:graphicFrameLocks noGrp="1"/>
          </p:cNvGraphicFramePr>
          <p:nvPr/>
        </p:nvGraphicFramePr>
        <p:xfrm>
          <a:off x="456422" y="237167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3000" y="315443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9148475"/>
              </p:ext>
            </p:extLst>
          </p:nvPr>
        </p:nvGraphicFramePr>
        <p:xfrm>
          <a:off x="453864" y="3385622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등록된 보안측정인원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B0DEDB58-C0D1-7E30-B326-DB9170886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1439" y="32687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E9B17219-4ACD-B931-51CC-530FEAE19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68255662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선택</a:t>
            </a:r>
            <a:r>
              <a:rPr lang="en-US" altLang="ko-KR" dirty="0"/>
              <a:t> </a:t>
            </a:r>
            <a:r>
              <a:rPr lang="ko-KR" altLang="en-US" dirty="0"/>
              <a:t>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복수 선택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등록 클릭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  <a:r>
              <a:rPr lang="ko-KR" altLang="en-US" dirty="0"/>
              <a:t>하는 경우 뜨는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en-US" altLang="ko-KR" dirty="0">
                <a:latin typeface="+mn-ea"/>
              </a:rPr>
              <a:t>FSC </a:t>
            </a:r>
            <a:r>
              <a:rPr lang="ko-KR" altLang="en-US" dirty="0">
                <a:latin typeface="+mn-ea"/>
              </a:rPr>
              <a:t>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MUI-CM-01-P11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dirty="0">
                <a:latin typeface="+mn-ea"/>
              </a:rPr>
              <a:t>FSC </a:t>
            </a:r>
            <a:r>
              <a:rPr lang="ko-KR" altLang="en-US" sz="900" dirty="0">
                <a:latin typeface="+mn-ea"/>
              </a:rPr>
              <a:t>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군급명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군급명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군급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1002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1003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7" name="그룹 96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선택 등록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493140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14217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103067" y="536286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880535890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193379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FSC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군급명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0322" y="1613359"/>
            <a:ext cx="194180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FSC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1897113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fscCdNm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군급명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60322" y="284361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773285"/>
              </p:ext>
            </p:extLst>
          </p:nvPr>
        </p:nvGraphicFramePr>
        <p:xfrm>
          <a:off x="455204" y="318712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scwin.btn_fscSrch_onclick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선택 등록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FSC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여러 개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692986A7-CA14-4045-6A5B-63863BF95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74564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 Box 73">
            <a:extLst>
              <a:ext uri="{FF2B5EF4-FFF2-40B4-BE49-F238E27FC236}">
                <a16:creationId xmlns:a16="http://schemas.microsoft.com/office/drawing/2014/main" id="{9B842BCE-D8EB-6471-148E-0CD16C89A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0304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2455430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주거래은행 선택</a:t>
            </a:r>
            <a:r>
              <a:rPr lang="ko-KR" altLang="en-US" dirty="0"/>
              <a:t>하는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주거래은행 선택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MUI-CM-01-P12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주거래은행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단체명을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은행명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3897039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은행명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8754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94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022300" y="4886876"/>
            <a:ext cx="1418465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96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95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은행명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94</a:t>
            </a:r>
          </a:p>
        </p:txBody>
      </p:sp>
      <p:cxnSp>
        <p:nvCxnSpPr>
          <p:cNvPr id="326" name="직선 연결선 3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1179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33168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8" name="직선 연결선 3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5453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29" name="직선 연결선 3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591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0" name="직선 연결선 3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97280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31" name="직선 연결선 3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865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0938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670045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51530" y="4886876"/>
            <a:ext cx="670770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00100000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00200000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00300000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00400000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00500000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00600000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5" y="4974013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5" name="그룹 84"/>
          <p:cNvGrpSpPr/>
          <p:nvPr/>
        </p:nvGrpSpPr>
        <p:grpSpPr>
          <a:xfrm rot="16200000">
            <a:off x="6266706" y="5199626"/>
            <a:ext cx="94010" cy="47005"/>
            <a:chOff x="6812560" y="3297172"/>
            <a:chExt cx="94010" cy="47005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8" name="그룹 87"/>
          <p:cNvGrpSpPr/>
          <p:nvPr/>
        </p:nvGrpSpPr>
        <p:grpSpPr>
          <a:xfrm rot="16200000">
            <a:off x="6266707" y="5417736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1" name="그룹 90"/>
          <p:cNvGrpSpPr/>
          <p:nvPr/>
        </p:nvGrpSpPr>
        <p:grpSpPr>
          <a:xfrm rot="16200000">
            <a:off x="6266708" y="5627293"/>
            <a:ext cx="94010" cy="47005"/>
            <a:chOff x="6812560" y="3297172"/>
            <a:chExt cx="94010" cy="47005"/>
          </a:xfrm>
        </p:grpSpPr>
        <p:cxnSp>
          <p:nvCxnSpPr>
            <p:cNvPr id="92" name="직선 연결선 9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직선 연결선 9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4" name="그룹 93"/>
          <p:cNvGrpSpPr/>
          <p:nvPr/>
        </p:nvGrpSpPr>
        <p:grpSpPr>
          <a:xfrm rot="16200000">
            <a:off x="6266709" y="5837225"/>
            <a:ext cx="94010" cy="47005"/>
            <a:chOff x="6812560" y="3297172"/>
            <a:chExt cx="94010" cy="47005"/>
          </a:xfrm>
        </p:grpSpPr>
        <p:cxnSp>
          <p:nvCxnSpPr>
            <p:cNvPr id="95" name="직선 연결선 9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6" name="직선 연결선 9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1" name="그룹 100"/>
          <p:cNvGrpSpPr/>
          <p:nvPr/>
        </p:nvGrpSpPr>
        <p:grpSpPr>
          <a:xfrm rot="16200000">
            <a:off x="6266710" y="6060166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4" name="직선 연결선 10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43969358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8" y="795708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06911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52999" y="1639299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주거래은행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86181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은행명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fnstSecd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은행구분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1285932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48316" y="281626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3045154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주거래은행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scwin.btn_bankSrch_onclick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주거래은행 정보를 검색한다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주거래은행 정보가 부모 화면에 입력되며 팝업창은 닫힌다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UI-CM-01-M15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2070BEE7-E5D7-71A9-5361-75AADFD37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2932835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884461B8-F59F-50CE-4437-D13ED6ED9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626321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물품등록</a:t>
            </a:r>
            <a:r>
              <a:rPr lang="en-US" altLang="ko-KR" dirty="0"/>
              <a:t>(</a:t>
            </a:r>
            <a:r>
              <a:rPr lang="ko-KR" altLang="en-US" dirty="0"/>
              <a:t>내자</a:t>
            </a:r>
            <a:r>
              <a:rPr lang="en-US" altLang="ko-KR" dirty="0"/>
              <a:t>)</a:t>
            </a:r>
            <a:r>
              <a:rPr lang="ko-KR" altLang="en-US" dirty="0"/>
              <a:t>인 경우만 노출</a:t>
            </a:r>
            <a:r>
              <a:rPr lang="en-US" altLang="ko-KR" dirty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시 행정정보공동이용 </a:t>
            </a:r>
            <a:r>
              <a:rPr lang="ko-KR" altLang="en-US" dirty="0" err="1"/>
              <a:t>사전동의서</a:t>
            </a:r>
            <a:r>
              <a:rPr lang="ko-KR" altLang="en-US" dirty="0"/>
              <a:t>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행정정보공동이용 </a:t>
            </a:r>
            <a:r>
              <a:rPr lang="ko-KR" altLang="en-US" dirty="0" err="1"/>
              <a:t>사전동의서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MUI-CM-01-P13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" name="양쪽 모서리가 둥근 사각형 28"/>
          <p:cNvSpPr/>
          <p:nvPr/>
        </p:nvSpPr>
        <p:spPr>
          <a:xfrm>
            <a:off x="675399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30" name="모서리가 둥근 직사각형 29"/>
          <p:cNvSpPr/>
          <p:nvPr/>
        </p:nvSpPr>
        <p:spPr>
          <a:xfrm>
            <a:off x="1761412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/>
          <p:cNvGrpSpPr/>
          <p:nvPr/>
        </p:nvGrpSpPr>
        <p:grpSpPr>
          <a:xfrm>
            <a:off x="3164338" y="1773925"/>
            <a:ext cx="94010" cy="94010"/>
            <a:chOff x="6812560" y="3297172"/>
            <a:chExt cx="94010" cy="94010"/>
          </a:xfrm>
        </p:grpSpPr>
        <p:cxnSp>
          <p:nvCxnSpPr>
            <p:cNvPr id="34" name="직선 연결선 33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직선 연결선 34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모서리가 둥근 직사각형 37"/>
          <p:cNvSpPr/>
          <p:nvPr/>
        </p:nvSpPr>
        <p:spPr>
          <a:xfrm rot="5400000">
            <a:off x="2662242" y="27473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03768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6" name="모서리가 둥근 직사각형 55"/>
          <p:cNvSpPr/>
          <p:nvPr/>
        </p:nvSpPr>
        <p:spPr>
          <a:xfrm>
            <a:off x="759026" y="2140522"/>
            <a:ext cx="2543426" cy="2725586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106" y="2202341"/>
            <a:ext cx="2154318" cy="260840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r>
              <a:rPr lang="ko-KR" altLang="en-US" sz="800" b="1" dirty="0">
                <a:latin typeface="Consolas" panose="020B0609020204030204" pitchFamily="49" charset="0"/>
              </a:rPr>
              <a:t> 안내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ko-KR" altLang="en-US" sz="700" dirty="0">
                <a:latin typeface="Consolas" panose="020B0609020204030204" pitchFamily="49" charset="0"/>
              </a:rPr>
              <a:t> 제</a:t>
            </a:r>
            <a:r>
              <a:rPr lang="en-US" altLang="ko-KR" sz="700" dirty="0">
                <a:latin typeface="Consolas" panose="020B0609020204030204" pitchFamily="49" charset="0"/>
              </a:rPr>
              <a:t>42</a:t>
            </a:r>
            <a:r>
              <a:rPr lang="ko-KR" altLang="en-US" sz="700" dirty="0">
                <a:latin typeface="Consolas" panose="020B0609020204030204" pitchFamily="49" charset="0"/>
              </a:rPr>
              <a:t>조 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따라 행정정보 공동이용센터를 통하여 개인정보가 포함된 행정정보를 이용할 때에는 정보주체의 사전동의를 받도록 하고 있습니다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현재 사무를 처리하기 위하여 </a:t>
            </a:r>
            <a:r>
              <a:rPr lang="ko-KR" altLang="en-US" sz="7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700" dirty="0">
                <a:latin typeface="Consolas" panose="020B0609020204030204" pitchFamily="49" charset="0"/>
              </a:rPr>
              <a:t> 민원담당자가 본인의 정보</a:t>
            </a: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이름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 smtClean="0">
                <a:latin typeface="Consolas" panose="020B0609020204030204" pitchFamily="49" charset="0"/>
              </a:rPr>
              <a:t>사업자등록번호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  <a:r>
              <a:rPr lang="ko-KR" altLang="en-US" sz="700" dirty="0">
                <a:latin typeface="Consolas" panose="020B0609020204030204" pitchFamily="49" charset="0"/>
              </a:rPr>
              <a:t>를 활용하여 행정정보를 열람합니다</a:t>
            </a:r>
            <a:r>
              <a:rPr lang="en-US" altLang="ko-KR" sz="700" dirty="0">
                <a:latin typeface="Consolas" panose="020B0609020204030204" pitchFamily="49" charset="0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사무의 처리와 관련하여 </a:t>
            </a:r>
            <a:r>
              <a:rPr lang="en-US" altLang="ko-KR" sz="700" dirty="0">
                <a:latin typeface="Consolas" panose="020B0609020204030204" pitchFamily="49" charset="0"/>
              </a:rPr>
              <a:t>『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』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조에 따른 행정정보 공동이용을 통하여 </a:t>
            </a:r>
            <a:r>
              <a:rPr lang="ko-KR" altLang="en-US" sz="700" dirty="0" err="1">
                <a:latin typeface="Consolas" panose="020B0609020204030204" pitchFamily="49" charset="0"/>
              </a:rPr>
              <a:t>이용기관의</a:t>
            </a:r>
            <a:r>
              <a:rPr lang="ko-KR" altLang="en-US" sz="700" dirty="0">
                <a:latin typeface="Consolas" panose="020B0609020204030204" pitchFamily="49" charset="0"/>
              </a:rPr>
              <a:t> 업무처리 담당자가 전자적으로 본인의 구비서류를 확인 하는 것에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en-US" altLang="ko-KR" sz="700" dirty="0">
                <a:latin typeface="Consolas" panose="020B0609020204030204" pitchFamily="49" charset="0"/>
              </a:rPr>
              <a:t>(</a:t>
            </a:r>
            <a:r>
              <a:rPr lang="ko-KR" altLang="en-US" sz="700" dirty="0">
                <a:latin typeface="Consolas" panose="020B0609020204030204" pitchFamily="49" charset="0"/>
              </a:rPr>
              <a:t>아래에 기재된 </a:t>
            </a:r>
            <a:r>
              <a:rPr lang="ko-KR" altLang="en-US" sz="700" dirty="0" err="1">
                <a:latin typeface="Consolas" panose="020B0609020204030204" pitchFamily="49" charset="0"/>
              </a:rPr>
              <a:t>행정정보는</a:t>
            </a:r>
            <a:r>
              <a:rPr lang="ko-KR" altLang="en-US" sz="700" dirty="0">
                <a:latin typeface="Consolas" panose="020B0609020204030204" pitchFamily="49" charset="0"/>
              </a:rPr>
              <a:t> 목적 외의 용도로 사용할 수 없으며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동의하지 않는 경우 본인의 선택에 따라 서류로 대신 제출 할 수 있음</a:t>
            </a:r>
            <a:r>
              <a:rPr lang="en-US" altLang="ko-KR" sz="7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58" name="타원 57"/>
          <p:cNvSpPr/>
          <p:nvPr/>
        </p:nvSpPr>
        <p:spPr>
          <a:xfrm>
            <a:off x="832165" y="22070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9" name="그룹 58"/>
          <p:cNvGrpSpPr/>
          <p:nvPr/>
        </p:nvGrpSpPr>
        <p:grpSpPr>
          <a:xfrm flipV="1">
            <a:off x="3138039" y="2277555"/>
            <a:ext cx="94010" cy="47005"/>
            <a:chOff x="6812560" y="3297172"/>
            <a:chExt cx="94010" cy="47005"/>
          </a:xfrm>
        </p:grpSpPr>
        <p:cxnSp>
          <p:nvCxnSpPr>
            <p:cNvPr id="60" name="직선 연결선 5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양쪽 모서리가 둥근 사각형 62"/>
          <p:cNvSpPr/>
          <p:nvPr/>
        </p:nvSpPr>
        <p:spPr>
          <a:xfrm>
            <a:off x="3795734" y="1609111"/>
            <a:ext cx="2712027" cy="4623188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81747" y="1639509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5" name="그룹 64"/>
          <p:cNvGrpSpPr/>
          <p:nvPr/>
        </p:nvGrpSpPr>
        <p:grpSpPr>
          <a:xfrm>
            <a:off x="6284673" y="1773925"/>
            <a:ext cx="94010" cy="94010"/>
            <a:chOff x="6812560" y="3297172"/>
            <a:chExt cx="94010" cy="94010"/>
          </a:xfrm>
        </p:grpSpPr>
        <p:cxnSp>
          <p:nvCxnSpPr>
            <p:cNvPr id="66" name="직선 연결선 6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1754604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행정정보공동이용 </a:t>
            </a:r>
            <a:r>
              <a:rPr lang="ko-KR" altLang="en-US" sz="900" dirty="0" err="1">
                <a:latin typeface="+mn-ea"/>
              </a:rPr>
              <a:t>사전동의서</a:t>
            </a:r>
            <a:endParaRPr lang="ko-KR" altLang="en-US" sz="9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01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1" name="모서리가 둥근 직사각형 70"/>
          <p:cNvSpPr/>
          <p:nvPr/>
        </p:nvSpPr>
        <p:spPr>
          <a:xfrm rot="5400000">
            <a:off x="5782577" y="4389773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22629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642914"/>
            <a:ext cx="2473940" cy="11705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공동이용의 목적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외 경쟁입찰에 참여하고자 하는 자의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업체등록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추가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및 입찰참가자격 확인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/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계약을 위해 제출하는 민원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행정정보 및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이용범위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국내업체품목등록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사업자등록증명원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)1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종</a:t>
            </a: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endParaRPr lang="en-US" altLang="ko-KR" sz="800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 marL="228600" indent="-228600">
              <a:lnSpc>
                <a:spcPct val="120000"/>
              </a:lnSpc>
              <a:buAutoNum type="arabicPeriod"/>
            </a:pP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공동이용 대상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이용기관의</a:t>
            </a:r>
            <a:r>
              <a:rPr lang="ko-KR" altLang="en-US" sz="800" dirty="0">
                <a:solidFill>
                  <a:srgbClr val="000000"/>
                </a:solidFill>
                <a:latin typeface="Consolas" panose="020B0609020204030204" pitchFamily="49" charset="0"/>
              </a:rPr>
              <a:t> 명칭 </a:t>
            </a:r>
            <a:r>
              <a:rPr lang="en-US" altLang="ko-KR" sz="800" dirty="0">
                <a:solidFill>
                  <a:srgbClr val="00000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 err="1">
                <a:solidFill>
                  <a:srgbClr val="000000"/>
                </a:solidFill>
                <a:latin typeface="Consolas" panose="020B0609020204030204" pitchFamily="49" charset="0"/>
              </a:rPr>
              <a:t>방위사업청</a:t>
            </a:r>
            <a:endParaRPr lang="ko-KR" altLang="en-US" sz="800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9865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8" name="그룹 77"/>
          <p:cNvGrpSpPr/>
          <p:nvPr/>
        </p:nvGrpSpPr>
        <p:grpSpPr>
          <a:xfrm>
            <a:off x="4553124" y="4360817"/>
            <a:ext cx="1197246" cy="107722"/>
            <a:chOff x="4526323" y="5902014"/>
            <a:chExt cx="1197246" cy="107722"/>
          </a:xfrm>
        </p:grpSpPr>
        <p:sp>
          <p:nvSpPr>
            <p:cNvPr id="79" name="타원 78"/>
            <p:cNvSpPr/>
            <p:nvPr/>
          </p:nvSpPr>
          <p:spPr>
            <a:xfrm>
              <a:off x="4526323" y="5907195"/>
              <a:ext cx="106031" cy="973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타원 82"/>
            <p:cNvSpPr/>
            <p:nvPr/>
          </p:nvSpPr>
          <p:spPr>
            <a:xfrm>
              <a:off x="5277619" y="5907195"/>
              <a:ext cx="106031" cy="97360"/>
            </a:xfrm>
            <a:prstGeom prst="ellipse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94755" y="590201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 안함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454265" y="5902014"/>
              <a:ext cx="269304" cy="10772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동의함</a:t>
              </a: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추가 등록</a:t>
              </a:r>
              <a:r>
                <a:rPr kumimoji="1" lang="en-US" altLang="ko-KR" sz="1000" kern="0" dirty="0">
                  <a:solidFill>
                    <a:srgbClr val="0070C0"/>
                  </a:solidFill>
                </a:rPr>
                <a:t> </a:t>
              </a:r>
              <a:r>
                <a:rPr kumimoji="1" lang="ko-KR" altLang="en-US" sz="1000" kern="0" dirty="0">
                  <a:solidFill>
                    <a:srgbClr val="0070C0"/>
                  </a:solidFill>
                </a:rPr>
                <a:t>신청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8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107186"/>
            <a:ext cx="2473940" cy="1363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b="1" spc="-87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행정정보 공동 이용</a:t>
            </a:r>
            <a:endParaRPr lang="ko-KR" altLang="en-US" sz="800" b="1" dirty="0">
              <a:solidFill>
                <a:srgbClr val="000000"/>
              </a:solidFill>
              <a:latin typeface="Consolas" panose="020B0609020204030204" pitchFamily="49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350548"/>
            <a:ext cx="2154318" cy="1640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1" dirty="0">
                <a:latin typeface="Consolas" panose="020B0609020204030204" pitchFamily="49" charset="0"/>
              </a:rPr>
              <a:t>행정정보공동이용 </a:t>
            </a:r>
            <a:r>
              <a:rPr lang="ko-KR" altLang="en-US" sz="800" b="1" dirty="0" err="1">
                <a:latin typeface="Consolas" panose="020B0609020204030204" pitchFamily="49" charset="0"/>
              </a:rPr>
              <a:t>사전동의서</a:t>
            </a:r>
            <a:endParaRPr lang="ko-KR" altLang="en-US" sz="700" b="1" dirty="0">
              <a:solidFill>
                <a:srgbClr val="0070C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17136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619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0" name="그룹 4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51" name="직사각형 5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109121350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181</a:t>
            </a:fld>
            <a:endParaRPr lang="ko-KR" alt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F212A1-6EE7-4B40-928F-972A7770F5EA}"/>
              </a:ext>
            </a:extLst>
          </p:cNvPr>
          <p:cNvSpPr txBox="1"/>
          <p:nvPr/>
        </p:nvSpPr>
        <p:spPr>
          <a:xfrm>
            <a:off x="455204" y="73402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1.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5A69B7C-03A3-91C1-352F-7D0E8D442A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636579"/>
              </p:ext>
            </p:extLst>
          </p:nvPr>
        </p:nvGraphicFramePr>
        <p:xfrm>
          <a:off x="455204" y="969807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추가 등록 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scwin.btn_aply_onclick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및 변경된 조달업체 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2283097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5FF12AC-7478-0A92-A25F-C8ED37CDE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5289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1598705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</a:t>
            </a:r>
            <a:r>
              <a:rPr lang="ko-KR" altLang="en-US" dirty="0" err="1"/>
              <a:t>모달</a:t>
            </a:r>
            <a:r>
              <a:rPr lang="ko-KR" altLang="en-US" dirty="0"/>
              <a:t>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 확인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클릭 시 토스트 메시지 </a:t>
            </a:r>
            <a:r>
              <a:rPr lang="en-US" altLang="ko-KR" dirty="0"/>
              <a:t>- </a:t>
            </a:r>
            <a:r>
              <a:rPr lang="ko-KR" altLang="en-US" dirty="0"/>
              <a:t>신청 완료되었습니다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데이터에 </a:t>
            </a:r>
            <a:r>
              <a:rPr lang="ko-KR" altLang="en-US" dirty="0" smtClean="0"/>
              <a:t>지연이</a:t>
            </a:r>
            <a:r>
              <a:rPr lang="ko-KR" altLang="en-US" dirty="0" smtClean="0"/>
              <a:t> </a:t>
            </a:r>
            <a:r>
              <a:rPr lang="ko-KR" altLang="en-US" dirty="0"/>
              <a:t>발생하는 경우 </a:t>
            </a:r>
            <a:r>
              <a:rPr lang="ko-KR" altLang="en-US" dirty="0" err="1"/>
              <a:t>스피너</a:t>
            </a:r>
            <a:r>
              <a:rPr lang="en-US" altLang="ko-KR" dirty="0"/>
              <a:t>, </a:t>
            </a:r>
            <a:r>
              <a:rPr lang="ko-KR" altLang="en-US" dirty="0" smtClean="0"/>
              <a:t>로딩 </a:t>
            </a:r>
            <a:r>
              <a:rPr lang="ko-KR" altLang="en-US" dirty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시 작성 화면 복귀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추가등록</a:t>
            </a:r>
            <a:r>
              <a:rPr lang="ko-KR" altLang="en-US" dirty="0"/>
              <a:t> 신청 확인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업체정보 추가 등록 </a:t>
            </a:r>
            <a:r>
              <a:rPr lang="en-US" altLang="ko-KR" dirty="0"/>
              <a:t>&gt; </a:t>
            </a:r>
            <a:r>
              <a:rPr lang="ko-KR" altLang="en-US" dirty="0"/>
              <a:t>확인 팝업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MUI-CM-01-P14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741416" y="3262742"/>
            <a:ext cx="2579992" cy="1200743"/>
            <a:chOff x="713510" y="2317399"/>
            <a:chExt cx="2579992" cy="1200743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업체정보 </a:t>
              </a:r>
              <a:r>
                <a:rPr lang="ko-KR" altLang="en-US" sz="900" b="1" dirty="0" err="1">
                  <a:latin typeface="+mn-ea"/>
                </a:rPr>
                <a:t>추가등록</a:t>
              </a:r>
              <a:r>
                <a:rPr lang="ko-KR" altLang="en-US" sz="900" b="1" dirty="0">
                  <a:latin typeface="+mn-ea"/>
                </a:rPr>
                <a:t> 신청 확인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신청서를 접수합니다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 err="1">
                  <a:latin typeface="+mn-ea"/>
                </a:rPr>
                <a:t>오기재된</a:t>
              </a:r>
              <a:r>
                <a:rPr lang="ko-KR" altLang="en-US" sz="700" dirty="0">
                  <a:latin typeface="+mn-ea"/>
                </a:rPr>
                <a:t> 사항이 없는지 모두 </a:t>
              </a:r>
              <a:r>
                <a:rPr lang="ko-KR" altLang="en-US" sz="700" dirty="0" err="1">
                  <a:latin typeface="+mn-ea"/>
                </a:rPr>
                <a:t>확인하셨나요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76" name="직선 연결선 75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3" y="3347162"/>
            <a:ext cx="172130" cy="172130"/>
          </a:xfrm>
          <a:prstGeom prst="ellipse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2540185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도움말 아코디언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콘텐츠 우측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업체 </a:t>
            </a:r>
            <a:r>
              <a:rPr lang="ko-KR" altLang="en-US" dirty="0" err="1">
                <a:latin typeface="+mn-ea"/>
              </a:rPr>
              <a:t>등록현황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적격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부적격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업체등록</a:t>
            </a:r>
            <a:r>
              <a:rPr lang="ko-KR" altLang="en-US" dirty="0">
                <a:latin typeface="+mn-ea"/>
              </a:rPr>
              <a:t> 안내 팝업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우측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신청 목록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클릭 시 </a:t>
            </a:r>
            <a:r>
              <a:rPr lang="ko-KR" altLang="en-US" dirty="0" err="1">
                <a:latin typeface="+mn-ea"/>
              </a:rPr>
              <a:t>상세화면</a:t>
            </a:r>
            <a:r>
              <a:rPr lang="ko-KR" altLang="en-US" dirty="0">
                <a:latin typeface="+mn-ea"/>
              </a:rPr>
              <a:t>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- 10</a:t>
            </a:r>
            <a:r>
              <a:rPr lang="ko-KR" altLang="en-US" dirty="0">
                <a:latin typeface="+mn-ea"/>
              </a:rPr>
              <a:t>개 미만 시 </a:t>
            </a:r>
            <a:r>
              <a:rPr lang="ko-KR" altLang="en-US" dirty="0" err="1">
                <a:latin typeface="+mn-ea"/>
              </a:rPr>
              <a:t>더보기</a:t>
            </a:r>
            <a:r>
              <a:rPr lang="ko-KR" altLang="en-US" dirty="0">
                <a:latin typeface="+mn-ea"/>
              </a:rPr>
              <a:t> 버튼 숨김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상단 레이블 </a:t>
            </a:r>
            <a:r>
              <a:rPr lang="en-US" altLang="ko-KR" dirty="0">
                <a:latin typeface="+mn-ea"/>
              </a:rPr>
              <a:t>[</a:t>
            </a:r>
            <a:r>
              <a:rPr lang="ko-KR" altLang="en-US" dirty="0">
                <a:latin typeface="+mn-ea"/>
              </a:rPr>
              <a:t>구분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진행상황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표시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latin typeface="+mn-ea"/>
              </a:rPr>
              <a:t>더하기 버튼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바텀</a:t>
            </a:r>
            <a:r>
              <a:rPr lang="ko-KR" altLang="en-US" dirty="0">
                <a:latin typeface="+mn-ea"/>
              </a:rPr>
              <a:t> 버튼 팝업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[</a:t>
            </a:r>
            <a:r>
              <a:rPr lang="ko-KR" altLang="en-US" dirty="0">
                <a:latin typeface="+mn-ea"/>
              </a:rPr>
              <a:t>신규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갱신</a:t>
            </a:r>
            <a:r>
              <a:rPr lang="en-US" altLang="ko-KR" dirty="0">
                <a:latin typeface="+mn-ea"/>
              </a:rPr>
              <a:t>], [</a:t>
            </a:r>
            <a:r>
              <a:rPr lang="ko-KR" altLang="en-US" dirty="0">
                <a:latin typeface="+mn-ea"/>
              </a:rPr>
              <a:t>변경</a:t>
            </a:r>
            <a:r>
              <a:rPr lang="en-US" altLang="ko-KR" dirty="0">
                <a:latin typeface="+mn-ea"/>
              </a:rPr>
              <a:t>]</a:t>
            </a:r>
            <a:r>
              <a:rPr lang="ko-KR" altLang="en-US" dirty="0">
                <a:latin typeface="+mn-ea"/>
              </a:rPr>
              <a:t> 버튼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클릭 시 구분 값 사용 및 신청 페이지 이동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solidFill>
                  <a:srgbClr val="FF0000"/>
                </a:solidFill>
                <a:latin typeface="+mn-ea"/>
              </a:rPr>
              <a:t>  &gt;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구분이 실효나 말소일 경우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– [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변경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]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 버튼 </a:t>
            </a:r>
            <a:r>
              <a:rPr lang="en-US" altLang="ko-KR" dirty="0">
                <a:solidFill>
                  <a:srgbClr val="FF0000"/>
                </a:solidFill>
                <a:latin typeface="+mn-ea"/>
              </a:rPr>
              <a:t>Dim </a:t>
            </a:r>
            <a:r>
              <a:rPr lang="ko-KR" altLang="en-US" dirty="0">
                <a:solidFill>
                  <a:srgbClr val="FF0000"/>
                </a:solidFill>
                <a:latin typeface="+mn-ea"/>
              </a:rPr>
              <a:t>처리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및 발급 목록 </a:t>
            </a:r>
            <a:r>
              <a:rPr lang="ko-KR" altLang="en-US" dirty="0">
                <a:latin typeface="+mn-ea"/>
              </a:rPr>
              <a:t>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MUI-CM-01-M15</a:t>
            </a:r>
            <a:endParaRPr lang="ko-KR" altLang="en-US" dirty="0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4" name="직선 연결선 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타원 2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99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186194"/>
            <a:ext cx="76863" cy="292489"/>
            <a:chOff x="3750067" y="4683795"/>
            <a:chExt cx="76863" cy="292489"/>
          </a:xfrm>
        </p:grpSpPr>
        <p:sp>
          <p:nvSpPr>
            <p:cNvPr id="43" name="타원 42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9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4635"/>
            <a:ext cx="2446613" cy="314008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931156" y="549735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61813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7" name="그룹 36"/>
          <p:cNvGrpSpPr/>
          <p:nvPr/>
        </p:nvGrpSpPr>
        <p:grpSpPr>
          <a:xfrm>
            <a:off x="781461" y="2752959"/>
            <a:ext cx="2473257" cy="952943"/>
            <a:chOff x="781461" y="2610063"/>
            <a:chExt cx="2473257" cy="952943"/>
          </a:xfrm>
        </p:grpSpPr>
        <p:sp>
          <p:nvSpPr>
            <p:cNvPr id="3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접수번호 </a:t>
              </a:r>
              <a:r>
                <a:rPr lang="en-US" altLang="ko-KR" sz="900" b="1" dirty="0"/>
                <a:t>2026-0020</a:t>
              </a:r>
              <a:endParaRPr lang="ko-KR" altLang="en-US" sz="900" b="1" dirty="0"/>
            </a:p>
          </p:txBody>
        </p:sp>
        <p:sp>
          <p:nvSpPr>
            <p:cNvPr id="3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09008"/>
              <a:ext cx="53380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593" y="2993619"/>
              <a:ext cx="397545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신규</a:t>
              </a:r>
            </a:p>
          </p:txBody>
        </p:sp>
        <p:sp>
          <p:nvSpPr>
            <p:cNvPr id="105" name="모서리가 둥근 직사각형 104"/>
            <p:cNvSpPr/>
            <p:nvPr/>
          </p:nvSpPr>
          <p:spPr>
            <a:xfrm>
              <a:off x="1079210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저장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81461" y="3948771"/>
            <a:ext cx="2473257" cy="949566"/>
            <a:chOff x="781461" y="2610063"/>
            <a:chExt cx="2473257" cy="949566"/>
          </a:xfrm>
        </p:grpSpPr>
        <p:sp>
          <p:nvSpPr>
            <p:cNvPr id="47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900" b="1" dirty="0">
                  <a:solidFill>
                    <a:prstClr val="black"/>
                  </a:solidFill>
                </a:rPr>
                <a:t>접수번호 </a:t>
              </a:r>
              <a:r>
                <a:rPr lang="en-US" altLang="ko-KR" sz="900" b="1" dirty="0">
                  <a:solidFill>
                    <a:prstClr val="black"/>
                  </a:solidFill>
                </a:rPr>
                <a:t>2026-0019</a:t>
              </a:r>
              <a:endParaRPr lang="ko-KR" altLang="en-US" sz="900" b="1" dirty="0">
                <a:solidFill>
                  <a:prstClr val="black"/>
                </a:solidFill>
              </a:endParaRPr>
            </a:p>
          </p:txBody>
        </p:sp>
        <p:sp>
          <p:nvSpPr>
            <p:cNvPr id="48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023457"/>
              <a:ext cx="53380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요청일자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실효</a:t>
              </a:r>
              <a:r>
                <a:rPr lang="en-US" altLang="ko-KR" sz="600" dirty="0">
                  <a:latin typeface="+mn-ea"/>
                </a:rPr>
                <a:t>, </a:t>
              </a:r>
              <a:r>
                <a:rPr lang="ko-KR" altLang="en-US" sz="600" dirty="0">
                  <a:latin typeface="+mn-ea"/>
                </a:rPr>
                <a:t>말소 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만료일자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49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834953" y="3008068"/>
              <a:ext cx="397545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갱신</a:t>
              </a:r>
            </a:p>
          </p:txBody>
        </p:sp>
        <p:sp>
          <p:nvSpPr>
            <p:cNvPr id="106" name="모서리가 둥근 직사각형 105"/>
            <p:cNvSpPr/>
            <p:nvPr/>
          </p:nvSpPr>
          <p:spPr>
            <a:xfrm>
              <a:off x="1079210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제출</a:t>
              </a:r>
            </a:p>
          </p:txBody>
        </p:sp>
      </p:grp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686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01326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1461" y="2371408"/>
            <a:ext cx="121152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업체 </a:t>
            </a:r>
            <a:r>
              <a:rPr lang="ko-KR" altLang="en-US" sz="800" b="1" dirty="0" err="1">
                <a:latin typeface="+mn-ea"/>
              </a:rPr>
              <a:t>등록현황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496405" y="2345219"/>
            <a:ext cx="37049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적격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08250" y="2345219"/>
            <a:ext cx="721535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맑은 고딕"/>
              </a:rPr>
              <a:t>업체등록</a:t>
            </a: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 안내 </a:t>
            </a:r>
            <a:r>
              <a:rPr kumimoji="1" lang="en-US" altLang="ko-KR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&gt;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339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25916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15" name="타원 114"/>
          <p:cNvSpPr/>
          <p:nvPr/>
        </p:nvSpPr>
        <p:spPr>
          <a:xfrm>
            <a:off x="783686" y="195726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6" name="그룹 115"/>
          <p:cNvGrpSpPr/>
          <p:nvPr/>
        </p:nvGrpSpPr>
        <p:grpSpPr>
          <a:xfrm>
            <a:off x="3143548" y="2039247"/>
            <a:ext cx="94010" cy="47005"/>
            <a:chOff x="6812560" y="3297172"/>
            <a:chExt cx="94010" cy="47005"/>
          </a:xfrm>
        </p:grpSpPr>
        <p:cxnSp>
          <p:nvCxnSpPr>
            <p:cNvPr id="117" name="직선 연결선 1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직선 연결선 1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898850" y="1926097"/>
            <a:ext cx="247983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/>
              <a:t>말소 </a:t>
            </a:r>
            <a:r>
              <a:rPr lang="en-US" altLang="ko-KR" sz="800" dirty="0"/>
              <a:t>:  </a:t>
            </a:r>
            <a:r>
              <a:rPr lang="ko-KR" altLang="en-US" sz="800" dirty="0"/>
              <a:t>관리자의 직권으로 군수품무역대리업 관련 업무를 할 수 없음</a:t>
            </a:r>
            <a:r>
              <a:rPr lang="en-US" altLang="ko-KR" sz="800" dirty="0"/>
              <a:t>.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/>
              <a:t>실효 </a:t>
            </a:r>
            <a:r>
              <a:rPr lang="en-US" altLang="ko-KR" sz="800" dirty="0"/>
              <a:t>: </a:t>
            </a:r>
            <a:r>
              <a:rPr lang="ko-KR" altLang="en-US" sz="800" dirty="0" err="1"/>
              <a:t>갱신기간이</a:t>
            </a:r>
            <a:r>
              <a:rPr lang="ko-KR" altLang="en-US" sz="800" dirty="0"/>
              <a:t> 지나 군수품무역대리업 관련 업무를 할 수 없음</a:t>
            </a:r>
            <a:r>
              <a:rPr lang="en-US" altLang="ko-KR" sz="800" dirty="0"/>
              <a:t>.</a:t>
            </a:r>
            <a:r>
              <a:rPr lang="ko-KR" altLang="en-US" sz="800" dirty="0"/>
              <a:t> 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23" name="타원 122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4" name="그룹 123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25" name="직선 연결선 12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직선 연결선 1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64184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양쪽 모서리가 둥근 사각형 127"/>
          <p:cNvSpPr/>
          <p:nvPr/>
        </p:nvSpPr>
        <p:spPr>
          <a:xfrm>
            <a:off x="3795734" y="2747653"/>
            <a:ext cx="2712027" cy="348464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29" name="모서리가 둥근 직사각형 128"/>
          <p:cNvSpPr/>
          <p:nvPr/>
        </p:nvSpPr>
        <p:spPr>
          <a:xfrm>
            <a:off x="4881747" y="2778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30" name="그룹 129"/>
          <p:cNvGrpSpPr/>
          <p:nvPr/>
        </p:nvGrpSpPr>
        <p:grpSpPr>
          <a:xfrm>
            <a:off x="6284673" y="2912467"/>
            <a:ext cx="94010" cy="94010"/>
            <a:chOff x="6812560" y="3297172"/>
            <a:chExt cx="94010" cy="94010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2893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업체등록</a:t>
            </a:r>
            <a:r>
              <a:rPr lang="ko-KR" altLang="en-US" sz="900" dirty="0">
                <a:latin typeface="+mn-ea"/>
              </a:rPr>
              <a:t> 안내</a:t>
            </a: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154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4" name="직사각형 143"/>
          <p:cNvSpPr/>
          <p:nvPr/>
        </p:nvSpPr>
        <p:spPr>
          <a:xfrm>
            <a:off x="3924812" y="3313018"/>
            <a:ext cx="2453872" cy="5016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등록하시는 경우 아래 등록신청서 및 첨부서류를 구비하여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등록신청서 및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ko-KR" altLang="en-US" sz="800" dirty="0">
                <a:latin typeface="Consolas" panose="020B0609020204030204" pitchFamily="49" charset="0"/>
              </a:rPr>
              <a:t> 서식은 국가법령정보센터</a:t>
            </a:r>
            <a:r>
              <a:rPr lang="en-US" altLang="ko-KR" sz="800" dirty="0">
                <a:latin typeface="Consolas" panose="020B0609020204030204" pitchFamily="49" charset="0"/>
              </a:rPr>
              <a:t>(www.law.go.kr)</a:t>
            </a:r>
            <a:r>
              <a:rPr lang="ko-KR" altLang="en-US" sz="800" dirty="0">
                <a:latin typeface="Consolas" panose="020B0609020204030204" pitchFamily="49" charset="0"/>
              </a:rPr>
              <a:t>에서 방위사업법 시행규칙을 검색하시어 별기 </a:t>
            </a:r>
            <a:r>
              <a:rPr lang="en-US" altLang="ko-KR" sz="800" dirty="0">
                <a:latin typeface="Consolas" panose="020B0609020204030204" pitchFamily="49" charset="0"/>
              </a:rPr>
              <a:t>3, </a:t>
            </a:r>
            <a:r>
              <a:rPr lang="ko-KR" altLang="en-US" sz="800" dirty="0">
                <a:latin typeface="Consolas" panose="020B0609020204030204" pitchFamily="49" charset="0"/>
              </a:rPr>
              <a:t>별지 </a:t>
            </a:r>
            <a:r>
              <a:rPr lang="en-US" altLang="ko-KR" sz="800" dirty="0">
                <a:latin typeface="Consolas" panose="020B0609020204030204" pitchFamily="49" charset="0"/>
              </a:rPr>
              <a:t>23 </a:t>
            </a:r>
            <a:r>
              <a:rPr lang="ko-KR" altLang="en-US" sz="800" dirty="0">
                <a:latin typeface="Consolas" panose="020B0609020204030204" pitchFamily="49" charset="0"/>
              </a:rPr>
              <a:t>서식을 사용하시면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변경 등록 시에는 등록 신청서 상에 변경되는 내용을 적으시고 증명되는 서류를 첨부하시면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* </a:t>
            </a:r>
            <a:r>
              <a:rPr lang="ko-KR" altLang="en-US" sz="800" dirty="0">
                <a:latin typeface="Consolas" panose="020B0609020204030204" pitchFamily="49" charset="0"/>
              </a:rPr>
              <a:t>최초 등록 후 </a:t>
            </a:r>
            <a:r>
              <a:rPr lang="en-US" altLang="ko-KR" sz="800" dirty="0">
                <a:latin typeface="Consolas" panose="020B0609020204030204" pitchFamily="49" charset="0"/>
              </a:rPr>
              <a:t>3</a:t>
            </a:r>
            <a:r>
              <a:rPr lang="ko-KR" altLang="en-US" sz="800" dirty="0">
                <a:latin typeface="Consolas" panose="020B0609020204030204" pitchFamily="49" charset="0"/>
              </a:rPr>
              <a:t>년 유효기간이 만료 후에도 군수품무역대리업을 계속 수행하고 싶으시면 유효기간 만료 </a:t>
            </a:r>
            <a:r>
              <a:rPr lang="en-US" altLang="ko-KR" sz="800" dirty="0">
                <a:latin typeface="Consolas" panose="020B0609020204030204" pitchFamily="49" charset="0"/>
              </a:rPr>
              <a:t>1</a:t>
            </a:r>
            <a:r>
              <a:rPr lang="ko-KR" altLang="en-US" sz="800" dirty="0">
                <a:latin typeface="Consolas" panose="020B0609020204030204" pitchFamily="49" charset="0"/>
              </a:rPr>
              <a:t>개월 전부터 국방전자조달 시스템</a:t>
            </a:r>
            <a:r>
              <a:rPr lang="en-US" altLang="ko-KR" sz="800" dirty="0">
                <a:latin typeface="Consolas" panose="020B0609020204030204" pitchFamily="49" charset="0"/>
              </a:rPr>
              <a:t>(www.d2b.go.kr)</a:t>
            </a:r>
            <a:r>
              <a:rPr lang="ko-KR" altLang="en-US" sz="800" dirty="0">
                <a:latin typeface="Consolas" panose="020B0609020204030204" pitchFamily="49" charset="0"/>
              </a:rPr>
              <a:t>에 로그인후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 err="1">
                <a:latin typeface="Consolas" panose="020B0609020204030204" pitchFamily="49" charset="0"/>
              </a:rPr>
              <a:t>마이페이지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에서 아래와 같이 관련 서류를 첨부 후 신청하시기 바랍니다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등록 유효기간이 완료된 이후에는 신규로 다시 신청하시면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</a:p>
          <a:p>
            <a:r>
              <a:rPr lang="en-US" altLang="ko-KR" sz="800" b="1" dirty="0">
                <a:latin typeface="Consolas" panose="020B0609020204030204" pitchFamily="49" charset="0"/>
              </a:rPr>
              <a:t> [ </a:t>
            </a:r>
            <a:r>
              <a:rPr lang="ko-KR" altLang="en-US" sz="800" b="1" dirty="0">
                <a:latin typeface="Consolas" panose="020B0609020204030204" pitchFamily="49" charset="0"/>
              </a:rPr>
              <a:t>등록 신청서 및 첨부서류 </a:t>
            </a:r>
            <a:r>
              <a:rPr lang="en-US" altLang="ko-KR" sz="800" b="1" dirty="0">
                <a:latin typeface="Consolas" panose="020B0609020204030204" pitchFamily="49" charset="0"/>
              </a:rPr>
              <a:t>] </a:t>
            </a:r>
          </a:p>
          <a:p>
            <a:r>
              <a:rPr lang="en-US" altLang="ko-KR" sz="800" dirty="0">
                <a:latin typeface="맑은 고딕" panose="020B0503020000020004" pitchFamily="50" charset="-127"/>
              </a:rPr>
              <a:t>☞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필요서류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안내 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통합검색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&gt;</a:t>
            </a:r>
            <a:r>
              <a:rPr lang="ko-KR" altLang="en-US" sz="800" dirty="0">
                <a:solidFill>
                  <a:srgbClr val="996600"/>
                </a:solidFill>
                <a:latin typeface="Consolas" panose="020B0609020204030204" pitchFamily="49" charset="0"/>
              </a:rPr>
              <a:t>군수품무역대리업 신청서 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① 등록신청서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23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② 대표자 및 임원의 이력서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임원은 상법 등 관련 법률에 따라 이사 및 감사이며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해당 인원은 법인등기부 등본 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임원에 관련된 사항</a:t>
            </a:r>
            <a:r>
              <a:rPr lang="en-US" altLang="ko-KR" sz="800" dirty="0">
                <a:latin typeface="Consolas" panose="020B0609020204030204" pitchFamily="49" charset="0"/>
              </a:rPr>
              <a:t>'</a:t>
            </a:r>
            <a:r>
              <a:rPr lang="ko-KR" altLang="en-US" sz="800" dirty="0">
                <a:latin typeface="Consolas" panose="020B0609020204030204" pitchFamily="49" charset="0"/>
              </a:rPr>
              <a:t>에 기재된   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</a:t>
            </a:r>
            <a:r>
              <a:rPr lang="ko-KR" altLang="en-US" sz="800" dirty="0">
                <a:latin typeface="Consolas" panose="020B0609020204030204" pitchFamily="49" charset="0"/>
              </a:rPr>
              <a:t>모든 인원을 포함합니다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r>
              <a:rPr lang="en-US" altLang="ko-KR" sz="800" dirty="0">
                <a:latin typeface="Consolas" panose="020B0609020204030204" pitchFamily="49" charset="0"/>
              </a:rPr>
              <a:t>    </a:t>
            </a:r>
            <a:r>
              <a:rPr lang="ko-KR" altLang="en-US" sz="800" dirty="0">
                <a:latin typeface="Consolas" panose="020B0609020204030204" pitchFamily="49" charset="0"/>
              </a:rPr>
              <a:t>그러므로 법인등기부 상 임원은 모두 이력서 및 청렴서약서를 제출하셔야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ko-KR" altLang="en-US" sz="800" dirty="0">
                <a:latin typeface="Consolas" panose="020B0609020204030204" pitchFamily="49" charset="0"/>
              </a:rPr>
              <a:t>③ 전체 직원 수 및 방위사업 관련 직원 수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성명 등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</a:t>
            </a:r>
            <a:endParaRPr lang="en-US" altLang="ko-KR" sz="800" b="1" dirty="0">
              <a:latin typeface="Consolas" panose="020B0609020204030204" pitchFamily="49" charset="0"/>
            </a:endParaRPr>
          </a:p>
          <a:p>
            <a:r>
              <a:rPr lang="ko-KR" altLang="en-US" sz="800" dirty="0">
                <a:latin typeface="Consolas" panose="020B0609020204030204" pitchFamily="49" charset="0"/>
              </a:rPr>
              <a:t>④ </a:t>
            </a:r>
            <a:r>
              <a:rPr lang="ko-KR" altLang="en-US" sz="800" dirty="0" err="1">
                <a:latin typeface="Consolas" panose="020B0609020204030204" pitchFamily="49" charset="0"/>
              </a:rPr>
              <a:t>청렴서약서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방위사업법 시행규칙 별지 제 </a:t>
            </a:r>
            <a:r>
              <a:rPr lang="en-US" altLang="ko-KR" sz="800" dirty="0">
                <a:latin typeface="Consolas" panose="020B0609020204030204" pitchFamily="49" charset="0"/>
              </a:rPr>
              <a:t>2</a:t>
            </a:r>
            <a:r>
              <a:rPr lang="ko-KR" altLang="en-US" sz="800" dirty="0">
                <a:latin typeface="Consolas" panose="020B0609020204030204" pitchFamily="49" charset="0"/>
              </a:rPr>
              <a:t>호 서식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  ※ </a:t>
            </a:r>
            <a:r>
              <a:rPr lang="ko-KR" altLang="en-US" sz="800" dirty="0">
                <a:latin typeface="Consolas" panose="020B0609020204030204" pitchFamily="49" charset="0"/>
              </a:rPr>
              <a:t>청렴서약서는 방위사업법 제 </a:t>
            </a:r>
            <a:r>
              <a:rPr lang="en-US" altLang="ko-KR" sz="800" dirty="0">
                <a:latin typeface="Consolas" panose="020B0609020204030204" pitchFamily="49" charset="0"/>
              </a:rPr>
              <a:t>6</a:t>
            </a:r>
            <a:r>
              <a:rPr lang="ko-KR" altLang="en-US" sz="800" dirty="0">
                <a:latin typeface="Consolas" panose="020B0609020204030204" pitchFamily="49" charset="0"/>
              </a:rPr>
              <a:t>조에 따라 대표 및 임원이 함께 제출하여야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r>
              <a:rPr lang="en-US" altLang="ko-KR" sz="800" dirty="0">
                <a:latin typeface="Consolas" panose="020B0609020204030204" pitchFamily="49" charset="0"/>
              </a:rPr>
              <a:t>※ </a:t>
            </a:r>
            <a:r>
              <a:rPr lang="ko-KR" altLang="en-US" sz="800" dirty="0">
                <a:latin typeface="Consolas" panose="020B0609020204030204" pitchFamily="49" charset="0"/>
              </a:rPr>
              <a:t>이력서와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별도 서식이 없습니다</a:t>
            </a:r>
            <a:r>
              <a:rPr lang="en-US" altLang="ko-KR" sz="800" dirty="0">
                <a:latin typeface="Consolas" panose="020B0609020204030204" pitchFamily="49" charset="0"/>
              </a:rPr>
              <a:t>. </a:t>
            </a:r>
            <a:r>
              <a:rPr lang="ko-KR" altLang="en-US" sz="800" dirty="0">
                <a:latin typeface="Consolas" panose="020B0609020204030204" pitchFamily="49" charset="0"/>
              </a:rPr>
              <a:t>일반적으로 이력서는 귀사에서 사용하시는 양식을 사용하시고 </a:t>
            </a:r>
            <a:r>
              <a:rPr lang="ko-KR" altLang="en-US" sz="800" dirty="0" err="1">
                <a:latin typeface="Consolas" panose="020B0609020204030204" pitchFamily="49" charset="0"/>
              </a:rPr>
              <a:t>고용현황은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4</a:t>
            </a:r>
            <a:r>
              <a:rPr lang="ko-KR" altLang="en-US" sz="800" dirty="0" err="1">
                <a:latin typeface="Consolas" panose="020B0609020204030204" pitchFamily="49" charset="0"/>
              </a:rPr>
              <a:t>대보험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가입현황을</a:t>
            </a:r>
            <a:r>
              <a:rPr lang="ko-KR" altLang="en-US" sz="800" dirty="0">
                <a:latin typeface="Consolas" panose="020B0609020204030204" pitchFamily="49" charset="0"/>
              </a:rPr>
              <a:t> 활용하시면서 방위사업 </a:t>
            </a:r>
            <a:r>
              <a:rPr lang="ko-KR" altLang="en-US" sz="800" dirty="0" err="1">
                <a:latin typeface="Consolas" panose="020B0609020204030204" pitchFamily="49" charset="0"/>
              </a:rPr>
              <a:t>참여직원만</a:t>
            </a:r>
            <a:r>
              <a:rPr lang="ko-KR" altLang="en-US" sz="800" dirty="0">
                <a:latin typeface="Consolas" panose="020B0609020204030204" pitchFamily="49" charset="0"/>
              </a:rPr>
              <a:t> 표시하시면 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grpSp>
        <p:nvGrpSpPr>
          <p:cNvPr id="145" name="그룹 144"/>
          <p:cNvGrpSpPr/>
          <p:nvPr/>
        </p:nvGrpSpPr>
        <p:grpSpPr>
          <a:xfrm>
            <a:off x="3795734" y="5613954"/>
            <a:ext cx="2712027" cy="617588"/>
            <a:chOff x="675399" y="5614711"/>
            <a:chExt cx="2712027" cy="617588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252741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49" name="타원 1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608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13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51" name="타원 150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2" name="그룹 151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153" name="직선 연결선 152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4" name="직선 연결선 153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6" name="직선 연결선 155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7" name="타원 156"/>
          <p:cNvSpPr/>
          <p:nvPr/>
        </p:nvSpPr>
        <p:spPr>
          <a:xfrm>
            <a:off x="6596790" y="564023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8" name="그룹 157"/>
          <p:cNvGrpSpPr/>
          <p:nvPr/>
        </p:nvGrpSpPr>
        <p:grpSpPr>
          <a:xfrm>
            <a:off x="6726257" y="5769705"/>
            <a:ext cx="124144" cy="124144"/>
            <a:chOff x="162544" y="5299917"/>
            <a:chExt cx="124144" cy="124144"/>
          </a:xfrm>
        </p:grpSpPr>
        <p:cxnSp>
          <p:nvCxnSpPr>
            <p:cNvPr id="159" name="직선 연결선 158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0" name="직선 연결선 159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36729599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신청 내역</a:t>
            </a:r>
            <a:r>
              <a:rPr lang="ko-KR" altLang="en-US" dirty="0">
                <a:latin typeface="+mn-ea"/>
              </a:rPr>
              <a:t> 상세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</a:t>
            </a:r>
            <a:r>
              <a:rPr lang="ko-KR" altLang="en-US" dirty="0"/>
              <a:t> 신청 내역</a:t>
            </a:r>
            <a:r>
              <a:rPr lang="ko-KR" altLang="en-US" dirty="0">
                <a:latin typeface="+mn-ea"/>
              </a:rPr>
              <a:t>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MUI-CM-01-M16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신청</a:t>
            </a:r>
            <a:r>
              <a:rPr lang="ko-KR" altLang="en-US" sz="800" dirty="0">
                <a:latin typeface="+mn-ea"/>
              </a:rPr>
              <a:t> 내역 상세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8183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3389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2" name="그룹 181"/>
          <p:cNvGrpSpPr/>
          <p:nvPr/>
        </p:nvGrpSpPr>
        <p:grpSpPr>
          <a:xfrm>
            <a:off x="716366" y="2448322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588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781461" y="2127204"/>
            <a:ext cx="2473257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b="1" dirty="0"/>
              <a:t>접수번호 </a:t>
            </a:r>
            <a:r>
              <a:rPr lang="en-US" altLang="ko-KR" sz="900" b="1" dirty="0"/>
              <a:t>2026-0020</a:t>
            </a:r>
            <a:endParaRPr lang="ko-KR" altLang="en-US" sz="900" b="1" dirty="0"/>
          </a:p>
        </p:txBody>
      </p:sp>
      <p:sp>
        <p:nvSpPr>
          <p:cNvPr id="124" name="모서리가 둥근 직사각형 123"/>
          <p:cNvSpPr/>
          <p:nvPr/>
        </p:nvSpPr>
        <p:spPr>
          <a:xfrm>
            <a:off x="781461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신규</a:t>
            </a:r>
          </a:p>
        </p:txBody>
      </p:sp>
      <p:sp>
        <p:nvSpPr>
          <p:cNvPr id="125" name="모서리가 둥근 직사각형 124"/>
          <p:cNvSpPr/>
          <p:nvPr/>
        </p:nvSpPr>
        <p:spPr>
          <a:xfrm>
            <a:off x="1079210" y="1942873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저장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3768757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업체정보</a:t>
            </a:r>
          </a:p>
        </p:txBody>
      </p:sp>
      <p:grpSp>
        <p:nvGrpSpPr>
          <p:cNvPr id="129" name="그룹 128"/>
          <p:cNvGrpSpPr/>
          <p:nvPr/>
        </p:nvGrpSpPr>
        <p:grpSpPr>
          <a:xfrm flipV="1">
            <a:off x="3139424" y="3882088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0" name="직사각형 129"/>
          <p:cNvSpPr/>
          <p:nvPr/>
        </p:nvSpPr>
        <p:spPr>
          <a:xfrm>
            <a:off x="718459" y="4076242"/>
            <a:ext cx="792000" cy="21544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407624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76242"/>
            <a:ext cx="715881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상호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대표자성명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전화번호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팩스번호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E-mail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사업자번호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설립일자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주소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반려사유</a:t>
            </a:r>
            <a:endParaRPr lang="en-US" altLang="ko-KR" sz="700" dirty="0">
              <a:latin typeface="+mn-ea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4076242"/>
            <a:ext cx="1784088" cy="2154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조달테스트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02-2345-6789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test@dapa.go.kr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123-45-67890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1999-01-02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서울특별시 종로구 </a:t>
            </a:r>
            <a:r>
              <a:rPr lang="en-US" altLang="ko-KR" sz="700" dirty="0">
                <a:latin typeface="+mn-ea"/>
              </a:rPr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반려 사유가 있는 경우 내역 표시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3073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5210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7347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9383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5152493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38359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597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581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601460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89558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3825376" y="2014071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088592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142453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153" name="타원 152"/>
          <p:cNvSpPr/>
          <p:nvPr/>
        </p:nvSpPr>
        <p:spPr>
          <a:xfrm>
            <a:off x="6148139" y="2124314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3825376" y="242075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9527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4913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66" name="타원 165"/>
          <p:cNvSpPr/>
          <p:nvPr/>
        </p:nvSpPr>
        <p:spPr>
          <a:xfrm>
            <a:off x="6148139" y="2531000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1878953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57655" y="1878953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1878953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12" name="모서리가 둥근 직사각형 211"/>
          <p:cNvSpPr/>
          <p:nvPr/>
        </p:nvSpPr>
        <p:spPr>
          <a:xfrm>
            <a:off x="3825376" y="2822120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96641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50502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215" name="타원 214"/>
          <p:cNvSpPr/>
          <p:nvPr/>
        </p:nvSpPr>
        <p:spPr>
          <a:xfrm>
            <a:off x="6148139" y="2932363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모서리가 둥근 직사각형 215"/>
          <p:cNvSpPr/>
          <p:nvPr/>
        </p:nvSpPr>
        <p:spPr>
          <a:xfrm>
            <a:off x="3825376" y="322880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0332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5718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sp>
        <p:nvSpPr>
          <p:cNvPr id="233" name="타원 232"/>
          <p:cNvSpPr/>
          <p:nvPr/>
        </p:nvSpPr>
        <p:spPr>
          <a:xfrm>
            <a:off x="6148139" y="3339049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52" name="그룹 251"/>
          <p:cNvGrpSpPr/>
          <p:nvPr/>
        </p:nvGrpSpPr>
        <p:grpSpPr>
          <a:xfrm flipV="1">
            <a:off x="6220287" y="1679485"/>
            <a:ext cx="94010" cy="47005"/>
            <a:chOff x="6812560" y="3297172"/>
            <a:chExt cx="94010" cy="47005"/>
          </a:xfrm>
        </p:grpSpPr>
        <p:cxnSp>
          <p:nvCxnSpPr>
            <p:cNvPr id="253" name="직선 연결선 25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4" name="직선 연결선 25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5" name="모서리가 둥근 직사각형 254"/>
          <p:cNvSpPr/>
          <p:nvPr/>
        </p:nvSpPr>
        <p:spPr>
          <a:xfrm>
            <a:off x="3825376" y="3637559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712080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65941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258" name="타원 257"/>
          <p:cNvSpPr/>
          <p:nvPr/>
        </p:nvSpPr>
        <p:spPr>
          <a:xfrm>
            <a:off x="6148139" y="3747802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8618584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2CFD585-1033-4C5A-3046-40C4A14E6C3D}"/>
              </a:ext>
            </a:extLst>
          </p:cNvPr>
          <p:cNvSpPr txBox="1"/>
          <p:nvPr/>
        </p:nvSpPr>
        <p:spPr>
          <a:xfrm>
            <a:off x="460676" y="2623970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F2E64DD-C9B3-2069-464E-8BD9C096BA8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848344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66745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atrzStcd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(‘S’)/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(‘R’)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4654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52684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599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75768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09033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3178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13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73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17266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atrzRjctRsn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반려사유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879723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71743" y="799547"/>
            <a:ext cx="448737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등록 신청 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1323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요청일자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ersrYmd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expryYmd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만료일자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말소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8B6B666-3096-71A0-5E08-A5417DF73D6C}"/>
              </a:ext>
            </a:extLst>
          </p:cNvPr>
          <p:cNvSpPr txBox="1"/>
          <p:nvPr/>
        </p:nvSpPr>
        <p:spPr>
          <a:xfrm>
            <a:off x="458118" y="5674388"/>
            <a:ext cx="48897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907B84B-0786-4D7E-AF4E-4677156D325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892824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4399C34-F0AD-2FC9-C9A3-AB70DB543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313818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186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8A8E10-80BC-6069-7ED2-A71A25FB940D}"/>
              </a:ext>
            </a:extLst>
          </p:cNvPr>
          <p:cNvSpPr txBox="1"/>
          <p:nvPr/>
        </p:nvSpPr>
        <p:spPr>
          <a:xfrm>
            <a:off x="455204" y="73350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A79CEB3-66DB-AEAC-E099-1C436911FB6A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63715"/>
          <a:ext cx="8995591" cy="1895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군수품무역대리업 등록증 발급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scwin.btn_dfEqpmntTradeAgncIssu_onclick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승인되고 만료일자가 지나지 않은 신청 목록이 있을 때 등록증을 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</a:t>
                      </a:r>
                      <a:r>
                        <a:rPr lang="en-US" altLang="ko-KR" sz="800" dirty="0">
                          <a:latin typeface="+mn-ea"/>
                        </a:rPr>
                        <a:t>R26 </a:t>
                      </a:r>
                      <a:r>
                        <a:rPr lang="ko-KR" altLang="en-US" sz="800" dirty="0">
                          <a:latin typeface="+mn-ea"/>
                        </a:rPr>
                        <a:t>참조</a:t>
                      </a:r>
                      <a:r>
                        <a:rPr lang="en-US" altLang="ko-KR" sz="800" dirty="0">
                          <a:latin typeface="+mn-ea"/>
                        </a:rPr>
                        <a:t> (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OZPrint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(‘PVB021’))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변경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scwin.btn_mdfcn_onclick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조건에 따라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1,2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하나의 화면으로 이동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 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2.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군수품무역대리업 신청한 정보 변경 화면으로 이동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신규이고 진행상태가 저장일때 신규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화면으로 이동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구분이 실효나 말소일 경우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Message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9240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갱신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scwin.btn_updt_onclick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UI-CM-01-M24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22549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신규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scwin.btn_new_onclick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598501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5BD577E-BD73-83A5-547A-47F99BFA9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84679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5161608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</a:t>
            </a:r>
            <a:r>
              <a:rPr lang="ko-KR" altLang="en-US" dirty="0" smtClean="0"/>
              <a:t>팝업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해당 항목을 선택하여 파일 첨부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51002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468167"/>
            <a:chOff x="716366" y="3768757"/>
            <a:chExt cx="2630093" cy="246816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21544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반려사유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21544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반려 사유가 있는 경우 내역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23692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등록신청서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69424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이력서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2328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196266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270787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청렴서약서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324648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sp>
        <p:nvSpPr>
          <p:cNvPr id="108" name="모서리가 둥근 직사각형 107"/>
          <p:cNvSpPr/>
          <p:nvPr/>
        </p:nvSpPr>
        <p:spPr>
          <a:xfrm>
            <a:off x="3825376" y="3602952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677473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rgbClr val="000000"/>
                </a:solidFill>
                <a:latin typeface="맑은 고딕" panose="020B0503020000020004" pitchFamily="50" charset="-127"/>
              </a:rPr>
              <a:t>고용현황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731334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4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5" name="모서리가 둥근 직사각형 114"/>
          <p:cNvSpPr/>
          <p:nvPr/>
        </p:nvSpPr>
        <p:spPr>
          <a:xfrm>
            <a:off x="3825376" y="4011705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4086226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000000"/>
                </a:solidFill>
                <a:latin typeface="맑은 고딕" panose="020B0503020000020004" pitchFamily="50" charset="-127"/>
              </a:rPr>
              <a:t>기타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4140087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5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0353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712234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295442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4121177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>
              <a:gd name="adj1" fmla="val 7735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614478" cy="386907"/>
            <a:chOff x="595686" y="1210923"/>
            <a:chExt cx="998966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등록신청서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615439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이력서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865617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 err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청렴서약서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48830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186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285480197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 smtClean="0"/>
              <a:t>노출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행정정보 공동이용 동의서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바텀시트로</a:t>
            </a:r>
            <a:r>
              <a:rPr lang="ko-KR" altLang="en-US" dirty="0" smtClean="0"/>
              <a:t>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제목에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/>
              <a:t>행정정보 공동이용 동의서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내용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본인은 </a:t>
            </a:r>
            <a:r>
              <a:rPr lang="ko-KR" altLang="en-US" dirty="0"/>
              <a:t>이 건 업무처리와 관련하여 담당 공무원이 </a:t>
            </a:r>
            <a:r>
              <a:rPr lang="en-US" altLang="ko-KR" dirty="0"/>
              <a:t>"</a:t>
            </a:r>
            <a:r>
              <a:rPr lang="ko-KR" altLang="en-US" dirty="0" err="1"/>
              <a:t>전자정부법</a:t>
            </a:r>
            <a:r>
              <a:rPr lang="en-US" altLang="ko-KR" dirty="0"/>
              <a:t>" </a:t>
            </a:r>
            <a:r>
              <a:rPr lang="ko-KR" altLang="en-US" dirty="0"/>
              <a:t>제</a:t>
            </a:r>
            <a:r>
              <a:rPr lang="en-US" altLang="ko-KR" dirty="0"/>
              <a:t>36</a:t>
            </a:r>
            <a:r>
              <a:rPr lang="ko-KR" altLang="en-US" dirty="0"/>
              <a:t>조제</a:t>
            </a:r>
            <a:r>
              <a:rPr lang="en-US" altLang="ko-KR" dirty="0"/>
              <a:t>1</a:t>
            </a:r>
            <a:r>
              <a:rPr lang="ko-KR" altLang="en-US" dirty="0"/>
              <a:t>항에 따른 행정정보의 공동이용을 통하여 위의 담당공무원 </a:t>
            </a:r>
            <a:r>
              <a:rPr lang="ko-KR" altLang="en-US" dirty="0" err="1"/>
              <a:t>확인사항</a:t>
            </a:r>
            <a:r>
              <a:rPr lang="ko-KR" altLang="en-US" dirty="0"/>
              <a:t> 중 </a:t>
            </a:r>
            <a:r>
              <a:rPr lang="ko-KR" altLang="en-US" dirty="0" err="1"/>
              <a:t>주민등록표</a:t>
            </a:r>
            <a:r>
              <a:rPr lang="ko-KR" altLang="en-US" dirty="0"/>
              <a:t> 등본</a:t>
            </a:r>
            <a:r>
              <a:rPr lang="en-US" altLang="ko-KR" dirty="0"/>
              <a:t>, </a:t>
            </a:r>
            <a:r>
              <a:rPr lang="ko-KR" altLang="en-US" dirty="0"/>
              <a:t>사업자등록증을 </a:t>
            </a:r>
            <a:r>
              <a:rPr lang="ko-KR" altLang="en-US" dirty="0" err="1"/>
              <a:t>확인하는것에</a:t>
            </a:r>
            <a:r>
              <a:rPr lang="ko-KR" altLang="en-US" dirty="0"/>
              <a:t> 동의합니다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동의하지 </a:t>
            </a:r>
            <a:r>
              <a:rPr lang="ko-KR" altLang="en-US" dirty="0"/>
              <a:t>아니하는 경우에는 신청인이 직접 관련 서류를 제출하여야 합니다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동의안함</a:t>
            </a:r>
            <a:r>
              <a:rPr lang="en-US" altLang="ko-KR" dirty="0" smtClean="0"/>
              <a:t>, </a:t>
            </a:r>
            <a:r>
              <a:rPr lang="ko-KR" altLang="en-US" dirty="0" smtClean="0"/>
              <a:t>동의함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신규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신구</a:t>
            </a:r>
            <a:r>
              <a:rPr lang="en-US" altLang="ko-KR" dirty="0"/>
              <a:t>(</a:t>
            </a:r>
            <a:r>
              <a:rPr lang="ko-KR" altLang="en-US" dirty="0"/>
              <a:t>갱신</a:t>
            </a:r>
            <a:r>
              <a:rPr lang="en-US" altLang="ko-KR" dirty="0"/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52219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5" name="직사각형 7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1612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78" name="모서리가 둥근 직사각형 77"/>
          <p:cNvSpPr/>
          <p:nvPr/>
        </p:nvSpPr>
        <p:spPr>
          <a:xfrm>
            <a:off x="3874040" y="2020963"/>
            <a:ext cx="2543426" cy="1285781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77120" y="2082782"/>
            <a:ext cx="2154318" cy="113107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 smtClean="0">
                <a:latin typeface="Consolas" panose="020B0609020204030204" pitchFamily="49" charset="0"/>
              </a:rPr>
              <a:t>도움말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심사대기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심사전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수정대기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보안측정인원 첨부파일 </a:t>
            </a:r>
            <a:r>
              <a:rPr lang="ko-KR" altLang="en-US" sz="700" dirty="0" err="1">
                <a:latin typeface="Consolas" panose="020B0609020204030204" pitchFamily="49" charset="0"/>
              </a:rPr>
              <a:t>수정제출한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 err="1">
                <a:latin typeface="Consolas" panose="020B0609020204030204" pitchFamily="49" charset="0"/>
              </a:rPr>
              <a:t>승인완료</a:t>
            </a:r>
            <a:r>
              <a:rPr lang="ko-KR" altLang="en-US" sz="700" dirty="0">
                <a:latin typeface="Consolas" panose="020B0609020204030204" pitchFamily="49" charset="0"/>
              </a:rPr>
              <a:t> </a:t>
            </a:r>
            <a:r>
              <a:rPr lang="en-US" altLang="ko-KR" sz="700" dirty="0">
                <a:latin typeface="Consolas" panose="020B0609020204030204" pitchFamily="49" charset="0"/>
              </a:rPr>
              <a:t>: </a:t>
            </a:r>
            <a:r>
              <a:rPr lang="ko-KR" altLang="en-US" sz="700" dirty="0">
                <a:latin typeface="Consolas" panose="020B0609020204030204" pitchFamily="49" charset="0"/>
              </a:rPr>
              <a:t>군수품무역대리업 신청 후 </a:t>
            </a:r>
            <a:r>
              <a:rPr lang="ko-KR" altLang="en-US" sz="700" dirty="0" err="1">
                <a:latin typeface="Consolas" panose="020B0609020204030204" pitchFamily="49" charset="0"/>
              </a:rPr>
              <a:t>발급완료</a:t>
            </a:r>
            <a:r>
              <a:rPr lang="ko-KR" altLang="en-US" sz="700" dirty="0">
                <a:latin typeface="Consolas" panose="020B0609020204030204" pitchFamily="49" charset="0"/>
              </a:rPr>
              <a:t> 상태</a:t>
            </a:r>
          </a:p>
        </p:txBody>
      </p:sp>
      <p:sp>
        <p:nvSpPr>
          <p:cNvPr id="80" name="타원 79"/>
          <p:cNvSpPr/>
          <p:nvPr/>
        </p:nvSpPr>
        <p:spPr>
          <a:xfrm>
            <a:off x="3947179" y="20875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1" name="그룹 80"/>
          <p:cNvGrpSpPr/>
          <p:nvPr/>
        </p:nvGrpSpPr>
        <p:grpSpPr>
          <a:xfrm flipV="1">
            <a:off x="6253053" y="2157996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84" name="그룹 83"/>
          <p:cNvGrpSpPr/>
          <p:nvPr/>
        </p:nvGrpSpPr>
        <p:grpSpPr>
          <a:xfrm>
            <a:off x="8223250" y="896370"/>
            <a:ext cx="3365500" cy="634511"/>
            <a:chOff x="8223250" y="569392"/>
            <a:chExt cx="3365500" cy="634511"/>
          </a:xfrm>
        </p:grpSpPr>
        <p:sp>
          <p:nvSpPr>
            <p:cNvPr id="85" name="직사각형 84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86" name="직사각형 8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심사대기</a:t>
              </a:r>
              <a:r>
                <a:rPr lang="ko-KR" altLang="en-US" sz="700" dirty="0" smtClean="0"/>
                <a:t> 등 도움말 항목으로 변경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동의서 내용 팝업에서 노출되는 방식으로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95465197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827718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3000" y="814369"/>
            <a:ext cx="43222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25002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3000" y="3575017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77694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E54D1D8-7E81-786A-8730-6DB0DAFFEE5A}"/>
              </a:ext>
            </a:extLst>
          </p:cNvPr>
          <p:cNvSpPr txBox="1"/>
          <p:nvPr/>
        </p:nvSpPr>
        <p:spPr>
          <a:xfrm>
            <a:off x="453000" y="4560633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DC00B-0F83-4847-B2AB-C0869EBE48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8553688"/>
              </p:ext>
            </p:extLst>
          </p:nvPr>
        </p:nvGraphicFramePr>
        <p:xfrm>
          <a:off x="453000" y="477183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70576C96-65C6-70F2-0515-AE53B835C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12872026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190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313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011142"/>
              </p:ext>
            </p:extLst>
          </p:nvPr>
        </p:nvGraphicFramePr>
        <p:xfrm>
          <a:off x="455204" y="96249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신청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2FDA49AD-7FB8-F262-5777-4E8C7C062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4557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45311062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신규</a:t>
            </a:r>
            <a:r>
              <a:rPr lang="en-US" altLang="ko-KR" dirty="0"/>
              <a:t>, </a:t>
            </a:r>
            <a:r>
              <a:rPr lang="ko-KR" altLang="en-US" dirty="0"/>
              <a:t>갱신에 따라 타이틀 변경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 접수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첨부파일 파일 추가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첨부 </a:t>
            </a:r>
            <a:r>
              <a:rPr lang="ko-KR" altLang="en-US" dirty="0" err="1"/>
              <a:t>서류명</a:t>
            </a:r>
            <a:r>
              <a:rPr lang="ko-KR" altLang="en-US" dirty="0"/>
              <a:t> 하단 </a:t>
            </a:r>
            <a:r>
              <a:rPr lang="ko-KR" altLang="en-US" dirty="0" err="1"/>
              <a:t>바텀시트</a:t>
            </a:r>
            <a:r>
              <a:rPr lang="ko-KR" altLang="en-US" dirty="0"/>
              <a:t> 팝업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MUI-CM-01-M17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변경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8397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6497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1" name="그룹 120"/>
          <p:cNvGrpSpPr/>
          <p:nvPr/>
        </p:nvGrpSpPr>
        <p:grpSpPr>
          <a:xfrm>
            <a:off x="670228" y="1844328"/>
            <a:ext cx="2717198" cy="303979"/>
            <a:chOff x="675399" y="1846937"/>
            <a:chExt cx="2717198" cy="303979"/>
          </a:xfrm>
        </p:grpSpPr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69340" y="1891204"/>
              <a:ext cx="220200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나라장터</a:t>
              </a:r>
              <a:r>
                <a:rPr lang="en-US" altLang="ko-KR" sz="700" dirty="0">
                  <a:solidFill>
                    <a:prstClr val="black"/>
                  </a:solidFill>
                </a:rPr>
                <a:t>(G2B) </a:t>
              </a:r>
              <a:r>
                <a:rPr lang="ko-KR" altLang="en-US" sz="700" dirty="0">
                  <a:solidFill>
                    <a:prstClr val="black"/>
                  </a:solidFill>
                </a:rPr>
                <a:t>조달업체정보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ko-KR" altLang="en-US" sz="700" dirty="0">
                  <a:solidFill>
                    <a:prstClr val="black"/>
                  </a:solidFill>
                </a:rPr>
                <a:t>최근 수신</a:t>
              </a:r>
              <a:r>
                <a:rPr lang="en-US" altLang="ko-KR" sz="700" dirty="0">
                  <a:solidFill>
                    <a:prstClr val="black"/>
                  </a:solidFill>
                </a:rPr>
                <a:t>(</a:t>
              </a:r>
              <a:r>
                <a:rPr lang="ko-KR" altLang="en-US" sz="700" dirty="0">
                  <a:solidFill>
                    <a:prstClr val="black"/>
                  </a:solidFill>
                </a:rPr>
                <a:t>갱신</a:t>
              </a:r>
              <a:r>
                <a:rPr lang="en-US" altLang="ko-KR" sz="700" dirty="0">
                  <a:solidFill>
                    <a:prstClr val="black"/>
                  </a:solidFill>
                </a:rPr>
                <a:t>)</a:t>
              </a:r>
              <a:r>
                <a:rPr lang="ko-KR" altLang="en-US" sz="700" dirty="0">
                  <a:solidFill>
                    <a:prstClr val="black"/>
                  </a:solidFill>
                </a:rPr>
                <a:t>일시 </a:t>
              </a:r>
              <a:r>
                <a:rPr lang="en-US" altLang="ko-KR" sz="700" dirty="0">
                  <a:solidFill>
                    <a:prstClr val="black"/>
                  </a:solidFill>
                </a:rPr>
                <a:t>: 2000-12-31 12:00</a:t>
              </a:r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91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861883" y="1920467"/>
              <a:ext cx="421867" cy="156920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갱신하기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82" name="그룹 181"/>
          <p:cNvGrpSpPr/>
          <p:nvPr/>
        </p:nvGrpSpPr>
        <p:grpSpPr>
          <a:xfrm>
            <a:off x="716366" y="2250457"/>
            <a:ext cx="2630093" cy="1169259"/>
            <a:chOff x="720490" y="4465173"/>
            <a:chExt cx="2630093" cy="1169259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접수정보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4" name="그룹 18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201" name="직선 연결선 20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2" name="직선 연결선 2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72658"/>
              <a:ext cx="792000" cy="85340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접수번호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처리일시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처리구분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2026-0000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2022-12-31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716366" y="3573575"/>
            <a:ext cx="2630093" cy="2246477"/>
            <a:chOff x="716366" y="3768757"/>
            <a:chExt cx="2630093" cy="224647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3768757"/>
              <a:ext cx="118217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129" name="그룹 128"/>
            <p:cNvGrpSpPr/>
            <p:nvPr/>
          </p:nvGrpSpPr>
          <p:grpSpPr>
            <a:xfrm flipV="1">
              <a:off x="3139424" y="3882088"/>
              <a:ext cx="94010" cy="47005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0" name="직사각형 129"/>
            <p:cNvSpPr/>
            <p:nvPr/>
          </p:nvSpPr>
          <p:spPr>
            <a:xfrm>
              <a:off x="718459" y="4076242"/>
              <a:ext cx="792000" cy="19330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07624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076242"/>
              <a:ext cx="715881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대표자성명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팩스번호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E-mail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사업자번호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설립일자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주소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4076242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02-2345-6789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test@dapa.go.kr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1999-01-02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 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3073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5210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73476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8" name="직선 연결선 1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93835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51524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38359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730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5" name="직선 연결선 1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8110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601460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906" y="1570670"/>
            <a:ext cx="1384615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첨부파일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– 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총 </a:t>
            </a:r>
            <a:r>
              <a:rPr lang="en-US" altLang="ko-KR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0</a:t>
            </a:r>
            <a:r>
              <a:rPr lang="ko-KR" altLang="en-US" sz="700" spc="-52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</a:rPr>
              <a:t>건</a:t>
            </a:r>
            <a:endParaRPr lang="ko-KR" altLang="en-US" sz="700" dirty="0"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3825376" y="2388217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462738"/>
            <a:ext cx="168273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변경사항을 입증할 수 있는 증빙서류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51659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97" name="모서리가 둥근 직사각형 96"/>
          <p:cNvSpPr/>
          <p:nvPr/>
        </p:nvSpPr>
        <p:spPr>
          <a:xfrm>
            <a:off x="3825376" y="2794902"/>
            <a:ext cx="2652743" cy="444819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855729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spc="-60" dirty="0">
                <a:latin typeface="맑은 고딕" panose="020B0503020000020004" pitchFamily="50" charset="-127"/>
              </a:rPr>
              <a:t>등록증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(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등록증 기재사항을 변경하는 경우만 해당</a:t>
            </a:r>
            <a:r>
              <a:rPr lang="en-US" altLang="ko-KR" sz="700" spc="-60" dirty="0">
                <a:latin typeface="맑은 고딕" panose="020B0503020000020004" pitchFamily="50" charset="-127"/>
              </a:rPr>
              <a:t>)</a:t>
            </a:r>
            <a:r>
              <a:rPr lang="ko-KR" altLang="en-US" sz="700" spc="-60" dirty="0">
                <a:latin typeface="맑은 고딕" panose="020B0503020000020004" pitchFamily="50" charset="-127"/>
              </a:rPr>
              <a:t>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</a:rPr>
              <a:t>*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2963450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2253099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첨부서류명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32140" y="2253099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3825376" y="3281920"/>
            <a:ext cx="2652743" cy="490640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6044" y="3365658"/>
            <a:ext cx="1682738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맑은 고딕" panose="020B0503020000020004" pitchFamily="50" charset="-127"/>
              </a:rPr>
              <a:t>기타</a:t>
            </a:r>
            <a:r>
              <a:rPr lang="en-US" altLang="ko-KR" sz="700" dirty="0">
                <a:latin typeface="맑은 고딕" panose="020B0503020000020004" pitchFamily="50" charset="-127"/>
              </a:rPr>
              <a:t>(</a:t>
            </a:r>
            <a:r>
              <a:rPr lang="ko-KR" altLang="en-US" sz="700" dirty="0">
                <a:latin typeface="맑은 고딕" panose="020B0503020000020004" pitchFamily="50" charset="-127"/>
              </a:rPr>
              <a:t>파일이 여려 개일 경우 압축해서 첨부 가능</a:t>
            </a:r>
            <a:r>
              <a:rPr lang="en-US" altLang="ko-KR" sz="700" dirty="0">
                <a:latin typeface="맑은 고딕" panose="020B0503020000020004" pitchFamily="50" charset="-127"/>
              </a:rPr>
              <a:t>)</a:t>
            </a:r>
            <a:endParaRPr lang="en-US" altLang="ko-KR" sz="7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3572" y="3473379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3</a:t>
            </a:r>
          </a:p>
        </p:txBody>
      </p:sp>
      <p:grpSp>
        <p:nvGrpSpPr>
          <p:cNvPr id="112" name="그룹 111"/>
          <p:cNvGrpSpPr/>
          <p:nvPr/>
        </p:nvGrpSpPr>
        <p:grpSpPr>
          <a:xfrm flipV="1">
            <a:off x="6220287" y="1660597"/>
            <a:ext cx="94010" cy="47005"/>
            <a:chOff x="6812560" y="3297172"/>
            <a:chExt cx="94010" cy="47005"/>
          </a:xfrm>
        </p:grpSpPr>
        <p:cxnSp>
          <p:nvCxnSpPr>
            <p:cNvPr id="113" name="직선 연결선 11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직선 연결선 11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065862" y="2256932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삭제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6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939869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2486745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7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086283" y="3449798"/>
            <a:ext cx="284126" cy="154884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삭제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25376" y="1883029"/>
            <a:ext cx="2652742" cy="207774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파일 추가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24490" y="18737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C29EC709-3774-4B79-A1C9-F5C9BF064DD3}"/>
              </a:ext>
            </a:extLst>
          </p:cNvPr>
          <p:cNvSpPr/>
          <p:nvPr/>
        </p:nvSpPr>
        <p:spPr>
          <a:xfrm>
            <a:off x="7299588" y="4875644"/>
            <a:ext cx="984207" cy="1324843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98" name="사각형: 둥근 위쪽 모서리 75">
            <a:extLst>
              <a:ext uri="{FF2B5EF4-FFF2-40B4-BE49-F238E27FC236}">
                <a16:creationId xmlns:a16="http://schemas.microsoft.com/office/drawing/2014/main" id="{60414052-E4D1-4C00-8788-EA50205FEE78}"/>
              </a:ext>
            </a:extLst>
          </p:cNvPr>
          <p:cNvSpPr/>
          <p:nvPr/>
        </p:nvSpPr>
        <p:spPr>
          <a:xfrm>
            <a:off x="7302599" y="5175039"/>
            <a:ext cx="974971" cy="1025448"/>
          </a:xfrm>
          <a:prstGeom prst="round2Same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t"/>
          <a:lstStyle/>
          <a:p>
            <a:pPr algn="l">
              <a:lnSpc>
                <a:spcPct val="150000"/>
              </a:lnSpc>
            </a:pPr>
            <a:endParaRPr lang="ko-KR" altLang="en-US" sz="1400" dirty="0">
              <a:solidFill>
                <a:schemeClr val="tx1"/>
              </a:solidFill>
            </a:endParaRPr>
          </a:p>
        </p:txBody>
      </p: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61AA3FF4-C749-419A-A832-EBDDB6501526}"/>
              </a:ext>
            </a:extLst>
          </p:cNvPr>
          <p:cNvCxnSpPr/>
          <p:nvPr/>
        </p:nvCxnSpPr>
        <p:spPr>
          <a:xfrm>
            <a:off x="7362749" y="5509919"/>
            <a:ext cx="833735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79304F6B-454C-471B-AC82-4B2469CA7E73}"/>
              </a:ext>
            </a:extLst>
          </p:cNvPr>
          <p:cNvSpPr txBox="1"/>
          <p:nvPr/>
        </p:nvSpPr>
        <p:spPr>
          <a:xfrm>
            <a:off x="7369064" y="5391677"/>
            <a:ext cx="485299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kumimoji="1" lang="ko-KR" altLang="en-US" sz="800" dirty="0">
                <a:latin typeface="+mn-ea"/>
              </a:rPr>
              <a:t>첨부파일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203" name="Radio Button Group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bZEtJN5trzIZ/7X6Wfpcl2WjJwFIzhUl3ldF7M8nVRVmZ4ti3brzEfhWVUv0qbzwSg9O16tUurzjgPooYhnQriPGV7/bbwYIINHiL71KpsV1ZN121bLz+tqvXo9z1Z5k9bxj2lg+VUaf2eLuhm/zsGP+Uw+kq49pCOI4ynO0614j+OzpttbB9wASDx376bHs1l6DppOld3iLbs0G9N7z7NJXm59xN2n0n/z6CMQMgbhDAJ0XOcZMwX/8lkUrGm39dFHo3T3/s4QwA28RVMQ4cYtA/n3f+Ne3QQdbcffLWbtnIDu7ezc1BRgqeXARL2pXrc1sdTWjV166KWffDY00LH/R497zVPn7bpepm29ziPd/pL+R3lpZNx/BhhIoZ9n9NLN4L0/f8km0b+siln6tGhWVZNvDUs0hGKICX5X0TA3S9YQcW33kWHdqNX8xsFI8bAiioEPaaJalWkRY9ytavLTpEnSJl/O8nokDH9cXzRpPkyytr6+kSLMrq/QB8H2lRWNr6/BYuTpdoLnFw8x6DevZkOsoyrWPANsjedDVa55NnSBZ6CLr1Yzmv1ndbXAlG9tbVn1eUcm/A5rib7V6j6k4r/I3tJUrmszn6Rs04JImzdtVZOKyc7JZ0ibeXVFM3F3XswwIQ3jsRl2SGhljK2e03ZCvYy/aKo3dfG6pVGNF/h9nQ/pQTwRxTTwceSj82KZlWWcCbsf4fkiq2m45fgVDYCE86RafMmy1eGkGL7DGg7PNGun83Tr9N00ZxuX5u9u1kiQsefVxQU0fF1X9dZHz7KipHlqq3TNbCGMryY3ZbaR+RqTxaQu+hrI+9X9cZd443GzXpANvj4KPzb+G3kGaTt3ikDZYtwBcrcPxegv8SkHpPtReiaKMJuUntHpEGUAT/PVG8Jvkb0rFusF6d/FhNCuzkWu0ol4JWmx5GFcoG8PeQs9MgA8dhAEoyUgLbHKO28sDfsFPRn8WghP51mdEY3rxlIddgZfZcFovkH8oUKe58sLdnB2d/ojMQCMex03cbbV86JpH3vwZZqPfCUnH7mwTFX5wJtbfQWnzsKA7veNl/01Gh7gifkD86IZy0jp36h6RRABzez62nJ9RYTvvZjj87xt0qt5TvOvoieiQqyxhlJLyeeuSD+TMsjSwPcWRfDR+7CHkFIirZ5Nu5FUF3mb/mLjAm6YYjIAFGKnR+nOYXoY0ZhRpKwz2LDTnDrv+Ua8pOGTdVHOYNcmymLBxxHGwgOjfyvrPmBJSHLzDCq/x8p9AkEpbaDa1/NYmslYBZrIvcErwUNtSSzIm3heLPMBgvTa+j6R2n03NUMWPW62+x8qL1Fng8HSEL+wn9zxmpR1oEZv5hpQ73e91dzjEUyjJJNev/f9tCSywkKg//HrVUmpB/Ch/f4Xpx/9vvXvuySbTT/53+VH6S8ZKaPyCxoaj19Uyzw+QQjh2xR+C5mKJdmMOqegoaB+CspaiZ/3i9YF+XnxITOShmc++2yQaTYMmIMCBPKv8qb4QX66hDWf0cCHwsKhAKH7ER4an8zq3YwyFRjTgFMKo7kFE1dQz6RpivQxWbt2Pv6iWAajHHWN+B1q/Mkn7y9vyl6ATV1yF98rvr9RjG6jFqIm1n8wbRjdjSr3G4lKLFYbupNhvxfAboQD8n2NgABPPGPhP7HhUKbJm42N/Ud1FR5izlf5gkwVicdsvZxlYL9hFr2akx8fRJWDpvKWnPv+TCv4Pid14Y/+/RR396P3jbcGFUZ7qyzVRhMQSRvhiWByQkqzvtm+3OCvva5qctgyEv+GfXV118i2Z82U7CU0RFXDEZlcw58r6vTx9OhNtXp8d3qUXmblOginbI83ePQNBdJmyEDhyfVP5jV9kpXPK4o6iZW22KVmBjtSrG6miYZ3gLg1o5jvgvoSn1q+2h1Jekj+2ru9Y2QsOwMh674iTl+ssjp/U4nzvIcPoxH2h84Q3PUiK4nRGnaor0xsS6pHosKCUmepW1LqB7m2lxtmhacjEh5Eo5KbZ8NxaP87dvYc2M+i+U7zbDDe72OLfY6azvPpW2exTAgn3w7qkwBCUU/L/INAlFiB2AghDiMk3vjN9YopOJi5YoBohdSV5Ft+4S/0plLVNoHY7XzxqmpZGtm1Oqcv4wjhYa2IN79qixKrle0LWrfzQ0sAiYV8728F/CQMJ0XOYLWwIONQ/9x+foMv4gGIp9395wbHI8qO/nPD+3gCT3CXPcHPvFHKZG3y+fznFv3h8bRi6nd2s2dkHo7Cp9lSk5CvFdSASYw9N9LOPLccEx4rKe8pJMfrVj7YyPKxR3qz79/YbdASXfMfX5Jl/ZpdQ+pY0k5YQQ1JV+x5D8Li8TUgVj6F0pu84NjT55mhuGvo2eBbdx/42j+/mQJ272eTJ5xd/fnAEoj9nlTvPnRWnsMR+FmcFc/R+P/ArNyy2WDYFnveg2Dghc5Y32Nm8AwvyL0P3W9Bhhua3PD1rQh4C8INDtf5ETeNeQOmg9kLPOx1FM1PUny0IQA3D8+sb7TE7yWvz1db8uHP/Exo32xTX5Y2Nd2QjMRzA13dmG4Ssq+dWboBA00OBGt3Jj1AuQDKUhQcGWxJIFqtsKYzqajZ4gZxGQj4fRrexC9DINw0fk0I3uxuXlHAQyT6IntLfvO6zpUFRsJKabacCafYBTBqYmhGySKs6NbFqsybG2Q0khbuceBtgoFbyLGodW8aqEt/Um4XDCgUOxNpIF3vA8ONMw3E7qYstXk64k5ZyHPkJh028kkovsjjhI3wwc/8zM3d4el190nw0XeLGS1TPO6h8In/iTT6Oj0C07DDb+fFxbwNe9RW7gNt9HV79PMYCtz74D2Bd0AFaZbB8d3CPN+C/fHcXu36z4RWTd/eou3XN9cbjSAvqAjiX9/gxBRN36p9Q5pm0xIC/FOkwnprTYGBIB2gqtb7O9QRo5RSUoNruub5EKL/rjdTHU88U2+e261RkHnCuvzJl1+cvpvmvKya5u9un8BGdu55dXGR1+PTuq7qrY+eZQVWLchoFzbDnP7inV9Cf1J2fjnNJcPc5JgYatgIG9BCb/5ulFJ6DzHQ1h0OYoZN5fDYb1oVuSEtLsv5WLpYmsViGgry4bEU49dIhvfXOjtLbu+9PH/zwtmNC9hmbbXfpo9uGS6S6aebF0JvRnE73Y1Z8PfJwxPxn65XtOQFMotQC3fFmzMiskzgaQBdN4iPcnzi2Qjb16AIdhwFAb05F7xByW3MY97k9kcwsYuqm8IJPLdQvJ0sbYw9bpmx5fbDziJj/r0oq3SfW+V9bzE2PMRaL01gcjNndZ+e93Yb9kLDW4wST9eXGQL/vO9P3dBMvaxPbocHnpsHhq63b+6amt3KG8cTSj4HSu8xPb4isJb/Bj3gvNyb1UD3YWHsdHTzCpH/3JJr8dxKCszzHnDxRAZya6XSfd6zazyqKuIR4Xsoiu7zXiQzz9fAH0+gWN6XcbtPN/y7Bfe+h5bpPp3Q7+dS6XSfG4f9s6CDuk+gk7yUzdeD5qkKF41s1lHeON5fR3UfiHq34/fTWd3nawoMnq8loOb5gH7xRAjxtXVe9/lA1PCIIhzIcH2ATuw+HzQF5vkGxovH16EfLGjdx0scbdSpnrR9gE7tPp201Wc3d/5eOvZrK7fug8B5ZmJ5DpjrPE8vCxNC6xdTG/V9M93244xeoEkTdmPWx8/4+NkeyfR8Q1N5U26q9/3PWsfjr1YzsgXPKA2DdeYtzjR8Y6ywOQp8n/TnpucWi5g3PbdaprzN8w2psXB9uEe8D7Qt/jO4sOpY/5tgvg+cow94/QNe/WCu+EBuuMXcsBn/kAn6muT5Gq99jVe+9gR8TcL/7Ind4FQ6a/N1ZvE9afoezd+j6XvP0nvOzi1o995icMvh3aLZLZrcmkC3JMw3x6bDpHUe0W3I+kGrjkNf3Ui2G8h1m8HdyDgD+P3cr6hl5GP3F6bewNf+SfK1ZRFtYFGs/2G49LOx+Q2LZq/yRXUJx3+O2LNpBT1e5/sGV84uK1pBl66eh/HN1je1UHaU7t5+pvr+7Q91aQyPZCNinf6cLDPdnPx/SnJ5izTUjQm8D4LjZ8ZuB2fTJAlHxqfh6+H3tGhWVbMZqw069NYayDw3zOomjVTz4IcEvy/3wyrKPF9b+b6/0mryVnTW44Y06LTOzz/7yJsNRlim5KO7R2mxbNpsOc2/ruY6IYtU30JTnVd1ulWQ3BebNYfTDofU9IiW+Onn9vbt9dcmrVR8/0YuvFkmjtutYsAadf58r4n7bk0cmddMKMxeIxqvOifbyEilE8bqa0zUlJi4iSj2R+mZkCOblJ3EYoS4BtrZ8WoF6UlFF0coYVpyN51V79u94q9+3eqNIDesb0TeWU9oxSCSNuthOuphYj7xE2mGFLfnznZeNGMhHv07wIPcKCSb99fGl+LLhpteGciq39bdUpIKAM8m3poiF3mb/mLjtfnDHFCON6FgB/01MXBE+3oIODP89RDwpuD2CKgsTKqqTM8apkE+e5/+419sMKE9co1/smgK0iPpZ5+lXxTTumqq83b85fl5McVaUp2Pv2iqN3XxuiVMxwv8vh5izAFr2XwNPGMIppdZuc7T3+P2eJKqvFXbZxsSwe87mU1bF8uLFMnsH8ZMwh9iOn3VFmUz/jxvOY1+c/L0G5wsOP48N7TatLxo5xS5fJG989Q1UJKvbkgNyAzrTI9frydCza2d0TDEqMkwT4c8r3vkGUlf70GlTbqE/Iy6LmaOC6rXMoDbmxp9E+sgRAhgO4Aaa43CaA1qazXIIEUwUfaNDVOhnX/0Lv2I1u/aYRxykhuGijZjkqe6bb5btPOtj959dOc2HVj4vGx32kzZVuc00USDd0PjUN4fQGzTBLHza53JW08Ke+icxEkpkkkrTuM0w0T2vYCvHfzeJn20KXi5lQeHZ0AV8ECcZ/KzMI5bpZ5v41Xi2TAKz1n65kdxs6rFE/N0Y+3eU+EwP3eWUD0NcnsOHxLi9Bf+wvR37X8B8X5vEqrUMzRNVJBi370zJlu8YPAbswxWvwHGe3shUFXvjXGcKpt1G56hkd5ydJsWpqPcgOeN6zOuFAf+1F/pxy/5fwCvoEtV0mEAAA==&lt;/Code&gt;&lt;CodeSignature&gt;YkMES0p7GrhYRI3c2LvXC3B50ehcnyp29xu1K6Vj95RmkzmusXliGjPMB+Ilf7pDOBySkxJ1SxhuUarFxLqI1LFDTkfNKwHE5+QMWEnKMv3GF2gDeK3oF/i+4SdE67QQ7tmJxc5wZUmwcUPUleQbqABCFfZcIJKHQ0BLaC/wF4fMUnfcimSlXKmwtAwJUNjPe8pUObB0CZFAjhRjXczx3l/fOkQODN/vciGd0aOVvUFeqUaMLZh3bnAKetvOrpCcTPPFjU63YrJIwI9FUFZaB37bZkgPJHhyDQZIHN1QeXtB9KdUZEGm8usmpqyS5s+YHfXxDX4vTSGkCYGqTRmYHA==&lt;/CodeSignature&gt;&lt;/SmartOption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60EC335B-2121-4FFB-81FC-B82A12BD10FA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350159" y="5537511"/>
            <a:ext cx="590434" cy="386907"/>
            <a:chOff x="595686" y="1210923"/>
            <a:chExt cx="959877" cy="728663"/>
          </a:xfrm>
        </p:grpSpPr>
        <p:sp>
          <p:nvSpPr>
            <p:cNvPr id="204" name="Circle">
              <a:extLst>
                <a:ext uri="{FF2B5EF4-FFF2-40B4-BE49-F238E27FC236}">
                  <a16:creationId xmlns:a16="http://schemas.microsoft.com/office/drawing/2014/main" id="{217FD967-3F6A-479B-93DB-0426057E4FCB}"/>
                </a:ext>
              </a:extLst>
            </p:cNvPr>
            <p:cNvSpPr/>
            <p:nvPr/>
          </p:nvSpPr>
          <p:spPr>
            <a:xfrm>
              <a:off x="595686" y="130075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6" name="Check" hidden="1">
              <a:extLst>
                <a:ext uri="{FF2B5EF4-FFF2-40B4-BE49-F238E27FC236}">
                  <a16:creationId xmlns:a16="http://schemas.microsoft.com/office/drawing/2014/main" id="{46BD5843-5AF4-4F52-BBF4-EB5EAF1D5C14}"/>
                </a:ext>
              </a:extLst>
            </p:cNvPr>
            <p:cNvSpPr/>
            <p:nvPr/>
          </p:nvSpPr>
          <p:spPr>
            <a:xfrm>
              <a:off x="632992" y="133805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7" name="Label">
              <a:extLst>
                <a:ext uri="{FF2B5EF4-FFF2-40B4-BE49-F238E27FC236}">
                  <a16:creationId xmlns:a16="http://schemas.microsoft.com/office/drawing/2014/main" id="{8A670454-8E82-49EF-A084-35C0DAE30A4F}"/>
                </a:ext>
              </a:extLst>
            </p:cNvPr>
            <p:cNvSpPr txBox="1"/>
            <p:nvPr/>
          </p:nvSpPr>
          <p:spPr>
            <a:xfrm>
              <a:off x="729035" y="1210923"/>
              <a:ext cx="826528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변경사항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Circle">
              <a:extLst>
                <a:ext uri="{FF2B5EF4-FFF2-40B4-BE49-F238E27FC236}">
                  <a16:creationId xmlns:a16="http://schemas.microsoft.com/office/drawing/2014/main" id="{75853757-40B0-4AE1-8042-137877503416}"/>
                </a:ext>
              </a:extLst>
            </p:cNvPr>
            <p:cNvSpPr/>
            <p:nvPr/>
          </p:nvSpPr>
          <p:spPr>
            <a:xfrm>
              <a:off x="595686" y="150858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Check" hidden="1">
              <a:extLst>
                <a:ext uri="{FF2B5EF4-FFF2-40B4-BE49-F238E27FC236}">
                  <a16:creationId xmlns:a16="http://schemas.microsoft.com/office/drawing/2014/main" id="{AA01C14B-D894-4CCC-B0EB-F828562410CE}"/>
                </a:ext>
              </a:extLst>
            </p:cNvPr>
            <p:cNvSpPr/>
            <p:nvPr/>
          </p:nvSpPr>
          <p:spPr>
            <a:xfrm>
              <a:off x="632992" y="154588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9" name="Label">
              <a:extLst>
                <a:ext uri="{FF2B5EF4-FFF2-40B4-BE49-F238E27FC236}">
                  <a16:creationId xmlns:a16="http://schemas.microsoft.com/office/drawing/2014/main" id="{667275C9-B025-497E-B010-69DCA26E7847}"/>
                </a:ext>
              </a:extLst>
            </p:cNvPr>
            <p:cNvSpPr txBox="1"/>
            <p:nvPr/>
          </p:nvSpPr>
          <p:spPr>
            <a:xfrm>
              <a:off x="729035" y="1418753"/>
              <a:ext cx="709255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등록증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0" name="Circle">
              <a:extLst>
                <a:ext uri="{FF2B5EF4-FFF2-40B4-BE49-F238E27FC236}">
                  <a16:creationId xmlns:a16="http://schemas.microsoft.com/office/drawing/2014/main" id="{837A5707-C04D-472D-802E-D5F5EE0043C9}"/>
                </a:ext>
              </a:extLst>
            </p:cNvPr>
            <p:cNvSpPr/>
            <p:nvPr/>
          </p:nvSpPr>
          <p:spPr>
            <a:xfrm>
              <a:off x="595686" y="1716410"/>
              <a:ext cx="133350" cy="13335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1" name="Check" hidden="1">
              <a:extLst>
                <a:ext uri="{FF2B5EF4-FFF2-40B4-BE49-F238E27FC236}">
                  <a16:creationId xmlns:a16="http://schemas.microsoft.com/office/drawing/2014/main" id="{BD0EF9A7-EFED-434F-A5D6-F4F66B6E5A6D}"/>
                </a:ext>
              </a:extLst>
            </p:cNvPr>
            <p:cNvSpPr/>
            <p:nvPr/>
          </p:nvSpPr>
          <p:spPr>
            <a:xfrm>
              <a:off x="632992" y="1753716"/>
              <a:ext cx="58738" cy="58738"/>
            </a:xfrm>
            <a:prstGeom prst="ellipse">
              <a:avLst/>
            </a:prstGeom>
            <a:solidFill>
              <a:srgbClr val="808080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22" name="Label">
              <a:extLst>
                <a:ext uri="{FF2B5EF4-FFF2-40B4-BE49-F238E27FC236}">
                  <a16:creationId xmlns:a16="http://schemas.microsoft.com/office/drawing/2014/main" id="{25D96BEF-71A6-4B8F-ADEA-96AEA1312E21}"/>
                </a:ext>
              </a:extLst>
            </p:cNvPr>
            <p:cNvSpPr txBox="1"/>
            <p:nvPr/>
          </p:nvSpPr>
          <p:spPr>
            <a:xfrm>
              <a:off x="729035" y="1626583"/>
              <a:ext cx="584166" cy="313003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기타</a:t>
              </a:r>
              <a:r>
                <a:rPr lang="en-US" altLang="ko-KR" sz="600" dirty="0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…</a:t>
              </a:r>
              <a:endParaRPr lang="en-US" sz="6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3" name="사각형: 둥근 모서리 105">
            <a:extLst>
              <a:ext uri="{FF2B5EF4-FFF2-40B4-BE49-F238E27FC236}">
                <a16:creationId xmlns:a16="http://schemas.microsoft.com/office/drawing/2014/main" id="{A5F8964B-A774-407F-A58A-485A37E8BDFC}"/>
              </a:ext>
            </a:extLst>
          </p:cNvPr>
          <p:cNvSpPr/>
          <p:nvPr/>
        </p:nvSpPr>
        <p:spPr>
          <a:xfrm>
            <a:off x="7498292" y="5929489"/>
            <a:ext cx="617482" cy="118168"/>
          </a:xfrm>
          <a:prstGeom prst="roundRect">
            <a:avLst/>
          </a:prstGeom>
          <a:solidFill>
            <a:srgbClr val="0070C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l"/>
            <a:r>
              <a:rPr lang="ko-KR" altLang="en-US" sz="600" dirty="0" err="1">
                <a:solidFill>
                  <a:schemeClr val="bg1"/>
                </a:solidFill>
              </a:rPr>
              <a:t>파일첨부하기</a:t>
            </a:r>
            <a:endParaRPr lang="ko-KR" altLang="en-US" sz="600" dirty="0">
              <a:solidFill>
                <a:schemeClr val="bg1"/>
              </a:solidFill>
            </a:endParaRPr>
          </a:p>
        </p:txBody>
      </p:sp>
      <p:sp>
        <p:nvSpPr>
          <p:cNvPr id="224" name="사각형: 둥근 모서리 106">
            <a:extLst>
              <a:ext uri="{FF2B5EF4-FFF2-40B4-BE49-F238E27FC236}">
                <a16:creationId xmlns:a16="http://schemas.microsoft.com/office/drawing/2014/main" id="{1E05F830-D9B1-4D7A-B04C-67886CA1A2E4}"/>
              </a:ext>
            </a:extLst>
          </p:cNvPr>
          <p:cNvSpPr/>
          <p:nvPr/>
        </p:nvSpPr>
        <p:spPr>
          <a:xfrm>
            <a:off x="7523052" y="6086878"/>
            <a:ext cx="592721" cy="80974"/>
          </a:xfrm>
          <a:prstGeom prst="round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나중에</a:t>
            </a:r>
          </a:p>
        </p:txBody>
      </p: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5718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933372679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데이터 없을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표시할 데이터가 없습니다</a:t>
            </a:r>
            <a:r>
              <a:rPr lang="en-US" altLang="ko-KR" dirty="0"/>
              <a:t>. </a:t>
            </a:r>
            <a:r>
              <a:rPr lang="ko-KR" altLang="en-US" dirty="0"/>
              <a:t>노출</a:t>
            </a:r>
            <a:endParaRPr lang="en-US" altLang="ko-KR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군수품무역대리업 변경</a:t>
            </a:r>
            <a:r>
              <a:rPr lang="en-US" altLang="ko-KR" dirty="0"/>
              <a:t> </a:t>
            </a:r>
            <a:r>
              <a:rPr lang="ko-KR" altLang="en-US" dirty="0"/>
              <a:t>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en-US" altLang="ko-KR" dirty="0"/>
              <a:t>&gt; </a:t>
            </a:r>
            <a:r>
              <a:rPr lang="ko-KR" altLang="en-US" dirty="0"/>
              <a:t>업체정보관리 </a:t>
            </a:r>
            <a:r>
              <a:rPr lang="en-US" altLang="ko-KR" dirty="0"/>
              <a:t>&gt; </a:t>
            </a:r>
            <a:r>
              <a:rPr lang="ko-KR" altLang="en-US" dirty="0"/>
              <a:t>군수품무역대리업 신청 목록 </a:t>
            </a:r>
            <a:r>
              <a:rPr lang="en-US" altLang="ko-KR" dirty="0"/>
              <a:t>&gt;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MUI-CM-01-M18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군수품무역대리업 신규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851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>
            <a:off x="6596790" y="5154989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/>
          <p:cNvGrpSpPr/>
          <p:nvPr/>
        </p:nvGrpSpPr>
        <p:grpSpPr>
          <a:xfrm>
            <a:off x="6726256" y="5272060"/>
            <a:ext cx="124144" cy="148935"/>
            <a:chOff x="161606" y="5392781"/>
            <a:chExt cx="97885" cy="117432"/>
          </a:xfrm>
        </p:grpSpPr>
        <p:cxnSp>
          <p:nvCxnSpPr>
            <p:cNvPr id="279" name="직선 연결선 278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0" name="직선 연결선 279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직선 연결선 24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3" name="직선 연결선 282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447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51660"/>
            <a:ext cx="1182174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보안측정인원</a:t>
            </a:r>
          </a:p>
        </p:txBody>
      </p:sp>
      <p:grpSp>
        <p:nvGrpSpPr>
          <p:cNvPr id="184" name="그룹 183"/>
          <p:cNvGrpSpPr/>
          <p:nvPr/>
        </p:nvGrpSpPr>
        <p:grpSpPr>
          <a:xfrm flipV="1">
            <a:off x="3139424" y="2064991"/>
            <a:ext cx="94010" cy="47005"/>
            <a:chOff x="6812560" y="3297172"/>
            <a:chExt cx="94010" cy="47005"/>
          </a:xfrm>
        </p:grpSpPr>
        <p:cxnSp>
          <p:nvCxnSpPr>
            <p:cNvPr id="201" name="직선 연결선 20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2" name="직선 연결선 20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1" name="그룹 110"/>
          <p:cNvGrpSpPr/>
          <p:nvPr/>
        </p:nvGrpSpPr>
        <p:grpSpPr>
          <a:xfrm>
            <a:off x="714884" y="2255292"/>
            <a:ext cx="2630093" cy="1077219"/>
            <a:chOff x="3836700" y="3380909"/>
            <a:chExt cx="2630093" cy="1077219"/>
          </a:xfrm>
        </p:grpSpPr>
        <p:sp>
          <p:nvSpPr>
            <p:cNvPr id="118" name="직사각형 117"/>
            <p:cNvSpPr/>
            <p:nvPr/>
          </p:nvSpPr>
          <p:spPr>
            <a:xfrm>
              <a:off x="3838793" y="3380910"/>
              <a:ext cx="792000" cy="107721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0" y="338090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7" y="3380909"/>
              <a:ext cx="715881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성명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적격여부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보안측정일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첨부파일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5" y="3380909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홍길동</a:t>
              </a:r>
              <a:endParaRPr lang="en-US" altLang="ko-KR" sz="700" dirty="0" smtClean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smtClean="0">
                  <a:latin typeface="+mn-ea"/>
                </a:rPr>
                <a:t>적격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2022-02-02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solidFill>
                    <a:srgbClr val="0070C0"/>
                  </a:solidFill>
                  <a:latin typeface="+mn-ea"/>
                </a:rPr>
                <a:t>증명서</a:t>
              </a: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.pdf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6120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38257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039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23431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3" y="44480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5972446" y="4061590"/>
              <a:ext cx="494347" cy="162000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rPr>
                <a:t>보기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55" name="직사각형 154"/>
          <p:cNvSpPr/>
          <p:nvPr/>
        </p:nvSpPr>
        <p:spPr>
          <a:xfrm>
            <a:off x="3898850" y="1926097"/>
            <a:ext cx="2479833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800" b="1" dirty="0"/>
              <a:t>구분 정보</a:t>
            </a:r>
            <a:endParaRPr lang="en-US" altLang="ko-KR" sz="800" b="1" dirty="0"/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심사대기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심사전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수정대기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보안측정인원 첨부파일 </a:t>
            </a:r>
            <a:r>
              <a:rPr lang="ko-KR" altLang="en-US" sz="800" dirty="0" err="1"/>
              <a:t>수정제출한</a:t>
            </a:r>
            <a:r>
              <a:rPr lang="ko-KR" altLang="en-US" sz="800" dirty="0"/>
              <a:t> 상태</a:t>
            </a:r>
          </a:p>
          <a:p>
            <a:pPr marL="171450" indent="-171450">
              <a:buFontTx/>
              <a:buChar char="-"/>
            </a:pPr>
            <a:r>
              <a:rPr lang="ko-KR" altLang="en-US" sz="800" dirty="0" err="1"/>
              <a:t>승인완료</a:t>
            </a:r>
            <a:r>
              <a:rPr lang="ko-KR" altLang="en-US" sz="800" dirty="0"/>
              <a:t> </a:t>
            </a:r>
            <a:r>
              <a:rPr lang="en-US" altLang="ko-KR" sz="800" dirty="0"/>
              <a:t>: </a:t>
            </a:r>
            <a:r>
              <a:rPr lang="ko-KR" altLang="en-US" sz="800" dirty="0"/>
              <a:t>군수품무역대리업 신청 후 </a:t>
            </a:r>
            <a:r>
              <a:rPr lang="ko-KR" altLang="en-US" sz="800" dirty="0" err="1"/>
              <a:t>발급완료</a:t>
            </a:r>
            <a:r>
              <a:rPr lang="ko-KR" altLang="en-US" sz="800" dirty="0"/>
              <a:t> 상태</a:t>
            </a: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4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18815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8" name="TextBox 1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34978" y="1573452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도움말</a:t>
            </a:r>
          </a:p>
        </p:txBody>
      </p:sp>
      <p:sp>
        <p:nvSpPr>
          <p:cNvPr id="159" name="타원 158"/>
          <p:cNvSpPr/>
          <p:nvPr/>
        </p:nvSpPr>
        <p:spPr>
          <a:xfrm>
            <a:off x="3898850" y="160479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2" name="그룹 161"/>
          <p:cNvGrpSpPr/>
          <p:nvPr/>
        </p:nvGrpSpPr>
        <p:grpSpPr>
          <a:xfrm flipV="1">
            <a:off x="6258712" y="1686783"/>
            <a:ext cx="94010" cy="47005"/>
            <a:chOff x="6812560" y="3297172"/>
            <a:chExt cx="94010" cy="47005"/>
          </a:xfrm>
        </p:grpSpPr>
        <p:cxnSp>
          <p:nvCxnSpPr>
            <p:cNvPr id="163" name="직선 연결선 16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4" name="직선 연결선 16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0563" y="291381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7" name="모서리가 둥근 직사각형 166"/>
          <p:cNvSpPr/>
          <p:nvPr/>
        </p:nvSpPr>
        <p:spPr>
          <a:xfrm>
            <a:off x="759699" y="4549363"/>
            <a:ext cx="2543426" cy="1465365"/>
          </a:xfrm>
          <a:prstGeom prst="roundRect">
            <a:avLst>
              <a:gd name="adj" fmla="val 347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611182"/>
            <a:ext cx="2154318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latin typeface="Consolas" panose="020B0609020204030204" pitchFamily="49" charset="0"/>
              </a:rPr>
              <a:t>동의서 내용</a:t>
            </a:r>
            <a:endParaRPr lang="en-US" altLang="ko-KR" sz="700" b="1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본인은 이 건 업무처리와 관련하여 담당 공무원이 </a:t>
            </a:r>
            <a:r>
              <a:rPr lang="en-US" altLang="ko-KR" sz="700" dirty="0">
                <a:latin typeface="Consolas" panose="020B0609020204030204" pitchFamily="49" charset="0"/>
              </a:rPr>
              <a:t>"</a:t>
            </a:r>
            <a:r>
              <a:rPr lang="ko-KR" altLang="en-US" sz="700" dirty="0" err="1">
                <a:latin typeface="Consolas" panose="020B0609020204030204" pitchFamily="49" charset="0"/>
              </a:rPr>
              <a:t>전자정부법</a:t>
            </a:r>
            <a:r>
              <a:rPr lang="en-US" altLang="ko-KR" sz="700" dirty="0">
                <a:latin typeface="Consolas" panose="020B0609020204030204" pitchFamily="49" charset="0"/>
              </a:rPr>
              <a:t>" </a:t>
            </a:r>
            <a:r>
              <a:rPr lang="ko-KR" altLang="en-US" sz="700" dirty="0">
                <a:latin typeface="Consolas" panose="020B0609020204030204" pitchFamily="49" charset="0"/>
              </a:rPr>
              <a:t>제</a:t>
            </a:r>
            <a:r>
              <a:rPr lang="en-US" altLang="ko-KR" sz="700" dirty="0">
                <a:latin typeface="Consolas" panose="020B0609020204030204" pitchFamily="49" charset="0"/>
              </a:rPr>
              <a:t>36</a:t>
            </a:r>
            <a:r>
              <a:rPr lang="ko-KR" altLang="en-US" sz="700" dirty="0">
                <a:latin typeface="Consolas" panose="020B0609020204030204" pitchFamily="49" charset="0"/>
              </a:rPr>
              <a:t>조제</a:t>
            </a:r>
            <a:r>
              <a:rPr lang="en-US" altLang="ko-KR" sz="700" dirty="0">
                <a:latin typeface="Consolas" panose="020B0609020204030204" pitchFamily="49" charset="0"/>
              </a:rPr>
              <a:t>1</a:t>
            </a:r>
            <a:r>
              <a:rPr lang="ko-KR" altLang="en-US" sz="700" dirty="0">
                <a:latin typeface="Consolas" panose="020B0609020204030204" pitchFamily="49" charset="0"/>
              </a:rPr>
              <a:t>항에 따른 행정정보의 공동이용을 통하여 위의 담당공무원 </a:t>
            </a:r>
            <a:r>
              <a:rPr lang="ko-KR" altLang="en-US" sz="700" dirty="0" err="1">
                <a:latin typeface="Consolas" panose="020B0609020204030204" pitchFamily="49" charset="0"/>
              </a:rPr>
              <a:t>확인사항</a:t>
            </a:r>
            <a:r>
              <a:rPr lang="ko-KR" altLang="en-US" sz="700" dirty="0">
                <a:latin typeface="Consolas" panose="020B0609020204030204" pitchFamily="49" charset="0"/>
              </a:rPr>
              <a:t> 중 </a:t>
            </a:r>
            <a:r>
              <a:rPr lang="ko-KR" altLang="en-US" sz="700" dirty="0" err="1">
                <a:latin typeface="Consolas" panose="020B0609020204030204" pitchFamily="49" charset="0"/>
              </a:rPr>
              <a:t>주민등록표</a:t>
            </a:r>
            <a:r>
              <a:rPr lang="ko-KR" altLang="en-US" sz="700" dirty="0">
                <a:latin typeface="Consolas" panose="020B0609020204030204" pitchFamily="49" charset="0"/>
              </a:rPr>
              <a:t> 등본</a:t>
            </a:r>
            <a:r>
              <a:rPr lang="en-US" altLang="ko-KR" sz="700" dirty="0">
                <a:latin typeface="Consolas" panose="020B0609020204030204" pitchFamily="49" charset="0"/>
              </a:rPr>
              <a:t>, </a:t>
            </a:r>
            <a:r>
              <a:rPr lang="ko-KR" altLang="en-US" sz="700" dirty="0">
                <a:latin typeface="Consolas" panose="020B0609020204030204" pitchFamily="49" charset="0"/>
              </a:rPr>
              <a:t>사업자등록증을 </a:t>
            </a:r>
            <a:r>
              <a:rPr lang="ko-KR" altLang="en-US" sz="700" dirty="0" err="1">
                <a:latin typeface="Consolas" panose="020B0609020204030204" pitchFamily="49" charset="0"/>
              </a:rPr>
              <a:t>확인하는것에</a:t>
            </a:r>
            <a:r>
              <a:rPr lang="ko-KR" altLang="en-US" sz="700" dirty="0">
                <a:latin typeface="Consolas" panose="020B0609020204030204" pitchFamily="49" charset="0"/>
              </a:rPr>
              <a:t> 동의합니다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700" dirty="0">
                <a:latin typeface="Consolas" panose="020B0609020204030204" pitchFamily="49" charset="0"/>
              </a:rPr>
              <a:t>동의하지 아니하는 경우에는 신청인이 직접 관련 서류를 제출하여야 합니다</a:t>
            </a:r>
            <a:r>
              <a:rPr lang="en-US" altLang="ko-KR" sz="7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171" name="타원 170"/>
          <p:cNvSpPr/>
          <p:nvPr/>
        </p:nvSpPr>
        <p:spPr>
          <a:xfrm>
            <a:off x="832838" y="46159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2" name="그룹 171"/>
          <p:cNvGrpSpPr/>
          <p:nvPr/>
        </p:nvGrpSpPr>
        <p:grpSpPr>
          <a:xfrm flipV="1">
            <a:off x="3138712" y="4686396"/>
            <a:ext cx="94010" cy="47005"/>
            <a:chOff x="6812560" y="3297172"/>
            <a:chExt cx="94010" cy="47005"/>
          </a:xfrm>
        </p:grpSpPr>
        <p:cxnSp>
          <p:nvCxnSpPr>
            <p:cNvPr id="173" name="직선 연결선 17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4" name="직선 연결선 17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76" name="그룹 175"/>
          <p:cNvGrpSpPr/>
          <p:nvPr/>
        </p:nvGrpSpPr>
        <p:grpSpPr>
          <a:xfrm>
            <a:off x="767702" y="4075971"/>
            <a:ext cx="2522014" cy="342712"/>
            <a:chOff x="3888037" y="3794514"/>
            <a:chExt cx="2522014" cy="342712"/>
          </a:xfrm>
        </p:grpSpPr>
        <p:sp>
          <p:nvSpPr>
            <p:cNvPr id="17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3888037" y="3794514"/>
              <a:ext cx="2522014" cy="342712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en-US" sz="700" kern="0" dirty="0">
                <a:solidFill>
                  <a:srgbClr val="0070C0"/>
                </a:solidFill>
                <a:latin typeface="맑은 고딕"/>
              </a:endParaRPr>
            </a:p>
          </p:txBody>
        </p:sp>
        <p:sp>
          <p:nvSpPr>
            <p:cNvPr id="18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3985874" y="3904315"/>
              <a:ext cx="5610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/>
                <a:t>1</a:t>
              </a:r>
              <a:endParaRPr lang="ko-KR" altLang="en-US" sz="800" b="1" dirty="0"/>
            </a:p>
          </p:txBody>
        </p:sp>
        <p:sp>
          <p:nvSpPr>
            <p:cNvPr id="181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4161661" y="3904315"/>
              <a:ext cx="1202252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latin typeface="맑은 고딕" panose="020B0503020000020004" pitchFamily="50" charset="-127"/>
                </a:rPr>
                <a:t>행정정보 공동이용 동의서</a:t>
              </a:r>
              <a:endParaRPr lang="en-US" altLang="ko-KR" sz="800" dirty="0">
                <a:latin typeface="맑은 고딕" panose="020B0503020000020004" pitchFamily="50" charset="-127"/>
              </a:endParaRPr>
            </a:p>
          </p:txBody>
        </p:sp>
        <p:sp>
          <p:nvSpPr>
            <p:cNvPr id="185" name="모서리가 둥근 직사각형 184"/>
            <p:cNvSpPr/>
            <p:nvPr/>
          </p:nvSpPr>
          <p:spPr>
            <a:xfrm>
              <a:off x="6079244" y="3906170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동의</a:t>
              </a:r>
            </a:p>
          </p:txBody>
        </p:sp>
        <p:sp>
          <p:nvSpPr>
            <p:cNvPr id="205" name="타원 204"/>
            <p:cNvSpPr/>
            <p:nvPr/>
          </p:nvSpPr>
          <p:spPr>
            <a:xfrm>
              <a:off x="5884665" y="3908013"/>
              <a:ext cx="115715" cy="11571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accent6"/>
                  </a:solidFill>
                </a:rPr>
                <a:t>V</a:t>
              </a:r>
              <a:endParaRPr lang="ko-KR" altLang="en-US" sz="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211" y="3749817"/>
            <a:ext cx="1136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조회 동의</a:t>
            </a:r>
          </a:p>
        </p:txBody>
      </p:sp>
      <p:grpSp>
        <p:nvGrpSpPr>
          <p:cNvPr id="210" name="그룹 209"/>
          <p:cNvGrpSpPr/>
          <p:nvPr/>
        </p:nvGrpSpPr>
        <p:grpSpPr>
          <a:xfrm flipV="1">
            <a:off x="3135299" y="3863148"/>
            <a:ext cx="94010" cy="47005"/>
            <a:chOff x="6812560" y="3297172"/>
            <a:chExt cx="94010" cy="47005"/>
          </a:xfrm>
        </p:grpSpPr>
        <p:cxnSp>
          <p:nvCxnSpPr>
            <p:cNvPr id="211" name="직선 연결선 21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2" name="직선 연결선 21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13" name="그룹 212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1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4049128"/>
            <a:ext cx="76863" cy="292489"/>
            <a:chOff x="3750067" y="4683795"/>
            <a:chExt cx="76863" cy="292489"/>
          </a:xfrm>
        </p:grpSpPr>
        <p:sp>
          <p:nvSpPr>
            <p:cNvPr id="225" name="타원 22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74" name="직사각형 7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2026-07-01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주민등록번호 삭제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99477886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001AB-3C1D-A1C6-C68A-973F59FC48AB}"/>
              </a:ext>
            </a:extLst>
          </p:cNvPr>
          <p:cNvSpPr txBox="1"/>
          <p:nvPr/>
        </p:nvSpPr>
        <p:spPr>
          <a:xfrm>
            <a:off x="455558" y="828897"/>
            <a:ext cx="4291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dm_dfEqpmntTradAgncAplyInfo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994AE86-154D-F53B-1EF4-052FC46164C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2580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(4)+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접수일련번호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(4)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regAplySecd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09627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28020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brno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사업자번호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30655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fndnYmd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설립일자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90781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9062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F38884F3-0DEA-B653-19C1-0ED418762AC0}"/>
              </a:ext>
            </a:extLst>
          </p:cNvPr>
          <p:cNvSpPr txBox="1"/>
          <p:nvPr/>
        </p:nvSpPr>
        <p:spPr>
          <a:xfrm>
            <a:off x="455558" y="3574102"/>
            <a:ext cx="5160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첨부서류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dl_dfEqpmntTradAgncAplyAtchFileList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C02CF2F9-B29F-29DA-EC0A-40BB7106BB0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785305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첨부서류명 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3678802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4A24014-24F4-E74D-8166-6F52F4F7A292}"/>
              </a:ext>
            </a:extLst>
          </p:cNvPr>
          <p:cNvSpPr txBox="1"/>
          <p:nvPr/>
        </p:nvSpPr>
        <p:spPr>
          <a:xfrm>
            <a:off x="455558" y="4601737"/>
            <a:ext cx="45210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군수품무역대리업 신청 업체 보안측정인원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dl_scrtyMsrmtPrsnlList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FECB-4C2F-1A23-26A3-9E629B2D43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203313"/>
              </p:ext>
            </p:extLst>
          </p:nvPr>
        </p:nvGraphicFramePr>
        <p:xfrm>
          <a:off x="455558" y="482318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taskHdlrRsltCd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적격여부코드로 적격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부적격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8075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taskHndlYmd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보안측정일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90425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39841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aprvSecdNm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1448555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A21ED5F9-6963-2553-CA4F-E5B72C1FE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5077761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194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9345221-F415-1E68-5C61-25B7D0B96F3B}"/>
              </a:ext>
            </a:extLst>
          </p:cNvPr>
          <p:cNvSpPr txBox="1"/>
          <p:nvPr/>
        </p:nvSpPr>
        <p:spPr>
          <a:xfrm>
            <a:off x="455204" y="702691"/>
            <a:ext cx="911074" cy="24925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B4CF4F53-DE25-0EA7-5039-EBA1EBDC95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222947"/>
              </p:ext>
            </p:extLst>
          </p:nvPr>
        </p:nvGraphicFramePr>
        <p:xfrm>
          <a:off x="455204" y="940612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군수품무역대리업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나라장터</a:t>
                      </a:r>
                      <a:r>
                        <a:rPr lang="en-US" altLang="ko-KR" sz="800" dirty="0"/>
                        <a:t>(G2B)</a:t>
                      </a:r>
                      <a:r>
                        <a:rPr lang="ko-KR" altLang="en-US" sz="800" dirty="0"/>
                        <a:t>조달업체 최신 정보 수신</a:t>
                      </a:r>
                      <a:r>
                        <a:rPr lang="en-US" altLang="ko-KR" sz="800" dirty="0"/>
                        <a:t>(</a:t>
                      </a:r>
                      <a:r>
                        <a:rPr lang="ko-KR" altLang="en-US" sz="800" dirty="0"/>
                        <a:t>갱신</a:t>
                      </a:r>
                      <a:r>
                        <a:rPr lang="en-US" altLang="ko-KR" sz="800" dirty="0"/>
                        <a:t>)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/>
                        <a:t>scwin.btn_g2bDmnd_onclick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나라장터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(G2B)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에서 조달업체 최신 정보를 수신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회로 제한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저장한다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810436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scwin.btn_sbmsn_onclick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군수품무역대리업 변경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정보를 제출한다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80551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A8F8070-621E-67FD-DD1B-2672A1EBD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7662" y="818310"/>
            <a:ext cx="1678016" cy="1184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7041904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업체 정보 표시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/>
              <a:t>바로가기</a:t>
            </a:r>
            <a:r>
              <a:rPr lang="ko-KR" altLang="en-US" dirty="0"/>
              <a:t>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개인</a:t>
            </a:r>
            <a:r>
              <a:rPr lang="en-US" altLang="ko-KR" dirty="0"/>
              <a:t>(</a:t>
            </a:r>
            <a:r>
              <a:rPr lang="ko-KR" altLang="en-US" dirty="0"/>
              <a:t>생체</a:t>
            </a:r>
            <a:r>
              <a:rPr lang="en-US" altLang="ko-KR" dirty="0"/>
              <a:t>)</a:t>
            </a:r>
            <a:r>
              <a:rPr lang="ko-KR" altLang="en-US" dirty="0"/>
              <a:t>인증</a:t>
            </a:r>
            <a:r>
              <a:rPr lang="en-US" altLang="ko-KR" dirty="0"/>
              <a:t>/</a:t>
            </a:r>
            <a:r>
              <a:rPr lang="ko-KR" altLang="en-US" dirty="0"/>
              <a:t>비밀번호 인증 이후 상세 화면 </a:t>
            </a:r>
            <a:r>
              <a:rPr lang="ko-KR" altLang="en-US" dirty="0" smtClean="0"/>
              <a:t>진입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</a:t>
            </a:r>
            <a:r>
              <a:rPr lang="en-US" altLang="ko-KR" dirty="0" smtClean="0"/>
              <a:t>, </a:t>
            </a:r>
            <a:r>
              <a:rPr lang="ko-KR" altLang="en-US" dirty="0" smtClean="0"/>
              <a:t>생체 인증 </a:t>
            </a:r>
            <a:r>
              <a:rPr lang="en-US" altLang="ko-KR" dirty="0" smtClean="0"/>
              <a:t>MUI-CM-02-M02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개인정보 상세 </a:t>
            </a:r>
            <a:r>
              <a:rPr lang="en-US" altLang="ko-KR" dirty="0" smtClean="0"/>
              <a:t>MUI-CM-02-M03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 변경 </a:t>
            </a:r>
            <a:r>
              <a:rPr lang="en-US" altLang="ko-KR" dirty="0" smtClean="0"/>
              <a:t>MUI-CM-02-M05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개인신원확인 </a:t>
            </a:r>
            <a:r>
              <a:rPr lang="en-US" altLang="ko-KR" dirty="0" smtClean="0"/>
              <a:t>MUI-CM-02-M06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회원탈퇴 </a:t>
            </a:r>
            <a:r>
              <a:rPr lang="en-US" altLang="ko-KR" dirty="0"/>
              <a:t>MUI-CM-02-P10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관리 권한이 있는 사용자에게 표시되는 </a:t>
            </a:r>
            <a:r>
              <a:rPr lang="ko-KR" altLang="en-US" dirty="0" smtClean="0"/>
              <a:t>목록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MUI-CM-02-M07</a:t>
            </a:r>
            <a:br>
              <a:rPr lang="en-US" altLang="ko-KR" dirty="0"/>
            </a:b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사용자정보관리 목록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메뉴 구성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사용자정보관리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 상세</a:t>
              </a: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비밀번호 변경</a:t>
              </a: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개인신원확인</a:t>
              </a: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소속 사용자 목록</a:t>
              </a: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회원 탈퇴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705041" y="5550907"/>
            <a:ext cx="2652743" cy="584974"/>
            <a:chOff x="734683" y="4769161"/>
            <a:chExt cx="2652743" cy="584974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734683" y="4769161"/>
              <a:ext cx="2652743" cy="584974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퇴사자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원복은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PC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버전에서 확인하고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신청이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4" name="타원 53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03947" y="48218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81753980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53000" y="840586"/>
            <a:ext cx="236980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5426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bzentyRgstrtYmd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법인등록번호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849740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3055732"/>
          <a:ext cx="8995591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각 세부 페이지로 이동한다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936287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43601437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생체 인증이 등록되어 있다면</a:t>
            </a:r>
            <a:r>
              <a:rPr lang="en-US" altLang="ko-KR" dirty="0"/>
              <a:t>, </a:t>
            </a:r>
            <a:r>
              <a:rPr lang="ko-KR" altLang="en-US" dirty="0"/>
              <a:t>현재 페이지에서 생체 인증 </a:t>
            </a:r>
            <a:r>
              <a:rPr lang="ko-KR" altLang="en-US" dirty="0" smtClean="0"/>
              <a:t>진행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비밀번호</a:t>
            </a:r>
            <a:r>
              <a:rPr lang="en-US" altLang="ko-KR" dirty="0"/>
              <a:t> </a:t>
            </a:r>
            <a:r>
              <a:rPr lang="ko-KR" altLang="en-US" dirty="0"/>
              <a:t>또는</a:t>
            </a:r>
            <a:r>
              <a:rPr lang="en-US" altLang="ko-KR" dirty="0"/>
              <a:t> </a:t>
            </a:r>
            <a:r>
              <a:rPr lang="ko-KR" altLang="en-US" dirty="0" err="1"/>
              <a:t>생체인증이</a:t>
            </a:r>
            <a:r>
              <a:rPr lang="ko-KR" altLang="en-US" dirty="0"/>
              <a:t> 정상적인 경우 하위 페이지 </a:t>
            </a:r>
            <a:r>
              <a:rPr lang="ko-KR" altLang="en-US" dirty="0" smtClean="0"/>
              <a:t>진입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실패 시 토스트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생체인증에</a:t>
            </a:r>
            <a:r>
              <a:rPr lang="ko-KR" altLang="en-US" dirty="0" smtClean="0"/>
              <a:t> 실패했습니다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비밀번호 실패 시 유효성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비밀번호를 정확히 입력해주세요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비밀번호인증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생체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인증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비밀번호 인증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 인증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92" y="206833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Consolas" panose="020B0609020204030204" pitchFamily="49" charset="0"/>
              </a:rPr>
              <a:t>개인정보 접근을 위해 추가 인증이 필요합니다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u="sng" dirty="0">
              <a:latin typeface="맑은 고딕" panose="020B0503020000020004" pitchFamily="50" charset="-127"/>
            </a:endParaRPr>
          </a:p>
        </p:txBody>
      </p:sp>
      <p:grpSp>
        <p:nvGrpSpPr>
          <p:cNvPr id="41" name="그룹 40"/>
          <p:cNvGrpSpPr/>
          <p:nvPr/>
        </p:nvGrpSpPr>
        <p:grpSpPr>
          <a:xfrm>
            <a:off x="705041" y="5217620"/>
            <a:ext cx="2652743" cy="896921"/>
            <a:chOff x="734683" y="4769160"/>
            <a:chExt cx="2652743" cy="896921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734683" y="4769160"/>
              <a:ext cx="2652743" cy="896921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비밀번호를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5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 이상 잘못 입력할 경우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3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분간 접근이 제한됩니다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 자동완성기능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(ex.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알패스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등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)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은 사용할 수 없습니다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5" name="타원 44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6" name="그룹 45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7" name="직선 연결선 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1" name="그룹 60"/>
          <p:cNvGrpSpPr/>
          <p:nvPr/>
        </p:nvGrpSpPr>
        <p:grpSpPr>
          <a:xfrm>
            <a:off x="903581" y="2769869"/>
            <a:ext cx="2255663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비밀번호를 입력해주세요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3093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비밀번호</a:t>
            </a:r>
          </a:p>
        </p:txBody>
      </p:sp>
      <p:grpSp>
        <p:nvGrpSpPr>
          <p:cNvPr id="65" name="그룹 64"/>
          <p:cNvGrpSpPr/>
          <p:nvPr/>
        </p:nvGrpSpPr>
        <p:grpSpPr>
          <a:xfrm>
            <a:off x="903580" y="3394047"/>
            <a:ext cx="2255663" cy="306146"/>
            <a:chOff x="3982951" y="3679873"/>
            <a:chExt cx="2255663" cy="306146"/>
          </a:xfrm>
        </p:grpSpPr>
        <p:sp>
          <p:nvSpPr>
            <p:cNvPr id="66" name="모서리가 둥근 직사각형 65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>
                  <a:solidFill>
                    <a:schemeClr val="bg1"/>
                  </a:solidFill>
                  <a:latin typeface="+mn-ea"/>
                </a:rPr>
                <a:t>확인</a:t>
              </a:r>
              <a:endParaRPr lang="ko-KR" alt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115874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</p:spTree>
    <p:extLst>
      <p:ext uri="{BB962C8B-B14F-4D97-AF65-F5344CB8AC3E}">
        <p14:creationId xmlns:p14="http://schemas.microsoft.com/office/powerpoint/2010/main" val="1755647330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198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0676" y="25103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7804015"/>
              </p:ext>
            </p:extLst>
          </p:nvPr>
        </p:nvGraphicFramePr>
        <p:xfrm>
          <a:off x="455204" y="2738613"/>
          <a:ext cx="8995591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7046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34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 진입을 위해 비밀번호 확인을 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A05DC22-1F45-1635-7D82-D1A256971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262758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B219E7-1AD6-2076-CF8E-791596C77351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85AAA0-E72E-16E1-4AF7-B7C28E2DC9C5}"/>
              </a:ext>
            </a:extLst>
          </p:cNvPr>
          <p:cNvSpPr txBox="1"/>
          <p:nvPr/>
        </p:nvSpPr>
        <p:spPr>
          <a:xfrm>
            <a:off x="460676" y="833240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9AD1118-E107-46DC-3258-94C2124CA57D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6994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userEnpswd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비밀번호 암호화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</a:tbl>
          </a:graphicData>
        </a:graphic>
      </p:graphicFrame>
      <p:sp>
        <p:nvSpPr>
          <p:cNvPr id="8" name="Text Box 73">
            <a:extLst>
              <a:ext uri="{FF2B5EF4-FFF2-40B4-BE49-F238E27FC236}">
                <a16:creationId xmlns:a16="http://schemas.microsoft.com/office/drawing/2014/main" id="{40EF4BA8-43E1-7E6B-53D1-6EEF9C750E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4583951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조회화면으로 수정 불가능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수신설정</a:t>
            </a:r>
            <a:r>
              <a:rPr lang="ko-KR" altLang="en-US" dirty="0"/>
              <a:t> 역시 </a:t>
            </a:r>
            <a:r>
              <a:rPr lang="ko-KR" altLang="en-US" dirty="0" smtClean="0"/>
              <a:t>조회만 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수정 불가능</a:t>
            </a:r>
            <a:r>
              <a:rPr lang="en-US" altLang="ko-KR" dirty="0" smtClean="0"/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개인정보 수정하기 버튼으로 개인정보 수정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>
                <a:solidFill>
                  <a:srgbClr val="FF0000"/>
                </a:solidFill>
              </a:rPr>
              <a:t>사용자 관리 목록에서 진입하는 경우</a:t>
            </a:r>
            <a:r>
              <a:rPr lang="ko-KR" altLang="en-US" dirty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타이틀 변경</a:t>
            </a:r>
            <a:r>
              <a:rPr lang="en-US" altLang="ko-KR" dirty="0"/>
              <a:t> - </a:t>
            </a:r>
            <a:r>
              <a:rPr lang="ko-KR" altLang="en-US" dirty="0"/>
              <a:t>사용자 상세정보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표시정보</a:t>
            </a:r>
            <a:r>
              <a:rPr lang="ko-KR" altLang="en-US" dirty="0"/>
              <a:t> 중 수신 설정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도움말 및 개인정보 수정 버튼 </a:t>
            </a:r>
            <a:r>
              <a:rPr lang="ko-KR" altLang="en-US" dirty="0" err="1"/>
              <a:t>미표시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199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개인정보상세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상세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MUI-CM-02-M03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상세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63" name="그룹 62"/>
          <p:cNvGrpSpPr/>
          <p:nvPr/>
        </p:nvGrpSpPr>
        <p:grpSpPr>
          <a:xfrm>
            <a:off x="4023916" y="5111707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개인정보 수정하기</a:t>
              </a:r>
            </a:p>
          </p:txBody>
        </p:sp>
      </p:grp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88338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Test1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64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아이디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349055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홍길동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25241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사용자명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2987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사용자 유형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2276217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일반사용자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532846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실명인증이 필요합니다</a:t>
            </a:r>
            <a:r>
              <a:rPr lang="en-US" altLang="ko-KR" sz="800" dirty="0">
                <a:latin typeface="+mn-ea"/>
              </a:rPr>
              <a:t>.</a:t>
            </a:r>
            <a:endParaRPr lang="ko-KR" altLang="en-US" sz="800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09031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실명인증여부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749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부서명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721291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총무팀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249176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abcde@dapa.go.kr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25361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이메일 주소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1" y="188459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010-1234-5678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1646447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휴대전화번호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569748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전화번호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5934618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02-1234-5678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23916" y="28618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팩스번호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3098934"/>
            <a:ext cx="157010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02-2345-6789</a:t>
            </a:r>
            <a:endParaRPr lang="ko-KR" altLang="en-US" sz="800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85958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6" y="4105924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err="1">
                <a:latin typeface="+mn-ea"/>
              </a:rPr>
              <a:t>조달테스트</a:t>
            </a:r>
            <a:endParaRPr lang="ko-KR" altLang="en-US" sz="800" dirty="0">
              <a:latin typeface="+mn-ea"/>
            </a:endParaRPr>
          </a:p>
        </p:txBody>
      </p:sp>
      <p:grpSp>
        <p:nvGrpSpPr>
          <p:cNvPr id="153" name="그룹 152"/>
          <p:cNvGrpSpPr/>
          <p:nvPr/>
        </p:nvGrpSpPr>
        <p:grpSpPr>
          <a:xfrm>
            <a:off x="3825375" y="4332817"/>
            <a:ext cx="2652743" cy="633878"/>
            <a:chOff x="734683" y="4769160"/>
            <a:chExt cx="2652743" cy="633878"/>
          </a:xfrm>
        </p:grpSpPr>
        <p:sp>
          <p:nvSpPr>
            <p:cNvPr id="154" name="모서리가 둥근 직사각형 153"/>
            <p:cNvSpPr/>
            <p:nvPr/>
          </p:nvSpPr>
          <p:spPr>
            <a:xfrm>
              <a:off x="734683" y="4769160"/>
              <a:ext cx="2652743" cy="633878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상세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SMS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수신서비스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설정은 홈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마이페이지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&gt;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알림서비스신청 화면에서 가능합니다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156" name="타원 155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7" name="그룹 156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58" name="직선 연결선 1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9" name="직선 연결선 1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60067123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en-US" altLang="ko-KR" dirty="0"/>
              <a:t>Dim </a:t>
            </a:r>
            <a:r>
              <a:rPr lang="ko-KR" altLang="en-US" dirty="0"/>
              <a:t>항목은 수정불가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개인정보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저장하기 클릭 시 </a:t>
            </a:r>
            <a:r>
              <a:rPr lang="ko-KR" altLang="en-US" dirty="0" smtClean="0"/>
              <a:t>수정된 개인정보를 저장하고 개인정보 </a:t>
            </a:r>
            <a:r>
              <a:rPr lang="ko-KR" altLang="en-US" dirty="0"/>
              <a:t>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개인정보를 수정하였습니다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개인정보수정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개인정보 수정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개인정보 수정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개인정보 수정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4" name="모서리가 둥근 직사각형 63"/>
          <p:cNvSpPr/>
          <p:nvPr/>
        </p:nvSpPr>
        <p:spPr>
          <a:xfrm>
            <a:off x="4777593" y="4353970"/>
            <a:ext cx="1501986" cy="306146"/>
          </a:xfrm>
          <a:prstGeom prst="roundRect">
            <a:avLst>
              <a:gd name="adj" fmla="val 18626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저장하기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/>
          <p:cNvGrpSpPr/>
          <p:nvPr/>
        </p:nvGrpSpPr>
        <p:grpSpPr>
          <a:xfrm>
            <a:off x="903581" y="2645240"/>
            <a:ext cx="2255663" cy="445081"/>
            <a:chOff x="903581" y="2736408"/>
            <a:chExt cx="2255663" cy="445081"/>
          </a:xfrm>
        </p:grpSpPr>
        <p:grpSp>
          <p:nvGrpSpPr>
            <p:cNvPr id="47" name="그룹 46"/>
            <p:cNvGrpSpPr/>
            <p:nvPr/>
          </p:nvGrpSpPr>
          <p:grpSpPr>
            <a:xfrm>
              <a:off x="903581" y="2875343"/>
              <a:ext cx="2255663" cy="306146"/>
              <a:chOff x="3982951" y="3679873"/>
              <a:chExt cx="2255663" cy="306146"/>
            </a:xfrm>
          </p:grpSpPr>
          <p:sp>
            <p:nvSpPr>
              <p:cNvPr id="49" name="모서리가 둥근 직사각형 4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Test1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7364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아이디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903581" y="3252410"/>
            <a:ext cx="2255663" cy="445081"/>
            <a:chOff x="903581" y="3368079"/>
            <a:chExt cx="2255663" cy="445081"/>
          </a:xfrm>
        </p:grpSpPr>
        <p:grpSp>
          <p:nvGrpSpPr>
            <p:cNvPr id="57" name="그룹 56"/>
            <p:cNvGrpSpPr/>
            <p:nvPr/>
          </p:nvGrpSpPr>
          <p:grpSpPr>
            <a:xfrm>
              <a:off x="903581" y="3507014"/>
              <a:ext cx="2255663" cy="306146"/>
              <a:chOff x="3982951" y="3679873"/>
              <a:chExt cx="2255663" cy="306146"/>
            </a:xfrm>
          </p:grpSpPr>
          <p:sp>
            <p:nvSpPr>
              <p:cNvPr id="58" name="모서리가 둥근 직사각형 5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홍길동</a:t>
                </a:r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368079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사용자명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903581" y="2029873"/>
            <a:ext cx="2255663" cy="453278"/>
            <a:chOff x="903581" y="2090495"/>
            <a:chExt cx="2255663" cy="453278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209049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사용자 유형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93" name="그룹 92"/>
            <p:cNvGrpSpPr/>
            <p:nvPr/>
          </p:nvGrpSpPr>
          <p:grpSpPr>
            <a:xfrm>
              <a:off x="903581" y="2237627"/>
              <a:ext cx="2255663" cy="306146"/>
              <a:chOff x="3982951" y="3679873"/>
              <a:chExt cx="2255663" cy="306146"/>
            </a:xfrm>
          </p:grpSpPr>
          <p:sp>
            <p:nvSpPr>
              <p:cNvPr id="94" name="모서리가 둥근 직사각형 9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일반사용자</a:t>
                </a:r>
              </a:p>
            </p:txBody>
          </p:sp>
        </p:grpSp>
      </p:grpSp>
      <p:grpSp>
        <p:nvGrpSpPr>
          <p:cNvPr id="16" name="그룹 15"/>
          <p:cNvGrpSpPr/>
          <p:nvPr/>
        </p:nvGrpSpPr>
        <p:grpSpPr>
          <a:xfrm>
            <a:off x="903581" y="5090314"/>
            <a:ext cx="2255663" cy="445081"/>
            <a:chOff x="903581" y="5126437"/>
            <a:chExt cx="2255663" cy="445081"/>
          </a:xfrm>
        </p:grpSpPr>
        <p:grpSp>
          <p:nvGrpSpPr>
            <p:cNvPr id="68" name="그룹 67"/>
            <p:cNvGrpSpPr/>
            <p:nvPr/>
          </p:nvGrpSpPr>
          <p:grpSpPr>
            <a:xfrm>
              <a:off x="903581" y="5265372"/>
              <a:ext cx="2255663" cy="306146"/>
              <a:chOff x="3982951" y="3679873"/>
              <a:chExt cx="2255663" cy="306146"/>
            </a:xfrm>
          </p:grpSpPr>
          <p:sp>
            <p:nvSpPr>
              <p:cNvPr id="69" name="모서리가 둥근 직사각형 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실명인증이 필요합니다</a:t>
                </a:r>
                <a:r>
                  <a:rPr lang="en-US" altLang="ko-KR" sz="800" dirty="0">
                    <a:latin typeface="+mn-ea"/>
                  </a:rPr>
                  <a:t>.</a:t>
                </a:r>
                <a:endParaRPr lang="ko-KR" altLang="en-US" sz="800" dirty="0">
                  <a:latin typeface="+mn-ea"/>
                </a:endParaRPr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126437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실명인증여부</a:t>
              </a:r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903581" y="4474947"/>
            <a:ext cx="2255663" cy="453278"/>
            <a:chOff x="903581" y="4480524"/>
            <a:chExt cx="2255663" cy="45327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4480524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부서명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4627656"/>
              <a:ext cx="2255663" cy="306146"/>
              <a:chOff x="3982951" y="3679873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총무팀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grpSp>
        <p:nvGrpSpPr>
          <p:cNvPr id="19" name="그룹 18"/>
          <p:cNvGrpSpPr/>
          <p:nvPr/>
        </p:nvGrpSpPr>
        <p:grpSpPr>
          <a:xfrm>
            <a:off x="4023916" y="2253617"/>
            <a:ext cx="2255663" cy="445081"/>
            <a:chOff x="4023916" y="2330922"/>
            <a:chExt cx="2255663" cy="445081"/>
          </a:xfrm>
        </p:grpSpPr>
        <p:grpSp>
          <p:nvGrpSpPr>
            <p:cNvPr id="117" name="그룹 116"/>
            <p:cNvGrpSpPr/>
            <p:nvPr/>
          </p:nvGrpSpPr>
          <p:grpSpPr>
            <a:xfrm>
              <a:off x="4023916" y="2469857"/>
              <a:ext cx="2255663" cy="306146"/>
              <a:chOff x="3982951" y="3679873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이메일 주소를 입력해주세요</a:t>
                </a:r>
              </a:p>
            </p:txBody>
          </p:sp>
        </p:grp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33092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이메일 주소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2330922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023916" y="1646447"/>
            <a:ext cx="2255663" cy="445081"/>
            <a:chOff x="4023916" y="1699251"/>
            <a:chExt cx="2255663" cy="445081"/>
          </a:xfrm>
        </p:grpSpPr>
        <p:grpSp>
          <p:nvGrpSpPr>
            <p:cNvPr id="113" name="그룹 112"/>
            <p:cNvGrpSpPr/>
            <p:nvPr/>
          </p:nvGrpSpPr>
          <p:grpSpPr>
            <a:xfrm>
              <a:off x="4023916" y="1838186"/>
              <a:ext cx="2255663" cy="306146"/>
              <a:chOff x="3982951" y="3679873"/>
              <a:chExt cx="2255663" cy="306146"/>
            </a:xfrm>
          </p:grpSpPr>
          <p:sp>
            <p:nvSpPr>
              <p:cNvPr id="114" name="모서리가 둥근 직사각형 113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휴대전화번호를 입력해주세요</a:t>
                </a:r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1699251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휴대전화번호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5894490" y="1699251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903581" y="5697486"/>
            <a:ext cx="2255661" cy="444066"/>
            <a:chOff x="903581" y="5758108"/>
            <a:chExt cx="2255661" cy="44406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전화번호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124" name="모서리가 둥근 직사각형 12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6" name="모서리가 둥근 직사각형 12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28" name="모서리가 둥근 직사각형 12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32" name="그룹 131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" name="그룹 19"/>
          <p:cNvGrpSpPr/>
          <p:nvPr/>
        </p:nvGrpSpPr>
        <p:grpSpPr>
          <a:xfrm>
            <a:off x="4023916" y="2861802"/>
            <a:ext cx="2255661" cy="444066"/>
            <a:chOff x="4023916" y="2985652"/>
            <a:chExt cx="2255661" cy="444066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023916" y="2985652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팩스번호</a:t>
              </a:r>
            </a:p>
          </p:txBody>
        </p:sp>
        <p:grpSp>
          <p:nvGrpSpPr>
            <p:cNvPr id="137" name="그룹 136"/>
            <p:cNvGrpSpPr/>
            <p:nvPr/>
          </p:nvGrpSpPr>
          <p:grpSpPr>
            <a:xfrm>
              <a:off x="4023917" y="3123572"/>
              <a:ext cx="2255660" cy="306146"/>
              <a:chOff x="903582" y="5841774"/>
              <a:chExt cx="2255660" cy="306146"/>
            </a:xfrm>
          </p:grpSpPr>
          <p:sp>
            <p:nvSpPr>
              <p:cNvPr id="138" name="모서리가 둥근 직사각형 137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02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0" name="모서리가 둥근 직사각형 139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2345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2" name="모서리가 둥근 직사각형 141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6789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146" name="그룹 145"/>
            <p:cNvGrpSpPr/>
            <p:nvPr/>
          </p:nvGrpSpPr>
          <p:grpSpPr>
            <a:xfrm>
              <a:off x="4395068" y="3253143"/>
              <a:ext cx="94010" cy="47005"/>
              <a:chOff x="6812560" y="3297172"/>
              <a:chExt cx="94010" cy="47005"/>
            </a:xfrm>
          </p:grpSpPr>
          <p:cxnSp>
            <p:nvCxnSpPr>
              <p:cNvPr id="147" name="직선 연결선 14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8" name="직선 연결선 14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그룹 6"/>
          <p:cNvGrpSpPr/>
          <p:nvPr/>
        </p:nvGrpSpPr>
        <p:grpSpPr>
          <a:xfrm>
            <a:off x="903581" y="3859580"/>
            <a:ext cx="2255663" cy="453278"/>
            <a:chOff x="903581" y="3931203"/>
            <a:chExt cx="2255663" cy="453278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3931203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 err="1">
                  <a:latin typeface="+mn-ea"/>
                </a:rPr>
                <a:t>업체명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150" name="그룹 149"/>
            <p:cNvGrpSpPr/>
            <p:nvPr/>
          </p:nvGrpSpPr>
          <p:grpSpPr>
            <a:xfrm>
              <a:off x="903581" y="4078335"/>
              <a:ext cx="2255663" cy="306146"/>
              <a:chOff x="3982951" y="3679873"/>
              <a:chExt cx="2255663" cy="306146"/>
            </a:xfrm>
          </p:grpSpPr>
          <p:sp>
            <p:nvSpPr>
              <p:cNvPr id="151" name="모서리가 둥근 직사각형 150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 err="1">
                    <a:latin typeface="+mn-ea"/>
                  </a:rPr>
                  <a:t>조달테스트</a:t>
                </a:r>
                <a:endParaRPr lang="ko-KR" altLang="en-US" sz="800" dirty="0">
                  <a:latin typeface="+mn-ea"/>
                </a:endParaRPr>
              </a:p>
            </p:txBody>
          </p:sp>
        </p:grp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32818" y="34714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수신 설정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715587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휴대전화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7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708562"/>
            <a:ext cx="301752" cy="137160"/>
            <a:chOff x="840582" y="1601197"/>
            <a:chExt cx="301752" cy="137160"/>
          </a:xfrm>
        </p:grpSpPr>
        <p:sp>
          <p:nvSpPr>
            <p:cNvPr id="17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6769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이메일 수신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3960667"/>
            <a:ext cx="301752" cy="137160"/>
            <a:chOff x="840582" y="1601197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2" name="모서리가 둥근 직사각형 111"/>
          <p:cNvSpPr/>
          <p:nvPr/>
        </p:nvSpPr>
        <p:spPr>
          <a:xfrm>
            <a:off x="4032818" y="4353970"/>
            <a:ext cx="634976" cy="306146"/>
          </a:xfrm>
          <a:prstGeom prst="roundRect">
            <a:avLst>
              <a:gd name="adj" fmla="val 18626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solidFill>
                  <a:schemeClr val="tx1"/>
                </a:solidFill>
              </a:rPr>
              <a:t>취소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277008903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15429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1681"/>
          <a:ext cx="8994883" cy="27648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089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userInfoRlnmCd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 여부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실명인증완료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N: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실명인증미완료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X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탈퇴사용자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가능하나 사용은 못함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73216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smsRcptnYn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7792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05178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emlRcptnYn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이메일수신여부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9183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39655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788691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292" y="399360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987807"/>
              </p:ext>
            </p:extLst>
          </p:nvPr>
        </p:nvGraphicFramePr>
        <p:xfrm>
          <a:off x="452292" y="4220196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개인정보를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22933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9FE55562-B82C-BEB9-A24B-EE39573FD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408390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D3F1CE97-139B-4066-3244-BEC387C65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70663294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비밀번호 변경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입력은 </a:t>
            </a:r>
            <a:r>
              <a:rPr lang="ko-KR" altLang="en-US" dirty="0" err="1"/>
              <a:t>마스킹</a:t>
            </a:r>
            <a:r>
              <a:rPr lang="ko-KR" altLang="en-US" dirty="0"/>
              <a:t> 처리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마스킹</a:t>
            </a:r>
            <a:r>
              <a:rPr lang="ko-KR" altLang="en-US" dirty="0"/>
              <a:t> 내역을 확인해볼 수 있는 눈 아이콘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변경 완료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확인 클릭 시 상위 목록으로 </a:t>
            </a:r>
            <a:r>
              <a:rPr lang="ko-KR" altLang="en-US" dirty="0" smtClean="0"/>
              <a:t>이동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비밀번호 변경 버튼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체크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동일한 비밀번호를 다시 한번 입력해주세요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유효성 메시지 </a:t>
            </a:r>
            <a:r>
              <a:rPr lang="en-US" altLang="ko-KR" dirty="0"/>
              <a:t>– </a:t>
            </a:r>
            <a:r>
              <a:rPr lang="ko-KR" altLang="en-US" dirty="0" smtClean="0"/>
              <a:t>입력 불가능한 특수문자를 제외하고 비밀번호를 입력해주세요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유효성 메시지 </a:t>
            </a:r>
            <a:r>
              <a:rPr lang="en-US" altLang="ko-KR" dirty="0" smtClean="0"/>
              <a:t>– </a:t>
            </a:r>
            <a:r>
              <a:rPr lang="ko-KR" altLang="en-US" dirty="0" smtClean="0"/>
              <a:t>비밀번호는 </a:t>
            </a:r>
            <a:r>
              <a:rPr lang="en-US" altLang="ko-KR" dirty="0" smtClean="0"/>
              <a:t>9~16</a:t>
            </a:r>
            <a:r>
              <a:rPr lang="ko-KR" altLang="en-US" dirty="0" smtClean="0"/>
              <a:t>자로 숫자</a:t>
            </a:r>
            <a:r>
              <a:rPr lang="en-US" altLang="ko-KR" dirty="0" smtClean="0"/>
              <a:t>, </a:t>
            </a:r>
            <a:r>
              <a:rPr lang="ko-KR" altLang="en-US" dirty="0" smtClean="0"/>
              <a:t>영문 소문자</a:t>
            </a:r>
            <a:r>
              <a:rPr lang="en-US" altLang="ko-KR" dirty="0" smtClean="0"/>
              <a:t>, </a:t>
            </a:r>
            <a:r>
              <a:rPr lang="ko-KR" altLang="en-US" dirty="0" smtClean="0"/>
              <a:t>특수문자 조합으로 입력해주세요</a:t>
            </a:r>
            <a:r>
              <a:rPr lang="en-US" altLang="ko-KR" dirty="0" smtClean="0"/>
              <a:t>.</a:t>
            </a:r>
            <a:endParaRPr lang="ko-KR" altLang="en-US" dirty="0"/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비밀번호 변경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비밀번호 변경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MUI-CM-02-M05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392156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사용자 비밀번호를 새롭게 변경해주세요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1832" y="5641885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>
            <a:off x="903580" y="5772524"/>
            <a:ext cx="2255663" cy="306146"/>
            <a:chOff x="3982951" y="3679873"/>
            <a:chExt cx="2255663" cy="306146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비밀번호 변경하기</a:t>
              </a:r>
            </a:p>
          </p:txBody>
        </p:sp>
      </p:grpSp>
      <p:sp>
        <p:nvSpPr>
          <p:cNvPr id="71" name="타원 70"/>
          <p:cNvSpPr/>
          <p:nvPr/>
        </p:nvSpPr>
        <p:spPr>
          <a:xfrm>
            <a:off x="1848359" y="1941981"/>
            <a:ext cx="366106" cy="36610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비밀번호</a:t>
            </a:r>
            <a:r>
              <a:rPr lang="en-US" altLang="ko-KR" sz="800" dirty="0">
                <a:latin typeface="+mn-ea"/>
              </a:rPr>
              <a:t> </a:t>
            </a:r>
            <a:r>
              <a:rPr lang="ko-KR" altLang="en-US" sz="800" dirty="0">
                <a:latin typeface="+mn-ea"/>
              </a:rPr>
              <a:t>변경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6" name="그룹 75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77" name="직선 연결선 7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4" name="타원 83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비밀번호가 변경되었습니다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4822536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4023916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확인</a:t>
              </a:r>
            </a:p>
          </p:txBody>
        </p:sp>
      </p:grp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064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47" name="그룹 46"/>
          <p:cNvGrpSpPr/>
          <p:nvPr/>
        </p:nvGrpSpPr>
        <p:grpSpPr>
          <a:xfrm>
            <a:off x="903581" y="3502504"/>
            <a:ext cx="2255663" cy="306146"/>
            <a:chOff x="3982951" y="3679873"/>
            <a:chExt cx="2255663" cy="306146"/>
          </a:xfrm>
        </p:grpSpPr>
        <p:sp>
          <p:nvSpPr>
            <p:cNvPr id="49" name="모서리가 둥근 직사각형 4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입력해주세요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363569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363569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7" name="그룹 56"/>
          <p:cNvGrpSpPr/>
          <p:nvPr/>
        </p:nvGrpSpPr>
        <p:grpSpPr>
          <a:xfrm>
            <a:off x="903581" y="4134175"/>
            <a:ext cx="2255663" cy="306146"/>
            <a:chOff x="3982951" y="3679873"/>
            <a:chExt cx="2255663" cy="306146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새 비밀번호를 한번 더 입력해주세요</a:t>
              </a: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995240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새 비밀번호 확인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480180"/>
            <a:ext cx="225566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rgbClr val="FF0000"/>
                </a:solidFill>
                <a:latin typeface="+mn-ea"/>
              </a:rPr>
              <a:t>유효성 메시지 영역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995240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71765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현재 비밀번호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3" name="그룹 92"/>
          <p:cNvGrpSpPr/>
          <p:nvPr/>
        </p:nvGrpSpPr>
        <p:grpSpPr>
          <a:xfrm>
            <a:off x="903581" y="2864788"/>
            <a:ext cx="2255663" cy="306146"/>
            <a:chOff x="3982951" y="3679873"/>
            <a:chExt cx="2255663" cy="306146"/>
          </a:xfrm>
        </p:grpSpPr>
        <p:sp>
          <p:nvSpPr>
            <p:cNvPr id="94" name="모서리가 둥근 직사각형 93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700" dirty="0">
                  <a:latin typeface="+mn-ea"/>
                </a:rPr>
                <a:t>*********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97" name="그룹 96"/>
          <p:cNvGrpSpPr/>
          <p:nvPr/>
        </p:nvGrpSpPr>
        <p:grpSpPr>
          <a:xfrm>
            <a:off x="705041" y="4757244"/>
            <a:ext cx="2652743" cy="769170"/>
            <a:chOff x="734683" y="4769160"/>
            <a:chExt cx="2652743" cy="769170"/>
          </a:xfrm>
        </p:grpSpPr>
        <p:sp>
          <p:nvSpPr>
            <p:cNvPr id="98" name="모서리가 둥근 직사각형 97"/>
            <p:cNvSpPr/>
            <p:nvPr/>
          </p:nvSpPr>
          <p:spPr>
            <a:xfrm>
              <a:off x="734683" y="4769160"/>
              <a:ext cx="2652743" cy="769170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5386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도움말</a:t>
              </a:r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비밀번호는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9~16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자 숫자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영문 소문자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특수문자 조합으로 입력하세요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입력 불가한 특수문자 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: `~&amp;()_{}[]|\:;"',.&amp;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lt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;&amp;</a:t>
              </a:r>
              <a:r>
                <a:rPr lang="en-US" altLang="ko-KR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gt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;?/</a:t>
              </a:r>
            </a:p>
          </p:txBody>
        </p:sp>
        <p:sp>
          <p:nvSpPr>
            <p:cNvPr id="100" name="타원 99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그룹 100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102" name="직선 연결선 10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2719686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3713112"/>
            <a:ext cx="2305144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새로운 비밀번호로 로그인 하실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latin typeface="Consolas" panose="020B0609020204030204" pitchFamily="49" charset="0"/>
              </a:rPr>
              <a:t>생체인증이</a:t>
            </a:r>
            <a:r>
              <a:rPr lang="ko-KR" altLang="en-US" sz="800" dirty="0">
                <a:latin typeface="Consolas" panose="020B0609020204030204" pitchFamily="49" charset="0"/>
              </a:rPr>
              <a:t> 등록된 경우 새 비밀번호 입력없이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생체인증으로 로그인할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80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59549005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79988"/>
            <a:ext cx="25044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비밀번호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dm_pwsdChgInfo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3642718"/>
              </p:ext>
            </p:extLst>
          </p:nvPr>
        </p:nvGraphicFramePr>
        <p:xfrm>
          <a:off x="455558" y="116374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976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newUserEnpswdIdnty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새 비밀번호 확인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5768912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65052" y="307681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476674"/>
              </p:ext>
            </p:extLst>
          </p:nvPr>
        </p:nvGraphicFramePr>
        <p:xfrm>
          <a:off x="452292" y="33189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4788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4668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 변경하기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비밀번호를 변경한다</a:t>
                      </a:r>
                      <a:r>
                        <a:rPr lang="en-US" altLang="ko-KR" sz="800" dirty="0"/>
                        <a:t>.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03717520-55AF-3645-D618-DFBA6DC15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320798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0E8BD3CE-7E40-FF1D-A628-4B8C69230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54597774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개인신원</a:t>
            </a:r>
            <a:r>
              <a:rPr lang="ko-KR" altLang="en-US" dirty="0"/>
              <a:t> 확인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관리 </a:t>
            </a:r>
            <a:r>
              <a:rPr lang="en-US" altLang="ko-KR" dirty="0"/>
              <a:t>(MUI-CM-04-M14)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삭제 </a:t>
            </a:r>
            <a:r>
              <a:rPr lang="en-US" altLang="ko-KR" dirty="0"/>
              <a:t>(MUI-CM-04-P15) </a:t>
            </a:r>
            <a:br>
              <a:rPr lang="en-US" altLang="ko-KR" dirty="0"/>
            </a:br>
            <a:r>
              <a:rPr lang="ko-KR" altLang="en-US" dirty="0"/>
              <a:t>화면 재활용 </a:t>
            </a:r>
            <a:r>
              <a:rPr lang="en-US" altLang="ko-KR" dirty="0"/>
              <a:t>(</a:t>
            </a:r>
            <a:r>
              <a:rPr lang="ko-KR" altLang="en-US" dirty="0"/>
              <a:t>다음 페이지 참조</a:t>
            </a:r>
            <a:r>
              <a:rPr lang="en-US" altLang="ko-KR" dirty="0" smtClean="0"/>
              <a:t>)</a:t>
            </a:r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사용자 이름 표시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개인신원확인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개인신원</a:t>
            </a:r>
            <a:r>
              <a:rPr lang="ko-KR" altLang="en-US" dirty="0">
                <a:latin typeface="+mn-ea"/>
              </a:rPr>
              <a:t> 확인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MUI-CM-02-M06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346145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</a:rPr>
              <a:t>개인 신원 확인을 진행합니다</a:t>
            </a:r>
            <a:r>
              <a:rPr lang="en-US" altLang="ko-KR" sz="900" b="1" dirty="0">
                <a:latin typeface="+mn-ea"/>
              </a:rPr>
              <a:t>.</a:t>
            </a:r>
            <a:endParaRPr lang="ko-KR" altLang="en-US" sz="900" b="1" dirty="0">
              <a:latin typeface="+mn-ea"/>
            </a:endParaRPr>
          </a:p>
        </p:txBody>
      </p:sp>
      <p:sp>
        <p:nvSpPr>
          <p:cNvPr id="87" name="타원 86"/>
          <p:cNvSpPr/>
          <p:nvPr/>
        </p:nvSpPr>
        <p:spPr>
          <a:xfrm>
            <a:off x="1702201" y="2419419"/>
            <a:ext cx="658422" cy="65841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룹 88"/>
          <p:cNvGrpSpPr/>
          <p:nvPr/>
        </p:nvGrpSpPr>
        <p:grpSpPr>
          <a:xfrm>
            <a:off x="903581" y="5711590"/>
            <a:ext cx="2255663" cy="306146"/>
            <a:chOff x="3982951" y="3679873"/>
            <a:chExt cx="2255663" cy="306146"/>
          </a:xfrm>
        </p:grpSpPr>
        <p:sp>
          <p:nvSpPr>
            <p:cNvPr id="90" name="모서리가 둥근 직사각형 8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+mn-ea"/>
                </a:rPr>
                <a:t>개인 신원 확인</a:t>
              </a: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3713112"/>
            <a:ext cx="2305144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개인신원확인 버튼을 클릭하여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창을 띄울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algn="ctr">
              <a:lnSpc>
                <a:spcPct val="120000"/>
              </a:lnSpc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인증서 창이 나타나면 </a:t>
            </a:r>
            <a:r>
              <a:rPr lang="en-US" altLang="ko-KR" sz="800" dirty="0">
                <a:latin typeface="Consolas" panose="020B0609020204030204" pitchFamily="49" charset="0"/>
              </a:rPr>
              <a:t>[$</a:t>
            </a:r>
            <a:r>
              <a:rPr lang="ko-KR" altLang="en-US" sz="800" dirty="0" err="1">
                <a:latin typeface="Consolas" panose="020B0609020204030204" pitchFamily="49" charset="0"/>
              </a:rPr>
              <a:t>조달테스트</a:t>
            </a:r>
            <a:r>
              <a:rPr lang="en-US" altLang="ko-KR" sz="800" dirty="0">
                <a:latin typeface="Consolas" panose="020B0609020204030204" pitchFamily="49" charset="0"/>
              </a:rPr>
              <a:t>4]</a:t>
            </a:r>
            <a:r>
              <a:rPr lang="ko-KR" altLang="en-US" sz="800" dirty="0">
                <a:latin typeface="Consolas" panose="020B0609020204030204" pitchFamily="49" charset="0"/>
              </a:rPr>
              <a:t>님의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개인인증서를 선택하십시오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  <a:endParaRPr lang="ko-KR" altLang="en-US" sz="800" dirty="0">
              <a:latin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824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830210117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 인증서만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비밀번호 확인 </a:t>
            </a:r>
            <a:r>
              <a:rPr lang="ko-KR" altLang="en-US" dirty="0" smtClean="0"/>
              <a:t>팝업 </a:t>
            </a:r>
            <a:r>
              <a:rPr lang="en-US" altLang="ko-KR" dirty="0"/>
              <a:t>MUI-CM-04-P18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 err="1" smtClean="0">
                <a:latin typeface="+mn-ea"/>
              </a:rPr>
              <a:t>인증서관리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MUI-CM-02-M10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개인 신원 확인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039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809206339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비밀번호 입력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인증하기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인증 성공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개인신원확인 </a:t>
            </a:r>
            <a:r>
              <a:rPr lang="en-US" altLang="ko-KR" dirty="0"/>
              <a:t>(MUI-CM-02-M06) </a:t>
            </a:r>
            <a:r>
              <a:rPr lang="ko-KR" altLang="en-US" dirty="0"/>
              <a:t>복귀 및 성공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실패 시 현 팝업 유지 및 실패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시 현재 팝업 닫힘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 신원 확인</a:t>
            </a:r>
            <a:r>
              <a:rPr lang="en-US" altLang="ko-KR" dirty="0">
                <a:latin typeface="+mn-ea"/>
              </a:rPr>
              <a:t> - </a:t>
            </a:r>
            <a:r>
              <a:rPr lang="ko-KR" altLang="en-US" dirty="0" err="1">
                <a:latin typeface="+mn-ea"/>
              </a:rPr>
              <a:t>인증서확인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개인이 보유하고 있는 개인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개인신원확인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MUI-CM-02-P11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양쪽 모서리가 둥근 사각형 35"/>
          <p:cNvSpPr/>
          <p:nvPr/>
        </p:nvSpPr>
        <p:spPr>
          <a:xfrm>
            <a:off x="679854" y="3259934"/>
            <a:ext cx="2712027" cy="2963359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41" name="모서리가 둥근 직사각형 40"/>
          <p:cNvSpPr/>
          <p:nvPr/>
        </p:nvSpPr>
        <p:spPr>
          <a:xfrm>
            <a:off x="1765867" y="329656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46" name="그룹 45"/>
          <p:cNvGrpSpPr/>
          <p:nvPr/>
        </p:nvGrpSpPr>
        <p:grpSpPr>
          <a:xfrm>
            <a:off x="3168793" y="3430977"/>
            <a:ext cx="94010" cy="94010"/>
            <a:chOff x="6812560" y="3297172"/>
            <a:chExt cx="94010" cy="94010"/>
          </a:xfrm>
        </p:grpSpPr>
        <p:cxnSp>
          <p:nvCxnSpPr>
            <p:cNvPr id="52" name="직선 연결선 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41165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개인 인증서 확인</a:t>
            </a:r>
          </a:p>
        </p:txBody>
      </p: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67305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7" name="타원 5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4647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31343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9" name="그룹 58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60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1583793" y="5756042"/>
              <a:ext cx="1583022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인증하기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6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61785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88125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선택한 인증서로 개인 인증을 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개인 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4" name="모서리가 둥근 직사각형 73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인증이 완료되었습니다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모서리가 둥근 직사각형 75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</a:t>
            </a:r>
            <a:r>
              <a:rPr lang="ko-KR" altLang="en-US" sz="700" dirty="0" smtClean="0">
                <a:solidFill>
                  <a:schemeClr val="bg1"/>
                </a:solidFill>
                <a:latin typeface="+mn-ea"/>
              </a:rPr>
              <a:t>암호를 정확히 입력해주세요</a:t>
            </a:r>
            <a:r>
              <a:rPr lang="en-US" altLang="ko-KR" sz="700" dirty="0" smtClean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778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31572819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207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3235" y="799547"/>
            <a:ext cx="223194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개인정보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144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18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91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31224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8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64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4182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88691" y="4590351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875349"/>
              </p:ext>
            </p:extLst>
          </p:nvPr>
        </p:nvGraphicFramePr>
        <p:xfrm>
          <a:off x="458117" y="4874079"/>
          <a:ext cx="8995591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아이디를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개인신원확인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scwin.btn_indvIdntIdnty_onclick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 인증서 팝업창을 호출 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EE82BFC7-81B9-17E6-1DB9-00886D9B9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692" y="474890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E754179F-5C20-0638-5B90-7A74D0C242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4C8EE8-D70D-B923-B10A-FFFAB00247F8}"/>
              </a:ext>
            </a:extLst>
          </p:cNvPr>
          <p:cNvSpPr txBox="1"/>
          <p:nvPr/>
        </p:nvSpPr>
        <p:spPr>
          <a:xfrm>
            <a:off x="452291" y="1668214"/>
            <a:ext cx="223836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인증서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dl_crtfList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5F6F224-1953-9EA9-7A5C-98085B12C5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3070611"/>
              </p:ext>
            </p:extLst>
          </p:nvPr>
        </p:nvGraphicFramePr>
        <p:xfrm>
          <a:off x="455558" y="1886559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fileRegYmd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4121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4893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crtfDnVl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고유명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0498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crtfSn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일련번호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75052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rmrk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91480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725996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우측 메시지 표시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사용자명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내용이 있는 경우 초기화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초기화 버튼 클릭 시 즉시 목록 초기화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명수</a:t>
            </a:r>
            <a:r>
              <a:rPr lang="en-US" altLang="ko-KR" dirty="0"/>
              <a:t>, </a:t>
            </a:r>
            <a:r>
              <a:rPr lang="ko-KR" altLang="en-US" dirty="0"/>
              <a:t>개수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상단 레이블</a:t>
            </a:r>
            <a:r>
              <a:rPr lang="en-US" altLang="ko-KR" dirty="0"/>
              <a:t>(5</a:t>
            </a:r>
            <a:r>
              <a:rPr lang="ko-KR" altLang="en-US" dirty="0" err="1"/>
              <a:t>번항</a:t>
            </a:r>
            <a:r>
              <a:rPr lang="en-US" altLang="ko-KR" dirty="0"/>
              <a:t>)</a:t>
            </a:r>
            <a:r>
              <a:rPr lang="ko-KR" altLang="en-US" dirty="0"/>
              <a:t>을 통한 정보 제공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으로 사용자명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상태변경</a:t>
            </a:r>
            <a:r>
              <a:rPr lang="ko-KR" altLang="en-US" dirty="0"/>
              <a:t> 버튼 클릭 시 상태 변경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클릭 시 사용자 정보 상세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표시 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목록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MUI-CM-02-M07</a:t>
            </a:r>
            <a:endParaRPr lang="ko-KR" altLang="en-US" sz="10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소속 사용자 목록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5" name="그룹 4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46" name="직선 연결선 4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타원 4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40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6" name="그룹 5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5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1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5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5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12269" y="3139237"/>
              <a:ext cx="522643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114" name="모서리가 둥근 직사각형 113"/>
            <p:cNvSpPr/>
            <p:nvPr/>
          </p:nvSpPr>
          <p:spPr>
            <a:xfrm>
              <a:off x="1075655" y="2610063"/>
              <a:ext cx="348334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chemeClr val="dk1"/>
                  </a:solidFill>
                </a:rPr>
                <a:t>대표자</a:t>
              </a:r>
              <a:endParaRPr lang="ko-KR" altLang="en-US" sz="600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648128"/>
            <a:ext cx="76863" cy="292489"/>
            <a:chOff x="3750067" y="4683795"/>
            <a:chExt cx="76863" cy="292489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778515" y="4826603"/>
            <a:ext cx="2476203" cy="1080735"/>
            <a:chOff x="778515" y="2610063"/>
            <a:chExt cx="2476203" cy="1080735"/>
          </a:xfrm>
        </p:grpSpPr>
        <p:sp>
          <p:nvSpPr>
            <p:cNvPr id="7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아이디 </a:t>
              </a:r>
              <a:r>
                <a:rPr lang="en-US" altLang="ko-KR" sz="700" dirty="0"/>
                <a:t>test 2</a:t>
              </a:r>
            </a:p>
            <a:p>
              <a:r>
                <a:rPr lang="ko-KR" altLang="en-US" sz="900" b="1" dirty="0"/>
                <a:t>홍길동</a:t>
              </a:r>
            </a:p>
          </p:txBody>
        </p:sp>
        <p:sp>
          <p:nvSpPr>
            <p:cNvPr id="75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부서명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전화번호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휴대전화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비고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6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46609" y="3139237"/>
              <a:ext cx="522580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02-1234-5678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7" name="모서리가 둥근 직사각형 76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사용</a:t>
              </a: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1075655" y="2610063"/>
              <a:ext cx="503451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/>
                <a:t>입찰대리인</a:t>
              </a:r>
              <a:endParaRPr lang="ko-KR" altLang="en-US" sz="600" dirty="0"/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808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9" name="타원 12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0" name="그룹 12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131" name="직선 연결선 1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2" name="직선 연결선 1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73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모서리가 둥근 직사각형 79"/>
          <p:cNvSpPr/>
          <p:nvPr/>
        </p:nvSpPr>
        <p:spPr>
          <a:xfrm>
            <a:off x="4690649" y="3871431"/>
            <a:ext cx="478639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schemeClr val="dk1"/>
                </a:solidFill>
              </a:rPr>
              <a:t>입찰대리인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206222" y="3871431"/>
            <a:ext cx="469863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일반사용자</a:t>
            </a: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318635" y="3871431"/>
            <a:ext cx="330486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dk1"/>
                </a:solidFill>
              </a:rPr>
              <a:t>대표자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87727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사용자유형</a:t>
            </a:r>
            <a:endParaRPr lang="ko-KR" altLang="en-US" sz="700" dirty="0">
              <a:latin typeface="+mn-ea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304035" y="28956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148" name="모서리가 둥근 직사각형 147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156" name="모서리가 둥근 직사각형 155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159" name="모서리가 둥근 직사각형 158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92" name="그룹 191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193" name="직선 연결선 1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4" name="직선 연결선 1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95" name="그룹 194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196" name="모서리가 둥근 직사각형 195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7" name="타원 196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0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사용자명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00" name="타원 199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02" name="타원 20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03" name="그룹 20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5" name="직선 연결선 20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6" name="타원 1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1695628"/>
            <a:ext cx="2457390" cy="9048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>
                <a:solidFill>
                  <a:srgbClr val="FF0000"/>
                </a:solidFill>
              </a:rPr>
              <a:t>퇴사자</a:t>
            </a:r>
            <a:r>
              <a:rPr lang="ko-KR" altLang="en-US" dirty="0">
                <a:solidFill>
                  <a:srgbClr val="FF0000"/>
                </a:solidFill>
              </a:rPr>
              <a:t> 계정 즉시 삭제 요망</a:t>
            </a:r>
            <a:endParaRPr lang="en-US" altLang="ko-KR" dirty="0">
              <a:solidFill>
                <a:srgbClr val="FF0000"/>
              </a:solidFill>
            </a:endParaRP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 err="1"/>
              <a:t>퇴사자의</a:t>
            </a:r>
            <a:r>
              <a:rPr lang="ko-KR" altLang="en-US" dirty="0"/>
              <a:t> 계정을 방치할 경우</a:t>
            </a:r>
            <a:r>
              <a:rPr lang="en-US" altLang="ko-KR" dirty="0"/>
              <a:t>, </a:t>
            </a:r>
            <a:r>
              <a:rPr lang="ko-KR" altLang="en-US" dirty="0"/>
              <a:t>타사 이직 후 기존 </a:t>
            </a:r>
            <a:r>
              <a:rPr lang="en-US" altLang="ko-KR" dirty="0"/>
              <a:t>ID</a:t>
            </a:r>
            <a:r>
              <a:rPr lang="ko-KR" altLang="en-US" dirty="0"/>
              <a:t>를 통한 </a:t>
            </a:r>
            <a:r>
              <a:rPr lang="ko-KR" altLang="en-US" dirty="0">
                <a:solidFill>
                  <a:srgbClr val="FF0000"/>
                </a:solidFill>
              </a:rPr>
              <a:t>입찰</a:t>
            </a:r>
            <a:r>
              <a:rPr lang="en-US" altLang="ko-KR" dirty="0">
                <a:solidFill>
                  <a:srgbClr val="FF0000"/>
                </a:solidFill>
              </a:rPr>
              <a:t>/</a:t>
            </a:r>
            <a:r>
              <a:rPr lang="ko-KR" altLang="en-US" dirty="0">
                <a:solidFill>
                  <a:srgbClr val="FF0000"/>
                </a:solidFill>
              </a:rPr>
              <a:t>계약 정보 무단 열람 및 영업비밀 유출사고</a:t>
            </a:r>
            <a:r>
              <a:rPr lang="ko-KR" altLang="en-US" dirty="0"/>
              <a:t>가 발생할 수 있습니다</a:t>
            </a:r>
            <a:r>
              <a:rPr lang="en-US" altLang="ko-KR" dirty="0"/>
              <a:t>. 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계정 관리 소홀로 인해 야기되는 모든 </a:t>
            </a:r>
            <a:r>
              <a:rPr lang="ko-KR" altLang="en-US" dirty="0">
                <a:solidFill>
                  <a:srgbClr val="FF0000"/>
                </a:solidFill>
              </a:rPr>
              <a:t>법적 문제와 손해배상 책임은 해당 업체</a:t>
            </a:r>
            <a:r>
              <a:rPr lang="en-US" altLang="ko-KR" dirty="0">
                <a:solidFill>
                  <a:srgbClr val="FF0000"/>
                </a:solidFill>
              </a:rPr>
              <a:t>(</a:t>
            </a:r>
            <a:r>
              <a:rPr lang="ko-KR" altLang="en-US" dirty="0">
                <a:solidFill>
                  <a:srgbClr val="FF0000"/>
                </a:solidFill>
              </a:rPr>
              <a:t>대표자</a:t>
            </a:r>
            <a:r>
              <a:rPr lang="en-US" altLang="ko-KR" dirty="0">
                <a:solidFill>
                  <a:srgbClr val="FF0000"/>
                </a:solidFill>
              </a:rPr>
              <a:t>)</a:t>
            </a:r>
            <a:r>
              <a:rPr lang="ko-KR" altLang="en-US" dirty="0">
                <a:solidFill>
                  <a:srgbClr val="FF0000"/>
                </a:solidFill>
              </a:rPr>
              <a:t>에 귀속</a:t>
            </a:r>
            <a:r>
              <a:rPr lang="ko-KR" altLang="en-US" dirty="0"/>
              <a:t>되므로</a:t>
            </a:r>
            <a:r>
              <a:rPr lang="en-US" altLang="ko-KR" dirty="0"/>
              <a:t>, </a:t>
            </a:r>
            <a:r>
              <a:rPr lang="ko-KR" altLang="en-US" dirty="0"/>
              <a:t>퇴사 직원의 계정은 즉시 퇴사</a:t>
            </a:r>
            <a:r>
              <a:rPr lang="en-US" altLang="ko-KR" dirty="0"/>
              <a:t>(</a:t>
            </a:r>
            <a:r>
              <a:rPr lang="ko-KR" altLang="en-US" dirty="0"/>
              <a:t>탈퇴</a:t>
            </a:r>
            <a:r>
              <a:rPr lang="en-US" altLang="ko-KR" dirty="0"/>
              <a:t>)</a:t>
            </a:r>
            <a:r>
              <a:rPr lang="ko-KR" altLang="en-US" dirty="0"/>
              <a:t>해 주시기 바랍니다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11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8012" y="4428555"/>
            <a:ext cx="2547110" cy="192829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1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748012" y="5952149"/>
            <a:ext cx="2547110" cy="192829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상태 변경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cxnSp>
        <p:nvCxnSpPr>
          <p:cNvPr id="5" name="직선 화살표 연결선 4"/>
          <p:cNvCxnSpPr/>
          <p:nvPr/>
        </p:nvCxnSpPr>
        <p:spPr>
          <a:xfrm>
            <a:off x="3387426" y="2016004"/>
            <a:ext cx="33113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85" name="그룹 8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6" name="직사각형 8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2026-07-14 </a:t>
              </a:r>
              <a:r>
                <a:rPr lang="ko-KR" altLang="en-US" dirty="0" smtClean="0"/>
                <a:t>화면 수정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상태 변경 버튼 위치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740395028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대상 사용자의 상태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수정 가능한 상태는 사용</a:t>
            </a:r>
            <a:r>
              <a:rPr lang="en-US" altLang="ko-KR" dirty="0"/>
              <a:t>, </a:t>
            </a:r>
            <a:r>
              <a:rPr lang="ko-KR" altLang="en-US" dirty="0"/>
              <a:t>탈퇴</a:t>
            </a:r>
            <a:r>
              <a:rPr lang="en-US" altLang="ko-KR" dirty="0"/>
              <a:t>, </a:t>
            </a:r>
            <a:r>
              <a:rPr lang="ko-KR" altLang="en-US" dirty="0"/>
              <a:t>사용중지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미승인</a:t>
            </a:r>
            <a:r>
              <a:rPr lang="ko-KR" altLang="en-US" dirty="0"/>
              <a:t> 상태로 변경 불가하여 선택지에서는 표시하지 않음</a:t>
            </a:r>
            <a:r>
              <a:rPr lang="en-US" altLang="ko-KR" dirty="0"/>
              <a:t>.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저장 시 목록에 즉시 반영</a:t>
            </a:r>
            <a:r>
              <a:rPr lang="en-US" altLang="ko-KR" dirty="0"/>
              <a:t>, </a:t>
            </a:r>
            <a:r>
              <a:rPr lang="ko-KR" altLang="en-US" dirty="0"/>
              <a:t>팝업 닫기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업체 소속 사용자 </a:t>
            </a:r>
            <a:r>
              <a:rPr lang="en-US" altLang="ko-KR" dirty="0"/>
              <a:t>– </a:t>
            </a:r>
            <a:r>
              <a:rPr lang="ko-KR" altLang="en-US" dirty="0"/>
              <a:t>상태</a:t>
            </a:r>
            <a:r>
              <a:rPr lang="en-US" altLang="ko-KR" dirty="0"/>
              <a:t> </a:t>
            </a:r>
            <a:r>
              <a:rPr lang="ko-KR" altLang="en-US" dirty="0"/>
              <a:t>변경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업체 소속 사용자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상태변경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MUI-CM-02-P08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4151347"/>
            <a:ext cx="2712027" cy="2080195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4187974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4322390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303069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사용자 상태 변경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5644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496068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28998"/>
            <a:ext cx="67077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상태</a:t>
            </a:r>
            <a:endParaRPr lang="en-US" altLang="ko-KR" sz="800" dirty="0">
              <a:latin typeface="+mn-ea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9821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저장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3143548" y="5059357"/>
            <a:ext cx="94010" cy="47005"/>
            <a:chOff x="6812560" y="3297172"/>
            <a:chExt cx="94010" cy="47005"/>
          </a:xfrm>
        </p:grpSpPr>
        <p:cxnSp>
          <p:nvCxnSpPr>
            <p:cNvPr id="74" name="직선 연결선 7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5" name="직선 연결선 7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16194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77" name="모서리가 둥근 직사각형 76"/>
          <p:cNvSpPr/>
          <p:nvPr/>
        </p:nvSpPr>
        <p:spPr>
          <a:xfrm>
            <a:off x="4321056" y="3340178"/>
            <a:ext cx="24105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</a:t>
            </a:r>
          </a:p>
        </p:txBody>
      </p:sp>
      <p:sp>
        <p:nvSpPr>
          <p:cNvPr id="78" name="모서리가 둥근 직사각형 77"/>
          <p:cNvSpPr/>
          <p:nvPr/>
        </p:nvSpPr>
        <p:spPr>
          <a:xfrm>
            <a:off x="4614061" y="3340178"/>
            <a:ext cx="243478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탈퇴</a:t>
            </a:r>
          </a:p>
        </p:txBody>
      </p:sp>
      <p:sp>
        <p:nvSpPr>
          <p:cNvPr id="81" name="모서리가 둥근 직사각형 80"/>
          <p:cNvSpPr/>
          <p:nvPr/>
        </p:nvSpPr>
        <p:spPr>
          <a:xfrm>
            <a:off x="4914986" y="3340178"/>
            <a:ext cx="406437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사용중지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346017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84" name="모서리가 둥근 직사각형 83"/>
          <p:cNvSpPr/>
          <p:nvPr/>
        </p:nvSpPr>
        <p:spPr>
          <a:xfrm>
            <a:off x="5383289" y="3340178"/>
            <a:ext cx="598412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/>
              <a:t>대표자 </a:t>
            </a:r>
            <a:r>
              <a:rPr lang="ko-KR" altLang="en-US" sz="600" dirty="0" err="1"/>
              <a:t>미승인</a:t>
            </a:r>
            <a:endParaRPr lang="ko-KR" altLang="en-US" sz="600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863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Y</a:t>
            </a:r>
            <a:endParaRPr lang="ko-KR" altLang="en-US" sz="700" dirty="0"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14060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T</a:t>
            </a:r>
            <a:endParaRPr lang="ko-KR" altLang="en-US" sz="700" dirty="0"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996465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N</a:t>
            </a:r>
            <a:endParaRPr lang="ko-KR" altLang="en-US" sz="700" dirty="0"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467483" y="3491329"/>
            <a:ext cx="24347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latin typeface="+mn-ea"/>
              </a:rPr>
              <a:t>M</a:t>
            </a:r>
            <a:endParaRPr lang="ko-KR" altLang="en-US" sz="700" dirty="0">
              <a:latin typeface="+mn-ea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40447" y="3485490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 코드</a:t>
            </a: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38956224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034855"/>
              </p:ext>
            </p:extLst>
          </p:nvPr>
        </p:nvGraphicFramePr>
        <p:xfrm>
          <a:off x="453000" y="1051789"/>
          <a:ext cx="8994883" cy="2232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usngSecd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사용중지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조회는 가능 및 대표자가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재사용가능하게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변경가능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), M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사용자등록 후 대표자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 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전자조달 사용가능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T : FAX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개인탈퇴의사표시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운영자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DB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조회불가 및 영구미사용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77072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상태가 탈퇴일 때 탈퇴사유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5558" y="3541271"/>
            <a:ext cx="340534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 상세정보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351684"/>
              </p:ext>
            </p:extLst>
          </p:nvPr>
        </p:nvGraphicFramePr>
        <p:xfrm>
          <a:off x="455558" y="3754954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userTkcgTaskCd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64318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userEnrrno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생년월일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07890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437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711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emlAddr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이메일주소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6125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bzentyFxno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팩스번호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75071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부서명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20235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119084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211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690014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6696372"/>
              </p:ext>
            </p:extLst>
          </p:nvPr>
        </p:nvGraphicFramePr>
        <p:xfrm>
          <a:off x="455204" y="896006"/>
          <a:ext cx="8995591" cy="1335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scwin.btn_userSrch_onclick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업체 사용자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업체 사용자 목록</a:t>
                      </a:r>
                      <a:r>
                        <a:rPr lang="en-US" altLang="ko-KR" sz="800" dirty="0"/>
                        <a:t> </a:t>
                      </a:r>
                      <a:r>
                        <a:rPr lang="ko-KR" altLang="en-US" sz="800" dirty="0"/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scwin.grd_userList_oncellclick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업체 사용자 상세정보가 호출된다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6238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상태저장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scwin.btn_sttsStrg_onclick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 사용자 상태가 변경된다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4870510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561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5638786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ko-KR" altLang="en-US" dirty="0"/>
              <a:t> 하단 내용 확인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수신정보</a:t>
            </a:r>
            <a:r>
              <a:rPr lang="ko-KR" altLang="en-US" dirty="0"/>
              <a:t> 표시 </a:t>
            </a:r>
            <a:r>
              <a:rPr lang="en-US" altLang="ko-KR" dirty="0"/>
              <a:t>(</a:t>
            </a:r>
            <a:r>
              <a:rPr lang="ko-KR" altLang="en-US" dirty="0"/>
              <a:t>개인정보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회원정보 상세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</a:t>
            </a:r>
            <a:r>
              <a:rPr lang="en-US" altLang="ko-KR" dirty="0"/>
              <a:t>MUI-CM-02-M03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알림 수단 설정</a:t>
            </a:r>
            <a:r>
              <a:rPr lang="en-US" altLang="ko-KR" dirty="0"/>
              <a:t>, </a:t>
            </a:r>
            <a:r>
              <a:rPr lang="ko-KR" altLang="en-US" dirty="0"/>
              <a:t>알림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설정 </a:t>
            </a:r>
            <a:r>
              <a:rPr lang="en-US" altLang="ko-KR" dirty="0"/>
              <a:t>ON/OFF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/>
              <a:t>알림서비스신청및해지</a:t>
            </a:r>
            <a:r>
              <a:rPr lang="ko-KR" altLang="en-US" dirty="0"/>
              <a:t> 화면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알림서비스신청및해지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MUI-CM-02-M09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5744634"/>
            <a:ext cx="2527419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rgbClr val="0070C0"/>
                </a:solidFill>
              </a:rPr>
              <a:t>저장</a:t>
            </a:r>
            <a:endParaRPr kumimoji="1" lang="en-US" altLang="ko-KR" sz="1000" kern="0" dirty="0">
              <a:solidFill>
                <a:srgbClr val="0070C0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알림 서비스 신청 및 해지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3" name="그룹 62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6" name="타원 65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69" name="타원 68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804476" y="2444894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휴대전화번호</a:t>
            </a:r>
            <a:endParaRPr lang="en-US" altLang="ko-KR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이메일</a:t>
            </a:r>
            <a:endParaRPr lang="en-US" altLang="ko-KR" sz="800" dirty="0"/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2160882" y="2468682"/>
            <a:ext cx="1128834" cy="4378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altLang="ko-KR" sz="800" dirty="0"/>
              <a:t>010-****-1234</a:t>
            </a:r>
          </a:p>
          <a:p>
            <a:pPr algn="r">
              <a:lnSpc>
                <a:spcPct val="150000"/>
              </a:lnSpc>
            </a:pPr>
            <a:r>
              <a:rPr lang="en-US" altLang="ko-KR" sz="800" dirty="0"/>
              <a:t>user****@naver.com</a:t>
            </a:r>
          </a:p>
        </p:txBody>
      </p:sp>
      <p:sp>
        <p:nvSpPr>
          <p:cNvPr id="94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322247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개인정보 </a:t>
            </a:r>
            <a:r>
              <a:rPr kumimoji="1" lang="en-US" altLang="ko-KR" sz="800" kern="0" dirty="0">
                <a:latin typeface="맑은 고딕"/>
                <a:ea typeface="맑은 고딕" panose="020B0503020000020004" pitchFamily="50" charset="-127"/>
              </a:rPr>
              <a:t>&gt;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95699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742894"/>
            <a:ext cx="2185443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수신을 원하는 문자메시지 서비스에 체크하여 주시기 바랍니다</a:t>
            </a:r>
            <a:r>
              <a:rPr lang="en-US" altLang="ko-KR" dirty="0"/>
              <a:t>.</a:t>
            </a:r>
          </a:p>
          <a:p>
            <a:pPr marL="171450" indent="-171450">
              <a:lnSpc>
                <a:spcPct val="120000"/>
              </a:lnSpc>
              <a:buFontTx/>
              <a:buChar char="-"/>
            </a:pPr>
            <a:r>
              <a:rPr lang="ko-KR" altLang="en-US" dirty="0"/>
              <a:t>본 서비스는 단순 </a:t>
            </a:r>
            <a:r>
              <a:rPr lang="ko-KR" altLang="en-US" dirty="0" err="1"/>
              <a:t>참고용이며</a:t>
            </a:r>
            <a:r>
              <a:rPr lang="en-US" altLang="ko-KR" dirty="0"/>
              <a:t>, </a:t>
            </a:r>
            <a:r>
              <a:rPr lang="ko-KR" altLang="en-US" dirty="0"/>
              <a:t>업무상 주요 부분은 국방전자조달시스템에서 직접 확인하시기 바랍니다</a:t>
            </a:r>
            <a:r>
              <a:rPr lang="en-US" altLang="ko-KR" dirty="0"/>
              <a:t>.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070963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수단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33899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3467628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04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3400546"/>
            <a:ext cx="301752" cy="137160"/>
            <a:chOff x="840582" y="1601197"/>
            <a:chExt cx="301752" cy="137160"/>
          </a:xfrm>
        </p:grpSpPr>
        <p:sp>
          <p:nvSpPr>
            <p:cNvPr id="105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3A3989F9-3249-48DF-9940-EABCDEC098C0}"/>
              </a:ext>
            </a:extLst>
          </p:cNvPr>
          <p:cNvSpPr/>
          <p:nvPr/>
        </p:nvSpPr>
        <p:spPr>
          <a:xfrm>
            <a:off x="783686" y="2338852"/>
            <a:ext cx="59503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 err="1">
                <a:latin typeface="+mn-ea"/>
              </a:rPr>
              <a:t>수신정보</a:t>
            </a:r>
            <a:endParaRPr lang="en-US" altLang="ko-KR" sz="800" b="1" dirty="0">
              <a:latin typeface="+mn-ea"/>
            </a:endParaRPr>
          </a:p>
        </p:txBody>
      </p: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69744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850847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11887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입찰 단계별 안내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26493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등록심사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적격심사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낙찰자 선정 등 전자입찰 단계별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주용사항을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12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180430"/>
            <a:ext cx="301752" cy="137160"/>
            <a:chOff x="840582" y="1601197"/>
            <a:chExt cx="301752" cy="137160"/>
          </a:xfrm>
        </p:grpSpPr>
        <p:sp>
          <p:nvSpPr>
            <p:cNvPr id="113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581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등록품목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4727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조달업체의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등재 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품목코드의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1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4642757"/>
            <a:ext cx="301752" cy="137160"/>
            <a:chOff x="840582" y="1601197"/>
            <a:chExt cx="301752" cy="137160"/>
          </a:xfrm>
        </p:grpSpPr>
        <p:sp>
          <p:nvSpPr>
            <p:cNvPr id="11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1" name="TextBox 12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03804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전자입찰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관심 </a:t>
            </a:r>
            <a:r>
              <a:rPr lang="ko-KR" altLang="en-US" sz="800" dirty="0" err="1">
                <a:latin typeface="+mn-ea"/>
              </a:rPr>
              <a:t>계약팀</a:t>
            </a:r>
            <a:r>
              <a:rPr lang="ko-KR" altLang="en-US" sz="800" dirty="0">
                <a:latin typeface="+mn-ea"/>
              </a:rPr>
              <a:t> 입찰공고 안내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18410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관심 발주기관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에서 입찰공고가 등록되면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.(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팝업에서 선택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3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21585" y="5099600"/>
            <a:ext cx="301752" cy="137160"/>
            <a:chOff x="840582" y="1601197"/>
            <a:chExt cx="301752" cy="137160"/>
          </a:xfrm>
        </p:grpSpPr>
        <p:sp>
          <p:nvSpPr>
            <p:cNvPr id="124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5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506535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전자계약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계약단계</a:t>
            </a:r>
            <a:r>
              <a:rPr lang="ko-KR" altLang="en-US" sz="800" dirty="0">
                <a:latin typeface="+mn-ea"/>
              </a:rPr>
              <a:t> 안내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236" y="5652590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전자계약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단계별 진행상황 안내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전자세금계산서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승인현황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인지세납부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등을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2921585" y="5568090"/>
            <a:ext cx="301752" cy="137160"/>
            <a:chOff x="840582" y="1350472"/>
            <a:chExt cx="301752" cy="137160"/>
          </a:xfrm>
        </p:grpSpPr>
        <p:sp>
          <p:nvSpPr>
            <p:cNvPr id="13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60706" y="5506535"/>
            <a:ext cx="2185443" cy="16645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700">
                <a:latin typeface="+mn-ea"/>
              </a:defRPr>
            </a:lvl1pPr>
          </a:lstStyle>
          <a:p>
            <a:pPr>
              <a:lnSpc>
                <a:spcPct val="120000"/>
              </a:lnSpc>
            </a:pPr>
            <a:r>
              <a:rPr lang="ko-KR" altLang="en-US" sz="1000" dirty="0" err="1"/>
              <a:t>업무도움</a:t>
            </a:r>
            <a:r>
              <a:rPr lang="ko-KR" altLang="en-US" sz="1000" dirty="0"/>
              <a:t> 내용</a:t>
            </a:r>
            <a:endParaRPr lang="en-US" altLang="ko-KR" sz="1000" dirty="0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62171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검사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검수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출납 안내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176776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검사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출납 항목이 확정 또는 반려되었을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1683267"/>
            <a:ext cx="301752" cy="137160"/>
            <a:chOff x="840582" y="1601197"/>
            <a:chExt cx="301752" cy="137160"/>
          </a:xfrm>
        </p:grpSpPr>
        <p:sp>
          <p:nvSpPr>
            <p:cNvPr id="13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090202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지급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대금청구</a:t>
            </a:r>
            <a:r>
              <a:rPr lang="ko-KR" altLang="en-US" sz="800" dirty="0">
                <a:latin typeface="+mn-ea"/>
              </a:rPr>
              <a:t> 및 지급 안내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236257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대금청구의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반려와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대금지급에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대해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42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151757"/>
            <a:ext cx="301752" cy="137160"/>
            <a:chOff x="840582" y="1350472"/>
            <a:chExt cx="301752" cy="137160"/>
          </a:xfrm>
        </p:grpSpPr>
        <p:sp>
          <p:nvSpPr>
            <p:cNvPr id="143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4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564131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납품실적증명서 발급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710186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납품실적증명서 발급 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47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6011046" y="2625686"/>
            <a:ext cx="301752" cy="137160"/>
            <a:chOff x="840582" y="1601197"/>
            <a:chExt cx="301752" cy="137160"/>
          </a:xfrm>
        </p:grpSpPr>
        <p:sp>
          <p:nvSpPr>
            <p:cNvPr id="148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9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2936060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 err="1">
                <a:latin typeface="+mn-ea"/>
              </a:rPr>
              <a:t>품목등재</a:t>
            </a:r>
            <a:r>
              <a:rPr lang="ko-KR" altLang="en-US" sz="800" dirty="0">
                <a:latin typeface="+mn-ea"/>
              </a:rPr>
              <a:t> 신청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확정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갱신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082115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품목등록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관련 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 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5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2997615"/>
            <a:ext cx="301752" cy="137160"/>
            <a:chOff x="840582" y="1350472"/>
            <a:chExt cx="301752" cy="137160"/>
          </a:xfrm>
        </p:grpSpPr>
        <p:sp>
          <p:nvSpPr>
            <p:cNvPr id="15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375434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조달원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나토 </a:t>
            </a:r>
            <a:r>
              <a:rPr lang="ko-KR" altLang="en-US" sz="800" dirty="0" err="1">
                <a:latin typeface="+mn-ea"/>
              </a:rPr>
              <a:t>생산자부호</a:t>
            </a:r>
            <a:r>
              <a:rPr lang="ko-KR" altLang="en-US" sz="800" dirty="0">
                <a:latin typeface="+mn-ea"/>
              </a:rPr>
              <a:t> 접수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완료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521489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나토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생산자부호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접수 시 등록된 전화번호로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6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436989"/>
            <a:ext cx="301752" cy="137160"/>
            <a:chOff x="840582" y="1350472"/>
            <a:chExt cx="301752" cy="137160"/>
          </a:xfrm>
        </p:grpSpPr>
        <p:sp>
          <p:nvSpPr>
            <p:cNvPr id="165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6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84472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399077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3906278"/>
            <a:ext cx="301752" cy="137160"/>
            <a:chOff x="840582" y="1350472"/>
            <a:chExt cx="301752" cy="137160"/>
          </a:xfrm>
        </p:grpSpPr>
        <p:sp>
          <p:nvSpPr>
            <p:cNvPr id="17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313986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장애발생</a:t>
            </a:r>
            <a:r>
              <a:rPr lang="en-US" altLang="ko-KR" sz="800" dirty="0">
                <a:latin typeface="+mn-ea"/>
              </a:rPr>
              <a:t>/</a:t>
            </a:r>
            <a:r>
              <a:rPr lang="ko-KR" altLang="en-US" sz="800" dirty="0">
                <a:latin typeface="+mn-ea"/>
              </a:rPr>
              <a:t>복구 안내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460041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국방전자조달시스템 장애발생 및 </a:t>
            </a: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복구사항을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76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375541"/>
            <a:ext cx="301752" cy="137160"/>
            <a:chOff x="840582" y="1350472"/>
            <a:chExt cx="301752" cy="137160"/>
          </a:xfrm>
        </p:grpSpPr>
        <p:sp>
          <p:nvSpPr>
            <p:cNvPr id="177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8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790693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>
                <a:latin typeface="+mn-ea"/>
              </a:rPr>
              <a:t>전자조달</a:t>
            </a:r>
            <a:r>
              <a:rPr lang="en-US" altLang="ko-KR" sz="800" dirty="0">
                <a:latin typeface="+mn-ea"/>
              </a:rPr>
              <a:t>] </a:t>
            </a:r>
            <a:r>
              <a:rPr lang="ko-KR" altLang="en-US" sz="800" dirty="0">
                <a:latin typeface="+mn-ea"/>
              </a:rPr>
              <a:t>시스템 공지사항 안내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0697" y="4936748"/>
            <a:ext cx="185626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국방통합원가시스템 주요 공지사항을 안내합니다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</p:txBody>
      </p:sp>
      <p:grpSp>
        <p:nvGrpSpPr>
          <p:cNvPr id="181" name="Toggle Switch">
            <a:extLst>
              <a:ext uri="{FF2B5EF4-FFF2-40B4-BE49-F238E27FC236}">
                <a16:creationId xmlns:a16="http://schemas.microsoft.com/office/drawing/2014/main" id="{2503846A-07E6-4F52-8952-ADFC89A4D275}"/>
              </a:ext>
            </a:extLst>
          </p:cNvPr>
          <p:cNvGrpSpPr/>
          <p:nvPr/>
        </p:nvGrpSpPr>
        <p:grpSpPr>
          <a:xfrm>
            <a:off x="6011046" y="4852248"/>
            <a:ext cx="301752" cy="137160"/>
            <a:chOff x="840582" y="1350472"/>
            <a:chExt cx="301752" cy="137160"/>
          </a:xfrm>
        </p:grpSpPr>
        <p:sp>
          <p:nvSpPr>
            <p:cNvPr id="182" name="Switch Box">
              <a:extLst>
                <a:ext uri="{FF2B5EF4-FFF2-40B4-BE49-F238E27FC236}">
                  <a16:creationId xmlns:a16="http://schemas.microsoft.com/office/drawing/2014/main" id="{44CCFE71-0BEF-4D3A-8CC7-562176965516}"/>
                </a:ext>
              </a:extLst>
            </p:cNvPr>
            <p:cNvSpPr/>
            <p:nvPr/>
          </p:nvSpPr>
          <p:spPr>
            <a:xfrm>
              <a:off x="840582" y="1350472"/>
              <a:ext cx="301752" cy="137160"/>
            </a:xfrm>
            <a:prstGeom prst="roundRect">
              <a:avLst>
                <a:gd name="adj" fmla="val 50000"/>
              </a:avLst>
            </a:prstGeom>
            <a:noFill/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Switch">
              <a:extLst>
                <a:ext uri="{FF2B5EF4-FFF2-40B4-BE49-F238E27FC236}">
                  <a16:creationId xmlns:a16="http://schemas.microsoft.com/office/drawing/2014/main" id="{A6E5750F-7C23-4B3C-985F-954C940D8F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9634" y="1388096"/>
              <a:ext cx="61913" cy="61913"/>
            </a:xfrm>
            <a:prstGeom prst="ellipse">
              <a:avLst/>
            </a:prstGeom>
            <a:solidFill>
              <a:srgbClr val="000000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4" name="타원 18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374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4115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458192063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A2CFBB5-4E96-C8CC-EBAB-E2A56056E62D}"/>
              </a:ext>
            </a:extLst>
          </p:cNvPr>
          <p:cNvSpPr txBox="1"/>
          <p:nvPr/>
        </p:nvSpPr>
        <p:spPr>
          <a:xfrm>
            <a:off x="460676" y="837094"/>
            <a:ext cx="268880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알림서비스신청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dl_notiSrvcList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06E3768-6826-F4D1-3A14-37F640C098F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49594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enmtno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휴대전화번호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39090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srvcFld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NSMS_IDEN’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93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srvcExpln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서비스설명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CODE_IDEN=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NSMS_CODE’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35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rcptnYn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수신여부 수정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9352795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3489D833-20E6-CB04-AA0A-3FEC1792CDED}"/>
              </a:ext>
            </a:extLst>
          </p:cNvPr>
          <p:cNvSpPr txBox="1"/>
          <p:nvPr/>
        </p:nvSpPr>
        <p:spPr>
          <a:xfrm>
            <a:off x="452999" y="241699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95C3F8E-C7AF-C53E-5FC3-A6E638DC2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840451"/>
              </p:ext>
            </p:extLst>
          </p:nvPr>
        </p:nvGraphicFramePr>
        <p:xfrm>
          <a:off x="422425" y="2665093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scwin.btn_phoneNumChgMdfcn_onclick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개인정보 상세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0302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받을 서비스를 선택 후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9464746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7B7AE143-4F02-387D-D43D-9D4379515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0000" y="252880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5D0FC77-43D8-6A54-39F8-E8491B20C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30715359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 탈퇴는 </a:t>
            </a:r>
            <a:r>
              <a:rPr lang="ko-KR" altLang="en-US" dirty="0" err="1"/>
              <a:t>여러줄</a:t>
            </a:r>
            <a:r>
              <a:rPr lang="ko-KR" altLang="en-US" dirty="0"/>
              <a:t> 입력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필요 시 확장하여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최대 </a:t>
            </a:r>
            <a:r>
              <a:rPr lang="en-US" altLang="ko-KR" dirty="0"/>
              <a:t>5</a:t>
            </a:r>
            <a:r>
              <a:rPr lang="ko-KR" altLang="en-US" dirty="0"/>
              <a:t>줄</a:t>
            </a:r>
            <a:r>
              <a:rPr lang="en-US" altLang="ko-KR" dirty="0"/>
              <a:t>, </a:t>
            </a:r>
            <a:r>
              <a:rPr lang="ko-KR" altLang="en-US" dirty="0"/>
              <a:t>이후 내부 스크롤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회원탈퇴 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회원탈퇴 확인 팝업 호출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확인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 </a:t>
            </a:r>
            <a:r>
              <a:rPr lang="en-US" altLang="ko-KR" dirty="0"/>
              <a:t>: </a:t>
            </a:r>
            <a:r>
              <a:rPr lang="ko-KR" altLang="en-US" dirty="0"/>
              <a:t>회원 탈퇴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메인으로</a:t>
            </a:r>
            <a:r>
              <a:rPr lang="ko-KR" altLang="en-US" dirty="0"/>
              <a:t> </a:t>
            </a:r>
            <a:r>
              <a:rPr lang="ko-KR" altLang="en-US" dirty="0" smtClean="0"/>
              <a:t>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로그아웃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회원탈퇴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회원탈퇴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ko-KR" altLang="en-US" dirty="0"/>
              <a:t>홈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마이페이지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사용자정보관리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회원탈퇴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MUI-CM-02-P10</a:t>
            </a:r>
            <a:endParaRPr lang="ko-KR" altLang="en-US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2678353"/>
            <a:ext cx="2712027" cy="3553189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27149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28493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8300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회원탈퇴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0914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804476" y="4099049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800" dirty="0">
                <a:solidFill>
                  <a:schemeClr val="tx1"/>
                </a:solidFill>
              </a:rPr>
              <a:t>Test1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418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 </a:t>
            </a:r>
            <a:r>
              <a:rPr lang="en-US" altLang="ko-KR" sz="800" dirty="0">
                <a:latin typeface="+mn-ea"/>
              </a:rPr>
              <a:t>ID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675399" y="5613954"/>
            <a:ext cx="2712027" cy="617588"/>
            <a:chOff x="675399" y="5614711"/>
            <a:chExt cx="2712027" cy="617588"/>
          </a:xfrm>
        </p:grpSpPr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</a:rPr>
                <a:t>회원탈퇴</a:t>
              </a:r>
              <a:endParaRPr kumimoji="1" lang="en-US" altLang="ko-KR" sz="1000" kern="0" dirty="0">
                <a:solidFill>
                  <a:srgbClr val="0070C0"/>
                </a:solidFill>
              </a:endParaRPr>
            </a:p>
          </p:txBody>
        </p:sp>
        <p:sp>
          <p:nvSpPr>
            <p:cNvPr id="10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3668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8" name="그룹 37"/>
          <p:cNvGrpSpPr/>
          <p:nvPr/>
        </p:nvGrpSpPr>
        <p:grpSpPr>
          <a:xfrm>
            <a:off x="705041" y="3147767"/>
            <a:ext cx="2652743" cy="626069"/>
            <a:chOff x="734683" y="4769160"/>
            <a:chExt cx="2652743" cy="626069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734683" y="4769160"/>
              <a:ext cx="2652743" cy="626069"/>
            </a:xfrm>
            <a:prstGeom prst="roundRect">
              <a:avLst>
                <a:gd name="adj" fmla="val 906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23453" y="4867444"/>
              <a:ext cx="2475203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     </a:t>
              </a:r>
              <a:r>
                <a:rPr lang="ko-KR" altLang="en-US" sz="7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주의사항</a:t>
              </a:r>
              <a:endParaRPr lang="en-US" altLang="ko-KR" sz="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endPara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endParaRP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회원정보가 삭제됩니다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  <a:p>
              <a:pPr marL="171450" indent="-171450">
                <a:buFontTx/>
                <a:buChar char="-"/>
              </a:pP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회원탈퇴 시 되돌릴 수 없으며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, </a:t>
              </a:r>
              <a:r>
                <a:rPr lang="ko-KR" altLang="en-US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재가입 하셔야 합니다</a:t>
              </a:r>
              <a:r>
                <a:rPr lang="en-US" altLang="ko-KR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41" name="타원 40"/>
            <p:cNvSpPr/>
            <p:nvPr/>
          </p:nvSpPr>
          <p:spPr>
            <a:xfrm>
              <a:off x="819495" y="4857793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2" name="그룹 41"/>
            <p:cNvGrpSpPr/>
            <p:nvPr/>
          </p:nvGrpSpPr>
          <p:grpSpPr>
            <a:xfrm flipV="1">
              <a:off x="3168316" y="4906291"/>
              <a:ext cx="94010" cy="47005"/>
              <a:chOff x="6812560" y="3297172"/>
              <a:chExt cx="94010" cy="47005"/>
            </a:xfrm>
          </p:grpSpPr>
          <p:cxnSp>
            <p:nvCxnSpPr>
              <p:cNvPr id="43" name="직선 연결선 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직선 연결선 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45" name="모서리가 둥근 직사각형 44"/>
          <p:cNvSpPr/>
          <p:nvPr/>
        </p:nvSpPr>
        <p:spPr>
          <a:xfrm>
            <a:off x="804476" y="5224296"/>
            <a:ext cx="2485240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067102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탈퇴 사유 작성</a:t>
            </a:r>
            <a:r>
              <a:rPr lang="ko-KR" altLang="en-US" sz="800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800" dirty="0">
                <a:solidFill>
                  <a:srgbClr val="FF0000"/>
                </a:solidFill>
                <a:latin typeface="+mn-ea"/>
              </a:rPr>
              <a:t>*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02029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8" name="모서리가 둥근 직사각형 47"/>
          <p:cNvSpPr/>
          <p:nvPr/>
        </p:nvSpPr>
        <p:spPr>
          <a:xfrm>
            <a:off x="804476" y="4683900"/>
            <a:ext cx="2485240" cy="244348"/>
          </a:xfrm>
          <a:prstGeom prst="roundRect">
            <a:avLst>
              <a:gd name="adj" fmla="val 17463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526706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사용자명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3955360" y="3262742"/>
            <a:ext cx="2579992" cy="1200743"/>
            <a:chOff x="713510" y="2317399"/>
            <a:chExt cx="2579992" cy="120074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13510" y="2317399"/>
              <a:ext cx="2579992" cy="1200743"/>
            </a:xfrm>
            <a:prstGeom prst="roundRect">
              <a:avLst>
                <a:gd name="adj" fmla="val 4663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56348" y="3076561"/>
              <a:ext cx="1080000" cy="317083"/>
            </a:xfrm>
            <a:prstGeom prst="roundRect">
              <a:avLst/>
            </a:prstGeom>
            <a:solidFill>
              <a:srgbClr val="C0000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+mn-ea"/>
                  <a:cs typeface="+mn-cs"/>
                </a:rPr>
                <a:t>확인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5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31204" y="3076561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31204" y="246412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회원탈퇴 확인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50934" y="2696638"/>
              <a:ext cx="2305144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회원 탈퇴는 되돌릴 수 없습니다</a:t>
              </a:r>
              <a:r>
                <a:rPr lang="en-US" altLang="ko-KR" sz="700" dirty="0">
                  <a:latin typeface="+mn-ea"/>
                </a:rPr>
                <a:t>.</a:t>
              </a:r>
            </a:p>
            <a:p>
              <a:r>
                <a:rPr lang="ko-KR" altLang="en-US" sz="700" dirty="0">
                  <a:latin typeface="+mn-ea"/>
                </a:rPr>
                <a:t>정말 회원탈퇴를 할까요</a:t>
              </a:r>
              <a:r>
                <a:rPr lang="en-US" altLang="ko-KR" sz="700" dirty="0">
                  <a:latin typeface="+mn-ea"/>
                </a:rPr>
                <a:t>?</a:t>
              </a:r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3042338" y="2464129"/>
              <a:ext cx="94010" cy="94010"/>
              <a:chOff x="6812560" y="3297172"/>
              <a:chExt cx="94010" cy="94010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852333" y="3130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05384094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3FBE65-022B-2CC9-82D0-8B051EDF8A19}"/>
              </a:ext>
            </a:extLst>
          </p:cNvPr>
          <p:cNvSpPr txBox="1"/>
          <p:nvPr/>
        </p:nvSpPr>
        <p:spPr>
          <a:xfrm>
            <a:off x="453000" y="840586"/>
            <a:ext cx="28426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업체 사용자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dm_bzentyUserInfo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E1EC257-A23A-4293-2A62-B6B72FC492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165816"/>
              </p:ext>
            </p:extLst>
          </p:nvPr>
        </p:nvGraphicFramePr>
        <p:xfrm>
          <a:off x="453000" y="1051789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4274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whdwlRsn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탈퇴사유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기입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088330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9646A461-BCAF-034A-1179-54DE17ACB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96F37B1-F84C-2A3A-7E62-143A78C7C08B}"/>
              </a:ext>
            </a:extLst>
          </p:cNvPr>
          <p:cNvSpPr txBox="1"/>
          <p:nvPr/>
        </p:nvSpPr>
        <p:spPr>
          <a:xfrm>
            <a:off x="455204" y="2564637"/>
            <a:ext cx="911074" cy="20599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9231C4C-4641-0463-57E3-B0D9AC1324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394642"/>
              </p:ext>
            </p:extLst>
          </p:nvPr>
        </p:nvGraphicFramePr>
        <p:xfrm>
          <a:off x="455204" y="2770629"/>
          <a:ext cx="8995591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).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회원탈퇴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 확인 팝업을 표시한다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회원탈퇴 확인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UserWhdwlIdnty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 회원탈퇴를 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375491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FC288215-3957-73FE-9B76-59983CB7F9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2651184"/>
            <a:ext cx="1678016" cy="979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7674844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(1/4)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4284901"/>
              </p:ext>
            </p:extLst>
          </p:nvPr>
        </p:nvGraphicFramePr>
        <p:xfrm>
          <a:off x="635474" y="1413419"/>
          <a:ext cx="8701200" cy="49334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D2b_NoticeListPage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D2b_NoticeListPage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9238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방위사업청공지사항상세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D2b_NoticeDtlPage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D2b_NoticeDtlPage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312182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Dmdfrc_NoticeListPage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Dmdfrc_NoticeListPage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37020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수요부대별공지사항상세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Dmdfrc_NoticeDtlPage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수요부대별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공지사항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noticeList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Dmdfrc_NoticeDtlPage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174716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RpstrList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068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일반자료실상세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일반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108495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0914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수요부대별자료실상세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Dmdfrc_rpstrDtl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수요부대별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Dmdfrc_rpstrDtl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34906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61774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MUI-CM-04-M30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계약관련서식자료실상세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Ctrt_rpstrDtl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계약관련서식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Ctrt_rpstrDtl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505148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SysImpv_rpstrList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SysImpv_rpstrList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09212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MUI-CM-04-M32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시스템개선안내상세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SysImpv_rpstrDtl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시스템개선안내 자료실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RpstrList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SysImpv_rpstrDtl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UC-ZZ-02-01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UC-ZZ-02-02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94039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자주묻는질문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및 답변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UC-ZZ-04-02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7527993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0494414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(2/4)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419990"/>
              </p:ext>
            </p:extLst>
          </p:nvPr>
        </p:nvGraphicFramePr>
        <p:xfrm>
          <a:off x="635474" y="1413419"/>
          <a:ext cx="8701200" cy="5155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MUI-CM-04-M04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민원서류발급신청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민원서류발급신청 서브 메인 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DcmntIssuAplyPage.tsx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123076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신청절차및안내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민원서류 신청절차 및 안내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AplyStepInfoPage.tsx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9678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720425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MUI-CM-04-P33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 목록의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PrfmncPrdocPage_SrchFilter.tsx</a:t>
                      </a:r>
                      <a:endParaRPr lang="ko-KR" altLang="en-US" sz="8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2837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실적증명서확인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상세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PrfmncPrdocDtlPage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상세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439337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상세 화면의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계약정보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PrfmncPrdocDtl_Cn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605597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D2b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443762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17881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PrfmncPrdocDtl_UnitC.tsx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768822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PrfmncPrdocDtl_UnitD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PrfmncPrdocDtl_UnitD.tsx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605407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PrfmncPrdocDtl_UnitE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PrfmncPrdocDtl_UnitE.tsx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41597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PrfmncPrdocDtl_UnitF.tsx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42981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PrfmncPrdocDtl_UnitG.tsx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9806137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" name="직사각형 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2026-07-16 </a:t>
              </a:r>
              <a:r>
                <a:rPr lang="ko-KR" altLang="en-US" dirty="0" smtClean="0"/>
                <a:t>화면 추가</a:t>
              </a:r>
              <a:endParaRPr lang="ko-KR" altLang="en-US" dirty="0"/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민원서류발급신청 서브 메인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284203072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(3/4)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3301379"/>
              </p:ext>
            </p:extLst>
          </p:nvPr>
        </p:nvGraphicFramePr>
        <p:xfrm>
          <a:off x="635474" y="1413419"/>
          <a:ext cx="8701200" cy="38918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PrfmncPrdocDtl_UnitH.tsx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89813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PrfmncPrdocDtl_UnitI.tsx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0242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PrfmncPrdocDtl_AplyInfo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상세 화면의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신청정보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분기에 따른 정보 제공 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PrfmncPrdocDtl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AplyInfo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tsx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943695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실적증명서제출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PrfmncPrdocSbmsn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온라인 제출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prfmncPrdocDtl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PrfmncPrdocSbmsn.tsx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759759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계약정보선택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발급할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 검색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prfmncPrdocReg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CtrtInfoChc.tsx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185049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검색필터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계약정보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발급할 계약 목록에서 계약을 검색할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검색필터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CtrtInfoChc_SrchFilter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8342026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신청정보입력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신청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화면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PrfmncPrdocReg_AplyInpt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92687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방위사업청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실적증명서 </a:t>
                      </a:r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계약건에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맞는 실적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정보 입력 분기 화면</a:t>
                      </a:r>
                      <a:endParaRPr lang="ko-KR" altLang="en-US" sz="800" dirty="0" smtClean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PrfmncPrdocReg_D2b</a:t>
                      </a: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9209888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unitB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PrfmncPrdocReg_UnitB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23809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58999323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219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3. </a:t>
            </a:r>
            <a:r>
              <a:rPr lang="ko-KR" altLang="en-US" dirty="0"/>
              <a:t>고객센터 메뉴</a:t>
            </a:r>
            <a:endParaRPr lang="en-US" altLang="ko-KR" dirty="0"/>
          </a:p>
          <a:p>
            <a:r>
              <a:rPr lang="en-US" altLang="ko-KR" dirty="0"/>
              <a:t>3.1 </a:t>
            </a:r>
            <a:r>
              <a:rPr lang="ko-KR" altLang="en-US" dirty="0"/>
              <a:t>화면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(4/4)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3948814"/>
              </p:ext>
            </p:extLst>
          </p:nvPr>
        </p:nvGraphicFramePr>
        <p:xfrm>
          <a:off x="635474" y="1413419"/>
          <a:ext cx="8701200" cy="508318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unitC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PrfmncPrdocReg_UnitC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77219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unitD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PrfmncPrdocReg_UnitD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095117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unitE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PrfmncPrdocReg_UnitE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050989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unitF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PrfmncPrdocReg_UnitF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484760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unitG</a:t>
                      </a:r>
                      <a:r>
                        <a:rPr 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PrfmncPrdocReg_UnitG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385675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unitH)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PrfmncPrdocReg_UnitH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837015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unitI)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계약건에 맞는 실적 정보 입력 분기 화면</a:t>
                      </a:r>
                      <a:endParaRPr kumimoji="0" lang="ko-KR" altLang="en-US" sz="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PrfmncPrdocReg_UnitI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447579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MUI-CM-04-T21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8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실적정보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실적증명서 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계약건에</a:t>
                      </a: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맞는 실적 정보 입력 분기 화면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src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/biz/cm/</a:t>
                      </a:r>
                      <a:r>
                        <a:rPr kumimoji="0" lang="en-US" altLang="ko-KR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prfmncPrdocReg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en-US" altLang="ko-KR" sz="8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PrfmncPrdocReg_AplyInfo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UC-ZZ-06-01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607414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MUI-CM-04-M21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국외조달원등록증신청목록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OvsSosCnfdocListPage.tsx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945515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MUI-CM-04-M22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국외조달원등록증신청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OvsSosCnfdocReg.tsx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1773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MUI-CM-04-P23</a:t>
                      </a:r>
                      <a:endParaRPr 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조달업체선택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 조달원 등록증 신청할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조달업체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OvsSosCnfdocChc.tsx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UC-ZZ-07-03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0618647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MUI-CM-04-M24</a:t>
                      </a:r>
                      <a:endParaRPr lang="ko-KR" altLang="en-US" sz="7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법령정보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정보 목록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SttInfoListPaget.tsx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UC-ZZ-11-08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770116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8589793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220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목록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91585" y="1529049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사용자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게시판 상세</a:t>
            </a: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2403476" y="1938391"/>
            <a:ext cx="410369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자료실</a:t>
            </a:r>
          </a:p>
        </p:txBody>
      </p: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실적증명서신청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실적증명서확인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451013" y="3038863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480010" y="2848208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5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31639" y="512469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조달원 등록증 신청</a:t>
            </a:r>
          </a:p>
        </p:txBody>
      </p:sp>
      <p:cxnSp>
        <p:nvCxnSpPr>
          <p:cNvPr id="18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65" idx="1"/>
          </p:cNvCxnSpPr>
          <p:nvPr/>
        </p:nvCxnSpPr>
        <p:spPr>
          <a:xfrm>
            <a:off x="3266608" y="2938208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21158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자주묻는</a:t>
            </a:r>
            <a:r>
              <a:rPr lang="ko-KR" altLang="en-US" sz="800" dirty="0">
                <a:solidFill>
                  <a:schemeClr val="tx1"/>
                </a:solidFill>
              </a:rPr>
              <a:t> 질문 목록</a:t>
            </a:r>
          </a:p>
        </p:txBody>
      </p:sp>
      <p:sp>
        <p:nvSpPr>
          <p:cNvPr id="6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민원서류발급신청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6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794208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신청절자</a:t>
            </a:r>
            <a:r>
              <a:rPr lang="ko-KR" altLang="en-US" sz="800" dirty="0">
                <a:solidFill>
                  <a:schemeClr val="tx1"/>
                </a:solidFill>
              </a:rPr>
              <a:t> 및 안내</a:t>
            </a:r>
          </a:p>
        </p:txBody>
      </p:sp>
      <p:cxnSp>
        <p:nvCxnSpPr>
          <p:cNvPr id="6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5" idx="3"/>
            <a:endCxn id="98" idx="1"/>
          </p:cNvCxnSpPr>
          <p:nvPr/>
        </p:nvCxnSpPr>
        <p:spPr>
          <a:xfrm>
            <a:off x="5097742" y="3520830"/>
            <a:ext cx="933897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57" idx="1"/>
          </p:cNvCxnSpPr>
          <p:nvPr/>
        </p:nvCxnSpPr>
        <p:spPr>
          <a:xfrm>
            <a:off x="1435474" y="1772964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60" idx="1"/>
          </p:cNvCxnSpPr>
          <p:nvPr/>
        </p:nvCxnSpPr>
        <p:spPr>
          <a:xfrm>
            <a:off x="1435474" y="1772964"/>
            <a:ext cx="931134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5707317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목록</a:t>
            </a:r>
          </a:p>
        </p:txBody>
      </p:sp>
      <p:cxnSp>
        <p:nvCxnSpPr>
          <p:cNvPr id="7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" idx="6"/>
            <a:endCxn id="75" idx="1"/>
          </p:cNvCxnSpPr>
          <p:nvPr/>
        </p:nvCxnSpPr>
        <p:spPr>
          <a:xfrm>
            <a:off x="1435474" y="1772964"/>
            <a:ext cx="931134" cy="4078353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5707317"/>
            <a:ext cx="90000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법령 상세 </a:t>
            </a:r>
            <a:r>
              <a:rPr lang="en-US" altLang="ko-KR" sz="800" dirty="0">
                <a:solidFill>
                  <a:schemeClr val="tx1"/>
                </a:solidFill>
              </a:rPr>
              <a:t>(</a:t>
            </a:r>
            <a:r>
              <a:rPr lang="ko-KR" altLang="en-US" sz="800" dirty="0">
                <a:solidFill>
                  <a:schemeClr val="tx1"/>
                </a:solidFill>
              </a:rPr>
              <a:t>외부링크</a:t>
            </a:r>
            <a:r>
              <a:rPr lang="en-US" altLang="ko-KR" sz="8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75" idx="3"/>
            <a:endCxn id="80" idx="1"/>
          </p:cNvCxnSpPr>
          <p:nvPr/>
        </p:nvCxnSpPr>
        <p:spPr>
          <a:xfrm>
            <a:off x="3266608" y="5851317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0" idx="3"/>
            <a:endCxn id="62" idx="1"/>
          </p:cNvCxnSpPr>
          <p:nvPr/>
        </p:nvCxnSpPr>
        <p:spPr>
          <a:xfrm>
            <a:off x="3266608" y="2938208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200505" y="454207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조달원 등록증 목록</a:t>
            </a:r>
          </a:p>
        </p:txBody>
      </p:sp>
      <p:cxnSp>
        <p:nvCxnSpPr>
          <p:cNvPr id="9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93" idx="1"/>
          </p:cNvCxnSpPr>
          <p:nvPr/>
        </p:nvCxnSpPr>
        <p:spPr>
          <a:xfrm>
            <a:off x="3266608" y="2938208"/>
            <a:ext cx="933897" cy="174786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2" idx="3"/>
            <a:endCxn id="104" idx="2"/>
          </p:cNvCxnSpPr>
          <p:nvPr/>
        </p:nvCxnSpPr>
        <p:spPr>
          <a:xfrm>
            <a:off x="5097742" y="2938208"/>
            <a:ext cx="4382268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22" idx="3"/>
            <a:endCxn id="104" idx="2"/>
          </p:cNvCxnSpPr>
          <p:nvPr/>
        </p:nvCxnSpPr>
        <p:spPr>
          <a:xfrm>
            <a:off x="5097742" y="1772964"/>
            <a:ext cx="4382268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57" idx="3"/>
            <a:endCxn id="104" idx="2"/>
          </p:cNvCxnSpPr>
          <p:nvPr/>
        </p:nvCxnSpPr>
        <p:spPr>
          <a:xfrm>
            <a:off x="3266608" y="2355586"/>
            <a:ext cx="6213402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7" idx="3"/>
            <a:endCxn id="104" idx="2"/>
          </p:cNvCxnSpPr>
          <p:nvPr/>
        </p:nvCxnSpPr>
        <p:spPr>
          <a:xfrm flipV="1">
            <a:off x="8762773" y="2938208"/>
            <a:ext cx="717237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48" idx="3"/>
            <a:endCxn id="104" idx="2"/>
          </p:cNvCxnSpPr>
          <p:nvPr/>
        </p:nvCxnSpPr>
        <p:spPr>
          <a:xfrm flipV="1">
            <a:off x="8762773" y="2938208"/>
            <a:ext cx="717237" cy="1165244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151" idx="3"/>
            <a:endCxn id="104" idx="2"/>
          </p:cNvCxnSpPr>
          <p:nvPr/>
        </p:nvCxnSpPr>
        <p:spPr>
          <a:xfrm flipV="1">
            <a:off x="6931639" y="2938208"/>
            <a:ext cx="2548371" cy="2330488"/>
          </a:xfrm>
          <a:prstGeom prst="bentConnector3">
            <a:avLst>
              <a:gd name="adj1" fmla="val 8554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80" idx="3"/>
            <a:endCxn id="104" idx="2"/>
          </p:cNvCxnSpPr>
          <p:nvPr/>
        </p:nvCxnSpPr>
        <p:spPr>
          <a:xfrm flipV="1">
            <a:off x="5097742" y="2938208"/>
            <a:ext cx="4382268" cy="2913109"/>
          </a:xfrm>
          <a:prstGeom prst="bentConnector3">
            <a:avLst>
              <a:gd name="adj1" fmla="val 9133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2773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계약 검색</a:t>
            </a:r>
          </a:p>
        </p:txBody>
      </p:sp>
      <p:sp>
        <p:nvSpPr>
          <p:cNvPr id="48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2773" y="3959452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실적증명서제출</a:t>
            </a:r>
          </a:p>
        </p:txBody>
      </p: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1" idx="3"/>
            <a:endCxn id="47" idx="1"/>
          </p:cNvCxnSpPr>
          <p:nvPr/>
        </p:nvCxnSpPr>
        <p:spPr>
          <a:xfrm>
            <a:off x="6928876" y="3520830"/>
            <a:ext cx="933897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화살표 연결선 63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8" idx="3"/>
            <a:endCxn id="48" idx="1"/>
          </p:cNvCxnSpPr>
          <p:nvPr/>
        </p:nvCxnSpPr>
        <p:spPr>
          <a:xfrm>
            <a:off x="6931639" y="4103452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0" idx="3"/>
            <a:endCxn id="151" idx="1"/>
          </p:cNvCxnSpPr>
          <p:nvPr/>
        </p:nvCxnSpPr>
        <p:spPr>
          <a:xfrm>
            <a:off x="3266608" y="2938208"/>
            <a:ext cx="2765031" cy="2330488"/>
          </a:xfrm>
          <a:prstGeom prst="bentConnector3">
            <a:avLst>
              <a:gd name="adj1" fmla="val 1693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3" idx="3"/>
            <a:endCxn id="151" idx="1"/>
          </p:cNvCxnSpPr>
          <p:nvPr/>
        </p:nvCxnSpPr>
        <p:spPr>
          <a:xfrm>
            <a:off x="5100505" y="4686074"/>
            <a:ext cx="931134" cy="58262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337683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실적증명서신청목록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5" idx="3"/>
            <a:endCxn id="91" idx="1"/>
          </p:cNvCxnSpPr>
          <p:nvPr/>
        </p:nvCxnSpPr>
        <p:spPr>
          <a:xfrm>
            <a:off x="5097742" y="352083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2889685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NoticeListPage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일반공지사항상세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NoticeDtlPage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방위사업청공지사항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D2b_NoticeListPage</a:t>
            </a:r>
            <a:r>
              <a:rPr lang="en-US" altLang="ko-KR" sz="700" dirty="0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 공지사항 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NoticeController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방위사업청공지사항상세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D2b_NoticeDtlPage</a:t>
            </a:r>
            <a:r>
              <a:rPr lang="en-US" altLang="ko-KR" sz="1000" dirty="0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수요부대별공지사항상세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Dmdfrc_NoticeDtlPage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일반자료실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rpstrList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 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일반자료실상세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수요부대별자료실상세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Dmdfrc_rpstrDtl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81448" y="5443501"/>
            <a:ext cx="1353773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계약관련서식자료실상세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5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시스템개선안내상세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SysImpv_rpstrDtl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790655" y="3810190"/>
            <a:ext cx="1033036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43881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자료실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RpstrController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/>
              <a:t>&lt;&lt;</a:t>
            </a:r>
            <a:r>
              <a:rPr lang="ko-KR" altLang="en-US" sz="900" dirty="0" err="1"/>
              <a:t>자주묻는질문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/>
              <a:t>FaqController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계약관련서식자료실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Ctrt_rpstrList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시스템개선안내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SysImpv_rpstrList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자주묻는질문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FaqListPage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9408263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222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신청절차및안내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실적증명서신청목록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검색필터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실적증명서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PrfmncPrdocPage_SrchFilter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실적증명서확인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>
                <a:solidFill>
                  <a:schemeClr val="tx1"/>
                </a:solidFill>
              </a:rPr>
              <a:t>상세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계약정보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PrfmncPrdocDtl_Cn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PrfmncPrdocDtl_D2b</a:t>
            </a:r>
            <a:r>
              <a:rPr lang="en-US" altLang="ko-KR" sz="1000" dirty="0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PrfmncPrdocDtl_UnitB.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PrfmncPrdocDtl_UnitC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PrfmncPrdocDtl_UnitD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PrfmncPrdocDtl_UnitI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1" idx="0"/>
            <a:endCxn id="9" idx="2"/>
          </p:cNvCxnSpPr>
          <p:nvPr/>
        </p:nvCxnSpPr>
        <p:spPr>
          <a:xfrm flipV="1">
            <a:off x="3855704" y="3810190"/>
            <a:ext cx="967987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PrfmncPrdocDtl_UnitF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PrfmncPrdocDtl_UnitH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신청정보</a:t>
            </a:r>
            <a:endParaRPr lang="en-US" altLang="ko-KR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PrfmncPrdocDtl_AplyInfo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7660632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실적증명서제출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PrfmncPrdocSbmsn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계약정보선택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CtrtInfoChc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8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800" dirty="0" err="1">
                <a:solidFill>
                  <a:schemeClr val="tx1"/>
                </a:solidFill>
              </a:rPr>
              <a:t>검색필터</a:t>
            </a:r>
            <a:r>
              <a:rPr lang="en-US" altLang="ko-KR" sz="800" dirty="0">
                <a:solidFill>
                  <a:schemeClr val="tx1"/>
                </a:solidFill>
              </a:rPr>
              <a:t>-</a:t>
            </a:r>
            <a:r>
              <a:rPr lang="ko-KR" altLang="en-US" sz="800" dirty="0" err="1">
                <a:solidFill>
                  <a:schemeClr val="tx1"/>
                </a:solidFill>
              </a:rPr>
              <a:t>계약정보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+mn-ea"/>
              </a:rPr>
              <a:t>AplyStepInfoPage</a:t>
            </a:r>
            <a:r>
              <a:rPr lang="en-US" altLang="ko-KR" sz="800" dirty="0" err="1">
                <a:solidFill>
                  <a:schemeClr val="tx1"/>
                </a:solidFill>
              </a:rPr>
              <a:t>.tsx</a:t>
            </a:r>
            <a:r>
              <a:rPr lang="en-US" altLang="ko-KR" sz="8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신청정보입력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PrfmncPrdocReg_AplyInpt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실적정보입력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PrfmncPrdocReg_PrfmncInpt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ko-KR" altLang="en-US" sz="1000" dirty="0" err="1">
                <a:solidFill>
                  <a:schemeClr val="tx1"/>
                </a:solidFill>
              </a:rPr>
              <a:t>방위사업청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PrfmncPrdocReg_D2b.</a:t>
            </a:r>
            <a:r>
              <a:rPr lang="en-US" altLang="ko-KR" sz="1000" dirty="0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unitB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PrfmncPrdocReg_UnitB.</a:t>
            </a:r>
            <a:r>
              <a:rPr lang="en-US" altLang="ko-KR" sz="1000" dirty="0" err="1">
                <a:solidFill>
                  <a:schemeClr val="tx1"/>
                </a:solidFill>
              </a:rPr>
              <a:t>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7" idx="3"/>
            <a:endCxn id="9" idx="1"/>
          </p:cNvCxnSpPr>
          <p:nvPr/>
        </p:nvCxnSpPr>
        <p:spPr>
          <a:xfrm flipV="1">
            <a:off x="2992582" y="2990174"/>
            <a:ext cx="967509" cy="139976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62326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unitC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PrfmncPrdocReg_UnitC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0298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unitD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4435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unitE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0" idx="3"/>
            <a:endCxn id="9" idx="1"/>
          </p:cNvCxnSpPr>
          <p:nvPr/>
        </p:nvCxnSpPr>
        <p:spPr>
          <a:xfrm flipV="1">
            <a:off x="2992582" y="2990174"/>
            <a:ext cx="967509" cy="18197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7" idx="3"/>
            <a:endCxn id="9" idx="1"/>
          </p:cNvCxnSpPr>
          <p:nvPr/>
        </p:nvCxnSpPr>
        <p:spPr>
          <a:xfrm flipV="1">
            <a:off x="2992582" y="2990174"/>
            <a:ext cx="967509" cy="22264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68" idx="3"/>
            <a:endCxn id="9" idx="1"/>
          </p:cNvCxnSpPr>
          <p:nvPr/>
        </p:nvCxnSpPr>
        <p:spPr>
          <a:xfrm flipV="1">
            <a:off x="2992582" y="2990174"/>
            <a:ext cx="967509" cy="2640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44350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unitH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H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50" idx="0"/>
            <a:endCxn id="9" idx="2"/>
          </p:cNvCxnSpPr>
          <p:nvPr/>
        </p:nvCxnSpPr>
        <p:spPr>
          <a:xfrm flipV="1">
            <a:off x="3855704" y="3810190"/>
            <a:ext cx="967987" cy="20533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33" idx="0"/>
            <a:endCxn id="9" idx="2"/>
          </p:cNvCxnSpPr>
          <p:nvPr/>
        </p:nvCxnSpPr>
        <p:spPr>
          <a:xfrm flipH="1" flipV="1">
            <a:off x="4823691" y="3810190"/>
            <a:ext cx="509121" cy="1633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58635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unitF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PrfmncPrdocReg_UnitF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3176187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+mn-ea"/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unitG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)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4653295" y="5863531"/>
            <a:ext cx="1359034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</a:rPr>
              <a:t>실적정보</a:t>
            </a:r>
            <a:r>
              <a:rPr lang="en-US" altLang="ko-KR" sz="1000" dirty="0" smtClean="0">
                <a:solidFill>
                  <a:schemeClr val="tx1"/>
                </a:solidFill>
              </a:rPr>
              <a:t>(</a:t>
            </a:r>
            <a:r>
              <a:rPr lang="en-US" altLang="ko-KR" sz="1000" dirty="0" err="1">
                <a:solidFill>
                  <a:schemeClr val="tx1"/>
                </a:solidFill>
              </a:rPr>
              <a:t>unitI</a:t>
            </a:r>
            <a:r>
              <a:rPr lang="en-US" altLang="ko-KR" sz="1000" dirty="0">
                <a:solidFill>
                  <a:schemeClr val="tx1"/>
                </a:solidFill>
              </a:rPr>
              <a:t>)</a:t>
            </a: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PrfmncPrdocReg_Unit</a:t>
            </a:r>
            <a:r>
              <a:rPr lang="en-US" altLang="ko-KR" sz="1000" dirty="0" err="1" smtClean="0">
                <a:solidFill>
                  <a:schemeClr val="tx1"/>
                </a:solidFill>
                <a:latin typeface="+mn-ea"/>
              </a:rPr>
              <a:t>I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endCxn id="9" idx="1"/>
          </p:cNvCxnSpPr>
          <p:nvPr/>
        </p:nvCxnSpPr>
        <p:spPr>
          <a:xfrm flipV="1">
            <a:off x="2992582" y="2990174"/>
            <a:ext cx="967509" cy="307970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3661136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224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>
                <a:solidFill>
                  <a:schemeClr val="tx1"/>
                </a:solidFill>
              </a:rPr>
              <a:t>국외조달원등록증신청목록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</a:rPr>
              <a:t>국외조달원등록증신청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ovsSosCnfdocReg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조달업체선택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700" dirty="0" err="1">
                <a:solidFill>
                  <a:schemeClr val="tx1"/>
                </a:solidFill>
                <a:latin typeface="+mn-ea"/>
              </a:rPr>
              <a:t>ovsSosCnfdocChc</a:t>
            </a:r>
            <a:r>
              <a:rPr lang="en-US" altLang="ko-KR" sz="7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1978182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민원서류관리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CvlcptDcmntMngController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5687291" y="2221162"/>
            <a:ext cx="1226127" cy="769012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>
                <a:solidFill>
                  <a:schemeClr val="tx1"/>
                </a:solidFill>
              </a:rPr>
              <a:t>법령정보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+mn-ea"/>
              </a:rPr>
              <a:t>SttInfoListPage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37415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85000" lnSpcReduction="10000"/>
          </a:bodyPr>
          <a:lstStyle/>
          <a:p>
            <a:pPr algn="ctr"/>
            <a:r>
              <a:rPr lang="en-US" altLang="ko-KR" sz="1100" dirty="0" smtClean="0"/>
              <a:t>&lt;&lt;</a:t>
            </a:r>
            <a:r>
              <a:rPr lang="ko-KR" altLang="en-US" sz="1100" dirty="0"/>
              <a:t>업체정보관리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 smtClean="0"/>
              <a:t>PrcmBzentyInfoMngController</a:t>
            </a:r>
            <a:endParaRPr lang="en-US" altLang="ko-KR" sz="1100" dirty="0"/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0" idx="1"/>
          </p:cNvCxnSpPr>
          <p:nvPr/>
        </p:nvCxnSpPr>
        <p:spPr>
          <a:xfrm flipV="1">
            <a:off x="5687291" y="2980395"/>
            <a:ext cx="1226127" cy="9779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3455440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/>
              <a:t>법령정보</a:t>
            </a:r>
            <a:r>
              <a:rPr lang="en-US" altLang="ko-KR" sz="900" dirty="0"/>
              <a:t>Controller&gt;&gt;</a:t>
            </a:r>
          </a:p>
          <a:p>
            <a:pPr algn="ctr"/>
            <a:r>
              <a:rPr lang="en-US" altLang="ko-KR" sz="900" dirty="0" err="1" smtClean="0"/>
              <a:t>SttInfoController</a:t>
            </a:r>
            <a:endParaRPr lang="en-US" altLang="ko-KR" sz="900" dirty="0"/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43" idx="1"/>
          </p:cNvCxnSpPr>
          <p:nvPr/>
        </p:nvCxnSpPr>
        <p:spPr>
          <a:xfrm>
            <a:off x="5687291" y="2990174"/>
            <a:ext cx="1226127" cy="70824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62423455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게시판 제목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err="1" smtClean="0"/>
              <a:t>게시판별</a:t>
            </a:r>
            <a:r>
              <a:rPr lang="ko-KR" altLang="en-US" dirty="0" smtClean="0"/>
              <a:t> 제목과 화면 </a:t>
            </a:r>
            <a:r>
              <a:rPr lang="en-US" altLang="ko-KR" dirty="0" smtClean="0"/>
              <a:t>ID </a:t>
            </a:r>
            <a:r>
              <a:rPr lang="ko-KR" altLang="en-US" dirty="0" smtClean="0"/>
              <a:t>정보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공지사항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일반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MUI-CM-04-M01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방위사업청</a:t>
            </a:r>
            <a:r>
              <a:rPr lang="ko-KR" altLang="en-US" dirty="0"/>
              <a:t>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MUI-CM-04-M21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수요부대별</a:t>
            </a:r>
            <a:r>
              <a:rPr lang="ko-KR" altLang="en-US" dirty="0"/>
              <a:t> </a:t>
            </a:r>
            <a:r>
              <a:rPr lang="ko-KR" altLang="en-US" dirty="0" smtClean="0"/>
              <a:t>공지사항 </a:t>
            </a:r>
            <a:r>
              <a:rPr lang="en-US" altLang="ko-KR" dirty="0"/>
              <a:t>MUI-CM-04-M23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자료실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>
                <a:latin typeface="+mn-ea"/>
              </a:rPr>
              <a:t>일반 </a:t>
            </a:r>
            <a:r>
              <a:rPr lang="ko-KR" altLang="en-US" dirty="0" smtClean="0">
                <a:latin typeface="+mn-ea"/>
              </a:rPr>
              <a:t>자료실 </a:t>
            </a:r>
            <a:r>
              <a:rPr lang="en-US" altLang="ko-KR" dirty="0">
                <a:latin typeface="+mn-ea"/>
              </a:rPr>
              <a:t>MUI-CM-04-M25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수요부대별자료실 </a:t>
            </a:r>
            <a:r>
              <a:rPr lang="en-US" altLang="ko-KR" dirty="0">
                <a:latin typeface="+mn-ea"/>
              </a:rPr>
              <a:t>MUI-CM-04-M27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계약관련서식자료실 </a:t>
            </a:r>
            <a:r>
              <a:rPr lang="en-US" altLang="ko-KR" dirty="0">
                <a:latin typeface="+mn-ea"/>
              </a:rPr>
              <a:t>MUI-CM-04-M29</a:t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 smtClean="0">
                <a:latin typeface="+mn-ea"/>
              </a:rPr>
              <a:t>시스템개선안내 </a:t>
            </a:r>
            <a:r>
              <a:rPr lang="en-US" altLang="ko-KR" dirty="0" smtClean="0">
                <a:latin typeface="+mn-ea"/>
              </a:rPr>
              <a:t>MUI-CM-04-M31</a:t>
            </a:r>
            <a:br>
              <a:rPr lang="en-US" altLang="ko-KR" dirty="0" smtClean="0">
                <a:latin typeface="+mn-ea"/>
              </a:rPr>
            </a:b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업무도움</a:t>
            </a:r>
            <a:r>
              <a:rPr lang="en-US" altLang="ko-KR" dirty="0">
                <a:solidFill>
                  <a:srgbClr val="FF0000"/>
                </a:solidFill>
              </a:rPr>
              <a:t/>
            </a:r>
            <a:br>
              <a:rPr lang="en-US" altLang="ko-KR" dirty="0">
                <a:solidFill>
                  <a:srgbClr val="FF0000"/>
                </a:solidFill>
              </a:rPr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내용이 없을 때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업무도움</a:t>
            </a:r>
            <a:r>
              <a:rPr lang="ko-KR" altLang="en-US" dirty="0">
                <a:solidFill>
                  <a:srgbClr val="FF0000"/>
                </a:solidFill>
              </a:rPr>
              <a:t> </a:t>
            </a:r>
            <a:r>
              <a:rPr lang="ko-KR" altLang="en-US" dirty="0" err="1">
                <a:solidFill>
                  <a:srgbClr val="FF0000"/>
                </a:solidFill>
              </a:rPr>
              <a:t>미표시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상단 검색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 smtClean="0"/>
              <a:t>제목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목록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긴급 상태</a:t>
            </a:r>
            <a:r>
              <a:rPr lang="en-US" altLang="ko-KR" dirty="0"/>
              <a:t>, </a:t>
            </a:r>
            <a:r>
              <a:rPr lang="ko-KR" altLang="en-US" dirty="0"/>
              <a:t>구분</a:t>
            </a:r>
            <a:r>
              <a:rPr lang="en-US" altLang="ko-KR" dirty="0"/>
              <a:t>, </a:t>
            </a:r>
            <a:r>
              <a:rPr lang="ko-KR" altLang="en-US" dirty="0"/>
              <a:t>첨부파일 유무에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고정 게시물 상단 고정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 </a:t>
            </a:r>
            <a:r>
              <a:rPr lang="en-US" altLang="ko-KR" dirty="0"/>
              <a:t>2</a:t>
            </a:r>
            <a:r>
              <a:rPr lang="ko-KR" altLang="en-US" dirty="0"/>
              <a:t>줄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>
                <a:solidFill>
                  <a:srgbClr val="FF0000"/>
                </a:solidFill>
              </a:rPr>
              <a:t>각 </a:t>
            </a:r>
            <a:r>
              <a:rPr lang="ko-KR" altLang="en-US" dirty="0" err="1" smtClean="0">
                <a:solidFill>
                  <a:srgbClr val="FF0000"/>
                </a:solidFill>
              </a:rPr>
              <a:t>게시판별</a:t>
            </a:r>
            <a:r>
              <a:rPr lang="ko-KR" altLang="en-US" dirty="0" smtClean="0">
                <a:solidFill>
                  <a:srgbClr val="FF0000"/>
                </a:solidFill>
              </a:rPr>
              <a:t> </a:t>
            </a:r>
            <a:r>
              <a:rPr lang="ko-KR" altLang="en-US" dirty="0" err="1" smtClean="0">
                <a:solidFill>
                  <a:srgbClr val="FF0000"/>
                </a:solidFill>
              </a:rPr>
              <a:t>구분값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표시 </a:t>
            </a:r>
            <a:r>
              <a:rPr lang="ko-KR" altLang="en-US" dirty="0"/>
              <a:t>레이블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상태는 코드에 따라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225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목록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목록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MUI-CM-04-M01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497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3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781461" y="3301466"/>
            <a:ext cx="2473257" cy="960061"/>
            <a:chOff x="781461" y="2610063"/>
            <a:chExt cx="2473257" cy="960061"/>
          </a:xfrm>
        </p:grpSpPr>
        <p:sp>
          <p:nvSpPr>
            <p:cNvPr id="2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2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  <p:sp>
          <p:nvSpPr>
            <p:cNvPr id="28" name="모서리가 둥근 직사각형 2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rgbClr val="FF0000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>
                  <a:solidFill>
                    <a:srgbClr val="FF0000"/>
                  </a:solidFill>
                </a:rPr>
                <a:t>긴급</a:t>
              </a:r>
              <a:endParaRPr lang="ko-KR" altLang="en-US" sz="600" dirty="0">
                <a:solidFill>
                  <a:srgbClr val="FF0000"/>
                </a:solidFill>
              </a:endParaRPr>
            </a:p>
          </p:txBody>
        </p:sp>
        <p:sp>
          <p:nvSpPr>
            <p:cNvPr id="93" name="모서리가 둥근 직사각형 92"/>
            <p:cNvSpPr/>
            <p:nvPr/>
          </p:nvSpPr>
          <p:spPr>
            <a:xfrm>
              <a:off x="1075985" y="2610063"/>
              <a:ext cx="243478" cy="119400"/>
            </a:xfrm>
            <a:prstGeom prst="roundRect">
              <a:avLst>
                <a:gd name="adj" fmla="val 23409"/>
              </a:avLst>
            </a:prstGeom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tx1"/>
                  </a:solidFill>
                </a:rPr>
                <a:t>첨부</a:t>
              </a: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36033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7466878" y="62475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421034" y="5929545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표시 레이블</a:t>
            </a:r>
          </a:p>
        </p:txBody>
      </p:sp>
      <p:sp>
        <p:nvSpPr>
          <p:cNvPr id="54" name="모서리가 둥근 직사각형 53"/>
          <p:cNvSpPr/>
          <p:nvPr/>
        </p:nvSpPr>
        <p:spPr>
          <a:xfrm>
            <a:off x="8423455" y="6107783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rgbClr val="FF0000"/>
                </a:solidFill>
              </a:rPr>
              <a:t>긴급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113622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상태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명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63" name="그룹 62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직선 연결선 6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66" name="그룹 65"/>
          <p:cNvGrpSpPr/>
          <p:nvPr/>
        </p:nvGrpSpPr>
        <p:grpSpPr>
          <a:xfrm>
            <a:off x="767702" y="2274581"/>
            <a:ext cx="2527420" cy="473693"/>
            <a:chOff x="786326" y="2274581"/>
            <a:chExt cx="2527420" cy="473693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타원 6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71" name="타원 7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72" name="타원 71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3" name="그룹 72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74" name="직선 연결선 73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5" name="직선 연결선 74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2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8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1460916" y="2274581"/>
            <a:ext cx="615387" cy="155984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맑은 고딕"/>
                <a:ea typeface="맑은 고딕" panose="020B0503020000020004" pitchFamily="50" charset="-127"/>
              </a:rPr>
              <a:t>내용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89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2707397" y="2270279"/>
            <a:ext cx="582849" cy="154795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 err="1">
                <a:latin typeface="맑은 고딕"/>
                <a:ea typeface="맑은 고딕" panose="020B0503020000020004" pitchFamily="50" charset="-127"/>
              </a:rPr>
              <a:t>검색필터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8423455" y="6291860"/>
            <a:ext cx="241057" cy="119400"/>
          </a:xfrm>
          <a:prstGeom prst="roundRect">
            <a:avLst>
              <a:gd name="adj" fmla="val 23409"/>
            </a:avLst>
          </a:prstGeom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첨부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42846" y="6297699"/>
            <a:ext cx="5473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첨부파일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6" name="그룹 95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타원 98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2" name="그룹 101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18" name="직선 연결선 1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9" name="직선 연결선 1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06" name="그룹 105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16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7" name="그림 116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07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08" name="그룹 107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13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15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11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12" name="그림 111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0" name="그룹 119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2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24" name="그룹 123"/>
          <p:cNvGrpSpPr/>
          <p:nvPr/>
        </p:nvGrpSpPr>
        <p:grpSpPr>
          <a:xfrm>
            <a:off x="3795734" y="3982653"/>
            <a:ext cx="2712027" cy="505089"/>
            <a:chOff x="3795734" y="4353857"/>
            <a:chExt cx="2712027" cy="50508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26" name="그룹 125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33" name="직선 연결선 13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7" name="모서리가 둥근 직사각형 126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smtClean="0">
                  <a:latin typeface="+mn-ea"/>
                </a:rPr>
                <a:t>구분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29" name="그룹 128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31" name="직선 연결선 13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2" name="직선 연결선 13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5" name="그룹 134"/>
          <p:cNvGrpSpPr/>
          <p:nvPr/>
        </p:nvGrpSpPr>
        <p:grpSpPr>
          <a:xfrm>
            <a:off x="3903622" y="2893083"/>
            <a:ext cx="2516607" cy="962554"/>
            <a:chOff x="778515" y="4388257"/>
            <a:chExt cx="2516607" cy="962554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37" name="그룹 136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40" name="직선 연결선 13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직선 연결선 14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8" name="모서리가 둥근 직사각형 137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제목을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1449284" y="4911422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내용을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898091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4" name="모서리가 둥근 직사각형 143"/>
            <p:cNvSpPr/>
            <p:nvPr/>
          </p:nvSpPr>
          <p:spPr>
            <a:xfrm>
              <a:off x="1449284" y="5163611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작성자를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5150280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작성자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7" name="그룹 146"/>
          <p:cNvGrpSpPr/>
          <p:nvPr/>
        </p:nvGrpSpPr>
        <p:grpSpPr>
          <a:xfrm>
            <a:off x="781461" y="4496072"/>
            <a:ext cx="2473257" cy="775730"/>
            <a:chOff x="781461" y="2794394"/>
            <a:chExt cx="2473257" cy="775730"/>
          </a:xfrm>
        </p:grpSpPr>
        <p:sp>
          <p:nvSpPr>
            <p:cNvPr id="14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/>
                <a:t>공지사항</a:t>
              </a:r>
              <a:r>
                <a:rPr lang="en-US" altLang="ko-KR" sz="900" b="1" dirty="0"/>
                <a:t>, </a:t>
              </a:r>
              <a:r>
                <a:rPr lang="ko-KR" altLang="en-US" sz="900" b="1" dirty="0"/>
                <a:t>게시물의 제목은 최대 </a:t>
              </a:r>
              <a:r>
                <a:rPr lang="en-US" altLang="ko-KR" sz="900" b="1" dirty="0"/>
                <a:t>2</a:t>
              </a:r>
              <a:r>
                <a:rPr lang="ko-KR" altLang="en-US" sz="900" b="1" dirty="0"/>
                <a:t>줄로 표시합니다</a:t>
              </a:r>
              <a:r>
                <a:rPr lang="en-US" altLang="ko-KR" sz="900" b="1" dirty="0"/>
                <a:t>. </a:t>
              </a:r>
              <a:r>
                <a:rPr lang="ko-KR" altLang="en-US" sz="900" b="1" dirty="0"/>
                <a:t>표시 이후 내용이 긴 경우 </a:t>
              </a:r>
              <a:r>
                <a:rPr lang="en-US" altLang="ko-KR" sz="900" b="1" dirty="0"/>
                <a:t>… </a:t>
              </a:r>
              <a:r>
                <a:rPr lang="ko-KR" altLang="en-US" sz="900" b="1" dirty="0"/>
                <a:t>으로 </a:t>
              </a:r>
              <a:r>
                <a:rPr lang="ko-KR" altLang="en-US" sz="900" b="1" dirty="0" err="1"/>
                <a:t>처리합</a:t>
              </a:r>
              <a:endParaRPr lang="ko-KR" altLang="en-US" sz="900" b="1" dirty="0"/>
            </a:p>
          </p:txBody>
        </p:sp>
        <p:sp>
          <p:nvSpPr>
            <p:cNvPr id="14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307777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담당부서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작성일자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5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37367" y="3139237"/>
              <a:ext cx="397545" cy="4154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총무부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2026-02-01</a:t>
              </a:r>
            </a:p>
          </p:txBody>
        </p:sp>
      </p:grpSp>
      <p:sp>
        <p:nvSpPr>
          <p:cNvPr id="146" name="타원 1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6472" y="42852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  <p:grpSp>
        <p:nvGrpSpPr>
          <p:cNvPr id="151" name="그룹 150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52" name="직사각형 15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2026-07-28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153" name="직사각형 152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구분설정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– </a:t>
              </a:r>
              <a:r>
                <a:rPr lang="ko-KR" altLang="en-US" sz="700" dirty="0" smtClean="0"/>
                <a:t>구분으로 설정 값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023247179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78625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226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61080"/>
            <a:ext cx="1739826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91237"/>
            <a:ext cx="264392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7725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59880"/>
            <a:ext cx="266475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일반공지사항목록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0244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57900217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582286"/>
              </p:ext>
            </p:extLst>
          </p:nvPr>
        </p:nvGraphicFramePr>
        <p:xfrm>
          <a:off x="455204" y="5117006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UI-CM-04-M02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참조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56360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108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29660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4BAA8C08-5016-C79A-863D-E64DA69FF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829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199A64B-B24C-1023-3D68-79D630B45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82429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10816926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93844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382915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4083225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9317824"/>
              </p:ext>
            </p:extLst>
          </p:nvPr>
        </p:nvGraphicFramePr>
        <p:xfrm>
          <a:off x="452999" y="5126719"/>
          <a:ext cx="8995591" cy="943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7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공통코드 정보를 </a:t>
                      </a:r>
                      <a:r>
                        <a:rPr lang="ko-KR" altLang="en-US" sz="700" dirty="0" err="1"/>
                        <a:t>로드한다</a:t>
                      </a:r>
                      <a:r>
                        <a:rPr lang="en-US" altLang="ko-KR" sz="700" dirty="0"/>
                        <a:t>.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그리드</a:t>
                      </a: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700" dirty="0"/>
                        <a:t>UI-CM-04-M06 </a:t>
                      </a:r>
                      <a:r>
                        <a:rPr lang="ko-KR" altLang="en-US" sz="700" dirty="0"/>
                        <a:t>참조</a:t>
                      </a:r>
                      <a:endParaRPr lang="en-US" altLang="ko-KR" sz="7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공지사항상세조회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97665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17851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48216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9C0B345-5E63-11C0-48DC-C656AFA84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99951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133D4DE3-F911-78F2-10FE-A62911F36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4199084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3737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785299"/>
            <a:ext cx="300299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882062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2999" y="2361869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996502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9532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9671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7688252"/>
              </p:ext>
            </p:extLst>
          </p:nvPr>
        </p:nvGraphicFramePr>
        <p:xfrm>
          <a:off x="453000" y="5122562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scwin.onpageload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UI-CM-04-M10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5894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공지사항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45244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emrg</a:t>
                      </a:r>
                      <a:endParaRPr lang="en-US" sz="8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긴급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상위고정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담당부서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95414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inqCnt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3E69730-F912-80BF-AFBC-7B3EDB49E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99535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BCAF160D-5373-A7C1-903A-743FE3228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0258097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62441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3104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7" y="452472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24473"/>
            <a:ext cx="23185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일반자료실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19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514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133807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969614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5859305"/>
              </p:ext>
            </p:extLst>
          </p:nvPr>
        </p:nvGraphicFramePr>
        <p:xfrm>
          <a:off x="453000" y="4802860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UI-CM-04-M14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5141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22076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B0846136-7F2D-81A6-A241-F14986892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16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A3B3B5-2CBC-AA8F-2EC1-0AA49771634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BB55024-1BA7-9735-B079-6CF7208C64BF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D68D08FD-FECB-107D-6044-66A77FB6C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9559936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09131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65674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8116" y="470396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95727"/>
            <a:ext cx="27048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655598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847410"/>
              </p:ext>
            </p:extLst>
          </p:nvPr>
        </p:nvGraphicFramePr>
        <p:xfrm>
          <a:off x="452999" y="498209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UI-CM-04-M18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6930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no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36517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E07F60-1198-562C-BA09-023EF44C0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5" y="485490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A57D6A6-8272-5F70-29BF-68B8E46EC127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1858C29-5B48-9FAF-06BC-D55A9F54671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98645F1-9DDE-F296-834B-85F5E47FAF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158677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 서식 자료실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77216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9287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507602"/>
            <a:ext cx="282025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5128674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60240"/>
              </p:ext>
            </p:extLst>
          </p:nvPr>
        </p:nvGraphicFramePr>
        <p:xfrm>
          <a:off x="453000" y="4707856"/>
          <a:ext cx="8995591" cy="1263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UI-CM-04-M22 </a:t>
                      </a:r>
                      <a:r>
                        <a:rPr lang="ko-KR" altLang="en-US" sz="800" dirty="0"/>
                        <a:t>참조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70991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347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rgtrId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8D20C417-5A56-81AC-2847-631C94EE2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7473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DC36601D-D2A4-3814-8239-B46BF340B17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FCC17A70-90BB-3652-DDCB-BE850EBB3964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926B8685-FC02-9CA0-9EB5-7B3C5330D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0065645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880890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54132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8" y="45744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2477914"/>
            <a:ext cx="258941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시스템개선안내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 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7111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(FROM)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259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(TO)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7825938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8026901"/>
              </p:ext>
            </p:extLst>
          </p:nvPr>
        </p:nvGraphicFramePr>
        <p:xfrm>
          <a:off x="453000" y="4814735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한달전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현재일로 기본 값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그리드</a:t>
                      </a:r>
                      <a:r>
                        <a:rPr lang="en-US" altLang="ko-KR" sz="800" dirty="0"/>
                        <a:t>-</a:t>
                      </a:r>
                      <a:r>
                        <a:rPr lang="ko-KR" altLang="en-US" sz="800" dirty="0"/>
                        <a:t>제목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</a:t>
                      </a:r>
                      <a:r>
                        <a:rPr lang="en-US" altLang="ko-KR" sz="7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rpstrList</a:t>
                      </a: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800" dirty="0"/>
                        <a:t>UI-CM-04-M26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자료실상세조회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70857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304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regDt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inqCnt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A091AC8A-3330-AEAC-F7A9-4EB782249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687554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A590530-954E-F8EA-7610-BF1A2C387471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8E60D4A2-25E6-85F7-28C9-C0A74FCE6EEE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3F3AA198-D955-4F5B-8500-EEF578B5B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4527164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제목 </a:t>
            </a:r>
            <a:r>
              <a:rPr lang="ko-KR" altLang="en-US" dirty="0" smtClean="0">
                <a:solidFill>
                  <a:prstClr val="black"/>
                </a:solidFill>
              </a:rPr>
              <a:t>표시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ko-KR" altLang="en-US" dirty="0" err="1"/>
              <a:t>게시판별</a:t>
            </a:r>
            <a:r>
              <a:rPr lang="ko-KR" altLang="en-US" dirty="0"/>
              <a:t> 제목과 화면 </a:t>
            </a:r>
            <a:r>
              <a:rPr lang="en-US" altLang="ko-KR" dirty="0"/>
              <a:t>ID </a:t>
            </a:r>
            <a:r>
              <a:rPr lang="ko-KR" altLang="en-US" dirty="0"/>
              <a:t>정보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공지사항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</a:rPr>
              <a:t>일반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MUI-CM-04-M02</a:t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방위사업청</a:t>
            </a:r>
            <a:r>
              <a:rPr lang="ko-KR" altLang="en-US" dirty="0">
                <a:solidFill>
                  <a:prstClr val="black"/>
                </a:solidFill>
              </a:rPr>
              <a:t>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MUI-CM-04-M22</a:t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 err="1">
                <a:solidFill>
                  <a:prstClr val="black"/>
                </a:solidFill>
              </a:rPr>
              <a:t>수요부대별</a:t>
            </a:r>
            <a:r>
              <a:rPr lang="ko-KR" altLang="en-US" dirty="0">
                <a:solidFill>
                  <a:prstClr val="black"/>
                </a:solidFill>
              </a:rPr>
              <a:t> 공지사항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 smtClean="0">
                <a:solidFill>
                  <a:prstClr val="black"/>
                </a:solidFill>
              </a:rPr>
              <a:t>MUI-CM-04-M24</a:t>
            </a:r>
            <a:br>
              <a:rPr lang="en-US" altLang="ko-KR" dirty="0" smtClean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자료실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일반 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MUI-CM-04-M26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수요부대별자료실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 </a:t>
            </a:r>
            <a:r>
              <a:rPr lang="en-US" altLang="ko-KR" dirty="0">
                <a:solidFill>
                  <a:prstClr val="black"/>
                </a:solidFill>
              </a:rPr>
              <a:t>MUI-CM-04-M28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계약관련서식자료실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MUI-CM-04-M30</a:t>
            </a: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</a:br>
            <a:r>
              <a:rPr lang="en-US" altLang="ko-KR" dirty="0">
                <a:solidFill>
                  <a:prstClr val="black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시스템개선안내</a:t>
            </a:r>
            <a:r>
              <a:rPr lang="ko-KR" altLang="en-US" dirty="0">
                <a:solidFill>
                  <a:prstClr val="black"/>
                </a:solidFill>
              </a:rPr>
              <a:t> </a:t>
            </a:r>
            <a:r>
              <a:rPr lang="ko-KR" altLang="en-US" dirty="0" smtClean="0">
                <a:solidFill>
                  <a:prstClr val="black"/>
                </a:solidFill>
              </a:rPr>
              <a:t>상세</a:t>
            </a:r>
            <a:r>
              <a:rPr lang="en-US" altLang="ko-KR" dirty="0">
                <a:solidFill>
                  <a:prstClr val="black"/>
                </a:solidFill>
              </a:rPr>
              <a:t> MUI-CM-04-M32</a:t>
            </a: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>
                <a:solidFill>
                  <a:prstClr val="black"/>
                </a:solidFill>
              </a:rPr>
              <a:t>게시판 </a:t>
            </a:r>
            <a:r>
              <a:rPr lang="ko-KR" altLang="en-US" dirty="0" smtClean="0">
                <a:solidFill>
                  <a:prstClr val="black"/>
                </a:solidFill>
              </a:rPr>
              <a:t>제목 표시 </a:t>
            </a:r>
            <a:r>
              <a:rPr lang="en-US" altLang="ko-KR" dirty="0" smtClean="0">
                <a:solidFill>
                  <a:prstClr val="black"/>
                </a:solidFill>
              </a:rPr>
              <a:t>– </a:t>
            </a:r>
            <a:r>
              <a:rPr lang="ko-KR" altLang="en-US" dirty="0" smtClean="0">
                <a:solidFill>
                  <a:prstClr val="black"/>
                </a:solidFill>
              </a:rPr>
              <a:t>전체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작성 정보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내용 표시 </a:t>
            </a:r>
            <a:r>
              <a:rPr lang="en-US" altLang="ko-KR" dirty="0" smtClean="0">
                <a:solidFill>
                  <a:prstClr val="black"/>
                </a:solidFill>
              </a:rPr>
              <a:t>– </a:t>
            </a:r>
            <a:r>
              <a:rPr lang="ko-KR" altLang="en-US" dirty="0" smtClean="0">
                <a:solidFill>
                  <a:prstClr val="black"/>
                </a:solidFill>
              </a:rPr>
              <a:t>전체 표시</a:t>
            </a:r>
            <a:endParaRPr lang="en-US" altLang="ko-KR" dirty="0" smtClean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smtClean="0">
                <a:solidFill>
                  <a:prstClr val="black"/>
                </a:solidFill>
              </a:rPr>
              <a:t>첨부파일이 있는 경우 표시</a:t>
            </a:r>
            <a:r>
              <a:rPr lang="en-US" altLang="ko-KR" dirty="0" smtClean="0">
                <a:solidFill>
                  <a:prstClr val="black"/>
                </a:solidFill>
              </a:rPr>
              <a:t/>
            </a:r>
            <a:br>
              <a:rPr lang="en-US" altLang="ko-KR" dirty="0" smtClean="0">
                <a:solidFill>
                  <a:prstClr val="black"/>
                </a:solidFill>
              </a:rPr>
            </a:br>
            <a:endParaRPr lang="en-US" altLang="ko-KR" dirty="0">
              <a:solidFill>
                <a:prstClr val="black"/>
              </a:solidFill>
            </a:endParaRPr>
          </a:p>
          <a:p>
            <a:pPr marL="228600" lvl="0" indent="-228600">
              <a:buFont typeface="+mj-lt"/>
              <a:buAutoNum type="arabicPeriod"/>
            </a:pPr>
            <a:r>
              <a:rPr lang="ko-KR" altLang="en-US" dirty="0" err="1">
                <a:solidFill>
                  <a:prstClr val="black"/>
                </a:solidFill>
              </a:rPr>
              <a:t>이전글</a:t>
            </a:r>
            <a:r>
              <a:rPr lang="en-US" altLang="ko-KR" dirty="0">
                <a:solidFill>
                  <a:prstClr val="black"/>
                </a:solidFill>
              </a:rPr>
              <a:t>, </a:t>
            </a:r>
            <a:r>
              <a:rPr lang="ko-KR" altLang="en-US" dirty="0" err="1">
                <a:solidFill>
                  <a:prstClr val="black"/>
                </a:solidFill>
              </a:rPr>
              <a:t>다음글</a:t>
            </a:r>
            <a:r>
              <a:rPr lang="ko-KR" altLang="en-US" dirty="0">
                <a:solidFill>
                  <a:prstClr val="black"/>
                </a:solidFill>
              </a:rPr>
              <a:t> 표시</a:t>
            </a:r>
            <a:r>
              <a:rPr lang="en-US" altLang="ko-KR" dirty="0">
                <a:solidFill>
                  <a:prstClr val="black"/>
                </a:solidFill>
              </a:rPr>
              <a:t/>
            </a:r>
            <a:br>
              <a:rPr lang="en-US" altLang="ko-KR" dirty="0">
                <a:solidFill>
                  <a:prstClr val="black"/>
                </a:solidFill>
              </a:rPr>
            </a:br>
            <a:r>
              <a:rPr lang="en-US" altLang="ko-KR" dirty="0">
                <a:solidFill>
                  <a:prstClr val="black"/>
                </a:solidFill>
              </a:rPr>
              <a:t>- </a:t>
            </a:r>
            <a:r>
              <a:rPr lang="ko-KR" altLang="en-US" dirty="0">
                <a:solidFill>
                  <a:prstClr val="black"/>
                </a:solidFill>
              </a:rPr>
              <a:t>목록 버튼은 </a:t>
            </a:r>
            <a:r>
              <a:rPr lang="ko-KR" altLang="en-US" dirty="0" err="1">
                <a:solidFill>
                  <a:prstClr val="black"/>
                </a:solidFill>
              </a:rPr>
              <a:t>미표시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233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게시판 상세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전체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err="1">
                <a:latin typeface="+mn-ea"/>
              </a:rPr>
              <a:t>수요부대별</a:t>
            </a:r>
            <a:r>
              <a:rPr lang="ko-KR" altLang="en-US" dirty="0">
                <a:latin typeface="+mn-ea"/>
              </a:rPr>
              <a:t> 공지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자료실 등 게시판 상세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게시판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게시판 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게시판 제목 표시 영역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70713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제목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267101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155145"/>
            <a:ext cx="2473940" cy="4154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900" dirty="0"/>
              <a:t>연초에 공개되는 조달계획에서  알림</a:t>
            </a:r>
            <a:r>
              <a:rPr lang="en-US" altLang="ko-KR" sz="900" dirty="0"/>
              <a:t> </a:t>
            </a:r>
            <a:r>
              <a:rPr lang="ko-KR" altLang="en-US" sz="900" dirty="0"/>
              <a:t>신청한 품목에 대한 입찰공고가 시스템에 게시되면 알려드리는 서비스입니다</a:t>
            </a:r>
            <a:r>
              <a:rPr lang="en-US" altLang="ko-KR" sz="900" dirty="0"/>
              <a:t>.</a:t>
            </a:r>
            <a:endParaRPr kumimoji="1" lang="en-US" altLang="ko-KR" sz="900" spc="-6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2770830"/>
            <a:ext cx="649855" cy="5601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작성자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담당부서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구분</a:t>
            </a:r>
            <a:endParaRPr lang="en-US" altLang="ko-KR" sz="700" b="1" dirty="0">
              <a:solidFill>
                <a:srgbClr val="000000"/>
              </a:solidFill>
              <a:latin typeface="Consolas" panose="020B0609020204030204" pitchFamily="49" charset="0"/>
            </a:endParaRPr>
          </a:p>
          <a:p>
            <a:pPr>
              <a:lnSpc>
                <a:spcPct val="130000"/>
              </a:lnSpc>
            </a:pPr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게시기간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341868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393370" y="2770830"/>
            <a:ext cx="1885045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홍길동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총무부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ko-KR" altLang="en-US" sz="800" dirty="0"/>
              <a:t>공통</a:t>
            </a:r>
            <a:endParaRPr lang="en-US" altLang="ko-KR" sz="800" dirty="0"/>
          </a:p>
          <a:p>
            <a:pPr lvl="0" algn="r" defTabSz="1013612">
              <a:lnSpc>
                <a:spcPct val="120000"/>
              </a:lnSpc>
              <a:defRPr/>
            </a:pPr>
            <a:r>
              <a:rPr lang="en-US" altLang="ko-KR" sz="800" dirty="0"/>
              <a:t>2025-03-20 ~ 2025-10-05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534966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내용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455777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719398"/>
            <a:ext cx="2473940" cy="6647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/>
              <a:t>게시판에 작성된 내용이 표시됩니다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ko-KR" altLang="en-US" sz="900" dirty="0" err="1"/>
              <a:t>여러줄이</a:t>
            </a:r>
            <a:r>
              <a:rPr lang="ko-KR" altLang="en-US" sz="900" dirty="0"/>
              <a:t> 작성되는 경우 모든 내용을 펼쳐서 표시합니다</a:t>
            </a:r>
            <a:r>
              <a:rPr lang="en-US" altLang="ko-KR" sz="900" dirty="0"/>
              <a:t>.</a:t>
            </a:r>
          </a:p>
          <a:p>
            <a:pPr lvl="0" defTabSz="1013612">
              <a:lnSpc>
                <a:spcPct val="120000"/>
              </a:lnSpc>
              <a:defRPr/>
            </a:pPr>
            <a:r>
              <a:rPr lang="en-US" altLang="ko-KR" sz="900" dirty="0"/>
              <a:t>⁞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4675957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첨부파일 </a:t>
            </a:r>
            <a:r>
              <a:rPr lang="en-US" altLang="ko-KR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– 1</a:t>
            </a:r>
            <a:r>
              <a:rPr lang="ko-KR" altLang="en-US" sz="700" b="1" dirty="0">
                <a:solidFill>
                  <a:srgbClr val="000000"/>
                </a:solidFill>
                <a:latin typeface="Consolas" panose="020B0609020204030204" pitchFamily="49" charset="0"/>
              </a:rPr>
              <a:t>건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54764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591584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이전글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7412" y="60249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5776016"/>
            <a:ext cx="247394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 defTabSz="1013612">
              <a:defRPr/>
            </a:pPr>
            <a:r>
              <a:rPr lang="ko-KR" altLang="en-US" sz="800" dirty="0" err="1"/>
              <a:t>이전글</a:t>
            </a:r>
            <a:r>
              <a:rPr lang="ko-KR" altLang="en-US" sz="800" dirty="0"/>
              <a:t> 제목이 표시됩니다</a:t>
            </a:r>
            <a:r>
              <a:rPr lang="en-US" altLang="ko-KR" sz="800" dirty="0"/>
              <a:t>. 1</a:t>
            </a:r>
            <a:r>
              <a:rPr lang="ko-KR" altLang="en-US" sz="800" dirty="0"/>
              <a:t>줄 표시 후 </a:t>
            </a:r>
            <a:r>
              <a:rPr lang="en-US" altLang="ko-KR" sz="800" dirty="0"/>
              <a:t>… </a:t>
            </a:r>
            <a:r>
              <a:rPr lang="ko-KR" altLang="en-US" sz="800" dirty="0"/>
              <a:t>처리 </a:t>
            </a:r>
            <a:r>
              <a:rPr lang="ko-KR" altLang="en-US" sz="800" dirty="0" err="1"/>
              <a:t>합니</a:t>
            </a:r>
            <a:endParaRPr lang="en-US" altLang="ko-KR" sz="800" dirty="0"/>
          </a:p>
        </p:txBody>
      </p:sp>
      <p:sp>
        <p:nvSpPr>
          <p:cNvPr id="37" name="모서리가 둥근 직사각형 36"/>
          <p:cNvSpPr/>
          <p:nvPr/>
        </p:nvSpPr>
        <p:spPr>
          <a:xfrm>
            <a:off x="720142" y="4992593"/>
            <a:ext cx="2652743" cy="364486"/>
          </a:xfrm>
          <a:prstGeom prst="roundRect">
            <a:avLst>
              <a:gd name="adj" fmla="val 9062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5120975"/>
            <a:ext cx="168273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.</a:t>
            </a:r>
            <a:r>
              <a:rPr lang="en-US" altLang="ko-KR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hwp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 [</a:t>
            </a:r>
            <a:r>
              <a:rPr lang="ko-KR" altLang="en-US" sz="7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파일크기</a:t>
            </a:r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]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8338" y="5120975"/>
            <a:ext cx="24778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1</a:t>
            </a:r>
          </a:p>
        </p:txBody>
      </p:sp>
      <p:sp>
        <p:nvSpPr>
          <p:cNvPr id="40" name="타원 39"/>
          <p:cNvSpPr/>
          <p:nvPr/>
        </p:nvSpPr>
        <p:spPr>
          <a:xfrm>
            <a:off x="3108139" y="5102836"/>
            <a:ext cx="144000" cy="14400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20810" y="4857475"/>
            <a:ext cx="47434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첨부파일명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017655" y="4857475"/>
            <a:ext cx="324968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다운로드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26906" y="4857475"/>
            <a:ext cx="390650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맑은 고딕" panose="020B0503020000020004" pitchFamily="50" charset="-127"/>
              </a:rPr>
              <a:t>항목번호</a:t>
            </a:r>
            <a:endParaRPr lang="en-US" altLang="ko-KR" sz="600" dirty="0">
              <a:solidFill>
                <a:schemeClr val="tx1">
                  <a:lumMod val="85000"/>
                  <a:lumOff val="15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6080102"/>
            <a:ext cx="247394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solidFill>
                  <a:srgbClr val="000000"/>
                </a:solidFill>
                <a:latin typeface="Consolas" panose="020B0609020204030204" pitchFamily="49" charset="0"/>
              </a:rPr>
              <a:t>다음글</a:t>
            </a:r>
            <a:endParaRPr lang="en-US" altLang="ko-KR" sz="700" b="1" dirty="0">
              <a:latin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58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843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52473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6</a:t>
            </a:r>
            <a:endParaRPr lang="ko-KR" altLang="en-US" sz="900" b="1" dirty="0"/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484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038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4</a:t>
            </a:r>
            <a:endParaRPr lang="ko-KR" altLang="en-US" sz="900" b="1" dirty="0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7714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6339841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05401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공지사항 상세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1583" y="760338"/>
            <a:ext cx="280101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일반공지사항상세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98432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97364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4596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8273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 Box 73">
            <a:extLst>
              <a:ext uri="{FF2B5EF4-FFF2-40B4-BE49-F238E27FC236}">
                <a16:creationId xmlns:a16="http://schemas.microsoft.com/office/drawing/2014/main" id="{45E44886-453C-E2A8-43AB-45CD5DD5B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8369279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방위사업청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333802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방위사업청공지사항사항상세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3301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10485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2960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C8C9C022-1BF5-DB29-C801-02C2DB81A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2066662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3821953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공지사항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784924"/>
            <a:ext cx="3378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수요부대별공지사항사항상세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dm_noticeInfo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68678"/>
          <a:ext cx="8994883" cy="232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3947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  <a:cs typeface="+mn-cs"/>
                        </a:rPr>
                        <a:t>emrg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긴급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u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pFix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상위고정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비고정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tkcgDeptNm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공지사항구분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pstgBgngYmd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pstgEndYmd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05784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B571A97F-CF42-5A35-D1E1-AC4904698A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705373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5126529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4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02920920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92577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일반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60544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일반자료실상세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61918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0439192-9EF1-341E-46D3-72EF8CE108E2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B2D52ECC-C3A4-BA93-9971-1721B6FCA96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66F04475-2B6C-28FB-3AC1-03C72F8B4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3661687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7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613249723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31049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 err="1">
                <a:solidFill>
                  <a:prstClr val="black"/>
                </a:solidFill>
              </a:rPr>
              <a:t>수요부대별</a:t>
            </a:r>
            <a:r>
              <a:rPr lang="ko-KR" altLang="en-US" sz="1000" b="1" dirty="0">
                <a:solidFill>
                  <a:prstClr val="black"/>
                </a:solidFill>
              </a:rPr>
              <a:t>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63235" y="799547"/>
            <a:ext cx="295169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수요부대별자료실상세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36550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88229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C6E5CCB0-8AFF-4C29-1159-B304CF288D05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7EB764B7-87CD-91BE-5496-3D8BBFD4624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8423D76-6C3E-2B19-C6A3-2906EAFED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1039804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26148301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239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43873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계약관련서식 자료실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7409" y="799547"/>
            <a:ext cx="306711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계약관련서식자료실상세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1025875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9180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rpstrTtl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wrtrNm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234F8FA-1E0E-58B2-149D-6DF150C6D039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E0A0C8F-453B-36ED-E27D-3427DE0D8D1D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B335F206-DF0E-979F-DC20-E81D57CD1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1880188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10928915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2182255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– </a:t>
            </a:r>
            <a:r>
              <a:rPr lang="ko-KR" altLang="en-US" sz="1000" b="1" dirty="0">
                <a:solidFill>
                  <a:prstClr val="black"/>
                </a:solidFill>
              </a:rPr>
              <a:t>시스템 개선안내 상세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8" y="799547"/>
            <a:ext cx="283628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시스템개선안내상세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dm_rpstrInfo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103613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자리수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contsNo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29488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bbsTtl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wrtrNm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tkcgDeptNm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담당부서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6904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자료실구분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BIZCD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1204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pstgBgngYmd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게시시작일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pstgEndYmd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게시종료일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37583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bbsCn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1344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fileSn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7670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39C9A060-CA73-CEE0-3F7F-523F9C3CF9AD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594039D6-5A81-7A0D-8459-4FB791039E63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85C4AD37-DEDE-FDB5-4DF5-9E17FC00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0874" y="3510330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853956"/>
              </p:ext>
            </p:extLst>
          </p:nvPr>
        </p:nvGraphicFramePr>
        <p:xfrm>
          <a:off x="451583" y="3737759"/>
          <a:ext cx="8995591" cy="509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다운로드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scwin.btn_download_onclick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첨부파일을 다운로드한다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8827302"/>
                  </a:ext>
                </a:extLst>
              </a:tr>
            </a:tbl>
          </a:graphicData>
        </a:graphic>
      </p:graphicFrame>
      <p:sp>
        <p:nvSpPr>
          <p:cNvPr id="15" name="Text Box 73">
            <a:extLst>
              <a:ext uri="{FF2B5EF4-FFF2-40B4-BE49-F238E27FC236}">
                <a16:creationId xmlns:a16="http://schemas.microsoft.com/office/drawing/2014/main" id="{347EF946-BFD5-F251-A853-A855178E44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8449" y="362836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04387513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/>
          <p:cNvSpPr/>
          <p:nvPr/>
        </p:nvSpPr>
        <p:spPr>
          <a:xfrm>
            <a:off x="720490" y="3916314"/>
            <a:ext cx="2621844" cy="78908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구분 값을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시 질문 정렬 </a:t>
            </a:r>
            <a:r>
              <a:rPr lang="ko-KR" altLang="en-US" dirty="0" smtClean="0"/>
              <a:t>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헤드라인 및 제목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제목은 </a:t>
            </a:r>
            <a:r>
              <a:rPr lang="ko-KR" altLang="en-US" dirty="0" err="1"/>
              <a:t>말줄임</a:t>
            </a:r>
            <a:r>
              <a:rPr lang="ko-KR" altLang="en-US" dirty="0"/>
              <a:t> 없이 전체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답변 내용 확장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각 답변은 사용자 액션에 의해 닫힘 </a:t>
            </a:r>
            <a:r>
              <a:rPr lang="en-US" altLang="ko-KR" dirty="0"/>
              <a:t>(</a:t>
            </a:r>
            <a:r>
              <a:rPr lang="ko-KR" altLang="en-US" dirty="0"/>
              <a:t>다른 질문 클릭해도 이전 답변 닫히지 않음</a:t>
            </a:r>
            <a:r>
              <a:rPr lang="en-US" altLang="ko-KR" dirty="0" smtClean="0"/>
              <a:t>)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smtClean="0"/>
              <a:t>구분 값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 목록 표시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 err="1">
                <a:latin typeface="+mn-ea"/>
              </a:rPr>
              <a:t>자주묻는</a:t>
            </a:r>
            <a:r>
              <a:rPr lang="ko-KR" altLang="en-US" dirty="0">
                <a:latin typeface="+mn-ea"/>
              </a:rPr>
              <a:t> 질문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MUI-CM-04-M03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자주 묻는 질문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" name="그룹 15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7" name="직선 연결선 1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직선 연결선 1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타원 18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5" name="그룹 24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29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 err="1">
                <a:solidFill>
                  <a:prstClr val="black"/>
                </a:solidFill>
              </a:rPr>
              <a:t>업체등록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b="1" dirty="0">
                <a:solidFill>
                  <a:prstClr val="black"/>
                </a:solidFill>
              </a:rPr>
              <a:t> 질문 제목 표시는 말 줄임 없이 전부 다 표시합니다</a:t>
            </a:r>
            <a:r>
              <a:rPr lang="en-US" altLang="ko-KR" sz="900" b="1" dirty="0">
                <a:solidFill>
                  <a:prstClr val="black"/>
                </a:solidFill>
              </a:rPr>
              <a:t>.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43641"/>
            <a:ext cx="76863" cy="292489"/>
            <a:chOff x="3750067" y="4683795"/>
            <a:chExt cx="76863" cy="292489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70540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3686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공통</a:t>
            </a:r>
            <a:r>
              <a:rPr lang="en-US" altLang="ko-KR" sz="700" dirty="0">
                <a:solidFill>
                  <a:prstClr val="black"/>
                </a:solidFill>
              </a:rPr>
              <a:t>]</a:t>
            </a: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6972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93136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76009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4" name="그룹 53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5" name="모서리가 둥근 직사각형 54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타원 55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8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1461057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latin typeface="맑은 고딕"/>
                  <a:ea typeface="맑은 고딕" panose="020B0503020000020004" pitchFamily="50" charset="-127"/>
                </a:rPr>
                <a:t>내용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업체등록</a:t>
            </a:r>
            <a:endParaRPr lang="ko-KR" altLang="en-US" sz="700" dirty="0">
              <a:latin typeface="+mn-ea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전자계약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71" name="타원 70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2" name="그룹 71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77" name="직선 연결선 7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8" name="직선 연결선 7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73" name="타원 72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4" name="그룹 73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기타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1" name="그룹 80"/>
          <p:cNvGrpSpPr/>
          <p:nvPr/>
        </p:nvGrpSpPr>
        <p:grpSpPr>
          <a:xfrm flipV="1">
            <a:off x="3143548" y="342699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91631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053395"/>
            <a:ext cx="236959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b="1" dirty="0">
                <a:solidFill>
                  <a:prstClr val="black"/>
                </a:solidFill>
              </a:rPr>
              <a:t>답변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87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829117" y="4250562"/>
            <a:ext cx="2369594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900" dirty="0" err="1">
                <a:solidFill>
                  <a:prstClr val="black"/>
                </a:solidFill>
              </a:rPr>
              <a:t>자주묻는</a:t>
            </a:r>
            <a:r>
              <a:rPr lang="ko-KR" altLang="en-US" sz="900" dirty="0">
                <a:solidFill>
                  <a:prstClr val="black"/>
                </a:solidFill>
              </a:rPr>
              <a:t> 질문 답변은 작성 내용에 맞게 </a:t>
            </a:r>
            <a:r>
              <a:rPr lang="ko-KR" altLang="en-US" sz="900" dirty="0" smtClean="0">
                <a:solidFill>
                  <a:prstClr val="black"/>
                </a:solidFill>
              </a:rPr>
              <a:t>최대 </a:t>
            </a:r>
            <a:r>
              <a:rPr lang="ko-KR" altLang="en-US" sz="900" dirty="0">
                <a:solidFill>
                  <a:prstClr val="black"/>
                </a:solidFill>
              </a:rPr>
              <a:t>높이를 조정하여 표시합니다</a:t>
            </a:r>
            <a:r>
              <a:rPr lang="en-US" altLang="ko-KR" sz="900" dirty="0">
                <a:solidFill>
                  <a:prstClr val="black"/>
                </a:solidFill>
              </a:rPr>
              <a:t>.</a:t>
            </a:r>
            <a:endParaRPr lang="ko-KR" altLang="en-US" sz="900" dirty="0">
              <a:solidFill>
                <a:prstClr val="black"/>
              </a:solidFill>
            </a:endParaRPr>
          </a:p>
        </p:txBody>
      </p:sp>
      <p:grpSp>
        <p:nvGrpSpPr>
          <p:cNvPr id="88" name="그룹 87"/>
          <p:cNvGrpSpPr/>
          <p:nvPr/>
        </p:nvGrpSpPr>
        <p:grpSpPr>
          <a:xfrm>
            <a:off x="3143548" y="5014062"/>
            <a:ext cx="94010" cy="47005"/>
            <a:chOff x="6812560" y="3297172"/>
            <a:chExt cx="94010" cy="47005"/>
          </a:xfrm>
        </p:grpSpPr>
        <p:cxnSp>
          <p:nvCxnSpPr>
            <p:cNvPr id="89" name="직선 연결선 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0" name="직선 연결선 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33282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92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5126184"/>
            <a:ext cx="206124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ko-KR" altLang="en-US" sz="700" dirty="0">
                <a:solidFill>
                  <a:prstClr val="black"/>
                </a:solidFill>
              </a:rPr>
              <a:t>작성일 </a:t>
            </a:r>
            <a:r>
              <a:rPr lang="en-US" altLang="ko-KR" sz="700" dirty="0">
                <a:solidFill>
                  <a:prstClr val="black"/>
                </a:solidFill>
              </a:rPr>
              <a:t>2025-12-01 | </a:t>
            </a:r>
            <a:r>
              <a:rPr lang="ko-KR" altLang="en-US" sz="700" dirty="0">
                <a:solidFill>
                  <a:prstClr val="black"/>
                </a:solidFill>
              </a:rPr>
              <a:t>조회수 </a:t>
            </a:r>
            <a:r>
              <a:rPr lang="en-US" altLang="ko-KR" sz="700" dirty="0">
                <a:solidFill>
                  <a:prstClr val="black"/>
                </a:solidFill>
              </a:rPr>
              <a:t>99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561976" y="2971849"/>
            <a:ext cx="1194558" cy="28623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dirty="0"/>
              <a:t>전체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전자입찰일반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업체등록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인증관련문의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입찰참가신청서제출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입찰서제출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홈페이지일반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전자문서유통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지문인식관련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전자계약</a:t>
            </a:r>
            <a:endParaRPr lang="ko-KR" altLang="en-US" sz="800" dirty="0"/>
          </a:p>
          <a:p>
            <a:pPr>
              <a:lnSpc>
                <a:spcPct val="150000"/>
              </a:lnSpc>
            </a:pPr>
            <a:r>
              <a:rPr lang="ko-KR" altLang="en-US" sz="800" dirty="0"/>
              <a:t>기타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윈도우</a:t>
            </a:r>
            <a:r>
              <a:rPr lang="en-US" altLang="ko-KR" sz="800" dirty="0"/>
              <a:t>10 PC</a:t>
            </a:r>
            <a:r>
              <a:rPr lang="ko-KR" altLang="en-US" sz="800" dirty="0"/>
              <a:t>환경설정</a:t>
            </a:r>
          </a:p>
          <a:p>
            <a:pPr>
              <a:lnSpc>
                <a:spcPct val="150000"/>
              </a:lnSpc>
            </a:pPr>
            <a:r>
              <a:rPr lang="ko-KR" altLang="en-US" sz="800" dirty="0" err="1"/>
              <a:t>납품대가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선금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  <a:p>
            <a:pPr>
              <a:lnSpc>
                <a:spcPct val="150000"/>
              </a:lnSpc>
            </a:pPr>
            <a:r>
              <a:rPr lang="ko-KR" altLang="en-US" sz="800" dirty="0"/>
              <a:t>착</a:t>
            </a:r>
            <a:r>
              <a:rPr lang="en-US" altLang="ko-KR" sz="800" dirty="0"/>
              <a:t>·</a:t>
            </a:r>
            <a:r>
              <a:rPr lang="ko-KR" altLang="en-US" sz="800" dirty="0"/>
              <a:t>중도금</a:t>
            </a:r>
            <a:r>
              <a:rPr lang="en-US" altLang="ko-KR" sz="800" dirty="0"/>
              <a:t>(</a:t>
            </a:r>
            <a:r>
              <a:rPr lang="ko-KR" altLang="en-US" sz="800" dirty="0" err="1"/>
              <a:t>방위사업청</a:t>
            </a:r>
            <a:r>
              <a:rPr lang="en-US" altLang="ko-KR" sz="800" dirty="0"/>
              <a:t>)</a:t>
            </a: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4619255" y="263394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96058455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44679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4445244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931646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 err="1">
                <a:solidFill>
                  <a:prstClr val="black"/>
                </a:solidFill>
              </a:rPr>
              <a:t>자주묻는질문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55882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bizFldCd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848300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810025"/>
              </p:ext>
            </p:extLst>
          </p:nvPr>
        </p:nvGraphicFramePr>
        <p:xfrm>
          <a:off x="453000" y="4646513"/>
          <a:ext cx="8995591" cy="989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scwin.btn_srch_onclick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자주묻는질문목록조회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 err="1">
                          <a:latin typeface="+mn-ea"/>
                          <a:ea typeface="+mn-ea"/>
                        </a:rPr>
                        <a:t>scwin.grd_noticeList_oncellclick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7104451"/>
              </p:ext>
            </p:extLst>
          </p:nvPr>
        </p:nvGraphicFramePr>
        <p:xfrm>
          <a:off x="452999" y="2132856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자료실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bbsId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자주묻는질문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H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2352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bizFldCd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구분 검색결과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자주묻는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질문 구분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FAQCD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qstnTtl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제목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regDt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작성일자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inqNocs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조회횟수</a:t>
                      </a:r>
                      <a:r>
                        <a:rPr lang="ko-KR" altLang="en-US" sz="800" dirty="0">
                          <a:latin typeface="+mn-ea"/>
                        </a:rPr>
                        <a:t> 검색결과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contsCn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7912979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EF7EE0FB-D8AF-8ECC-1B05-8EC3FFBB1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5252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93379-8E81-A2EF-EC6A-2F674260DD5A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0B2CBBE-A1E0-F75D-090F-7145E4B0A812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3" name="Text Box 73">
              <a:extLst>
                <a:ext uri="{FF2B5EF4-FFF2-40B4-BE49-F238E27FC236}">
                  <a16:creationId xmlns:a16="http://schemas.microsoft.com/office/drawing/2014/main" id="{FBFF2EDC-A101-D11D-326F-BDDDEBB0B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372412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현재 업체 정보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MUI-CM-02-M01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화면 재사용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/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각 </a:t>
            </a:r>
            <a:r>
              <a:rPr lang="ko-KR" altLang="en-US" dirty="0" err="1" smtClean="0"/>
              <a:t>바로가기</a:t>
            </a:r>
            <a:r>
              <a:rPr lang="ko-KR" altLang="en-US" dirty="0" smtClean="0"/>
              <a:t> 버튼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신청절차및안내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MUI-CM-04-M05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 </a:t>
            </a:r>
            <a:r>
              <a:rPr lang="ko-KR" altLang="en-US" dirty="0"/>
              <a:t>증명서 신청 </a:t>
            </a:r>
            <a:r>
              <a:rPr lang="ko-KR" altLang="en-US" dirty="0" smtClean="0"/>
              <a:t>목록 </a:t>
            </a:r>
            <a:r>
              <a:rPr lang="en-US" altLang="ko-KR" dirty="0" smtClean="0"/>
              <a:t>MUI-CM-04-M06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실적증명서신청 </a:t>
            </a:r>
            <a:r>
              <a:rPr lang="en-US" altLang="ko-KR" dirty="0" smtClean="0"/>
              <a:t>MUI-CM-04-M08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err="1" smtClean="0"/>
              <a:t>국외조달원등록증신청목록</a:t>
            </a:r>
            <a:r>
              <a:rPr lang="ko-KR" altLang="en-US" dirty="0" smtClean="0"/>
              <a:t> </a:t>
            </a:r>
            <a:r>
              <a:rPr lang="en-US" altLang="ko-KR" dirty="0" smtClean="0"/>
              <a:t>MUI-CM-04-M09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국외조달원등록증신청 </a:t>
            </a:r>
            <a:r>
              <a:rPr lang="en-US" altLang="ko-KR" dirty="0"/>
              <a:t>MUI-CM-04-P10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민원서류발급신청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민원서류 발급 신청 메뉴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민원서류발급신청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민원서류발급신청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903581" y="3624487"/>
            <a:ext cx="2255663" cy="306146"/>
            <a:chOff x="903581" y="2074658"/>
            <a:chExt cx="2255663" cy="306146"/>
          </a:xfrm>
        </p:grpSpPr>
        <p:sp>
          <p:nvSpPr>
            <p:cNvPr id="51" name="모서리가 둥근 직사각형 5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신청 절차 및 안내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03581" y="4006731"/>
            <a:ext cx="2255663" cy="306146"/>
            <a:chOff x="903581" y="2074658"/>
            <a:chExt cx="2255663" cy="306146"/>
          </a:xfrm>
        </p:grpSpPr>
        <p:sp>
          <p:nvSpPr>
            <p:cNvPr id="56" name="모서리가 둥근 직사각형 5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실적 증명서 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0" name="그룹 109"/>
          <p:cNvGrpSpPr/>
          <p:nvPr/>
        </p:nvGrpSpPr>
        <p:grpSpPr>
          <a:xfrm>
            <a:off x="903581" y="4387007"/>
            <a:ext cx="2255663" cy="306146"/>
            <a:chOff x="903581" y="2074658"/>
            <a:chExt cx="2255663" cy="306146"/>
          </a:xfrm>
        </p:grpSpPr>
        <p:sp>
          <p:nvSpPr>
            <p:cNvPr id="111" name="모서리가 둥근 직사각형 11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실적 증명서 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115" name="그룹 114"/>
          <p:cNvGrpSpPr/>
          <p:nvPr/>
        </p:nvGrpSpPr>
        <p:grpSpPr>
          <a:xfrm>
            <a:off x="903581" y="4772299"/>
            <a:ext cx="2255663" cy="306146"/>
            <a:chOff x="903581" y="2074658"/>
            <a:chExt cx="2255663" cy="306146"/>
          </a:xfrm>
        </p:grpSpPr>
        <p:sp>
          <p:nvSpPr>
            <p:cNvPr id="116" name="모서리가 둥근 직사각형 115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조달원 등록증 신청 목록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6485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1" name="그룹 40"/>
          <p:cNvGrpSpPr/>
          <p:nvPr/>
        </p:nvGrpSpPr>
        <p:grpSpPr>
          <a:xfrm>
            <a:off x="903581" y="5157591"/>
            <a:ext cx="2255663" cy="306146"/>
            <a:chOff x="903581" y="2074658"/>
            <a:chExt cx="2255663" cy="306146"/>
          </a:xfrm>
        </p:grpSpPr>
        <p:sp>
          <p:nvSpPr>
            <p:cNvPr id="42" name="모서리가 둥근 직사각형 41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국외 조달원 등록증 신청</a:t>
              </a:r>
              <a:endParaRPr lang="ko-KR" altLang="en-US" sz="800" b="1" dirty="0">
                <a:latin typeface="+mn-ea"/>
              </a:endParaRPr>
            </a:p>
          </p:txBody>
        </p:sp>
      </p:grpSp>
      <p:grpSp>
        <p:nvGrpSpPr>
          <p:cNvPr id="62" name="그룹 61"/>
          <p:cNvGrpSpPr/>
          <p:nvPr/>
        </p:nvGrpSpPr>
        <p:grpSpPr>
          <a:xfrm>
            <a:off x="716365" y="1926939"/>
            <a:ext cx="2630093" cy="1600147"/>
            <a:chOff x="720490" y="4465173"/>
            <a:chExt cx="2630093" cy="160014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65173"/>
              <a:ext cx="84376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업체정보</a:t>
              </a:r>
            </a:p>
          </p:txBody>
        </p:sp>
        <p:grpSp>
          <p:nvGrpSpPr>
            <p:cNvPr id="64" name="그룹 63"/>
            <p:cNvGrpSpPr/>
            <p:nvPr/>
          </p:nvGrpSpPr>
          <p:grpSpPr>
            <a:xfrm flipV="1">
              <a:off x="3143548" y="4578504"/>
              <a:ext cx="94010" cy="47005"/>
              <a:chOff x="6812560" y="3297172"/>
              <a:chExt cx="94010" cy="47005"/>
            </a:xfrm>
          </p:grpSpPr>
          <p:cxnSp>
            <p:nvCxnSpPr>
              <p:cNvPr id="75" name="직선 연결선 7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65" name="직사각형 64"/>
            <p:cNvSpPr/>
            <p:nvPr/>
          </p:nvSpPr>
          <p:spPr>
            <a:xfrm>
              <a:off x="722583" y="4772658"/>
              <a:ext cx="792000" cy="12808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7265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72658"/>
              <a:ext cx="715881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업체코드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법인등록번호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7265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주식회사 국방전자조달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7004F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2026-02-02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37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174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311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2" name="직선 연결선 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260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83977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05347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77" name="타원 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64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9" name="그룹 7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0" name="직사각형 7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진입점을</a:t>
              </a:r>
              <a:r>
                <a:rPr lang="ko-KR" altLang="en-US" sz="700" dirty="0" smtClean="0"/>
                <a:t> 위한 화면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382128872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>
                <a:solidFill>
                  <a:srgbClr val="FF0000"/>
                </a:solidFill>
              </a:rPr>
              <a:t>- </a:t>
            </a:r>
            <a:r>
              <a:rPr lang="ko-KR" altLang="en-US" dirty="0" smtClean="0">
                <a:solidFill>
                  <a:srgbClr val="FF0000"/>
                </a:solidFill>
              </a:rPr>
              <a:t>콘텐츠 정보는 추후 변경될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민원서류 신청절차 및 안내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신청절차 및 안내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신청절차 및 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96983" y="2188499"/>
            <a:ext cx="2468859" cy="35086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국방전자조달 로그인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고객센터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민원서류발급신청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>
                <a:latin typeface="Consolas" panose="020B0609020204030204" pitchFamily="49" charset="0"/>
              </a:rPr>
              <a:t>실적증명서 신청에서 납품 </a:t>
            </a:r>
            <a:r>
              <a:rPr lang="ko-KR" altLang="en-US" sz="800" dirty="0" err="1">
                <a:latin typeface="Consolas" panose="020B0609020204030204" pitchFamily="49" charset="0"/>
              </a:rPr>
              <a:t>계약정보</a:t>
            </a:r>
            <a:r>
              <a:rPr lang="ko-KR" altLang="en-US" sz="800" dirty="0">
                <a:latin typeface="Consolas" panose="020B0609020204030204" pitchFamily="49" charset="0"/>
              </a:rPr>
              <a:t> 목록에서 원하는 계약 선택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신청정보</a:t>
            </a:r>
            <a:r>
              <a:rPr lang="ko-KR" altLang="en-US" sz="800" dirty="0">
                <a:latin typeface="Consolas" panose="020B0609020204030204" pitchFamily="49" charset="0"/>
              </a:rPr>
              <a:t> 입력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미리보기</a:t>
            </a:r>
            <a:r>
              <a:rPr lang="ko-KR" altLang="en-US" sz="800" dirty="0">
                <a:latin typeface="Consolas" panose="020B0609020204030204" pitchFamily="49" charset="0"/>
              </a:rPr>
              <a:t> 및 신청 </a:t>
            </a:r>
            <a:r>
              <a:rPr lang="en-US" altLang="ko-KR" sz="800" dirty="0">
                <a:latin typeface="Consolas" panose="020B0609020204030204" pitchFamily="49" charset="0"/>
              </a:rPr>
              <a:t>&gt; </a:t>
            </a: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및 신청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ko-KR" altLang="en-US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증명원의</a:t>
            </a:r>
            <a:r>
              <a:rPr lang="ko-KR" altLang="en-US" sz="800" dirty="0">
                <a:latin typeface="Consolas" panose="020B0609020204030204" pitchFamily="49" charset="0"/>
              </a:rPr>
              <a:t> 사용목적에 따라서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납품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정산</a:t>
            </a:r>
            <a:r>
              <a:rPr lang="en-US" altLang="ko-KR" sz="800" dirty="0">
                <a:latin typeface="Consolas" panose="020B0609020204030204" pitchFamily="49" charset="0"/>
              </a:rPr>
              <a:t>,</a:t>
            </a:r>
            <a:r>
              <a:rPr lang="ko-KR" altLang="en-US" sz="800" dirty="0">
                <a:latin typeface="Consolas" panose="020B0609020204030204" pitchFamily="49" charset="0"/>
              </a:rPr>
              <a:t>선착중도금을 넣을 수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각군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계약건에</a:t>
            </a:r>
            <a:r>
              <a:rPr lang="ko-KR" altLang="en-US" sz="800" dirty="0">
                <a:latin typeface="Consolas" panose="020B0609020204030204" pitchFamily="49" charset="0"/>
              </a:rPr>
              <a:t> 대한 실적증명서의 경우 </a:t>
            </a:r>
            <a:r>
              <a:rPr lang="ko-KR" altLang="en-US" sz="800" dirty="0" err="1">
                <a:latin typeface="Consolas" panose="020B0609020204030204" pitchFamily="49" charset="0"/>
              </a:rPr>
              <a:t>실적비율</a:t>
            </a:r>
            <a:r>
              <a:rPr lang="ko-KR" altLang="en-US" sz="800" dirty="0">
                <a:latin typeface="Consolas" panose="020B0609020204030204" pitchFamily="49" charset="0"/>
              </a:rPr>
              <a:t> 및 </a:t>
            </a:r>
            <a:r>
              <a:rPr lang="ko-KR" altLang="en-US" sz="800" dirty="0" err="1">
                <a:latin typeface="Consolas" panose="020B0609020204030204" pitchFamily="49" charset="0"/>
              </a:rPr>
              <a:t>실적금액을</a:t>
            </a:r>
            <a:r>
              <a:rPr lang="ko-KR" altLang="en-US" sz="800" dirty="0">
                <a:latin typeface="Consolas" panose="020B0609020204030204" pitchFamily="49" charset="0"/>
              </a:rPr>
              <a:t> 넣을 수 있습니다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실적증명</a:t>
            </a:r>
            <a:r>
              <a:rPr lang="ko-KR" altLang="en-US" sz="800" dirty="0">
                <a:latin typeface="Consolas" panose="020B0609020204030204" pitchFamily="49" charset="0"/>
              </a:rPr>
              <a:t> 확인 후 반드시 신청을 하셔야 </a:t>
            </a: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또는 국방부 및 각군에서 처리됩니다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접수번호를 클릭하여 상세정보를 확인합니다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실적증명서는 상세정보 하단의 </a:t>
            </a:r>
            <a:r>
              <a:rPr lang="ko-KR" altLang="en-US" sz="800" dirty="0" err="1">
                <a:latin typeface="Consolas" panose="020B0609020204030204" pitchFamily="49" charset="0"/>
              </a:rPr>
              <a:t>발급버튼을</a:t>
            </a:r>
            <a:r>
              <a:rPr lang="ko-KR" altLang="en-US" sz="800" dirty="0">
                <a:latin typeface="Consolas" panose="020B0609020204030204" pitchFamily="49" charset="0"/>
              </a:rPr>
              <a:t> 클릭하여   가능합니다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340206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1934740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신청절차 및 안내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/>
              <a:t>실적증명서 신청 절차 및 안내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0" name="그룹 19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1" name="직선 연결선 2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" name="직선 연결선 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" name="타원 2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26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777" y="3500559"/>
            <a:ext cx="2154318" cy="1845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900" b="1" dirty="0">
                <a:latin typeface="Consolas" panose="020B0609020204030204" pitchFamily="49" charset="0"/>
              </a:rPr>
              <a:t>담당부서 및 연락처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7318" y="3783575"/>
            <a:ext cx="2468859" cy="14567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en-US" altLang="ko-KR" sz="800" dirty="0">
                <a:latin typeface="Consolas" panose="020B0609020204030204" pitchFamily="49" charset="0"/>
              </a:rPr>
              <a:t>: 1577-1118(①</a:t>
            </a:r>
            <a:r>
              <a:rPr lang="ko-KR" altLang="en-US" sz="800" dirty="0">
                <a:latin typeface="Consolas" panose="020B0609020204030204" pitchFamily="49" charset="0"/>
              </a:rPr>
              <a:t>번</a:t>
            </a:r>
            <a:r>
              <a:rPr lang="en-US" altLang="ko-KR" sz="800" dirty="0">
                <a:latin typeface="Consolas" panose="020B0609020204030204" pitchFamily="49" charset="0"/>
              </a:rPr>
              <a:t>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 err="1">
                <a:latin typeface="Consolas" panose="020B0609020204030204" pitchFamily="49" charset="0"/>
              </a:rPr>
              <a:t>방위사업청</a:t>
            </a:r>
            <a:r>
              <a:rPr lang="ko-KR" altLang="en-US" sz="800" dirty="0">
                <a:latin typeface="Consolas" panose="020B0609020204030204" pitchFamily="49" charset="0"/>
              </a:rPr>
              <a:t> 계약 </a:t>
            </a:r>
            <a:r>
              <a:rPr lang="ko-KR" altLang="en-US" sz="800" dirty="0" err="1">
                <a:latin typeface="Consolas" panose="020B0609020204030204" pitchFamily="49" charset="0"/>
              </a:rPr>
              <a:t>발급담당자</a:t>
            </a:r>
            <a:endParaRPr lang="ko-KR" altLang="en-US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latin typeface="Consolas" panose="020B0609020204030204" pitchFamily="49" charset="0"/>
              </a:rPr>
              <a:t>   </a:t>
            </a:r>
            <a:r>
              <a:rPr lang="en-US" altLang="ko-KR" sz="800" dirty="0">
                <a:latin typeface="Consolas" panose="020B0609020204030204" pitchFamily="49" charset="0"/>
              </a:rPr>
              <a:t>- </a:t>
            </a:r>
            <a:r>
              <a:rPr lang="ko-KR" altLang="en-US" sz="800" dirty="0" err="1">
                <a:latin typeface="Consolas" panose="020B0609020204030204" pitchFamily="49" charset="0"/>
              </a:rPr>
              <a:t>기반전력사업총괄팀</a:t>
            </a:r>
            <a:r>
              <a:rPr lang="en-US" altLang="ko-KR" sz="800" dirty="0">
                <a:latin typeface="Consolas" panose="020B0609020204030204" pitchFamily="49" charset="0"/>
              </a:rPr>
              <a:t/>
            </a:r>
            <a:br>
              <a:rPr lang="en-US" altLang="ko-KR" sz="800" dirty="0">
                <a:latin typeface="Consolas" panose="020B0609020204030204" pitchFamily="49" charset="0"/>
              </a:rPr>
            </a:b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 err="1">
                <a:latin typeface="Consolas" panose="020B0609020204030204" pitchFamily="49" charset="0"/>
              </a:rPr>
              <a:t>윤준혁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(☎02-2079-4793)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- </a:t>
            </a:r>
            <a:r>
              <a:rPr lang="ko-KR" altLang="en-US" sz="800" dirty="0" err="1">
                <a:latin typeface="Consolas" panose="020B0609020204030204" pitchFamily="49" charset="0"/>
              </a:rPr>
              <a:t>미래전력사업총괄팀</a:t>
            </a:r>
            <a:endParaRPr lang="en-US" altLang="ko-KR" sz="800" dirty="0">
              <a:latin typeface="Consolas" panose="020B0609020204030204" pitchFamily="49" charset="0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latin typeface="Consolas" panose="020B0609020204030204" pitchFamily="49" charset="0"/>
              </a:rPr>
              <a:t>     </a:t>
            </a:r>
            <a:r>
              <a:rPr lang="ko-KR" altLang="en-US" sz="800" dirty="0">
                <a:latin typeface="Consolas" panose="020B0609020204030204" pitchFamily="49" charset="0"/>
              </a:rPr>
              <a:t>서정화 </a:t>
            </a:r>
            <a:r>
              <a:rPr lang="ko-KR" altLang="en-US" sz="800" dirty="0" err="1">
                <a:latin typeface="Consolas" panose="020B0609020204030204" pitchFamily="49" charset="0"/>
              </a:rPr>
              <a:t>주무관</a:t>
            </a:r>
            <a:r>
              <a:rPr lang="ko-KR" altLang="en-US" sz="800" dirty="0">
                <a:latin typeface="Consolas" panose="020B0609020204030204" pitchFamily="49" charset="0"/>
              </a:rPr>
              <a:t> </a:t>
            </a:r>
            <a:r>
              <a:rPr lang="en-US" altLang="ko-KR" sz="800" dirty="0">
                <a:latin typeface="Consolas" panose="020B0609020204030204" pitchFamily="49" charset="0"/>
              </a:rPr>
              <a:t>(☎02-2079-4021)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 군 계약 </a:t>
            </a:r>
            <a:r>
              <a:rPr lang="en-US" altLang="ko-KR" sz="800" dirty="0">
                <a:latin typeface="Consolas" panose="020B0609020204030204" pitchFamily="49" charset="0"/>
              </a:rPr>
              <a:t>: </a:t>
            </a:r>
            <a:r>
              <a:rPr lang="ko-KR" altLang="en-US" sz="800" dirty="0">
                <a:latin typeface="Consolas" panose="020B0609020204030204" pitchFamily="49" charset="0"/>
              </a:rPr>
              <a:t>국방부 및 각 군 계약담당부서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38325" y="1616997"/>
            <a:ext cx="2468859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국방부 및 각군에서 발급된 실적증명서는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정보가 포함되어 있으며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 err="1"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latin typeface="Consolas" panose="020B0609020204030204" pitchFamily="49" charset="0"/>
              </a:rPr>
              <a:t> 정보를 확인하려면 해당 프로그램을 설치하셔야 합니다</a:t>
            </a:r>
            <a:r>
              <a:rPr lang="en-US" altLang="ko-KR" sz="800" dirty="0" smtClean="0">
                <a:latin typeface="Consolas" panose="020B0609020204030204" pitchFamily="49" charset="0"/>
              </a:rPr>
              <a:t>.</a:t>
            </a:r>
            <a:r>
              <a:rPr lang="en-US" altLang="ko-KR" sz="800" dirty="0">
                <a:latin typeface="Consolas" panose="020B0609020204030204" pitchFamily="49" charset="0"/>
              </a:rPr>
              <a:t/>
            </a:r>
            <a:br>
              <a:rPr lang="en-US" altLang="ko-KR" sz="800" dirty="0">
                <a:latin typeface="Consolas" panose="020B0609020204030204" pitchFamily="49" charset="0"/>
              </a:rPr>
            </a:br>
            <a:r>
              <a:rPr lang="en-US" altLang="ko-KR" sz="800" dirty="0" smtClean="0">
                <a:solidFill>
                  <a:srgbClr val="0070C0"/>
                </a:solidFill>
                <a:latin typeface="Consolas" panose="020B0609020204030204" pitchFamily="49" charset="0"/>
              </a:rPr>
              <a:t>(</a:t>
            </a:r>
            <a:r>
              <a:rPr lang="en-US" altLang="ko-KR" sz="800" dirty="0">
                <a:solidFill>
                  <a:srgbClr val="0070C0"/>
                </a:solidFill>
                <a:latin typeface="Consolas" panose="020B0609020204030204" pitchFamily="49" charset="0"/>
              </a:rPr>
              <a:t>PDF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진본성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파일 </a:t>
            </a:r>
            <a:r>
              <a:rPr lang="ko-KR" altLang="en-US" sz="800" dirty="0" err="1">
                <a:solidFill>
                  <a:srgbClr val="0070C0"/>
                </a:solidFill>
                <a:latin typeface="Consolas" panose="020B0609020204030204" pitchFamily="49" charset="0"/>
              </a:rPr>
              <a:t>미검증시</a:t>
            </a:r>
            <a:r>
              <a:rPr lang="ko-KR" altLang="en-US" sz="800" dirty="0">
                <a:solidFill>
                  <a:srgbClr val="0070C0"/>
                </a:solidFill>
                <a:latin typeface="Consolas" panose="020B0609020204030204" pitchFamily="49" charset="0"/>
              </a:rPr>
              <a:t> 조치 방법</a:t>
            </a:r>
            <a:r>
              <a:rPr lang="en-US" altLang="ko-KR" sz="800" dirty="0" smtClean="0">
                <a:solidFill>
                  <a:srgbClr val="0070C0"/>
                </a:solidFill>
                <a:latin typeface="Consolas" panose="020B0609020204030204" pitchFamily="49" charset="0"/>
              </a:rPr>
              <a:t>)</a:t>
            </a:r>
            <a:endParaRPr lang="en-US" altLang="ko-KR" sz="800" dirty="0">
              <a:solidFill>
                <a:srgbClr val="0070C0"/>
              </a:solidFill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endParaRPr lang="en-US" altLang="ko-KR" sz="800" dirty="0">
              <a:latin typeface="Consolas" panose="020B0609020204030204" pitchFamily="49" charset="0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800" dirty="0">
                <a:latin typeface="Consolas" panose="020B0609020204030204" pitchFamily="49" charset="0"/>
              </a:rPr>
              <a:t>물품</a:t>
            </a:r>
            <a:r>
              <a:rPr lang="en-US" altLang="ko-KR" sz="800" dirty="0">
                <a:latin typeface="Consolas" panose="020B0609020204030204" pitchFamily="49" charset="0"/>
              </a:rPr>
              <a:t>(</a:t>
            </a:r>
            <a:r>
              <a:rPr lang="ko-KR" altLang="en-US" sz="800" dirty="0">
                <a:latin typeface="Consolas" panose="020B0609020204030204" pitchFamily="49" charset="0"/>
              </a:rPr>
              <a:t>내자</a:t>
            </a:r>
            <a:r>
              <a:rPr lang="en-US" altLang="ko-KR" sz="800" dirty="0">
                <a:latin typeface="Consolas" panose="020B0609020204030204" pitchFamily="49" charset="0"/>
              </a:rPr>
              <a:t>) </a:t>
            </a:r>
            <a:r>
              <a:rPr lang="ko-KR" altLang="en-US" sz="800" dirty="0">
                <a:latin typeface="Consolas" panose="020B0609020204030204" pitchFamily="49" charset="0"/>
              </a:rPr>
              <a:t>납품실적증명서 발급은 방위사업청과 계약한 건에 한해 방위사업청에서 처리 가능하며</a:t>
            </a:r>
            <a:r>
              <a:rPr lang="en-US" altLang="ko-KR" sz="800" dirty="0">
                <a:latin typeface="Consolas" panose="020B0609020204030204" pitchFamily="49" charset="0"/>
              </a:rPr>
              <a:t>, </a:t>
            </a:r>
            <a:r>
              <a:rPr lang="ko-KR" altLang="en-US" sz="800" dirty="0">
                <a:latin typeface="Consolas" panose="020B0609020204030204" pitchFamily="49" charset="0"/>
              </a:rPr>
              <a:t>타 기관 및 부대와의 </a:t>
            </a:r>
            <a:r>
              <a:rPr lang="ko-KR" altLang="en-US" sz="800" dirty="0" err="1">
                <a:latin typeface="Consolas" panose="020B0609020204030204" pitchFamily="49" charset="0"/>
              </a:rPr>
              <a:t>계약건은</a:t>
            </a:r>
            <a:r>
              <a:rPr lang="ko-KR" altLang="en-US" sz="800" dirty="0">
                <a:latin typeface="Consolas" panose="020B0609020204030204" pitchFamily="49" charset="0"/>
              </a:rPr>
              <a:t> 국방부 및 각군의 계약담당부서로 요청하셔야 합니다</a:t>
            </a:r>
            <a:r>
              <a:rPr lang="en-US" altLang="ko-KR" sz="800" dirty="0">
                <a:latin typeface="Consolas" panose="020B0609020204030204" pitchFamily="49" charset="0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31" name="그룹 30"/>
          <p:cNvGrpSpPr/>
          <p:nvPr/>
        </p:nvGrpSpPr>
        <p:grpSpPr>
          <a:xfrm>
            <a:off x="8223250" y="0"/>
            <a:ext cx="3365500" cy="634511"/>
            <a:chOff x="8223250" y="569392"/>
            <a:chExt cx="3365500" cy="634511"/>
          </a:xfrm>
        </p:grpSpPr>
        <p:sp>
          <p:nvSpPr>
            <p:cNvPr id="32" name="직사각형 31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smtClean="0"/>
                <a:t>2026-07-29 </a:t>
              </a:r>
              <a:r>
                <a:rPr lang="ko-KR" altLang="en-US" dirty="0" smtClean="0"/>
                <a:t>주의사항</a:t>
              </a:r>
              <a:endParaRPr lang="ko-KR" altLang="en-US" dirty="0"/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사용자에게 전달될 안내 메시지 </a:t>
              </a:r>
              <a:r>
                <a:rPr lang="en-US" altLang="ko-KR" sz="700" dirty="0" smtClean="0"/>
                <a:t>PC</a:t>
              </a:r>
              <a:r>
                <a:rPr lang="ko-KR" altLang="en-US" sz="700" dirty="0" smtClean="0"/>
                <a:t>버전과 재정리가 필요함</a:t>
              </a:r>
              <a:r>
                <a:rPr lang="en-US" altLang="ko-KR" sz="700" dirty="0" smtClean="0"/>
                <a:t>.</a:t>
              </a:r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진본성</a:t>
              </a:r>
              <a:r>
                <a:rPr lang="ko-KR" altLang="en-US" sz="700" dirty="0" smtClean="0"/>
                <a:t> 프로그램</a:t>
              </a:r>
              <a:r>
                <a:rPr lang="en-US" altLang="ko-KR" sz="700" dirty="0" smtClean="0"/>
                <a:t>, </a:t>
              </a:r>
              <a:r>
                <a:rPr lang="ko-KR" altLang="en-US" sz="700" dirty="0" smtClean="0"/>
                <a:t>솔루션 등이 별도로 사용될 수 있음</a:t>
              </a:r>
              <a:r>
                <a:rPr lang="en-US" altLang="ko-KR" sz="700" dirty="0" smtClean="0"/>
                <a:t>. (</a:t>
              </a:r>
              <a:r>
                <a:rPr lang="ko-KR" altLang="en-US" sz="700" dirty="0" err="1" smtClean="0"/>
                <a:t>미확정</a:t>
              </a:r>
              <a:r>
                <a:rPr lang="en-US" altLang="ko-KR" sz="700" dirty="0" smtClean="0"/>
                <a:t>)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291660458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/>
              <a:t>계약번호</a:t>
            </a:r>
            <a:r>
              <a:rPr lang="en-US" altLang="ko-KR" dirty="0"/>
              <a:t>, </a:t>
            </a:r>
            <a:r>
              <a:rPr lang="ko-KR" altLang="en-US" dirty="0" err="1"/>
              <a:t>검색필터</a:t>
            </a:r>
            <a:r>
              <a:rPr lang="ko-KR" altLang="en-US" dirty="0"/>
              <a:t> 영역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접수 목록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상세 화면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/>
              <a:t>접수 등 진행상태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목록에서 신청 접수할 수 있도록 </a:t>
            </a:r>
            <a:r>
              <a:rPr lang="en-US" altLang="ko-KR" dirty="0"/>
              <a:t>(+) </a:t>
            </a:r>
            <a:r>
              <a:rPr lang="ko-KR" altLang="en-US" dirty="0" err="1"/>
              <a:t>플로팅</a:t>
            </a:r>
            <a:r>
              <a:rPr lang="ko-KR" altLang="en-US" dirty="0"/>
              <a:t> 버튼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바텀시트</a:t>
            </a:r>
            <a:r>
              <a:rPr lang="ko-KR" altLang="en-US" dirty="0"/>
              <a:t> 노출 버튼 </a:t>
            </a:r>
            <a:r>
              <a:rPr lang="en-US" altLang="ko-KR" dirty="0"/>
              <a:t>[</a:t>
            </a:r>
            <a:r>
              <a:rPr lang="ko-KR" altLang="en-US" dirty="0"/>
              <a:t>실적증명서 신청</a:t>
            </a:r>
            <a:r>
              <a:rPr lang="en-US" altLang="ko-KR" dirty="0"/>
              <a:t>]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종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실적증명서신청목록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신청 목록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22" name="그룹 21"/>
          <p:cNvGrpSpPr/>
          <p:nvPr/>
        </p:nvGrpSpPr>
        <p:grpSpPr>
          <a:xfrm>
            <a:off x="781461" y="3301466"/>
            <a:ext cx="2473257" cy="1098561"/>
            <a:chOff x="781461" y="2610063"/>
            <a:chExt cx="2473257" cy="1098561"/>
          </a:xfrm>
        </p:grpSpPr>
        <p:sp>
          <p:nvSpPr>
            <p:cNvPr id="23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4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5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" name="모서리가 둥근 직사각형 26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6" name="모서리가 둥근 직사각형 115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22320"/>
            <a:ext cx="76863" cy="292489"/>
            <a:chOff x="3750067" y="4683795"/>
            <a:chExt cx="76863" cy="292489"/>
          </a:xfrm>
        </p:grpSpPr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32" name="그룹 31"/>
          <p:cNvGrpSpPr/>
          <p:nvPr/>
        </p:nvGrpSpPr>
        <p:grpSpPr>
          <a:xfrm>
            <a:off x="778515" y="4600795"/>
            <a:ext cx="2476203" cy="1083172"/>
            <a:chOff x="778515" y="2610063"/>
            <a:chExt cx="2476203" cy="1083172"/>
          </a:xfrm>
        </p:grpSpPr>
        <p:sp>
          <p:nvSpPr>
            <p:cNvPr id="35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판단번호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2026-00590</a:t>
              </a:r>
            </a:p>
            <a:p>
              <a:r>
                <a:rPr lang="en-US" altLang="ko-KR" sz="900" b="1" dirty="0"/>
                <a:t>26-</a:t>
              </a:r>
              <a:r>
                <a:rPr lang="ko-KR" altLang="en-US" sz="900" b="1" dirty="0"/>
                <a:t>평 절개지 복구공사</a:t>
              </a:r>
            </a:p>
          </p:txBody>
        </p:sp>
        <p:sp>
          <p:nvSpPr>
            <p:cNvPr id="36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361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37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96239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2026-03-20</a:t>
              </a: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778515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공사</a:t>
              </a:r>
            </a:p>
          </p:txBody>
        </p:sp>
        <p:sp>
          <p:nvSpPr>
            <p:cNvPr id="39" name="모서리가 둥근 직사각형 38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18" name="모서리가 둥근 직사각형 117"/>
            <p:cNvSpPr/>
            <p:nvPr/>
          </p:nvSpPr>
          <p:spPr>
            <a:xfrm>
              <a:off x="1521812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48227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7757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4" y="1902673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업무도움</a:t>
            </a:r>
            <a:endParaRPr lang="ko-KR" altLang="en-US" sz="700" dirty="0">
              <a:latin typeface="+mn-ea"/>
            </a:endParaRPr>
          </a:p>
        </p:txBody>
      </p:sp>
      <p:sp>
        <p:nvSpPr>
          <p:cNvPr id="43" name="타원 42"/>
          <p:cNvSpPr/>
          <p:nvPr/>
        </p:nvSpPr>
        <p:spPr>
          <a:xfrm>
            <a:off x="783686" y="1934018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4" name="그룹 43"/>
          <p:cNvGrpSpPr/>
          <p:nvPr/>
        </p:nvGrpSpPr>
        <p:grpSpPr>
          <a:xfrm>
            <a:off x="3143548" y="2016004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2874722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2870668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70668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50" name="그룹 49"/>
          <p:cNvGrpSpPr/>
          <p:nvPr/>
        </p:nvGrpSpPr>
        <p:grpSpPr>
          <a:xfrm>
            <a:off x="3143548" y="2983035"/>
            <a:ext cx="94010" cy="47005"/>
            <a:chOff x="6812560" y="3297172"/>
            <a:chExt cx="94010" cy="47005"/>
          </a:xfrm>
        </p:grpSpPr>
        <p:cxnSp>
          <p:nvCxnSpPr>
            <p:cNvPr id="51" name="직선 연결선 5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2" name="직선 연결선 5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그룹 52"/>
          <p:cNvGrpSpPr/>
          <p:nvPr/>
        </p:nvGrpSpPr>
        <p:grpSpPr>
          <a:xfrm>
            <a:off x="767702" y="2270279"/>
            <a:ext cx="2527420" cy="477995"/>
            <a:chOff x="786326" y="2270279"/>
            <a:chExt cx="2527420" cy="477995"/>
          </a:xfrm>
        </p:grpSpPr>
        <p:sp>
          <p:nvSpPr>
            <p:cNvPr id="54" name="모서리가 둥근 직사각형 53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4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8" name="타원 57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9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그룹 60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2" name="직선 연결선 61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3" name="직선 연결선 62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015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83550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타원 1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485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" name="그룹 120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122" name="직선 연결선 121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3" name="직선 연결선 122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4" name="직선 연결선 123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5" name="직선 연결선 124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6" name="타원 125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7" name="그룹 126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1" name="직사각형 13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수정</a:t>
              </a:r>
              <a:endParaRPr lang="ko-KR" altLang="en-US" dirty="0"/>
            </a:p>
          </p:txBody>
        </p:sp>
        <p:sp>
          <p:nvSpPr>
            <p:cNvPr id="132" name="직사각형 13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검색 필터 </a:t>
              </a:r>
              <a:r>
                <a:rPr lang="en-US" altLang="ko-KR" sz="700" dirty="0" smtClean="0"/>
                <a:t>ID</a:t>
              </a:r>
              <a:r>
                <a:rPr lang="ko-KR" altLang="en-US" sz="700" dirty="0" smtClean="0"/>
                <a:t>에 따라 분리</a:t>
              </a:r>
              <a:endParaRPr lang="ko-KR" altLang="en-US" sz="700" dirty="0"/>
            </a:p>
          </p:txBody>
        </p:sp>
      </p:grpSp>
      <p:sp>
        <p:nvSpPr>
          <p:cNvPr id="136" name="타원 1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585828" y="434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13787799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 smtClean="0"/>
              <a:t>처리상태</a:t>
            </a:r>
            <a:r>
              <a:rPr lang="ko-KR" altLang="en-US" dirty="0" smtClean="0"/>
              <a:t> 값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>
                <a:latin typeface="+mn-ea"/>
              </a:rPr>
              <a:t>전체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신청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접수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처리중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발급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반려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>
                <a:latin typeface="+mn-ea"/>
              </a:rPr>
              <a:t>보류</a:t>
            </a:r>
            <a:endParaRPr lang="ko-KR" altLang="en-US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>
                <a:latin typeface="+mn-ea"/>
              </a:rPr>
              <a:t>실적증명서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MUI-CM-04-P33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8089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760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0" name="그룹 69"/>
          <p:cNvGrpSpPr/>
          <p:nvPr/>
        </p:nvGrpSpPr>
        <p:grpSpPr>
          <a:xfrm>
            <a:off x="3140585" y="1650089"/>
            <a:ext cx="94010" cy="94010"/>
            <a:chOff x="6812560" y="3297172"/>
            <a:chExt cx="94010" cy="94010"/>
          </a:xfrm>
        </p:grpSpPr>
        <p:cxnSp>
          <p:nvCxnSpPr>
            <p:cNvPr id="71" name="직선 연결선 7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타원 72"/>
          <p:cNvSpPr/>
          <p:nvPr/>
        </p:nvSpPr>
        <p:spPr>
          <a:xfrm>
            <a:off x="277530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072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966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76" name="그룹 75"/>
          <p:cNvGrpSpPr/>
          <p:nvPr/>
        </p:nvGrpSpPr>
        <p:grpSpPr>
          <a:xfrm>
            <a:off x="677607" y="1974264"/>
            <a:ext cx="2712027" cy="797589"/>
            <a:chOff x="675399" y="3490553"/>
            <a:chExt cx="2712027" cy="797589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79" name="그룹 7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92" name="직선 연결선 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3" name="직선 연결선 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9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91" name="그림 9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8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82" name="그룹 8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8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8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8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86" name="그림 8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4" name="그룹 93"/>
          <p:cNvGrpSpPr/>
          <p:nvPr/>
        </p:nvGrpSpPr>
        <p:grpSpPr>
          <a:xfrm>
            <a:off x="680894" y="5614711"/>
            <a:ext cx="2712027" cy="617588"/>
            <a:chOff x="675399" y="5614711"/>
            <a:chExt cx="2712027" cy="617588"/>
          </a:xfrm>
        </p:grpSpPr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9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98" name="그룹 97"/>
          <p:cNvGrpSpPr/>
          <p:nvPr/>
        </p:nvGrpSpPr>
        <p:grpSpPr>
          <a:xfrm>
            <a:off x="680894" y="3581561"/>
            <a:ext cx="2712027" cy="505089"/>
            <a:chOff x="3795734" y="4353857"/>
            <a:chExt cx="2712027" cy="505089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100" name="그룹 9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107" name="직선 연결선 10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8" name="직선 연결선 10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1" name="모서리가 둥근 직사각형 10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3" name="그룹 10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105" name="직선 연결선 10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6" name="직선 연결선 10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788782" y="2893083"/>
            <a:ext cx="2516607" cy="467691"/>
            <a:chOff x="778515" y="4388257"/>
            <a:chExt cx="2516607" cy="467691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4" name="직선 연결선 1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5" name="직선 연결선 1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2" name="모서리가 둥근 직사각형 11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30" name="그룹 129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31" name="직사각형 130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2026-07-29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32" name="직사각형 13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진행상태 </a:t>
              </a:r>
              <a:r>
                <a:rPr lang="en-US" altLang="ko-KR" sz="700" dirty="0" smtClean="0">
                  <a:sym typeface="Wingdings" panose="05000000000000000000" pitchFamily="2" charset="2"/>
                </a:rPr>
                <a:t> </a:t>
              </a:r>
              <a:r>
                <a:rPr lang="ko-KR" altLang="en-US" sz="700" dirty="0" err="1" smtClean="0">
                  <a:sym typeface="Wingdings" panose="05000000000000000000" pitchFamily="2" charset="2"/>
                </a:rPr>
                <a:t>처리상태로</a:t>
              </a:r>
              <a:r>
                <a:rPr lang="ko-KR" altLang="en-US" sz="700" dirty="0" smtClean="0">
                  <a:sym typeface="Wingdings" panose="05000000000000000000" pitchFamily="2" charset="2"/>
                </a:rPr>
                <a:t> 변경</a:t>
              </a:r>
              <a:endParaRPr lang="ko-KR" altLang="en-US" sz="700" dirty="0"/>
            </a:p>
          </p:txBody>
        </p:sp>
      </p:grpSp>
      <p:sp>
        <p:nvSpPr>
          <p:cNvPr id="135" name="타원 1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50171" y="3759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24584951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3781194"/>
              </p:ext>
            </p:extLst>
          </p:nvPr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prcsStts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2157281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7079969"/>
              </p:ext>
            </p:extLst>
          </p:nvPr>
        </p:nvGraphicFramePr>
        <p:xfrm>
          <a:off x="452999" y="2441035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+mn-ea"/>
                        </a:rPr>
                        <a:t>ctrtNo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실적신청금액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prcsYmd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prgrsStcd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8DFB58E3-7D79-F186-0A97-7AE818C4DC2B}"/>
              </a:ext>
            </a:extLst>
          </p:cNvPr>
          <p:cNvSpPr txBox="1"/>
          <p:nvPr/>
        </p:nvSpPr>
        <p:spPr>
          <a:xfrm>
            <a:off x="460676" y="4869440"/>
            <a:ext cx="398563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dm_prfmncPrdocAplyBzentyInfo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C0F32E6-E72F-D829-812E-A5DD7D1444C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15319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주소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rgstrtIdntyYn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정상등록업체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(‘Y’)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bzstatCdNm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공통코드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CODE_IDEN = 'MBTC'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CE08BAD-60BD-D79C-6308-E11F16EC7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4" y="69182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5332946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248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29918" y="792636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604893"/>
              </p:ext>
            </p:extLst>
          </p:nvPr>
        </p:nvGraphicFramePr>
        <p:xfrm>
          <a:off x="429918" y="1022848"/>
          <a:ext cx="8995591" cy="1141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scwin.btn_prfmncPrdocAplyList_onclick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실적증명서 신청 목록을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scwin.grd_prfmncPrdocAplyList_oncellclick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확인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800" dirty="0" smtClean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내용이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261413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D5411A9-86B9-51C9-3795-C78FEC2B5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7493" y="85207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72152727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발급 상태에서만 </a:t>
            </a:r>
            <a:r>
              <a:rPr lang="ko-KR" altLang="en-US" dirty="0" smtClean="0"/>
              <a:t>하단 실적증명서 발급 버튼 </a:t>
            </a:r>
            <a:r>
              <a:rPr lang="ko-KR" altLang="en-US" dirty="0"/>
              <a:t>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저장 등 타 상태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문서는 </a:t>
            </a:r>
            <a:r>
              <a:rPr lang="en-US" altLang="ko-KR" dirty="0"/>
              <a:t>PDF </a:t>
            </a:r>
            <a:r>
              <a:rPr lang="ko-KR" altLang="en-US" dirty="0"/>
              <a:t>파일로 </a:t>
            </a:r>
            <a:r>
              <a:rPr lang="ko-KR" altLang="en-US" dirty="0" err="1"/>
              <a:t>진본성</a:t>
            </a:r>
            <a:r>
              <a:rPr lang="ko-KR" altLang="en-US" dirty="0"/>
              <a:t> 검사 대상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문서 세부 </a:t>
            </a:r>
            <a:r>
              <a:rPr lang="ko-KR" altLang="en-US" dirty="0" smtClean="0"/>
              <a:t>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더하기 버튼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저장 상태 </a:t>
            </a:r>
            <a:r>
              <a:rPr lang="ko-KR" altLang="en-US" dirty="0"/>
              <a:t>일 </a:t>
            </a:r>
            <a:r>
              <a:rPr lang="ko-KR" altLang="en-US" dirty="0" smtClean="0"/>
              <a:t>때</a:t>
            </a:r>
            <a:r>
              <a:rPr lang="en-US" altLang="ko-KR" dirty="0"/>
              <a:t> </a:t>
            </a:r>
            <a:r>
              <a:rPr lang="ko-KR" altLang="en-US" dirty="0" smtClean="0"/>
              <a:t>신청</a:t>
            </a:r>
            <a:r>
              <a:rPr lang="en-US" altLang="ko-KR" dirty="0" smtClean="0"/>
              <a:t>,</a:t>
            </a:r>
            <a:r>
              <a:rPr lang="ko-KR" altLang="en-US" dirty="0" smtClean="0"/>
              <a:t> 수정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 </a:t>
            </a:r>
            <a:r>
              <a:rPr lang="ko-KR" altLang="en-US" dirty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접수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처리중</a:t>
            </a:r>
            <a:r>
              <a:rPr lang="ko-KR" altLang="en-US" dirty="0" smtClean="0"/>
              <a:t> 일 때</a:t>
            </a:r>
            <a:r>
              <a:rPr lang="en-US" altLang="ko-KR" dirty="0" smtClean="0"/>
              <a:t> </a:t>
            </a:r>
            <a:r>
              <a:rPr lang="ko-KR" altLang="en-US" dirty="0" smtClean="0"/>
              <a:t>버튼 없음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발급 상태 </a:t>
            </a:r>
            <a:r>
              <a:rPr lang="ko-KR" altLang="en-US" dirty="0"/>
              <a:t>일 </a:t>
            </a:r>
            <a:r>
              <a:rPr lang="ko-KR" altLang="en-US" dirty="0" smtClean="0"/>
              <a:t>때</a:t>
            </a:r>
            <a:r>
              <a:rPr lang="en-US" altLang="ko-KR" dirty="0"/>
              <a:t> </a:t>
            </a:r>
            <a:r>
              <a:rPr lang="ko-KR" altLang="en-US" dirty="0"/>
              <a:t>발급</a:t>
            </a:r>
            <a:r>
              <a:rPr lang="en-US" altLang="ko-KR" dirty="0"/>
              <a:t>, </a:t>
            </a:r>
            <a:r>
              <a:rPr lang="ko-KR" altLang="en-US" dirty="0" smtClean="0"/>
              <a:t>제출 버튼 표시</a:t>
            </a:r>
            <a:r>
              <a:rPr lang="en-US" altLang="ko-KR" dirty="0" smtClean="0"/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제출 </a:t>
            </a:r>
            <a:r>
              <a:rPr lang="ko-KR" altLang="en-US" dirty="0" smtClean="0"/>
              <a:t>클릭 시 실적증명서 </a:t>
            </a:r>
            <a:r>
              <a:rPr lang="ko-KR" altLang="en-US" dirty="0"/>
              <a:t>제출 </a:t>
            </a:r>
            <a:r>
              <a:rPr lang="en-US" altLang="ko-KR" dirty="0"/>
              <a:t>(MUI-CM-04-P20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제출은 타 기관 온라인 </a:t>
            </a:r>
            <a:r>
              <a:rPr lang="ko-KR" altLang="en-US" dirty="0" err="1" smtClean="0"/>
              <a:t>제출임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발급은 </a:t>
            </a:r>
            <a:r>
              <a:rPr lang="en-US" altLang="ko-KR" dirty="0" smtClean="0"/>
              <a:t>OZ </a:t>
            </a:r>
            <a:r>
              <a:rPr lang="ko-KR" altLang="en-US" dirty="0" smtClean="0"/>
              <a:t>리포트</a:t>
            </a:r>
            <a:r>
              <a:rPr lang="en-US" altLang="ko-KR" dirty="0" smtClean="0"/>
              <a:t>, PDF </a:t>
            </a:r>
            <a:r>
              <a:rPr lang="ko-KR" altLang="en-US" dirty="0" smtClean="0"/>
              <a:t>뷰어 서류 출력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>
                <a:latin typeface="+mn-ea"/>
              </a:rPr>
              <a:t>발급기관이 </a:t>
            </a:r>
            <a:r>
              <a:rPr lang="ko-KR" altLang="en-US" dirty="0" err="1">
                <a:latin typeface="+mn-ea"/>
              </a:rPr>
              <a:t>부대일때는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 smtClean="0">
                <a:latin typeface="+mn-ea"/>
              </a:rPr>
              <a:t>pdfViewer</a:t>
            </a:r>
            <a:r>
              <a:rPr lang="ko-KR" altLang="en-US" dirty="0" smtClean="0">
                <a:latin typeface="+mn-ea"/>
              </a:rPr>
              <a:t>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반려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보류 상태일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삭제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삭제</a:t>
            </a:r>
            <a:r>
              <a:rPr lang="en-US" altLang="ko-KR" dirty="0" smtClean="0"/>
              <a:t> </a:t>
            </a:r>
            <a:r>
              <a:rPr lang="ko-KR" altLang="en-US" dirty="0"/>
              <a:t>클릭 시 확인 팝업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smtClean="0"/>
              <a:t>정말 </a:t>
            </a:r>
            <a:r>
              <a:rPr lang="ko-KR" altLang="en-US" dirty="0"/>
              <a:t>삭제하시겠습니까</a:t>
            </a:r>
            <a:r>
              <a:rPr lang="en-US" altLang="ko-KR" dirty="0"/>
              <a:t>? (N/Y)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공통 영역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실적증명서 </a:t>
            </a:r>
            <a:r>
              <a:rPr lang="ko-KR" altLang="en-US" sz="800" dirty="0" smtClean="0">
                <a:latin typeface="+mn-ea"/>
              </a:rPr>
              <a:t>확인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3154885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329269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329269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50929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9" name="타원 68"/>
          <p:cNvSpPr/>
          <p:nvPr/>
        </p:nvSpPr>
        <p:spPr>
          <a:xfrm>
            <a:off x="6596790" y="468520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룹 69"/>
          <p:cNvGrpSpPr/>
          <p:nvPr/>
        </p:nvGrpSpPr>
        <p:grpSpPr>
          <a:xfrm>
            <a:off x="6726256" y="4802272"/>
            <a:ext cx="124144" cy="148935"/>
            <a:chOff x="161606" y="5392781"/>
            <a:chExt cx="97885" cy="117432"/>
          </a:xfrm>
        </p:grpSpPr>
        <p:cxnSp>
          <p:nvCxnSpPr>
            <p:cNvPr id="71" name="직선 연결선 70"/>
            <p:cNvCxnSpPr/>
            <p:nvPr/>
          </p:nvCxnSpPr>
          <p:spPr>
            <a:xfrm flipV="1">
              <a:off x="163100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직선 연결선 71"/>
            <p:cNvCxnSpPr/>
            <p:nvPr/>
          </p:nvCxnSpPr>
          <p:spPr>
            <a:xfrm flipH="1" flipV="1">
              <a:off x="210105" y="5409099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3" name="직선 연결선 72"/>
            <p:cNvCxnSpPr/>
            <p:nvPr/>
          </p:nvCxnSpPr>
          <p:spPr>
            <a:xfrm>
              <a:off x="210549" y="541232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직선 연결선 73"/>
            <p:cNvCxnSpPr/>
            <p:nvPr/>
          </p:nvCxnSpPr>
          <p:spPr>
            <a:xfrm rot="16200000">
              <a:off x="210549" y="5343838"/>
              <a:ext cx="0" cy="9788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2503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0842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0842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50157" y="182503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3800816" y="1336107"/>
            <a:ext cx="24732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/>
              <a:t>스크롤 시 표시 영역 상단 달라붙음 처리 </a:t>
            </a:r>
            <a:r>
              <a:rPr lang="en-US" altLang="ko-KR" sz="700" dirty="0"/>
              <a:t>(sticky)</a:t>
            </a:r>
            <a:endParaRPr lang="ko-KR" altLang="en-US" sz="900" b="1" dirty="0"/>
          </a:p>
        </p:txBody>
      </p:sp>
      <p:sp>
        <p:nvSpPr>
          <p:cNvPr id="166" name="평행 사변형 165"/>
          <p:cNvSpPr/>
          <p:nvPr/>
        </p:nvSpPr>
        <p:spPr>
          <a:xfrm rot="16200000" flipH="1">
            <a:off x="2586144" y="2295212"/>
            <a:ext cx="2010878" cy="408308"/>
          </a:xfrm>
          <a:prstGeom prst="parallelogram">
            <a:avLst>
              <a:gd name="adj" fmla="val 397035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698190" y="44051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69" name="타원 168"/>
          <p:cNvSpPr/>
          <p:nvPr/>
        </p:nvSpPr>
        <p:spPr>
          <a:xfrm>
            <a:off x="6596790" y="5170451"/>
            <a:ext cx="383077" cy="383077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0" name="그룹 169"/>
          <p:cNvGrpSpPr/>
          <p:nvPr/>
        </p:nvGrpSpPr>
        <p:grpSpPr>
          <a:xfrm>
            <a:off x="6726257" y="5299917"/>
            <a:ext cx="124144" cy="124144"/>
            <a:chOff x="162544" y="5299917"/>
            <a:chExt cx="124144" cy="124144"/>
          </a:xfrm>
        </p:grpSpPr>
        <p:cxnSp>
          <p:nvCxnSpPr>
            <p:cNvPr id="171" name="직선 연결선 170"/>
            <p:cNvCxnSpPr/>
            <p:nvPr/>
          </p:nvCxnSpPr>
          <p:spPr>
            <a:xfrm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2" name="직선 연결선 171"/>
            <p:cNvCxnSpPr/>
            <p:nvPr/>
          </p:nvCxnSpPr>
          <p:spPr>
            <a:xfrm rot="16200000">
              <a:off x="224616" y="5299917"/>
              <a:ext cx="0" cy="124144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9" name="그룹 28"/>
          <p:cNvGrpSpPr/>
          <p:nvPr/>
        </p:nvGrpSpPr>
        <p:grpSpPr>
          <a:xfrm>
            <a:off x="675400" y="3615629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grpSp>
        <p:nvGrpSpPr>
          <p:cNvPr id="159" name="그룹 158"/>
          <p:cNvGrpSpPr/>
          <p:nvPr/>
        </p:nvGrpSpPr>
        <p:grpSpPr>
          <a:xfrm>
            <a:off x="781461" y="1974079"/>
            <a:ext cx="2473257" cy="1098561"/>
            <a:chOff x="781461" y="2610063"/>
            <a:chExt cx="2473257" cy="1098561"/>
          </a:xfrm>
        </p:grpSpPr>
        <p:sp>
          <p:nvSpPr>
            <p:cNvPr id="160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2025NC00179 </a:t>
              </a:r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161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54626"/>
              <a:ext cx="488916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실적 신청금액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발급기관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처리일자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162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661962" y="3139237"/>
              <a:ext cx="472950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2026-03-05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1526393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발급</a:t>
              </a:r>
            </a:p>
          </p:txBody>
        </p:sp>
      </p:grpSp>
      <p:grpSp>
        <p:nvGrpSpPr>
          <p:cNvPr id="193" name="그룹 192"/>
          <p:cNvGrpSpPr/>
          <p:nvPr/>
        </p:nvGrpSpPr>
        <p:grpSpPr>
          <a:xfrm>
            <a:off x="3795735" y="1915960"/>
            <a:ext cx="2712026" cy="2504309"/>
            <a:chOff x="675400" y="3615629"/>
            <a:chExt cx="2712026" cy="2504309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5" name="그룹 194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220" name="직선 연결선 2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1" name="직선 연결선 2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6" name="직사각형 195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05" name="그룹 204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207" name="그룹 206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18" name="직선 연결선 217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9" name="직선 연결선 218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08" name="직선 연결선 20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09" name="직선 연결선 20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10" name="모서리가 둥근 직사각형 20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11" name="그룹 21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212" name="TextBox 21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3" name="TextBox 21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4" name="TextBox 21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6" name="TextBox 21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085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23376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6804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252742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smtClean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실적증명서 발급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4988270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문서 </a:t>
            </a:r>
            <a:r>
              <a:rPr lang="ko-KR" altLang="en-US" dirty="0"/>
              <a:t>세부 </a:t>
            </a:r>
            <a:r>
              <a:rPr lang="ko-KR" altLang="en-US" dirty="0" smtClean="0"/>
              <a:t>탭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내역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기관</a:t>
            </a:r>
            <a:r>
              <a:rPr lang="en-US" altLang="ko-KR" dirty="0"/>
              <a:t>, </a:t>
            </a:r>
            <a:r>
              <a:rPr lang="ko-KR" altLang="en-US" dirty="0"/>
              <a:t>계약에 따라 </a:t>
            </a:r>
            <a:r>
              <a:rPr lang="ko-KR" altLang="en-US" dirty="0" err="1"/>
              <a:t>세부정보</a:t>
            </a:r>
            <a:r>
              <a:rPr lang="en-US" altLang="ko-KR" dirty="0"/>
              <a:t>(</a:t>
            </a:r>
            <a:r>
              <a:rPr lang="ko-KR" altLang="en-US" dirty="0" err="1"/>
              <a:t>신청정보</a:t>
            </a:r>
            <a:r>
              <a:rPr lang="en-US" altLang="ko-KR" dirty="0"/>
              <a:t>)</a:t>
            </a:r>
            <a:r>
              <a:rPr lang="ko-KR" altLang="en-US" dirty="0"/>
              <a:t>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 smtClean="0"/>
              <a:t>아닐때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</a:t>
            </a:r>
            <a:r>
              <a:rPr lang="ko-KR" altLang="en-US" dirty="0" smtClean="0">
                <a:latin typeface="+mn-ea"/>
              </a:rPr>
              <a:t>확인</a:t>
            </a:r>
            <a:r>
              <a:rPr lang="en-US" altLang="ko-KR" dirty="0" smtClean="0">
                <a:latin typeface="+mn-ea"/>
              </a:rPr>
              <a:t>(</a:t>
            </a:r>
            <a:r>
              <a:rPr lang="ko-KR" altLang="en-US" dirty="0" smtClean="0">
                <a:latin typeface="+mn-ea"/>
              </a:rPr>
              <a:t>상세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 </a:t>
            </a:r>
            <a:r>
              <a:rPr lang="ko-KR" altLang="en-US" dirty="0">
                <a:latin typeface="+mn-ea"/>
              </a:rPr>
              <a:t>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MUI-CM-04-T01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75399" y="1495397"/>
            <a:ext cx="2712027" cy="354413"/>
            <a:chOff x="720490" y="3853802"/>
            <a:chExt cx="2621844" cy="354413"/>
          </a:xfrm>
        </p:grpSpPr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853802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0821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1633203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계약정보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1633203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신청정보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1849810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9" name="그룹 28"/>
          <p:cNvGrpSpPr/>
          <p:nvPr/>
        </p:nvGrpSpPr>
        <p:grpSpPr>
          <a:xfrm>
            <a:off x="675400" y="1956141"/>
            <a:ext cx="2712026" cy="2504309"/>
            <a:chOff x="675400" y="3615629"/>
            <a:chExt cx="2712026" cy="250430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61562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3728960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3923114"/>
              <a:ext cx="792000" cy="10859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23114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923114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차수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계약구분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계약건명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대표물품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발주기관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923114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98765432101(00)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물품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휴지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5421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67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58163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7953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0904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675400" y="5085365"/>
              <a:ext cx="2712026" cy="1034573"/>
              <a:chOff x="675400" y="2441260"/>
              <a:chExt cx="2712026" cy="103457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757745" y="2576379"/>
                <a:ext cx="728875" cy="18114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200000"/>
                  </a:lnSpc>
                </a:pPr>
                <a:r>
                  <a:rPr lang="ko-KR" altLang="en-US" sz="700" spc="-52" dirty="0" err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계약담당관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 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(</a:t>
                </a:r>
                <a:r>
                  <a:rPr lang="ko-KR" altLang="en-US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연락처</a:t>
                </a:r>
                <a:r>
                  <a:rPr lang="en-US" altLang="ko-KR" sz="700" spc="-52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anose="020B0503020000020004" pitchFamily="50" charset="-127"/>
                  </a:rPr>
                  <a:t>)</a:t>
                </a:r>
                <a:endParaRPr lang="ko-KR" altLang="en-US" sz="700" dirty="0">
                  <a:latin typeface="+mn-ea"/>
                </a:endParaRPr>
              </a:p>
            </p:txBody>
          </p:sp>
          <p:grpSp>
            <p:nvGrpSpPr>
              <p:cNvPr id="175" name="그룹 174"/>
              <p:cNvGrpSpPr/>
              <p:nvPr/>
            </p:nvGrpSpPr>
            <p:grpSpPr>
              <a:xfrm flipV="1">
                <a:off x="3119832" y="2689710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6" name="직선 연결선 175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직선 연결선 176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직선 연결선 17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2441260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79" name="직선 연결선 178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75400" y="3475833"/>
                <a:ext cx="2712026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180" name="모서리가 둥근 직사각형 179"/>
              <p:cNvSpPr/>
              <p:nvPr/>
            </p:nvSpPr>
            <p:spPr>
              <a:xfrm>
                <a:off x="705042" y="3048695"/>
                <a:ext cx="2652743" cy="344810"/>
              </a:xfrm>
              <a:prstGeom prst="roundRect">
                <a:avLst>
                  <a:gd name="adj" fmla="val 9062"/>
                </a:avLst>
              </a:prstGeom>
              <a:no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1" name="그룹 180"/>
              <p:cNvGrpSpPr/>
              <p:nvPr/>
            </p:nvGrpSpPr>
            <p:grpSpPr>
              <a:xfrm>
                <a:off x="854871" y="2888603"/>
                <a:ext cx="2353084" cy="386358"/>
                <a:chOff x="854511" y="2888603"/>
                <a:chExt cx="2353084" cy="386358"/>
              </a:xfrm>
            </p:grpSpPr>
            <p:sp>
              <p:nvSpPr>
                <p:cNvPr id="182" name="TextBox 181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기관 부서명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담당자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2888603"/>
                  <a:ext cx="493904" cy="9233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연락처</a:t>
                  </a:r>
                  <a:endParaRPr lang="en-US" altLang="ko-KR" sz="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5" name="TextBox 184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854511" y="3167239"/>
                  <a:ext cx="49390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방위사업청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6" name="TextBox 185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1647519" y="3167239"/>
                  <a:ext cx="638280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대령</a:t>
                  </a:r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/</a:t>
                  </a:r>
                  <a:r>
                    <a:rPr lang="ko-KR" altLang="en-US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운영자</a:t>
                  </a:r>
                  <a:endParaRPr lang="en-US" altLang="ko-KR" sz="7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 panose="020B0503020000020004" pitchFamily="50" charset="-127"/>
                  </a:endParaRPr>
                </a:p>
              </p:txBody>
            </p:sp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FFC49AEA-2A8F-250C-A86A-A7751D9706C3}"/>
                    </a:ext>
                  </a:extLst>
                </p:cNvPr>
                <p:cNvSpPr txBox="1"/>
                <p:nvPr/>
              </p:nvSpPr>
              <p:spPr>
                <a:xfrm>
                  <a:off x="2560081" y="3167239"/>
                  <a:ext cx="647514" cy="10772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altLang="ko-KR" sz="7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맑은 고딕" panose="020B0503020000020004" pitchFamily="50" charset="-127"/>
                    </a:rPr>
                    <a:t>02-1234-5678</a:t>
                  </a:r>
                </a:p>
              </p:txBody>
            </p:sp>
          </p:grpSp>
        </p:grpSp>
      </p:grpSp>
      <p:sp>
        <p:nvSpPr>
          <p:cNvPr id="68" name="타원 6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7427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1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991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410741294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 정보에 따라 세부정보표시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실적증명서 신청과 동일하게 크게 </a:t>
            </a:r>
            <a:r>
              <a:rPr lang="en-US" altLang="ko-KR" dirty="0"/>
              <a:t>3</a:t>
            </a:r>
            <a:r>
              <a:rPr lang="ko-KR" altLang="en-US" dirty="0"/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시설공사일때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ko-KR" altLang="en-US" dirty="0" err="1"/>
              <a:t>부대면서</a:t>
            </a:r>
            <a:r>
              <a:rPr lang="ko-KR" altLang="en-US" dirty="0"/>
              <a:t> 시설공사 </a:t>
            </a:r>
            <a:r>
              <a:rPr lang="ko-KR" altLang="en-US" dirty="0" err="1"/>
              <a:t>아닐때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 목적에 따라 </a:t>
            </a:r>
            <a:r>
              <a:rPr lang="ko-KR" altLang="en-US" dirty="0" err="1"/>
              <a:t>세부정보</a:t>
            </a:r>
            <a:r>
              <a:rPr lang="ko-KR" altLang="en-US" dirty="0"/>
              <a:t> 표시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신청정보는</a:t>
            </a:r>
            <a:r>
              <a:rPr lang="ko-KR" altLang="en-US" dirty="0"/>
              <a:t> 공통 사항</a:t>
            </a:r>
            <a:r>
              <a:rPr lang="en-US" altLang="ko-KR" dirty="0"/>
              <a:t>, </a:t>
            </a:r>
            <a:r>
              <a:rPr lang="ko-KR" altLang="en-US" dirty="0"/>
              <a:t>모두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err="1"/>
              <a:t>세부정보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다름에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MUI-CM-04-T02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03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373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373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034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675400" y="1974254"/>
            <a:ext cx="2712026" cy="1252381"/>
            <a:chOff x="675400" y="2590223"/>
            <a:chExt cx="2712026" cy="12523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29" name="TextBox 2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4254"/>
            <a:ext cx="45225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세부정보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30" name="그룹 229"/>
          <p:cNvGrpSpPr/>
          <p:nvPr/>
        </p:nvGrpSpPr>
        <p:grpSpPr>
          <a:xfrm flipV="1">
            <a:off x="6259759" y="2087585"/>
            <a:ext cx="94010" cy="47005"/>
            <a:chOff x="6812560" y="3297172"/>
            <a:chExt cx="94010" cy="47005"/>
          </a:xfrm>
        </p:grpSpPr>
        <p:cxnSp>
          <p:nvCxnSpPr>
            <p:cNvPr id="244" name="직선 연결선 24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5" name="직선 연결선 24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1" name="직사각형 230"/>
          <p:cNvSpPr/>
          <p:nvPr/>
        </p:nvSpPr>
        <p:spPr>
          <a:xfrm>
            <a:off x="3838794" y="2281740"/>
            <a:ext cx="792000" cy="32190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173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1739"/>
            <a:ext cx="792000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 err="1">
                <a:latin typeface="+mn-ea"/>
              </a:rPr>
              <a:t>지출년도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납품발급금액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착수금발급금액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중도금신청금액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중고금발급금액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정산신청금액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정산발급금액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보증보험번호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확인요청사항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1739"/>
            <a:ext cx="1784088" cy="32316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 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처리사유</a:t>
            </a:r>
            <a:r>
              <a:rPr lang="ko-KR" altLang="en-US" sz="700" dirty="0">
                <a:latin typeface="+mn-ea"/>
              </a:rPr>
              <a:t> 표시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1,000,000 </a:t>
            </a:r>
            <a:r>
              <a:rPr lang="ko-KR" altLang="en-US" sz="700" dirty="0">
                <a:latin typeface="+mn-ea"/>
              </a:rPr>
              <a:t>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1234567890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없음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2026-02-02</a:t>
            </a:r>
          </a:p>
        </p:txBody>
      </p: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28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65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025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396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145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751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1" name="직선 연결선 24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8887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2" name="직선 연결선 24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57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9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6" name="직선 연결선 2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2530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327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465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9" name="직선 연결선 2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0602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2739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1" name="직선 연결선 25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550078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모서리가 둥근 직사각형 24"/>
          <p:cNvSpPr/>
          <p:nvPr/>
        </p:nvSpPr>
        <p:spPr>
          <a:xfrm>
            <a:off x="3577373" y="288168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3-1</a:t>
            </a:r>
            <a:endParaRPr lang="ko-KR" altLang="en-US" sz="900" b="1" dirty="0"/>
          </a:p>
        </p:txBody>
      </p:sp>
      <p:sp>
        <p:nvSpPr>
          <p:cNvPr id="254" name="모서리가 둥근 직사각형 253"/>
          <p:cNvSpPr/>
          <p:nvPr/>
        </p:nvSpPr>
        <p:spPr>
          <a:xfrm>
            <a:off x="3577373" y="331593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3-2</a:t>
            </a:r>
            <a:endParaRPr lang="ko-KR" altLang="en-US" sz="900" b="1" dirty="0"/>
          </a:p>
        </p:txBody>
      </p:sp>
      <p:sp>
        <p:nvSpPr>
          <p:cNvPr id="255" name="모서리가 둥근 직사각형 254"/>
          <p:cNvSpPr/>
          <p:nvPr/>
        </p:nvSpPr>
        <p:spPr>
          <a:xfrm>
            <a:off x="3577373" y="375155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3-3</a:t>
            </a:r>
            <a:endParaRPr lang="ko-KR" altLang="en-US" sz="900" b="1" dirty="0"/>
          </a:p>
        </p:txBody>
      </p:sp>
      <p:sp>
        <p:nvSpPr>
          <p:cNvPr id="256" name="모서리가 둥근 직사각형 255"/>
          <p:cNvSpPr/>
          <p:nvPr/>
        </p:nvSpPr>
        <p:spPr>
          <a:xfrm>
            <a:off x="3577373" y="4150679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3-4</a:t>
            </a:r>
            <a:endParaRPr lang="ko-KR" altLang="en-US" sz="900" b="1" dirty="0"/>
          </a:p>
        </p:txBody>
      </p:sp>
      <p:sp>
        <p:nvSpPr>
          <p:cNvPr id="257" name="모서리가 둥근 직사각형 256"/>
          <p:cNvSpPr/>
          <p:nvPr/>
        </p:nvSpPr>
        <p:spPr>
          <a:xfrm>
            <a:off x="3577373" y="458832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3-5</a:t>
            </a:r>
            <a:endParaRPr lang="ko-KR" altLang="en-US" sz="900" b="1" dirty="0"/>
          </a:p>
        </p:txBody>
      </p:sp>
      <p:sp>
        <p:nvSpPr>
          <p:cNvPr id="258" name="모서리가 둥근 직사각형 257"/>
          <p:cNvSpPr/>
          <p:nvPr/>
        </p:nvSpPr>
        <p:spPr>
          <a:xfrm>
            <a:off x="3577373" y="4998885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3-6</a:t>
            </a:r>
            <a:endParaRPr lang="ko-KR" altLang="en-US" sz="900" b="1" dirty="0"/>
          </a:p>
        </p:txBody>
      </p:sp>
      <p:sp>
        <p:nvSpPr>
          <p:cNvPr id="259" name="모서리가 둥근 직사각형 258"/>
          <p:cNvSpPr/>
          <p:nvPr/>
        </p:nvSpPr>
        <p:spPr>
          <a:xfrm>
            <a:off x="3577373" y="531181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3-7</a:t>
            </a:r>
            <a:endParaRPr lang="ko-KR" altLang="en-US" sz="900" b="1" dirty="0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1802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683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0304" y="204621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716557683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77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284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6241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6241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2848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63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6757"/>
            <a:ext cx="2630093" cy="1611734"/>
            <a:chOff x="720490" y="3930133"/>
            <a:chExt cx="2630093" cy="16117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7749"/>
            <a:ext cx="2630093" cy="1389048"/>
            <a:chOff x="720490" y="2590223"/>
            <a:chExt cx="2630093" cy="1389048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12" name="그룹 111"/>
          <p:cNvGrpSpPr/>
          <p:nvPr/>
        </p:nvGrpSpPr>
        <p:grpSpPr>
          <a:xfrm>
            <a:off x="3836701" y="3756468"/>
            <a:ext cx="2630093" cy="1611734"/>
            <a:chOff x="720490" y="3930133"/>
            <a:chExt cx="2630093" cy="1611734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4" name="그룹 113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직사각형 114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2016-01-02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6757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32544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1. </a:t>
              </a:r>
              <a:r>
                <a:rPr lang="ko-KR" altLang="en-US" sz="700" dirty="0">
                  <a:latin typeface="+mn-ea"/>
                </a:rPr>
                <a:t>시공실적증명서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 err="1">
                  <a:latin typeface="+mn-ea"/>
                </a:rPr>
                <a:t>군시설공사</a:t>
              </a:r>
              <a:r>
                <a:rPr lang="ko-KR" altLang="en-US" sz="700" dirty="0">
                  <a:latin typeface="+mn-ea"/>
                </a:rPr>
                <a:t> 적격심사기준에 관한 훈령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국방부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436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63973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61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07" y="200993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72379393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504598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" name="그룹 2"/>
          <p:cNvGrpSpPr/>
          <p:nvPr/>
        </p:nvGrpSpPr>
        <p:grpSpPr>
          <a:xfrm>
            <a:off x="716366" y="1965600"/>
            <a:ext cx="2630093" cy="1904757"/>
            <a:chOff x="1108393" y="2993988"/>
            <a:chExt cx="2630093" cy="1904757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32" name="그룹 131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148" name="직선 연결선 1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2" name="직선 연결선 15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6" name="직사각형 135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54" name="그룹 153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60" name="직사각형 159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직사각형 160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직사각형 162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4" name="TextBox 163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73" name="그룹 17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175" name="직사각형 174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직사각형 175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9" name="직사각형 178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직사각형 179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243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716366" y="4025856"/>
            <a:ext cx="2630093" cy="957295"/>
            <a:chOff x="716366" y="4635456"/>
            <a:chExt cx="2630093" cy="957295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188" name="직선 연결선 1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5" name="직사각형 144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6" name="그룹 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198" name="그룹 19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199" name="타원 19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8" name="타원 207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9" name="타원 208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931053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" name="그룹 4"/>
          <p:cNvGrpSpPr/>
          <p:nvPr/>
        </p:nvGrpSpPr>
        <p:grpSpPr>
          <a:xfrm>
            <a:off x="3836701" y="1965600"/>
            <a:ext cx="2630093" cy="2026729"/>
            <a:chOff x="3836701" y="2575200"/>
            <a:chExt cx="2630093" cy="2026729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27" name="그룹 226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248" name="직선 연결선 24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9" name="직선 연결선 24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8" name="직사각형 227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37" name="직사각형 236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8" name="직사각형 237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9" name="직사각형 238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0" name="TextBox 239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41" name="직사각형 240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2" name="직사각형 241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직사각형 249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1" name="직사각형 250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3" name="직사각형 252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4" name="직사각형 253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5" name="직사각형 254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291737065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675400" y="1972911"/>
            <a:ext cx="2712026" cy="1870687"/>
            <a:chOff x="675400" y="2590223"/>
            <a:chExt cx="2712026" cy="1870687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4" name="직사각형 123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" name="그룹 4"/>
          <p:cNvGrpSpPr/>
          <p:nvPr/>
        </p:nvGrpSpPr>
        <p:grpSpPr>
          <a:xfrm>
            <a:off x="675400" y="3872472"/>
            <a:ext cx="2712026" cy="1888105"/>
            <a:chOff x="675400" y="4489784"/>
            <a:chExt cx="2712026" cy="1888105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797269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111-22-33333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박길동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8" name="그룹 7"/>
          <p:cNvGrpSpPr/>
          <p:nvPr/>
        </p:nvGrpSpPr>
        <p:grpSpPr>
          <a:xfrm>
            <a:off x="3795734" y="1972911"/>
            <a:ext cx="2712026" cy="1888105"/>
            <a:chOff x="3832578" y="3081088"/>
            <a:chExt cx="2712026" cy="188810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388573"/>
              <a:ext cx="1784088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222-33-44444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김길동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 </a:t>
              </a:r>
              <a:r>
                <a:rPr lang="ko-KR" altLang="en-US" sz="700" dirty="0" err="1">
                  <a:latin typeface="+mn-ea"/>
                </a:rPr>
                <a:t>지분율</a:t>
              </a:r>
              <a:r>
                <a:rPr lang="en-US" altLang="ko-KR" sz="700" dirty="0">
                  <a:latin typeface="+mn-ea"/>
                </a:rPr>
                <a:t>: 00%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1649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3795734" y="3967975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3795734" y="4864603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399584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87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105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1830" y="48832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20523183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8" name="그룹 7"/>
          <p:cNvGrpSpPr/>
          <p:nvPr/>
        </p:nvGrpSpPr>
        <p:grpSpPr>
          <a:xfrm>
            <a:off x="3795734" y="1980623"/>
            <a:ext cx="2712026" cy="894831"/>
            <a:chOff x="3832578" y="3081088"/>
            <a:chExt cx="2712026" cy="894831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217" name="그룹 216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18" name="직선 연결선 21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9" name="직선 연결선 21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" name="그룹 8"/>
          <p:cNvGrpSpPr/>
          <p:nvPr/>
        </p:nvGrpSpPr>
        <p:grpSpPr>
          <a:xfrm>
            <a:off x="675399" y="1976704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3" name="그룹 262"/>
          <p:cNvGrpSpPr/>
          <p:nvPr/>
        </p:nvGrpSpPr>
        <p:grpSpPr>
          <a:xfrm>
            <a:off x="675399" y="2873332"/>
            <a:ext cx="2712027" cy="789495"/>
            <a:chOff x="675399" y="1544009"/>
            <a:chExt cx="2712027" cy="789495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5" name="그룹 26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9" name="직선 연결선 26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0" name="직선 연결선 26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9" name="그룹 108"/>
          <p:cNvGrpSpPr/>
          <p:nvPr/>
        </p:nvGrpSpPr>
        <p:grpSpPr>
          <a:xfrm>
            <a:off x="675399" y="3773782"/>
            <a:ext cx="2712027" cy="789495"/>
            <a:chOff x="675399" y="1544009"/>
            <a:chExt cx="2712027" cy="789495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1" name="그룹 11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15" name="직선 연결선 11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6" name="직선 연결선 11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/>
          <p:cNvGrpSpPr/>
          <p:nvPr/>
        </p:nvGrpSpPr>
        <p:grpSpPr>
          <a:xfrm>
            <a:off x="3795734" y="2983573"/>
            <a:ext cx="2712026" cy="894831"/>
            <a:chOff x="3832578" y="3081088"/>
            <a:chExt cx="2712026" cy="894831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23" name="그룹 122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44" name="직선 연결선 14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직선 연결선 14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9" name="직사각형 128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7" name="직선 연결선 1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46" name="그룹 145"/>
          <p:cNvGrpSpPr/>
          <p:nvPr/>
        </p:nvGrpSpPr>
        <p:grpSpPr>
          <a:xfrm>
            <a:off x="3795734" y="3977663"/>
            <a:ext cx="2712026" cy="894831"/>
            <a:chOff x="3832578" y="3081088"/>
            <a:chExt cx="2712026" cy="89483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221221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OOOO </a:t>
              </a:r>
              <a:r>
                <a:rPr lang="ko-KR" altLang="en-US" sz="700" dirty="0">
                  <a:latin typeface="+mn-ea"/>
                </a:rPr>
                <a:t>명칭 표시</a:t>
              </a:r>
            </a:p>
          </p:txBody>
        </p:sp>
        <p:grpSp>
          <p:nvGrpSpPr>
            <p:cNvPr id="148" name="그룹 147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2" name="직사각형 151"/>
            <p:cNvSpPr/>
            <p:nvPr/>
          </p:nvSpPr>
          <p:spPr>
            <a:xfrm>
              <a:off x="3879761" y="3388574"/>
              <a:ext cx="792000" cy="54010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42340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477270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업체 </a:t>
              </a:r>
              <a:r>
                <a:rPr lang="en-US" altLang="ko-KR" sz="700" dirty="0">
                  <a:latin typeface="+mn-ea"/>
                </a:rPr>
                <a:t>2</a:t>
              </a:r>
              <a:r>
                <a:rPr lang="ko-KR" altLang="en-US" sz="700" dirty="0">
                  <a:latin typeface="+mn-ea"/>
                </a:rPr>
                <a:t>명칭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714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9286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397591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69408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723673" y="3747946"/>
              <a:ext cx="1784088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1,000,000 </a:t>
              </a:r>
              <a:r>
                <a:rPr lang="ko-KR" altLang="en-US" sz="700" dirty="0">
                  <a:latin typeface="+mn-ea"/>
                </a:rPr>
                <a:t>원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3795734" y="4981063"/>
            <a:ext cx="2712027" cy="606800"/>
            <a:chOff x="675399" y="1544009"/>
            <a:chExt cx="2712027" cy="606800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5" name="그룹 17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150809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63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20071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909" y="502096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01098026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정보가 없는 경우 빈칸을 노출하지 않고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MUI-CM-04-T03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96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19" name="그룹 118"/>
          <p:cNvGrpSpPr/>
          <p:nvPr/>
        </p:nvGrpSpPr>
        <p:grpSpPr>
          <a:xfrm>
            <a:off x="720490" y="1980621"/>
            <a:ext cx="2630093" cy="2031034"/>
            <a:chOff x="720490" y="2590223"/>
            <a:chExt cx="2630093" cy="2031034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24" name="그룹 12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1" name="직선 연결선 1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2" name="직선 연결선 1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5" name="직사각형 124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kumimoji="1" lang="ko-KR" altLang="en-US" sz="700" spc="-6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Verdana" panose="020B0604030504040204" pitchFamily="34" charset="0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트럭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시간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없음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0" name="직선 연결선 1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65793"/>
            <a:ext cx="76863" cy="292489"/>
            <a:chOff x="3750067" y="4683795"/>
            <a:chExt cx="76863" cy="292489"/>
          </a:xfrm>
        </p:grpSpPr>
        <p:sp>
          <p:nvSpPr>
            <p:cNvPr id="185" name="타원 18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9279289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MUI-CM-04-T04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1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5703"/>
            <a:ext cx="2630093" cy="2246477"/>
            <a:chOff x="720490" y="3930133"/>
            <a:chExt cx="2630093" cy="2246477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신설공사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도로터널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69017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제조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3.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6043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938567780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MUI-CM-04-T04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7" y="1980623"/>
            <a:ext cx="2630093" cy="2682044"/>
            <a:chOff x="720490" y="3930133"/>
            <a:chExt cx="2630093" cy="268204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200 </a:t>
              </a:r>
              <a:r>
                <a:rPr lang="ko-KR" altLang="en-US" sz="700" dirty="0">
                  <a:latin typeface="+mn-ea"/>
                </a:rPr>
                <a:t>백만원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2" name="직선 연결선 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1438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4399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26188"/>
            <a:ext cx="76863" cy="292489"/>
            <a:chOff x="3750067" y="4683795"/>
            <a:chExt cx="76863" cy="292489"/>
          </a:xfrm>
        </p:grpSpPr>
        <p:sp>
          <p:nvSpPr>
            <p:cNvPr id="96" name="타원 95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7" name="타원 96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2" name="그룹 51"/>
          <p:cNvGrpSpPr/>
          <p:nvPr/>
        </p:nvGrpSpPr>
        <p:grpSpPr>
          <a:xfrm>
            <a:off x="3795734" y="1980623"/>
            <a:ext cx="2712027" cy="789495"/>
            <a:chOff x="675399" y="1544009"/>
            <a:chExt cx="2712027" cy="78949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8" name="직선 연결선 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9" name="직선 연결선 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</p:spTree>
    <p:extLst>
      <p:ext uri="{BB962C8B-B14F-4D97-AF65-F5344CB8AC3E}">
        <p14:creationId xmlns:p14="http://schemas.microsoft.com/office/powerpoint/2010/main" val="3620228628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MUI-CM-04-T05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866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37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713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713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373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72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3836701" y="1977646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8638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11111 11111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은행 제출용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764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4.</a:t>
              </a:r>
              <a:r>
                <a:rPr lang="ko-KR" altLang="en-US" sz="700" dirty="0" err="1">
                  <a:latin typeface="+mn-ea"/>
                </a:rPr>
                <a:t>건설폐기물처리용역이행</a:t>
              </a:r>
              <a:r>
                <a:rPr lang="ko-KR" altLang="en-US" sz="700" dirty="0">
                  <a:latin typeface="+mn-ea"/>
                </a:rPr>
                <a:t>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건설폐기물처리용역 </a:t>
              </a:r>
              <a:r>
                <a:rPr lang="ko-KR" altLang="en-US" sz="700" dirty="0" err="1">
                  <a:latin typeface="+mn-ea"/>
                </a:rPr>
                <a:t>적격업체</a:t>
              </a:r>
              <a:r>
                <a:rPr lang="ko-KR" altLang="en-US" sz="700" dirty="0">
                  <a:latin typeface="+mn-ea"/>
                </a:rPr>
                <a:t> 평가기준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환경부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524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67510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70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84605187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MUI-CM-04-T05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3" name="그룹 22"/>
          <p:cNvGrpSpPr/>
          <p:nvPr/>
        </p:nvGrpSpPr>
        <p:grpSpPr>
          <a:xfrm>
            <a:off x="716366" y="1980623"/>
            <a:ext cx="2630093" cy="2031034"/>
            <a:chOff x="720490" y="3930133"/>
            <a:chExt cx="2630093" cy="2031034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2023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423761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 건설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2010-01-10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2012-01-10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건전지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톤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10,000 </a:t>
              </a:r>
              <a:r>
                <a:rPr lang="ko-KR" altLang="en-US" sz="700" dirty="0">
                  <a:latin typeface="+mn-ea"/>
                </a:rPr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-</a:t>
              </a: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07048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58213171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MUI-CM-04-T06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8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89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290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290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897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43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806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4137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292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291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291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전년도 </a:t>
            </a:r>
            <a:r>
              <a:rPr lang="ko-KR" altLang="en-US" sz="700" dirty="0" err="1">
                <a:latin typeface="+mn-ea"/>
              </a:rPr>
              <a:t>이월공사액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계약액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미기성액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 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291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10,000 </a:t>
            </a:r>
            <a:r>
              <a:rPr lang="ko-KR" altLang="en-US" sz="700" dirty="0">
                <a:latin typeface="+mn-ea"/>
              </a:rPr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3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3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80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5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24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73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798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806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6.</a:t>
              </a:r>
              <a:r>
                <a:rPr lang="ko-KR" altLang="en-US" sz="700" dirty="0">
                  <a:latin typeface="+mn-ea"/>
                </a:rPr>
                <a:t>정보통신공사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정보통신공사업법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전기공제조합</a:t>
              </a:r>
              <a:r>
                <a:rPr lang="en-US" altLang="ko-KR" sz="700" dirty="0">
                  <a:latin typeface="+mn-ea"/>
                </a:rPr>
                <a:t>] 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4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096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21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5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95294745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MUI-CM-04-T07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3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소방시설 </a:t>
            </a: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9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8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업종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공사지역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착공일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준공일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8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업종 </a:t>
            </a:r>
            <a:r>
              <a:rPr lang="ko-KR" altLang="en-US" sz="700" dirty="0" err="1"/>
              <a:t>표시영역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정부청사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군부대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제한경쟁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경보설비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2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5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3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7.</a:t>
              </a:r>
              <a:r>
                <a:rPr lang="ko-KR" altLang="en-US" sz="700" dirty="0">
                  <a:latin typeface="+mn-ea"/>
                </a:rPr>
                <a:t>소방시설공사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소방시설공사업법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소방시설협회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4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9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612541886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MUI-CM-04-T07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3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3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5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15654740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4025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8062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전기 공사 내역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9395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8107"/>
            <a:ext cx="792000" cy="25853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810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8106"/>
            <a:ext cx="792000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공사종류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공사현장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발주자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등록번호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 err="1">
                <a:latin typeface="+mn-ea"/>
              </a:rPr>
              <a:t>원도급자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계약체결일자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계약방법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도급종류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8106"/>
            <a:ext cx="1784088" cy="258532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발전설비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김길동</a:t>
            </a:r>
            <a:r>
              <a:rPr lang="ko-KR" altLang="en-US" sz="700" dirty="0"/>
              <a:t> </a:t>
            </a:r>
            <a:r>
              <a:rPr lang="ko-KR" altLang="en-US" sz="700" dirty="0" err="1"/>
              <a:t>주무관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111111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2012-01-01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일반경쟁입찰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원도급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921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329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66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6033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782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9235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80006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755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31613"/>
            <a:ext cx="2630093" cy="1393412"/>
            <a:chOff x="720490" y="2590223"/>
            <a:chExt cx="2630093" cy="139341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8062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8.</a:t>
              </a:r>
              <a:r>
                <a:rPr lang="ko-KR" altLang="en-US" sz="700" dirty="0">
                  <a:latin typeface="+mn-ea"/>
                </a:rPr>
                <a:t>전기공사 실적증명서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전기공사업법 시행에 관한 규정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전기공사협회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82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92392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600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2035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444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519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86478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238417615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75399" y="1980622"/>
            <a:ext cx="2712026" cy="2316283"/>
            <a:chOff x="675399" y="2590223"/>
            <a:chExt cx="2712026" cy="2316283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2" name="그룹 91"/>
          <p:cNvGrpSpPr/>
          <p:nvPr/>
        </p:nvGrpSpPr>
        <p:grpSpPr>
          <a:xfrm>
            <a:off x="3795735" y="1980622"/>
            <a:ext cx="2712026" cy="2142112"/>
            <a:chOff x="675399" y="2590223"/>
            <a:chExt cx="2712026" cy="2142112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94" name="그룹 93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19" name="직선 연결선 11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0" name="직선 연결선 11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직사각형 94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/>
                <a:t>홍길동</a:t>
              </a:r>
              <a:endParaRPr lang="en-US" altLang="ko-KR" sz="700" dirty="0"/>
            </a:p>
          </p:txBody>
        </p:sp>
        <p:cxnSp>
          <p:nvCxnSpPr>
            <p:cNvPr id="99" name="직선 연결선 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0" name="직선 연결선 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1" name="직선 연결선 1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48034"/>
            <a:ext cx="76863" cy="292489"/>
            <a:chOff x="3750067" y="4683795"/>
            <a:chExt cx="76863" cy="292489"/>
          </a:xfrm>
        </p:grpSpPr>
        <p:sp>
          <p:nvSpPr>
            <p:cNvPr id="122" name="타원 121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3" name="타원 12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24" name="타원 12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78" name="타원 7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8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5087822" y="2029245"/>
            <a:ext cx="243478" cy="144000"/>
            <a:chOff x="5087822" y="2638846"/>
            <a:chExt cx="243478" cy="144000"/>
          </a:xfrm>
        </p:grpSpPr>
        <p:sp>
          <p:nvSpPr>
            <p:cNvPr id="79" name="타원 78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3795734" y="4230015"/>
            <a:ext cx="2712027" cy="789495"/>
            <a:chOff x="675399" y="1544009"/>
            <a:chExt cx="2712027" cy="789495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4" name="그룹 83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2" name="직선 연결선 1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3325215457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명이 있는 경우에 따라 반복 테이블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화면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MUI-CM-04-T08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163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671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4010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4010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671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" name="그룹 5"/>
          <p:cNvGrpSpPr/>
          <p:nvPr/>
        </p:nvGrpSpPr>
        <p:grpSpPr>
          <a:xfrm>
            <a:off x="675399" y="1998040"/>
            <a:ext cx="2712026" cy="3108762"/>
            <a:chOff x="675399" y="2607641"/>
            <a:chExt cx="2712026" cy="3108762"/>
          </a:xfrm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1" name="그룹 210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14" name="직사각형 213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/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2020-01-10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200000"/>
                </a:lnSpc>
              </a:pPr>
              <a:r>
                <a:rPr lang="en-US" altLang="ko-KR" sz="700" dirty="0"/>
                <a:t>1,000 </a:t>
              </a:r>
              <a:r>
                <a:rPr lang="ko-KR" altLang="en-US" sz="700" dirty="0"/>
                <a:t>천원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4" name="직선 연결선 1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05" name="직선 연결선 1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386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405594"/>
            <a:ext cx="76863" cy="292489"/>
            <a:chOff x="3750067" y="4683795"/>
            <a:chExt cx="76863" cy="292489"/>
          </a:xfrm>
        </p:grpSpPr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4" name="타원 113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16" name="타원 11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3661530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MUI-CM-04-T09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720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79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5188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5188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795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5335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704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9035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3190"/>
            <a:ext cx="792000" cy="19322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3189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3189"/>
            <a:ext cx="792000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공사유형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주력분야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세부공증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전문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3189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신설공사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ko-KR" altLang="en-US" sz="700" dirty="0"/>
              <a:t>무기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공항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429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80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7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4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90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43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51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263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6696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5704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9.</a:t>
              </a:r>
              <a:r>
                <a:rPr lang="ko-KR" altLang="en-US" sz="700" dirty="0">
                  <a:latin typeface="+mn-ea"/>
                </a:rPr>
                <a:t>건설공사기성실적증명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</a:t>
              </a:r>
              <a:r>
                <a:rPr lang="en-US" altLang="ko-KR" sz="700" dirty="0">
                  <a:latin typeface="+mn-ea"/>
                </a:rPr>
                <a:t>_</a:t>
              </a: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전문</a:t>
              </a:r>
              <a:r>
                <a:rPr lang="en-US" altLang="ko-KR" sz="700" dirty="0">
                  <a:latin typeface="+mn-ea"/>
                </a:rPr>
                <a:t>) 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330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91988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51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544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298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10835656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MUI-CM-04-T09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9519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당년도 </a:t>
            </a:r>
            <a:r>
              <a:rPr lang="ko-KR" altLang="en-US" sz="700" dirty="0" err="1">
                <a:latin typeface="+mn-ea"/>
              </a:rPr>
              <a:t>기성지급액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총계약금액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93899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94551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5922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94682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당년도 </a:t>
            </a:r>
            <a:r>
              <a:rPr lang="ko-KR" altLang="en-US" sz="700" dirty="0" err="1"/>
              <a:t>계약액</a:t>
            </a:r>
            <a:r>
              <a:rPr lang="ko-KR" altLang="en-US" sz="700" dirty="0"/>
              <a:t> 또는 </a:t>
            </a:r>
            <a:r>
              <a:rPr lang="ko-KR" altLang="en-US" sz="700" dirty="0" err="1"/>
              <a:t>이월금액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80001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누계기성액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4019478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전년도까지</a:t>
            </a:r>
            <a:endParaRPr lang="en-US" altLang="ko-KR" sz="700" dirty="0"/>
          </a:p>
          <a:p>
            <a:r>
              <a:rPr lang="ko-KR" altLang="en-US" sz="700" dirty="0" err="1">
                <a:latin typeface="+mn-ea"/>
              </a:rPr>
              <a:t>누계지급액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2452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08529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06961592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392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490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239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239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4900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333254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2911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공사내역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6242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0397"/>
            <a:ext cx="792000" cy="15158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039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0396"/>
            <a:ext cx="792000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공사명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총공사금액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기관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인허가 </a:t>
            </a:r>
            <a:r>
              <a:rPr lang="ko-KR" altLang="en-US" sz="700" dirty="0" err="1">
                <a:latin typeface="+mn-ea"/>
              </a:rPr>
              <a:t>년월일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0396"/>
            <a:ext cx="1784088" cy="15081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/>
              <a:t>공사 명칭 표시 영역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1,000 </a:t>
            </a:r>
            <a:r>
              <a:rPr lang="ko-KR" altLang="en-US" sz="700" dirty="0" err="1"/>
              <a:t>백원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경기도 과천시</a:t>
            </a:r>
            <a:r>
              <a:rPr lang="en-US" altLang="ko-KR" sz="700" dirty="0"/>
              <a:t>…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공종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방위사업청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2010-01-01</a:t>
            </a:r>
          </a:p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2023</a:t>
            </a:r>
            <a:r>
              <a:rPr lang="ko-KR" altLang="en-US" sz="700" dirty="0">
                <a:latin typeface="+mn-ea"/>
              </a:rPr>
              <a:t>년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150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520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389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26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011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464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2351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720490" y="3423903"/>
            <a:ext cx="2630093" cy="1179711"/>
            <a:chOff x="720490" y="2590223"/>
            <a:chExt cx="2630093" cy="117971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54" name="그룹 53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55" name="직선 연결선 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6" name="직선 연결선 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7" name="직사각형 56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11111</a:t>
              </a:r>
            </a:p>
          </p:txBody>
        </p: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30" name="그룹 129"/>
          <p:cNvGrpSpPr/>
          <p:nvPr/>
        </p:nvGrpSpPr>
        <p:grpSpPr>
          <a:xfrm>
            <a:off x="720490" y="1972911"/>
            <a:ext cx="2630093" cy="1313666"/>
            <a:chOff x="720490" y="2590223"/>
            <a:chExt cx="2630093" cy="1313666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/>
            <p:cNvSpPr/>
            <p:nvPr/>
          </p:nvSpPr>
          <p:spPr>
            <a:xfrm>
              <a:off x="722583" y="2897709"/>
              <a:ext cx="792000" cy="10061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4" name="직선 연결선 1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029846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제출유형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915126"/>
              <a:ext cx="1784088" cy="30232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10.</a:t>
              </a:r>
              <a:r>
                <a:rPr lang="ko-KR" altLang="en-US" sz="700" dirty="0">
                  <a:latin typeface="+mn-ea"/>
                </a:rPr>
                <a:t>건설공사 </a:t>
              </a:r>
              <a:r>
                <a:rPr lang="ko-KR" altLang="en-US" sz="700" dirty="0" err="1">
                  <a:latin typeface="+mn-ea"/>
                </a:rPr>
                <a:t>직접시공분</a:t>
              </a:r>
              <a:r>
                <a:rPr lang="ko-KR" altLang="en-US" sz="700" dirty="0">
                  <a:latin typeface="+mn-ea"/>
                </a:rPr>
                <a:t> 기성실적증명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신청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서 </a:t>
              </a:r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건설산업기본법 시행규칙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국토해양부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2594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47315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6868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005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3244837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244837"/>
              <a:ext cx="79200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05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844149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5232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730191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현장 소재지</a:t>
            </a:r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번지까지 기재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48802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15583355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추가정보가</a:t>
            </a:r>
            <a:r>
              <a:rPr lang="ko-KR" altLang="en-US" dirty="0"/>
              <a:t> 있는 경우 추가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MUI-CM-04-T10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50052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56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8997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8997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5604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337" y="1996931"/>
            <a:ext cx="2208095" cy="24577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복합공사종류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다른 공사 종류 포함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실적 명세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단위</a:t>
            </a:r>
            <a:r>
              <a:rPr lang="en-US" altLang="ko-KR" sz="700" dirty="0">
                <a:latin typeface="+mn-ea"/>
              </a:rPr>
              <a:t>:</a:t>
            </a:r>
            <a:r>
              <a:rPr lang="ko-KR" altLang="en-US" sz="700" dirty="0">
                <a:latin typeface="+mn-ea"/>
              </a:rPr>
              <a:t>천원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부가세포함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3139424" y="2092844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718459" y="2286999"/>
            <a:ext cx="792000" cy="171944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6366" y="228699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286998"/>
            <a:ext cx="792000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연도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해당연도 </a:t>
            </a:r>
            <a:r>
              <a:rPr lang="ko-KR" altLang="en-US" sz="700" dirty="0" err="1">
                <a:latin typeface="+mn-ea"/>
              </a:rPr>
              <a:t>기성액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계약연월일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착공연월일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준공연월일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286998"/>
            <a:ext cx="1784088" cy="17235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2023</a:t>
            </a:r>
            <a:r>
              <a:rPr lang="ko-KR" altLang="en-US" sz="700" dirty="0"/>
              <a:t>년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 algn="r">
              <a:lnSpc>
                <a:spcPct val="200000"/>
              </a:lnSpc>
            </a:pP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2020-01-11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2020-01-12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700" dirty="0"/>
              <a:t>2020-01-13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51810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2731810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12840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36671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59124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379895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18459" y="400644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64179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00275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2763764"/>
            <a:ext cx="792000" cy="3231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en-US" altLang="ko-KR" sz="700" dirty="0"/>
              <a:t> 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 err="1"/>
              <a:t>전문공사</a:t>
            </a:r>
            <a:r>
              <a:rPr lang="en-US" altLang="ko-KR" sz="700" dirty="0"/>
              <a:t>)</a:t>
            </a:r>
            <a:endParaRPr lang="en-US" altLang="ko-KR" sz="7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5523" y="3131934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/>
              <a:t>해당연도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</a:t>
            </a:r>
            <a:r>
              <a:rPr lang="ko-KR" altLang="en-US" sz="700" dirty="0" err="1"/>
              <a:t>기성액</a:t>
            </a:r>
            <a:endParaRPr lang="en-US" altLang="ko-KR" sz="700" dirty="0"/>
          </a:p>
        </p:txBody>
      </p:sp>
      <p:grpSp>
        <p:nvGrpSpPr>
          <p:cNvPr id="48" name="그룹 47"/>
          <p:cNvGrpSpPr/>
          <p:nvPr/>
        </p:nvGrpSpPr>
        <p:grpSpPr>
          <a:xfrm>
            <a:off x="675399" y="4748002"/>
            <a:ext cx="2712027" cy="789495"/>
            <a:chOff x="675399" y="1544009"/>
            <a:chExt cx="2712027" cy="789495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공동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50" name="그룹 4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54" name="직선 연결선 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55" name="직선 연결선 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5068" y="1835482"/>
              <a:ext cx="25326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내용 표시 영역은 내용에 맞춰 높이를 조정하여 표시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152690"/>
            <a:ext cx="76863" cy="292489"/>
            <a:chOff x="3750067" y="4683795"/>
            <a:chExt cx="76863" cy="292489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2825746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562371" y="3138529"/>
            <a:ext cx="178408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/>
              <a:t>100,000 </a:t>
            </a:r>
            <a:r>
              <a:rPr lang="ko-KR" altLang="en-US" sz="700" dirty="0"/>
              <a:t>천원</a:t>
            </a: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62121000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r>
              <a:rPr lang="en-US" altLang="ko-KR" dirty="0"/>
              <a:t/>
            </a:r>
            <a:br>
              <a:rPr lang="en-US" altLang="ko-KR" dirty="0"/>
            </a:b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신청정보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확인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상세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MUI-CM-04-T11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71039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25415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4325415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49639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85147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50704" y="1634866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계약정보</a:t>
            </a:r>
            <a:endParaRPr lang="ko-KR" altLang="en-US" sz="700" dirty="0">
              <a:latin typeface="+mn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05080" y="1634866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 err="1">
                <a:latin typeface="+mn-ea"/>
              </a:rPr>
              <a:t>신청정보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1205080" y="1851473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7672" y="1975382"/>
            <a:ext cx="2208095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추가사항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211" name="그룹 210"/>
          <p:cNvGrpSpPr/>
          <p:nvPr/>
        </p:nvGrpSpPr>
        <p:grpSpPr>
          <a:xfrm flipV="1">
            <a:off x="6259759" y="2088713"/>
            <a:ext cx="94010" cy="47005"/>
            <a:chOff x="6812560" y="3297172"/>
            <a:chExt cx="94010" cy="47005"/>
          </a:xfrm>
        </p:grpSpPr>
        <p:cxnSp>
          <p:nvCxnSpPr>
            <p:cNvPr id="212" name="직선 연결선 21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3" name="직선 연결선 21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4" name="직사각형 213"/>
          <p:cNvSpPr/>
          <p:nvPr/>
        </p:nvSpPr>
        <p:spPr>
          <a:xfrm>
            <a:off x="3838794" y="2282868"/>
            <a:ext cx="792000" cy="2360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6701" y="2282867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282867"/>
            <a:ext cx="792000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실적년도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실적구분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실적비율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(%)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실적금액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규격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품질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성능통</a:t>
            </a:r>
            <a:r>
              <a:rPr lang="en-US" altLang="ko-KR" sz="700" dirty="0">
                <a:latin typeface="+mn-ea"/>
              </a:rPr>
              <a:t>)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납품일자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단위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수량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규모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비고</a:t>
            </a:r>
            <a:endParaRPr lang="en-US" altLang="ko-KR" sz="700" dirty="0"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682706" y="2282867"/>
            <a:ext cx="1784088" cy="23698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/>
              <a:t>2021 ~ 2023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계약목적과</a:t>
            </a:r>
            <a:r>
              <a:rPr lang="ko-KR" altLang="en-US" sz="700" dirty="0"/>
              <a:t> 동등이상물품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10 %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10,000,000,000 </a:t>
            </a:r>
            <a:r>
              <a:rPr lang="ko-KR" altLang="en-US" sz="700" dirty="0"/>
              <a:t>원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ko-KR" altLang="en-US" sz="700" dirty="0"/>
              <a:t>규격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en-US" altLang="ko-KR" sz="700" dirty="0"/>
              <a:t>2023-01-01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</a:t>
            </a:r>
            <a:r>
              <a:rPr lang="ko-KR" altLang="en-US" sz="700" dirty="0"/>
              <a:t>톤</a:t>
            </a:r>
            <a:endParaRPr lang="en-US" altLang="ko-KR" sz="700" dirty="0"/>
          </a:p>
          <a:p>
            <a:pPr algn="r">
              <a:lnSpc>
                <a:spcPct val="200000"/>
              </a:lnSpc>
            </a:pPr>
            <a:r>
              <a:rPr lang="en-US" altLang="ko-KR" sz="700" dirty="0"/>
              <a:t>10 EA</a:t>
            </a:r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용역범위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/>
              <a:t>규모</a:t>
            </a:r>
            <a:endParaRPr lang="en-US" altLang="ko-KR" sz="700" dirty="0"/>
          </a:p>
          <a:p>
            <a:pPr>
              <a:lnSpc>
                <a:spcPct val="200000"/>
              </a:lnSpc>
            </a:pPr>
            <a:r>
              <a:rPr lang="ko-KR" altLang="en-US" sz="700" dirty="0" err="1"/>
              <a:t>비고사항</a:t>
            </a:r>
            <a:r>
              <a:rPr lang="ko-KR" altLang="en-US" sz="700" dirty="0"/>
              <a:t> 내용</a:t>
            </a:r>
            <a:endParaRPr lang="en-US" altLang="ko-KR" sz="700" dirty="0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51397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72767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294138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155093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3" name="직선 연결선 22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362584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58711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379482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0" name="TextBox 25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7200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0" name="TextBox 16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1951" y="204256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4004096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용역범위</a:t>
            </a:r>
            <a:r>
              <a:rPr lang="ko-KR" altLang="en-US" sz="700" dirty="0">
                <a:latin typeface="+mn-ea"/>
              </a:rPr>
              <a:t> 및 기준</a:t>
            </a:r>
          </a:p>
          <a:p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면적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등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675400" y="1975382"/>
            <a:ext cx="2712026" cy="1252381"/>
            <a:chOff x="675400" y="2590223"/>
            <a:chExt cx="2712026" cy="1252381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99" name="직선 연결선 9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0" name="직선 연결선 9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89" name="직사각형 88"/>
            <p:cNvSpPr/>
            <p:nvPr/>
          </p:nvSpPr>
          <p:spPr>
            <a:xfrm>
              <a:off x="722583" y="2897709"/>
              <a:ext cx="792000" cy="87222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</a:t>
              </a:r>
              <a:r>
                <a:rPr lang="en-US" altLang="ko-KR" sz="700" dirty="0">
                  <a:latin typeface="+mn-ea"/>
                </a:rPr>
                <a:t>- </a:t>
              </a:r>
              <a:r>
                <a:rPr lang="ko-KR" altLang="en-US" sz="700" dirty="0" err="1">
                  <a:latin typeface="+mn-ea"/>
                </a:rPr>
                <a:t>실적확인용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방위사업청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</a:t>
              </a:r>
              <a:r>
                <a:rPr lang="ko-KR" altLang="en-US" sz="700" dirty="0">
                  <a:latin typeface="+mn-ea"/>
                </a:rPr>
                <a:t>부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384260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004096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211587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436119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8794" y="46438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2" name="타원 25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029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253564768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272</a:t>
            </a:fld>
            <a:endParaRPr lang="ko-KR" alt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B126B0-6121-6E1B-9FD7-3B9617C44EC9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2FB8EBB-8EF9-F488-DFB3-B80370C053BA}"/>
              </a:ext>
            </a:extLst>
          </p:cNvPr>
          <p:cNvSpPr txBox="1"/>
          <p:nvPr/>
        </p:nvSpPr>
        <p:spPr>
          <a:xfrm>
            <a:off x="452790" y="853264"/>
            <a:ext cx="36137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신청 접수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2E025457-997D-C977-E1C9-C1948C2ABD2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66947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prfmncRcptNo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prfmncPrgrsSttsCd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S: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    (I: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R: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G: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처리중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C: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처리완료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P: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Y: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V: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진행상태코드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:UG02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8F9723FA-3390-6911-DF28-52F5717D8CE8}"/>
              </a:ext>
            </a:extLst>
          </p:cNvPr>
          <p:cNvSpPr txBox="1"/>
          <p:nvPr/>
        </p:nvSpPr>
        <p:spPr>
          <a:xfrm>
            <a:off x="452291" y="2166292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891EEA66-EC04-37FF-84E8-4EB475823449}"/>
              </a:ext>
            </a:extLst>
          </p:cNvPr>
          <p:cNvGraphicFramePr>
            <a:graphicFrameLocks noGrp="1"/>
          </p:cNvGraphicFramePr>
          <p:nvPr/>
        </p:nvGraphicFramePr>
        <p:xfrm>
          <a:off x="452291" y="2377495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CtrtOd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ctrtCnNm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물품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군수품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3: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7319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88179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13319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7416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picNm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82899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enPicTel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09105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2F8F539-94D0-0462-6FF9-5496DA8D913D}"/>
              </a:ext>
            </a:extLst>
          </p:cNvPr>
          <p:cNvSpPr txBox="1"/>
          <p:nvPr/>
        </p:nvSpPr>
        <p:spPr>
          <a:xfrm>
            <a:off x="452291" y="4339817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356711F-8FAB-DB6A-65D5-F428625BC215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551020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entlno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submOrgn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34EDD8DB-1E2E-4BD3-C8AE-EB01FBD5F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0768030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51763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5722543"/>
              </p:ext>
            </p:extLst>
          </p:nvPr>
        </p:nvGraphicFramePr>
        <p:xfrm>
          <a:off x="458117" y="1062966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납품일자로 바뀌기도 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107767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30526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38721"/>
            <a:ext cx="531933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49924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170D974-0CBE-8362-4AF3-B1753FC19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471391506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43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35753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공사설정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0676" y="3728980"/>
            <a:ext cx="446012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940183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049B929-F7AA-D9E8-2DD8-28188E1C4D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939780094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05470042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904033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716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0080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219301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1D3215C-E2F4-C40C-F7A3-4F6C720F3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60953491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453000" y="90798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2546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708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049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335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47511D7-9F2F-423A-B5D3-FCB7AEF03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27158688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696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8130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9316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E4E51481-49A1-4CBC-B70D-0ABB0FB95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4480877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279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58117" y="876843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052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58346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695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4194A73B-531A-4109-5C94-B11B854850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92071789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931189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13453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9132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171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3769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49BFF0B1-3A1B-ED08-BE98-7526C6B49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3962710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852989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4192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41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461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C1462B7-4D45-3B4A-3F1A-9F9CF4F2E5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5417760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900279"/>
            <a:ext cx="558863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1482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7320327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44084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7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485291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696494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D1F168B-0104-B92B-7B82-804D5913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2784351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3002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7747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16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205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58118" y="3246314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3457517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00694"/>
            <a:ext cx="42677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11897"/>
          <a:ext cx="8994883" cy="437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  <a:p>
                      <a:pPr algn="r" fontAlgn="ctr"/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186E1B02-F69A-4581-7B7F-BF7BD8AEB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28672067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9289"/>
            <a:ext cx="647349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90492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98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897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395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08EA34B3-76D1-C847-6339-0154720059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6290190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96434"/>
          <a:ext cx="8994883" cy="43161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95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381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73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6918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6960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3781241-0BB5-4891-CAEC-3CB9CC536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70439800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97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402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03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C8447F4-EDFE-DABF-2D95-B81612E7EA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3720971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48936"/>
            <a:ext cx="1258128" cy="216000"/>
          </a:xfrm>
        </p:spPr>
        <p:txBody>
          <a:bodyPr/>
          <a:lstStyle/>
          <a:p>
            <a:fld id="{9DF8E3FD-B4FB-473B-BCAD-C4534B9A9D97}" type="slidenum">
              <a:rPr lang="ko-KR" altLang="en-US" smtClean="0"/>
              <a:pPr/>
              <a:t>288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60676" y="891040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146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86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5302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45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232103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443306"/>
          <a:ext cx="8994883" cy="36844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5423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65546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239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누계지금액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7492F64-418F-722D-475C-C50FFA984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7058385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289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63235" y="84771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6863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66004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77207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7532CAE9-BD20-D658-EB25-3857A1260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6305860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835005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6208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19DF6D55-F380-A2A7-BB37-A8355BD23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9552662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291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D9B532-37AB-1CCF-6506-88E049A395C9}"/>
              </a:ext>
            </a:extLst>
          </p:cNvPr>
          <p:cNvSpPr txBox="1"/>
          <p:nvPr/>
        </p:nvSpPr>
        <p:spPr>
          <a:xfrm>
            <a:off x="464598" y="65976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6" name="Text Box 73">
            <a:extLst>
              <a:ext uri="{FF2B5EF4-FFF2-40B4-BE49-F238E27FC236}">
                <a16:creationId xmlns:a16="http://schemas.microsoft.com/office/drawing/2014/main" id="{E93D8B0E-1238-2AA7-F8A6-5003A89A9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8638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D6FAFB4-C8C3-22D5-ADE8-1D6980C082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916354"/>
              </p:ext>
            </p:extLst>
          </p:nvPr>
        </p:nvGraphicFramePr>
        <p:xfrm>
          <a:off x="455204" y="886360"/>
          <a:ext cx="8995591" cy="19670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신청 상세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삭제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scwin.btn_del_onclick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회송일때만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3727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수정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scwin.btn_mdfcn_onclick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신청한 실적증명서 수정 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4547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실적증명서를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저장일때만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13869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scwin.btn_issu_onclick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발급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pdfViewer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로 보여준다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9215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실적증명서 제출 팝업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 제출용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진행상태가 발급일때만 버튼 활성화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64441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3952841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기본 값 </a:t>
            </a:r>
            <a:r>
              <a:rPr lang="en-US" altLang="ko-KR" dirty="0"/>
              <a:t>:</a:t>
            </a:r>
            <a:r>
              <a:rPr lang="ko-KR" altLang="en-US" dirty="0"/>
              <a:t> </a:t>
            </a:r>
            <a:r>
              <a:rPr lang="en-US" altLang="ko-KR" dirty="0"/>
              <a:t>1</a:t>
            </a:r>
            <a:r>
              <a:rPr lang="ko-KR" altLang="en-US" dirty="0"/>
              <a:t>개월 이내 계약 목록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카드 선택으로 선택</a:t>
            </a:r>
            <a:r>
              <a:rPr lang="en-US" altLang="ko-KR" dirty="0"/>
              <a:t>, </a:t>
            </a:r>
            <a:r>
              <a:rPr lang="ko-KR" altLang="en-US" dirty="0"/>
              <a:t>선택 해제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선택 상태에서 다음으로 활성화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신청정보</a:t>
            </a:r>
            <a:r>
              <a:rPr lang="en-US" altLang="ko-KR" dirty="0"/>
              <a:t>, </a:t>
            </a:r>
            <a:r>
              <a:rPr lang="ko-KR" altLang="en-US" dirty="0"/>
              <a:t>실적 정보 등이 입력된 상태에서 현재 화면으로 돌아와</a:t>
            </a:r>
            <a:r>
              <a:rPr lang="en-US" altLang="ko-KR" dirty="0"/>
              <a:t>, </a:t>
            </a:r>
            <a:r>
              <a:rPr lang="ko-KR" altLang="en-US" dirty="0"/>
              <a:t>선택된 계약을 해제하거나</a:t>
            </a:r>
            <a:r>
              <a:rPr lang="en-US" altLang="ko-KR" dirty="0"/>
              <a:t> </a:t>
            </a:r>
            <a:r>
              <a:rPr lang="ko-KR" altLang="en-US" dirty="0"/>
              <a:t>다른 계약 선택 등의 행동을 할 때</a:t>
            </a:r>
            <a:r>
              <a:rPr lang="en-US" altLang="ko-KR" dirty="0"/>
              <a:t>, </a:t>
            </a:r>
            <a:r>
              <a:rPr lang="ko-KR" altLang="en-US" dirty="0" err="1"/>
              <a:t>모달</a:t>
            </a:r>
            <a:r>
              <a:rPr lang="ko-KR" altLang="en-US" dirty="0"/>
              <a:t> 팝업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계약을 변경하시겠습니까</a:t>
            </a:r>
            <a:r>
              <a:rPr lang="en-US" altLang="ko-KR" dirty="0"/>
              <a:t>? (N/Y)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선택</a:t>
            </a:r>
            <a:r>
              <a:rPr lang="en-US" altLang="ko-KR" dirty="0"/>
              <a:t> </a:t>
            </a:r>
            <a:r>
              <a:rPr lang="ko-KR" altLang="en-US" dirty="0"/>
              <a:t>표시 </a:t>
            </a:r>
            <a:r>
              <a:rPr lang="en-US" altLang="ko-KR" dirty="0"/>
              <a:t>(ON/OFF)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카드 선택 시 선택</a:t>
            </a:r>
            <a:r>
              <a:rPr lang="en-US" altLang="ko-KR" dirty="0"/>
              <a:t> </a:t>
            </a:r>
            <a:r>
              <a:rPr lang="ko-KR" altLang="en-US" dirty="0"/>
              <a:t>표시 변경 </a:t>
            </a:r>
            <a:r>
              <a:rPr lang="en-US" altLang="ko-KR" dirty="0"/>
              <a:t>(</a:t>
            </a:r>
            <a:r>
              <a:rPr lang="ko-KR" altLang="en-US" dirty="0"/>
              <a:t>버튼 영역 카드 전체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계약서 선택에 따라 이후 페이지 변경 표시</a:t>
            </a:r>
            <a:r>
              <a:rPr lang="en-US" altLang="ko-KR" dirty="0"/>
              <a:t> : </a:t>
            </a:r>
            <a:r>
              <a:rPr lang="en-US" altLang="ko-KR" dirty="0">
                <a:solidFill>
                  <a:srgbClr val="FF0000"/>
                </a:solidFill>
              </a:rPr>
              <a:t>3</a:t>
            </a:r>
            <a:r>
              <a:rPr lang="ko-KR" altLang="en-US" dirty="0">
                <a:solidFill>
                  <a:srgbClr val="FF0000"/>
                </a:solidFill>
              </a:rPr>
              <a:t>분류로 나누어짐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</a:t>
            </a:r>
            <a:r>
              <a:rPr lang="ko-KR" altLang="en-US" dirty="0" err="1"/>
              <a:t>방위사업청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  </a:t>
            </a:r>
            <a:r>
              <a:rPr lang="en-US" altLang="ko-KR" dirty="0"/>
              <a:t>&gt; </a:t>
            </a:r>
            <a:r>
              <a:rPr lang="ko-KR" altLang="en-US" dirty="0"/>
              <a:t>사용목적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시설공사일때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계약 구분이 부대이면서 시설공사가 </a:t>
            </a:r>
            <a:r>
              <a:rPr lang="ko-KR" altLang="en-US" dirty="0" err="1"/>
              <a:t>아닐때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제출유형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작성 내용이 있을 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버튼 클릭 </a:t>
            </a:r>
            <a:r>
              <a:rPr lang="ko-KR" altLang="en-US" dirty="0" err="1"/>
              <a:t>모달</a:t>
            </a:r>
            <a:r>
              <a:rPr lang="ko-KR" altLang="en-US" dirty="0"/>
              <a:t> 팝업 메시지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작성하신 내용이 사라집니다</a:t>
            </a:r>
            <a:r>
              <a:rPr lang="en-US" altLang="ko-KR" dirty="0"/>
              <a:t>. </a:t>
            </a:r>
            <a:r>
              <a:rPr lang="ko-KR" altLang="en-US" dirty="0"/>
              <a:t>정말 작성을 취소하시겠습니까</a:t>
            </a:r>
            <a:r>
              <a:rPr lang="en-US" altLang="ko-KR" dirty="0"/>
              <a:t>? (N/Y)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다음 버튼 클릭 </a:t>
            </a:r>
            <a:r>
              <a:rPr lang="en-US" altLang="ko-KR" dirty="0"/>
              <a:t>: </a:t>
            </a:r>
            <a:r>
              <a:rPr lang="ko-KR" altLang="en-US" dirty="0" err="1"/>
              <a:t>신청정보</a:t>
            </a:r>
            <a:r>
              <a:rPr lang="ko-KR" altLang="en-US" dirty="0"/>
              <a:t> 입력 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미 선택 시 다음 버튼 비활성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계약정보선택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계약정보선택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9" name="그룹 68"/>
          <p:cNvGrpSpPr/>
          <p:nvPr/>
        </p:nvGrpSpPr>
        <p:grpSpPr>
          <a:xfrm>
            <a:off x="680570" y="1580377"/>
            <a:ext cx="2712027" cy="266560"/>
            <a:chOff x="680570" y="1580377"/>
            <a:chExt cx="2712027" cy="26656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실적증명서 신청</a:t>
              </a:r>
            </a:p>
          </p:txBody>
        </p: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" name="그룹 15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17" name="직선 연결선 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" name="직선 연결선 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" name="타원 18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" name="그룹 6"/>
          <p:cNvGrpSpPr/>
          <p:nvPr/>
        </p:nvGrpSpPr>
        <p:grpSpPr>
          <a:xfrm>
            <a:off x="777002" y="2324641"/>
            <a:ext cx="2513244" cy="318596"/>
            <a:chOff x="781461" y="2056702"/>
            <a:chExt cx="2459755" cy="318596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056702"/>
              <a:ext cx="2459755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dirty="0">
                  <a:latin typeface="+mn-ea"/>
                </a:rPr>
                <a:t>계약 정보 선택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267576"/>
              <a:ext cx="2459755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정보로 실적 증명서를 신청할 수 있습니다</a:t>
              </a:r>
              <a:r>
                <a:rPr lang="en-US" altLang="ko-KR" sz="700" dirty="0">
                  <a:latin typeface="+mn-ea"/>
                </a:rPr>
                <a:t>.</a:t>
              </a:r>
              <a:endParaRPr lang="ko-KR" altLang="en-US" sz="700" dirty="0">
                <a:latin typeface="+mn-ea"/>
              </a:endParaRPr>
            </a:p>
          </p:txBody>
        </p:sp>
      </p:grp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0469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 rot="16200000">
            <a:off x="2500331" y="1999831"/>
            <a:ext cx="94010" cy="47005"/>
            <a:chOff x="6812560" y="3297172"/>
            <a:chExt cx="94010" cy="47005"/>
          </a:xfrm>
        </p:grpSpPr>
        <p:cxnSp>
          <p:nvCxnSpPr>
            <p:cNvPr id="88" name="직선 연결선 8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9" name="직선 연결선 8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0" name="그룹 89"/>
          <p:cNvGrpSpPr/>
          <p:nvPr/>
        </p:nvGrpSpPr>
        <p:grpSpPr>
          <a:xfrm rot="16200000">
            <a:off x="2887583" y="1999831"/>
            <a:ext cx="94010" cy="47005"/>
            <a:chOff x="6812560" y="3297172"/>
            <a:chExt cx="94010" cy="47005"/>
          </a:xfrm>
        </p:grpSpPr>
        <p:cxnSp>
          <p:nvCxnSpPr>
            <p:cNvPr id="91" name="직선 연결선 9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2" name="직선 연결선 9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3" name="그룹 92"/>
          <p:cNvGrpSpPr/>
          <p:nvPr/>
        </p:nvGrpSpPr>
        <p:grpSpPr>
          <a:xfrm>
            <a:off x="747925" y="1929352"/>
            <a:ext cx="1300316" cy="187961"/>
            <a:chOff x="747925" y="3237230"/>
            <a:chExt cx="1300316" cy="187961"/>
          </a:xfrm>
        </p:grpSpPr>
        <p:grpSp>
          <p:nvGrpSpPr>
            <p:cNvPr id="94" name="그룹 93"/>
            <p:cNvGrpSpPr/>
            <p:nvPr/>
          </p:nvGrpSpPr>
          <p:grpSpPr>
            <a:xfrm>
              <a:off x="747925" y="3237230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1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06821" y="3277349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계약 정보 선택</a:t>
              </a:r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2645773" y="1929352"/>
            <a:ext cx="187961" cy="187961"/>
            <a:chOff x="2058749" y="3237230"/>
            <a:chExt cx="187961" cy="187961"/>
          </a:xfrm>
        </p:grpSpPr>
        <p:sp>
          <p:nvSpPr>
            <p:cNvPr id="101" name="타원 100"/>
            <p:cNvSpPr/>
            <p:nvPr/>
          </p:nvSpPr>
          <p:spPr>
            <a:xfrm>
              <a:off x="2058749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113806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</p:grpSp>
      <p:grpSp>
        <p:nvGrpSpPr>
          <p:cNvPr id="104" name="그룹 103"/>
          <p:cNvGrpSpPr/>
          <p:nvPr/>
        </p:nvGrpSpPr>
        <p:grpSpPr>
          <a:xfrm>
            <a:off x="3039523" y="1929352"/>
            <a:ext cx="187961" cy="187961"/>
            <a:chOff x="2714860" y="3237230"/>
            <a:chExt cx="187961" cy="187961"/>
          </a:xfrm>
        </p:grpSpPr>
        <p:sp>
          <p:nvSpPr>
            <p:cNvPr id="106" name="타원 105"/>
            <p:cNvSpPr/>
            <p:nvPr/>
          </p:nvSpPr>
          <p:spPr>
            <a:xfrm>
              <a:off x="2714860" y="323723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69917" y="3277349"/>
              <a:ext cx="7784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700" dirty="0">
                  <a:latin typeface="+mn-ea"/>
                </a:rPr>
                <a:t>3</a:t>
              </a:r>
              <a:endParaRPr lang="ko-KR" altLang="en-US" sz="700" dirty="0">
                <a:latin typeface="+mn-ea"/>
              </a:endParaRPr>
            </a:p>
          </p:txBody>
        </p:sp>
      </p:grpSp>
      <p:sp>
        <p:nvSpPr>
          <p:cNvPr id="266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467174"/>
            <a:ext cx="2446613" cy="201941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67" name="그룹 266"/>
          <p:cNvGrpSpPr/>
          <p:nvPr/>
        </p:nvGrpSpPr>
        <p:grpSpPr>
          <a:xfrm>
            <a:off x="781461" y="3767371"/>
            <a:ext cx="2473257" cy="784763"/>
            <a:chOff x="781461" y="2610063"/>
            <a:chExt cx="2473257" cy="784763"/>
          </a:xfrm>
        </p:grpSpPr>
        <p:sp>
          <p:nvSpPr>
            <p:cNvPr id="2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/>
                <a:t>계약번호</a:t>
              </a:r>
              <a:r>
                <a:rPr lang="ko-KR" altLang="en-US" sz="700" dirty="0"/>
                <a:t> </a:t>
              </a:r>
              <a:r>
                <a:rPr lang="en-US" altLang="ko-KR" sz="700" dirty="0"/>
                <a:t>2025093455 (00)</a:t>
              </a:r>
            </a:p>
            <a:p>
              <a:r>
                <a:rPr lang="ko-KR" altLang="en-US" sz="900" b="1" dirty="0"/>
                <a:t>파카</a:t>
              </a:r>
              <a:r>
                <a:rPr lang="en-US" altLang="ko-KR" sz="900" b="1" dirty="0"/>
                <a:t>,</a:t>
              </a:r>
              <a:r>
                <a:rPr lang="ko-KR" altLang="en-US" sz="900" b="1" dirty="0"/>
                <a:t>외피</a:t>
              </a:r>
            </a:p>
          </p:txBody>
        </p:sp>
        <p:sp>
          <p:nvSpPr>
            <p:cNvPr id="2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117827"/>
              <a:ext cx="30777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계약금액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발주기관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762378" y="3102438"/>
              <a:ext cx="472886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11,616,000 </a:t>
              </a:r>
              <a:r>
                <a:rPr lang="ko-KR" altLang="en-US" sz="600" dirty="0">
                  <a:latin typeface="+mn-ea"/>
                </a:rPr>
                <a:t>원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방위사업청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271" name="모서리가 둥근 직사각형 270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물품</a:t>
              </a:r>
            </a:p>
          </p:txBody>
        </p:sp>
        <p:sp>
          <p:nvSpPr>
            <p:cNvPr id="272" name="모서리가 둥근 직사각형 271"/>
            <p:cNvSpPr/>
            <p:nvPr/>
          </p:nvSpPr>
          <p:spPr>
            <a:xfrm>
              <a:off x="1075655" y="2610063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/>
                <a:t>계약구분</a:t>
              </a:r>
              <a:endParaRPr lang="ko-KR" altLang="en-US" sz="600" dirty="0"/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0999"/>
            <a:ext cx="76863" cy="292489"/>
            <a:chOff x="3750067" y="4683795"/>
            <a:chExt cx="76863" cy="292489"/>
          </a:xfrm>
        </p:grpSpPr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77" name="타원 27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2920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9" name="직선 연결선 2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4744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3361891"/>
            <a:ext cx="135706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chemeClr val="accent1">
                    <a:lumMod val="75000"/>
                  </a:schemeClr>
                </a:solidFill>
                <a:latin typeface="+mn-ea"/>
              </a:rPr>
              <a:t>2,010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건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278206" y="3357837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3357837"/>
            <a:ext cx="505710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283" name="그룹 282"/>
          <p:cNvGrpSpPr/>
          <p:nvPr/>
        </p:nvGrpSpPr>
        <p:grpSpPr>
          <a:xfrm>
            <a:off x="3143548" y="3470204"/>
            <a:ext cx="94010" cy="47005"/>
            <a:chOff x="6812560" y="3297172"/>
            <a:chExt cx="94010" cy="47005"/>
          </a:xfrm>
        </p:grpSpPr>
        <p:cxnSp>
          <p:nvCxnSpPr>
            <p:cNvPr id="284" name="직선 연결선 28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5" name="직선 연결선 28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86" name="그룹 285"/>
          <p:cNvGrpSpPr/>
          <p:nvPr/>
        </p:nvGrpSpPr>
        <p:grpSpPr>
          <a:xfrm>
            <a:off x="767702" y="2757448"/>
            <a:ext cx="2527420" cy="477995"/>
            <a:chOff x="786326" y="2270279"/>
            <a:chExt cx="2527420" cy="477995"/>
          </a:xfrm>
        </p:grpSpPr>
        <p:sp>
          <p:nvSpPr>
            <p:cNvPr id="287" name="모서리가 둥근 직사각형 286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8" name="타원 287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9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계약번호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1" name="타원 290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292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2726021" y="2270279"/>
              <a:ext cx="582849" cy="15479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latin typeface="맑은 고딕"/>
                  <a:ea typeface="맑은 고딕" panose="020B0503020000020004" pitchFamily="50" charset="-127"/>
                </a:rPr>
                <a:t>검색필터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293" name="타원 292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94" name="그룹 293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295" name="직선 연결선 294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96" name="직선 연결선 295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97" name="직선 연결선 29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3226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98" name="타원 2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0182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0202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764560"/>
            <a:ext cx="494347" cy="162000"/>
          </a:xfrm>
          <a:prstGeom prst="roundRect">
            <a:avLst/>
          </a:prstGeom>
          <a:noFill/>
          <a:ln w="12700" cap="flat" cmpd="sng" algn="ctr">
            <a:solidFill>
              <a:schemeClr val="tx1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3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739753" y="3970176"/>
            <a:ext cx="494347" cy="162000"/>
          </a:xfrm>
          <a:prstGeom prst="roundRect">
            <a:avLst/>
          </a:prstGeom>
          <a:solidFill>
            <a:srgbClr val="0070C0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57834" y="38631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3" name="타원 30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3744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grpSp>
        <p:nvGrpSpPr>
          <p:cNvPr id="126" name="그룹 125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27" name="직사각형 12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8" name="직사각형 12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조정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447527401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계약을 검색하기 위한 검색 필터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검색필터</a:t>
            </a:r>
            <a:r>
              <a:rPr lang="en-US" altLang="ko-KR" dirty="0">
                <a:latin typeface="+mn-ea"/>
              </a:rPr>
              <a:t>-</a:t>
            </a:r>
            <a:r>
              <a:rPr lang="ko-KR" altLang="en-US" dirty="0" err="1">
                <a:latin typeface="+mn-ea"/>
              </a:rPr>
              <a:t>계약정보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검색 필터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MUI-CM-04-P11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9" name="직선 연결선 21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20" name="그룹 219"/>
          <p:cNvGrpSpPr/>
          <p:nvPr/>
        </p:nvGrpSpPr>
        <p:grpSpPr>
          <a:xfrm>
            <a:off x="3138377" y="1650089"/>
            <a:ext cx="94010" cy="94010"/>
            <a:chOff x="6812560" y="3297172"/>
            <a:chExt cx="94010" cy="94010"/>
          </a:xfrm>
        </p:grpSpPr>
        <p:cxnSp>
          <p:nvCxnSpPr>
            <p:cNvPr id="221" name="직선 연결선 220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2" name="직선 연결선 22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3" name="타원 222"/>
          <p:cNvSpPr/>
          <p:nvPr/>
        </p:nvSpPr>
        <p:spPr>
          <a:xfrm>
            <a:off x="2773099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8515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47457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226" name="그룹 225"/>
          <p:cNvGrpSpPr/>
          <p:nvPr/>
        </p:nvGrpSpPr>
        <p:grpSpPr>
          <a:xfrm>
            <a:off x="675399" y="1974264"/>
            <a:ext cx="2712027" cy="797589"/>
            <a:chOff x="675399" y="3490553"/>
            <a:chExt cx="2712027" cy="797589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29" name="그룹 22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24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41" name="그림 24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231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232" name="그룹 231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237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8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239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2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236" name="그림 2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44" name="그룹 243"/>
          <p:cNvGrpSpPr/>
          <p:nvPr/>
        </p:nvGrpSpPr>
        <p:grpSpPr>
          <a:xfrm>
            <a:off x="678686" y="5614711"/>
            <a:ext cx="2712027" cy="617588"/>
            <a:chOff x="675399" y="5614711"/>
            <a:chExt cx="2712027" cy="617588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24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248" name="그룹 247"/>
          <p:cNvGrpSpPr/>
          <p:nvPr/>
        </p:nvGrpSpPr>
        <p:grpSpPr>
          <a:xfrm>
            <a:off x="678686" y="3581561"/>
            <a:ext cx="2712027" cy="505089"/>
            <a:chOff x="3795734" y="4353857"/>
            <a:chExt cx="2712027" cy="505089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391255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 설정</a:t>
              </a:r>
            </a:p>
          </p:txBody>
        </p:sp>
        <p:grpSp>
          <p:nvGrpSpPr>
            <p:cNvPr id="250" name="그룹 249"/>
            <p:cNvGrpSpPr/>
            <p:nvPr/>
          </p:nvGrpSpPr>
          <p:grpSpPr>
            <a:xfrm flipV="1">
              <a:off x="6261284" y="4488945"/>
              <a:ext cx="91438" cy="45719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1" name="모서리가 둥근 직사각형 250"/>
            <p:cNvSpPr/>
            <p:nvPr/>
          </p:nvSpPr>
          <p:spPr>
            <a:xfrm>
              <a:off x="4569619" y="4671746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8850" y="4619620"/>
              <a:ext cx="670770" cy="18921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10000"/>
                </a:lnSpc>
              </a:pPr>
              <a:r>
                <a:rPr lang="ko-KR" altLang="en-US" sz="700" dirty="0" err="1">
                  <a:latin typeface="+mn-ea"/>
                </a:rPr>
                <a:t>처리상태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3" name="그룹 252"/>
            <p:cNvGrpSpPr/>
            <p:nvPr/>
          </p:nvGrpSpPr>
          <p:grpSpPr>
            <a:xfrm>
              <a:off x="6261284" y="4742486"/>
              <a:ext cx="91438" cy="45719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35385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786574" y="2893083"/>
            <a:ext cx="2516607" cy="467691"/>
            <a:chOff x="778515" y="4388257"/>
            <a:chExt cx="2516607" cy="467691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264" name="직선 연결선 26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62" name="모서리가 둥근 직사각형 261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계약번호를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계약번호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126" name="타원 12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6166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27" name="그룹 126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28" name="직사각형 127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29" name="직사각형 128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화면과 </a:t>
              </a:r>
              <a:r>
                <a:rPr lang="ko-KR" altLang="en-US" sz="700" dirty="0" err="1" smtClean="0"/>
                <a:t>검색필터</a:t>
              </a:r>
              <a:r>
                <a:rPr lang="ko-KR" altLang="en-US" sz="700" dirty="0" smtClean="0"/>
                <a:t> 분리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smtClean="0"/>
                <a:t>화면 </a:t>
              </a:r>
              <a:r>
                <a:rPr lang="en-US" altLang="ko-KR" sz="700" dirty="0" smtClean="0"/>
                <a:t>ID </a:t>
              </a:r>
              <a:r>
                <a:rPr lang="ko-KR" altLang="en-US" sz="700" dirty="0" smtClean="0"/>
                <a:t>조정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187351977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신청 정보 작성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발급 수량 </a:t>
            </a:r>
            <a:r>
              <a:rPr lang="en-US" altLang="ko-KR" dirty="0"/>
              <a:t>: 1 </a:t>
            </a:r>
            <a:r>
              <a:rPr lang="ko-KR" altLang="en-US" dirty="0"/>
              <a:t>통 </a:t>
            </a:r>
            <a:r>
              <a:rPr lang="en-US" altLang="ko-KR" dirty="0"/>
              <a:t>~10 </a:t>
            </a:r>
            <a:r>
              <a:rPr lang="ko-KR" altLang="en-US" dirty="0"/>
              <a:t>통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사용목적 </a:t>
            </a:r>
            <a:r>
              <a:rPr lang="en-US" altLang="ko-KR" dirty="0"/>
              <a:t>/ </a:t>
            </a:r>
            <a:r>
              <a:rPr lang="ko-KR" altLang="en-US" dirty="0" err="1"/>
              <a:t>제출유형</a:t>
            </a:r>
            <a:r>
              <a:rPr lang="ko-KR" altLang="en-US" dirty="0"/>
              <a:t> 선택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사용목적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 err="1">
                <a:solidFill>
                  <a:srgbClr val="FF0000"/>
                </a:solidFill>
              </a:rPr>
              <a:t>제출유형에</a:t>
            </a:r>
            <a:r>
              <a:rPr lang="ko-KR" altLang="en-US" dirty="0">
                <a:solidFill>
                  <a:srgbClr val="FF0000"/>
                </a:solidFill>
              </a:rPr>
              <a:t> 따라 실적정보입력 항목이 변경됨</a:t>
            </a:r>
            <a:r>
              <a:rPr lang="en-US" altLang="ko-KR" dirty="0">
                <a:solidFill>
                  <a:srgbClr val="FF0000"/>
                </a:solidFill>
              </a:rPr>
              <a:t>.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A. </a:t>
            </a:r>
            <a:r>
              <a:rPr lang="ko-KR" altLang="en-US" dirty="0"/>
              <a:t>사용목적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선금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착수금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중도금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세무서제출용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당해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보증회사제출용</a:t>
            </a:r>
            <a:r>
              <a:rPr lang="en-US" altLang="ko-KR" sz="700" dirty="0"/>
              <a:t>-</a:t>
            </a:r>
            <a:r>
              <a:rPr lang="ko-KR" altLang="en-US" sz="700" dirty="0"/>
              <a:t>예정</a:t>
            </a:r>
            <a:r>
              <a:rPr lang="en-US" altLang="ko-KR" sz="700" dirty="0"/>
              <a:t>(</a:t>
            </a:r>
            <a:r>
              <a:rPr lang="ko-KR" altLang="en-US" sz="700" dirty="0"/>
              <a:t>납품</a:t>
            </a:r>
            <a:r>
              <a:rPr lang="en-US" altLang="ko-KR" sz="700" dirty="0"/>
              <a:t>)</a:t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적격심사제출용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 err="1"/>
              <a:t>입찰참가용</a:t>
            </a:r>
            <a:r>
              <a:rPr lang="en-US" altLang="ko-KR" sz="700" dirty="0"/>
              <a:t/>
            </a:r>
            <a:br>
              <a:rPr lang="en-US" altLang="ko-KR" sz="700" dirty="0"/>
            </a:br>
            <a:r>
              <a:rPr lang="en-US" altLang="ko-KR" sz="700" dirty="0"/>
              <a:t>- </a:t>
            </a:r>
            <a:r>
              <a:rPr lang="ko-KR" altLang="en-US" sz="700" dirty="0"/>
              <a:t>기타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기타 입력 시 추가 입력 폼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b. </a:t>
            </a:r>
            <a:r>
              <a:rPr lang="ko-KR" altLang="en-US" dirty="0" err="1"/>
              <a:t>제출유형</a:t>
            </a:r>
            <a:r>
              <a:rPr lang="ko-KR" altLang="en-US" dirty="0"/>
              <a:t> 일 때 노출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sz="700" dirty="0"/>
              <a:t>- 1.</a:t>
            </a:r>
            <a:r>
              <a:rPr lang="ko-KR" altLang="en-US" sz="700" dirty="0"/>
              <a:t>시공실적증명서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적격심사기준에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 </a:t>
            </a:r>
            <a:br>
              <a:rPr lang="en-US" altLang="ko-KR" sz="700" dirty="0"/>
            </a:br>
            <a:r>
              <a:rPr lang="en-US" altLang="ko-KR" sz="700" dirty="0"/>
              <a:t>- 2.</a:t>
            </a:r>
            <a:r>
              <a:rPr lang="ko-KR" altLang="en-US" sz="700" dirty="0" err="1"/>
              <a:t>시공실적</a:t>
            </a:r>
            <a:r>
              <a:rPr lang="en-US" altLang="ko-KR" sz="700" dirty="0"/>
              <a:t>(</a:t>
            </a:r>
            <a:r>
              <a:rPr lang="ko-KR" altLang="en-US" sz="700" dirty="0" err="1"/>
              <a:t>기성율</a:t>
            </a:r>
            <a:r>
              <a:rPr lang="en-US" altLang="ko-KR" sz="700" dirty="0"/>
              <a:t>)</a:t>
            </a:r>
            <a:r>
              <a:rPr lang="ko-KR" altLang="en-US" sz="700" dirty="0"/>
              <a:t>증명서 </a:t>
            </a:r>
            <a:r>
              <a:rPr lang="en-US" altLang="ko-KR" sz="700" dirty="0"/>
              <a:t>[</a:t>
            </a:r>
            <a:r>
              <a:rPr lang="ko-KR" altLang="en-US" sz="700" dirty="0" err="1"/>
              <a:t>군시설공사</a:t>
            </a:r>
            <a:r>
              <a:rPr lang="ko-KR" altLang="en-US" sz="700" dirty="0"/>
              <a:t> </a:t>
            </a:r>
            <a:r>
              <a:rPr lang="ko-KR" altLang="en-US" sz="700" dirty="0" err="1"/>
              <a:t>입찰참가자격사전심사</a:t>
            </a:r>
            <a:r>
              <a:rPr lang="ko-KR" altLang="en-US" sz="700" dirty="0"/>
              <a:t> 세부운영기준에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- 3.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종합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- 4.</a:t>
            </a:r>
            <a:r>
              <a:rPr lang="ko-KR" altLang="en-US" sz="700" dirty="0" err="1"/>
              <a:t>건설폐기물처리용역이행</a:t>
            </a:r>
            <a:r>
              <a:rPr lang="ko-KR" altLang="en-US" sz="700" dirty="0"/>
              <a:t>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건설폐기물처리용역 </a:t>
            </a:r>
            <a:r>
              <a:rPr lang="ko-KR" altLang="en-US" sz="700" dirty="0" err="1"/>
              <a:t>적격업체</a:t>
            </a:r>
            <a:r>
              <a:rPr lang="ko-KR" altLang="en-US" sz="700" dirty="0"/>
              <a:t> 평가기준</a:t>
            </a:r>
            <a:r>
              <a:rPr lang="en-US" altLang="ko-KR" sz="700" dirty="0"/>
              <a:t>/</a:t>
            </a:r>
            <a:r>
              <a:rPr lang="ko-KR" altLang="en-US" sz="700" dirty="0"/>
              <a:t>환경부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- 5.</a:t>
            </a:r>
            <a:r>
              <a:rPr lang="ko-KR" altLang="en-US" sz="700" dirty="0" err="1"/>
              <a:t>실적자료</a:t>
            </a:r>
            <a:r>
              <a:rPr lang="ko-KR" altLang="en-US" sz="700" dirty="0"/>
              <a:t> 발주기관 확인서 </a:t>
            </a:r>
            <a:r>
              <a:rPr lang="en-US" altLang="ko-KR" sz="700" dirty="0"/>
              <a:t>[</a:t>
            </a:r>
            <a:r>
              <a:rPr lang="ko-KR" altLang="en-US" sz="700" dirty="0"/>
              <a:t>최저가낙찰제 </a:t>
            </a:r>
            <a:r>
              <a:rPr lang="ko-KR" altLang="en-US" sz="700" dirty="0" err="1"/>
              <a:t>대상공사의</a:t>
            </a:r>
            <a:r>
              <a:rPr lang="ko-KR" altLang="en-US" sz="700" dirty="0"/>
              <a:t> 입찰금액 </a:t>
            </a:r>
            <a:r>
              <a:rPr lang="en-US" altLang="ko-KR" sz="700" dirty="0"/>
              <a:t>(</a:t>
            </a:r>
            <a:r>
              <a:rPr lang="ko-KR" altLang="en-US" sz="700" dirty="0"/>
              <a:t>원</a:t>
            </a:r>
            <a:r>
              <a:rPr lang="en-US" altLang="ko-KR" sz="700" dirty="0"/>
              <a:t>) </a:t>
            </a:r>
            <a:r>
              <a:rPr lang="ko-KR" altLang="en-US" sz="700" dirty="0"/>
              <a:t>적정성 세부심사기준에 관한 훈령</a:t>
            </a:r>
            <a:r>
              <a:rPr lang="en-US" altLang="ko-KR" sz="700" dirty="0"/>
              <a:t>/</a:t>
            </a:r>
            <a:r>
              <a:rPr lang="ko-KR" altLang="en-US" sz="700" dirty="0"/>
              <a:t>국방부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- 6.</a:t>
            </a:r>
            <a:r>
              <a:rPr lang="ko-KR" altLang="en-US" sz="700" dirty="0"/>
              <a:t>정보통신공사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정보통신공사업법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전기공제조합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- 7.</a:t>
            </a:r>
            <a:r>
              <a:rPr lang="ko-KR" altLang="en-US" sz="700" dirty="0"/>
              <a:t>소방시설공사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소방시설공사업법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소방시설협회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- 8.</a:t>
            </a:r>
            <a:r>
              <a:rPr lang="ko-KR" altLang="en-US" sz="700" dirty="0"/>
              <a:t>전기공사 실적증명서 </a:t>
            </a:r>
            <a:r>
              <a:rPr lang="en-US" altLang="ko-KR" sz="700" dirty="0"/>
              <a:t>[</a:t>
            </a:r>
            <a:r>
              <a:rPr lang="ko-KR" altLang="en-US" sz="700" dirty="0"/>
              <a:t>전기공사업법 시행에 관한 규정</a:t>
            </a:r>
            <a:r>
              <a:rPr lang="en-US" altLang="ko-KR" sz="700" dirty="0"/>
              <a:t>/</a:t>
            </a:r>
            <a:r>
              <a:rPr lang="ko-KR" altLang="en-US" sz="700" dirty="0"/>
              <a:t>전기공사협회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- 9.</a:t>
            </a:r>
            <a:r>
              <a:rPr lang="ko-KR" altLang="en-US" sz="700" dirty="0"/>
              <a:t>건설공사기성실적증명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</a:t>
            </a:r>
            <a:r>
              <a:rPr lang="en-US" altLang="ko-KR" sz="700" dirty="0"/>
              <a:t>_</a:t>
            </a:r>
            <a:r>
              <a:rPr lang="ko-KR" altLang="en-US" sz="700" dirty="0" err="1"/>
              <a:t>세부공종</a:t>
            </a:r>
            <a:r>
              <a:rPr lang="en-US" altLang="ko-KR" sz="700" dirty="0"/>
              <a:t>(</a:t>
            </a:r>
            <a:r>
              <a:rPr lang="ko-KR" altLang="en-US" sz="700" dirty="0"/>
              <a:t>전문</a:t>
            </a:r>
            <a:r>
              <a:rPr lang="en-US" altLang="ko-KR" sz="700" dirty="0"/>
              <a:t>) 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br>
              <a:rPr lang="en-US" altLang="ko-KR" sz="700" dirty="0"/>
            </a:br>
            <a:r>
              <a:rPr lang="en-US" altLang="ko-KR" sz="700" dirty="0"/>
              <a:t>- 10.</a:t>
            </a:r>
            <a:r>
              <a:rPr lang="ko-KR" altLang="en-US" sz="700" dirty="0"/>
              <a:t>건설공사 </a:t>
            </a:r>
            <a:r>
              <a:rPr lang="ko-KR" altLang="en-US" sz="700" dirty="0" err="1"/>
              <a:t>직접시공분</a:t>
            </a:r>
            <a:r>
              <a:rPr lang="ko-KR" altLang="en-US" sz="700" dirty="0"/>
              <a:t> 기성실적증명</a:t>
            </a:r>
            <a:r>
              <a:rPr lang="en-US" altLang="ko-KR" sz="700" dirty="0"/>
              <a:t>(</a:t>
            </a:r>
            <a:r>
              <a:rPr lang="ko-KR" altLang="en-US" sz="700" dirty="0"/>
              <a:t>신청</a:t>
            </a:r>
            <a:r>
              <a:rPr lang="en-US" altLang="ko-KR" sz="700" dirty="0"/>
              <a:t>)</a:t>
            </a:r>
            <a:r>
              <a:rPr lang="ko-KR" altLang="en-US" sz="700" dirty="0"/>
              <a:t>서 </a:t>
            </a:r>
            <a:r>
              <a:rPr lang="en-US" altLang="ko-KR" sz="700" dirty="0"/>
              <a:t>[</a:t>
            </a:r>
            <a:r>
              <a:rPr lang="ko-KR" altLang="en-US" sz="700" dirty="0"/>
              <a:t>건설산업기본법 시행규칙</a:t>
            </a:r>
            <a:r>
              <a:rPr lang="en-US" altLang="ko-KR" sz="700" dirty="0"/>
              <a:t>/</a:t>
            </a:r>
            <a:r>
              <a:rPr lang="ko-KR" altLang="en-US" sz="700" dirty="0" err="1"/>
              <a:t>국토해양부</a:t>
            </a:r>
            <a:r>
              <a:rPr lang="en-US" altLang="ko-KR" sz="700" dirty="0"/>
              <a:t>]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신청 공통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신청정보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90" name="그룹 89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91" name="직선 연결선 9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2" name="직선 연결선 9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그룹 93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96" name="타원 9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04" name="그룹 103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106" name="타원 105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880034" y="1959757"/>
            <a:ext cx="2543426" cy="2532373"/>
            <a:chOff x="740592" y="2562912"/>
            <a:chExt cx="2543426" cy="2532373"/>
          </a:xfrm>
        </p:grpSpPr>
        <p:sp>
          <p:nvSpPr>
            <p:cNvPr id="164" name="모서리가 둥근 직사각형 163"/>
            <p:cNvSpPr/>
            <p:nvPr/>
          </p:nvSpPr>
          <p:spPr>
            <a:xfrm>
              <a:off x="740592" y="2562912"/>
              <a:ext cx="2543426" cy="2532373"/>
            </a:xfrm>
            <a:prstGeom prst="roundRect">
              <a:avLst>
                <a:gd name="adj" fmla="val 3825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43672" y="2624732"/>
              <a:ext cx="2154318" cy="24237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b="1" dirty="0">
                  <a:latin typeface="Consolas" panose="020B0609020204030204" pitchFamily="49" charset="0"/>
                </a:rPr>
                <a:t>유의사항</a:t>
              </a:r>
              <a:endParaRPr lang="en-US" altLang="ko-KR" sz="700" b="1" dirty="0">
                <a:latin typeface="Consolas" panose="020B0609020204030204" pitchFamily="49" charset="0"/>
              </a:endParaRP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납품실적증명서의 사용목적이 적격심사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입찰참가용일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대외기관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제출용만</a:t>
              </a:r>
              <a:r>
                <a:rPr lang="ko-KR" altLang="en-US" sz="700" dirty="0">
                  <a:latin typeface="Consolas" panose="020B0609020204030204" pitchFamily="49" charset="0"/>
                </a:rPr>
                <a:t> 발급합니다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청 내부 부서는 해당부서 담당자가 관련 시스템을 통하여 직접 확인 가능하니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담당자와 유선으로 협조하시기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실적증명서 발급 관련문의는 해당 군부대로 해주시기 바랍니다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>
                  <a:latin typeface="Consolas" panose="020B0609020204030204" pitchFamily="49" charset="0"/>
                </a:rPr>
                <a:t>해당 군부대의 연락처 확인이 어려울 경우에는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</a:t>
              </a:r>
              <a:r>
                <a:rPr lang="ko-KR" altLang="en-US" sz="700" dirty="0" err="1">
                  <a:latin typeface="Consolas" panose="020B0609020204030204" pitchFamily="49" charset="0"/>
                </a:rPr>
                <a:t>안내센터로</a:t>
              </a:r>
              <a:r>
                <a:rPr lang="ko-KR" altLang="en-US" sz="700" dirty="0">
                  <a:latin typeface="Consolas" panose="020B0609020204030204" pitchFamily="49" charset="0"/>
                </a:rPr>
                <a:t> 문의하시면 안내 받으실 수 있습니다</a:t>
              </a:r>
              <a:r>
                <a:rPr lang="en-US" altLang="ko-KR" sz="700" dirty="0">
                  <a:latin typeface="Consolas" panose="020B0609020204030204" pitchFamily="49" charset="0"/>
                </a:rPr>
                <a:t>.</a:t>
              </a:r>
              <a:br>
                <a:rPr lang="en-US" altLang="ko-KR" sz="700" dirty="0">
                  <a:latin typeface="Consolas" panose="020B0609020204030204" pitchFamily="49" charset="0"/>
                </a:rPr>
              </a:br>
              <a:r>
                <a:rPr lang="en-US" altLang="ko-KR" sz="700" dirty="0">
                  <a:latin typeface="Consolas" panose="020B0609020204030204" pitchFamily="49" charset="0"/>
                </a:rPr>
                <a:t>(</a:t>
              </a:r>
              <a:r>
                <a:rPr lang="ko-KR" altLang="en-US" sz="700" dirty="0">
                  <a:latin typeface="Consolas" panose="020B0609020204030204" pitchFamily="49" charset="0"/>
                </a:rPr>
                <a:t>안내센터에서는 부대 연락처 확인만 가능하며</a:t>
              </a:r>
              <a:r>
                <a:rPr lang="en-US" altLang="ko-KR" sz="700" dirty="0">
                  <a:latin typeface="Consolas" panose="020B0609020204030204" pitchFamily="49" charset="0"/>
                </a:rPr>
                <a:t>, </a:t>
              </a:r>
              <a:r>
                <a:rPr lang="ko-KR" altLang="en-US" sz="700" dirty="0">
                  <a:latin typeface="Consolas" panose="020B0609020204030204" pitchFamily="49" charset="0"/>
                </a:rPr>
                <a:t>실적증명서 발급 안내는 불가</a:t>
              </a:r>
              <a:r>
                <a:rPr lang="en-US" altLang="ko-KR" sz="700" dirty="0">
                  <a:latin typeface="Consolas" panose="020B0609020204030204" pitchFamily="49" charset="0"/>
                </a:rPr>
                <a:t>)</a:t>
              </a:r>
            </a:p>
            <a:p>
              <a:pPr marL="171450" indent="-171450">
                <a:lnSpc>
                  <a:spcPct val="150000"/>
                </a:lnSpc>
                <a:buFontTx/>
                <a:buChar char="-"/>
              </a:pPr>
              <a:r>
                <a:rPr lang="ko-KR" altLang="en-US" sz="700" dirty="0" err="1">
                  <a:latin typeface="Consolas" panose="020B0609020204030204" pitchFamily="49" charset="0"/>
                </a:rPr>
                <a:t>군전화</a:t>
              </a:r>
              <a:r>
                <a:rPr lang="ko-KR" altLang="en-US" sz="700" dirty="0">
                  <a:latin typeface="Consolas" panose="020B0609020204030204" pitchFamily="49" charset="0"/>
                </a:rPr>
                <a:t> 안내센터 </a:t>
              </a:r>
              <a:r>
                <a:rPr lang="en-US" altLang="ko-KR" sz="700" dirty="0">
                  <a:latin typeface="Consolas" panose="020B0609020204030204" pitchFamily="49" charset="0"/>
                </a:rPr>
                <a:t>: 02-748-0114, 042-550-0114</a:t>
              </a:r>
            </a:p>
          </p:txBody>
        </p:sp>
        <p:sp>
          <p:nvSpPr>
            <p:cNvPr id="166" name="타원 165"/>
            <p:cNvSpPr/>
            <p:nvPr/>
          </p:nvSpPr>
          <p:spPr>
            <a:xfrm>
              <a:off x="813731" y="2629468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7" name="그룹 166"/>
            <p:cNvGrpSpPr/>
            <p:nvPr/>
          </p:nvGrpSpPr>
          <p:grpSpPr>
            <a:xfrm flipV="1">
              <a:off x="3091512" y="2664908"/>
              <a:ext cx="94010" cy="47005"/>
              <a:chOff x="6812560" y="3297172"/>
              <a:chExt cx="94010" cy="47005"/>
            </a:xfrm>
          </p:grpSpPr>
          <p:cxnSp>
            <p:nvCxnSpPr>
              <p:cNvPr id="168" name="직선 연결선 16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6" name="그룹 305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다음으로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30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이전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신청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grpSp>
        <p:nvGrpSpPr>
          <p:cNvPr id="311" name="그룹 310"/>
          <p:cNvGrpSpPr/>
          <p:nvPr/>
        </p:nvGrpSpPr>
        <p:grpSpPr>
          <a:xfrm>
            <a:off x="675400" y="2863500"/>
            <a:ext cx="2712026" cy="1467127"/>
            <a:chOff x="675400" y="2590223"/>
            <a:chExt cx="2712026" cy="1467127"/>
          </a:xfrm>
        </p:grpSpPr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신청정보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14" name="직사각형 313"/>
            <p:cNvSpPr/>
            <p:nvPr/>
          </p:nvSpPr>
          <p:spPr>
            <a:xfrm>
              <a:off x="722583" y="2897708"/>
              <a:ext cx="792000" cy="10869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5" name="직선 연결선 3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 연락처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발급수량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제출처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사용목적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18" name="직선 연결선 3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19" name="직선 연결선 3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0" name="직선 연결선 3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1" name="직선 연결선 3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468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22" name="직선 연결선 3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05735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0981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08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0" name="그룹 329"/>
          <p:cNvGrpSpPr/>
          <p:nvPr/>
        </p:nvGrpSpPr>
        <p:grpSpPr>
          <a:xfrm>
            <a:off x="3153204" y="3489127"/>
            <a:ext cx="94010" cy="47005"/>
            <a:chOff x="6812560" y="3297172"/>
            <a:chExt cx="94010" cy="47005"/>
          </a:xfrm>
        </p:grpSpPr>
        <p:cxnSp>
          <p:nvCxnSpPr>
            <p:cNvPr id="331" name="직선 연결선 33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2" name="직선 연결선 33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666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83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335" name="그룹 334"/>
          <p:cNvGrpSpPr/>
          <p:nvPr/>
        </p:nvGrpSpPr>
        <p:grpSpPr>
          <a:xfrm>
            <a:off x="3153204" y="3916614"/>
            <a:ext cx="94010" cy="47005"/>
            <a:chOff x="6812560" y="3297172"/>
            <a:chExt cx="94010" cy="47005"/>
          </a:xfrm>
        </p:grpSpPr>
        <p:cxnSp>
          <p:nvCxnSpPr>
            <p:cNvPr id="336" name="직선 연결선 33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37" name="직선 연결선 33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6242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기타 내용을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1" name="모서리가 둥근 직사각형 340"/>
          <p:cNvSpPr/>
          <p:nvPr/>
        </p:nvSpPr>
        <p:spPr>
          <a:xfrm>
            <a:off x="759699" y="4436191"/>
            <a:ext cx="2543426" cy="326142"/>
          </a:xfrm>
          <a:prstGeom prst="roundRect">
            <a:avLst>
              <a:gd name="adj" fmla="val 19039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62779" y="4545401"/>
            <a:ext cx="2154318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Consolas" panose="020B0609020204030204" pitchFamily="49" charset="0"/>
              </a:rPr>
              <a:t>유의사항</a:t>
            </a:r>
            <a:endParaRPr lang="en-US" altLang="ko-KR" sz="700" b="1" dirty="0">
              <a:latin typeface="Consolas" panose="020B0609020204030204" pitchFamily="49" charset="0"/>
            </a:endParaRPr>
          </a:p>
        </p:txBody>
      </p:sp>
      <p:sp>
        <p:nvSpPr>
          <p:cNvPr id="343" name="타원 342"/>
          <p:cNvSpPr/>
          <p:nvPr/>
        </p:nvSpPr>
        <p:spPr>
          <a:xfrm>
            <a:off x="832838" y="4502746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4" name="그룹 343"/>
          <p:cNvGrpSpPr/>
          <p:nvPr/>
        </p:nvGrpSpPr>
        <p:grpSpPr>
          <a:xfrm>
            <a:off x="3110619" y="4575760"/>
            <a:ext cx="94010" cy="47005"/>
            <a:chOff x="6812560" y="3297172"/>
            <a:chExt cx="94010" cy="47005"/>
          </a:xfrm>
        </p:grpSpPr>
        <p:cxnSp>
          <p:nvCxnSpPr>
            <p:cNvPr id="345" name="직선 연결선 3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6" name="직선 연결선 3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48" name="그룹 347"/>
          <p:cNvGrpSpPr/>
          <p:nvPr/>
        </p:nvGrpSpPr>
        <p:grpSpPr>
          <a:xfrm>
            <a:off x="3790563" y="1498734"/>
            <a:ext cx="2717198" cy="357754"/>
            <a:chOff x="675399" y="1846937"/>
            <a:chExt cx="2717198" cy="357754"/>
          </a:xfrm>
        </p:grpSpPr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351" name="그룹 35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371" name="직선 연결선 37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72" name="직선 연결선 37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2" name="그룹 35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369" name="타원 368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2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54" name="그룹 353"/>
            <p:cNvGrpSpPr/>
            <p:nvPr/>
          </p:nvGrpSpPr>
          <p:grpSpPr>
            <a:xfrm rot="16200000">
              <a:off x="2887583" y="1999831"/>
              <a:ext cx="94010" cy="47005"/>
              <a:chOff x="6812560" y="3297172"/>
              <a:chExt cx="94010" cy="47005"/>
            </a:xfrm>
          </p:grpSpPr>
          <p:cxnSp>
            <p:nvCxnSpPr>
              <p:cNvPr id="365" name="직선 연결선 3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66" name="직선 연결선 3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55" name="그룹 35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363" name="타원 362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40362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신청정보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358" name="그룹 357"/>
            <p:cNvGrpSpPr/>
            <p:nvPr/>
          </p:nvGrpSpPr>
          <p:grpSpPr>
            <a:xfrm>
              <a:off x="3039523" y="1929352"/>
              <a:ext cx="187961" cy="187961"/>
              <a:chOff x="2714860" y="3237230"/>
              <a:chExt cx="187961" cy="187961"/>
            </a:xfrm>
          </p:grpSpPr>
          <p:sp>
            <p:nvSpPr>
              <p:cNvPr id="359" name="타원 358"/>
              <p:cNvSpPr/>
              <p:nvPr/>
            </p:nvSpPr>
            <p:spPr>
              <a:xfrm>
                <a:off x="2714860" y="323723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769917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3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379" name="TextBox 37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</p:spTree>
    <p:extLst>
      <p:ext uri="{BB962C8B-B14F-4D97-AF65-F5344CB8AC3E}">
        <p14:creationId xmlns:p14="http://schemas.microsoft.com/office/powerpoint/2010/main" val="3557995158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 구분이 방위사업청인 경우 </a:t>
            </a:r>
            <a:r>
              <a:rPr lang="ko-KR" altLang="en-US" dirty="0" err="1"/>
              <a:t>작성항목</a:t>
            </a:r>
            <a:r>
              <a:rPr lang="en-US" altLang="ko-KR" dirty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/>
              <a:t>항목은 불러온 정보 기반으로 정보가 채워져 있으며</a:t>
            </a:r>
            <a:r>
              <a:rPr lang="en-US" altLang="ko-KR" dirty="0"/>
              <a:t>, </a:t>
            </a:r>
            <a:r>
              <a:rPr lang="ko-KR" altLang="en-US" dirty="0"/>
              <a:t>수정 가능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>
                <a:solidFill>
                  <a:srgbClr val="FF0000"/>
                </a:solidFill>
              </a:rPr>
              <a:t>아래 사용 목적 정보에 따라 표시 내역 변경에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납품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선금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3. </a:t>
            </a:r>
            <a:r>
              <a:rPr lang="ko-KR" altLang="en-US" dirty="0"/>
              <a:t>선금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착수금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/>
              <a:t>착수금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/>
              <a:t>중도금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4. </a:t>
            </a:r>
            <a:r>
              <a:rPr lang="ko-KR" altLang="en-US" dirty="0"/>
              <a:t>중도금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세무서제출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당해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보증회사제출</a:t>
            </a:r>
            <a:r>
              <a:rPr lang="en-US" altLang="ko-KR" dirty="0"/>
              <a:t>-</a:t>
            </a:r>
            <a:r>
              <a:rPr lang="ko-KR" altLang="en-US" dirty="0"/>
              <a:t>예정</a:t>
            </a:r>
            <a:r>
              <a:rPr lang="en-US" altLang="ko-KR" dirty="0"/>
              <a:t>(</a:t>
            </a:r>
            <a:r>
              <a:rPr lang="ko-KR" altLang="en-US" dirty="0" err="1"/>
              <a:t>납품금</a:t>
            </a:r>
            <a:r>
              <a:rPr lang="en-US" altLang="ko-KR" dirty="0"/>
              <a:t>) </a:t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5. </a:t>
            </a:r>
            <a:r>
              <a:rPr lang="ko-KR" altLang="en-US" dirty="0"/>
              <a:t>정산</a:t>
            </a:r>
            <a:r>
              <a:rPr lang="en-US" altLang="ko-KR" dirty="0"/>
              <a:t>, 6. </a:t>
            </a:r>
            <a:r>
              <a:rPr lang="ko-KR" altLang="en-US" dirty="0"/>
              <a:t>보증보험번호 및 확인요청사항</a:t>
            </a:r>
            <a:r>
              <a:rPr lang="en-US" altLang="ko-KR" dirty="0"/>
              <a:t>, </a:t>
            </a:r>
            <a:r>
              <a:rPr lang="en-US" altLang="ko-KR" dirty="0">
                <a:solidFill>
                  <a:srgbClr val="FF0000"/>
                </a:solidFill>
              </a:rPr>
              <a:t>7. </a:t>
            </a:r>
            <a:r>
              <a:rPr lang="ko-KR" altLang="en-US" dirty="0" err="1">
                <a:solidFill>
                  <a:srgbClr val="FF0000"/>
                </a:solidFill>
              </a:rPr>
              <a:t>정산일자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적격심사제출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입찰참가용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납품</a:t>
            </a:r>
            <a:r>
              <a:rPr lang="en-US" altLang="ko-KR" dirty="0"/>
              <a:t>, 7. </a:t>
            </a:r>
            <a:r>
              <a:rPr lang="ko-KR" altLang="en-US" dirty="0" err="1"/>
              <a:t>납품일자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기타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1~7. </a:t>
            </a:r>
            <a:r>
              <a:rPr lang="ko-KR" altLang="en-US" dirty="0" err="1"/>
              <a:t>납품일자</a:t>
            </a:r>
            <a:r>
              <a:rPr lang="ko-KR" altLang="en-US" dirty="0"/>
              <a:t> 전부 표시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저장</a:t>
            </a:r>
            <a:r>
              <a:rPr lang="en-US" altLang="ko-KR" dirty="0"/>
              <a:t>, </a:t>
            </a:r>
            <a:r>
              <a:rPr lang="ko-KR" altLang="en-US" dirty="0"/>
              <a:t>신청에 따라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저장 되었습니다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신청이 완료되었습니다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>
                <a:solidFill>
                  <a:srgbClr val="FF0000"/>
                </a:solidFill>
              </a:rPr>
              <a:t>신청한 이후 관리자 </a:t>
            </a:r>
            <a:r>
              <a:rPr lang="en-US" altLang="ko-KR" dirty="0" smtClean="0">
                <a:solidFill>
                  <a:srgbClr val="FF0000"/>
                </a:solidFill>
              </a:rPr>
              <a:t>[</a:t>
            </a:r>
            <a:r>
              <a:rPr lang="ko-KR" altLang="en-US" dirty="0" smtClean="0">
                <a:solidFill>
                  <a:srgbClr val="FF0000"/>
                </a:solidFill>
              </a:rPr>
              <a:t>발급</a:t>
            </a:r>
            <a:r>
              <a:rPr lang="en-US" altLang="ko-KR" dirty="0" smtClean="0">
                <a:solidFill>
                  <a:srgbClr val="FF0000"/>
                </a:solidFill>
              </a:rPr>
              <a:t>]</a:t>
            </a:r>
            <a:r>
              <a:rPr lang="ko-KR" altLang="en-US" dirty="0" smtClean="0">
                <a:solidFill>
                  <a:srgbClr val="FF0000"/>
                </a:solidFill>
              </a:rPr>
              <a:t> 상태에서 실적증명서를 제출할 수 있음</a:t>
            </a:r>
            <a:r>
              <a:rPr lang="en-US" altLang="ko-KR" dirty="0" smtClean="0">
                <a:solidFill>
                  <a:srgbClr val="FF0000"/>
                </a:solidFill>
              </a:rPr>
              <a:t>.</a:t>
            </a:r>
            <a:endParaRPr lang="en-US" altLang="ko-KR" dirty="0">
              <a:solidFill>
                <a:srgbClr val="FF0000"/>
              </a:solidFill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 err="1">
                <a:latin typeface="+mn-ea"/>
              </a:rPr>
              <a:t>방위사업청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 err="1">
                <a:latin typeface="+mn-ea"/>
              </a:rPr>
              <a:t>방위사업청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MUI-CM-04-T12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grpSp>
        <p:nvGrpSpPr>
          <p:cNvPr id="61" name="그룹 60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6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328" name="그림 32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3136" y="4935854"/>
            <a:ext cx="134873" cy="137278"/>
          </a:xfrm>
          <a:prstGeom prst="rect">
            <a:avLst/>
          </a:prstGeom>
        </p:spPr>
      </p:pic>
      <p:grpSp>
        <p:nvGrpSpPr>
          <p:cNvPr id="5" name="그룹 4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69" name="그룹 6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6" name="그룹 15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7" name="직선 연결선 16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타원 18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79" name="그룹 7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80" name="직선 연결선 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87" name="그룹 86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88" name="직선 연결선 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89" name="직선 연결선 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99" name="그룹 98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01" name="타원 100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5" name="그룹 11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6" name="타원 11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3" name="그룹 2"/>
          <p:cNvGrpSpPr/>
          <p:nvPr/>
        </p:nvGrpSpPr>
        <p:grpSpPr>
          <a:xfrm>
            <a:off x="716366" y="2869580"/>
            <a:ext cx="2630093" cy="2255186"/>
            <a:chOff x="3836701" y="2590223"/>
            <a:chExt cx="2630093" cy="2255186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20" name="직선 연결선 11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1" name="직선 연결선 12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2" name="직사각형 121"/>
            <p:cNvSpPr/>
            <p:nvPr/>
          </p:nvSpPr>
          <p:spPr>
            <a:xfrm>
              <a:off x="3838794" y="2897709"/>
              <a:ext cx="792000" cy="193868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납품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지출년도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선금금액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정산금액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착수금액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중도금액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보증보험번호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확인요청사항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9113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483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54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4540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47" name="타원 34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86435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8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21161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년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grpSp>
        <p:nvGrpSpPr>
          <p:cNvPr id="181" name="그룹 180"/>
          <p:cNvGrpSpPr/>
          <p:nvPr/>
        </p:nvGrpSpPr>
        <p:grpSpPr>
          <a:xfrm>
            <a:off x="3153204" y="3269885"/>
            <a:ext cx="94010" cy="47005"/>
            <a:chOff x="6812560" y="3297172"/>
            <a:chExt cx="94010" cy="47005"/>
          </a:xfrm>
        </p:grpSpPr>
        <p:cxnSp>
          <p:nvCxnSpPr>
            <p:cNvPr id="182" name="직선 연결선 1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3" name="직선 연결선 18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43213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64773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38551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0707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27824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4931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123456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70700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9233" y="4929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2025-12-13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45874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366528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38" name="모서리가 둥근 직사각형 237"/>
          <p:cNvSpPr/>
          <p:nvPr/>
        </p:nvSpPr>
        <p:spPr>
          <a:xfrm>
            <a:off x="3370903" y="387307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39" name="모서리가 둥근 직사각형 238"/>
          <p:cNvSpPr/>
          <p:nvPr/>
        </p:nvSpPr>
        <p:spPr>
          <a:xfrm>
            <a:off x="3370903" y="409226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358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60033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42" name="모서리가 둥근 직사각형 241"/>
          <p:cNvSpPr/>
          <p:nvPr/>
        </p:nvSpPr>
        <p:spPr>
          <a:xfrm>
            <a:off x="3370903" y="4937387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330819958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B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1. </a:t>
            </a:r>
            <a:r>
              <a:rPr lang="ko-KR" altLang="en-US" dirty="0"/>
              <a:t>시공실적증명서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적격심사기준에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2. 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 </a:t>
            </a:r>
            <a:r>
              <a:rPr lang="en-US" altLang="ko-KR" dirty="0"/>
              <a:t>[</a:t>
            </a:r>
            <a:r>
              <a:rPr lang="ko-KR" altLang="en-US" dirty="0" err="1"/>
              <a:t>군시설공사</a:t>
            </a:r>
            <a:r>
              <a:rPr lang="ko-KR" altLang="en-US" dirty="0"/>
              <a:t> </a:t>
            </a:r>
            <a:r>
              <a:rPr lang="ko-KR" altLang="en-US" dirty="0" err="1"/>
              <a:t>입찰참가자격사전심사</a:t>
            </a:r>
            <a:r>
              <a:rPr lang="ko-KR" altLang="en-US" dirty="0"/>
              <a:t> 세부운영기준에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 </a:t>
            </a:r>
            <a:r>
              <a:rPr lang="en-US" altLang="ko-KR" dirty="0"/>
              <a:t>[</a:t>
            </a:r>
            <a:r>
              <a:rPr lang="ko-KR" altLang="en-US" dirty="0"/>
              <a:t>최저가낙찰제 </a:t>
            </a:r>
            <a:r>
              <a:rPr lang="ko-KR" altLang="en-US" dirty="0" err="1"/>
              <a:t>대상공사의</a:t>
            </a:r>
            <a:r>
              <a:rPr lang="ko-KR" altLang="en-US" dirty="0"/>
              <a:t> 입찰금액 </a:t>
            </a:r>
            <a:r>
              <a:rPr lang="en-US" altLang="ko-KR" dirty="0"/>
              <a:t>(</a:t>
            </a:r>
            <a:r>
              <a:rPr lang="ko-KR" altLang="en-US" dirty="0"/>
              <a:t>원</a:t>
            </a:r>
            <a:r>
              <a:rPr lang="en-US" altLang="ko-KR" dirty="0"/>
              <a:t>) </a:t>
            </a:r>
            <a:r>
              <a:rPr lang="ko-KR" altLang="en-US" dirty="0"/>
              <a:t>적정성 세부심사기준에 관한 훈령</a:t>
            </a:r>
            <a:r>
              <a:rPr lang="en-US" altLang="ko-KR" dirty="0"/>
              <a:t>/</a:t>
            </a:r>
            <a:r>
              <a:rPr lang="ko-KR" altLang="en-US" dirty="0"/>
              <a:t>국방부</a:t>
            </a:r>
            <a:r>
              <a:rPr lang="en-US" altLang="ko-KR" dirty="0"/>
              <a:t>]</a:t>
            </a:r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일반 정보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팝업 도움말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>
                <a:latin typeface="맑은 고딕 (본문)"/>
              </a:rPr>
              <a:t>장기계속</a:t>
            </a:r>
            <a:r>
              <a:rPr lang="ko-KR" altLang="en-US" dirty="0">
                <a:latin typeface="맑은 고딕 (본문)"/>
              </a:rPr>
              <a:t> 또는 계속비공사는 </a:t>
            </a:r>
            <a:r>
              <a:rPr lang="ko-KR" altLang="en-US" dirty="0" err="1">
                <a:latin typeface="맑은 고딕 (본문)"/>
              </a:rPr>
              <a:t>총공사기준</a:t>
            </a:r>
            <a:r>
              <a:rPr lang="ko-KR" altLang="en-US" dirty="0">
                <a:latin typeface="맑은 고딕 (본문)"/>
              </a:rPr>
              <a:t> 작성</a:t>
            </a: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/>
            </a:r>
            <a:br>
              <a:rPr lang="en-US" altLang="ko-KR" dirty="0">
                <a:latin typeface="맑은 고딕 (본문)"/>
              </a:rPr>
            </a:br>
            <a:r>
              <a:rPr lang="en-US" altLang="ko-KR" dirty="0">
                <a:latin typeface="맑은 고딕 (본문)"/>
              </a:rPr>
              <a:t>- </a:t>
            </a:r>
            <a:r>
              <a:rPr lang="en-US" altLang="ko-KR" dirty="0"/>
              <a:t>[5. 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인 경우 표기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준공일자</a:t>
            </a:r>
            <a:r>
              <a:rPr lang="ko-KR" altLang="en-US" dirty="0"/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준공예정일자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  &gt; </a:t>
            </a:r>
            <a:r>
              <a:rPr lang="ko-KR" altLang="en-US" dirty="0" err="1">
                <a:sym typeface="Wingdings" panose="05000000000000000000" pitchFamily="2" charset="2"/>
              </a:rPr>
              <a:t>중공금액</a:t>
            </a:r>
            <a:r>
              <a:rPr lang="ko-KR" altLang="en-US" dirty="0">
                <a:sym typeface="Wingdings" panose="05000000000000000000" pitchFamily="2" charset="2"/>
              </a:rPr>
              <a:t>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계약금액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날짜</a:t>
            </a:r>
            <a:r>
              <a:rPr lang="en-US" altLang="ko-KR" dirty="0"/>
              <a:t>, </a:t>
            </a:r>
            <a:r>
              <a:rPr lang="ko-KR" altLang="en-US" dirty="0"/>
              <a:t>일자 등은 날짜 검색 팝업 호출</a:t>
            </a: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/>
              <a:t>입력 시 단위 표시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2" name="그룹 161"/>
          <p:cNvGrpSpPr/>
          <p:nvPr/>
        </p:nvGrpSpPr>
        <p:grpSpPr>
          <a:xfrm>
            <a:off x="3836701" y="1947099"/>
            <a:ext cx="2630093" cy="1611734"/>
            <a:chOff x="720490" y="3930133"/>
            <a:chExt cx="2630093" cy="16117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총공사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2" name="직선 연결선 1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직선 연결선 1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4" name="그룹 183"/>
          <p:cNvGrpSpPr/>
          <p:nvPr/>
        </p:nvGrpSpPr>
        <p:grpSpPr>
          <a:xfrm>
            <a:off x="720490" y="2862923"/>
            <a:ext cx="2630093" cy="1389048"/>
            <a:chOff x="720490" y="2590223"/>
            <a:chExt cx="2630093" cy="1389048"/>
          </a:xfrm>
        </p:grpSpPr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6" name="그룹 185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6" name="직선 연결선 19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7" name="직선 연결선 19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7" name="직사각형 186"/>
            <p:cNvSpPr/>
            <p:nvPr/>
          </p:nvSpPr>
          <p:spPr>
            <a:xfrm>
              <a:off x="722583" y="2897709"/>
              <a:ext cx="792000" cy="10815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면허번호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4291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123456-7890123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7316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8" name="그룹 197"/>
          <p:cNvGrpSpPr/>
          <p:nvPr/>
        </p:nvGrpSpPr>
        <p:grpSpPr>
          <a:xfrm>
            <a:off x="3836701" y="3726810"/>
            <a:ext cx="2630093" cy="1611734"/>
            <a:chOff x="720490" y="3930133"/>
            <a:chExt cx="2630093" cy="1611734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 및 준공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금차공사</a:t>
              </a:r>
              <a:r>
                <a:rPr lang="ko-KR" altLang="en-US" sz="700" dirty="0">
                  <a:latin typeface="+mn-ea"/>
                </a:rPr>
                <a:t> 기준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00" name="그룹 199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2" name="직선 연결선 21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3" name="직선 연결선 21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/>
            <p:cNvSpPr/>
            <p:nvPr/>
          </p:nvSpPr>
          <p:spPr>
            <a:xfrm>
              <a:off x="722583" y="4237619"/>
              <a:ext cx="792000" cy="13042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962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공사금액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4" name="그룹 213"/>
          <p:cNvGrpSpPr/>
          <p:nvPr/>
        </p:nvGrpSpPr>
        <p:grpSpPr>
          <a:xfrm>
            <a:off x="4965217" y="1994801"/>
            <a:ext cx="243478" cy="144000"/>
            <a:chOff x="5087822" y="2638846"/>
            <a:chExt cx="243478" cy="144000"/>
          </a:xfrm>
        </p:grpSpPr>
        <p:sp>
          <p:nvSpPr>
            <p:cNvPr id="215" name="타원 21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6" name="모서리가 둥근 직사각형 21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2047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1992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219" name="그림 21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296967"/>
            <a:ext cx="134873" cy="137278"/>
          </a:xfrm>
          <a:prstGeom prst="rect">
            <a:avLst/>
          </a:prstGeom>
        </p:spPr>
      </p:pic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29016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1" name="그림 22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207"/>
            <a:ext cx="134873" cy="137278"/>
          </a:xfrm>
          <a:prstGeom prst="rect">
            <a:avLst/>
          </a:prstGeom>
        </p:spPr>
      </p:pic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14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3" name="그림 22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8422"/>
            <a:ext cx="134873" cy="137278"/>
          </a:xfrm>
          <a:prstGeom prst="rect">
            <a:avLst/>
          </a:prstGeom>
        </p:spPr>
      </p:pic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161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9372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1522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7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072919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0661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294159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2873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3" name="그림 232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504374"/>
            <a:ext cx="134873" cy="137278"/>
          </a:xfrm>
          <a:prstGeom prst="rect">
            <a:avLst/>
          </a:prstGeom>
        </p:spPr>
      </p:pic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49756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713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92820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51432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0" name="타원 2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24822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41" name="타원 24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4831" y="31538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4513093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/>
              <a:t>계약에 정보가 있다면</a:t>
            </a:r>
            <a:r>
              <a:rPr lang="en-US" altLang="ko-KR" dirty="0"/>
              <a:t>, </a:t>
            </a:r>
            <a:r>
              <a:rPr lang="ko-KR" altLang="en-US" dirty="0"/>
              <a:t>정보 기반으로 완성</a:t>
            </a:r>
            <a:r>
              <a:rPr lang="en-US" altLang="ko-KR" dirty="0"/>
              <a:t>, </a:t>
            </a:r>
            <a:r>
              <a:rPr lang="ko-KR" altLang="en-US" dirty="0"/>
              <a:t>정보가 없는 경우 선택되어 있지 않음</a:t>
            </a:r>
            <a:r>
              <a:rPr lang="en-US" altLang="ko-KR" dirty="0"/>
              <a:t>.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244" name="그룹 243"/>
          <p:cNvGrpSpPr/>
          <p:nvPr/>
        </p:nvGrpSpPr>
        <p:grpSpPr>
          <a:xfrm>
            <a:off x="716366" y="1930462"/>
            <a:ext cx="2630093" cy="1904757"/>
            <a:chOff x="1108393" y="2993988"/>
            <a:chExt cx="2630093" cy="190475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69364" y="2993988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공사성질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46" name="그룹 245"/>
            <p:cNvGrpSpPr/>
            <p:nvPr/>
          </p:nvGrpSpPr>
          <p:grpSpPr>
            <a:xfrm flipV="1">
              <a:off x="3531451" y="3107319"/>
              <a:ext cx="94010" cy="47005"/>
              <a:chOff x="6812560" y="3297172"/>
              <a:chExt cx="94010" cy="47005"/>
            </a:xfrm>
          </p:grpSpPr>
          <p:cxnSp>
            <p:nvCxnSpPr>
              <p:cNvPr id="267" name="직선 연결선 2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8" name="직선 연결선 2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47" name="직사각형 246"/>
            <p:cNvSpPr/>
            <p:nvPr/>
          </p:nvSpPr>
          <p:spPr>
            <a:xfrm>
              <a:off x="1110486" y="3301474"/>
              <a:ext cx="792000" cy="159126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08393" y="33014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3556270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39512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197550" y="4371103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52" name="그룹 251"/>
            <p:cNvGrpSpPr/>
            <p:nvPr/>
          </p:nvGrpSpPr>
          <p:grpSpPr>
            <a:xfrm>
              <a:off x="1955552" y="3384977"/>
              <a:ext cx="1711564" cy="484748"/>
              <a:chOff x="712771" y="2321043"/>
              <a:chExt cx="1711564" cy="484748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48474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확장공사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개보수공사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63" name="직사각형 26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직사각형 26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5" name="직사각형 264"/>
              <p:cNvSpPr/>
              <p:nvPr/>
            </p:nvSpPr>
            <p:spPr>
              <a:xfrm>
                <a:off x="772169" y="268930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TextBox 26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53" name="그룹 252"/>
            <p:cNvGrpSpPr/>
            <p:nvPr/>
          </p:nvGrpSpPr>
          <p:grpSpPr>
            <a:xfrm>
              <a:off x="1955552" y="4029869"/>
              <a:ext cx="1711564" cy="807913"/>
              <a:chOff x="712771" y="2321043"/>
              <a:chExt cx="1711564" cy="807913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80791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신규공사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증설공사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이설공사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개설공사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보수공사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56" name="직사각형 255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직사각형 256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8" name="직사각형 257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9" name="TextBox 258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60" name="직사각형 259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직사각형 260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1110486" y="489874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9" name="그룹 268"/>
          <p:cNvGrpSpPr/>
          <p:nvPr/>
        </p:nvGrpSpPr>
        <p:grpSpPr>
          <a:xfrm>
            <a:off x="716366" y="3990718"/>
            <a:ext cx="2630093" cy="957295"/>
            <a:chOff x="716366" y="4635456"/>
            <a:chExt cx="2630093" cy="957295"/>
          </a:xfrm>
        </p:grpSpPr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4635456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공동도급 여부</a:t>
              </a:r>
            </a:p>
          </p:txBody>
        </p:sp>
        <p:grpSp>
          <p:nvGrpSpPr>
            <p:cNvPr id="271" name="그룹 270"/>
            <p:cNvGrpSpPr/>
            <p:nvPr/>
          </p:nvGrpSpPr>
          <p:grpSpPr>
            <a:xfrm flipV="1">
              <a:off x="3139424" y="4748787"/>
              <a:ext cx="94010" cy="47005"/>
              <a:chOff x="6812560" y="3297172"/>
              <a:chExt cx="94010" cy="47005"/>
            </a:xfrm>
          </p:grpSpPr>
          <p:cxnSp>
            <p:nvCxnSpPr>
              <p:cNvPr id="282" name="직선 연결선 28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 28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2" name="직사각형 271"/>
            <p:cNvSpPr/>
            <p:nvPr/>
          </p:nvSpPr>
          <p:spPr>
            <a:xfrm>
              <a:off x="718459" y="4942942"/>
              <a:ext cx="792000" cy="64379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3" name="직선 연결선 2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494294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5197738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건설공사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55927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76" name="그룹 275"/>
            <p:cNvGrpSpPr/>
            <p:nvPr/>
          </p:nvGrpSpPr>
          <p:grpSpPr>
            <a:xfrm>
              <a:off x="1621527" y="5026445"/>
              <a:ext cx="1653562" cy="476212"/>
              <a:chOff x="1621527" y="4558451"/>
              <a:chExt cx="1653562" cy="476212"/>
            </a:xfrm>
          </p:grpSpPr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792374" y="4558451"/>
                <a:ext cx="1482715" cy="4639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공동이행방식</a:t>
                </a:r>
                <a:r>
                  <a:rPr lang="en-US" altLang="ko-KR" sz="700" dirty="0">
                    <a:latin typeface="+mn-ea"/>
                  </a:rPr>
                  <a:t>1</a:t>
                </a: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분담이행방식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단독도급</a:t>
                </a:r>
                <a:endParaRPr lang="en-US" altLang="ko-KR" sz="700" dirty="0">
                  <a:latin typeface="+mn-ea"/>
                </a:endParaRPr>
              </a:p>
            </p:txBody>
          </p:sp>
          <p:grpSp>
            <p:nvGrpSpPr>
              <p:cNvPr id="278" name="그룹 277"/>
              <p:cNvGrpSpPr/>
              <p:nvPr/>
            </p:nvGrpSpPr>
            <p:grpSpPr>
              <a:xfrm>
                <a:off x="1621527" y="4575499"/>
                <a:ext cx="107950" cy="459164"/>
                <a:chOff x="794115" y="2294987"/>
                <a:chExt cx="107950" cy="459164"/>
              </a:xfrm>
            </p:grpSpPr>
            <p:sp>
              <p:nvSpPr>
                <p:cNvPr id="279" name="타원 278"/>
                <p:cNvSpPr/>
                <p:nvPr/>
              </p:nvSpPr>
              <p:spPr>
                <a:xfrm>
                  <a:off x="794115" y="2294987"/>
                  <a:ext cx="107950" cy="10795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0" name="타원 279"/>
                <p:cNvSpPr/>
                <p:nvPr/>
              </p:nvSpPr>
              <p:spPr>
                <a:xfrm>
                  <a:off x="794115" y="246512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1" name="타원 280"/>
                <p:cNvSpPr/>
                <p:nvPr/>
              </p:nvSpPr>
              <p:spPr>
                <a:xfrm>
                  <a:off x="794115" y="2646201"/>
                  <a:ext cx="107950" cy="107950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284" name="그룹 283"/>
          <p:cNvGrpSpPr/>
          <p:nvPr/>
        </p:nvGrpSpPr>
        <p:grpSpPr>
          <a:xfrm>
            <a:off x="3836701" y="1930462"/>
            <a:ext cx="2630093" cy="2026729"/>
            <a:chOff x="3836701" y="2575200"/>
            <a:chExt cx="2630093" cy="202672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75200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실적의 종류</a:t>
              </a:r>
            </a:p>
          </p:txBody>
        </p:sp>
        <p:grpSp>
          <p:nvGrpSpPr>
            <p:cNvPr id="286" name="그룹 285"/>
            <p:cNvGrpSpPr/>
            <p:nvPr/>
          </p:nvGrpSpPr>
          <p:grpSpPr>
            <a:xfrm flipV="1">
              <a:off x="6259759" y="2688531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87" name="직사각형 286"/>
            <p:cNvSpPr/>
            <p:nvPr/>
          </p:nvSpPr>
          <p:spPr>
            <a:xfrm>
              <a:off x="3838794" y="2882686"/>
              <a:ext cx="792000" cy="17112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8" name="직선 연결선 2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82685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368446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전기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>
                  <a:latin typeface="+mn-ea"/>
                </a:rPr>
                <a:t>그 밖의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290" name="그룹 289"/>
            <p:cNvGrpSpPr/>
            <p:nvPr/>
          </p:nvGrpSpPr>
          <p:grpSpPr>
            <a:xfrm>
              <a:off x="4683860" y="2935851"/>
              <a:ext cx="1711564" cy="1615827"/>
              <a:chOff x="712771" y="2321043"/>
              <a:chExt cx="1711564" cy="1615827"/>
            </a:xfrm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41620" y="2321043"/>
                <a:ext cx="1482715" cy="161582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개념설계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기본설계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실시설계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시공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감리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품질</a:t>
                </a:r>
                <a:r>
                  <a:rPr lang="en-US" altLang="ko-KR" sz="700" dirty="0">
                    <a:latin typeface="+mn-ea"/>
                  </a:rPr>
                  <a:t>, </a:t>
                </a:r>
                <a:r>
                  <a:rPr lang="ko-KR" altLang="en-US" sz="700" dirty="0">
                    <a:latin typeface="+mn-ea"/>
                  </a:rPr>
                  <a:t>공사관리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시운전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기자재제작설치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 err="1">
                    <a:latin typeface="+mn-ea"/>
                  </a:rPr>
                  <a:t>기자재설치</a:t>
                </a:r>
                <a:endParaRPr lang="en-US" altLang="ko-KR" sz="7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700" dirty="0">
                    <a:latin typeface="+mn-ea"/>
                  </a:rPr>
                  <a:t>기타</a:t>
                </a:r>
                <a:endParaRPr lang="en-US" altLang="ko-KR" sz="700" dirty="0">
                  <a:latin typeface="+mn-ea"/>
                </a:endParaRPr>
              </a:p>
            </p:txBody>
          </p:sp>
          <p:sp>
            <p:nvSpPr>
              <p:cNvPr id="293" name="직사각형 292"/>
              <p:cNvSpPr/>
              <p:nvPr/>
            </p:nvSpPr>
            <p:spPr>
              <a:xfrm>
                <a:off x="772169" y="2335952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4" name="직사각형 293"/>
              <p:cNvSpPr/>
              <p:nvPr/>
            </p:nvSpPr>
            <p:spPr>
              <a:xfrm>
                <a:off x="772169" y="2509633"/>
                <a:ext cx="107950" cy="10795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5" name="직사각형 294"/>
              <p:cNvSpPr/>
              <p:nvPr/>
            </p:nvSpPr>
            <p:spPr>
              <a:xfrm>
                <a:off x="772169" y="2680596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6" name="TextBox 295"/>
              <p:cNvSpPr txBox="1"/>
              <p:nvPr/>
            </p:nvSpPr>
            <p:spPr>
              <a:xfrm>
                <a:off x="712771" y="2471275"/>
                <a:ext cx="221536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600" dirty="0">
                    <a:solidFill>
                      <a:schemeClr val="bg1"/>
                    </a:solidFill>
                  </a:rPr>
                  <a:t>v</a:t>
                </a:r>
                <a:endParaRPr lang="ko-KR" altLang="en-US" sz="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97" name="직사각형 296"/>
              <p:cNvSpPr/>
              <p:nvPr/>
            </p:nvSpPr>
            <p:spPr>
              <a:xfrm>
                <a:off x="772169" y="283078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8" name="직사각형 297"/>
              <p:cNvSpPr/>
              <p:nvPr/>
            </p:nvSpPr>
            <p:spPr>
              <a:xfrm>
                <a:off x="772169" y="299077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9" name="직사각형 298"/>
              <p:cNvSpPr/>
              <p:nvPr/>
            </p:nvSpPr>
            <p:spPr>
              <a:xfrm>
                <a:off x="772169" y="314818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직사각형 299"/>
              <p:cNvSpPr/>
              <p:nvPr/>
            </p:nvSpPr>
            <p:spPr>
              <a:xfrm>
                <a:off x="772169" y="3298375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1" name="직사각형 300"/>
              <p:cNvSpPr/>
              <p:nvPr/>
            </p:nvSpPr>
            <p:spPr>
              <a:xfrm>
                <a:off x="772169" y="3458370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2" name="직사각형 301"/>
              <p:cNvSpPr/>
              <p:nvPr/>
            </p:nvSpPr>
            <p:spPr>
              <a:xfrm>
                <a:off x="772169" y="3616573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3" name="직사각형 302"/>
              <p:cNvSpPr/>
              <p:nvPr/>
            </p:nvSpPr>
            <p:spPr>
              <a:xfrm>
                <a:off x="772169" y="3776568"/>
                <a:ext cx="107950" cy="107950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0192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84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560975219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>
                <a:latin typeface="+mn-ea"/>
              </a:rPr>
              <a:t>도움말 표시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 err="1">
                <a:latin typeface="+mn-ea"/>
              </a:rPr>
              <a:t>공동수급체</a:t>
            </a:r>
            <a:r>
              <a:rPr lang="ko-KR" altLang="en-US" dirty="0">
                <a:latin typeface="+mn-ea"/>
              </a:rPr>
              <a:t> </a:t>
            </a:r>
            <a:r>
              <a:rPr lang="ko-KR" altLang="en-US" dirty="0" err="1">
                <a:latin typeface="+mn-ea"/>
              </a:rPr>
              <a:t>구성원별로</a:t>
            </a:r>
            <a:r>
              <a:rPr lang="ko-KR" altLang="en-US" dirty="0">
                <a:latin typeface="+mn-ea"/>
              </a:rPr>
              <a:t> 구분 작성</a:t>
            </a:r>
            <a:endParaRPr lang="en-US" altLang="ko-KR" dirty="0">
              <a:latin typeface="+mn-ea"/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1 </a:t>
            </a:r>
            <a:r>
              <a:rPr lang="ko-KR" altLang="en-US" dirty="0"/>
              <a:t>및 </a:t>
            </a:r>
            <a:r>
              <a:rPr lang="ko-KR" altLang="en-US" dirty="0" err="1"/>
              <a:t>시공자</a:t>
            </a:r>
            <a:r>
              <a:rPr lang="ko-KR" altLang="en-US" dirty="0"/>
              <a:t> </a:t>
            </a:r>
            <a:r>
              <a:rPr lang="en-US" altLang="ko-KR" dirty="0"/>
              <a:t>2</a:t>
            </a:r>
            <a:r>
              <a:rPr lang="ko-KR" altLang="en-US" dirty="0"/>
              <a:t>도 동일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관급금액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도급자설치</a:t>
            </a:r>
            <a:r>
              <a:rPr lang="ko-KR" altLang="en-US" dirty="0"/>
              <a:t> </a:t>
            </a:r>
            <a:r>
              <a:rPr lang="ko-KR" altLang="en-US" dirty="0" err="1"/>
              <a:t>관급금액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ko-KR" altLang="en-US" dirty="0"/>
              <a:t> </a:t>
            </a:r>
            <a:r>
              <a:rPr lang="en-US" altLang="ko-KR" dirty="0"/>
              <a:t>: </a:t>
            </a:r>
            <a:r>
              <a:rPr lang="ko-KR" altLang="en-US" dirty="0"/>
              <a:t>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전체공사</a:t>
            </a:r>
            <a:r>
              <a:rPr lang="ko-KR" altLang="en-US" dirty="0"/>
              <a:t> </a:t>
            </a:r>
            <a:r>
              <a:rPr lang="ko-KR" altLang="en-US" dirty="0" err="1"/>
              <a:t>계약규모</a:t>
            </a:r>
            <a:r>
              <a:rPr lang="ko-KR" altLang="en-US" dirty="0"/>
              <a:t> </a:t>
            </a:r>
            <a:r>
              <a:rPr lang="en-US" altLang="ko-KR" dirty="0"/>
              <a:t>:</a:t>
            </a:r>
            <a:r>
              <a:rPr lang="ko-KR" altLang="en-US" dirty="0"/>
              <a:t> 구체적인 </a:t>
            </a:r>
            <a:r>
              <a:rPr lang="ko-KR" altLang="en-US" dirty="0" err="1"/>
              <a:t>시공물량</a:t>
            </a:r>
            <a:r>
              <a:rPr lang="ko-KR" altLang="en-US" dirty="0"/>
              <a:t>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</a:t>
            </a:r>
            <a:r>
              <a:rPr lang="ko-KR" altLang="en-US" dirty="0"/>
              <a:t> </a:t>
            </a:r>
            <a:r>
              <a:rPr lang="ko-KR" altLang="en-US" dirty="0" err="1"/>
              <a:t>시공규모</a:t>
            </a:r>
            <a:r>
              <a:rPr lang="en-US" altLang="ko-KR" dirty="0"/>
              <a:t>, </a:t>
            </a:r>
            <a:r>
              <a:rPr lang="ko-KR" altLang="en-US" dirty="0"/>
              <a:t>방법</a:t>
            </a:r>
            <a:r>
              <a:rPr lang="en-US" altLang="ko-KR" dirty="0"/>
              <a:t>(</a:t>
            </a:r>
            <a:r>
              <a:rPr lang="ko-KR" altLang="en-US" dirty="0"/>
              <a:t>공법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전체공사의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17" name="그룹 116"/>
          <p:cNvGrpSpPr/>
          <p:nvPr/>
        </p:nvGrpSpPr>
        <p:grpSpPr>
          <a:xfrm>
            <a:off x="675400" y="1931806"/>
            <a:ext cx="2712026" cy="1870687"/>
            <a:chOff x="675400" y="2590223"/>
            <a:chExt cx="2712026" cy="1870687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대표</a:t>
              </a:r>
              <a:r>
                <a:rPr lang="en-US" altLang="ko-KR" sz="700" dirty="0">
                  <a:latin typeface="+mn-ea"/>
                </a:rPr>
                <a:t>)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9" name="그룹 11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62" name="직선 연결선 16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3" name="직선 연결선 16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0" name="직사각형 119"/>
            <p:cNvSpPr/>
            <p:nvPr/>
          </p:nvSpPr>
          <p:spPr>
            <a:xfrm>
              <a:off x="722583" y="2897708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조달테스트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123-45-67890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446091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379257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00644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22015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338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70" name="그룹 169"/>
          <p:cNvGrpSpPr/>
          <p:nvPr/>
        </p:nvGrpSpPr>
        <p:grpSpPr>
          <a:xfrm>
            <a:off x="675400" y="3831367"/>
            <a:ext cx="2712026" cy="1888105"/>
            <a:chOff x="675400" y="4489784"/>
            <a:chExt cx="2712026" cy="1888105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4489784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1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72" name="그룹 171"/>
            <p:cNvGrpSpPr/>
            <p:nvPr/>
          </p:nvGrpSpPr>
          <p:grpSpPr>
            <a:xfrm flipV="1">
              <a:off x="3143548" y="4603115"/>
              <a:ext cx="94010" cy="47005"/>
              <a:chOff x="6812560" y="3297172"/>
              <a:chExt cx="94010" cy="47005"/>
            </a:xfrm>
          </p:grpSpPr>
          <p:cxnSp>
            <p:nvCxnSpPr>
              <p:cNvPr id="187" name="직선 연결선 18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직선 연결선 18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직사각형 172"/>
            <p:cNvSpPr/>
            <p:nvPr/>
          </p:nvSpPr>
          <p:spPr>
            <a:xfrm>
              <a:off x="722583" y="4797269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797269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97269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2837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24208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4557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6694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400" y="6377889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69213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0600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1971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3341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9" name="그룹 188"/>
          <p:cNvGrpSpPr/>
          <p:nvPr/>
        </p:nvGrpSpPr>
        <p:grpSpPr>
          <a:xfrm>
            <a:off x="3795734" y="1931806"/>
            <a:ext cx="2712026" cy="1888105"/>
            <a:chOff x="3832578" y="3081088"/>
            <a:chExt cx="2712026" cy="1888105"/>
          </a:xfrm>
        </p:grpSpPr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38639" y="3081088"/>
              <a:ext cx="125688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시공자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2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1" name="그룹 190"/>
            <p:cNvGrpSpPr/>
            <p:nvPr/>
          </p:nvGrpSpPr>
          <p:grpSpPr>
            <a:xfrm flipV="1">
              <a:off x="6300726" y="3194419"/>
              <a:ext cx="94010" cy="47005"/>
              <a:chOff x="6812560" y="3297172"/>
              <a:chExt cx="94010" cy="47005"/>
            </a:xfrm>
          </p:grpSpPr>
          <p:cxnSp>
            <p:nvCxnSpPr>
              <p:cNvPr id="206" name="직선 연결선 20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7" name="직선 연결선 20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2" name="직사각형 191"/>
            <p:cNvSpPr/>
            <p:nvPr/>
          </p:nvSpPr>
          <p:spPr>
            <a:xfrm>
              <a:off x="3879761" y="3388573"/>
              <a:ext cx="792000" cy="15339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7668" y="338857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3388573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회사명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사업자등록번호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공시금액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6196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38333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0470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26079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2578" y="496919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66825" y="428343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관급포함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49730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7110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79761" y="49247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08" name="그룹 207"/>
          <p:cNvGrpSpPr/>
          <p:nvPr/>
        </p:nvGrpSpPr>
        <p:grpSpPr>
          <a:xfrm>
            <a:off x="3795734" y="3926870"/>
            <a:ext cx="2712027" cy="789495"/>
            <a:chOff x="675399" y="1544009"/>
            <a:chExt cx="2712027" cy="789495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전체공사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: </a:t>
              </a:r>
              <a:r>
                <a:rPr lang="ko-KR" altLang="en-US" sz="700" dirty="0">
                  <a:latin typeface="+mn-ea"/>
                </a:rPr>
                <a:t>구체적인 </a:t>
              </a:r>
              <a:r>
                <a:rPr lang="ko-KR" altLang="en-US" sz="700" dirty="0" err="1">
                  <a:latin typeface="+mn-ea"/>
                </a:rPr>
                <a:t>시공물량</a:t>
              </a:r>
              <a:r>
                <a:rPr lang="ko-KR" altLang="en-US" sz="700" dirty="0">
                  <a:latin typeface="+mn-ea"/>
                </a:rPr>
                <a:t> 표시</a:t>
              </a:r>
            </a:p>
          </p:txBody>
        </p:sp>
        <p:grpSp>
          <p:nvGrpSpPr>
            <p:cNvPr id="210" name="그룹 209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14" name="직선 연결선 21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5" name="직선 연결선 21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16" name="그룹 215"/>
          <p:cNvGrpSpPr/>
          <p:nvPr/>
        </p:nvGrpSpPr>
        <p:grpSpPr>
          <a:xfrm>
            <a:off x="3795734" y="4823498"/>
            <a:ext cx="2712027" cy="789495"/>
            <a:chOff x="675399" y="1544009"/>
            <a:chExt cx="2712027" cy="78949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실적공종또는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시공규모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방법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공법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23" name="직선 연결선 22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4" name="직선 연결선 22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26" name="그룹 225"/>
          <p:cNvGrpSpPr/>
          <p:nvPr/>
        </p:nvGrpSpPr>
        <p:grpSpPr>
          <a:xfrm>
            <a:off x="1323017" y="1994801"/>
            <a:ext cx="243478" cy="144000"/>
            <a:chOff x="5087822" y="2638846"/>
            <a:chExt cx="243478" cy="144000"/>
          </a:xfrm>
        </p:grpSpPr>
        <p:sp>
          <p:nvSpPr>
            <p:cNvPr id="227" name="타원 226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8" name="모서리가 둥근 직사각형 227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292366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292366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314437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314437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42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8959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288216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4828634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4828634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1766" y="5049345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835369" y="5049345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2792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494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509399" y="4787136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1709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3992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614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2933221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2933221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2768" y="3153932"/>
            <a:ext cx="876634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5946371" y="3153932"/>
            <a:ext cx="514081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00 %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838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9915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620401" y="2891723"/>
            <a:ext cx="34978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지분율</a:t>
            </a:r>
            <a:endParaRPr lang="en-US" altLang="ko-KR" sz="700" dirty="0">
              <a:latin typeface="+mn-ea"/>
            </a:endParaRPr>
          </a:p>
        </p:txBody>
      </p:sp>
      <p:sp>
        <p:nvSpPr>
          <p:cNvPr id="32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755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38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891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25197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5138469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4" name="타원 3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0521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4092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36" name="타원 33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4717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37" name="타원 3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397763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912" y="48792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6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26333196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신청에 따른 표시 정보 변경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[1.</a:t>
            </a:r>
            <a:r>
              <a:rPr lang="ko-KR" altLang="en-US" dirty="0"/>
              <a:t>시공실적증명서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시공회사별</a:t>
            </a:r>
            <a:r>
              <a:rPr lang="ko-KR" altLang="en-US" dirty="0"/>
              <a:t>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금액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실적증명</a:t>
            </a:r>
            <a:r>
              <a:rPr lang="ko-KR" altLang="en-US" dirty="0"/>
              <a:t> 발급일 기준 </a:t>
            </a:r>
            <a:r>
              <a:rPr lang="ko-KR" altLang="en-US" dirty="0" err="1"/>
              <a:t>실적공종</a:t>
            </a:r>
            <a:r>
              <a:rPr lang="ko-KR" altLang="en-US" dirty="0"/>
              <a:t> 또는 </a:t>
            </a:r>
            <a:r>
              <a:rPr lang="en-US" altLang="ko-KR" dirty="0"/>
              <a:t>PQ</a:t>
            </a:r>
            <a:r>
              <a:rPr lang="ko-KR" altLang="en-US" dirty="0" err="1"/>
              <a:t>공종의</a:t>
            </a:r>
            <a:r>
              <a:rPr lang="ko-KR" altLang="en-US" dirty="0"/>
              <a:t> </a:t>
            </a:r>
            <a:r>
              <a:rPr lang="ko-KR" altLang="en-US" dirty="0" err="1"/>
              <a:t>시공내용</a:t>
            </a:r>
            <a:r>
              <a:rPr lang="en-US" altLang="ko-KR" dirty="0"/>
              <a:t>, </a:t>
            </a:r>
            <a:r>
              <a:rPr lang="ko-KR" altLang="en-US" dirty="0"/>
              <a:t>공법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>
                <a:latin typeface="+mn-ea"/>
              </a:rPr>
              <a:t>하도급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도움말</a:t>
            </a:r>
            <a:r>
              <a:rPr lang="en-US" altLang="ko-KR" dirty="0">
                <a:latin typeface="+mn-ea"/>
              </a:rPr>
              <a:t/>
            </a:r>
            <a:br>
              <a:rPr lang="en-US" altLang="ko-KR" dirty="0">
                <a:latin typeface="+mn-ea"/>
              </a:rPr>
            </a:br>
            <a:r>
              <a:rPr lang="en-US" altLang="ko-KR" dirty="0">
                <a:latin typeface="+mn-ea"/>
              </a:rPr>
              <a:t>  &gt; </a:t>
            </a:r>
            <a:r>
              <a:rPr lang="ko-KR" altLang="en-US" dirty="0">
                <a:latin typeface="+mn-ea"/>
              </a:rPr>
              <a:t>하도급자별로 </a:t>
            </a:r>
            <a:r>
              <a:rPr lang="ko-KR" altLang="en-US" dirty="0" err="1">
                <a:latin typeface="+mn-ea"/>
              </a:rPr>
              <a:t>구분작성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>
                <a:latin typeface="+mn-ea"/>
              </a:rPr>
              <a:t>(</a:t>
            </a:r>
            <a:r>
              <a:rPr lang="ko-KR" altLang="en-US" dirty="0">
                <a:latin typeface="+mn-ea"/>
              </a:rPr>
              <a:t>전문건설업자에게 하도급 한 경우는 해당없음으로 표기</a:t>
            </a:r>
            <a:r>
              <a:rPr lang="en-US" altLang="ko-KR" dirty="0">
                <a:latin typeface="+mn-ea"/>
              </a:rPr>
              <a:t>)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>
                <a:latin typeface="+mn-ea"/>
              </a:rPr>
              <a:t>[</a:t>
            </a:r>
            <a:r>
              <a:rPr lang="en-US" altLang="ko-KR" dirty="0"/>
              <a:t>1.</a:t>
            </a:r>
            <a:r>
              <a:rPr lang="ko-KR" altLang="en-US" dirty="0"/>
              <a:t>시공실적증명서</a:t>
            </a:r>
            <a:r>
              <a:rPr lang="en-US" altLang="ko-KR" dirty="0"/>
              <a:t>],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 </a:t>
            </a:r>
            <a:r>
              <a:rPr lang="ko-KR" altLang="en-US" dirty="0"/>
              <a:t>명칭 변경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 err="1"/>
              <a:t>하도급자</a:t>
            </a:r>
            <a:r>
              <a:rPr lang="ko-KR" altLang="en-US" dirty="0"/>
              <a:t> 면허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하도급 공사 규모 및 금액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en-US" altLang="ko-KR" dirty="0"/>
              <a:t>[2.</a:t>
            </a:r>
            <a:r>
              <a:rPr lang="ko-KR" altLang="en-US" dirty="0" err="1"/>
              <a:t>시공실적</a:t>
            </a:r>
            <a:r>
              <a:rPr lang="en-US" altLang="ko-KR" dirty="0"/>
              <a:t>(</a:t>
            </a:r>
            <a:r>
              <a:rPr lang="ko-KR" altLang="en-US" dirty="0" err="1"/>
              <a:t>기성율</a:t>
            </a:r>
            <a:r>
              <a:rPr lang="en-US" altLang="ko-KR" dirty="0"/>
              <a:t>)</a:t>
            </a:r>
            <a:r>
              <a:rPr lang="ko-KR" altLang="en-US" dirty="0"/>
              <a:t>증명서</a:t>
            </a:r>
            <a:r>
              <a:rPr lang="en-US" altLang="ko-KR" dirty="0"/>
              <a:t>],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299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01795" y="1931536"/>
            <a:ext cx="2212218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하도급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내용</a:t>
            </a:r>
          </a:p>
        </p:txBody>
      </p:sp>
      <p:grpSp>
        <p:nvGrpSpPr>
          <p:cNvPr id="212" name="그룹 211"/>
          <p:cNvGrpSpPr/>
          <p:nvPr/>
        </p:nvGrpSpPr>
        <p:grpSpPr>
          <a:xfrm flipV="1">
            <a:off x="6263882" y="2044867"/>
            <a:ext cx="94010" cy="47005"/>
            <a:chOff x="6812560" y="3297172"/>
            <a:chExt cx="94010" cy="47005"/>
          </a:xfrm>
        </p:grpSpPr>
        <p:cxnSp>
          <p:nvCxnSpPr>
            <p:cNvPr id="249" name="직선 연결선 24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0" name="직선 연결선 24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51" name="그룹 250"/>
          <p:cNvGrpSpPr/>
          <p:nvPr/>
        </p:nvGrpSpPr>
        <p:grpSpPr>
          <a:xfrm>
            <a:off x="675399" y="1927617"/>
            <a:ext cx="2712027" cy="789495"/>
            <a:chOff x="675399" y="1544009"/>
            <a:chExt cx="2712027" cy="789495"/>
          </a:xfrm>
        </p:grpSpPr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금액</a:t>
              </a:r>
            </a:p>
          </p:txBody>
        </p:sp>
        <p:grpSp>
          <p:nvGrpSpPr>
            <p:cNvPr id="253" name="그룹 252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57" name="직선 연결선 25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8" name="직선 연결선 25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59" name="그룹 258"/>
          <p:cNvGrpSpPr/>
          <p:nvPr/>
        </p:nvGrpSpPr>
        <p:grpSpPr>
          <a:xfrm>
            <a:off x="675399" y="2824245"/>
            <a:ext cx="2712027" cy="789495"/>
            <a:chOff x="675399" y="1544009"/>
            <a:chExt cx="2712027" cy="789495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en-US" altLang="ko-KR" sz="700" dirty="0">
                  <a:latin typeface="+mn-ea"/>
                </a:rPr>
                <a:t>PQ 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준공금액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1" name="그룹 260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65" name="직선 연결선 26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6" name="직선 연결선 26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67" name="그룹 266"/>
          <p:cNvGrpSpPr/>
          <p:nvPr/>
        </p:nvGrpSpPr>
        <p:grpSpPr>
          <a:xfrm>
            <a:off x="675399" y="3724695"/>
            <a:ext cx="2712027" cy="789495"/>
            <a:chOff x="675399" y="1544009"/>
            <a:chExt cx="2712027" cy="78949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시공회사별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실적공종</a:t>
              </a:r>
              <a:r>
                <a:rPr lang="ko-KR" altLang="en-US" sz="700" dirty="0">
                  <a:latin typeface="+mn-ea"/>
                </a:rPr>
                <a:t>  또는 </a:t>
              </a:r>
              <a:r>
                <a:rPr lang="en-US" altLang="ko-KR" sz="700" dirty="0">
                  <a:latin typeface="+mn-ea"/>
                </a:rPr>
                <a:t>PQ</a:t>
              </a:r>
              <a:r>
                <a:rPr lang="ko-KR" altLang="en-US" sz="700" dirty="0" err="1">
                  <a:latin typeface="+mn-ea"/>
                </a:rPr>
                <a:t>공종의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관급금액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69" name="그룹 26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73" name="직선 연결선 27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4" name="직선 연결선 27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2" name="직선 연결선 2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03" name="그룹 302"/>
          <p:cNvGrpSpPr/>
          <p:nvPr/>
        </p:nvGrpSpPr>
        <p:grpSpPr>
          <a:xfrm>
            <a:off x="3795734" y="4608602"/>
            <a:ext cx="2712027" cy="792634"/>
            <a:chOff x="675399" y="1544009"/>
            <a:chExt cx="2712027" cy="792634"/>
          </a:xfrm>
        </p:grpSpPr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실적증명</a:t>
              </a:r>
              <a:r>
                <a:rPr lang="ko-KR" altLang="en-US" sz="700" dirty="0">
                  <a:latin typeface="+mn-ea"/>
                </a:rPr>
                <a:t> 발급일 기준 </a:t>
              </a:r>
              <a:r>
                <a:rPr lang="ko-KR" altLang="en-US" sz="700" dirty="0" err="1">
                  <a:latin typeface="+mn-ea"/>
                </a:rPr>
                <a:t>시공내용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305" name="그룹 304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9" name="직선 연결선 30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10" name="직선 연결선 30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6" name="직선 연결선 3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8" name="직선 연결선 3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3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2250157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315779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33749" y="405168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927558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2239021"/>
            <a:ext cx="2712026" cy="724779"/>
            <a:chOff x="3795734" y="2239021"/>
            <a:chExt cx="2712026" cy="724779"/>
          </a:xfrm>
        </p:grpSpPr>
        <p:sp>
          <p:nvSpPr>
            <p:cNvPr id="221" name="직사각형 220"/>
            <p:cNvSpPr/>
            <p:nvPr/>
          </p:nvSpPr>
          <p:spPr>
            <a:xfrm>
              <a:off x="3842917" y="2239021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2239021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452774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6747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9250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2963800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695742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2273857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39" name="직선 연결선 3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24354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261704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48328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42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2712378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43" name="그룹 342"/>
          <p:cNvGrpSpPr/>
          <p:nvPr/>
        </p:nvGrpSpPr>
        <p:grpSpPr>
          <a:xfrm>
            <a:off x="4418527" y="1994801"/>
            <a:ext cx="243478" cy="144000"/>
            <a:chOff x="5087822" y="2638846"/>
            <a:chExt cx="243478" cy="144000"/>
          </a:xfrm>
        </p:grpSpPr>
        <p:sp>
          <p:nvSpPr>
            <p:cNvPr id="344" name="타원 343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5" name="모서리가 둥근 직사각형 344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sp>
        <p:nvSpPr>
          <p:cNvPr id="346" name="타원 34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3795734" y="3014373"/>
            <a:ext cx="2712026" cy="724779"/>
            <a:chOff x="3795734" y="3007446"/>
            <a:chExt cx="2712026" cy="724779"/>
          </a:xfrm>
        </p:grpSpPr>
        <p:sp>
          <p:nvSpPr>
            <p:cNvPr id="347" name="직사각형 346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8" name="직선 연결선 3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1" name="직선 연결선 3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52" name="직선 연결선 3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55" name="직선 연결선 3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5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5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359" name="그룹 358"/>
          <p:cNvGrpSpPr/>
          <p:nvPr/>
        </p:nvGrpSpPr>
        <p:grpSpPr>
          <a:xfrm>
            <a:off x="3795734" y="3790541"/>
            <a:ext cx="2712026" cy="724779"/>
            <a:chOff x="3795734" y="3007446"/>
            <a:chExt cx="2712026" cy="724779"/>
          </a:xfrm>
        </p:grpSpPr>
        <p:sp>
          <p:nvSpPr>
            <p:cNvPr id="360" name="직사각형 359"/>
            <p:cNvSpPr/>
            <p:nvPr/>
          </p:nvSpPr>
          <p:spPr>
            <a:xfrm>
              <a:off x="3842917" y="3007446"/>
              <a:ext cx="792000" cy="6860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61" name="직선 연결선 3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0824" y="300744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2211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하도급공사 규모 </a:t>
              </a:r>
            </a:p>
            <a:p>
              <a:r>
                <a:rPr lang="ko-KR" altLang="en-US" sz="700" dirty="0">
                  <a:latin typeface="+mn-ea"/>
                </a:rPr>
                <a:t>및 내용</a:t>
              </a:r>
            </a:p>
          </p:txBody>
        </p:sp>
        <p:cxnSp>
          <p:nvCxnSpPr>
            <p:cNvPr id="363" name="직선 연결선 3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44314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4" name="직선 연결선 3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6934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65" name="직선 연결선 3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73222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46416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하도금금액</a:t>
              </a:r>
              <a:endParaRPr lang="en-US" altLang="ko-KR" sz="700" dirty="0">
                <a:latin typeface="+mn-ea"/>
              </a:endParaRPr>
            </a:p>
            <a:p>
              <a:r>
                <a:rPr lang="en-US" altLang="ko-KR" sz="700" dirty="0">
                  <a:latin typeface="+mn-ea"/>
                </a:rPr>
                <a:t>[</a:t>
              </a: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+</a:t>
              </a:r>
              <a:r>
                <a:rPr lang="ko-KR" altLang="en-US" sz="700" dirty="0">
                  <a:latin typeface="+mn-ea"/>
                </a:rPr>
                <a:t>관급</a:t>
              </a:r>
              <a:r>
                <a:rPr lang="en-US" altLang="ko-KR" sz="700" dirty="0">
                  <a:latin typeface="+mn-ea"/>
                </a:rPr>
                <a:t>]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9981" y="3042282"/>
              <a:ext cx="79200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하도급자</a:t>
              </a:r>
              <a:endParaRPr lang="ko-KR" altLang="en-US" sz="700" dirty="0">
                <a:latin typeface="+mn-ea"/>
              </a:endParaRPr>
            </a:p>
          </p:txBody>
        </p:sp>
        <p:cxnSp>
          <p:nvCxnSpPr>
            <p:cNvPr id="368" name="직선 연결선 3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42917" y="320386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69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030129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25171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37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4677497" y="3480803"/>
              <a:ext cx="1780918" cy="162000"/>
            </a:xfrm>
            <a:prstGeom prst="roundRect">
              <a:avLst/>
            </a:prstGeom>
            <a:noFill/>
            <a:ln w="317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입력해주세요</a:t>
              </a:r>
              <a:r>
                <a:rPr kumimoji="1" lang="en-US" altLang="ko-KR" sz="700" kern="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endParaRPr kumimoji="1" 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372" name="타원 37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6069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465132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10351" y="25895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63393203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정보는 총 </a:t>
            </a:r>
            <a:r>
              <a:rPr lang="en-US" altLang="ko-KR" dirty="0"/>
              <a:t>3</a:t>
            </a:r>
            <a:r>
              <a:rPr lang="ko-KR" altLang="en-US" dirty="0"/>
              <a:t>건 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[5.</a:t>
            </a:r>
            <a:r>
              <a:rPr lang="ko-KR" altLang="en-US" dirty="0" err="1"/>
              <a:t>실적자료</a:t>
            </a:r>
            <a:r>
              <a:rPr lang="ko-KR" altLang="en-US" dirty="0"/>
              <a:t> 발주기관 확인서</a:t>
            </a:r>
            <a:r>
              <a:rPr lang="en-US" altLang="ko-KR" dirty="0"/>
              <a:t>]</a:t>
            </a:r>
            <a:r>
              <a:rPr lang="ko-KR" altLang="en-US" dirty="0"/>
              <a:t> 인 경우 표시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unitB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unitB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MUI-CM-04-T13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9" name="그룹 158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242" name="직선 연결선 24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3" name="직선 연결선 24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240" name="타원 239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61" name="그룹 160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204" name="직선 연결선 2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25" name="직선 연결선 22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65" name="그룹 16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69" name="타원 16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66" name="그룹 16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67" name="타원 16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17" name="타원 2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978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62" name="그룹 161"/>
          <p:cNvGrpSpPr/>
          <p:nvPr/>
        </p:nvGrpSpPr>
        <p:grpSpPr>
          <a:xfrm>
            <a:off x="720490" y="1948159"/>
            <a:ext cx="2630093" cy="2031034"/>
            <a:chOff x="720490" y="2590223"/>
            <a:chExt cx="2630093" cy="2031034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2271776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최저가 적정성심사관련 시공실적자료</a:t>
              </a:r>
            </a:p>
          </p:txBody>
        </p:sp>
        <p:grpSp>
          <p:nvGrpSpPr>
            <p:cNvPr id="170" name="그룹 169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4" name="직선 연결선 18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직선 연결선 18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1" name="직사각형 170"/>
            <p:cNvSpPr/>
            <p:nvPr/>
          </p:nvSpPr>
          <p:spPr>
            <a:xfrm>
              <a:off x="722583" y="2897708"/>
              <a:ext cx="792000" cy="171117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2" name="직선 연결선 17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시공내용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사용장비명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장비규격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투입대수</a:t>
              </a:r>
              <a:r>
                <a:rPr lang="ko-KR" altLang="en-US" sz="700" dirty="0">
                  <a:latin typeface="+mn-ea"/>
                </a:rPr>
                <a:t> 누계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작업량 누계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작업시간 누계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시간당 작업량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기타 참고사항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18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1832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39695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0888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733331"/>
            <a:ext cx="76863" cy="292489"/>
            <a:chOff x="3750067" y="4683795"/>
            <a:chExt cx="76863" cy="292489"/>
          </a:xfrm>
        </p:grpSpPr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8" name="타원 187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89" name="타원 188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9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475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51304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81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457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62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779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26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9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77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176474205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C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3.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종합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MUI-CM-04-T14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70276257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unitC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unitC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MUI-CM-04-T14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682044"/>
            <a:chOff x="720490" y="3930133"/>
            <a:chExt cx="2630093" cy="2682044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2374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54782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발주자</a:t>
              </a:r>
              <a:endParaRPr lang="en-US" altLang="ko-KR" sz="700" dirty="0">
                <a:latin typeface="+mn-ea"/>
              </a:endParaRPr>
            </a:p>
            <a:p>
              <a:r>
                <a:rPr lang="ko-KR" altLang="en-US" sz="700" dirty="0" err="1">
                  <a:latin typeface="+mn-ea"/>
                </a:rPr>
                <a:t>공급자재액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768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18569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39243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59992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63967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백만원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218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4296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616353341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D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4.</a:t>
            </a:r>
            <a:r>
              <a:rPr lang="ko-KR" altLang="en-US" dirty="0" err="1"/>
              <a:t>건설폐기물처리용역이행</a:t>
            </a:r>
            <a:r>
              <a:rPr lang="ko-KR" altLang="en-US" dirty="0"/>
              <a:t> 실적증명서 </a:t>
            </a:r>
            <a:r>
              <a:rPr lang="en-US" altLang="ko-KR" dirty="0"/>
              <a:t>[</a:t>
            </a:r>
            <a:r>
              <a:rPr lang="ko-KR" altLang="en-US" dirty="0"/>
              <a:t>건설폐기물처리용역 </a:t>
            </a:r>
            <a:r>
              <a:rPr lang="ko-KR" altLang="en-US" dirty="0" err="1"/>
              <a:t>적격업체</a:t>
            </a:r>
            <a:r>
              <a:rPr lang="ko-KR" altLang="en-US" dirty="0"/>
              <a:t> 평가기준</a:t>
            </a:r>
            <a:r>
              <a:rPr lang="en-US" altLang="ko-KR" dirty="0"/>
              <a:t>/</a:t>
            </a:r>
            <a:r>
              <a:rPr lang="ko-KR" altLang="en-US" dirty="0"/>
              <a:t>환경부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수집</a:t>
            </a:r>
            <a:r>
              <a:rPr lang="en-US" altLang="ko-KR" dirty="0"/>
              <a:t>/</a:t>
            </a:r>
            <a:r>
              <a:rPr lang="ko-KR" altLang="en-US" dirty="0"/>
              <a:t>운반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중간처리용역 실적 표 </a:t>
            </a:r>
            <a:r>
              <a:rPr lang="en-US" altLang="ko-KR" dirty="0"/>
              <a:t>3</a:t>
            </a:r>
            <a:r>
              <a:rPr lang="ko-KR" altLang="en-US" dirty="0"/>
              <a:t>개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연도 선택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unitD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unitD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MUI-CM-04-T15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38" name="그룹 137"/>
          <p:cNvGrpSpPr/>
          <p:nvPr/>
        </p:nvGrpSpPr>
        <p:grpSpPr>
          <a:xfrm>
            <a:off x="3836701" y="1952113"/>
            <a:ext cx="2630093" cy="2031034"/>
            <a:chOff x="720490" y="3930133"/>
            <a:chExt cx="2630093" cy="203103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수집</a:t>
              </a:r>
              <a:r>
                <a:rPr lang="en-US" altLang="ko-KR" sz="700" dirty="0">
                  <a:latin typeface="+mn-ea"/>
                </a:rPr>
                <a:t>/</a:t>
              </a:r>
              <a:r>
                <a:rPr lang="ko-KR" altLang="en-US" sz="700" dirty="0" err="1">
                  <a:latin typeface="+mn-ea"/>
                </a:rPr>
                <a:t>운반용역</a:t>
              </a:r>
              <a:r>
                <a:rPr lang="ko-KR" altLang="en-US" sz="700" dirty="0">
                  <a:latin typeface="+mn-ea"/>
                </a:rPr>
                <a:t> 이행실적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183" name="직선 연결선 18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4" name="직선 연결선 18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85" name="그룹 184"/>
          <p:cNvGrpSpPr/>
          <p:nvPr/>
        </p:nvGrpSpPr>
        <p:grpSpPr>
          <a:xfrm>
            <a:off x="720490" y="2860457"/>
            <a:ext cx="2630093" cy="1393412"/>
            <a:chOff x="720490" y="2590223"/>
            <a:chExt cx="2630093" cy="1393412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87" name="그룹 186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97" name="직선 연결선 19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8" name="직선 연결선 19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8" name="직사각형 187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허가번호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증명서 용도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  <a:p>
              <a:pPr>
                <a:lnSpc>
                  <a:spcPct val="200000"/>
                </a:lnSpc>
              </a:pPr>
              <a:endParaRPr lang="ko-KR" altLang="en-US" sz="700" dirty="0">
                <a:latin typeface="+mn-ea"/>
              </a:endParaRPr>
            </a:p>
          </p:txBody>
        </p: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041977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2993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6547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2005971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03" name="그룹 202"/>
          <p:cNvGrpSpPr/>
          <p:nvPr/>
        </p:nvGrpSpPr>
        <p:grpSpPr>
          <a:xfrm>
            <a:off x="4247045" y="2063468"/>
            <a:ext cx="94010" cy="47005"/>
            <a:chOff x="6812560" y="3297172"/>
            <a:chExt cx="94010" cy="47005"/>
          </a:xfrm>
        </p:grpSpPr>
        <p:cxnSp>
          <p:nvCxnSpPr>
            <p:cNvPr id="205" name="직선 연결선 20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6" name="직선 연결선 20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7322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963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09" name="그림 20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9260"/>
            <a:ext cx="134873" cy="137278"/>
          </a:xfrm>
          <a:prstGeom prst="rect">
            <a:avLst/>
          </a:prstGeom>
        </p:spPr>
      </p:pic>
      <p:sp>
        <p:nvSpPr>
          <p:cNvPr id="21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5124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11" name="그림 21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33412"/>
            <a:ext cx="134873" cy="137278"/>
          </a:xfrm>
          <a:prstGeom prst="rect">
            <a:avLst/>
          </a:prstGeom>
        </p:spPr>
      </p:pic>
      <p:sp>
        <p:nvSpPr>
          <p:cNvPr id="21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27266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82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883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80313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5258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7" name="그룹 216"/>
          <p:cNvGrpSpPr/>
          <p:nvPr/>
        </p:nvGrpSpPr>
        <p:grpSpPr>
          <a:xfrm>
            <a:off x="3836701" y="4116532"/>
            <a:ext cx="2630093" cy="2031034"/>
            <a:chOff x="720490" y="3930133"/>
            <a:chExt cx="2630093" cy="2031034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220809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                </a:t>
              </a:r>
              <a:r>
                <a:rPr lang="ko-KR" altLang="en-US" sz="700" dirty="0">
                  <a:latin typeface="+mn-ea"/>
                </a:rPr>
                <a:t>년도 건설폐기물 중간처리용역 이행실적</a:t>
              </a:r>
            </a:p>
          </p:txBody>
        </p:sp>
        <p:grpSp>
          <p:nvGrpSpPr>
            <p:cNvPr id="219" name="그룹 21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32" name="직선 연결선 23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 23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20" name="직사각형 219"/>
            <p:cNvSpPr/>
            <p:nvPr/>
          </p:nvSpPr>
          <p:spPr>
            <a:xfrm>
              <a:off x="722583" y="4237619"/>
              <a:ext cx="792000" cy="171944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용역명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건설폐기물의종류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위탁량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톤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기성실적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6206396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36701" y="4170390"/>
            <a:ext cx="54324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6" name="그룹 235"/>
          <p:cNvGrpSpPr/>
          <p:nvPr/>
        </p:nvGrpSpPr>
        <p:grpSpPr>
          <a:xfrm>
            <a:off x="4247045" y="4227887"/>
            <a:ext cx="94010" cy="47005"/>
            <a:chOff x="6812560" y="3297172"/>
            <a:chExt cx="94010" cy="47005"/>
          </a:xfrm>
        </p:grpSpPr>
        <p:cxnSp>
          <p:nvCxnSpPr>
            <p:cNvPr id="237" name="직선 연결선 23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0" name="직선 연결선 23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4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5376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5405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6" name="그림 265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683679"/>
            <a:ext cx="134873" cy="137278"/>
          </a:xfrm>
          <a:prstGeom prst="rect">
            <a:avLst/>
          </a:prstGeom>
        </p:spPr>
      </p:pic>
      <p:sp>
        <p:nvSpPr>
          <p:cNvPr id="26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67687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68" name="그림 2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4897831"/>
            <a:ext cx="134873" cy="137278"/>
          </a:xfrm>
          <a:prstGeom prst="rect">
            <a:avLst/>
          </a:prstGeom>
        </p:spPr>
      </p:pic>
      <p:sp>
        <p:nvSpPr>
          <p:cNvPr id="26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48910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10267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75277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96755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531700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톤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89389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186969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33664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277" name="타원 27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084" y="407459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5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88995832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8" name="그룹 137"/>
          <p:cNvGrpSpPr/>
          <p:nvPr/>
        </p:nvGrpSpPr>
        <p:grpSpPr>
          <a:xfrm>
            <a:off x="3795734" y="1939881"/>
            <a:ext cx="2712026" cy="2290159"/>
            <a:chOff x="3795734" y="2590223"/>
            <a:chExt cx="2712026" cy="2290159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3838794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이월공사액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880382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E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6.</a:t>
            </a:r>
            <a:r>
              <a:rPr lang="ko-KR" altLang="en-US" dirty="0"/>
              <a:t>정보통신공사 실적증명서 </a:t>
            </a:r>
            <a:r>
              <a:rPr lang="en-US" altLang="ko-KR" dirty="0"/>
              <a:t>[</a:t>
            </a:r>
            <a:r>
              <a:rPr lang="ko-KR" altLang="en-US" dirty="0"/>
              <a:t>정보통신공사업법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전기공제조합</a:t>
            </a:r>
            <a:r>
              <a:rPr lang="en-US" altLang="ko-KR" dirty="0"/>
              <a:t>] 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unitE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unitE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MUI-CM-04-T16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700" kern="0" dirty="0"/>
              <a:t>1,000 </a:t>
            </a:r>
            <a:r>
              <a:rPr kumimoji="1" lang="ko-KR" altLang="en-US" sz="700" kern="0" dirty="0"/>
              <a:t>천원</a:t>
            </a:r>
            <a:endParaRPr kumimoji="1" lang="en-US" altLang="ko-KR" sz="700" kern="0" dirty="0"/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315111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518858"/>
            <a:ext cx="134873" cy="137278"/>
          </a:xfrm>
          <a:prstGeom prst="rect">
            <a:avLst/>
          </a:prstGeom>
        </p:spPr>
      </p:pic>
      <p:pic>
        <p:nvPicPr>
          <p:cNvPr id="188" name="그림 18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725180"/>
            <a:ext cx="134873" cy="137278"/>
          </a:xfrm>
          <a:prstGeom prst="rect">
            <a:avLst/>
          </a:prstGeom>
        </p:spPr>
      </p:pic>
      <p:pic>
        <p:nvPicPr>
          <p:cNvPr id="190" name="그림 18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2932670"/>
            <a:ext cx="134873" cy="137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679074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F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7.</a:t>
            </a:r>
            <a:r>
              <a:rPr lang="ko-KR" altLang="en-US" dirty="0"/>
              <a:t>소방시설공사 실적증명서 </a:t>
            </a:r>
            <a:r>
              <a:rPr lang="en-US" altLang="ko-KR" dirty="0"/>
              <a:t>[</a:t>
            </a:r>
            <a:r>
              <a:rPr lang="ko-KR" altLang="en-US" dirty="0"/>
              <a:t>소방시설공사업법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소방시설협회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MUI-CM-04-T17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56" name="그룹 155"/>
          <p:cNvGrpSpPr/>
          <p:nvPr/>
        </p:nvGrpSpPr>
        <p:grpSpPr>
          <a:xfrm>
            <a:off x="720490" y="2863519"/>
            <a:ext cx="2630093" cy="1179711"/>
            <a:chOff x="720490" y="2590223"/>
            <a:chExt cx="2630093" cy="117971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59" name="그룹 15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74" name="직선 연결선 1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직선 연결선 1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0" name="직사각형 15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91" name="그룹 190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</a:t>
              </a: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93" name="그룹 19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직사각형 193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공사지역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착공일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6" name="직선 연결선 20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0" name="직선 연결선 2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3327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60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2937845073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unitF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unitF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MUI-CM-04-T17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07" name="그룹 106"/>
          <p:cNvGrpSpPr/>
          <p:nvPr/>
        </p:nvGrpSpPr>
        <p:grpSpPr>
          <a:xfrm>
            <a:off x="675399" y="1941793"/>
            <a:ext cx="2712026" cy="2316283"/>
            <a:chOff x="675399" y="2590223"/>
            <a:chExt cx="2712026" cy="2316283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소방시설 공사실적 금액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26" name="직선 연결선 12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7" name="직선 연결선 12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0" name="직사각형 109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계약액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등록번호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</a:p>
          </p:txBody>
        </p: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0" name="직선 연결선 11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34783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ko-KR" altLang="en-US" sz="700" dirty="0" err="1"/>
                <a:t>미기성액</a:t>
              </a:r>
              <a:endParaRPr lang="ko-KR" altLang="en-US" sz="700" dirty="0"/>
            </a:p>
          </p:txBody>
        </p:sp>
      </p:grpSp>
      <p:grpSp>
        <p:nvGrpSpPr>
          <p:cNvPr id="128" name="그룹 127"/>
          <p:cNvGrpSpPr/>
          <p:nvPr/>
        </p:nvGrpSpPr>
        <p:grpSpPr>
          <a:xfrm>
            <a:off x="3795735" y="1941793"/>
            <a:ext cx="2712026" cy="2142112"/>
            <a:chOff x="675399" y="2590223"/>
            <a:chExt cx="2712026" cy="2142112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복합공종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타 </a:t>
              </a:r>
              <a:r>
                <a:rPr lang="ko-KR" altLang="en-US" sz="700" dirty="0" err="1">
                  <a:latin typeface="+mn-ea"/>
                </a:rPr>
                <a:t>공종</a:t>
              </a:r>
              <a:r>
                <a:rPr lang="ko-KR" altLang="en-US" sz="700" dirty="0">
                  <a:latin typeface="+mn-ea"/>
                </a:rPr>
                <a:t> 포함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 err="1">
                  <a:latin typeface="+mn-ea"/>
                </a:rPr>
                <a:t>실적내용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30" name="그룹 129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7" name="직선 연결선 16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31" name="직사각형 130"/>
            <p:cNvSpPr/>
            <p:nvPr/>
          </p:nvSpPr>
          <p:spPr>
            <a:xfrm>
              <a:off x="718459" y="2897709"/>
              <a:ext cx="792000" cy="10772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도급금액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전년까지의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금년도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609205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864694653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G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8.</a:t>
            </a:r>
            <a:r>
              <a:rPr lang="ko-KR" altLang="en-US" dirty="0"/>
              <a:t>전기공사 실적증명서 </a:t>
            </a:r>
            <a:r>
              <a:rPr lang="en-US" altLang="ko-KR" dirty="0"/>
              <a:t>[</a:t>
            </a:r>
            <a:r>
              <a:rPr lang="ko-KR" altLang="en-US" dirty="0"/>
              <a:t>전기공사업법 시행에 관한 규정</a:t>
            </a:r>
            <a:r>
              <a:rPr lang="en-US" altLang="ko-KR" dirty="0"/>
              <a:t>/</a:t>
            </a:r>
            <a:r>
              <a:rPr lang="ko-KR" altLang="en-US" dirty="0"/>
              <a:t>전기공사협회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720490" y="2863519"/>
            <a:ext cx="2630093" cy="1393412"/>
            <a:chOff x="720490" y="2590223"/>
            <a:chExt cx="2630093" cy="1393412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180" name="직선 연결선 17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0" name="직사각형 169"/>
            <p:cNvSpPr/>
            <p:nvPr/>
          </p:nvSpPr>
          <p:spPr>
            <a:xfrm>
              <a:off x="722583" y="2897709"/>
              <a:ext cx="792000" cy="108469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1" name="직선 연결선 17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전화번호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영업소 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02-1234-5678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175" name="직선 연결선 17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6" name="직선 연결선 17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9836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8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7643" y="406965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83" name="그룹 182"/>
          <p:cNvGrpSpPr/>
          <p:nvPr/>
        </p:nvGrpSpPr>
        <p:grpSpPr>
          <a:xfrm>
            <a:off x="3795734" y="1940948"/>
            <a:ext cx="2712026" cy="2943301"/>
            <a:chOff x="3795734" y="2590223"/>
            <a:chExt cx="2712026" cy="2943301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 공사 내역</a:t>
              </a:r>
            </a:p>
          </p:txBody>
        </p:sp>
        <p:grpSp>
          <p:nvGrpSpPr>
            <p:cNvPr id="185" name="그룹 184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255" name="직선 연결선 25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6" name="직선 연결선 25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86" name="직사각형 185"/>
            <p:cNvSpPr/>
            <p:nvPr/>
          </p:nvSpPr>
          <p:spPr>
            <a:xfrm>
              <a:off x="3838794" y="2897709"/>
              <a:ext cx="792000" cy="25853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5853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공사종류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공사현장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원도급자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등록번호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계약체결일자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계약방법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도급종류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897708"/>
              <a:ext cx="1784088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공사 명칭 표시 영역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 err="1"/>
                <a:t>김길동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주무관</a:t>
              </a: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en-US" altLang="ko-KR" sz="700" dirty="0"/>
                <a:t>111111</a:t>
              </a:r>
            </a:p>
          </p:txBody>
        </p: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5" name="직선 연결선 24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6" name="직선 연결선 24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7" name="직선 연결선 24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8" name="직선 연결선 24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9" name="직선 연결선 24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0" name="직선 연결선 2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533524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409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6158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47439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4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6258557" y="2562978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18" name="그림 21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0" name="그림 219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789939"/>
            <a:ext cx="134873" cy="137278"/>
          </a:xfrm>
          <a:prstGeom prst="rect">
            <a:avLst/>
          </a:prstGeom>
        </p:spPr>
      </p:pic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78313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2" name="그림 221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997429"/>
            <a:ext cx="134873" cy="137278"/>
          </a:xfrm>
          <a:prstGeom prst="rect">
            <a:avLst/>
          </a:prstGeom>
        </p:spPr>
      </p:pic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99062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2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21059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5" name="그룹 224"/>
          <p:cNvGrpSpPr/>
          <p:nvPr/>
        </p:nvGrpSpPr>
        <p:grpSpPr>
          <a:xfrm>
            <a:off x="6258557" y="4268094"/>
            <a:ext cx="94010" cy="47005"/>
            <a:chOff x="6812560" y="3297172"/>
            <a:chExt cx="94010" cy="47005"/>
          </a:xfrm>
        </p:grpSpPr>
        <p:cxnSp>
          <p:nvCxnSpPr>
            <p:cNvPr id="226" name="직선 연결선 2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7" name="직선 연결선 2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42504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6258557" y="4482543"/>
            <a:ext cx="94010" cy="47005"/>
            <a:chOff x="6812560" y="3297172"/>
            <a:chExt cx="94010" cy="47005"/>
          </a:xfrm>
        </p:grpSpPr>
        <p:cxnSp>
          <p:nvCxnSpPr>
            <p:cNvPr id="230" name="직선 연결선 22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1" name="직선 연결선 23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463252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33" name="그룹 232"/>
          <p:cNvGrpSpPr/>
          <p:nvPr/>
        </p:nvGrpSpPr>
        <p:grpSpPr>
          <a:xfrm>
            <a:off x="6258557" y="4690024"/>
            <a:ext cx="94010" cy="47005"/>
            <a:chOff x="6812560" y="3297172"/>
            <a:chExt cx="94010" cy="47005"/>
          </a:xfrm>
        </p:grpSpPr>
        <p:cxnSp>
          <p:nvCxnSpPr>
            <p:cNvPr id="234" name="직선 연결선 23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5" name="직선 연결선 234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3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3325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292756454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도움말 아이콘 </a:t>
            </a:r>
            <a:r>
              <a:rPr lang="en-US" altLang="ko-KR" dirty="0"/>
              <a:t>(</a:t>
            </a:r>
            <a:r>
              <a:rPr lang="ko-KR" altLang="en-US" dirty="0"/>
              <a:t>팝업 표시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/>
              <a:t>- ※ 3</a:t>
            </a:r>
            <a:r>
              <a:rPr lang="ko-KR" altLang="en-US" dirty="0"/>
              <a:t>개 업체 이상인 경우 </a:t>
            </a:r>
            <a:r>
              <a:rPr lang="ko-KR" altLang="en-US" dirty="0" err="1"/>
              <a:t>업체명에</a:t>
            </a:r>
            <a:r>
              <a:rPr lang="ko-KR" altLang="en-US" dirty="0"/>
              <a:t> ○○ 외 ○개 업체로 표기 후 합산하여 금액 기재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하도급 업체 </a:t>
            </a:r>
            <a:r>
              <a:rPr lang="en-US" altLang="ko-KR" dirty="0"/>
              <a:t>2</a:t>
            </a:r>
            <a:r>
              <a:rPr lang="ko-KR" altLang="en-US" dirty="0"/>
              <a:t>군데 입력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5113316" y="3438591"/>
            <a:ext cx="76863" cy="292489"/>
            <a:chOff x="3750067" y="4683795"/>
            <a:chExt cx="76863" cy="292489"/>
          </a:xfrm>
        </p:grpSpPr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04" name="타원 203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241" name="그룹 240"/>
          <p:cNvGrpSpPr/>
          <p:nvPr/>
        </p:nvGrpSpPr>
        <p:grpSpPr>
          <a:xfrm>
            <a:off x="675399" y="1940354"/>
            <a:ext cx="2712026" cy="2316283"/>
            <a:chOff x="675399" y="2590223"/>
            <a:chExt cx="2712026" cy="2316283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전기공사실적 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56" name="그룹 255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74" name="직선 연결선 27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75" name="직선 연결선 27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7" name="직사각형 256"/>
            <p:cNvSpPr/>
            <p:nvPr/>
          </p:nvSpPr>
          <p:spPr>
            <a:xfrm>
              <a:off x="718459" y="2897709"/>
              <a:ext cx="792000" cy="193225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도급계약금액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endParaRPr lang="en-US" altLang="ko-KR" sz="700" dirty="0"/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전년도 </a:t>
              </a:r>
              <a:r>
                <a:rPr lang="ko-KR" altLang="en-US" sz="700" dirty="0" err="1">
                  <a:latin typeface="+mn-ea"/>
                </a:rPr>
                <a:t>이월액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 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미기성액</a:t>
              </a:r>
              <a:endParaRPr lang="ko-KR" altLang="en-US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관급자재액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3" name="직선 연결선 2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4" name="직선 연결선 2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5" name="직선 연결선 2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6" name="직선 연결선 2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7" name="직선 연결선 2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8" name="직선 연결선 2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906506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70" name="직선 연결선 26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8299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3130665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/>
                <a:t>전년까지의 </a:t>
              </a:r>
              <a:endParaRPr lang="en-US" altLang="ko-KR" sz="700" dirty="0"/>
            </a:p>
            <a:p>
              <a:pPr lvl="0"/>
              <a:r>
                <a:rPr lang="ko-KR" altLang="en-US" sz="700" dirty="0"/>
                <a:t>누계 </a:t>
              </a:r>
              <a:r>
                <a:rPr lang="ko-KR" altLang="en-US" sz="700" dirty="0" err="1"/>
                <a:t>기성액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410211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/>
              <a:r>
                <a:rPr lang="ko-KR" altLang="en-US" sz="700" dirty="0" err="1"/>
                <a:t>기성액</a:t>
              </a:r>
              <a:endParaRPr lang="en-US" altLang="ko-KR" sz="700" dirty="0"/>
            </a:p>
            <a:p>
              <a:pPr lvl="0"/>
              <a:r>
                <a:rPr lang="en-US" altLang="ko-KR" sz="700" dirty="0"/>
                <a:t>(</a:t>
              </a:r>
              <a:r>
                <a:rPr lang="ko-KR" altLang="en-US" sz="700" dirty="0" err="1"/>
                <a:t>다른공사포함</a:t>
              </a:r>
              <a:r>
                <a:rPr lang="en-US" altLang="ko-KR" sz="700" dirty="0"/>
                <a:t>)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4628973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defTabSz="1013612">
                <a:defRPr/>
              </a:pPr>
              <a:r>
                <a:rPr lang="ko-KR" altLang="en-US" sz="700" dirty="0" err="1"/>
                <a:t>계약액</a:t>
              </a:r>
              <a:endParaRPr lang="en-US" altLang="ko-KR" sz="700" dirty="0"/>
            </a:p>
            <a:p>
              <a:pPr lvl="0" defTabSz="1013612">
                <a:defRPr/>
              </a:pPr>
              <a:r>
                <a:rPr lang="en-US" altLang="ko-KR" sz="700" dirty="0"/>
                <a:t>(</a:t>
              </a:r>
              <a:r>
                <a:rPr lang="ko-KR" altLang="en-US" sz="700" dirty="0"/>
                <a:t>추가 또는 </a:t>
              </a:r>
              <a:r>
                <a:rPr lang="ko-KR" altLang="en-US" sz="700" dirty="0" err="1"/>
                <a:t>변경분</a:t>
              </a:r>
              <a:r>
                <a:rPr lang="en-US" altLang="ko-KR" sz="700" dirty="0"/>
                <a:t>)</a:t>
              </a:r>
              <a:endParaRPr lang="ko-KR" altLang="en-US" sz="700" dirty="0"/>
            </a:p>
          </p:txBody>
        </p:sp>
      </p:grpSp>
      <p:grpSp>
        <p:nvGrpSpPr>
          <p:cNvPr id="276" name="그룹 275"/>
          <p:cNvGrpSpPr/>
          <p:nvPr/>
        </p:nvGrpSpPr>
        <p:grpSpPr>
          <a:xfrm>
            <a:off x="3795735" y="1940354"/>
            <a:ext cx="2712026" cy="2142112"/>
            <a:chOff x="675399" y="2590223"/>
            <a:chExt cx="2712026" cy="214211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590223"/>
              <a:ext cx="22758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하도급내역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 err="1">
                  <a:latin typeface="+mn-ea"/>
                </a:rPr>
                <a:t>원도급자가</a:t>
              </a:r>
              <a:r>
                <a:rPr lang="ko-KR" altLang="en-US" sz="700" dirty="0">
                  <a:latin typeface="+mn-ea"/>
                </a:rPr>
                <a:t> 작성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78" name="그룹 277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288" name="직선 연결선 28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9" name="직선 연결선 28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79" name="직사각형 278"/>
            <p:cNvSpPr/>
            <p:nvPr/>
          </p:nvSpPr>
          <p:spPr>
            <a:xfrm>
              <a:off x="718459" y="2897710"/>
              <a:ext cx="792000" cy="8826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80" name="직선 연결선 2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하도급업체명</a:t>
              </a:r>
              <a:r>
                <a:rPr lang="en-US" altLang="ko-KR" sz="700" dirty="0">
                  <a:latin typeface="+mn-ea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하도금액</a:t>
              </a:r>
              <a:endParaRPr lang="en-US" altLang="ko-KR" sz="700" dirty="0">
                <a:latin typeface="+mn-ea"/>
              </a:endParaRPr>
            </a:p>
            <a:p>
              <a:pPr lvl="0">
                <a:lnSpc>
                  <a:spcPct val="200000"/>
                </a:lnSpc>
              </a:pPr>
              <a:r>
                <a:rPr lang="ko-KR" altLang="en-US" sz="700" dirty="0"/>
                <a:t>등록번호</a:t>
              </a:r>
              <a:endParaRPr lang="en-US" altLang="ko-KR" sz="700" dirty="0"/>
            </a:p>
            <a:p>
              <a:pPr lvl="0"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4" name="직선 연결선 2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5" name="직선 연결선 28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6" name="직선 연결선 2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7" name="직선 연결선 2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732335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94" name="그룹 293"/>
          <p:cNvGrpSpPr/>
          <p:nvPr/>
        </p:nvGrpSpPr>
        <p:grpSpPr>
          <a:xfrm>
            <a:off x="5087822" y="1988977"/>
            <a:ext cx="243478" cy="144000"/>
            <a:chOff x="5087822" y="2638846"/>
            <a:chExt cx="243478" cy="144000"/>
          </a:xfrm>
        </p:grpSpPr>
        <p:sp>
          <p:nvSpPr>
            <p:cNvPr id="295" name="타원 294"/>
            <p:cNvSpPr/>
            <p:nvPr/>
          </p:nvSpPr>
          <p:spPr>
            <a:xfrm>
              <a:off x="5135779" y="2638846"/>
              <a:ext cx="144000" cy="144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6" name="모서리가 둥근 직사각형 295"/>
            <p:cNvSpPr/>
            <p:nvPr/>
          </p:nvSpPr>
          <p:spPr>
            <a:xfrm>
              <a:off x="5087822" y="2647088"/>
              <a:ext cx="243478" cy="119400"/>
            </a:xfrm>
            <a:prstGeom prst="roundRect">
              <a:avLst>
                <a:gd name="adj" fmla="val 23409"/>
              </a:avLst>
            </a:prstGeom>
            <a:no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en-US" altLang="ko-KR" sz="600" b="1" dirty="0">
                  <a:solidFill>
                    <a:schemeClr val="dk1"/>
                  </a:solidFill>
                </a:rPr>
                <a:t>?</a:t>
              </a:r>
              <a:endParaRPr lang="ko-KR" altLang="en-US" sz="600" b="1" dirty="0">
                <a:solidFill>
                  <a:schemeClr val="dk1"/>
                </a:solidFill>
              </a:endParaRPr>
            </a:p>
          </p:txBody>
        </p:sp>
      </p:grpSp>
      <p:grpSp>
        <p:nvGrpSpPr>
          <p:cNvPr id="297" name="그룹 296"/>
          <p:cNvGrpSpPr/>
          <p:nvPr/>
        </p:nvGrpSpPr>
        <p:grpSpPr>
          <a:xfrm>
            <a:off x="3795734" y="4189747"/>
            <a:ext cx="2712027" cy="789495"/>
            <a:chOff x="675399" y="1544009"/>
            <a:chExt cx="2712027" cy="789495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시공규모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299" name="그룹 298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304" name="직선 연결선 30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305" name="직선 연결선 30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연결선 2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350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3" name="직선 연결선 3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4010589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28231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4744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198208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07" name="타원 30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7882" y="227220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30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4513180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</p:spTree>
    <p:extLst>
      <p:ext uri="{BB962C8B-B14F-4D97-AF65-F5344CB8AC3E}">
        <p14:creationId xmlns:p14="http://schemas.microsoft.com/office/powerpoint/2010/main" val="500653344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입력 테이블 </a:t>
            </a:r>
            <a:r>
              <a:rPr lang="en-US" altLang="ko-KR" dirty="0"/>
              <a:t>-</a:t>
            </a:r>
            <a:r>
              <a:rPr lang="ko-KR" altLang="en-US" dirty="0"/>
              <a:t> </a:t>
            </a:r>
            <a:r>
              <a:rPr lang="en-US" altLang="ko-KR" dirty="0"/>
              <a:t>4</a:t>
            </a:r>
            <a:r>
              <a:rPr lang="ko-KR" altLang="en-US" dirty="0"/>
              <a:t>개 반복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공사</a:t>
            </a:r>
            <a:r>
              <a:rPr lang="en-US" altLang="ko-KR" dirty="0"/>
              <a:t>(</a:t>
            </a:r>
            <a:r>
              <a:rPr lang="ko-KR" altLang="en-US" dirty="0"/>
              <a:t>종</a:t>
            </a:r>
            <a:r>
              <a:rPr lang="en-US" altLang="ko-KR" dirty="0"/>
              <a:t>)</a:t>
            </a:r>
            <a:r>
              <a:rPr lang="ko-KR" altLang="en-US" dirty="0"/>
              <a:t>명 값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전기공사</a:t>
            </a:r>
            <a:r>
              <a:rPr lang="en-US" altLang="ko-KR" dirty="0"/>
              <a:t>, </a:t>
            </a:r>
            <a:r>
              <a:rPr lang="ko-KR" altLang="en-US" dirty="0"/>
              <a:t>소방공사</a:t>
            </a:r>
            <a:r>
              <a:rPr lang="en-US" altLang="ko-KR" dirty="0"/>
              <a:t>, </a:t>
            </a:r>
            <a:r>
              <a:rPr lang="ko-KR" altLang="en-US" dirty="0"/>
              <a:t>기계설비공사</a:t>
            </a:r>
            <a:r>
              <a:rPr lang="en-US" altLang="ko-KR" dirty="0"/>
              <a:t>, </a:t>
            </a:r>
            <a:r>
              <a:rPr lang="ko-KR" altLang="en-US" dirty="0"/>
              <a:t>그 밖의 공사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309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unitG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unitG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MUI-CM-04-T18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20" name="그룹 119"/>
          <p:cNvGrpSpPr/>
          <p:nvPr/>
        </p:nvGrpSpPr>
        <p:grpSpPr>
          <a:xfrm>
            <a:off x="675399" y="1940354"/>
            <a:ext cx="2712026" cy="3108762"/>
            <a:chOff x="675399" y="2607641"/>
            <a:chExt cx="2712026" cy="3108762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7337" y="2607641"/>
              <a:ext cx="2208095" cy="2457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ko-KR" altLang="en-US" sz="700" dirty="0">
                  <a:latin typeface="+mn-ea"/>
                </a:rPr>
                <a:t>복합공사종류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다른 공사 종류 포함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실적 명세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단위</a:t>
              </a:r>
              <a:r>
                <a:rPr lang="en-US" altLang="ko-KR" sz="700" dirty="0">
                  <a:latin typeface="+mn-ea"/>
                </a:rPr>
                <a:t>:</a:t>
              </a:r>
              <a:r>
                <a:rPr lang="ko-KR" altLang="en-US" sz="700" dirty="0">
                  <a:latin typeface="+mn-ea"/>
                </a:rPr>
                <a:t>천원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부가세포함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122" name="그룹 121"/>
            <p:cNvGrpSpPr/>
            <p:nvPr/>
          </p:nvGrpSpPr>
          <p:grpSpPr>
            <a:xfrm flipV="1">
              <a:off x="3139424" y="2703554"/>
              <a:ext cx="94010" cy="47005"/>
              <a:chOff x="6812560" y="3297172"/>
              <a:chExt cx="94010" cy="47005"/>
            </a:xfrm>
          </p:grpSpPr>
          <p:cxnSp>
            <p:nvCxnSpPr>
              <p:cNvPr id="160" name="직선 연결선 1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1" name="직선 연결선 1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23" name="직사각형 122"/>
            <p:cNvSpPr/>
            <p:nvPr/>
          </p:nvSpPr>
          <p:spPr>
            <a:xfrm>
              <a:off x="718459" y="2897709"/>
              <a:ext cx="792000" cy="171534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6366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5523" y="2897708"/>
              <a:ext cx="792000" cy="17235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공사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지난연도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하도급금액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미기성금액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2371" y="2897708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전기공사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18459" y="461715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5716403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353247"/>
            <a:ext cx="76863" cy="292489"/>
            <a:chOff x="3750067" y="4683795"/>
            <a:chExt cx="76863" cy="292489"/>
          </a:xfrm>
        </p:grpSpPr>
        <p:sp>
          <p:nvSpPr>
            <p:cNvPr id="165" name="타원 1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67" name="타원 1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4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7172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49618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14941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292830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57846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5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3573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5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53519" y="378948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168" name="그림 167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947309"/>
            <a:ext cx="134873" cy="137278"/>
          </a:xfrm>
          <a:prstGeom prst="rect">
            <a:avLst/>
          </a:prstGeom>
        </p:spPr>
      </p:pic>
      <p:pic>
        <p:nvPicPr>
          <p:cNvPr id="187" name="그림 18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877"/>
            <a:ext cx="134873" cy="137278"/>
          </a:xfrm>
          <a:prstGeom prst="rect">
            <a:avLst/>
          </a:prstGeom>
        </p:spPr>
      </p:pic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64414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14009338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H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9.</a:t>
            </a:r>
            <a:r>
              <a:rPr lang="ko-KR" altLang="en-US" dirty="0"/>
              <a:t>건설공사기성실적증명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</a:t>
            </a:r>
            <a:r>
              <a:rPr lang="en-US" altLang="ko-KR" dirty="0"/>
              <a:t>_</a:t>
            </a:r>
            <a:r>
              <a:rPr lang="ko-KR" altLang="en-US" dirty="0" err="1"/>
              <a:t>세부공종</a:t>
            </a:r>
            <a:r>
              <a:rPr lang="en-US" altLang="ko-KR" dirty="0"/>
              <a:t>(</a:t>
            </a:r>
            <a:r>
              <a:rPr lang="ko-KR" altLang="en-US" dirty="0"/>
              <a:t>전문</a:t>
            </a:r>
            <a:r>
              <a:rPr lang="en-US" altLang="ko-KR" dirty="0"/>
              <a:t>) 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MUI-CM-04-T19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2284727"/>
            <a:chOff x="3795734" y="1939881"/>
            <a:chExt cx="2712026" cy="228472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6"/>
              <a:ext cx="792000" cy="193899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93899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공사유형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주력분야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세부공종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종합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3" name="직선 연결선 24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6681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4" name="직선 연결선 24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17392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422460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4" name="그룹 283"/>
          <p:cNvGrpSpPr/>
          <p:nvPr/>
        </p:nvGrpSpPr>
        <p:grpSpPr>
          <a:xfrm>
            <a:off x="6258557" y="2983823"/>
            <a:ext cx="94010" cy="47005"/>
            <a:chOff x="6812560" y="3297172"/>
            <a:chExt cx="94010" cy="47005"/>
          </a:xfrm>
        </p:grpSpPr>
        <p:cxnSp>
          <p:nvCxnSpPr>
            <p:cNvPr id="285" name="직선 연결선 28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6" name="직선 연결선 28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78879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846295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588682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58187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35976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99118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96" name="그룹 295"/>
          <p:cNvGrpSpPr/>
          <p:nvPr/>
        </p:nvGrpSpPr>
        <p:grpSpPr>
          <a:xfrm>
            <a:off x="6258557" y="4048684"/>
            <a:ext cx="94010" cy="47005"/>
            <a:chOff x="6812560" y="3297172"/>
            <a:chExt cx="94010" cy="47005"/>
          </a:xfrm>
        </p:grpSpPr>
        <p:cxnSp>
          <p:nvCxnSpPr>
            <p:cNvPr id="297" name="직선 연결선 29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8" name="직선 연결선 29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5515055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연월 정보 입력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천원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천원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unitH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unitH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MUI-CM-04-T19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243738"/>
            <a:chOff x="720490" y="3930133"/>
            <a:chExt cx="2630093" cy="2243738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8"/>
              <a:ext cx="792000" cy="19362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준공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예정</a:t>
              </a:r>
              <a:r>
                <a:rPr lang="en-US" altLang="ko-KR" sz="700" dirty="0">
                  <a:latin typeface="+mn-ea"/>
                </a:rPr>
                <a:t>)</a:t>
              </a:r>
              <a:r>
                <a:rPr lang="ko-KR" altLang="en-US" sz="700" dirty="0">
                  <a:latin typeface="+mn-ea"/>
                </a:rPr>
                <a:t>연월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기성지급액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계약금액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8961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10984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89478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당년도 </a:t>
              </a:r>
              <a:r>
                <a:rPr lang="ko-KR" altLang="en-US" sz="700" dirty="0" err="1">
                  <a:latin typeface="+mn-ea"/>
                </a:rPr>
                <a:t>계약액</a:t>
              </a:r>
              <a:r>
                <a:rPr lang="ko-KR" altLang="en-US" sz="700" dirty="0">
                  <a:latin typeface="+mn-ea"/>
                </a:rPr>
                <a:t> 또는 </a:t>
              </a:r>
              <a:r>
                <a:rPr lang="ko-KR" altLang="en-US" sz="700" dirty="0" err="1">
                  <a:latin typeface="+mn-ea"/>
                </a:rPr>
                <a:t>이월금액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6164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749558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 err="1"/>
                <a:t>기성액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95842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전년도까지</a:t>
              </a:r>
              <a:r>
                <a:rPr lang="en-US" altLang="ko-KR" sz="700" dirty="0"/>
                <a:t> </a:t>
              </a:r>
              <a:r>
                <a:rPr lang="ko-KR" altLang="en-US" sz="700" dirty="0"/>
                <a:t>누계</a:t>
              </a:r>
              <a:endParaRPr lang="en-US" altLang="ko-KR" sz="700" dirty="0"/>
            </a:p>
            <a:p>
              <a:r>
                <a:rPr lang="ko-KR" altLang="en-US" sz="700" dirty="0"/>
                <a:t>지급액</a:t>
              </a:r>
              <a:endParaRPr lang="en-US" altLang="ko-KR" sz="700" dirty="0">
                <a:latin typeface="+mn-ea"/>
              </a:endParaRPr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884740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93145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kern="0" dirty="0">
                <a:latin typeface="맑은 고딕"/>
                <a:ea typeface="맑은 고딕" panose="020B0503020000020004" pitchFamily="50" charset="-127"/>
              </a:rPr>
              <a:t>1,000 </a:t>
            </a:r>
            <a:r>
              <a:rPr kumimoji="1" lang="ko-KR" altLang="en-US" sz="700" kern="0" dirty="0">
                <a:latin typeface="맑은 고딕"/>
                <a:ea typeface="맑은 고딕" panose="020B0503020000020004" pitchFamily="50" charset="-127"/>
              </a:rPr>
              <a:t>천원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</a:endParaRPr>
          </a:p>
        </p:txBody>
      </p: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3918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98877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726942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2013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506510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pic>
        <p:nvPicPr>
          <p:cNvPr id="231" name="그림 23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2292516"/>
            <a:ext cx="134873" cy="137278"/>
          </a:xfrm>
          <a:prstGeom prst="rect">
            <a:avLst/>
          </a:prstGeom>
        </p:spPr>
      </p:pic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91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3978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3478629436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Unit I – </a:t>
            </a:r>
            <a:r>
              <a:rPr lang="ko-KR" altLang="en-US" dirty="0">
                <a:solidFill>
                  <a:srgbClr val="FF0000"/>
                </a:solidFill>
              </a:rPr>
              <a:t>제출 유형 표시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10.</a:t>
            </a:r>
            <a:r>
              <a:rPr lang="ko-KR" altLang="en-US" dirty="0"/>
              <a:t>건설공사 </a:t>
            </a:r>
            <a:r>
              <a:rPr lang="ko-KR" altLang="en-US" dirty="0" err="1"/>
              <a:t>직접시공분</a:t>
            </a:r>
            <a:r>
              <a:rPr lang="ko-KR" altLang="en-US" dirty="0"/>
              <a:t> 기성실적증명</a:t>
            </a:r>
            <a:r>
              <a:rPr lang="en-US" altLang="ko-KR" dirty="0"/>
              <a:t>(</a:t>
            </a:r>
            <a:r>
              <a:rPr lang="ko-KR" altLang="en-US" dirty="0"/>
              <a:t>신청</a:t>
            </a:r>
            <a:r>
              <a:rPr lang="en-US" altLang="ko-KR" dirty="0"/>
              <a:t>)</a:t>
            </a:r>
            <a:r>
              <a:rPr lang="ko-KR" altLang="en-US" dirty="0"/>
              <a:t>서 </a:t>
            </a:r>
            <a:r>
              <a:rPr lang="en-US" altLang="ko-KR" dirty="0"/>
              <a:t>[</a:t>
            </a:r>
            <a:r>
              <a:rPr lang="ko-KR" altLang="en-US" dirty="0"/>
              <a:t>건설산업기본법 시행규칙</a:t>
            </a:r>
            <a:r>
              <a:rPr lang="en-US" altLang="ko-KR" dirty="0"/>
              <a:t>/</a:t>
            </a:r>
            <a:r>
              <a:rPr lang="ko-KR" altLang="en-US" dirty="0" err="1"/>
              <a:t>국토해양부</a:t>
            </a:r>
            <a:r>
              <a:rPr lang="en-US" altLang="ko-KR" dirty="0"/>
              <a:t>]</a:t>
            </a: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endParaRPr lang="en-US" altLang="ko-KR" dirty="0"/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백만원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 </a:t>
            </a:r>
            <a:r>
              <a:rPr lang="ko-KR" altLang="en-US" dirty="0"/>
              <a:t>백만원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8786413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다음에 계속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47" name="그룹 246"/>
          <p:cNvGrpSpPr/>
          <p:nvPr/>
        </p:nvGrpSpPr>
        <p:grpSpPr>
          <a:xfrm>
            <a:off x="720490" y="2873472"/>
            <a:ext cx="2630093" cy="1179711"/>
            <a:chOff x="720490" y="2590223"/>
            <a:chExt cx="2630093" cy="1179711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59022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신청인</a:t>
              </a:r>
            </a:p>
          </p:txBody>
        </p:sp>
        <p:grpSp>
          <p:nvGrpSpPr>
            <p:cNvPr id="249" name="그룹 248"/>
            <p:cNvGrpSpPr/>
            <p:nvPr/>
          </p:nvGrpSpPr>
          <p:grpSpPr>
            <a:xfrm flipV="1">
              <a:off x="3143548" y="2703554"/>
              <a:ext cx="94010" cy="47005"/>
              <a:chOff x="6812560" y="3297172"/>
              <a:chExt cx="94010" cy="47005"/>
            </a:xfrm>
          </p:grpSpPr>
          <p:cxnSp>
            <p:nvCxnSpPr>
              <p:cNvPr id="258" name="직선 연결선 25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9" name="직선 연결선 25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50" name="직사각형 249"/>
            <p:cNvSpPr/>
            <p:nvPr/>
          </p:nvSpPr>
          <p:spPr>
            <a:xfrm>
              <a:off x="722583" y="2897709"/>
              <a:ext cx="792000" cy="87222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51" name="직선 연결선 2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2897708"/>
              <a:ext cx="792000" cy="86177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상호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대표자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영업소재지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업종 및 등록번호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566495" y="2897708"/>
              <a:ext cx="178408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A </a:t>
              </a:r>
              <a:r>
                <a:rPr lang="ko-KR" altLang="en-US" sz="700" dirty="0">
                  <a:latin typeface="+mn-ea"/>
                </a:rPr>
                <a:t>업체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홍길동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서울특별시 종로구</a:t>
              </a:r>
              <a:r>
                <a:rPr lang="en-US" altLang="ko-KR" sz="700" dirty="0">
                  <a:latin typeface="+mn-ea"/>
                </a:rPr>
                <a:t>…</a:t>
              </a: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5" name="직선 연결선 25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795734" y="1939881"/>
            <a:ext cx="2712026" cy="1870756"/>
            <a:chOff x="3795734" y="1939881"/>
            <a:chExt cx="2712026" cy="1870756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1939881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공사내역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58" name="그룹 157"/>
            <p:cNvGrpSpPr/>
            <p:nvPr/>
          </p:nvGrpSpPr>
          <p:grpSpPr>
            <a:xfrm flipV="1">
              <a:off x="6259759" y="2053212"/>
              <a:ext cx="94010" cy="47005"/>
              <a:chOff x="6812560" y="3297172"/>
              <a:chExt cx="94010" cy="47005"/>
            </a:xfrm>
          </p:grpSpPr>
          <p:cxnSp>
            <p:nvCxnSpPr>
              <p:cNvPr id="245" name="직선 연결선 24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6" name="직선 연결선 24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9" name="직사각형 158"/>
            <p:cNvSpPr/>
            <p:nvPr/>
          </p:nvSpPr>
          <p:spPr>
            <a:xfrm>
              <a:off x="3838794" y="2247367"/>
              <a:ext cx="792000" cy="15170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247366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247366"/>
              <a:ext cx="792000" cy="15081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공사명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총공사금액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기관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인 허가 </a:t>
              </a:r>
              <a:r>
                <a:rPr lang="ko-KR" altLang="en-US" sz="700" dirty="0" err="1">
                  <a:latin typeface="+mn-ea"/>
                </a:rPr>
                <a:t>년월일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endParaRPr lang="en-US" altLang="ko-KR" sz="700" dirty="0">
                <a:latin typeface="+mn-ea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682706" y="2247366"/>
              <a:ext cx="1784088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/>
                <a:t>국방전자조달고도화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47847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69217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7" name="직선 연결선 16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290588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8" name="직선 연결선 16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19592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9" name="직선 연결선 16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2708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699926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현장 소재지</a:t>
              </a:r>
              <a:r>
                <a:rPr lang="en-US" altLang="ko-KR" sz="700" dirty="0">
                  <a:latin typeface="+mn-ea"/>
                </a:rPr>
                <a:t/>
              </a:r>
              <a:br>
                <a:rPr lang="en-US" altLang="ko-KR" sz="700" dirty="0">
                  <a:latin typeface="+mn-ea"/>
                </a:rPr>
              </a:b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번지까지 기재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161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59321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381063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50530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백만원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71262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6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29263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8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57670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288" name="그룹 287"/>
          <p:cNvGrpSpPr/>
          <p:nvPr/>
        </p:nvGrpSpPr>
        <p:grpSpPr>
          <a:xfrm>
            <a:off x="6258557" y="3634198"/>
            <a:ext cx="94010" cy="47005"/>
            <a:chOff x="6812560" y="3297172"/>
            <a:chExt cx="94010" cy="47005"/>
          </a:xfrm>
        </p:grpSpPr>
        <p:cxnSp>
          <p:nvCxnSpPr>
            <p:cNvPr id="289" name="직선 연결선 28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0" name="직선 연결선 28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291" name="그림 290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61530" y="3376585"/>
            <a:ext cx="134873" cy="137278"/>
          </a:xfrm>
          <a:prstGeom prst="rect">
            <a:avLst/>
          </a:prstGeom>
        </p:spPr>
      </p:pic>
      <p:sp>
        <p:nvSpPr>
          <p:cNvPr id="29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627" y="336978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2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677497" y="314003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9669" y="253542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5858" y="2911205"/>
            <a:ext cx="79200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공종</a:t>
            </a:r>
            <a:r>
              <a:rPr lang="en-US" altLang="ko-KR" sz="700" dirty="0">
                <a:latin typeface="+mn-ea"/>
              </a:rPr>
              <a:t>([</a:t>
            </a:r>
            <a:r>
              <a:rPr lang="ko-KR" altLang="en-US" sz="700" dirty="0">
                <a:latin typeface="+mn-ea"/>
              </a:rPr>
              <a:t>건설산업기본법시행규칙</a:t>
            </a:r>
            <a:r>
              <a:rPr lang="en-US" altLang="ko-KR" sz="700" dirty="0">
                <a:latin typeface="+mn-ea"/>
              </a:rPr>
              <a:t>]</a:t>
            </a:r>
            <a:r>
              <a:rPr lang="ko-KR" altLang="en-US" sz="700" dirty="0">
                <a:latin typeface="+mn-ea"/>
              </a:rPr>
              <a:t>제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조</a:t>
            </a:r>
            <a:r>
              <a:rPr lang="en-US" altLang="ko-KR" sz="700" dirty="0">
                <a:latin typeface="+mn-ea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75901584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비용정보</a:t>
            </a:r>
            <a:r>
              <a:rPr lang="ko-KR" altLang="en-US" dirty="0"/>
              <a:t> </a:t>
            </a:r>
            <a:r>
              <a:rPr lang="en-US" altLang="ko-KR" dirty="0"/>
              <a:t>3</a:t>
            </a:r>
            <a:r>
              <a:rPr lang="ko-KR" altLang="en-US" dirty="0"/>
              <a:t>개 노출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err="1">
                <a:latin typeface="+mn-ea"/>
              </a:rPr>
              <a:t>unitI</a:t>
            </a:r>
            <a:r>
              <a:rPr lang="en-US" altLang="ko-KR" dirty="0">
                <a:latin typeface="+mn-ea"/>
              </a:rPr>
              <a:t>)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시설공사일 때 </a:t>
            </a:r>
            <a:r>
              <a:rPr lang="en-US" altLang="ko-KR" dirty="0">
                <a:latin typeface="+mn-ea"/>
              </a:rPr>
              <a:t>–</a:t>
            </a:r>
            <a:r>
              <a:rPr lang="ko-KR" altLang="en-US" dirty="0">
                <a:latin typeface="+mn-ea"/>
              </a:rPr>
              <a:t> </a:t>
            </a:r>
            <a:r>
              <a:rPr lang="en-US" altLang="ko-KR" dirty="0" err="1">
                <a:latin typeface="+mn-ea"/>
              </a:rPr>
              <a:t>unitI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MUI-CM-04-T20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grpSp>
        <p:nvGrpSpPr>
          <p:cNvPr id="137" name="그룹 136"/>
          <p:cNvGrpSpPr/>
          <p:nvPr/>
        </p:nvGrpSpPr>
        <p:grpSpPr>
          <a:xfrm>
            <a:off x="3790563" y="1493927"/>
            <a:ext cx="2717198" cy="357754"/>
            <a:chOff x="675399" y="1846937"/>
            <a:chExt cx="2717198" cy="357754"/>
          </a:xfrm>
        </p:grpSpPr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9" name="직선 연결선 1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40" name="그룹 13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54" name="직선 연결선 153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5" name="직선 연결선 15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52" name="타원 151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42" name="그룹 14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50" name="직선 연결선 14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1" name="직선 연결선 15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44" name="그룹 143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48" name="타원 147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38" name="그룹 137"/>
          <p:cNvGrpSpPr/>
          <p:nvPr/>
        </p:nvGrpSpPr>
        <p:grpSpPr>
          <a:xfrm>
            <a:off x="675399" y="1493927"/>
            <a:ext cx="2717198" cy="357754"/>
            <a:chOff x="675399" y="1846937"/>
            <a:chExt cx="2717198" cy="357754"/>
          </a:xfrm>
        </p:grpSpPr>
        <p:cxnSp>
          <p:nvCxnSpPr>
            <p:cNvPr id="162" name="직선 연결선 16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3" name="직선 연결선 16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70" name="그룹 169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85" name="직선 연결선 18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직선 연결선 18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1" name="그룹 170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83" name="타원 18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72" name="그룹 171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81" name="직선 연결선 18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75" name="그룹 17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79" name="타원 17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76" name="그룹 17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77" name="타원 17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87" name="그룹 186"/>
          <p:cNvGrpSpPr/>
          <p:nvPr/>
        </p:nvGrpSpPr>
        <p:grpSpPr>
          <a:xfrm>
            <a:off x="716367" y="1939175"/>
            <a:ext cx="2630093" cy="2036160"/>
            <a:chOff x="720490" y="3930133"/>
            <a:chExt cx="2630093" cy="2036160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3930133"/>
              <a:ext cx="1265337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비용정보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89" name="그룹 188"/>
            <p:cNvGrpSpPr/>
            <p:nvPr/>
          </p:nvGrpSpPr>
          <p:grpSpPr>
            <a:xfrm flipV="1">
              <a:off x="3143548" y="4043464"/>
              <a:ext cx="94010" cy="47005"/>
              <a:chOff x="6812560" y="3297172"/>
              <a:chExt cx="94010" cy="47005"/>
            </a:xfrm>
          </p:grpSpPr>
          <p:cxnSp>
            <p:nvCxnSpPr>
              <p:cNvPr id="211" name="직선 연결선 21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12" name="직선 연결선 21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0" name="직사각형 189"/>
            <p:cNvSpPr/>
            <p:nvPr/>
          </p:nvSpPr>
          <p:spPr>
            <a:xfrm>
              <a:off x="722583" y="4237619"/>
              <a:ext cx="792000" cy="172867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423761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237618"/>
              <a:ext cx="792000" cy="168924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연도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해당연도 </a:t>
              </a:r>
              <a:r>
                <a:rPr lang="ko-KR" altLang="en-US" sz="700" dirty="0" err="1">
                  <a:latin typeface="+mn-ea"/>
                </a:rPr>
                <a:t>기성액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계약연월일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착공연월일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준공연월일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94" name="직선 연결선 19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46872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468243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053359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8" name="직선 연결선 19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31733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4704080"/>
              <a:ext cx="792000" cy="3231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en-US" altLang="ko-KR" sz="700" dirty="0"/>
                <a:t> </a:t>
              </a:r>
              <a:r>
                <a:rPr lang="ko-KR" altLang="en-US" sz="700" dirty="0" err="1"/>
                <a:t>세부공종</a:t>
              </a:r>
              <a:r>
                <a:rPr lang="en-US" altLang="ko-KR" sz="700" dirty="0"/>
                <a:t>(</a:t>
              </a:r>
              <a:r>
                <a:rPr lang="ko-KR" altLang="en-US" sz="700" dirty="0" err="1"/>
                <a:t>전문공사</a:t>
              </a:r>
              <a:r>
                <a:rPr lang="en-US" altLang="ko-KR" sz="700" dirty="0"/>
                <a:t>)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54186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74957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02" name="직선 연결선 20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2583" y="595706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09647" y="5079299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/>
                <a:t>해당연도 </a:t>
              </a:r>
              <a:r>
                <a:rPr lang="ko-KR" altLang="en-US" sz="700" dirty="0" err="1"/>
                <a:t>직접시공분</a:t>
              </a:r>
              <a:r>
                <a:rPr lang="ko-KR" altLang="en-US" sz="700" dirty="0"/>
                <a:t> </a:t>
              </a:r>
              <a:r>
                <a:rPr lang="ko-KR" altLang="en-US" sz="700" dirty="0" err="1"/>
                <a:t>기성액</a:t>
              </a:r>
              <a:endParaRPr lang="en-US" altLang="ko-KR" sz="700" dirty="0"/>
            </a:p>
          </p:txBody>
        </p:sp>
      </p:grp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400" y="5398462"/>
            <a:ext cx="2712026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581777"/>
            <a:ext cx="76863" cy="292489"/>
            <a:chOff x="3750067" y="4683795"/>
            <a:chExt cx="76863" cy="292489"/>
          </a:xfrm>
        </p:grpSpPr>
        <p:sp>
          <p:nvSpPr>
            <p:cNvPr id="215" name="타원 21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21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106092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36644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57417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78104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583729"/>
            <a:ext cx="134873" cy="137278"/>
          </a:xfrm>
          <a:prstGeom prst="rect">
            <a:avLst/>
          </a:prstGeom>
        </p:spPr>
      </p:pic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78556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375472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4997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천원 단위로 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2285711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9742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234" name="그룹 233"/>
          <p:cNvGrpSpPr/>
          <p:nvPr/>
        </p:nvGrpSpPr>
        <p:grpSpPr>
          <a:xfrm>
            <a:off x="3795734" y="1931645"/>
            <a:ext cx="2712027" cy="792634"/>
            <a:chOff x="675399" y="1544009"/>
            <a:chExt cx="2712027" cy="792634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62146" y="1544009"/>
              <a:ext cx="223990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그 밖의 사항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공사의 규모 공법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공통 </a:t>
              </a:r>
              <a:r>
                <a:rPr lang="ko-KR" altLang="en-US" sz="700" dirty="0" err="1">
                  <a:latin typeface="+mn-ea"/>
                </a:rPr>
                <a:t>도급내역</a:t>
              </a:r>
              <a:r>
                <a:rPr lang="ko-KR" altLang="en-US" sz="700" dirty="0">
                  <a:latin typeface="+mn-ea"/>
                </a:rPr>
                <a:t> 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grpSp>
          <p:nvGrpSpPr>
            <p:cNvPr id="236" name="그룹 235"/>
            <p:cNvGrpSpPr/>
            <p:nvPr/>
          </p:nvGrpSpPr>
          <p:grpSpPr>
            <a:xfrm flipV="1">
              <a:off x="3124233" y="1657340"/>
              <a:ext cx="94010" cy="47005"/>
              <a:chOff x="6812560" y="3297172"/>
              <a:chExt cx="94010" cy="47005"/>
            </a:xfrm>
          </p:grpSpPr>
          <p:cxnSp>
            <p:nvCxnSpPr>
              <p:cNvPr id="241" name="직선 연결선 24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5" name="직선 연결선 264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33664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1814987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66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54084" y="2250601"/>
            <a:ext cx="2595326" cy="408859"/>
          </a:xfrm>
          <a:prstGeom prst="roundRect">
            <a:avLst>
              <a:gd name="adj" fmla="val 11584"/>
            </a:avLst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t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endParaRPr kumimoji="1" lang="en-US" sz="700" b="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맑은 고딕"/>
            </a:endParaRPr>
          </a:p>
        </p:txBody>
      </p:sp>
      <p:grpSp>
        <p:nvGrpSpPr>
          <p:cNvPr id="101" name="그룹 100"/>
          <p:cNvGrpSpPr/>
          <p:nvPr/>
        </p:nvGrpSpPr>
        <p:grpSpPr>
          <a:xfrm>
            <a:off x="3139425" y="2347239"/>
            <a:ext cx="94010" cy="47005"/>
            <a:chOff x="6812560" y="3297172"/>
            <a:chExt cx="94010" cy="47005"/>
          </a:xfrm>
        </p:grpSpPr>
        <p:cxnSp>
          <p:nvCxnSpPr>
            <p:cNvPr id="102" name="직선 연결선 10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3" name="직선 연결선 102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105" name="그림 104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3793402"/>
            <a:ext cx="134873" cy="137278"/>
          </a:xfrm>
          <a:prstGeom prst="rect">
            <a:avLst/>
          </a:prstGeom>
        </p:spPr>
      </p:pic>
      <p:grpSp>
        <p:nvGrpSpPr>
          <p:cNvPr id="106" name="그룹 105"/>
          <p:cNvGrpSpPr/>
          <p:nvPr/>
        </p:nvGrpSpPr>
        <p:grpSpPr>
          <a:xfrm>
            <a:off x="3139425" y="2840003"/>
            <a:ext cx="94010" cy="47005"/>
            <a:chOff x="6812560" y="3297172"/>
            <a:chExt cx="94010" cy="47005"/>
          </a:xfrm>
        </p:grpSpPr>
        <p:cxnSp>
          <p:nvCxnSpPr>
            <p:cNvPr id="107" name="직선 연결선 10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직선 연결선 10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64141882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 err="1"/>
              <a:t>제출유형에</a:t>
            </a:r>
            <a:r>
              <a:rPr lang="ko-KR" altLang="en-US" dirty="0"/>
              <a:t> 따라 하단 표시 정보 변경 </a:t>
            </a:r>
            <a:r>
              <a:rPr lang="en-US" altLang="ko-KR" dirty="0"/>
              <a:t>(</a:t>
            </a:r>
            <a:r>
              <a:rPr lang="ko-KR" altLang="en-US" dirty="0"/>
              <a:t>신청도 동일</a:t>
            </a:r>
            <a:r>
              <a:rPr lang="en-US" altLang="ko-KR" dirty="0"/>
              <a:t>)</a:t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시설공사 아님</a:t>
            </a:r>
            <a:endParaRPr lang="en-US" altLang="ko-KR" dirty="0">
              <a:solidFill>
                <a:srgbClr val="FF0000"/>
              </a:solidFill>
            </a:endParaRPr>
          </a:p>
          <a:p>
            <a:pPr marL="228600" indent="-228600">
              <a:buFont typeface="Arial" panose="020B0604020202020204" pitchFamily="34" charset="0"/>
              <a:buAutoNum type="arabicPeriod"/>
            </a:pPr>
            <a:r>
              <a:rPr lang="ko-KR" altLang="en-US" dirty="0"/>
              <a:t>세부 정보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단위 입력 시 단위 </a:t>
            </a:r>
            <a:r>
              <a:rPr lang="en-US" altLang="ko-KR" dirty="0"/>
              <a:t>– [</a:t>
            </a:r>
            <a:r>
              <a:rPr lang="ko-KR" altLang="en-US" dirty="0"/>
              <a:t>원</a:t>
            </a:r>
            <a:r>
              <a:rPr lang="en-US" altLang="ko-KR" dirty="0"/>
              <a:t>]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ex) 1,000,000 </a:t>
            </a:r>
            <a:r>
              <a:rPr lang="ko-KR" altLang="en-US" dirty="0"/>
              <a:t>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err="1"/>
              <a:t>노출항목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물품</a:t>
            </a:r>
            <a:r>
              <a:rPr lang="en-US" altLang="ko-KR" dirty="0"/>
              <a:t>, </a:t>
            </a:r>
            <a:r>
              <a:rPr lang="ko-KR" altLang="en-US" dirty="0"/>
              <a:t>군수품</a:t>
            </a:r>
            <a:r>
              <a:rPr lang="en-US" altLang="ko-KR" dirty="0"/>
              <a:t> </a:t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그 외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314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실적정보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신청 화면 </a:t>
            </a:r>
            <a:r>
              <a:rPr lang="en-US" altLang="ko-KR" dirty="0">
                <a:latin typeface="+mn-ea"/>
              </a:rPr>
              <a:t>– </a:t>
            </a:r>
            <a:r>
              <a:rPr lang="ko-KR" altLang="en-US" dirty="0">
                <a:latin typeface="+mn-ea"/>
              </a:rPr>
              <a:t>계약 구분 </a:t>
            </a:r>
            <a:r>
              <a:rPr lang="ko-KR" altLang="en-US" dirty="0" err="1">
                <a:latin typeface="+mn-ea"/>
              </a:rPr>
              <a:t>부대면서</a:t>
            </a:r>
            <a:r>
              <a:rPr lang="ko-KR" altLang="en-US" dirty="0">
                <a:latin typeface="+mn-ea"/>
              </a:rPr>
              <a:t> 시설공사가 아닐 때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MUI-CM-04-T21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324641"/>
            <a:ext cx="25132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실적정보</a:t>
            </a:r>
            <a:r>
              <a:rPr lang="ko-KR" altLang="en-US" sz="900" dirty="0">
                <a:latin typeface="+mn-ea"/>
              </a:rPr>
              <a:t>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7002" y="2535515"/>
            <a:ext cx="25132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실적 정보를 입력해주시길 바랍니다</a:t>
            </a:r>
            <a:r>
              <a:rPr lang="en-US" altLang="ko-KR" sz="700" dirty="0">
                <a:latin typeface="+mn-ea"/>
              </a:rPr>
              <a:t>.</a:t>
            </a:r>
            <a:endParaRPr lang="ko-KR" altLang="en-US" sz="700" dirty="0">
              <a:latin typeface="+mn-ea"/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7600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8" name="그룹 107"/>
          <p:cNvGrpSpPr/>
          <p:nvPr/>
        </p:nvGrpSpPr>
        <p:grpSpPr>
          <a:xfrm>
            <a:off x="675399" y="1580377"/>
            <a:ext cx="2717198" cy="624314"/>
            <a:chOff x="675399" y="1580377"/>
            <a:chExt cx="2717198" cy="624314"/>
          </a:xfrm>
        </p:grpSpPr>
        <p:grpSp>
          <p:nvGrpSpPr>
            <p:cNvPr id="109" name="그룹 108"/>
            <p:cNvGrpSpPr/>
            <p:nvPr/>
          </p:nvGrpSpPr>
          <p:grpSpPr>
            <a:xfrm>
              <a:off x="680570" y="1580377"/>
              <a:ext cx="2712027" cy="266560"/>
              <a:chOff x="680570" y="1580377"/>
              <a:chExt cx="2712027" cy="266560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36072" y="1608356"/>
                <a:ext cx="230514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dirty="0">
                    <a:latin typeface="+mn-ea"/>
                  </a:rPr>
                  <a:t>실적증명서 신청</a:t>
                </a:r>
              </a:p>
            </p:txBody>
          </p: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1846937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129" name="그룹 128"/>
              <p:cNvGrpSpPr/>
              <p:nvPr/>
            </p:nvGrpSpPr>
            <p:grpSpPr>
              <a:xfrm rot="5400000">
                <a:off x="755013" y="1640499"/>
                <a:ext cx="94010" cy="47005"/>
                <a:chOff x="6812560" y="3297172"/>
                <a:chExt cx="94010" cy="47005"/>
              </a:xfrm>
            </p:grpSpPr>
            <p:cxnSp>
              <p:nvCxnSpPr>
                <p:cNvPr id="131" name="직선 연결선 1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직선 연결선 1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0" name="타원 129"/>
              <p:cNvSpPr/>
              <p:nvPr/>
            </p:nvSpPr>
            <p:spPr>
              <a:xfrm>
                <a:off x="3044537" y="1580377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20469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11" name="그룹 110"/>
            <p:cNvGrpSpPr/>
            <p:nvPr/>
          </p:nvGrpSpPr>
          <p:grpSpPr>
            <a:xfrm rot="16200000">
              <a:off x="986898" y="1999832"/>
              <a:ext cx="94010" cy="47005"/>
              <a:chOff x="6812560" y="3297172"/>
              <a:chExt cx="94010" cy="47005"/>
            </a:xfrm>
          </p:grpSpPr>
          <p:cxnSp>
            <p:nvCxnSpPr>
              <p:cNvPr id="125" name="직선 연결선 12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그룹 111"/>
            <p:cNvGrpSpPr/>
            <p:nvPr/>
          </p:nvGrpSpPr>
          <p:grpSpPr>
            <a:xfrm>
              <a:off x="1131881" y="1929352"/>
              <a:ext cx="187961" cy="187961"/>
              <a:chOff x="1485163" y="3237230"/>
              <a:chExt cx="187961" cy="187961"/>
            </a:xfrm>
          </p:grpSpPr>
          <p:sp>
            <p:nvSpPr>
              <p:cNvPr id="123" name="타원 122"/>
              <p:cNvSpPr/>
              <p:nvPr/>
            </p:nvSpPr>
            <p:spPr>
              <a:xfrm>
                <a:off x="1485163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540220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2</a:t>
                </a:r>
                <a:endParaRPr lang="ko-KR" altLang="en-US" sz="700" dirty="0">
                  <a:latin typeface="+mn-ea"/>
                </a:endParaRPr>
              </a:p>
            </p:txBody>
          </p:sp>
        </p:grpSp>
        <p:grpSp>
          <p:nvGrpSpPr>
            <p:cNvPr id="113" name="그룹 112"/>
            <p:cNvGrpSpPr/>
            <p:nvPr/>
          </p:nvGrpSpPr>
          <p:grpSpPr>
            <a:xfrm rot="16200000">
              <a:off x="1370395" y="1999831"/>
              <a:ext cx="94010" cy="47005"/>
              <a:chOff x="6812560" y="3297172"/>
              <a:chExt cx="94010" cy="47005"/>
            </a:xfrm>
          </p:grpSpPr>
          <p:cxnSp>
            <p:nvCxnSpPr>
              <p:cNvPr id="121" name="직선 연결선 120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22" name="직선 연결선 12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793949" y="1969471"/>
              <a:ext cx="1041420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실적정보</a:t>
              </a:r>
              <a:r>
                <a:rPr lang="ko-KR" altLang="en-US" sz="700" dirty="0">
                  <a:latin typeface="+mn-ea"/>
                </a:rPr>
                <a:t> 입력</a:t>
              </a:r>
            </a:p>
          </p:txBody>
        </p:sp>
        <p:grpSp>
          <p:nvGrpSpPr>
            <p:cNvPr id="115" name="그룹 114"/>
            <p:cNvGrpSpPr/>
            <p:nvPr/>
          </p:nvGrpSpPr>
          <p:grpSpPr>
            <a:xfrm>
              <a:off x="1515837" y="1929352"/>
              <a:ext cx="187961" cy="187961"/>
              <a:chOff x="2058749" y="3237230"/>
              <a:chExt cx="187961" cy="187961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2058749" y="3237230"/>
                <a:ext cx="187961" cy="187961"/>
              </a:xfrm>
              <a:prstGeom prst="ellipse">
                <a:avLst/>
              </a:pr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13806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solidFill>
                      <a:schemeClr val="bg1"/>
                    </a:solidFill>
                    <a:latin typeface="+mn-ea"/>
                  </a:rPr>
                  <a:t>3</a:t>
                </a:r>
                <a:endParaRPr lang="ko-KR" altLang="en-US" sz="7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16" name="그룹 115"/>
            <p:cNvGrpSpPr/>
            <p:nvPr/>
          </p:nvGrpSpPr>
          <p:grpSpPr>
            <a:xfrm>
              <a:off x="747925" y="1929352"/>
              <a:ext cx="187961" cy="187961"/>
              <a:chOff x="747925" y="3237230"/>
              <a:chExt cx="187961" cy="187961"/>
            </a:xfrm>
          </p:grpSpPr>
          <p:sp>
            <p:nvSpPr>
              <p:cNvPr id="117" name="타원 116"/>
              <p:cNvSpPr/>
              <p:nvPr/>
            </p:nvSpPr>
            <p:spPr>
              <a:xfrm>
                <a:off x="747925" y="3237230"/>
                <a:ext cx="187961" cy="187961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02982" y="3277349"/>
                <a:ext cx="7784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1</a:t>
                </a:r>
                <a:endParaRPr lang="ko-KR" altLang="en-US" sz="700" dirty="0">
                  <a:latin typeface="+mn-ea"/>
                </a:endParaRP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2069844" y="5745391"/>
              <a:ext cx="12252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신청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36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1" y="5745391"/>
              <a:ext cx="1225279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저장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38260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26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86451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91580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3" name="그룹 2"/>
          <p:cNvGrpSpPr/>
          <p:nvPr/>
        </p:nvGrpSpPr>
        <p:grpSpPr>
          <a:xfrm>
            <a:off x="675399" y="2873472"/>
            <a:ext cx="2712026" cy="2744695"/>
            <a:chOff x="3795734" y="2590223"/>
            <a:chExt cx="2712026" cy="2744695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897672" y="2590223"/>
              <a:ext cx="2208095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추가사항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63" name="그룹 162"/>
            <p:cNvGrpSpPr/>
            <p:nvPr/>
          </p:nvGrpSpPr>
          <p:grpSpPr>
            <a:xfrm flipV="1">
              <a:off x="6259759" y="2703554"/>
              <a:ext cx="94010" cy="47005"/>
              <a:chOff x="6812560" y="3297172"/>
              <a:chExt cx="94010" cy="47005"/>
            </a:xfrm>
          </p:grpSpPr>
          <p:cxnSp>
            <p:nvCxnSpPr>
              <p:cNvPr id="170" name="직선 연결선 16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72" name="직사각형 171"/>
            <p:cNvSpPr/>
            <p:nvPr/>
          </p:nvSpPr>
          <p:spPr>
            <a:xfrm>
              <a:off x="3838794" y="2897709"/>
              <a:ext cx="792000" cy="236095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73" name="직선 연결선 17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6701" y="2897708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2897708"/>
              <a:ext cx="792000" cy="236988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실적년도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실적구분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실적비율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latin typeface="+mn-ea"/>
                </a:rPr>
                <a:t>(%)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실적금액</a:t>
              </a:r>
              <a:r>
                <a:rPr lang="ko-KR" altLang="en-US" sz="700" dirty="0">
                  <a:latin typeface="+mn-ea"/>
                </a:rPr>
                <a:t> </a:t>
              </a:r>
              <a:r>
                <a:rPr lang="en-US" altLang="ko-KR" sz="700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규격 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품질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 err="1">
                  <a:latin typeface="+mn-ea"/>
                </a:rPr>
                <a:t>성능통</a:t>
              </a:r>
              <a:r>
                <a:rPr lang="en-US" altLang="ko-KR" sz="700" dirty="0">
                  <a:latin typeface="+mn-ea"/>
                </a:rPr>
                <a:t>)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납품일자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단위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수량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규모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비고</a:t>
              </a:r>
              <a:endParaRPr lang="en-US" altLang="ko-KR" sz="700" dirty="0">
                <a:latin typeface="+mn-ea"/>
              </a:endParaRPr>
            </a:p>
          </p:txBody>
        </p:sp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12881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34252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55622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0" name="직선 연결선 17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769934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1" name="직선 연결선 1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3977425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2" name="직선 연결선 18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20195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3" name="직선 연결선 18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409663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4" name="직선 연결선 18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795734" y="5334918"/>
              <a:ext cx="2712026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3925858" y="4618937"/>
              <a:ext cx="79200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용역범위</a:t>
              </a:r>
              <a:r>
                <a:rPr lang="ko-KR" altLang="en-US" sz="700" dirty="0">
                  <a:latin typeface="+mn-ea"/>
                </a:rPr>
                <a:t> 및 기준</a:t>
              </a:r>
            </a:p>
            <a:p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면적</a:t>
              </a:r>
              <a:r>
                <a:rPr lang="en-US" altLang="ko-KR" sz="700" dirty="0">
                  <a:latin typeface="+mn-ea"/>
                </a:rPr>
                <a:t>, </a:t>
              </a:r>
              <a:r>
                <a:rPr lang="ko-KR" altLang="en-US" sz="700" dirty="0">
                  <a:latin typeface="+mn-ea"/>
                </a:rPr>
                <a:t>금액</a:t>
              </a:r>
              <a:r>
                <a:rPr lang="en-US" altLang="ko-KR" sz="700" dirty="0">
                  <a:latin typeface="+mn-ea"/>
                </a:rPr>
                <a:t>(</a:t>
              </a:r>
              <a:r>
                <a:rPr lang="ko-KR" altLang="en-US" sz="700" dirty="0">
                  <a:latin typeface="+mn-ea"/>
                </a:rPr>
                <a:t>원</a:t>
              </a:r>
              <a:r>
                <a:rPr lang="en-US" altLang="ko-KR" sz="700" dirty="0">
                  <a:latin typeface="+mn-ea"/>
                </a:rPr>
                <a:t>) </a:t>
              </a:r>
              <a:r>
                <a:rPr lang="ko-KR" altLang="en-US" sz="700" dirty="0">
                  <a:latin typeface="+mn-ea"/>
                </a:rPr>
                <a:t>등</a:t>
              </a:r>
              <a:r>
                <a:rPr lang="en-US" altLang="ko-KR" sz="700" dirty="0">
                  <a:latin typeface="+mn-ea"/>
                </a:rPr>
                <a:t>)</a:t>
              </a:r>
            </a:p>
          </p:txBody>
        </p:sp>
        <p:cxnSp>
          <p:nvCxnSpPr>
            <p:cNvPr id="186" name="직선 연결선 185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618937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4826428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050960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3838794" y="5258666"/>
              <a:ext cx="2628000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21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2580545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5" name="그룹 214"/>
          <p:cNvGrpSpPr/>
          <p:nvPr/>
        </p:nvGrpSpPr>
        <p:grpSpPr>
          <a:xfrm>
            <a:off x="3139425" y="3267506"/>
            <a:ext cx="94010" cy="47005"/>
            <a:chOff x="6812560" y="3297172"/>
            <a:chExt cx="94010" cy="47005"/>
          </a:xfrm>
        </p:grpSpPr>
        <p:cxnSp>
          <p:nvCxnSpPr>
            <p:cNvPr id="216" name="직선 연결선 21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7" name="직선 연결선 21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/>
          <p:cNvSpPr txBox="1"/>
          <p:nvPr/>
        </p:nvSpPr>
        <p:spPr>
          <a:xfrm>
            <a:off x="2333362" y="3194042"/>
            <a:ext cx="24718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/>
              <a:t>~</a:t>
            </a:r>
            <a:endParaRPr lang="ko-KR" altLang="en-US" sz="700" dirty="0"/>
          </a:p>
        </p:txBody>
      </p:sp>
      <p:sp>
        <p:nvSpPr>
          <p:cNvPr id="21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2371" y="3213069"/>
            <a:ext cx="766867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</a:t>
            </a:r>
            <a:endParaRPr kumimoji="1"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219" name="그룹 218"/>
          <p:cNvGrpSpPr/>
          <p:nvPr/>
        </p:nvGrpSpPr>
        <p:grpSpPr>
          <a:xfrm>
            <a:off x="2121251" y="3267506"/>
            <a:ext cx="94010" cy="47005"/>
            <a:chOff x="6812560" y="3297172"/>
            <a:chExt cx="94010" cy="47005"/>
          </a:xfrm>
        </p:grpSpPr>
        <p:cxnSp>
          <p:nvCxnSpPr>
            <p:cNvPr id="220" name="직선 연결선 2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1" name="직선 연결선 2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4337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선택해주세요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grpSp>
        <p:nvGrpSpPr>
          <p:cNvPr id="223" name="그룹 222"/>
          <p:cNvGrpSpPr/>
          <p:nvPr/>
        </p:nvGrpSpPr>
        <p:grpSpPr>
          <a:xfrm>
            <a:off x="3139425" y="3488141"/>
            <a:ext cx="94010" cy="47005"/>
            <a:chOff x="6812560" y="3297172"/>
            <a:chExt cx="94010" cy="47005"/>
          </a:xfrm>
        </p:grpSpPr>
        <p:cxnSp>
          <p:nvCxnSpPr>
            <p:cNvPr id="224" name="직선 연결선 223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26" name="직선 연결선 22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3650904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2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291940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B217D5BC-8335-EED4-D47A-F3F4110845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398" y="4304301"/>
            <a:ext cx="134873" cy="137278"/>
          </a:xfrm>
          <a:prstGeom prst="rect">
            <a:avLst/>
          </a:prstGeom>
        </p:spPr>
      </p:pic>
      <p:sp>
        <p:nvSpPr>
          <p:cNvPr id="230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072423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51800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2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718626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4921068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4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142525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1566495" y="5358957"/>
            <a:ext cx="1780918" cy="162000"/>
          </a:xfrm>
          <a:prstGeom prst="roundRect">
            <a:avLst/>
          </a:prstGeom>
          <a:noFill/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입력해주세요</a:t>
            </a:r>
            <a:r>
              <a:rPr kumimoji="1"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sp>
        <p:nvSpPr>
          <p:cNvPr id="236" name="모서리가 둥근 직사각형 235"/>
          <p:cNvSpPr/>
          <p:nvPr/>
        </p:nvSpPr>
        <p:spPr>
          <a:xfrm>
            <a:off x="3370903" y="3663886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2-1</a:t>
            </a:r>
            <a:endParaRPr lang="ko-KR" altLang="en-US" sz="900" b="1" dirty="0"/>
          </a:p>
        </p:txBody>
      </p:sp>
      <p:sp>
        <p:nvSpPr>
          <p:cNvPr id="237" name="모서리가 둥근 직사각형 236"/>
          <p:cNvSpPr/>
          <p:nvPr/>
        </p:nvSpPr>
        <p:spPr>
          <a:xfrm>
            <a:off x="3370903" y="4094404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2-2</a:t>
            </a:r>
            <a:endParaRPr lang="ko-KR" altLang="en-US" sz="900" b="1" dirty="0"/>
          </a:p>
        </p:txBody>
      </p:sp>
      <p:sp>
        <p:nvSpPr>
          <p:cNvPr id="240" name="모서리가 둥근 직사각형 239"/>
          <p:cNvSpPr/>
          <p:nvPr/>
        </p:nvSpPr>
        <p:spPr>
          <a:xfrm>
            <a:off x="3370903" y="4302190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2-3</a:t>
            </a:r>
            <a:endParaRPr lang="ko-KR" altLang="en-US" sz="900" b="1" dirty="0"/>
          </a:p>
        </p:txBody>
      </p:sp>
      <p:sp>
        <p:nvSpPr>
          <p:cNvPr id="241" name="모서리가 둥근 직사각형 240"/>
          <p:cNvSpPr/>
          <p:nvPr/>
        </p:nvSpPr>
        <p:spPr>
          <a:xfrm>
            <a:off x="3370903" y="4521383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2-4</a:t>
            </a:r>
            <a:endParaRPr lang="ko-KR" altLang="en-US" sz="900" b="1" dirty="0"/>
          </a:p>
        </p:txBody>
      </p:sp>
      <p:sp>
        <p:nvSpPr>
          <p:cNvPr id="243" name="모서리가 둥근 직사각형 242"/>
          <p:cNvSpPr/>
          <p:nvPr/>
        </p:nvSpPr>
        <p:spPr>
          <a:xfrm>
            <a:off x="3370903" y="473270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2-5</a:t>
            </a:r>
            <a:endParaRPr lang="ko-KR" altLang="en-US" sz="900" b="1" dirty="0"/>
          </a:p>
        </p:txBody>
      </p:sp>
      <p:sp>
        <p:nvSpPr>
          <p:cNvPr id="244" name="모서리가 둥근 직사각형 243"/>
          <p:cNvSpPr/>
          <p:nvPr/>
        </p:nvSpPr>
        <p:spPr>
          <a:xfrm>
            <a:off x="3370903" y="4933762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2-6</a:t>
            </a:r>
            <a:endParaRPr lang="ko-KR" altLang="en-US" sz="900" b="1" dirty="0"/>
          </a:p>
        </p:txBody>
      </p:sp>
      <p:sp>
        <p:nvSpPr>
          <p:cNvPr id="265" name="모서리가 둥근 직사각형 264"/>
          <p:cNvSpPr/>
          <p:nvPr/>
        </p:nvSpPr>
        <p:spPr>
          <a:xfrm>
            <a:off x="3370903" y="5153278"/>
            <a:ext cx="291399" cy="140494"/>
          </a:xfrm>
          <a:prstGeom prst="roundRect">
            <a:avLst>
              <a:gd name="adj" fmla="val 25142"/>
            </a:avLst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2-7</a:t>
            </a:r>
            <a:endParaRPr lang="ko-KR" altLang="en-US" sz="900" b="1" dirty="0"/>
          </a:p>
        </p:txBody>
      </p:sp>
      <p:sp>
        <p:nvSpPr>
          <p:cNvPr id="8" name="직사각형 7"/>
          <p:cNvSpPr/>
          <p:nvPr/>
        </p:nvSpPr>
        <p:spPr>
          <a:xfrm>
            <a:off x="7074694" y="5923505"/>
            <a:ext cx="2369315" cy="38898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" dirty="0" err="1"/>
              <a:t>노차장님</a:t>
            </a:r>
            <a:r>
              <a:rPr lang="ko-KR" altLang="en-US" sz="400" dirty="0"/>
              <a:t> 확인 필요</a:t>
            </a:r>
            <a:r>
              <a:rPr lang="en-US" altLang="ko-KR" sz="400" dirty="0"/>
              <a:t>.</a:t>
            </a:r>
          </a:p>
          <a:p>
            <a:pPr algn="ctr"/>
            <a:endParaRPr lang="en-US" altLang="ko-KR" sz="400" dirty="0"/>
          </a:p>
          <a:p>
            <a:pPr algn="ctr"/>
            <a:r>
              <a:rPr lang="ko-KR" altLang="en-US" sz="400" dirty="0"/>
              <a:t>물품</a:t>
            </a:r>
            <a:r>
              <a:rPr lang="en-US" altLang="ko-KR" sz="400" dirty="0"/>
              <a:t>/</a:t>
            </a:r>
            <a:r>
              <a:rPr lang="ko-KR" altLang="en-US" sz="400" dirty="0" err="1"/>
              <a:t>군수품일때</a:t>
            </a:r>
            <a:r>
              <a:rPr lang="ko-KR" altLang="en-US" sz="400" dirty="0"/>
              <a:t> </a:t>
            </a:r>
            <a:r>
              <a:rPr lang="en-US" altLang="ko-KR" sz="400" dirty="0"/>
              <a:t>:  ②⑧⑨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④⑤⑥⑦ : active,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3 : disable</a:t>
            </a:r>
          </a:p>
          <a:p>
            <a:pPr algn="ctr"/>
            <a:r>
              <a:rPr lang="ko-KR" altLang="en-US" sz="400" dirty="0"/>
              <a:t>그 외 </a:t>
            </a:r>
            <a:r>
              <a:rPr lang="ko-KR" altLang="en-US" sz="400" dirty="0" err="1"/>
              <a:t>일때</a:t>
            </a:r>
            <a:r>
              <a:rPr lang="ko-KR" altLang="en-US" sz="400" dirty="0"/>
              <a:t>         </a:t>
            </a:r>
            <a:r>
              <a:rPr lang="en-US" altLang="ko-KR" sz="400" dirty="0"/>
              <a:t>:  ②⑧ : active, ④⑤⑥⑦ : </a:t>
            </a:r>
            <a:r>
              <a:rPr lang="en-US" altLang="ko-KR" sz="400" dirty="0" err="1"/>
              <a:t>readonly</a:t>
            </a:r>
            <a:r>
              <a:rPr lang="en-US" altLang="ko-KR" sz="400" dirty="0"/>
              <a:t>, ①</a:t>
            </a:r>
            <a:r>
              <a:rPr lang="ko-KR" altLang="en-US" sz="400" dirty="0"/>
              <a:t>의 </a:t>
            </a:r>
            <a:r>
              <a:rPr lang="en-US" altLang="ko-KR" sz="400" dirty="0"/>
              <a:t>value 1,2 : disable</a:t>
            </a:r>
            <a:endParaRPr lang="ko-KR" altLang="en-US" sz="400" dirty="0"/>
          </a:p>
        </p:txBody>
      </p:sp>
    </p:spTree>
    <p:extLst>
      <p:ext uri="{BB962C8B-B14F-4D97-AF65-F5344CB8AC3E}">
        <p14:creationId xmlns:p14="http://schemas.microsoft.com/office/powerpoint/2010/main" val="3423887248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ctrtInst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계약기관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방위사업청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(1)/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부대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(2)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2999" y="2143255"/>
            <a:ext cx="24740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5303234"/>
              </p:ext>
            </p:extLst>
          </p:nvPr>
        </p:nvGraphicFramePr>
        <p:xfrm>
          <a:off x="452999" y="2354458"/>
          <a:ext cx="8994883" cy="21331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ctrtNo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ctrtSe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2556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orderInst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309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201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3291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dsbofrTel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지출관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8595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finrTel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재무관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266482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EF34B8CE-1ABB-F150-1327-3373CEA1C65A}"/>
              </a:ext>
            </a:extLst>
          </p:cNvPr>
          <p:cNvSpPr txBox="1"/>
          <p:nvPr/>
        </p:nvSpPr>
        <p:spPr>
          <a:xfrm>
            <a:off x="452999" y="4677684"/>
            <a:ext cx="42982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신청정보 입력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9045936-57F6-F3EA-C491-B82A0DED9AB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891367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dmndQty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발급수량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sbmsnDeptNm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제출처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usePrpsCdNm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etcUsePrps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사용목적이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 경우만 사용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D1DCF60F-18A8-3BB4-41A1-F17B43F7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8448984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ED181E2-3BA7-B57D-98EF-0B776A727D98}"/>
              </a:ext>
            </a:extLst>
          </p:cNvPr>
          <p:cNvSpPr txBox="1"/>
          <p:nvPr/>
        </p:nvSpPr>
        <p:spPr>
          <a:xfrm>
            <a:off x="463235" y="822075"/>
            <a:ext cx="35255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dm_prfmncPrdocAplyInptInfo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BC5F04A-9C28-E86D-C357-41CF635142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40913"/>
              </p:ext>
            </p:extLst>
          </p:nvPr>
        </p:nvGraphicFramePr>
        <p:xfrm>
          <a:off x="458117" y="1033278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지출년도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prfmncIdntyAmt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prpamtIdntyAmt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선금금액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clclnAmt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otstDmndAmt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착수금액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mdwyDmndAmt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grnteInsrncNo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보증보험번호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idntyDmndMttr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확인요청사항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clclnYmd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정산일자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1DAF561-8940-F301-28F9-894AFD6AB87A}"/>
              </a:ext>
            </a:extLst>
          </p:cNvPr>
          <p:cNvSpPr txBox="1"/>
          <p:nvPr/>
        </p:nvSpPr>
        <p:spPr>
          <a:xfrm>
            <a:off x="458117" y="3089635"/>
            <a:ext cx="42485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시공자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대표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dm_prfmncPrdocAplyRprsInfo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42EE9CFD-A820-FA44-B1F2-B804E2C36D2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3300838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면허번호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0269541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D4DB7E85-55B9-F2B1-FF88-A621CA41216B}"/>
              </a:ext>
            </a:extLst>
          </p:cNvPr>
          <p:cNvSpPr txBox="1"/>
          <p:nvPr/>
        </p:nvSpPr>
        <p:spPr>
          <a:xfrm>
            <a:off x="463235" y="4609033"/>
            <a:ext cx="52872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 err="1">
                <a:solidFill>
                  <a:prstClr val="black"/>
                </a:solidFill>
              </a:rPr>
              <a:t>총공사</a:t>
            </a:r>
            <a:r>
              <a:rPr lang="ko-KR" altLang="en-US" sz="900" b="1" dirty="0">
                <a:solidFill>
                  <a:prstClr val="black"/>
                </a:solidFill>
              </a:rPr>
              <a:t>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dm_prfmncPrdocAplyWholCstrnInfo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6DB57DF-3264-70A1-5F25-B696A1D2B69D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4820236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88E6329-F98D-BBA4-9329-4767233D4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납품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선금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정산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착수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중도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614011127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94482E-9BC8-2B91-6322-DFD524FE23D9}"/>
              </a:ext>
            </a:extLst>
          </p:cNvPr>
          <p:cNvSpPr txBox="1"/>
          <p:nvPr/>
        </p:nvSpPr>
        <p:spPr>
          <a:xfrm>
            <a:off x="463235" y="799547"/>
            <a:ext cx="517506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계약 및 준공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금차공사 기준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r>
              <a:rPr lang="ko-KR" altLang="en-US" sz="900" b="1" dirty="0">
                <a:solidFill>
                  <a:prstClr val="black"/>
                </a:solidFill>
              </a:rPr>
              <a:t>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6384CB9E-D7A4-B068-B2D0-EC38412C4B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636199"/>
              </p:ext>
            </p:extLst>
          </p:nvPr>
        </p:nvGraphicFramePr>
        <p:xfrm>
          <a:off x="458117" y="1010750"/>
          <a:ext cx="8994883" cy="13574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ctrtYmd2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bgncstYmd2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cmcnYmd2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cstrnAmt2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cmcnAmt2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gvspAmt2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2C62C28-EE12-EE0B-0C0A-A16F41A38450}"/>
              </a:ext>
            </a:extLst>
          </p:cNvPr>
          <p:cNvSpPr txBox="1"/>
          <p:nvPr/>
        </p:nvSpPr>
        <p:spPr>
          <a:xfrm>
            <a:off x="463235" y="2502345"/>
            <a:ext cx="441042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공사성질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msb_prfmncPrdocAplyCstrnTypeInfo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8AAFAF7-108B-EEEE-7473-DE803731BDB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13548"/>
          <a:ext cx="8994883" cy="947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cnstrDivs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cnstrExpnCstrnYn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cnstrRmdlCstrnYn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eltyDivs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eltyNewCstrnYn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eltyEpxnCstrnYn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eltyRlocatCstrnYn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eltyEstblCstrnYn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eltyRprwrkYn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09C00F4-9404-C91B-1399-DF8169011927}"/>
              </a:ext>
            </a:extLst>
          </p:cNvPr>
          <p:cNvSpPr txBox="1"/>
          <p:nvPr/>
        </p:nvSpPr>
        <p:spPr>
          <a:xfrm>
            <a:off x="468353" y="3795223"/>
            <a:ext cx="446172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공동도급 여부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rad_prfmncPrdocAplyJntCtrcInfo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DB4DE96-8723-0921-3DA8-36813F40B073}"/>
              </a:ext>
            </a:extLst>
          </p:cNvPr>
          <p:cNvGraphicFramePr>
            <a:graphicFrameLocks noGrp="1"/>
          </p:cNvGraphicFramePr>
          <p:nvPr/>
        </p:nvGraphicFramePr>
        <p:xfrm>
          <a:off x="463235" y="4006426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jntCtrcCd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건설공사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3B425BEC-47CD-CD5A-3F29-5C4F485229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8223250" y="534507"/>
            <a:ext cx="3365500" cy="634511"/>
            <a:chOff x="8223250" y="569392"/>
            <a:chExt cx="3365500" cy="634511"/>
          </a:xfrm>
        </p:grpSpPr>
        <p:sp>
          <p:nvSpPr>
            <p:cNvPr id="13" name="직사각형 12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dirty="0"/>
                <a:t>2026-06-15 </a:t>
              </a:r>
              <a:r>
                <a:rPr lang="ko-KR" altLang="en-US" dirty="0"/>
                <a:t>내용 수정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28600" indent="-228600">
                <a:buAutoNum type="arabicPeriod"/>
              </a:pPr>
              <a:r>
                <a:rPr lang="ko-KR" altLang="en-US" sz="700" dirty="0"/>
                <a:t>공사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중공</a:t>
              </a:r>
              <a:r>
                <a:rPr lang="en-US" altLang="ko-KR" sz="700" dirty="0"/>
                <a:t>, </a:t>
              </a:r>
              <a:r>
                <a:rPr lang="ko-KR" altLang="en-US" sz="700" dirty="0"/>
                <a:t>관급 금액 </a:t>
              </a:r>
              <a:r>
                <a:rPr lang="ko-KR" altLang="en-US" sz="700" dirty="0" err="1"/>
                <a:t>자리수</a:t>
              </a:r>
              <a:r>
                <a:rPr lang="ko-KR" altLang="en-US" sz="700" dirty="0"/>
                <a:t> 변경</a:t>
              </a:r>
              <a:r>
                <a:rPr lang="en-US" altLang="ko-KR" sz="700" dirty="0"/>
                <a:t/>
              </a:r>
              <a:br>
                <a:rPr lang="en-US" altLang="ko-KR" sz="700" dirty="0"/>
              </a:br>
              <a:r>
                <a:rPr lang="en-US" altLang="ko-KR" sz="700" dirty="0"/>
                <a:t>17 </a:t>
              </a:r>
              <a:r>
                <a:rPr lang="en-US" altLang="ko-KR" sz="700" dirty="0">
                  <a:sym typeface="Wingdings" panose="05000000000000000000" pitchFamily="2" charset="2"/>
                </a:rPr>
                <a:t> 22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37094785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20BE741-117A-6D32-5EBE-43EDB3129FD8}"/>
              </a:ext>
            </a:extLst>
          </p:cNvPr>
          <p:cNvSpPr txBox="1"/>
          <p:nvPr/>
        </p:nvSpPr>
        <p:spPr>
          <a:xfrm>
            <a:off x="463235" y="874033"/>
            <a:ext cx="468614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실적의 종류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dm_prfmncPrdocAplyprfmncTypeInfo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93A7EF-D452-FBE8-B657-CCAAF1ECE55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5236"/>
          <a:ext cx="8994883" cy="38620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078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0875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실적의종류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rsltDivs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prfmncCncptDesignYn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prfmncBscDesignYn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prfmncEnfrcDesignYn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prfmncCnstYn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prfmncSpvbYn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prfmncQltyCstrnMngYn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prfmncTstrnYn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prfmncMcmtrFbctnInstlYn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prfmncEtcYn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의 값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다중 선택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72502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enbrno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4112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08895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731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21419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1893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12704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wholCstrnCnstSclExpln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전체공사 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2263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cnstBcoSclMthdCn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시공 규모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방법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5266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cnstBcoCnstAmtCn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9111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cnstBcoCmcnAmtCn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중공금액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74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시공회사별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PQ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관급금액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749279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DE98DCE7-3703-62EA-C591-0D2AFCE97F56}"/>
              </a:ext>
            </a:extLst>
          </p:cNvPr>
          <p:cNvSpPr txBox="1"/>
          <p:nvPr/>
        </p:nvSpPr>
        <p:spPr>
          <a:xfrm>
            <a:off x="453000" y="5119726"/>
            <a:ext cx="428058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1.11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 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9A4AE937-CE3D-39A4-C44A-325B4A7851E4}"/>
              </a:ext>
            </a:extLst>
          </p:cNvPr>
          <p:cNvGraphicFramePr>
            <a:graphicFrameLocks noGrp="1"/>
          </p:cNvGraphicFramePr>
          <p:nvPr/>
        </p:nvGraphicFramePr>
        <p:xfrm>
          <a:off x="453000" y="5326571"/>
          <a:ext cx="8994883" cy="1091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72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5894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sbctrSeNm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sbctrCstrnSclCn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하도급공사규모 및 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cnstBcoGvspAmtCn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 발급일 기준 시공내용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</a:tbl>
          </a:graphicData>
        </a:graphic>
      </p:graphicFrame>
      <p:sp>
        <p:nvSpPr>
          <p:cNvPr id="9" name="Text Box 73">
            <a:extLst>
              <a:ext uri="{FF2B5EF4-FFF2-40B4-BE49-F238E27FC236}">
                <a16:creationId xmlns:a16="http://schemas.microsoft.com/office/drawing/2014/main" id="{22CC85B2-AFAE-35F7-BE83-4D56FE2D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17731225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319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9C8262-3EA1-2756-0C68-C364281C05B7}"/>
              </a:ext>
            </a:extLst>
          </p:cNvPr>
          <p:cNvSpPr txBox="1"/>
          <p:nvPr/>
        </p:nvSpPr>
        <p:spPr>
          <a:xfrm>
            <a:off x="455558" y="1064351"/>
            <a:ext cx="56607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최저가 적정성심사관련 시공실적자료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dm_prfmncPrdocAplyLwprcInfo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46C8FCD-2050-5A41-D075-16415974C18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8034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cnstCn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useEqpmntNm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사용장비명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eqpmntSpcfctCn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장비규격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5025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inputCntomCn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투입대수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47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wkqtyActotCn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작업량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918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jobHrActotCn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작업시간 누계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378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ptmWkqtyCn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시간당 작업량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343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etcRefMttr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참고사항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542907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6277042-213F-BD1E-DB8E-DFAFA33C9135}"/>
              </a:ext>
            </a:extLst>
          </p:cNvPr>
          <p:cNvSpPr txBox="1"/>
          <p:nvPr/>
        </p:nvSpPr>
        <p:spPr>
          <a:xfrm>
            <a:off x="455558" y="314700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7E37716-D066-1919-8A1E-A572C82D71A1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37961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영업소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1386225-D664-D673-3575-749B0598A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3090412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380480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(06/19)</a:t>
            </a:r>
            <a:endParaRPr lang="ko-KR" altLang="en-US" sz="1000" b="1" dirty="0">
              <a:solidFill>
                <a:prstClr val="black"/>
              </a:solidFill>
            </a:endParaRPr>
          </a:p>
          <a:p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FF92358-CECD-C653-3FA6-3D4C7200DF2E}"/>
              </a:ext>
            </a:extLst>
          </p:cNvPr>
          <p:cNvSpPr txBox="1"/>
          <p:nvPr/>
        </p:nvSpPr>
        <p:spPr>
          <a:xfrm>
            <a:off x="510736" y="952078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A7250B9-9B5E-2209-667D-08910AAAEAC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61923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01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128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237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 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snthsDtlCnstpNm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종합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CODE.getCsrtDivsSub1()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8491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9912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3070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55572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8174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23226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4225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9559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474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7097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thyrOdrSplyMtrlAmt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발주자공급자재액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63860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prvyrGvspMtrlActotAmt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누계관급자재액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14640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etcMttr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사항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6278402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E2DC87E8-B095-9797-67BA-FAE74F2AF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75497814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0D660A-7345-AF1D-5B81-E928CEEDB7EC}"/>
              </a:ext>
            </a:extLst>
          </p:cNvPr>
          <p:cNvSpPr txBox="1"/>
          <p:nvPr/>
        </p:nvSpPr>
        <p:spPr>
          <a:xfrm>
            <a:off x="455558" y="87599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8D75A14-F914-E1A0-5B45-3CD32C5BD8E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3301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허가번호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38722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prdocUsgCn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증명서용도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061D54-42C2-ABC2-BEC4-E9F8D2B3ADDF}"/>
              </a:ext>
            </a:extLst>
          </p:cNvPr>
          <p:cNvSpPr txBox="1"/>
          <p:nvPr/>
        </p:nvSpPr>
        <p:spPr>
          <a:xfrm>
            <a:off x="460676" y="2319372"/>
            <a:ext cx="575695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수집</a:t>
            </a:r>
            <a:r>
              <a:rPr lang="en-US" altLang="ko-KR" sz="900" b="1" dirty="0">
                <a:solidFill>
                  <a:prstClr val="black"/>
                </a:solidFill>
              </a:rPr>
              <a:t>/</a:t>
            </a:r>
            <a:r>
              <a:rPr lang="ko-KR" altLang="en-US" sz="900" b="1" dirty="0">
                <a:solidFill>
                  <a:prstClr val="black"/>
                </a:solidFill>
              </a:rPr>
              <a:t>운반용역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dm_prfmncPrdocAplyClctCnvncInfo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88055FD-6A65-6C0E-FFEA-FC4E4404E88F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530575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clctCnvncCtrtBgngYmd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clctCnvncRmrkCn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364BF7FE-3684-6278-BA47-60FCDEF7768D}"/>
              </a:ext>
            </a:extLst>
          </p:cNvPr>
          <p:cNvSpPr txBox="1"/>
          <p:nvPr/>
        </p:nvSpPr>
        <p:spPr>
          <a:xfrm>
            <a:off x="460676" y="4454936"/>
            <a:ext cx="58755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건설폐기물 중간처리용역 이행실적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dm_prfmncPrdocAplyMdPrcsLbsvcInfo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099DDEA-9A7A-90A8-4440-F5509D4AA7E3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666139"/>
          <a:ext cx="8994883" cy="1795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mdPrcsLbsvcNm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용역명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mdPrcsCtprCn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계약기간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mdPrcsCndspKndNm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건설폐기물의 종류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mdPrcsCnSgnQtyCn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위탁량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mdPrcsPxCndPrfmncAmt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기성실적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mdPrcsRmrkCn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06E16C6D-EBCC-AEC4-9DA3-3596FBA74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76448138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E413DB-BAE1-A5CA-06E1-959007BAF8C7}"/>
              </a:ext>
            </a:extLst>
          </p:cNvPr>
          <p:cNvSpPr txBox="1"/>
          <p:nvPr/>
        </p:nvSpPr>
        <p:spPr>
          <a:xfrm>
            <a:off x="463235" y="837759"/>
            <a:ext cx="4113874" cy="349702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</a:p>
          <a:p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B184D5-1CB7-6E4A-E3B7-E4E1F2322E95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48962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lcnsNoVl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6952C0DE-EC99-B818-90E4-0044D8E380B5}"/>
              </a:ext>
            </a:extLst>
          </p:cNvPr>
          <p:cNvSpPr txBox="1"/>
          <p:nvPr/>
        </p:nvSpPr>
        <p:spPr>
          <a:xfrm>
            <a:off x="463235" y="2216782"/>
            <a:ext cx="446974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01B924D-3AF8-D0AD-B04D-FA009F03FEB4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27985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이월공사액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tctrtAmt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prvyrGiveActotAmt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22AB7D3-1330-192A-380E-E2C81C8EB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24731997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(09/19)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CEC13-90FF-84FB-1FC6-C272DC4FAD85}"/>
              </a:ext>
            </a:extLst>
          </p:cNvPr>
          <p:cNvSpPr txBox="1"/>
          <p:nvPr/>
        </p:nvSpPr>
        <p:spPr>
          <a:xfrm>
            <a:off x="429215" y="887706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DD2849-0F24-7B79-34A0-1ED4EC256DC1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1098909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66521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0A5D196-94BC-4511-0404-D81CC6B7E970}"/>
              </a:ext>
            </a:extLst>
          </p:cNvPr>
          <p:cNvSpPr txBox="1"/>
          <p:nvPr/>
        </p:nvSpPr>
        <p:spPr>
          <a:xfrm>
            <a:off x="434333" y="2266729"/>
            <a:ext cx="524880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실적증명서신처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38C5703-47BA-C42E-134E-1E7471B15DCF}"/>
              </a:ext>
            </a:extLst>
          </p:cNvPr>
          <p:cNvGraphicFramePr>
            <a:graphicFrameLocks noGrp="1"/>
          </p:cNvGraphicFramePr>
          <p:nvPr/>
        </p:nvGraphicFramePr>
        <p:xfrm>
          <a:off x="429215" y="2477932"/>
          <a:ext cx="8994883" cy="2642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tpbizNm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cstrnGrndsAddr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cstrnRgnNm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공사지역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계약체결일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경보설비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피난설비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소화용수설비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소화활동설비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D57284C7-242C-13C2-BEA2-98E155EEF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5222683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324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(10/19)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E51CA8-B851-C014-4942-C9726A17F7F4}"/>
              </a:ext>
            </a:extLst>
          </p:cNvPr>
          <p:cNvSpPr txBox="1"/>
          <p:nvPr/>
        </p:nvSpPr>
        <p:spPr>
          <a:xfrm>
            <a:off x="463235" y="1066746"/>
            <a:ext cx="559985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소방시설 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dm_prfmncPrdocAplyFrsvcCstrnPrfmncInfo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2600223-C915-C0B9-3200-4B075AEEEDEC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277949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953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40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9858650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(11/19)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2" name="Text Box 73">
            <a:extLst>
              <a:ext uri="{FF2B5EF4-FFF2-40B4-BE49-F238E27FC236}">
                <a16:creationId xmlns:a16="http://schemas.microsoft.com/office/drawing/2014/main" id="{5269E6D2-C599-CE6A-6B73-1B8B10A9A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2700" y="638760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7EFA38-0BCF-E62D-6D10-D106B5E68580}"/>
              </a:ext>
            </a:extLst>
          </p:cNvPr>
          <p:cNvSpPr txBox="1"/>
          <p:nvPr/>
        </p:nvSpPr>
        <p:spPr>
          <a:xfrm>
            <a:off x="463235" y="1096221"/>
            <a:ext cx="565916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1.23.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복합공종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타 </a:t>
            </a:r>
            <a:r>
              <a:rPr lang="ko-KR" altLang="en-US" sz="900" b="1" dirty="0" err="1">
                <a:solidFill>
                  <a:prstClr val="black"/>
                </a:solidFill>
              </a:rPr>
              <a:t>공종</a:t>
            </a:r>
            <a:r>
              <a:rPr lang="ko-KR" altLang="en-US" sz="900" b="1" dirty="0">
                <a:solidFill>
                  <a:prstClr val="black"/>
                </a:solidFill>
              </a:rPr>
              <a:t>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실적내용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76710F9-BC4E-11D5-4F7A-0334F6899640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307424"/>
          <a:ext cx="8994883" cy="3102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cstrnNm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ctrcAmt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prvyrPxcndAmt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thsyrPxcndAmt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nestblAmt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431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cstrnNm3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39559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ctrcAmt3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도급금액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6011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prvyrPxcndAmt3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62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thsyrPxcndAmt3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금년도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45448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nestblAmt3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4248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199488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(12/19)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7919742-9F88-3E88-B47F-E969969ECF8E}"/>
              </a:ext>
            </a:extLst>
          </p:cNvPr>
          <p:cNvSpPr txBox="1"/>
          <p:nvPr/>
        </p:nvSpPr>
        <p:spPr>
          <a:xfrm>
            <a:off x="460676" y="867838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4864D96-C35C-12BD-4B29-F02071D1C240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121903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전화번호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94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bldrRegNo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795774B-3284-E9D2-5E06-FE879861AA8F}"/>
              </a:ext>
            </a:extLst>
          </p:cNvPr>
          <p:cNvSpPr txBox="1"/>
          <p:nvPr/>
        </p:nvSpPr>
        <p:spPr>
          <a:xfrm>
            <a:off x="460676" y="2509045"/>
            <a:ext cx="49426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1.25.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 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D3F15B7-33B6-8A14-3D13-C1B9AB224A8B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720248"/>
          <a:ext cx="8994883" cy="28867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배전설비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산업시설물전기설비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구조물전기설비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도로전기설비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공항전기설비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항만전기설비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전기철도설비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철도신호설비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기타 전기설비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cstrnGrndsNm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공사현장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orderIntstNm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orgctrRegNo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원도급자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착공일자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ctrtMthdNm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계약방법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일반경쟁입찰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제한경쟁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지명경쟁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수의계약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ctrcKndNm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도급종류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원도급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자가수요공사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667EA6EC-EB5B-ACE9-B68A-3273A9D77F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4662702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327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(13/19)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020391-6BA9-2E91-175E-D773C7F45A52}"/>
              </a:ext>
            </a:extLst>
          </p:cNvPr>
          <p:cNvSpPr txBox="1"/>
          <p:nvPr/>
        </p:nvSpPr>
        <p:spPr>
          <a:xfrm>
            <a:off x="455558" y="818602"/>
            <a:ext cx="525360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1.26.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전기공사실적 금액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dm_prfmncPrdocAplyEltyCstrnPrfmncInfo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A4FAEE54-16E8-DF49-77FD-01C150F9FEF2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24033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3669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654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33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ctrcTctrtAmt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 도급계약금액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전년까지의 누계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prvyrCrfwAmt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이월액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해당연도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 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thyrNestblAmt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gvspMtrlAmt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관급자재액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etcCstrnKndPxcndAmt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다른공사포함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 또는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F7544D27-6A9E-E000-6A4F-43081CDE1086}"/>
              </a:ext>
            </a:extLst>
          </p:cNvPr>
          <p:cNvSpPr txBox="1"/>
          <p:nvPr/>
        </p:nvSpPr>
        <p:spPr>
          <a:xfrm>
            <a:off x="460676" y="3418276"/>
            <a:ext cx="4270968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1.27.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하도급내역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dm_prfmncPrdocAplySbctrInfo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874F7C9-509D-86D7-E153-18CFB398129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3629479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sbctrBzentyNm2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하도급업체명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sbctrAmt2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하도금액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sbctrRegNo2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sbctrRprsvNm2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3D3E10F7-735A-384B-D044-B5A65A490D4E}"/>
              </a:ext>
            </a:extLst>
          </p:cNvPr>
          <p:cNvSpPr txBox="1"/>
          <p:nvPr/>
        </p:nvSpPr>
        <p:spPr>
          <a:xfrm>
            <a:off x="460676" y="5566009"/>
            <a:ext cx="423570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1.28.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시공규모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dm_prfmncPrdocAplyCnstSclInfo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7222A68-8CC6-55BD-98CE-A8DEF902A55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5777212"/>
          <a:ext cx="8994883" cy="3878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cnstSclExpln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시공규모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798F4079-1F4A-3AA2-EDD7-670B7B3A4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64966135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(14/19)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5A8BAA-FEBC-A2D7-CDF6-5161FCA41941}"/>
              </a:ext>
            </a:extLst>
          </p:cNvPr>
          <p:cNvSpPr txBox="1"/>
          <p:nvPr/>
        </p:nvSpPr>
        <p:spPr>
          <a:xfrm>
            <a:off x="460676" y="873352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(1/3)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F053B0C-6356-2030-886E-67B59B2E9028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84555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29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71392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5460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eltyCstrnNestblAmt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전기공사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frsvc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소방공사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prvyrM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828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mcwk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기계설비공사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7097774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9FF465BE-D071-908C-E037-42D480D08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718580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329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(15/19)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ABABC4-5791-1F7E-9C6D-7C88CC75CCDD}"/>
              </a:ext>
            </a:extLst>
          </p:cNvPr>
          <p:cNvGraphicFramePr>
            <a:graphicFrameLocks noGrp="1"/>
          </p:cNvGraphicFramePr>
          <p:nvPr/>
        </p:nvGraphicFramePr>
        <p:xfrm>
          <a:off x="508776" y="1135677"/>
          <a:ext cx="8994883" cy="426624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327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178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05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pbwks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토목공사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8314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057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prvyrA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9013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07669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53347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건축공사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91894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57187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commC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474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66166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prvyrC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omm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3629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84012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14667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arch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통신공사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4885042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58117" y="905416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(2/3)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B2DD5028-C8D4-B1A6-19BF-AF43B8A50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7762814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330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(16/19)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6EFF21-2FB6-299D-CE6A-F799C6ED1FAA}"/>
              </a:ext>
            </a:extLst>
          </p:cNvPr>
          <p:cNvSpPr txBox="1"/>
          <p:nvPr/>
        </p:nvSpPr>
        <p:spPr>
          <a:xfrm>
            <a:off x="460676" y="885231"/>
            <a:ext cx="65151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1.29.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복합공사종류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ko-KR" altLang="en-US" sz="900" b="1" dirty="0">
                <a:solidFill>
                  <a:prstClr val="black"/>
                </a:solidFill>
              </a:rPr>
              <a:t>다른 공사 종류 포함</a:t>
            </a:r>
            <a:r>
              <a:rPr lang="en-US" altLang="ko-KR" sz="900" b="1" dirty="0">
                <a:solidFill>
                  <a:prstClr val="black"/>
                </a:solidFill>
              </a:rPr>
              <a:t>) </a:t>
            </a:r>
            <a:r>
              <a:rPr lang="ko-KR" altLang="en-US" sz="900" b="1" dirty="0">
                <a:solidFill>
                  <a:prstClr val="black"/>
                </a:solidFill>
              </a:rPr>
              <a:t>실적 명세 데이터 영역</a:t>
            </a:r>
            <a:r>
              <a:rPr lang="en-US" altLang="ko-KR" sz="900" b="1" dirty="0">
                <a:solidFill>
                  <a:prstClr val="black"/>
                </a:solidFill>
              </a:rPr>
              <a:t>(3/3)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dm_prfmncPrdocAplyMltCstrnInfo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D9E8A80-A4F9-0812-AACD-8E66645E1EFF}"/>
              </a:ext>
            </a:extLst>
          </p:cNvPr>
          <p:cNvGraphicFramePr>
            <a:graphicFrameLocks noGrp="1"/>
          </p:cNvGraphicFramePr>
          <p:nvPr/>
        </p:nvGraphicFramePr>
        <p:xfrm>
          <a:off x="531758" y="1102368"/>
          <a:ext cx="8994883" cy="15513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4661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2811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428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지난연도기성액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해당연도기성액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etcCstrnSbctrAmt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하도급금액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etcCstrnNestblAmt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그 밖의 공사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미기성금액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1571C2C5-D197-A374-72B6-4AC77070B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864905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(17/19)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D41572-54CB-BB97-14B8-26728B8BF74E}"/>
              </a:ext>
            </a:extLst>
          </p:cNvPr>
          <p:cNvSpPr txBox="1"/>
          <p:nvPr/>
        </p:nvSpPr>
        <p:spPr>
          <a:xfrm>
            <a:off x="455558" y="82660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1.30.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77CE651-A68C-38D8-F57D-83B2DEC35397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1050103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79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52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A47D1D4-18BA-6688-655A-E575CF4DC5BF}"/>
              </a:ext>
            </a:extLst>
          </p:cNvPr>
          <p:cNvSpPr txBox="1"/>
          <p:nvPr/>
        </p:nvSpPr>
        <p:spPr>
          <a:xfrm>
            <a:off x="460676" y="2107412"/>
            <a:ext cx="451141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1.31.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8DD57D6-6C16-028F-36D2-73484B859289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2318615"/>
          <a:ext cx="8994883" cy="38064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2918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5233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6399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cstrnTypeNm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공사유형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신설공사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유지보수공사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mfrcFldNm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주력분야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lcpmtYmd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년웡일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telgmDtlCnstpNm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b="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준공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연월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이월금액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thyrCtrtAmt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또는 이월금액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tctrtAmt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총계약금액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21432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4709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prvyrPxcndActotAmt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누계기성액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78492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thyrPxcndGiveAmt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당년도 기성지급액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23794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prvyrGiveActotAmt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전년도까지 누계지급액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401869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2262D1C-90AA-8AB5-963B-11B9874C6C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45074540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332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(18/19)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AA88E40-EC22-8EC3-7EA4-A41FCEA2C056}"/>
              </a:ext>
            </a:extLst>
          </p:cNvPr>
          <p:cNvSpPr txBox="1"/>
          <p:nvPr/>
        </p:nvSpPr>
        <p:spPr>
          <a:xfrm>
            <a:off x="458117" y="850431"/>
            <a:ext cx="411387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1.32.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신청인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dm_prfmncPrdocAplyAplcntInfo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221A27-4A35-40D5-4B24-0A904AD4BEF8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089907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bzentyNm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salsLctnAddr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영업지 소재지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lcnsNoVl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업종 및 등록번호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2549965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9866966-F2EA-F6E9-3795-7D7FDCF17347}"/>
              </a:ext>
            </a:extLst>
          </p:cNvPr>
          <p:cNvSpPr txBox="1"/>
          <p:nvPr/>
        </p:nvSpPr>
        <p:spPr>
          <a:xfrm>
            <a:off x="463235" y="2277879"/>
            <a:ext cx="4439283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1.33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공사내역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dm_prfmncPrdocAplyCstrnDsctnInfo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6986C65-5B27-992A-C159-8829D62C403A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2489082"/>
          <a:ext cx="8994883" cy="27148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cstrnNm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공사명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tcstrnAmt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총공사금액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grndsLctnAddr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현장소재지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cnstpNm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공종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lcpmtInstNm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 허가 기관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prfmncYr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year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28409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thyrPxcndAmt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해당년도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38175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telgmDtlCnstpNm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세부공종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전문공사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CODE.getCsrtDivsSub2()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참조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713017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pxcndAmt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기성액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18196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78840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bgncstYmd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착공연월일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7760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cmcnYmd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준공연월일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9757592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D6270751-BA05-4CEC-AF0D-C9D73F987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8340472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1271749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 </a:t>
            </a:r>
            <a:r>
              <a:rPr lang="en-US" altLang="ko-KR" sz="1000" b="1" dirty="0">
                <a:solidFill>
                  <a:prstClr val="black"/>
                </a:solidFill>
              </a:rPr>
              <a:t>(19/19)</a:t>
            </a:r>
            <a:endParaRPr lang="ko-KR" altLang="en-US" sz="1000" b="1" dirty="0">
              <a:solidFill>
                <a:prstClr val="black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50BC42-08DC-7529-EB0E-36C2B48020C9}"/>
              </a:ext>
            </a:extLst>
          </p:cNvPr>
          <p:cNvSpPr txBox="1"/>
          <p:nvPr/>
        </p:nvSpPr>
        <p:spPr>
          <a:xfrm>
            <a:off x="463235" y="906258"/>
            <a:ext cx="46140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1.34. </a:t>
            </a:r>
            <a:r>
              <a:rPr lang="ko-KR" altLang="en-US" sz="900" b="1" dirty="0" err="1">
                <a:solidFill>
                  <a:prstClr val="black"/>
                </a:solidFill>
              </a:rPr>
              <a:t>실적증명서신청</a:t>
            </a:r>
            <a:r>
              <a:rPr lang="ko-KR" altLang="en-US" sz="900" b="1" dirty="0">
                <a:solidFill>
                  <a:prstClr val="black"/>
                </a:solidFill>
              </a:rPr>
              <a:t> 추가사항 입력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dm_prfmncPrdocAplyAddMttrInfo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60B0D306-5BE2-05D0-9F7D-337578DB8F56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17461"/>
          <a:ext cx="8994883" cy="25209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실젹년도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prfmncYr2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실적년도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prfmncSeCd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prfmncDmndRt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실적비율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prfmncDmndAmt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실적금액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919746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spcfct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규격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2320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dlvgdsYmd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납품일자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749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075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prfmncQty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수량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6040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lbsvcScp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용역범위 및 기준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72733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규모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E/R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사용목적에 따라 속성 다름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09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etcCn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7878481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C428832D-480D-B977-43BD-05C938EE3B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03763543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334</a:t>
            </a:fld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FAC4364-5513-3434-312C-776E5A3675B0}"/>
              </a:ext>
            </a:extLst>
          </p:cNvPr>
          <p:cNvSpPr txBox="1"/>
          <p:nvPr/>
        </p:nvSpPr>
        <p:spPr>
          <a:xfrm>
            <a:off x="455204" y="67304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C4DAA11-E016-20BA-01A0-52F16DF0C25D}"/>
              </a:ext>
            </a:extLst>
          </p:cNvPr>
          <p:cNvGraphicFramePr>
            <a:graphicFrameLocks noGrp="1"/>
          </p:cNvGraphicFramePr>
          <p:nvPr/>
        </p:nvGraphicFramePr>
        <p:xfrm>
          <a:off x="455204" y="914891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scwin.btn_strg_onclick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신청 내용을 임시 저장한다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6000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작성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저장된 실적증명서 신청 내용을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4305612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DC6307A0-C88E-FC16-3BC3-BE78E930B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779" y="776663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09802251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온라인 제출 대상 협회 </a:t>
            </a:r>
            <a:r>
              <a:rPr lang="en-US" altLang="ko-KR" dirty="0"/>
              <a:t>(7) :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건설산업정보원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대한전문건설협회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한국전기공사협회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한국정보통신공사협회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한국건설기술인협회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한국소방시설협회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제출 협회 명칭 표시 및 선택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제출이 되지 않은 상태에서는 레이블 </a:t>
            </a:r>
            <a:r>
              <a:rPr lang="ko-KR" altLang="en-US" dirty="0" err="1"/>
              <a:t>미표시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상태에 따라 레이블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비고 작성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기능 버튼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상태에 따라 제출하기 및 </a:t>
            </a:r>
            <a:r>
              <a:rPr lang="ko-KR" altLang="en-US" dirty="0" err="1"/>
              <a:t>제출취소</a:t>
            </a:r>
            <a:r>
              <a:rPr lang="ko-KR" altLang="en-US" dirty="0"/>
              <a:t>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기본값 </a:t>
            </a:r>
            <a:r>
              <a:rPr lang="en-US" altLang="ko-KR" dirty="0"/>
              <a:t>: </a:t>
            </a:r>
            <a:r>
              <a:rPr lang="ko-KR" altLang="en-US" dirty="0"/>
              <a:t>제출하기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err="1"/>
              <a:t>송신완료</a:t>
            </a:r>
            <a:r>
              <a:rPr lang="ko-KR" altLang="en-US" dirty="0"/>
              <a:t> 건이 선택되는 경우 제출하기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 err="1"/>
              <a:t>제출취소</a:t>
            </a:r>
            <a:r>
              <a:rPr lang="ko-KR" altLang="en-US" dirty="0"/>
              <a:t> 명칭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실적증명서 제출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실적증명서 신청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상세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제출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latin typeface="+mn-ea"/>
              </a:rPr>
              <a:t>MUI-CM-04-P20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실적증명서 제출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2412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9237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85" name="그룹 84"/>
          <p:cNvGrpSpPr/>
          <p:nvPr/>
        </p:nvGrpSpPr>
        <p:grpSpPr>
          <a:xfrm>
            <a:off x="675399" y="5614711"/>
            <a:ext cx="2712027" cy="617588"/>
            <a:chOff x="675399" y="5614711"/>
            <a:chExt cx="2712027" cy="617588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제출하기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8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3927245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대한건설협회</a:t>
            </a:r>
          </a:p>
        </p:txBody>
      </p:sp>
      <p:sp>
        <p:nvSpPr>
          <p:cNvPr id="93" name="모서리가 둥근 직사각형 92"/>
          <p:cNvSpPr/>
          <p:nvPr/>
        </p:nvSpPr>
        <p:spPr>
          <a:xfrm>
            <a:off x="2859859" y="3912224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</a:rPr>
              <a:t>선택</a:t>
            </a: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066791"/>
            <a:ext cx="76863" cy="292489"/>
            <a:chOff x="3750067" y="4683795"/>
            <a:chExt cx="76863" cy="292489"/>
          </a:xfrm>
        </p:grpSpPr>
        <p:sp>
          <p:nvSpPr>
            <p:cNvPr id="134" name="타원 13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5" name="타원 13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136" name="타원 13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7" y="3557443"/>
            <a:ext cx="170158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온라인 제출 가능 협회 목록</a:t>
            </a:r>
          </a:p>
        </p:txBody>
      </p:sp>
      <p:sp>
        <p:nvSpPr>
          <p:cNvPr id="144" name="모서리가 둥근 직사각형 143"/>
          <p:cNvSpPr/>
          <p:nvPr/>
        </p:nvSpPr>
        <p:spPr>
          <a:xfrm>
            <a:off x="1486956" y="3933524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송신완료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21688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78108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36132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/>
              <a:t>건설산업정보원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27550" y="457195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비고</a:t>
            </a:r>
          </a:p>
        </p:txBody>
      </p:sp>
      <p:sp>
        <p:nvSpPr>
          <p:cNvPr id="154" name="모서리가 둥근 직사각형 153"/>
          <p:cNvSpPr/>
          <p:nvPr/>
        </p:nvSpPr>
        <p:spPr>
          <a:xfrm>
            <a:off x="2859859" y="4458703"/>
            <a:ext cx="398489" cy="162000"/>
          </a:xfrm>
          <a:prstGeom prst="roundRect">
            <a:avLst>
              <a:gd name="adj" fmla="val 23409"/>
            </a:avLst>
          </a:prstGeom>
          <a:solidFill>
            <a:srgbClr val="0070C0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선택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55" name="모서리가 둥근 직사각형 154"/>
          <p:cNvSpPr/>
          <p:nvPr/>
        </p:nvSpPr>
        <p:spPr>
          <a:xfrm>
            <a:off x="1059429" y="4532211"/>
            <a:ext cx="1713401" cy="187200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계약 금액이 다름</a:t>
            </a:r>
          </a:p>
        </p:txBody>
      </p:sp>
      <p:sp>
        <p:nvSpPr>
          <p:cNvPr id="157" name="모서리가 둥근 직사각형 156"/>
          <p:cNvSpPr/>
          <p:nvPr/>
        </p:nvSpPr>
        <p:spPr>
          <a:xfrm>
            <a:off x="1595086" y="4367606"/>
            <a:ext cx="397895" cy="119400"/>
          </a:xfrm>
          <a:prstGeom prst="roundRect">
            <a:avLst>
              <a:gd name="adj" fmla="val 23409"/>
            </a:avLst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ko-KR" altLang="en-US" sz="600" dirty="0" err="1">
                <a:solidFill>
                  <a:prstClr val="black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제출취소</a:t>
            </a:r>
            <a:endParaRPr lang="ko-KR" altLang="en-US" sz="600" dirty="0">
              <a:solidFill>
                <a:schemeClr val="dk1"/>
              </a:solidFill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486424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0" name="타원 15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5817867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663757098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336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AA0099C-AAC0-1739-90BF-B50AFF63E31D}"/>
              </a:ext>
            </a:extLst>
          </p:cNvPr>
          <p:cNvSpPr txBox="1"/>
          <p:nvPr/>
        </p:nvSpPr>
        <p:spPr>
          <a:xfrm>
            <a:off x="471620" y="841653"/>
            <a:ext cx="307192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실적증명서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dm_prfmncPrdocAplyInfo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17A8E60-B99E-BD89-0635-F60DBC72D054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105285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issuNo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prfmncRcptNo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52C738E-BB4C-9DAB-6ADA-0F90D10C4093}"/>
              </a:ext>
            </a:extLst>
          </p:cNvPr>
          <p:cNvSpPr txBox="1"/>
          <p:nvPr/>
        </p:nvSpPr>
        <p:spPr>
          <a:xfrm>
            <a:off x="458117" y="5101299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529455-CAFE-C9BD-2851-C328BCB75B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2789325"/>
              </p:ext>
            </p:extLst>
          </p:nvPr>
        </p:nvGraphicFramePr>
        <p:xfrm>
          <a:off x="458117" y="5332830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실적증명서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scwin.btn_sbmsnRtrcn_onclick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협회로 제출된 실적증명서가 오류가 있어 연락을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받았을때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제출취소 버튼을 클릭하여 비고란에 제출취소 내용을 입력 후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디시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협회로 내용을 전송한다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03160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제출하기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scwin.btn_sbmsn_onclick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발급된 실적증명서 정보를 선택된 협회로 제출된다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멀티로 협회 선택 가능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845261"/>
                  </a:ext>
                </a:extLst>
              </a:tr>
            </a:tbl>
          </a:graphicData>
        </a:graphic>
      </p:graphicFrame>
      <p:sp>
        <p:nvSpPr>
          <p:cNvPr id="16" name="Text Box 73">
            <a:extLst>
              <a:ext uri="{FF2B5EF4-FFF2-40B4-BE49-F238E27FC236}">
                <a16:creationId xmlns:a16="http://schemas.microsoft.com/office/drawing/2014/main" id="{459A654C-072C-1858-8B43-DE73F578A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7" y="518535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DAE7EE7-C157-9ABD-C4DC-7CE0E7CF25A9}"/>
              </a:ext>
            </a:extLst>
          </p:cNvPr>
          <p:cNvSpPr txBox="1"/>
          <p:nvPr/>
        </p:nvSpPr>
        <p:spPr>
          <a:xfrm>
            <a:off x="471620" y="1847219"/>
            <a:ext cx="219027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계약정보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dm_ctrtInfo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9873AE5-958B-85FB-6950-78DEAD0BB2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3255155"/>
              </p:ext>
            </p:extLst>
          </p:nvPr>
        </p:nvGraphicFramePr>
        <p:xfrm>
          <a:off x="466502" y="2058422"/>
          <a:ext cx="8994883" cy="1745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계약번호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dmndNo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차수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ctrtPrgrsCd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계약구분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6439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계약건명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06441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rprsItemNm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대표품명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53739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ctrtAmt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계약금액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</a:t>
                      </a:r>
                      <a:endParaRPr lang="en-US" altLang="ko-KR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75994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orderInstNm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발주기관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06441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ofcctrNm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계약담당관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6537702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832293BB-42BE-0AEB-7C7A-13CE286EA995}"/>
              </a:ext>
            </a:extLst>
          </p:cNvPr>
          <p:cNvSpPr txBox="1"/>
          <p:nvPr/>
        </p:nvSpPr>
        <p:spPr>
          <a:xfrm>
            <a:off x="471620" y="3998185"/>
            <a:ext cx="25942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제출 협회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dl_sbmsnAsctnList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1289CC8-30BE-E6F5-0FCE-23C8F0334853}"/>
              </a:ext>
            </a:extLst>
          </p:cNvPr>
          <p:cNvGraphicFramePr>
            <a:graphicFrameLocks noGrp="1"/>
          </p:cNvGraphicFramePr>
          <p:nvPr/>
        </p:nvGraphicFramePr>
        <p:xfrm>
          <a:off x="466502" y="4209388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sbmsnSttsNm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제출협회명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sttsVl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조회 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전송중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제출취소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37375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rmrkCn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제출상태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취소시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취소사유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송신완료시 버튼 활성화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4529864"/>
                  </a:ext>
                </a:extLst>
              </a:tr>
            </a:tbl>
          </a:graphicData>
        </a:graphic>
      </p:graphicFrame>
      <p:sp>
        <p:nvSpPr>
          <p:cNvPr id="11" name="Text Box 73">
            <a:extLst>
              <a:ext uri="{FF2B5EF4-FFF2-40B4-BE49-F238E27FC236}">
                <a16:creationId xmlns:a16="http://schemas.microsoft.com/office/drawing/2014/main" id="{3F69CE71-B32E-E7B4-EBB3-D9E34F009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862359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진행상태 </a:t>
            </a:r>
            <a:r>
              <a:rPr lang="en-US" altLang="ko-KR" dirty="0"/>
              <a:t>– </a:t>
            </a:r>
            <a:r>
              <a:rPr lang="ko-KR" altLang="en-US" dirty="0"/>
              <a:t>신청</a:t>
            </a:r>
            <a:r>
              <a:rPr lang="en-US" altLang="ko-KR" dirty="0"/>
              <a:t>, </a:t>
            </a:r>
            <a:r>
              <a:rPr lang="ko-KR" altLang="en-US" dirty="0"/>
              <a:t>반려</a:t>
            </a:r>
            <a:r>
              <a:rPr lang="en-US" altLang="ko-KR" dirty="0"/>
              <a:t>, </a:t>
            </a:r>
            <a:r>
              <a:rPr lang="ko-KR" altLang="en-US" dirty="0"/>
              <a:t>승인 </a:t>
            </a:r>
            <a:r>
              <a:rPr lang="en-US" altLang="ko-KR" dirty="0"/>
              <a:t>3</a:t>
            </a:r>
            <a:r>
              <a:rPr lang="ko-KR" altLang="en-US" dirty="0"/>
              <a:t>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기 신청한 내역 목록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</a:t>
            </a:r>
            <a:r>
              <a:rPr lang="en-US" altLang="ko-KR" dirty="0"/>
              <a:t>OZ </a:t>
            </a:r>
            <a:r>
              <a:rPr lang="ko-KR" altLang="en-US" dirty="0"/>
              <a:t>리포트 국외 조달원 확인서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서류   확인 팝업 호출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반려 시 발급 사유 대신 반려 사유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상세 화면 없음</a:t>
            </a:r>
            <a:r>
              <a:rPr lang="en-US" altLang="ko-KR" dirty="0" smtClean="0"/>
              <a:t>. (</a:t>
            </a:r>
            <a:r>
              <a:rPr lang="ko-KR" altLang="en-US" dirty="0" smtClean="0"/>
              <a:t>리포트 연결</a:t>
            </a:r>
            <a:r>
              <a:rPr lang="en-US" altLang="ko-KR" dirty="0" smtClean="0"/>
              <a:t>)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카드 클릭 시 발급된 등록증이 없는 경우 토스 메시지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승인된 후 확인 가능합니다</a:t>
            </a:r>
            <a:r>
              <a:rPr lang="en-US" altLang="ko-KR" dirty="0" smtClean="0"/>
              <a:t>.</a:t>
            </a: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337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국외조달원등록증신청목록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75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MUI-CM-04-M21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등록증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2906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217271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19815" y="1909786"/>
            <a:ext cx="4257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dirty="0" err="1">
                <a:latin typeface="+mn-ea"/>
              </a:rPr>
              <a:t>검색필터</a:t>
            </a:r>
            <a:endParaRPr lang="ko-KR" altLang="en-US" sz="700" dirty="0">
              <a:latin typeface="+mn-ea"/>
            </a:endParaRPr>
          </a:p>
        </p:txBody>
      </p:sp>
      <p:sp>
        <p:nvSpPr>
          <p:cNvPr id="40" name="타원 39"/>
          <p:cNvSpPr/>
          <p:nvPr/>
        </p:nvSpPr>
        <p:spPr>
          <a:xfrm>
            <a:off x="783686" y="1941131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1909786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1909786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011609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" name="그룹 48"/>
          <p:cNvGrpSpPr/>
          <p:nvPr/>
        </p:nvGrpSpPr>
        <p:grpSpPr>
          <a:xfrm>
            <a:off x="781461" y="2343391"/>
            <a:ext cx="2473257" cy="1411269"/>
            <a:chOff x="781461" y="2610063"/>
            <a:chExt cx="2473257" cy="1411269"/>
          </a:xfrm>
        </p:grpSpPr>
        <p:sp>
          <p:nvSpPr>
            <p:cNvPr id="54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5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328835"/>
              <a:ext cx="307777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6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68988" y="3313446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78" name="모서리가 둥근 직사각형 77"/>
            <p:cNvSpPr/>
            <p:nvPr/>
          </p:nvSpPr>
          <p:spPr>
            <a:xfrm>
              <a:off x="781461" y="2610063"/>
              <a:ext cx="243478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신청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292991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grpSp>
        <p:nvGrpSpPr>
          <p:cNvPr id="67" name="그룹 66"/>
          <p:cNvGrpSpPr/>
          <p:nvPr/>
        </p:nvGrpSpPr>
        <p:grpSpPr>
          <a:xfrm>
            <a:off x="781461" y="3947250"/>
            <a:ext cx="2473257" cy="1361867"/>
            <a:chOff x="781461" y="2610063"/>
            <a:chExt cx="2473257" cy="1361867"/>
          </a:xfrm>
        </p:grpSpPr>
        <p:sp>
          <p:nvSpPr>
            <p:cNvPr id="68" name="TextBox 58">
              <a:extLst>
                <a:ext uri="{FF2B5EF4-FFF2-40B4-BE49-F238E27FC236}">
                  <a16:creationId xmlns:a16="http://schemas.microsoft.com/office/drawing/2014/main" id="{02FC114B-B48B-345F-BD70-2B5A196F5B3E}"/>
                </a:ext>
              </a:extLst>
            </p:cNvPr>
            <p:cNvSpPr txBox="1"/>
            <p:nvPr/>
          </p:nvSpPr>
          <p:spPr>
            <a:xfrm>
              <a:off x="781461" y="2794394"/>
              <a:ext cx="2473257" cy="4616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/>
                <a:t>접수번호 </a:t>
              </a:r>
              <a:r>
                <a:rPr lang="en-US" altLang="ko-KR" sz="700" dirty="0"/>
                <a:t>2020101010</a:t>
              </a:r>
            </a:p>
            <a:p>
              <a:r>
                <a:rPr lang="ko-KR" altLang="en-US" sz="900" b="1" dirty="0"/>
                <a:t>발급 </a:t>
              </a:r>
              <a:r>
                <a:rPr lang="ko-KR" altLang="en-US" sz="900" b="1" dirty="0" err="1"/>
                <a:t>대상업체명</a:t>
              </a:r>
              <a:endParaRPr lang="en-US" altLang="ko-KR" sz="900" b="1" dirty="0"/>
            </a:p>
            <a:p>
              <a:pPr lvl="0"/>
              <a:r>
                <a:rPr lang="ko-KR" altLang="en-US" sz="700" dirty="0" err="1">
                  <a:solidFill>
                    <a:prstClr val="black"/>
                  </a:solidFill>
                </a:rPr>
                <a:t>발급사유</a:t>
              </a:r>
              <a:r>
                <a:rPr lang="ko-KR" altLang="en-US" sz="700" dirty="0">
                  <a:solidFill>
                    <a:prstClr val="black"/>
                  </a:solidFill>
                </a:rPr>
                <a:t> 작성한 발급 사유가 표시됩니다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 </a:t>
              </a:r>
              <a:r>
                <a:rPr lang="ko-KR" altLang="en-US" sz="700" dirty="0" err="1">
                  <a:solidFill>
                    <a:prstClr val="black"/>
                  </a:solidFill>
                </a:rPr>
                <a:t>여러줄</a:t>
              </a:r>
              <a:r>
                <a:rPr lang="ko-KR" altLang="en-US" sz="700" dirty="0">
                  <a:solidFill>
                    <a:prstClr val="black"/>
                  </a:solidFill>
                </a:rPr>
                <a:t> 인 경우</a:t>
              </a:r>
              <a:endParaRPr lang="en-US" altLang="ko-KR" sz="700" dirty="0">
                <a:solidFill>
                  <a:prstClr val="black"/>
                </a:solidFill>
              </a:endParaRPr>
            </a:p>
            <a:p>
              <a:pPr lvl="0"/>
              <a:r>
                <a:rPr lang="en-US" altLang="ko-KR" sz="700" dirty="0">
                  <a:solidFill>
                    <a:prstClr val="black"/>
                  </a:solidFill>
                </a:rPr>
                <a:t>             2</a:t>
              </a:r>
              <a:r>
                <a:rPr lang="ko-KR" altLang="en-US" sz="700" dirty="0">
                  <a:solidFill>
                    <a:prstClr val="black"/>
                  </a:solidFill>
                </a:rPr>
                <a:t>줄까지 표시합니다</a:t>
              </a:r>
              <a:r>
                <a:rPr lang="en-US" altLang="ko-KR" sz="700" dirty="0">
                  <a:solidFill>
                    <a:prstClr val="black"/>
                  </a:solidFill>
                </a:rPr>
                <a:t>.</a:t>
              </a:r>
            </a:p>
          </p:txBody>
        </p:sp>
        <p:sp>
          <p:nvSpPr>
            <p:cNvPr id="69" name="TextBox 59">
              <a:extLst>
                <a:ext uri="{FF2B5EF4-FFF2-40B4-BE49-F238E27FC236}">
                  <a16:creationId xmlns:a16="http://schemas.microsoft.com/office/drawing/2014/main" id="{F77C802D-3BC8-270F-87FC-5F442BD8054D}"/>
                </a:ext>
              </a:extLst>
            </p:cNvPr>
            <p:cNvSpPr txBox="1"/>
            <p:nvPr/>
          </p:nvSpPr>
          <p:spPr>
            <a:xfrm>
              <a:off x="781461" y="3294822"/>
              <a:ext cx="307777" cy="6746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신청인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회사명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연락처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신청일자</a:t>
              </a:r>
              <a:endParaRPr lang="en-US" altLang="ko-KR" sz="6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승인일자</a:t>
              </a:r>
              <a:endParaRPr lang="en-US" altLang="ko-KR" sz="600" dirty="0">
                <a:latin typeface="+mn-ea"/>
              </a:endParaRPr>
            </a:p>
          </p:txBody>
        </p:sp>
        <p:sp>
          <p:nvSpPr>
            <p:cNvPr id="70" name="TextBox 60">
              <a:extLst>
                <a:ext uri="{FF2B5EF4-FFF2-40B4-BE49-F238E27FC236}">
                  <a16:creationId xmlns:a16="http://schemas.microsoft.com/office/drawing/2014/main" id="{8F5E3227-69E6-C89F-B8C5-534226E95EA8}"/>
                </a:ext>
              </a:extLst>
            </p:cNvPr>
            <p:cNvSpPr txBox="1"/>
            <p:nvPr/>
          </p:nvSpPr>
          <p:spPr>
            <a:xfrm>
              <a:off x="2503265" y="3279433"/>
              <a:ext cx="565924" cy="6924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ko-KR" altLang="en-US" sz="600" dirty="0">
                  <a:latin typeface="+mn-ea"/>
                </a:rPr>
                <a:t>홍길동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ko-KR" altLang="en-US" sz="600" dirty="0" err="1">
                  <a:latin typeface="+mn-ea"/>
                </a:rPr>
                <a:t>조달업체명</a:t>
              </a:r>
              <a:r>
                <a:rPr lang="ko-KR" altLang="en-US" sz="600" dirty="0">
                  <a:latin typeface="+mn-ea"/>
                </a:rPr>
                <a:t> 표시</a:t>
              </a:r>
              <a:endParaRPr lang="en-US" altLang="ko-KR" sz="6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010-1234-5678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2020-10-10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600" dirty="0">
                  <a:latin typeface="+mn-ea"/>
                </a:rPr>
                <a:t>-</a:t>
              </a:r>
              <a:endParaRPr lang="ko-KR" altLang="en-US" sz="600" dirty="0">
                <a:latin typeface="+mn-ea"/>
              </a:endParaRPr>
            </a:p>
          </p:txBody>
        </p:sp>
        <p:sp>
          <p:nvSpPr>
            <p:cNvPr id="80" name="모서리가 둥근 직사각형 79"/>
            <p:cNvSpPr/>
            <p:nvPr/>
          </p:nvSpPr>
          <p:spPr>
            <a:xfrm>
              <a:off x="781461" y="2610063"/>
              <a:ext cx="241300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>
                  <a:solidFill>
                    <a:schemeClr val="dk1"/>
                  </a:solidFill>
                </a:rPr>
                <a:t>승인</a:t>
              </a:r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825345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190693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84"/>
          <p:cNvGrpSpPr/>
          <p:nvPr/>
        </p:nvGrpSpPr>
        <p:grpSpPr>
          <a:xfrm>
            <a:off x="6255425" y="1650089"/>
            <a:ext cx="94010" cy="94010"/>
            <a:chOff x="6812560" y="3297172"/>
            <a:chExt cx="94010" cy="94010"/>
          </a:xfrm>
        </p:grpSpPr>
        <p:cxnSp>
          <p:nvCxnSpPr>
            <p:cNvPr id="86" name="직선 연결선 8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직선 연결선 8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8" name="타원 87"/>
          <p:cNvSpPr/>
          <p:nvPr/>
        </p:nvSpPr>
        <p:spPr>
          <a:xfrm>
            <a:off x="5890147" y="160603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895563" y="1630768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검색필터</a:t>
            </a:r>
            <a:endParaRPr lang="ko-KR" altLang="en-US" sz="900" dirty="0">
              <a:latin typeface="+mn-ea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64505" y="1646156"/>
            <a:ext cx="28505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초기화</a:t>
            </a:r>
          </a:p>
        </p:txBody>
      </p:sp>
      <p:grpSp>
        <p:nvGrpSpPr>
          <p:cNvPr id="106" name="그룹 105"/>
          <p:cNvGrpSpPr/>
          <p:nvPr/>
        </p:nvGrpSpPr>
        <p:grpSpPr>
          <a:xfrm>
            <a:off x="3792447" y="1974264"/>
            <a:ext cx="2712027" cy="797589"/>
            <a:chOff x="675399" y="3490553"/>
            <a:chExt cx="2712027" cy="797589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490553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기간 설정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713091"/>
              <a:ext cx="670770" cy="3965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검색 기간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빠른 설정</a:t>
              </a:r>
              <a:endParaRPr lang="en-US" altLang="ko-KR" sz="700" dirty="0">
                <a:latin typeface="+mn-ea"/>
              </a:endParaRPr>
            </a:p>
          </p:txBody>
        </p:sp>
        <p:grpSp>
          <p:nvGrpSpPr>
            <p:cNvPr id="109" name="그룹 108"/>
            <p:cNvGrpSpPr/>
            <p:nvPr/>
          </p:nvGrpSpPr>
          <p:grpSpPr>
            <a:xfrm flipV="1">
              <a:off x="3140949" y="3588243"/>
              <a:ext cx="91438" cy="45719"/>
              <a:chOff x="6812560" y="3297172"/>
              <a:chExt cx="94010" cy="47005"/>
            </a:xfrm>
          </p:grpSpPr>
          <p:cxnSp>
            <p:nvCxnSpPr>
              <p:cNvPr id="137" name="직선 연결선 13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1464781" y="3740722"/>
              <a:ext cx="859319" cy="188244"/>
              <a:chOff x="5613534" y="2854836"/>
              <a:chExt cx="804671" cy="188244"/>
            </a:xfrm>
          </p:grpSpPr>
          <p:sp>
            <p:nvSpPr>
              <p:cNvPr id="135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2025-12-15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6" name="그림 135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sp>
          <p:nvSpPr>
            <p:cNvPr id="126" name="TextBox 91">
              <a:extLst>
                <a:ext uri="{FF2B5EF4-FFF2-40B4-BE49-F238E27FC236}">
                  <a16:creationId xmlns:a16="http://schemas.microsoft.com/office/drawing/2014/main" id="{02490888-B81F-0F94-5D5F-078AEEB39DDB}"/>
                </a:ext>
              </a:extLst>
            </p:cNvPr>
            <p:cNvSpPr txBox="1"/>
            <p:nvPr/>
          </p:nvSpPr>
          <p:spPr>
            <a:xfrm>
              <a:off x="2347279" y="3760669"/>
              <a:ext cx="80150" cy="1384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900" dirty="0">
                  <a:solidFill>
                    <a:prstClr val="black"/>
                  </a:solidFill>
                  <a:cs typeface="Pretendard Medium" panose="02000603000000020004" pitchFamily="50" charset="-127"/>
                </a:rPr>
                <a:t>~</a:t>
              </a:r>
              <a:endParaRPr lang="ko-KR" altLang="en-US" sz="900" dirty="0">
                <a:solidFill>
                  <a:prstClr val="black"/>
                </a:solidFill>
                <a:cs typeface="Pretendard Medium" panose="02000603000000020004" pitchFamily="50" charset="-127"/>
              </a:endParaRPr>
            </a:p>
          </p:txBody>
        </p:sp>
        <p:grpSp>
          <p:nvGrpSpPr>
            <p:cNvPr id="127" name="그룹 126"/>
            <p:cNvGrpSpPr/>
            <p:nvPr/>
          </p:nvGrpSpPr>
          <p:grpSpPr>
            <a:xfrm>
              <a:off x="1464781" y="3971391"/>
              <a:ext cx="1845146" cy="188135"/>
              <a:chOff x="1430277" y="4057651"/>
              <a:chExt cx="1845146" cy="188135"/>
            </a:xfrm>
          </p:grpSpPr>
          <p:sp>
            <p:nvSpPr>
              <p:cNvPr id="132" name="사각형: 둥근 모서리 169">
                <a:extLst>
                  <a:ext uri="{FF2B5EF4-FFF2-40B4-BE49-F238E27FC236}">
                    <a16:creationId xmlns:a16="http://schemas.microsoft.com/office/drawing/2014/main" id="{A28DD831-0E4B-31EE-CB08-9E188754698D}"/>
                  </a:ext>
                </a:extLst>
              </p:cNvPr>
              <p:cNvSpPr/>
              <p:nvPr/>
            </p:nvSpPr>
            <p:spPr>
              <a:xfrm>
                <a:off x="1430277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rgbClr val="0070C0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최근 </a:t>
                </a:r>
                <a:r>
                  <a:rPr kumimoji="1" lang="en-US" altLang="ko-KR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r>
                  <a:rPr kumimoji="1" lang="ko-KR" altLang="en-US" sz="700" kern="0" dirty="0">
                    <a:solidFill>
                      <a:srgbClr val="0070C0"/>
                    </a:solidFill>
                    <a:latin typeface="맑은 고딕"/>
                    <a:ea typeface="맑은 고딕" panose="020B0503020000020004" pitchFamily="50" charset="-127"/>
                  </a:rPr>
                  <a:t>개월</a:t>
                </a:r>
                <a:endParaRPr kumimoji="1" lang="en-US" sz="7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" name="사각형: 둥근 모서리 171">
                <a:extLst>
                  <a:ext uri="{FF2B5EF4-FFF2-40B4-BE49-F238E27FC236}">
                    <a16:creationId xmlns:a16="http://schemas.microsoft.com/office/drawing/2014/main" id="{75BECEC6-4045-95B1-98C2-242CA0FC5A06}"/>
                  </a:ext>
                </a:extLst>
              </p:cNvPr>
              <p:cNvSpPr/>
              <p:nvPr/>
            </p:nvSpPr>
            <p:spPr>
              <a:xfrm>
                <a:off x="2061841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latin typeface="+mn-ea"/>
                  </a:rPr>
                  <a:t>최근 </a:t>
                </a:r>
                <a:r>
                  <a:rPr kumimoji="1" lang="en-US" altLang="ko-KR" sz="700" kern="0" dirty="0">
                    <a:latin typeface="+mn-ea"/>
                  </a:rPr>
                  <a:t>3</a:t>
                </a:r>
                <a:r>
                  <a:rPr kumimoji="1" lang="ko-KR" altLang="en-US" sz="700" kern="0" dirty="0">
                    <a:latin typeface="+mn-ea"/>
                  </a:rPr>
                  <a:t>개월</a:t>
                </a:r>
                <a:endParaRPr kumimoji="1" lang="en-US" altLang="ko-KR" sz="700" kern="0" dirty="0">
                  <a:latin typeface="+mn-ea"/>
                </a:endParaRPr>
              </a:p>
            </p:txBody>
          </p:sp>
          <p:sp>
            <p:nvSpPr>
              <p:cNvPr id="134" name="사각형: 둥근 모서리 172">
                <a:extLst>
                  <a:ext uri="{FF2B5EF4-FFF2-40B4-BE49-F238E27FC236}">
                    <a16:creationId xmlns:a16="http://schemas.microsoft.com/office/drawing/2014/main" id="{7F182F00-C81F-5F02-6A1E-826222B231A9}"/>
                  </a:ext>
                </a:extLst>
              </p:cNvPr>
              <p:cNvSpPr/>
              <p:nvPr/>
            </p:nvSpPr>
            <p:spPr>
              <a:xfrm>
                <a:off x="2693406" y="4057651"/>
                <a:ext cx="582017" cy="188135"/>
              </a:xfrm>
              <a:prstGeom prst="roundRect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lvl="0"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최근 </a:t>
                </a:r>
                <a:r>
                  <a:rPr kumimoji="1" lang="en-US" altLang="ko-KR" sz="700" kern="0" dirty="0">
                    <a:solidFill>
                      <a:prstClr val="black"/>
                    </a:solidFill>
                    <a:latin typeface="+mn-ea"/>
                  </a:rPr>
                  <a:t>6</a:t>
                </a:r>
                <a:r>
                  <a:rPr kumimoji="1" lang="ko-KR" altLang="en-US" sz="700" kern="0" dirty="0">
                    <a:solidFill>
                      <a:prstClr val="black"/>
                    </a:solidFill>
                    <a:latin typeface="+mn-ea"/>
                  </a:rPr>
                  <a:t>개월</a:t>
                </a:r>
                <a:endParaRPr kumimoji="1" lang="en-US" altLang="ko-KR" sz="700" kern="0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8F2F56C4-B606-212C-F131-A4A30AE19BC8}"/>
                </a:ext>
              </a:extLst>
            </p:cNvPr>
            <p:cNvGrpSpPr/>
            <p:nvPr/>
          </p:nvGrpSpPr>
          <p:grpSpPr>
            <a:xfrm>
              <a:off x="2450608" y="3740722"/>
              <a:ext cx="859319" cy="188244"/>
              <a:chOff x="5613534" y="2854836"/>
              <a:chExt cx="804671" cy="188244"/>
            </a:xfrm>
          </p:grpSpPr>
          <p:sp>
            <p:nvSpPr>
              <p:cNvPr id="130" name="사각형: 둥근 모서리 86">
                <a:extLst>
                  <a:ext uri="{FF2B5EF4-FFF2-40B4-BE49-F238E27FC236}">
                    <a16:creationId xmlns:a16="http://schemas.microsoft.com/office/drawing/2014/main" id="{C84908FA-11D4-E687-3603-3EA5852F6FAE}"/>
                  </a:ext>
                </a:extLst>
              </p:cNvPr>
              <p:cNvSpPr/>
              <p:nvPr/>
            </p:nvSpPr>
            <p:spPr>
              <a:xfrm>
                <a:off x="5613534" y="2854836"/>
                <a:ext cx="804671" cy="188244"/>
              </a:xfrm>
              <a:prstGeom prst="roundRect">
                <a:avLst>
                  <a:gd name="adj" fmla="val 18659"/>
                </a:avLst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700" kern="0" dirty="0">
                    <a:latin typeface="맑은 고딕"/>
                  </a:rPr>
                  <a:t>2026-01-15</a:t>
                </a:r>
                <a:endParaRPr kumimoji="1" 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pic>
            <p:nvPicPr>
              <p:cNvPr id="131" name="그림 130">
                <a:extLst>
                  <a:ext uri="{FF2B5EF4-FFF2-40B4-BE49-F238E27FC236}">
                    <a16:creationId xmlns:a16="http://schemas.microsoft.com/office/drawing/2014/main" id="{B217D5BC-8335-EED4-D47A-F3F4110845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6265649" y="2876004"/>
                <a:ext cx="126296" cy="137278"/>
              </a:xfrm>
              <a:prstGeom prst="rect">
                <a:avLst/>
              </a:prstGeom>
            </p:spPr>
          </p:pic>
        </p:grp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428814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99" name="그룹 98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0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검색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sp>
          <p:nvSpPr>
            <p:cNvPr id="111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닫기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1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745391"/>
            <a:ext cx="2446613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356424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64" name="그룹 163"/>
          <p:cNvGrpSpPr/>
          <p:nvPr/>
        </p:nvGrpSpPr>
        <p:grpSpPr>
          <a:xfrm>
            <a:off x="3903622" y="2883409"/>
            <a:ext cx="2516607" cy="467691"/>
            <a:chOff x="778515" y="4388257"/>
            <a:chExt cx="2516607" cy="467691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 err="1">
                  <a:latin typeface="+mn-ea"/>
                </a:rPr>
                <a:t>검색어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(</a:t>
              </a:r>
              <a:r>
                <a:rPr lang="ko-KR" altLang="en-US" sz="700" b="1" dirty="0">
                  <a:latin typeface="+mn-ea"/>
                </a:rPr>
                <a:t>일부 입력 가능</a:t>
              </a:r>
              <a:r>
                <a:rPr lang="en-US" altLang="ko-KR" sz="700" b="1" dirty="0">
                  <a:latin typeface="+mn-ea"/>
                </a:rPr>
                <a:t>)</a:t>
              </a:r>
              <a:endParaRPr lang="ko-KR" altLang="en-US" sz="700" b="1" dirty="0">
                <a:latin typeface="+mn-ea"/>
              </a:endParaRPr>
            </a:p>
          </p:txBody>
        </p:sp>
        <p:grpSp>
          <p:nvGrpSpPr>
            <p:cNvPr id="166" name="그룹 165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79" name="직선 연결선 17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직선 연결선 17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7" name="모서리가 둥근 직사각형 166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발급 대상 </a:t>
              </a:r>
              <a:r>
                <a:rPr lang="ko-KR" altLang="en-US" sz="700" dirty="0" err="1">
                  <a:solidFill>
                    <a:schemeClr val="bg1">
                      <a:lumMod val="65000"/>
                    </a:schemeClr>
                  </a:solidFill>
                </a:rPr>
                <a:t>업체명을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</a:rPr>
                <a:t> 입력하세요</a:t>
              </a:r>
              <a:r>
                <a:rPr lang="en-US" altLang="ko-KR" sz="700" dirty="0">
                  <a:solidFill>
                    <a:schemeClr val="bg1">
                      <a:lumMod val="65000"/>
                    </a:schemeClr>
                  </a:solidFill>
                </a:rPr>
                <a:t>.</a:t>
              </a:r>
              <a:endParaRPr lang="ko-KR" altLang="en-US" sz="7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발급 </a:t>
              </a:r>
              <a:r>
                <a:rPr lang="ko-KR" altLang="en-US" sz="700" dirty="0" err="1">
                  <a:latin typeface="+mn-ea"/>
                </a:rPr>
                <a:t>업체명</a:t>
              </a:r>
              <a:endParaRPr lang="en-US" altLang="ko-KR" sz="700" dirty="0">
                <a:latin typeface="+mn-ea"/>
              </a:endParaRPr>
            </a:p>
          </p:txBody>
        </p:sp>
      </p:grpSp>
      <p:sp>
        <p:nvSpPr>
          <p:cNvPr id="91" name="모서리가 둥근 직사각형 90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확인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3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서류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OZ </a:t>
            </a:r>
            <a:r>
              <a:rPr lang="ko-KR" altLang="en-US" sz="700" dirty="0">
                <a:latin typeface="+mn-ea"/>
              </a:rPr>
              <a:t>리포트가 실행되며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로딩에 약간의 시간이 소요됩니다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r>
              <a:rPr lang="ko-KR" altLang="en-US" sz="700" dirty="0">
                <a:latin typeface="+mn-ea"/>
              </a:rPr>
              <a:t>서류  을 진행할까요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97" name="그룹 96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98" name="직선 연결선 97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직선 연결선 100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2" name="직사각형 101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MUI-BD-01-P14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서류   확인</a:t>
            </a:r>
          </a:p>
        </p:txBody>
      </p: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2447" y="437440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04" name="그룹 103"/>
          <p:cNvGrpSpPr/>
          <p:nvPr/>
        </p:nvGrpSpPr>
        <p:grpSpPr>
          <a:xfrm>
            <a:off x="3903622" y="3693566"/>
            <a:ext cx="2516607" cy="467691"/>
            <a:chOff x="778515" y="4388257"/>
            <a:chExt cx="2516607" cy="467691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388257"/>
              <a:ext cx="2305144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구분</a:t>
              </a:r>
            </a:p>
          </p:txBody>
        </p:sp>
        <p:grpSp>
          <p:nvGrpSpPr>
            <p:cNvPr id="113" name="그룹 112"/>
            <p:cNvGrpSpPr/>
            <p:nvPr/>
          </p:nvGrpSpPr>
          <p:grpSpPr>
            <a:xfrm flipV="1">
              <a:off x="3140949" y="4485947"/>
              <a:ext cx="91438" cy="45719"/>
              <a:chOff x="6812560" y="3297172"/>
              <a:chExt cx="94010" cy="47005"/>
            </a:xfrm>
          </p:grpSpPr>
          <p:cxnSp>
            <p:nvCxnSpPr>
              <p:cNvPr id="117" name="직선 연결선 116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18" name="직선 연결선 117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15" name="모서리가 둥근 직사각형 114"/>
            <p:cNvSpPr/>
            <p:nvPr/>
          </p:nvSpPr>
          <p:spPr>
            <a:xfrm>
              <a:off x="1449284" y="4668748"/>
              <a:ext cx="1845838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700" dirty="0">
                  <a:solidFill>
                    <a:schemeClr val="tx1"/>
                  </a:solidFill>
                </a:rPr>
                <a:t>전체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4655417"/>
              <a:ext cx="67077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진행상태</a:t>
              </a:r>
              <a:endParaRPr lang="en-US" altLang="ko-KR" sz="700" dirty="0">
                <a:latin typeface="+mn-ea"/>
              </a:endParaRPr>
            </a:p>
          </p:txBody>
        </p:sp>
      </p:grpSp>
      <p:grpSp>
        <p:nvGrpSpPr>
          <p:cNvPr id="119" name="그룹 118"/>
          <p:cNvGrpSpPr/>
          <p:nvPr/>
        </p:nvGrpSpPr>
        <p:grpSpPr>
          <a:xfrm>
            <a:off x="6226184" y="4042123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직선 연결선 12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0804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139" name="그룹 138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0" name="직사각형 139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2026-07-20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41" name="직사각형 140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신청하기 버튼 제거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565093300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338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852310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 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aplyYmdFrom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(F)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aplyYmdTo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(T)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273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27002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4419953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60676" y="2195119"/>
            <a:ext cx="2860326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목록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2441035"/>
          <a:ext cx="8994883" cy="1163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60676" y="3846285"/>
            <a:ext cx="3948764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1.3.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정보 상세조회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dm_ovsSosAplyDtlInfo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5558" y="4069247"/>
          <a:ext cx="8994883" cy="19392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aplyRcptNo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접수번호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aprvYmd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승인일자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prcsStcd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진행상태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(P)/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(R)/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(A)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aplcntJbgdNm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직위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37489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aplcntEntlno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신청인 연락처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133170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trgtBzentyCdNm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발급대상 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01599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4302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rjctRsn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반려 사유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4837965"/>
                  </a:ext>
                </a:extLst>
              </a:tr>
            </a:tbl>
          </a:graphicData>
        </a:graphic>
      </p:graphicFrame>
      <p:sp>
        <p:nvSpPr>
          <p:cNvPr id="5" name="Text Box 73">
            <a:extLst>
              <a:ext uri="{FF2B5EF4-FFF2-40B4-BE49-F238E27FC236}">
                <a16:creationId xmlns:a16="http://schemas.microsoft.com/office/drawing/2014/main" id="{FE7A915C-F6EF-335A-1F14-38483868E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03254323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339</a:t>
            </a:fld>
            <a:endParaRPr lang="ko-KR" alt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02754" y="700707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4454732-E597-33F1-5B5D-6BAFE23E8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2114135"/>
              </p:ext>
            </p:extLst>
          </p:nvPr>
        </p:nvGraphicFramePr>
        <p:xfrm>
          <a:off x="402754" y="927298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신청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 이벤트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scwin.btn_ovsSosAplyListSrch_onclick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국외조달원 등록증 신청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smtClean="0">
                          <a:latin typeface="+mn-ea"/>
                          <a:ea typeface="+mn-ea"/>
                        </a:rPr>
                        <a:t>카드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scwin.btn_otpt_onclick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승인된 국외조달원 등록증을 발급한다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UI-CM-03-R13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800163"/>
                  </a:ext>
                </a:extLst>
              </a:tr>
            </a:tbl>
          </a:graphicData>
        </a:graphic>
      </p:graphicFrame>
      <p:sp>
        <p:nvSpPr>
          <p:cNvPr id="2" name="Text Box 73">
            <a:extLst>
              <a:ext uri="{FF2B5EF4-FFF2-40B4-BE49-F238E27FC236}">
                <a16:creationId xmlns:a16="http://schemas.microsoft.com/office/drawing/2014/main" id="{5AC142F5-C333-78A7-1BB1-C49C4FDD7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0329" y="810382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7107048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신청인 정보는 자동완성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Dim</a:t>
            </a:r>
            <a:r>
              <a:rPr lang="ko-KR" altLang="en-US" dirty="0"/>
              <a:t>은 수정 불가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개인정보에서</a:t>
            </a:r>
            <a:r>
              <a:rPr lang="en-US" altLang="ko-KR" dirty="0"/>
              <a:t> </a:t>
            </a:r>
            <a:r>
              <a:rPr lang="ko-KR" altLang="en-US" dirty="0"/>
              <a:t>비어 있는 정보 </a:t>
            </a:r>
            <a:r>
              <a:rPr lang="en-US" altLang="ko-KR" dirty="0"/>
              <a:t>(</a:t>
            </a:r>
            <a:r>
              <a:rPr lang="ko-KR" altLang="en-US" dirty="0"/>
              <a:t>직위 등</a:t>
            </a:r>
            <a:r>
              <a:rPr lang="en-US" altLang="ko-KR" dirty="0"/>
              <a:t>)</a:t>
            </a:r>
            <a:r>
              <a:rPr lang="ko-KR" altLang="en-US" dirty="0"/>
              <a:t>는 비어 있는 상태로 자동 완성함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팝업 진입 시 포커스 이동 및 가상 </a:t>
            </a:r>
            <a:r>
              <a:rPr lang="ko-KR" altLang="en-US" dirty="0" err="1"/>
              <a:t>키패드</a:t>
            </a:r>
            <a:r>
              <a:rPr lang="ko-KR" altLang="en-US" dirty="0"/>
              <a:t> 활성화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업체 선택 팝업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신청하기 클릭 시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팝업 닫기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완료 토스트 메시지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신청 내역 발급 가능 상태로 신청 목록 </a:t>
            </a:r>
            <a:r>
              <a:rPr lang="ko-KR" altLang="en-US" dirty="0" err="1"/>
              <a:t>리프래시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취소 클릭 시 팝업 </a:t>
            </a:r>
            <a:r>
              <a:rPr lang="ko-KR" altLang="en-US" dirty="0" smtClean="0"/>
              <a:t>닫기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신청하기 이후 신청목록으로 이동 </a:t>
            </a: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MUI-CM-04-M21</a:t>
            </a:r>
            <a:b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</a:br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  &gt; </a:t>
            </a:r>
            <a:r>
              <a:rPr lang="ko-KR" altLang="en-US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메뉴 목록에서 바로 신청하는 케이스</a:t>
            </a:r>
            <a:endParaRPr lang="en-US" altLang="ko-KR" dirty="0">
              <a:solidFill>
                <a:srgbClr val="000000"/>
              </a:solidFill>
              <a:latin typeface="맑은 고딕" panose="020B0503020000020004" pitchFamily="50" charset="-127"/>
            </a:endParaRPr>
          </a:p>
          <a:p>
            <a:pPr marL="228600" indent="-22860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국외조달원등록증신청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국외 조달원 등록증 신청서 팝업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MUI-CM-04-M22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2936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6858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46" name="그룹 45"/>
          <p:cNvGrpSpPr/>
          <p:nvPr/>
        </p:nvGrpSpPr>
        <p:grpSpPr>
          <a:xfrm>
            <a:off x="903581" y="3009851"/>
            <a:ext cx="2255663" cy="306146"/>
            <a:chOff x="3982951" y="3679873"/>
            <a:chExt cx="2255663" cy="306146"/>
          </a:xfrm>
        </p:grpSpPr>
        <p:sp>
          <p:nvSpPr>
            <p:cNvPr id="47" name="모서리가 둥근 직사각형 46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 err="1">
                  <a:latin typeface="+mn-ea"/>
                </a:rPr>
                <a:t>조달테스트</a:t>
              </a:r>
              <a:r>
                <a:rPr lang="ko-KR" altLang="en-US" sz="700" dirty="0">
                  <a:latin typeface="+mn-ea"/>
                </a:rPr>
                <a:t> 업체</a:t>
              </a: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87091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회사명 </a:t>
            </a:r>
            <a:r>
              <a:rPr lang="en-US" altLang="ko-KR" sz="700" b="1" dirty="0">
                <a:latin typeface="+mn-ea"/>
              </a:rPr>
              <a:t>(Company 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2" name="그룹 51"/>
          <p:cNvGrpSpPr/>
          <p:nvPr/>
        </p:nvGrpSpPr>
        <p:grpSpPr>
          <a:xfrm>
            <a:off x="903581" y="3592499"/>
            <a:ext cx="2255663" cy="306146"/>
            <a:chOff x="3982951" y="3679873"/>
            <a:chExt cx="2255663" cy="306146"/>
          </a:xfrm>
        </p:grpSpPr>
        <p:sp>
          <p:nvSpPr>
            <p:cNvPr id="53" name="모서리가 둥근 직사각형 52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직위를 입력해주세요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3453564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직위</a:t>
            </a:r>
            <a:r>
              <a:rPr lang="en-US" altLang="ko-KR" sz="700" b="1" dirty="0">
                <a:latin typeface="+mn-ea"/>
              </a:rPr>
              <a:t>(</a:t>
            </a:r>
            <a:r>
              <a:rPr lang="ko-KR" altLang="en-US" sz="700" b="1" dirty="0">
                <a:latin typeface="+mn-ea"/>
              </a:rPr>
              <a:t>급</a:t>
            </a:r>
            <a:r>
              <a:rPr lang="en-US" altLang="ko-KR" sz="700" b="1" dirty="0">
                <a:latin typeface="+mn-ea"/>
              </a:rPr>
              <a:t>) (Position)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5" y="3453564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285966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성명 </a:t>
            </a:r>
            <a:r>
              <a:rPr lang="en-US" altLang="ko-KR" sz="700" b="1" dirty="0">
                <a:latin typeface="+mn-ea"/>
              </a:rPr>
              <a:t>(Name)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903581" y="2433098"/>
            <a:ext cx="2255663" cy="306146"/>
            <a:chOff x="3982951" y="3679873"/>
            <a:chExt cx="2255663" cy="306146"/>
          </a:xfrm>
        </p:grpSpPr>
        <p:sp>
          <p:nvSpPr>
            <p:cNvPr id="59" name="모서리가 둥근 직사각형 58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latin typeface="+mn-ea"/>
                </a:rPr>
                <a:t>홍길동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모서리가 둥근 직사각형 65"/>
          <p:cNvSpPr/>
          <p:nvPr/>
        </p:nvSpPr>
        <p:spPr>
          <a:xfrm>
            <a:off x="7612452" y="5831196"/>
            <a:ext cx="1338948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129354" y="58819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신청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2017012"/>
            <a:ext cx="1701582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신청인 </a:t>
            </a:r>
            <a:r>
              <a:rPr lang="en-US" altLang="ko-KR" sz="800" b="1" dirty="0">
                <a:latin typeface="+mn-ea"/>
              </a:rPr>
              <a:t>(Applicant)</a:t>
            </a:r>
            <a:endParaRPr lang="ko-KR" altLang="en-US" sz="800" b="1" dirty="0">
              <a:latin typeface="+mn-ea"/>
            </a:endParaRPr>
          </a:p>
        </p:txBody>
      </p:sp>
      <p:grpSp>
        <p:nvGrpSpPr>
          <p:cNvPr id="51" name="그룹 50"/>
          <p:cNvGrpSpPr/>
          <p:nvPr/>
        </p:nvGrpSpPr>
        <p:grpSpPr>
          <a:xfrm>
            <a:off x="903581" y="4024090"/>
            <a:ext cx="2255661" cy="444066"/>
            <a:chOff x="903581" y="5758108"/>
            <a:chExt cx="2255661" cy="444066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3581" y="5758108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b="1" dirty="0">
                  <a:latin typeface="+mn-ea"/>
                </a:rPr>
                <a:t>연락처</a:t>
              </a:r>
              <a:r>
                <a:rPr lang="en-US" altLang="ko-KR" sz="700" b="1" dirty="0">
                  <a:latin typeface="+mn-ea"/>
                </a:rPr>
                <a:t> (Phone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latin typeface="+mn-ea"/>
                </a:rPr>
                <a:t>Number)</a:t>
              </a:r>
              <a:r>
                <a:rPr lang="ko-KR" altLang="en-US" sz="700" b="1" dirty="0">
                  <a:latin typeface="+mn-ea"/>
                </a:rPr>
                <a:t> </a:t>
              </a:r>
              <a:r>
                <a:rPr lang="en-US" altLang="ko-KR" sz="700" b="1" dirty="0">
                  <a:solidFill>
                    <a:srgbClr val="FF0000"/>
                  </a:solidFill>
                  <a:latin typeface="+mn-ea"/>
                </a:rPr>
                <a:t>*</a:t>
              </a:r>
              <a:endParaRPr lang="ko-KR" altLang="en-US" sz="700" b="1" dirty="0">
                <a:latin typeface="+mn-ea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74155" y="5758108"/>
              <a:ext cx="385087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ko-KR" altLang="en-US" sz="700" dirty="0">
                  <a:latin typeface="+mn-ea"/>
                </a:rPr>
                <a:t>필수</a:t>
              </a:r>
              <a:endParaRPr lang="ko-KR" altLang="en-US" sz="700" dirty="0">
                <a:solidFill>
                  <a:srgbClr val="FF0000"/>
                </a:solidFill>
                <a:latin typeface="+mn-ea"/>
              </a:endParaRPr>
            </a:p>
          </p:txBody>
        </p:sp>
        <p:grpSp>
          <p:nvGrpSpPr>
            <p:cNvPr id="70" name="그룹 69"/>
            <p:cNvGrpSpPr/>
            <p:nvPr/>
          </p:nvGrpSpPr>
          <p:grpSpPr>
            <a:xfrm>
              <a:off x="903582" y="5896028"/>
              <a:ext cx="2255660" cy="306146"/>
              <a:chOff x="903582" y="5841774"/>
              <a:chExt cx="2255660" cy="306146"/>
            </a:xfrm>
          </p:grpSpPr>
          <p:sp>
            <p:nvSpPr>
              <p:cNvPr id="74" name="모서리가 둥근 직사각형 73"/>
              <p:cNvSpPr/>
              <p:nvPr/>
            </p:nvSpPr>
            <p:spPr>
              <a:xfrm>
                <a:off x="903582" y="5841774"/>
                <a:ext cx="550750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6" y="5940986"/>
                <a:ext cx="312732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010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6" name="모서리가 둥근 직사각형 75"/>
              <p:cNvSpPr/>
              <p:nvPr/>
            </p:nvSpPr>
            <p:spPr>
              <a:xfrm>
                <a:off x="1662428" y="5841774"/>
                <a:ext cx="648079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814876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1234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78" name="모서리가 둥근 직사각형 77"/>
              <p:cNvSpPr/>
              <p:nvPr/>
            </p:nvSpPr>
            <p:spPr>
              <a:xfrm>
                <a:off x="2513434" y="5841774"/>
                <a:ext cx="645808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49355" y="5940986"/>
                <a:ext cx="357439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800" dirty="0">
                    <a:latin typeface="+mn-ea"/>
                  </a:rPr>
                  <a:t>5678</a:t>
                </a:r>
                <a:endParaRPr lang="ko-KR" altLang="en-US" sz="800" dirty="0">
                  <a:latin typeface="+mn-ea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452060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308236" y="5940986"/>
                <a:ext cx="205198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700" dirty="0">
                    <a:latin typeface="+mn-ea"/>
                  </a:rPr>
                  <a:t>-</a:t>
                </a:r>
                <a:endParaRPr lang="ko-KR" altLang="en-US" sz="700" dirty="0">
                  <a:solidFill>
                    <a:srgbClr val="FF0000"/>
                  </a:solidFill>
                  <a:latin typeface="+mn-ea"/>
                </a:endParaRPr>
              </a:p>
            </p:txBody>
          </p:sp>
        </p:grpSp>
        <p:grpSp>
          <p:nvGrpSpPr>
            <p:cNvPr id="71" name="그룹 70"/>
            <p:cNvGrpSpPr/>
            <p:nvPr/>
          </p:nvGrpSpPr>
          <p:grpSpPr>
            <a:xfrm>
              <a:off x="1274733" y="6025599"/>
              <a:ext cx="94010" cy="47005"/>
              <a:chOff x="6812560" y="3297172"/>
              <a:chExt cx="94010" cy="47005"/>
            </a:xfrm>
          </p:grpSpPr>
          <p:cxnSp>
            <p:nvCxnSpPr>
              <p:cNvPr id="72" name="직선 연결선 7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3" name="직선 연결선 7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2936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0" name="모서리가 둥근 직사각형 89"/>
          <p:cNvSpPr/>
          <p:nvPr/>
        </p:nvSpPr>
        <p:spPr>
          <a:xfrm>
            <a:off x="4019461" y="2197190"/>
            <a:ext cx="2255663" cy="925926"/>
          </a:xfrm>
          <a:prstGeom prst="roundRect">
            <a:avLst>
              <a:gd name="adj" fmla="val 10161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0936" y="2296402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사유를 입력해주세요</a:t>
            </a:r>
            <a:r>
              <a:rPr lang="en-US" altLang="ko-KR" sz="700" dirty="0">
                <a:solidFill>
                  <a:schemeClr val="bg1">
                    <a:lumMod val="75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>
                  <a:lumMod val="75000"/>
                </a:schemeClr>
              </a:solidFill>
              <a:latin typeface="+mn-ea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19461" y="2058255"/>
            <a:ext cx="174577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발급신청사유 </a:t>
            </a:r>
            <a:r>
              <a:rPr lang="en-US" altLang="ko-KR" sz="700" b="1" dirty="0">
                <a:latin typeface="+mn-ea"/>
              </a:rPr>
              <a:t>(Reason of Application)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 *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90035" y="2058255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2" y="5088163"/>
            <a:ext cx="17015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 err="1">
                <a:latin typeface="+mn-ea"/>
              </a:rPr>
              <a:t>업체명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latin typeface="+mn-ea"/>
              </a:rPr>
              <a:t>(Company Name)</a:t>
            </a:r>
            <a:r>
              <a:rPr lang="ko-KR" altLang="en-US" sz="700" b="1" dirty="0"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700" b="1" dirty="0">
              <a:latin typeface="+mn-ea"/>
            </a:endParaRPr>
          </a:p>
        </p:txBody>
      </p:sp>
      <p:grpSp>
        <p:nvGrpSpPr>
          <p:cNvPr id="99" name="그룹 98"/>
          <p:cNvGrpSpPr/>
          <p:nvPr/>
        </p:nvGrpSpPr>
        <p:grpSpPr>
          <a:xfrm>
            <a:off x="903582" y="5235295"/>
            <a:ext cx="2255663" cy="306146"/>
            <a:chOff x="3982951" y="3679873"/>
            <a:chExt cx="2255663" cy="306146"/>
          </a:xfrm>
        </p:grpSpPr>
        <p:sp>
          <p:nvSpPr>
            <p:cNvPr id="100" name="모서리가 둥근 직사각형 99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114426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업체를 선택해주세요</a:t>
              </a:r>
              <a:r>
                <a:rPr lang="en-US" altLang="ko-KR" sz="700" dirty="0">
                  <a:solidFill>
                    <a:schemeClr val="bg1">
                      <a:lumMod val="75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75000"/>
                  </a:schemeClr>
                </a:solidFill>
                <a:latin typeface="+mn-ea"/>
              </a:endParaRPr>
            </a:p>
          </p:txBody>
        </p:sp>
      </p:grpSp>
      <p:grpSp>
        <p:nvGrpSpPr>
          <p:cNvPr id="102" name="그룹 101"/>
          <p:cNvGrpSpPr/>
          <p:nvPr/>
        </p:nvGrpSpPr>
        <p:grpSpPr>
          <a:xfrm>
            <a:off x="3795734" y="5614711"/>
            <a:ext cx="2712027" cy="617588"/>
            <a:chOff x="675399" y="5614711"/>
            <a:chExt cx="2712027" cy="617588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5614711"/>
              <a:ext cx="2712027" cy="6175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1412144" y="5745391"/>
              <a:ext cx="1882977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신청하기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105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767702" y="5745391"/>
              <a:ext cx="552140" cy="317083"/>
            </a:xfrm>
            <a:prstGeom prst="roundRect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3581" y="4819209"/>
            <a:ext cx="221915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조달원 등록증</a:t>
            </a:r>
            <a:r>
              <a:rPr lang="en-US" altLang="ko-KR" sz="800" b="1" dirty="0">
                <a:latin typeface="+mn-ea"/>
              </a:rPr>
              <a:t>(Certificate of Registration)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74156" y="5088163"/>
            <a:ext cx="38508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ko-KR" altLang="en-US" sz="700" dirty="0">
                <a:latin typeface="+mn-ea"/>
              </a:rPr>
              <a:t>필수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132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912494" y="5625023"/>
            <a:ext cx="2246750" cy="206419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업체 선택</a:t>
            </a:r>
            <a:endParaRPr kumimoji="1" lang="en-US" sz="9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9393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5214" y="58819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5" y="557413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</a:t>
            </a:r>
            <a:r>
              <a:rPr lang="ko-KR" altLang="en-US" sz="800" dirty="0" smtClean="0">
                <a:latin typeface="+mn-ea"/>
              </a:rPr>
              <a:t>등록증 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27" name="그룹 12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28" name="직선 연결선 12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9" name="직선 연결선 12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5" name="타원 1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TextBox 135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1236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국외 조달원 </a:t>
            </a:r>
            <a:r>
              <a:rPr lang="ko-KR" altLang="en-US" sz="800" dirty="0" smtClean="0">
                <a:latin typeface="+mn-ea"/>
              </a:rPr>
              <a:t>등록증 신청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9" name="그룹 138"/>
          <p:cNvGrpSpPr/>
          <p:nvPr/>
        </p:nvGrpSpPr>
        <p:grpSpPr>
          <a:xfrm rot="5400000">
            <a:off x="3870177" y="1640499"/>
            <a:ext cx="94010" cy="47005"/>
            <a:chOff x="6812560" y="3297172"/>
            <a:chExt cx="94010" cy="47005"/>
          </a:xfrm>
        </p:grpSpPr>
        <p:cxnSp>
          <p:nvCxnSpPr>
            <p:cNvPr id="140" name="직선 연결선 13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2" name="타원 141"/>
          <p:cNvSpPr/>
          <p:nvPr/>
        </p:nvSpPr>
        <p:spPr>
          <a:xfrm>
            <a:off x="6159701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TextBox 142"/>
          <p:cNvSpPr txBox="1"/>
          <p:nvPr/>
        </p:nvSpPr>
        <p:spPr>
          <a:xfrm>
            <a:off x="6108450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45988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45" name="그룹 14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6" name="직사각형 14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2026-07-20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147" name="직사각형 14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팝업에서 페이지로 변경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1325790915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341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AF88A98-DF3E-37F5-1D9F-FCE47A9DEB4E}"/>
              </a:ext>
            </a:extLst>
          </p:cNvPr>
          <p:cNvSpPr txBox="1"/>
          <p:nvPr/>
        </p:nvSpPr>
        <p:spPr>
          <a:xfrm>
            <a:off x="458117" y="862025"/>
            <a:ext cx="339893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신청인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A839B-AA49-58B4-C132-06B25B96EB6B}"/>
              </a:ext>
            </a:extLst>
          </p:cNvPr>
          <p:cNvGraphicFramePr>
            <a:graphicFrameLocks noGrp="1"/>
          </p:cNvGraphicFramePr>
          <p:nvPr/>
        </p:nvGraphicFramePr>
        <p:xfrm>
          <a:off x="458117" y="1109504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empNm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성명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회사명 조회결과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aplcntJbgdNm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직위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aplcntEntlno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484415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B270ED7-325D-C87B-19AD-0E2237091A88}"/>
              </a:ext>
            </a:extLst>
          </p:cNvPr>
          <p:cNvSpPr txBox="1"/>
          <p:nvPr/>
        </p:nvSpPr>
        <p:spPr>
          <a:xfrm>
            <a:off x="450440" y="2311319"/>
            <a:ext cx="4006472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국외조달원 신청 조달원 등록증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dm_ovsSosAplyDataInfo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77F5B16-AB1B-306D-1EFD-8E7DB4E2C6AE}"/>
              </a:ext>
            </a:extLst>
          </p:cNvPr>
          <p:cNvGraphicFramePr>
            <a:graphicFrameLocks noGrp="1"/>
          </p:cNvGraphicFramePr>
          <p:nvPr/>
        </p:nvGraphicFramePr>
        <p:xfrm>
          <a:off x="450440" y="2533837"/>
          <a:ext cx="8994883" cy="775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)0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33507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bzentyNm2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aplyRsn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발급신청사유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28398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F8FDE6B-2650-DAD2-A3E3-004EBEA14F32}"/>
              </a:ext>
            </a:extLst>
          </p:cNvPr>
          <p:cNvSpPr txBox="1"/>
          <p:nvPr/>
        </p:nvSpPr>
        <p:spPr>
          <a:xfrm>
            <a:off x="430605" y="3598498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435ADA8-DFB4-32D0-15BF-F937ED4E0D6B}"/>
              </a:ext>
            </a:extLst>
          </p:cNvPr>
          <p:cNvGraphicFramePr>
            <a:graphicFrameLocks noGrp="1"/>
          </p:cNvGraphicFramePr>
          <p:nvPr/>
        </p:nvGraphicFramePr>
        <p:xfrm>
          <a:off x="425487" y="3825089"/>
          <a:ext cx="8995591" cy="825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업체선택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조달업체선택 팝업을 호출한다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UI-CM-03-P12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40544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신청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scwin.btn_aply_onclick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국외조달원 등록증을 신청한다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5225939"/>
                  </a:ext>
                </a:extLst>
              </a:tr>
            </a:tbl>
          </a:graphicData>
        </a:graphic>
      </p:graphicFrame>
      <p:sp>
        <p:nvSpPr>
          <p:cNvPr id="13" name="Text Box 73">
            <a:extLst>
              <a:ext uri="{FF2B5EF4-FFF2-40B4-BE49-F238E27FC236}">
                <a16:creationId xmlns:a16="http://schemas.microsoft.com/office/drawing/2014/main" id="{D564D4C5-32F2-B2D3-17C5-8763B6DAB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3062" y="367663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" name="Text Box 73">
            <a:extLst>
              <a:ext uri="{FF2B5EF4-FFF2-40B4-BE49-F238E27FC236}">
                <a16:creationId xmlns:a16="http://schemas.microsoft.com/office/drawing/2014/main" id="{48052CAA-8680-E27F-8DFC-51FCF8EC91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01220778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오픈 시 포커스 </a:t>
            </a:r>
            <a:r>
              <a:rPr lang="ko-KR" altLang="en-US" dirty="0" err="1"/>
              <a:t>자동이동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입력이 있는 경우 내용 삭제 아이콘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입력 내용 기반 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Like </a:t>
            </a:r>
            <a:r>
              <a:rPr lang="ko-KR" altLang="en-US" dirty="0"/>
              <a:t>검색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검색 버튼 클릭 시 가상 </a:t>
            </a:r>
            <a:r>
              <a:rPr lang="ko-KR" altLang="en-US" dirty="0" err="1"/>
              <a:t>키패드</a:t>
            </a:r>
            <a:r>
              <a:rPr lang="ko-KR" altLang="en-US" dirty="0"/>
              <a:t> 숨김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가상 </a:t>
            </a:r>
            <a:r>
              <a:rPr lang="ko-KR" altLang="en-US" dirty="0" err="1"/>
              <a:t>키패드</a:t>
            </a:r>
            <a:r>
              <a:rPr lang="ko-KR" altLang="en-US" dirty="0"/>
              <a:t> 검색 버튼으로 동일 검색 기능 동작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검색 결과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결과 클릭을 통해 결과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사용자 선택 시 </a:t>
            </a:r>
            <a:r>
              <a:rPr lang="ko-KR" altLang="en-US" dirty="0" err="1"/>
              <a:t>바텀</a:t>
            </a:r>
            <a:r>
              <a:rPr lang="ko-KR" altLang="en-US" dirty="0"/>
              <a:t> 시트 닫힘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상위 페이지에 정보 반영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55000" lnSpcReduction="20000"/>
          </a:bodyPr>
          <a:lstStyle/>
          <a:p>
            <a:r>
              <a:rPr lang="ko-KR" altLang="en-US" dirty="0"/>
              <a:t>메인 홈 </a:t>
            </a:r>
            <a:r>
              <a:rPr lang="en-US" altLang="ko-KR" dirty="0"/>
              <a:t>&gt; </a:t>
            </a:r>
            <a:r>
              <a:rPr lang="ko-KR" altLang="en-US" dirty="0"/>
              <a:t>고객센터 </a:t>
            </a:r>
            <a:r>
              <a:rPr lang="en-US" altLang="ko-KR" dirty="0"/>
              <a:t>&gt; </a:t>
            </a:r>
            <a:r>
              <a:rPr lang="ko-KR" altLang="en-US" dirty="0">
                <a:latin typeface="+mn-ea"/>
              </a:rPr>
              <a:t>민원서류 발급 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 조달원 등록증 목록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신청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조달업체</a:t>
            </a:r>
            <a:r>
              <a:rPr lang="ko-KR" altLang="en-US" dirty="0">
                <a:latin typeface="+mn-ea"/>
              </a:rPr>
              <a:t> 선택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latin typeface="+mn-ea"/>
              </a:rPr>
              <a:t>MUI-CM-04-P23</a:t>
            </a:r>
            <a:endParaRPr lang="ko-KR" altLang="en-US" dirty="0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sp>
        <p:nvSpPr>
          <p:cNvPr id="296" name="양쪽 모서리가 둥근 사각형 295"/>
          <p:cNvSpPr/>
          <p:nvPr/>
        </p:nvSpPr>
        <p:spPr>
          <a:xfrm>
            <a:off x="3795734" y="3011654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97" name="모서리가 둥근 직사각형 296"/>
          <p:cNvSpPr/>
          <p:nvPr/>
        </p:nvSpPr>
        <p:spPr>
          <a:xfrm>
            <a:off x="4881747" y="3042051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98" name="그룹 297"/>
          <p:cNvGrpSpPr/>
          <p:nvPr/>
        </p:nvGrpSpPr>
        <p:grpSpPr>
          <a:xfrm>
            <a:off x="6284673" y="3176467"/>
            <a:ext cx="94010" cy="94010"/>
            <a:chOff x="6812560" y="3297172"/>
            <a:chExt cx="94010" cy="94010"/>
          </a:xfrm>
        </p:grpSpPr>
        <p:cxnSp>
          <p:nvCxnSpPr>
            <p:cNvPr id="299" name="직선 연결선 298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0" name="직선 연결선 29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1" name="TextBox 30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157146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302" name="직선 연결선 30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3418546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7" name="모서리가 둥근 직사각형 306"/>
          <p:cNvSpPr/>
          <p:nvPr/>
        </p:nvSpPr>
        <p:spPr>
          <a:xfrm>
            <a:off x="4564213" y="3557095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단체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3625408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309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3888037" y="3890810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800" kern="0" dirty="0">
                <a:solidFill>
                  <a:srgbClr val="0070C0"/>
                </a:solidFill>
              </a:rPr>
              <a:t>검색</a:t>
            </a:r>
            <a:endParaRPr kumimoji="1" lang="en-US" altLang="ko-KR" sz="800" kern="0" dirty="0">
              <a:solidFill>
                <a:srgbClr val="0070C0"/>
              </a:solidFill>
            </a:endParaRPr>
          </a:p>
        </p:txBody>
      </p:sp>
      <p:sp>
        <p:nvSpPr>
          <p:cNvPr id="5" name="양쪽 모서리가 둥근 사각형 4"/>
          <p:cNvSpPr/>
          <p:nvPr/>
        </p:nvSpPr>
        <p:spPr>
          <a:xfrm>
            <a:off x="675399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150" name="모서리가 둥근 직사각형 149"/>
          <p:cNvSpPr/>
          <p:nvPr/>
        </p:nvSpPr>
        <p:spPr>
          <a:xfrm>
            <a:off x="1761412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151" name="그룹 150"/>
          <p:cNvGrpSpPr/>
          <p:nvPr/>
        </p:nvGrpSpPr>
        <p:grpSpPr>
          <a:xfrm>
            <a:off x="3164338" y="3182696"/>
            <a:ext cx="94010" cy="94010"/>
            <a:chOff x="6812560" y="3297172"/>
            <a:chExt cx="94010" cy="94010"/>
          </a:xfrm>
        </p:grpSpPr>
        <p:cxnSp>
          <p:nvCxnSpPr>
            <p:cNvPr id="152" name="직선 연결선 15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2" name="직선 연결선 161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 err="1">
                <a:latin typeface="+mn-ea"/>
              </a:rPr>
              <a:t>조달업체</a:t>
            </a:r>
            <a:r>
              <a:rPr lang="ko-KR" altLang="en-US" sz="900" dirty="0">
                <a:latin typeface="+mn-ea"/>
              </a:rPr>
              <a:t> 선택</a:t>
            </a:r>
          </a:p>
        </p:txBody>
      </p: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9" name="모서리가 둥근 직사각형 168"/>
          <p:cNvSpPr/>
          <p:nvPr/>
        </p:nvSpPr>
        <p:spPr>
          <a:xfrm>
            <a:off x="1443878" y="3563324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업체코드를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631637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업체코드</a:t>
            </a:r>
            <a:endParaRPr lang="en-US" altLang="ko-KR" sz="700" dirty="0">
              <a:latin typeface="+mn-ea"/>
            </a:endParaRPr>
          </a:p>
        </p:txBody>
      </p:sp>
      <p:sp>
        <p:nvSpPr>
          <p:cNvPr id="177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767702" y="4181984"/>
            <a:ext cx="2522014" cy="244350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검색</a:t>
            </a:r>
            <a:endParaRPr kumimoji="1" lang="en-US" sz="8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</a:endParaRPr>
          </a:p>
        </p:txBody>
      </p:sp>
      <p:sp>
        <p:nvSpPr>
          <p:cNvPr id="310" name="타원 309"/>
          <p:cNvSpPr/>
          <p:nvPr/>
        </p:nvSpPr>
        <p:spPr>
          <a:xfrm>
            <a:off x="3112794" y="3601610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1" name="그룹 310"/>
          <p:cNvGrpSpPr/>
          <p:nvPr/>
        </p:nvGrpSpPr>
        <p:grpSpPr>
          <a:xfrm>
            <a:off x="3156699" y="3645514"/>
            <a:ext cx="58075" cy="58074"/>
            <a:chOff x="6812560" y="3297172"/>
            <a:chExt cx="94010" cy="94010"/>
          </a:xfrm>
        </p:grpSpPr>
        <p:cxnSp>
          <p:nvCxnSpPr>
            <p:cNvPr id="312" name="직선 연결선 311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3" name="직선 연결선 312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14" name="타원 313"/>
          <p:cNvSpPr/>
          <p:nvPr/>
        </p:nvSpPr>
        <p:spPr>
          <a:xfrm>
            <a:off x="6240768" y="359991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5" name="그룹 314"/>
          <p:cNvGrpSpPr/>
          <p:nvPr/>
        </p:nvGrpSpPr>
        <p:grpSpPr>
          <a:xfrm>
            <a:off x="6284673" y="3643820"/>
            <a:ext cx="58075" cy="58074"/>
            <a:chOff x="6812560" y="3297172"/>
            <a:chExt cx="94010" cy="94010"/>
          </a:xfrm>
        </p:grpSpPr>
        <p:cxnSp>
          <p:nvCxnSpPr>
            <p:cNvPr id="316" name="직선 연결선 315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7" name="직선 연결선 316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274223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381244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455678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24" name="TextBox 3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984311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99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850652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99</a:t>
            </a:r>
          </a:p>
          <a:p>
            <a:pPr>
              <a:lnSpc>
                <a:spcPct val="120000"/>
              </a:lnSpc>
            </a:pPr>
            <a:r>
              <a:rPr lang="ko-KR" altLang="en-US" sz="700" dirty="0">
                <a:latin typeface="+mn-ea"/>
              </a:rPr>
              <a:t>홍길동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327" name="직선 연결선 32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263525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36" name="모서리가 둥근 직사각형 335"/>
          <p:cNvSpPr/>
          <p:nvPr/>
        </p:nvSpPr>
        <p:spPr>
          <a:xfrm rot="5400000">
            <a:off x="5782577" y="4149915"/>
            <a:ext cx="1352376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35848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338" name="타원 3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3754" y="417753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339" name="타원 3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43445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84579" y="510695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984311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099</a:t>
            </a:r>
          </a:p>
        </p:txBody>
      </p:sp>
      <p:grpSp>
        <p:nvGrpSpPr>
          <p:cNvPr id="81" name="그룹 80"/>
          <p:cNvGrpSpPr/>
          <p:nvPr/>
        </p:nvGrpSpPr>
        <p:grpSpPr>
          <a:xfrm rot="16200000">
            <a:off x="6266706" y="4993501"/>
            <a:ext cx="94010" cy="47005"/>
            <a:chOff x="6812560" y="3297172"/>
            <a:chExt cx="94010" cy="47005"/>
          </a:xfrm>
        </p:grpSpPr>
        <p:cxnSp>
          <p:nvCxnSpPr>
            <p:cNvPr id="82" name="직선 연결선 81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4" name="직선 연결선 8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541601" y="4285080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5840987" y="4285080"/>
            <a:ext cx="368553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107" name="그룹 106"/>
          <p:cNvGrpSpPr/>
          <p:nvPr/>
        </p:nvGrpSpPr>
        <p:grpSpPr>
          <a:xfrm>
            <a:off x="6256545" y="4386903"/>
            <a:ext cx="94010" cy="47005"/>
            <a:chOff x="6812560" y="3297172"/>
            <a:chExt cx="94010" cy="47005"/>
          </a:xfrm>
        </p:grpSpPr>
        <p:cxnSp>
          <p:nvCxnSpPr>
            <p:cNvPr id="108" name="직선 연결선 10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직선 연결선 10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7" name="모서리가 둥근 직사각형 96"/>
          <p:cNvSpPr/>
          <p:nvPr/>
        </p:nvSpPr>
        <p:spPr>
          <a:xfrm>
            <a:off x="1443878" y="3885710"/>
            <a:ext cx="1845838" cy="244348"/>
          </a:xfrm>
          <a:prstGeom prst="roundRect">
            <a:avLst>
              <a:gd name="adj" fmla="val 17463"/>
            </a:avLst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업체명을</a:t>
            </a:r>
            <a:r>
              <a:rPr lang="ko-KR" altLang="en-US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입력해주세요</a:t>
            </a:r>
            <a:r>
              <a:rPr lang="en-US" altLang="ko-KR" sz="700" dirty="0">
                <a:solidFill>
                  <a:schemeClr val="tx1"/>
                </a:solidFill>
              </a:rPr>
              <a:t>.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4476" y="3954023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업체명</a:t>
            </a:r>
            <a:endParaRPr lang="en-US" altLang="ko-KR" sz="700" dirty="0">
              <a:latin typeface="+mn-ea"/>
            </a:endParaRPr>
          </a:p>
        </p:txBody>
      </p:sp>
      <p:sp>
        <p:nvSpPr>
          <p:cNvPr id="99" name="타원 98"/>
          <p:cNvSpPr/>
          <p:nvPr/>
        </p:nvSpPr>
        <p:spPr>
          <a:xfrm>
            <a:off x="3112794" y="3923996"/>
            <a:ext cx="145884" cy="14588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0" name="그룹 99"/>
          <p:cNvGrpSpPr/>
          <p:nvPr/>
        </p:nvGrpSpPr>
        <p:grpSpPr>
          <a:xfrm>
            <a:off x="3156699" y="3967900"/>
            <a:ext cx="58075" cy="58074"/>
            <a:chOff x="6812560" y="3297172"/>
            <a:chExt cx="94010" cy="94010"/>
          </a:xfrm>
        </p:grpSpPr>
        <p:cxnSp>
          <p:nvCxnSpPr>
            <p:cNvPr id="103" name="직선 연결선 102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0" name="직선 연결선 109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4812818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4656767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4656767"/>
            <a:ext cx="1418465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업체정보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4656767"/>
            <a:ext cx="43013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>
                <a:latin typeface="+mn-ea"/>
              </a:rPr>
              <a:t>업체코드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42184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98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28818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98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김길순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570106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42184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098</a:t>
            </a:r>
          </a:p>
        </p:txBody>
      </p:sp>
      <p:grpSp>
        <p:nvGrpSpPr>
          <p:cNvPr id="119" name="그룹 118"/>
          <p:cNvGrpSpPr/>
          <p:nvPr/>
        </p:nvGrpSpPr>
        <p:grpSpPr>
          <a:xfrm rot="16200000">
            <a:off x="6266706" y="5431038"/>
            <a:ext cx="94010" cy="47005"/>
            <a:chOff x="6812560" y="3297172"/>
            <a:chExt cx="94010" cy="47005"/>
          </a:xfrm>
        </p:grpSpPr>
        <p:cxnSp>
          <p:nvCxnSpPr>
            <p:cNvPr id="120" name="직선 연결선 119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1" name="직선 연결선 120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24811" y="5865528"/>
            <a:ext cx="22649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97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846276" y="5731869"/>
            <a:ext cx="1418465" cy="3877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업체명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dirty="0">
                <a:latin typeface="+mn-ea"/>
              </a:rPr>
              <a:t>97</a:t>
            </a:r>
          </a:p>
          <a:p>
            <a:pPr>
              <a:lnSpc>
                <a:spcPct val="120000"/>
              </a:lnSpc>
            </a:pPr>
            <a:r>
              <a:rPr lang="ko-KR" altLang="en-US" sz="700" dirty="0" err="1">
                <a:latin typeface="+mn-ea"/>
              </a:rPr>
              <a:t>박길동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700" dirty="0">
                <a:latin typeface="+mn-ea"/>
              </a:rPr>
              <a:t>02-1234-5678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37747" y="6144742"/>
            <a:ext cx="2628000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316694" y="5865528"/>
            <a:ext cx="220449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097</a:t>
            </a:r>
          </a:p>
        </p:txBody>
      </p:sp>
      <p:grpSp>
        <p:nvGrpSpPr>
          <p:cNvPr id="126" name="그룹 125"/>
          <p:cNvGrpSpPr/>
          <p:nvPr/>
        </p:nvGrpSpPr>
        <p:grpSpPr>
          <a:xfrm rot="16200000">
            <a:off x="6266706" y="5874718"/>
            <a:ext cx="94010" cy="47005"/>
            <a:chOff x="6812560" y="3297172"/>
            <a:chExt cx="94010" cy="47005"/>
          </a:xfrm>
        </p:grpSpPr>
        <p:cxnSp>
          <p:nvCxnSpPr>
            <p:cNvPr id="127" name="직선 연결선 126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8" name="직선 연결선 127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41566423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343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181F0E-4B9D-FF8D-0ED0-88626B646E2F}"/>
              </a:ext>
            </a:extLst>
          </p:cNvPr>
          <p:cNvSpPr txBox="1"/>
          <p:nvPr/>
        </p:nvSpPr>
        <p:spPr>
          <a:xfrm>
            <a:off x="458117" y="803113"/>
            <a:ext cx="2195079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dm_searchInfo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6FE5551-C18B-B5BA-90D6-2A88C3EFDB9B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58176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664054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F1C302B-142E-97B1-A2F2-EEB6608FD5A5}"/>
              </a:ext>
            </a:extLst>
          </p:cNvPr>
          <p:cNvSpPr txBox="1"/>
          <p:nvPr/>
        </p:nvSpPr>
        <p:spPr>
          <a:xfrm>
            <a:off x="461384" y="1800668"/>
            <a:ext cx="2203095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조달업체 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C2D6785-30D3-5EDB-34C2-30694E0A3503}"/>
              </a:ext>
            </a:extLst>
          </p:cNvPr>
          <p:cNvGraphicFramePr>
            <a:graphicFrameLocks noGrp="1"/>
          </p:cNvGraphicFramePr>
          <p:nvPr/>
        </p:nvGraphicFramePr>
        <p:xfrm>
          <a:off x="462092" y="2006715"/>
          <a:ext cx="8994883" cy="969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1403555245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bzentyCd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업체코드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bzentyNm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업체명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15541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rprsvNm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 (본문)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대표자명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 (본문)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18514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rprsvTelno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대표전화 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529775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61AFF63E-A35D-26A9-40FD-6875A41F652C}"/>
              </a:ext>
            </a:extLst>
          </p:cNvPr>
          <p:cNvSpPr txBox="1"/>
          <p:nvPr/>
        </p:nvSpPr>
        <p:spPr>
          <a:xfrm>
            <a:off x="458117" y="3232575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A97748E-F98A-3B3A-B7BF-ECEA392F13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021410"/>
              </p:ext>
            </p:extLst>
          </p:nvPr>
        </p:nvGraphicFramePr>
        <p:xfrm>
          <a:off x="461384" y="3445343"/>
          <a:ext cx="8995591" cy="10195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/>
                        <a:t>scwin.onpageload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조달업체 정보를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로드한다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검색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scwin.btn_bzentySrch_onclick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검색조건으로 조달업체 정보를 검색한다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latinLnBrk="1">
                        <a:buFont typeface="Arial" panose="020B0604020202020204" pitchFamily="34" charset="0"/>
                        <a:buNone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45641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 err="1"/>
                        <a:t>검색항목</a:t>
                      </a:r>
                      <a:r>
                        <a:rPr lang="ko-KR" altLang="en-US" sz="800" dirty="0"/>
                        <a:t>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800" dirty="0" err="1"/>
                        <a:t>scwin.btn_idnty_onclick</a:t>
                      </a:r>
                      <a:endParaRPr lang="ko-KR" altLang="en-US" sz="8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선택된 조달업체 정보가 부모 화면에 입력되며 팝업창은 닫힌다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UI-CM-03-M11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참조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476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52EBE13D-F697-3B6D-4DB3-0C32B29DA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8959" y="3328427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Text Box 73">
            <a:extLst>
              <a:ext uri="{FF2B5EF4-FFF2-40B4-BE49-F238E27FC236}">
                <a16:creationId xmlns:a16="http://schemas.microsoft.com/office/drawing/2014/main" id="{395E996E-DD98-7B49-87F6-8505D83D7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6485" y="694305"/>
            <a:ext cx="3571398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속성 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R:ReadOnly  E:Editable  H:Hidden     2)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55385429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03286" y="1493927"/>
            <a:ext cx="2300284" cy="4981517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법령 구분 탭으로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싱글 </a:t>
            </a:r>
            <a:r>
              <a:rPr lang="ko-KR" altLang="en-US" dirty="0" err="1"/>
              <a:t>셀렉트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법령 구분에 맞춰 하단 목록 재구성</a:t>
            </a:r>
            <a:r>
              <a:rPr lang="en-US" altLang="ko-KR" dirty="0"/>
              <a:t>(</a:t>
            </a:r>
            <a:r>
              <a:rPr lang="ko-KR" altLang="en-US" dirty="0" err="1"/>
              <a:t>법령구분에</a:t>
            </a:r>
            <a:r>
              <a:rPr lang="ko-KR" altLang="en-US" dirty="0"/>
              <a:t> 맞는 항목만 표시</a:t>
            </a:r>
            <a:r>
              <a:rPr lang="en-US" altLang="ko-KR" dirty="0"/>
              <a:t>)</a:t>
            </a:r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관심법령</a:t>
            </a:r>
            <a:r>
              <a:rPr lang="ko-KR" altLang="en-US" dirty="0"/>
              <a:t> 정보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클릭 시 외부 브라우저로 법령 정보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관심 법령 </a:t>
            </a:r>
            <a:r>
              <a:rPr lang="ko-KR" altLang="en-US" dirty="0" err="1"/>
              <a:t>즐겨찾기</a:t>
            </a:r>
            <a:r>
              <a:rPr lang="ko-KR" altLang="en-US" dirty="0"/>
              <a:t> 및 해제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stared </a:t>
            </a:r>
            <a:r>
              <a:rPr lang="ko-KR" altLang="en-US" dirty="0"/>
              <a:t>는 </a:t>
            </a:r>
            <a:r>
              <a:rPr lang="ko-KR" altLang="en-US" dirty="0" err="1"/>
              <a:t>토글</a:t>
            </a:r>
            <a:r>
              <a:rPr lang="ko-KR" altLang="en-US" dirty="0"/>
              <a:t> 방식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설정에 별다른 메시지 없이 </a:t>
            </a:r>
            <a:r>
              <a:rPr lang="en-US" altLang="ko-KR" dirty="0"/>
              <a:t>stared </a:t>
            </a:r>
            <a:r>
              <a:rPr lang="ko-KR" altLang="en-US" dirty="0"/>
              <a:t>표시 변경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법령정보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법령정보 목록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고객센터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법령정보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000000"/>
                </a:solidFill>
                <a:latin typeface="맑은 고딕" panose="020B0503020000020004" pitchFamily="50" charset="-127"/>
              </a:rPr>
              <a:t>MUI-CM-04-M24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 smtClean="0">
                <a:latin typeface="+mn-ea"/>
              </a:rPr>
              <a:t>법령정보</a:t>
            </a:r>
            <a:endParaRPr lang="ko-KR" altLang="en-US" sz="800" dirty="0"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7" name="그룹 16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18" name="직선 연결선 17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직선 연결선 18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0" name="타원 19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/>
          <p:cNvSpPr txBox="1"/>
          <p:nvPr/>
        </p:nvSpPr>
        <p:spPr>
          <a:xfrm>
            <a:off x="2993286" y="1515996"/>
            <a:ext cx="29046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dirty="0"/>
              <a:t>≡</a:t>
            </a: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15256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428604" y="2845075"/>
            <a:ext cx="393849" cy="1811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latin typeface="+mn-ea"/>
              </a:rPr>
              <a:t>표시 개수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727990" y="2845075"/>
            <a:ext cx="3685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latin typeface="+mn-ea"/>
              </a:rPr>
              <a:t>10 </a:t>
            </a:r>
            <a:r>
              <a:rPr lang="ko-KR" altLang="en-US" sz="700" dirty="0">
                <a:latin typeface="+mn-ea"/>
              </a:rPr>
              <a:t>개</a:t>
            </a:r>
          </a:p>
        </p:txBody>
      </p:sp>
      <p:grpSp>
        <p:nvGrpSpPr>
          <p:cNvPr id="43" name="그룹 42"/>
          <p:cNvGrpSpPr/>
          <p:nvPr/>
        </p:nvGrpSpPr>
        <p:grpSpPr>
          <a:xfrm>
            <a:off x="3143548" y="2946898"/>
            <a:ext cx="94010" cy="47005"/>
            <a:chOff x="6812560" y="3297172"/>
            <a:chExt cx="94010" cy="47005"/>
          </a:xfrm>
        </p:grpSpPr>
        <p:cxnSp>
          <p:nvCxnSpPr>
            <p:cNvPr id="45" name="직선 연결선 44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사각형: 둥근 모서리 31">
            <a:extLst>
              <a:ext uri="{FF2B5EF4-FFF2-40B4-BE49-F238E27FC236}">
                <a16:creationId xmlns:a16="http://schemas.microsoft.com/office/drawing/2014/main" id="{2AC143EE-93CF-3518-F0CB-8469E98507E0}"/>
              </a:ext>
            </a:extLst>
          </p:cNvPr>
          <p:cNvSpPr/>
          <p:nvPr/>
        </p:nvSpPr>
        <p:spPr>
          <a:xfrm>
            <a:off x="808106" y="5828262"/>
            <a:ext cx="2446613" cy="279492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err="1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더보기</a:t>
            </a: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(10/258)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4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289330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법령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주요 법령 모음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법령 모음</a:t>
            </a: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5454205"/>
            <a:ext cx="76863" cy="292489"/>
            <a:chOff x="3750067" y="4683795"/>
            <a:chExt cx="76863" cy="292489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3668110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0" name="포인트가 5개인 별 79"/>
          <p:cNvSpPr/>
          <p:nvPr/>
        </p:nvSpPr>
        <p:spPr>
          <a:xfrm>
            <a:off x="3058823" y="3332745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3799568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훈령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방위사업법</a:t>
            </a:r>
            <a:r>
              <a:rPr lang="en-US" altLang="ko-KR" sz="700" dirty="0">
                <a:solidFill>
                  <a:prstClr val="black"/>
                </a:solidFill>
              </a:rPr>
              <a:t>/</a:t>
            </a:r>
            <a:r>
              <a:rPr lang="ko-KR" altLang="en-US" sz="700" dirty="0" err="1">
                <a:solidFill>
                  <a:prstClr val="black"/>
                </a:solidFill>
              </a:rPr>
              <a:t>국계법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>
                <a:solidFill>
                  <a:prstClr val="black"/>
                </a:solidFill>
              </a:rPr>
              <a:t>방위사업법 시행규칙</a:t>
            </a: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17834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0" name="포인트가 5개인 별 99"/>
          <p:cNvSpPr/>
          <p:nvPr/>
        </p:nvSpPr>
        <p:spPr>
          <a:xfrm>
            <a:off x="3058823" y="384298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309806"/>
            <a:ext cx="20612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예규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 err="1">
                <a:solidFill>
                  <a:prstClr val="black"/>
                </a:solidFill>
              </a:rPr>
              <a:t>방위사업청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중앙조달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군수품조달</a:t>
            </a:r>
            <a:r>
              <a:rPr lang="ko-KR" altLang="en-US" sz="900" b="1" dirty="0">
                <a:solidFill>
                  <a:prstClr val="black"/>
                </a:solidFill>
              </a:rPr>
              <a:t> 관리규정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4688586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2" name="포인트가 5개인 별 111"/>
          <p:cNvSpPr/>
          <p:nvPr/>
        </p:nvSpPr>
        <p:spPr>
          <a:xfrm>
            <a:off x="3058823" y="4353221"/>
            <a:ext cx="159391" cy="159391"/>
          </a:xfrm>
          <a:prstGeom prst="star5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58">
            <a:extLst>
              <a:ext uri="{FF2B5EF4-FFF2-40B4-BE49-F238E27FC236}">
                <a16:creationId xmlns:a16="http://schemas.microsoft.com/office/drawing/2014/main" id="{02FC114B-B48B-345F-BD70-2B5A196F5B3E}"/>
              </a:ext>
            </a:extLst>
          </p:cNvPr>
          <p:cNvSpPr txBox="1"/>
          <p:nvPr/>
        </p:nvSpPr>
        <p:spPr>
          <a:xfrm>
            <a:off x="983291" y="4814278"/>
            <a:ext cx="2061246" cy="3847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en-US" altLang="ko-KR" sz="700" dirty="0">
                <a:solidFill>
                  <a:prstClr val="black"/>
                </a:solidFill>
              </a:rPr>
              <a:t>[</a:t>
            </a:r>
            <a:r>
              <a:rPr lang="ko-KR" altLang="en-US" sz="700" dirty="0">
                <a:solidFill>
                  <a:prstClr val="black"/>
                </a:solidFill>
              </a:rPr>
              <a:t>지침</a:t>
            </a:r>
            <a:r>
              <a:rPr lang="en-US" altLang="ko-KR" sz="700" dirty="0">
                <a:solidFill>
                  <a:prstClr val="black"/>
                </a:solidFill>
              </a:rPr>
              <a:t>] </a:t>
            </a:r>
            <a:r>
              <a:rPr lang="ko-KR" altLang="en-US" sz="700" dirty="0">
                <a:solidFill>
                  <a:prstClr val="black"/>
                </a:solidFill>
              </a:rPr>
              <a:t>국방부</a:t>
            </a:r>
            <a:r>
              <a:rPr lang="en-US" altLang="ko-KR" sz="700" dirty="0">
                <a:solidFill>
                  <a:prstClr val="black"/>
                </a:solidFill>
              </a:rPr>
              <a:t>(</a:t>
            </a:r>
            <a:r>
              <a:rPr lang="ko-KR" altLang="en-US" sz="700" dirty="0" err="1">
                <a:solidFill>
                  <a:prstClr val="black"/>
                </a:solidFill>
              </a:rPr>
              <a:t>부대조달</a:t>
            </a:r>
            <a:r>
              <a:rPr lang="en-US" altLang="ko-KR" sz="700" dirty="0">
                <a:solidFill>
                  <a:prstClr val="black"/>
                </a:solidFill>
              </a:rPr>
              <a:t>) </a:t>
            </a:r>
            <a:r>
              <a:rPr lang="ko-KR" altLang="en-US" sz="700" dirty="0">
                <a:solidFill>
                  <a:prstClr val="black"/>
                </a:solidFill>
              </a:rPr>
              <a:t>주요 규정</a:t>
            </a:r>
            <a:endParaRPr lang="en-US" altLang="ko-KR" sz="700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군시설공사</a:t>
            </a:r>
            <a:r>
              <a:rPr lang="ko-KR" altLang="en-US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 err="1">
                <a:solidFill>
                  <a:prstClr val="black"/>
                </a:solidFill>
              </a:rPr>
              <a:t>입찰참가자격사전심사</a:t>
            </a:r>
            <a:endParaRPr lang="en-US" altLang="ko-KR" sz="900" b="1" dirty="0">
              <a:solidFill>
                <a:prstClr val="black"/>
              </a:solidFill>
            </a:endParaRPr>
          </a:p>
          <a:p>
            <a:pPr lvl="0"/>
            <a:r>
              <a:rPr lang="ko-KR" altLang="en-US" sz="900" b="1" dirty="0" err="1">
                <a:solidFill>
                  <a:prstClr val="black"/>
                </a:solidFill>
              </a:rPr>
              <a:t>세부운영</a:t>
            </a:r>
            <a:r>
              <a:rPr lang="ko-KR" altLang="en-US" sz="900" b="1" dirty="0">
                <a:solidFill>
                  <a:prstClr val="black"/>
                </a:solidFill>
              </a:rPr>
              <a:t> 기준에 관한 훈령</a:t>
            </a: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5325488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9" name="포인트가 5개인 별 118"/>
          <p:cNvSpPr/>
          <p:nvPr/>
        </p:nvSpPr>
        <p:spPr>
          <a:xfrm>
            <a:off x="3058823" y="4926943"/>
            <a:ext cx="159391" cy="159391"/>
          </a:xfrm>
          <a:prstGeom prst="star5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319568" y="333919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350885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12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386112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11</a:t>
            </a:r>
            <a:endParaRPr lang="ko-KR" altLang="en-US" sz="800" dirty="0">
              <a:latin typeface="+mn-ea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371361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10</a:t>
            </a:r>
            <a:endParaRPr lang="ko-KR" altLang="en-US" sz="800" dirty="0">
              <a:latin typeface="+mn-ea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4945083"/>
            <a:ext cx="156073" cy="12311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800" dirty="0">
                <a:latin typeface="+mn-ea"/>
              </a:rPr>
              <a:t>9</a:t>
            </a:r>
            <a:endParaRPr lang="ko-KR" altLang="en-US" sz="800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2625" y="2913532"/>
            <a:ext cx="67077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총 </a:t>
            </a:r>
            <a:r>
              <a:rPr lang="en-US" altLang="ko-KR" sz="700" dirty="0">
                <a:solidFill>
                  <a:srgbClr val="0070C0"/>
                </a:solidFill>
                <a:latin typeface="+mn-ea"/>
              </a:rPr>
              <a:t>000</a:t>
            </a:r>
            <a:r>
              <a:rPr lang="ko-KR" altLang="en-US" sz="700" dirty="0">
                <a:latin typeface="+mn-ea"/>
              </a:rPr>
              <a:t>건</a:t>
            </a:r>
            <a:endParaRPr lang="en-US" altLang="ko-KR" sz="700" dirty="0">
              <a:latin typeface="+mn-ea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79731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1" name="그룹 50"/>
          <p:cNvGrpSpPr/>
          <p:nvPr/>
        </p:nvGrpSpPr>
        <p:grpSpPr>
          <a:xfrm>
            <a:off x="767702" y="1934600"/>
            <a:ext cx="2527420" cy="473693"/>
            <a:chOff x="786326" y="2274581"/>
            <a:chExt cx="2527420" cy="473693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786326" y="2481707"/>
              <a:ext cx="2527420" cy="266567"/>
            </a:xfrm>
            <a:prstGeom prst="roundRect">
              <a:avLst>
                <a:gd name="adj" fmla="val 50000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타원 52"/>
            <p:cNvSpPr/>
            <p:nvPr/>
          </p:nvSpPr>
          <p:spPr>
            <a:xfrm>
              <a:off x="3071451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90013" y="2561129"/>
              <a:ext cx="1886364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검색할 내용을 입력하세요</a:t>
              </a:r>
              <a:r>
                <a:rPr lang="en-US" altLang="ko-KR" sz="7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.</a:t>
              </a:r>
              <a:endParaRPr lang="ko-KR" altLang="en-US" sz="7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6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795625" y="2274581"/>
              <a:ext cx="615387" cy="155984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법령명</a:t>
              </a:r>
              <a:endParaRPr kumimoji="1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814969" y="2290708"/>
              <a:ext cx="108000" cy="108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/>
                <a:t>V</a:t>
              </a:r>
              <a:endParaRPr lang="ko-KR" altLang="en-US" sz="600" dirty="0"/>
            </a:p>
          </p:txBody>
        </p:sp>
        <p:sp>
          <p:nvSpPr>
            <p:cNvPr id="58" name="타원 57"/>
            <p:cNvSpPr/>
            <p:nvPr/>
          </p:nvSpPr>
          <p:spPr>
            <a:xfrm>
              <a:off x="2857726" y="2551066"/>
              <a:ext cx="145884" cy="14588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>
              <a:off x="2901631" y="2585953"/>
              <a:ext cx="58075" cy="58074"/>
              <a:chOff x="6812560" y="3297172"/>
              <a:chExt cx="94010" cy="94010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rot="5400000">
                <a:off x="6812560" y="3297172"/>
                <a:ext cx="94010" cy="94010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5399" y="2466568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2621844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64169" y="2580085"/>
            <a:ext cx="359782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b="1" dirty="0">
                <a:latin typeface="+mn-ea"/>
              </a:rPr>
              <a:t>전체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218545" y="2580085"/>
            <a:ext cx="447776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법령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760915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latin typeface="+mn-ea"/>
              </a:rPr>
              <a:t>대통령령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20490" y="2796692"/>
            <a:ext cx="435210" cy="0"/>
          </a:xfrm>
          <a:prstGeom prst="lin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7" name="그룹 86"/>
          <p:cNvGrpSpPr/>
          <p:nvPr/>
        </p:nvGrpSpPr>
        <p:grpSpPr>
          <a:xfrm>
            <a:off x="2924086" y="2541962"/>
            <a:ext cx="422853" cy="187961"/>
            <a:chOff x="3641308" y="2234886"/>
            <a:chExt cx="422853" cy="187961"/>
          </a:xfrm>
        </p:grpSpPr>
        <p:sp>
          <p:nvSpPr>
            <p:cNvPr id="88" name="타원 87"/>
            <p:cNvSpPr/>
            <p:nvPr/>
          </p:nvSpPr>
          <p:spPr>
            <a:xfrm flipH="1">
              <a:off x="3641308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9" name="그룹 88"/>
            <p:cNvGrpSpPr/>
            <p:nvPr/>
          </p:nvGrpSpPr>
          <p:grpSpPr>
            <a:xfrm rot="5400000" flipH="1">
              <a:off x="3679895" y="2305364"/>
              <a:ext cx="94010" cy="47005"/>
              <a:chOff x="6812560" y="3297172"/>
              <a:chExt cx="94010" cy="47005"/>
            </a:xfrm>
          </p:grpSpPr>
          <p:cxnSp>
            <p:nvCxnSpPr>
              <p:cNvPr id="95" name="직선 연결선 94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6" name="직선 연결선 95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90" name="타원 89"/>
            <p:cNvSpPr/>
            <p:nvPr/>
          </p:nvSpPr>
          <p:spPr>
            <a:xfrm>
              <a:off x="3876200" y="2234886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2" name="그룹 91"/>
            <p:cNvGrpSpPr/>
            <p:nvPr/>
          </p:nvGrpSpPr>
          <p:grpSpPr>
            <a:xfrm rot="16200000">
              <a:off x="3931564" y="2305364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94" name="직선 연결선 9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331827" y="2580085"/>
            <a:ext cx="396163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 err="1">
                <a:latin typeface="+mn-ea"/>
              </a:rPr>
              <a:t>부령</a:t>
            </a:r>
            <a:endParaRPr lang="ko-KR" altLang="en-US" sz="700" dirty="0"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53106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297407357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D9DF87B-BE52-25C3-5A23-EA02F4F920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DF8E3FD-B4FB-473B-BCAD-C4534B9A9D97}" type="slidenum">
              <a:rPr lang="ko-KR" altLang="en-US" smtClean="0"/>
              <a:pPr/>
              <a:t>345</a:t>
            </a:fld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75A36F-8CF4-EB9C-5A08-D4ED701E4D30}"/>
              </a:ext>
            </a:extLst>
          </p:cNvPr>
          <p:cNvSpPr txBox="1"/>
          <p:nvPr/>
        </p:nvSpPr>
        <p:spPr>
          <a:xfrm>
            <a:off x="458117" y="572956"/>
            <a:ext cx="78283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</a:rPr>
              <a:t>1. </a:t>
            </a:r>
            <a:r>
              <a:rPr lang="ko-KR" altLang="en-US" sz="1000" b="1" dirty="0">
                <a:solidFill>
                  <a:prstClr val="black"/>
                </a:solidFill>
              </a:rPr>
              <a:t>항목 설명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74C714-DB2B-74A0-19DB-0F8D1DEAF3E0}"/>
              </a:ext>
            </a:extLst>
          </p:cNvPr>
          <p:cNvSpPr txBox="1"/>
          <p:nvPr/>
        </p:nvSpPr>
        <p:spPr>
          <a:xfrm>
            <a:off x="458117" y="803113"/>
            <a:ext cx="2425911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1.1.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검색조건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dirty="0" err="1">
                <a:solidFill>
                  <a:prstClr val="black"/>
                </a:solidFill>
              </a:rPr>
              <a:t>dm</a:t>
            </a:r>
            <a:r>
              <a:rPr lang="en-US" altLang="ko-KR" sz="900" b="0" i="0" dirty="0" err="1">
                <a:effectLst/>
              </a:rPr>
              <a:t>_</a:t>
            </a:r>
            <a:r>
              <a:rPr lang="en-US" altLang="ko-KR" sz="900" b="1" dirty="0" err="1">
                <a:solidFill>
                  <a:prstClr val="black"/>
                </a:solidFill>
              </a:rPr>
              <a:t>searchInfo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545FD0-B8C5-4B98-203E-A36908FB8DD4}"/>
              </a:ext>
            </a:extLst>
          </p:cNvPr>
          <p:cNvSpPr txBox="1"/>
          <p:nvPr/>
        </p:nvSpPr>
        <p:spPr>
          <a:xfrm>
            <a:off x="452999" y="3963863"/>
            <a:ext cx="911074" cy="226591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1000" b="1" dirty="0">
                <a:solidFill>
                  <a:prstClr val="black"/>
                </a:solidFill>
                <a:latin typeface="+mn-ea"/>
              </a:rPr>
              <a:t>2.</a:t>
            </a:r>
            <a:r>
              <a:rPr lang="ko-KR" altLang="en-US" sz="1000" b="1" dirty="0">
                <a:solidFill>
                  <a:prstClr val="black"/>
                </a:solidFill>
                <a:latin typeface="+mn-ea"/>
              </a:rPr>
              <a:t> 이벤트 설명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358D31-792E-1F31-CE2A-A2AE122E42CC}"/>
              </a:ext>
            </a:extLst>
          </p:cNvPr>
          <p:cNvSpPr txBox="1"/>
          <p:nvPr/>
        </p:nvSpPr>
        <p:spPr>
          <a:xfrm>
            <a:off x="458117" y="1885461"/>
            <a:ext cx="2433927" cy="211203"/>
          </a:xfrm>
          <a:prstGeom prst="rect">
            <a:avLst/>
          </a:prstGeom>
          <a:noFill/>
        </p:spPr>
        <p:txBody>
          <a:bodyPr wrap="none" lIns="36000" tIns="36000" rIns="36000" bIns="36000" rtlCol="0">
            <a:spAutoFit/>
          </a:bodyPr>
          <a:lstStyle/>
          <a:p>
            <a:r>
              <a:rPr lang="en-US" altLang="ko-KR" sz="900" b="1" dirty="0">
                <a:solidFill>
                  <a:prstClr val="black"/>
                </a:solidFill>
              </a:rPr>
              <a:t>1.2. </a:t>
            </a:r>
            <a:r>
              <a:rPr lang="ko-KR" altLang="en-US" sz="900" b="1" dirty="0">
                <a:solidFill>
                  <a:prstClr val="black"/>
                </a:solidFill>
              </a:rPr>
              <a:t>법령정보조회</a:t>
            </a:r>
            <a:r>
              <a:rPr lang="en-US" altLang="ko-KR" sz="900" b="1" dirty="0">
                <a:solidFill>
                  <a:prstClr val="black"/>
                </a:solidFill>
              </a:rPr>
              <a:t> </a:t>
            </a:r>
            <a:r>
              <a:rPr lang="ko-KR" altLang="en-US" sz="900" b="1" dirty="0">
                <a:solidFill>
                  <a:prstClr val="black"/>
                </a:solidFill>
              </a:rPr>
              <a:t>데이터 영역 </a:t>
            </a:r>
            <a:r>
              <a:rPr lang="en-US" altLang="ko-KR" sz="900" b="1" dirty="0">
                <a:solidFill>
                  <a:prstClr val="black"/>
                </a:solidFill>
              </a:rPr>
              <a:t>(</a:t>
            </a:r>
            <a:r>
              <a:rPr lang="en-US" altLang="ko-KR" sz="900" b="1" i="0" dirty="0" err="1">
                <a:effectLst/>
              </a:rPr>
              <a:t>dl_resultList</a:t>
            </a:r>
            <a:r>
              <a:rPr lang="en-US" altLang="ko-KR" sz="900" b="1" dirty="0">
                <a:solidFill>
                  <a:prstClr val="black"/>
                </a:solidFill>
              </a:rPr>
              <a:t>)</a:t>
            </a:r>
            <a:endParaRPr lang="ko-KR" altLang="en-US" sz="900" b="1" dirty="0">
              <a:solidFill>
                <a:prstClr val="black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6CD30E0B-FD0E-6A3E-85E1-627E1B18EA16}"/>
              </a:ext>
            </a:extLst>
          </p:cNvPr>
          <p:cNvGraphicFramePr>
            <a:graphicFrameLocks noGrp="1"/>
          </p:cNvGraphicFramePr>
          <p:nvPr/>
        </p:nvGraphicFramePr>
        <p:xfrm>
          <a:off x="452999" y="1014316"/>
          <a:ext cx="8994883" cy="7036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4252529446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85872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입력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7930393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31F6A43-1297-CF99-ABFA-B1F80565E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0553618"/>
              </p:ext>
            </p:extLst>
          </p:nvPr>
        </p:nvGraphicFramePr>
        <p:xfrm>
          <a:off x="453000" y="4156535"/>
          <a:ext cx="8995591" cy="1457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6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4235">
                  <a:extLst>
                    <a:ext uri="{9D8B030D-6E8A-4147-A177-3AD203B41FA5}">
                      <a16:colId xmlns:a16="http://schemas.microsoft.com/office/drawing/2014/main" val="624624882"/>
                    </a:ext>
                  </a:extLst>
                </a:gridCol>
                <a:gridCol w="36973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97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이벤트명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On-Load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scwin</a:t>
                      </a:r>
                      <a:r>
                        <a:rPr lang="en-US" altLang="ko-KR" sz="800" b="0" i="0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.onpageload</a:t>
                      </a:r>
                      <a:endParaRPr lang="ko-KR" altLang="en-US" sz="800" dirty="0">
                        <a:latin typeface="+mn-lt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공통코드 정보를 </a:t>
                      </a:r>
                      <a:r>
                        <a:rPr lang="ko-KR" altLang="en-US" sz="800" dirty="0" err="1"/>
                        <a:t>로드한다</a:t>
                      </a:r>
                      <a:r>
                        <a:rPr lang="en-US" altLang="ko-KR" sz="800" dirty="0"/>
                        <a:t>.</a:t>
                      </a:r>
                    </a:p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법령구분은 전체로 설정한다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87313" indent="-87313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3163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scwin.grd_sttList_oncellclick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검색조건에 부합하는 데이터가 조회된다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법령정보목록조회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/>
                        <a:t>항목 클릭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scwin.grd_sttUrl_oncellclick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해당 법령의 링크화면으로 이동한다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indent="-171450" algn="l" latinLnBrk="1">
                        <a:buFont typeface="Arial" panose="020B0604020202020204" pitchFamily="34" charset="0"/>
                        <a:buChar char="•"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5805331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ko-KR" altLang="en-US" sz="800" dirty="0"/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scwin.grd_sttItrst_oncellclick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 및 즐겨찾기 해제를 진행한다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법령정보즐겨찾기등록</a:t>
                      </a:r>
                      <a:endParaRPr lang="en-US" altLang="ko-KR" sz="8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9770014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969C2BD-BAE7-E4E1-6BA5-91005212D745}"/>
              </a:ext>
            </a:extLst>
          </p:cNvPr>
          <p:cNvGraphicFramePr>
            <a:graphicFrameLocks noGrp="1"/>
          </p:cNvGraphicFramePr>
          <p:nvPr/>
        </p:nvGraphicFramePr>
        <p:xfrm>
          <a:off x="452998" y="2092852"/>
          <a:ext cx="8994883" cy="1819584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1124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4360">
                  <a:extLst>
                    <a:ext uri="{9D8B030D-6E8A-4147-A177-3AD203B41FA5}">
                      <a16:colId xmlns:a16="http://schemas.microsoft.com/office/drawing/2014/main" val="3427634697"/>
                    </a:ext>
                  </a:extLst>
                </a:gridCol>
                <a:gridCol w="29982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97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47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487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항목명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strike="noStrike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strike="noStrike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속성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자리수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2)</a:t>
                      </a:r>
                      <a:endParaRPr lang="ko-KR" altLang="en-US" sz="800" b="1" baseline="300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순번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2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</a:rPr>
                        <a:t>법령정보 목록 순번</a:t>
                      </a:r>
                      <a:endParaRPr lang="en-US" altLang="ko-KR" sz="80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법령구분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sttType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</a:rPr>
                        <a:t>법령구분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법령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대통령령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부령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조례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행정규칙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훈령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예규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지침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공고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임의법령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43934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법령약어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sttAbbrNm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법령약어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6776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법령명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sttNm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 err="1">
                          <a:latin typeface="+mn-ea"/>
                        </a:rPr>
                        <a:t>법령명</a:t>
                      </a:r>
                      <a:r>
                        <a:rPr lang="ko-KR" altLang="en-US" sz="800" dirty="0">
                          <a:latin typeface="+mn-ea"/>
                        </a:rPr>
                        <a:t>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658643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sttEnfcYmd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시행일자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7724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sttUrl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ase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링크 </a:t>
                      </a: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검색결과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500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57076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즐겨찾기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sttItrst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즐겨찾기유무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선택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69109270"/>
                  </a:ext>
                </a:extLst>
              </a:tr>
            </a:tbl>
          </a:graphicData>
        </a:graphic>
      </p:graphicFrame>
      <p:sp>
        <p:nvSpPr>
          <p:cNvPr id="7" name="Text Box 73">
            <a:extLst>
              <a:ext uri="{FF2B5EF4-FFF2-40B4-BE49-F238E27FC236}">
                <a16:creationId xmlns:a16="http://schemas.microsoft.com/office/drawing/2014/main" id="{955ED537-3CA0-2A94-77BF-1AD1B2F73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866" y="4028701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893F1C-1BC1-9154-4086-3AB9A54D9213}"/>
              </a:ext>
            </a:extLst>
          </p:cNvPr>
          <p:cNvGrpSpPr/>
          <p:nvPr/>
        </p:nvGrpSpPr>
        <p:grpSpPr>
          <a:xfrm>
            <a:off x="5876485" y="634871"/>
            <a:ext cx="3648515" cy="226591"/>
            <a:chOff x="5876485" y="572956"/>
            <a:chExt cx="3648515" cy="22659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5FDBB44-DC81-7EBC-28F5-AEF594630BC7}"/>
                </a:ext>
              </a:extLst>
            </p:cNvPr>
            <p:cNvSpPr/>
            <p:nvPr/>
          </p:nvSpPr>
          <p:spPr>
            <a:xfrm>
              <a:off x="6367463" y="572956"/>
              <a:ext cx="3157537" cy="226591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</a:endParaRPr>
            </a:p>
          </p:txBody>
        </p:sp>
        <p:sp>
          <p:nvSpPr>
            <p:cNvPr id="14" name="Text Box 73">
              <a:extLst>
                <a:ext uri="{FF2B5EF4-FFF2-40B4-BE49-F238E27FC236}">
                  <a16:creationId xmlns:a16="http://schemas.microsoft.com/office/drawing/2014/main" id="{8D1325CC-9FA9-0D81-6E38-0B5C4CDC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6485" y="632390"/>
              <a:ext cx="3571398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1)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속성 </a:t>
              </a:r>
              <a:r>
                <a:rPr lang="en-US" altLang="ko-KR" sz="700" dirty="0">
                  <a:solidFill>
                    <a:prstClr val="black"/>
                  </a:solidFill>
                  <a:latin typeface="+mn-ea"/>
                </a:rPr>
                <a:t>R:ReadOnly  E:Editable  H:Hidden     2) </a:t>
              </a:r>
              <a:r>
                <a:rPr lang="ko-KR" altLang="en-US" sz="700" dirty="0">
                  <a:solidFill>
                    <a:prstClr val="black"/>
                  </a:solidFill>
                  <a:latin typeface="+mn-ea"/>
                </a:rPr>
                <a:t>상세설계 기간에 작성 예정</a:t>
              </a:r>
              <a:endParaRPr lang="en-US" altLang="ko-KR" sz="700" dirty="0">
                <a:solidFill>
                  <a:prstClr val="black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705279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8" y="612000"/>
            <a:ext cx="8991601" cy="847274"/>
          </a:xfrm>
        </p:spPr>
        <p:txBody>
          <a:bodyPr anchor="t"/>
          <a:lstStyle/>
          <a:p>
            <a:r>
              <a:rPr lang="en-US" altLang="ko-KR" dirty="0"/>
              <a:t>4. </a:t>
            </a:r>
            <a:r>
              <a:rPr lang="ko-KR" altLang="en-US" dirty="0"/>
              <a:t>인증센터 메뉴</a:t>
            </a:r>
            <a:endParaRPr lang="en-US" altLang="ko-KR" dirty="0"/>
          </a:p>
          <a:p>
            <a:r>
              <a:rPr lang="en-US" altLang="ko-KR" dirty="0"/>
              <a:t>4.1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8290680"/>
              </p:ext>
            </p:extLst>
          </p:nvPr>
        </p:nvGraphicFramePr>
        <p:xfrm>
          <a:off x="635474" y="1413419"/>
          <a:ext cx="8701200" cy="2528625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77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53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95825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웹페이지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 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MUI-CM-04-M13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인증센터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CertMngPage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MUI-CM-04-M14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인증서관리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보유하고 있는 인증서 목록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CrtfMngPage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UC-ZZ-10-04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MUI-CM-04-P15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dirty="0" err="1" smtClean="0">
                          <a:latin typeface="+mn-ea"/>
                          <a:ea typeface="+mn-ea"/>
                        </a:rPr>
                        <a:t>인증서삭제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관리 화면에서 인증서 선택 삭제 팝업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CrtfDelPage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696522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MUI-CM-04-M16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인증서가져오기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→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CrtfReceivePage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7373192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MUI-CM-04-M17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인증서내보내기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모바일  →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PC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복사 기능 및 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172525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MUI-CM-04-P18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인증서비밀번호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인증서 비밀번호 확인 팝업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CrtfPswd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1515266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MUI-CM-04-P19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인증성공</a:t>
                      </a:r>
                      <a:r>
                        <a:rPr kumimoji="0" lang="en-US" altLang="ko-KR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실패메시지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CrtfInfoMsg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성공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실패 메시지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스마트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PKI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메시지  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crtfSend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CrtfInfo</a:t>
                      </a:r>
                      <a:r>
                        <a:rPr lang="en-US" altLang="ko-KR" sz="8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UC-ZZ-01-02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0572186"/>
                  </a:ext>
                </a:extLst>
              </a:tr>
            </a:tbl>
          </a:graphicData>
        </a:graphic>
      </p:graphicFrame>
      <p:sp>
        <p:nvSpPr>
          <p:cNvPr id="6" name="Text Box 73">
            <a:extLst>
              <a:ext uri="{FF2B5EF4-FFF2-40B4-BE49-F238E27FC236}">
                <a16:creationId xmlns:a16="http://schemas.microsoft.com/office/drawing/2014/main" id="{AD7ECE73-1C00-0BE7-EBF7-4F2FAD6CF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975196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5233387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347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4.2. </a:t>
            </a:r>
            <a:r>
              <a:rPr lang="ko-KR" altLang="en-US" dirty="0"/>
              <a:t>화면 흐름도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2366608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인증센터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56C95A-5B12-C9E0-F2B5-BC9D5BAB5422}"/>
              </a:ext>
            </a:extLst>
          </p:cNvPr>
          <p:cNvGrpSpPr/>
          <p:nvPr/>
        </p:nvGrpSpPr>
        <p:grpSpPr>
          <a:xfrm>
            <a:off x="1228614" y="1682964"/>
            <a:ext cx="237994" cy="316983"/>
            <a:chOff x="4762389" y="1663914"/>
            <a:chExt cx="237994" cy="316983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65003F43-FF09-9E6F-5743-EDAC953723CE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89742BB0-8FB4-9410-125F-B3304E0DFFA4}"/>
                </a:ext>
              </a:extLst>
            </p:cNvPr>
            <p:cNvSpPr/>
            <p:nvPr/>
          </p:nvSpPr>
          <p:spPr>
            <a:xfrm>
              <a:off x="4762389" y="185778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" idx="6"/>
            <a:endCxn id="6" idx="1"/>
          </p:cNvCxnSpPr>
          <p:nvPr/>
        </p:nvCxnSpPr>
        <p:spPr>
          <a:xfrm>
            <a:off x="1435474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1173151" y="1536362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617D047-5413-1F47-3FD7-CCCD3C0C98ED}"/>
              </a:ext>
            </a:extLst>
          </p:cNvPr>
          <p:cNvSpPr/>
          <p:nvPr/>
        </p:nvSpPr>
        <p:spPr>
          <a:xfrm>
            <a:off x="758775" y="1231161"/>
            <a:ext cx="586699" cy="153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목록</a:t>
            </a:r>
            <a:r>
              <a:rPr lang="en-US" altLang="ko-KR" sz="1000" b="1" dirty="0">
                <a:solidFill>
                  <a:schemeClr val="tx1"/>
                </a:solidFill>
              </a:rPr>
              <a:t> </a:t>
            </a:r>
            <a:r>
              <a:rPr lang="ko-KR" altLang="en-US" sz="1000" b="1" dirty="0">
                <a:solidFill>
                  <a:schemeClr val="tx1"/>
                </a:solidFill>
              </a:rPr>
              <a:t>작성</a:t>
            </a:r>
            <a:r>
              <a:rPr lang="en-US" altLang="ko-KR" sz="1000" b="1" dirty="0">
                <a:solidFill>
                  <a:schemeClr val="tx1"/>
                </a:solidFill>
              </a:rPr>
              <a:t>.</a:t>
            </a:r>
            <a:endParaRPr lang="ko-KR" altLang="en-US" sz="1000" b="1" dirty="0">
              <a:solidFill>
                <a:schemeClr val="tx1"/>
              </a:solidFill>
            </a:endParaRPr>
          </a:p>
        </p:txBody>
      </p:sp>
      <p:sp>
        <p:nvSpPr>
          <p:cNvPr id="22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관리</a:t>
            </a:r>
          </a:p>
        </p:txBody>
      </p:sp>
      <p:sp>
        <p:nvSpPr>
          <p:cNvPr id="2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인증서 가져오기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(PC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Mobile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6" idx="3"/>
            <a:endCxn id="22" idx="1"/>
          </p:cNvCxnSpPr>
          <p:nvPr/>
        </p:nvCxnSpPr>
        <p:spPr>
          <a:xfrm>
            <a:off x="3266608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비밀번호 확인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endCxn id="34" idx="1"/>
          </p:cNvCxnSpPr>
          <p:nvPr/>
        </p:nvCxnSpPr>
        <p:spPr>
          <a:xfrm>
            <a:off x="5092692" y="2451750"/>
            <a:ext cx="93618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4197742" y="2986536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내보내기</a:t>
            </a:r>
            <a:endParaRPr lang="en-US" altLang="ko-KR" sz="800" dirty="0">
              <a:solidFill>
                <a:schemeClr val="tx1"/>
              </a:solidFill>
            </a:endParaRPr>
          </a:p>
          <a:p>
            <a:pPr algn="ctr"/>
            <a:r>
              <a:rPr lang="en-US" altLang="ko-KR" sz="700" dirty="0">
                <a:solidFill>
                  <a:schemeClr val="tx1"/>
                </a:solidFill>
              </a:rPr>
              <a:t>(Mobile </a:t>
            </a:r>
            <a:r>
              <a:rPr lang="en-US" altLang="ko-KR" sz="700" dirty="0">
                <a:solidFill>
                  <a:schemeClr val="tx1"/>
                </a:solidFill>
                <a:sym typeface="Wingdings" panose="05000000000000000000" pitchFamily="2" charset="2"/>
              </a:rPr>
              <a:t> PC</a:t>
            </a:r>
            <a:r>
              <a:rPr lang="en-US" altLang="ko-KR" sz="700" dirty="0">
                <a:solidFill>
                  <a:schemeClr val="tx1"/>
                </a:solidFill>
              </a:rPr>
              <a:t>)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B9FCCA-B5F3-C0E2-F563-4F0CE0FC24CF}"/>
              </a:ext>
            </a:extLst>
          </p:cNvPr>
          <p:cNvSpPr/>
          <p:nvPr/>
        </p:nvSpPr>
        <p:spPr>
          <a:xfrm>
            <a:off x="9220330" y="2558007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E7279F6C-9434-7961-8F6B-B7AE44CE5FCD}"/>
              </a:ext>
            </a:extLst>
          </p:cNvPr>
          <p:cNvGrpSpPr/>
          <p:nvPr/>
        </p:nvGrpSpPr>
        <p:grpSpPr>
          <a:xfrm>
            <a:off x="9249327" y="2361749"/>
            <a:ext cx="180000" cy="180000"/>
            <a:chOff x="5058274" y="2498299"/>
            <a:chExt cx="180000" cy="180000"/>
          </a:xfrm>
        </p:grpSpPr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67DBC56A-CBCC-C3A1-2B65-581D8735D2FA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63C46758-AEBC-A78C-E468-C4FFF5E2B33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24" idx="1"/>
          </p:cNvCxnSpPr>
          <p:nvPr/>
        </p:nvCxnSpPr>
        <p:spPr>
          <a:xfrm>
            <a:off x="3266608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6" idx="3"/>
            <a:endCxn id="91" idx="1"/>
          </p:cNvCxnSpPr>
          <p:nvPr/>
        </p:nvCxnSpPr>
        <p:spPr>
          <a:xfrm>
            <a:off x="3266608" y="1772964"/>
            <a:ext cx="931134" cy="1357572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6028876" y="1628964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인증서 삭제</a:t>
            </a:r>
          </a:p>
        </p:txBody>
      </p: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22" idx="3"/>
            <a:endCxn id="71" idx="1"/>
          </p:cNvCxnSpPr>
          <p:nvPr/>
        </p:nvCxnSpPr>
        <p:spPr>
          <a:xfrm>
            <a:off x="5097742" y="1772964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91" idx="3"/>
            <a:endCxn id="34" idx="1"/>
          </p:cNvCxnSpPr>
          <p:nvPr/>
        </p:nvCxnSpPr>
        <p:spPr>
          <a:xfrm flipV="1">
            <a:off x="5097742" y="2451750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34" idx="3"/>
            <a:endCxn id="90" idx="1"/>
          </p:cNvCxnSpPr>
          <p:nvPr/>
        </p:nvCxnSpPr>
        <p:spPr>
          <a:xfrm>
            <a:off x="6928876" y="2451750"/>
            <a:ext cx="931134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사각형: 둥근 모서리 5">
            <a:extLst>
              <a:ext uri="{FF2B5EF4-FFF2-40B4-BE49-F238E27FC236}">
                <a16:creationId xmlns:a16="http://schemas.microsoft.com/office/drawing/2014/main" id="{410E5459-200D-7630-863C-88E5109259DF}"/>
              </a:ext>
            </a:extLst>
          </p:cNvPr>
          <p:cNvSpPr/>
          <p:nvPr/>
        </p:nvSpPr>
        <p:spPr>
          <a:xfrm>
            <a:off x="7860010" y="2307750"/>
            <a:ext cx="90000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인증 성공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실패 메시지</a:t>
            </a:r>
          </a:p>
        </p:txBody>
      </p:sp>
      <p:cxnSp>
        <p:nvCxnSpPr>
          <p:cNvPr id="93" name="연결선: 꺾임 7">
            <a:extLst>
              <a:ext uri="{FF2B5EF4-FFF2-40B4-BE49-F238E27FC236}">
                <a16:creationId xmlns:a16="http://schemas.microsoft.com/office/drawing/2014/main" id="{89A2D828-4C18-4F90-6B31-722E89773AA8}"/>
              </a:ext>
            </a:extLst>
          </p:cNvPr>
          <p:cNvCxnSpPr>
            <a:cxnSpLocks/>
            <a:stCxn id="71" idx="3"/>
            <a:endCxn id="90" idx="1"/>
          </p:cNvCxnSpPr>
          <p:nvPr/>
        </p:nvCxnSpPr>
        <p:spPr>
          <a:xfrm>
            <a:off x="6928876" y="1772964"/>
            <a:ext cx="931134" cy="678786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9A519F08-B829-E35F-09D8-DFCD1F68B911}"/>
              </a:ext>
            </a:extLst>
          </p:cNvPr>
          <p:cNvCxnSpPr>
            <a:cxnSpLocks/>
            <a:stCxn id="90" idx="3"/>
            <a:endCxn id="104" idx="2"/>
          </p:cNvCxnSpPr>
          <p:nvPr/>
        </p:nvCxnSpPr>
        <p:spPr>
          <a:xfrm flipV="1">
            <a:off x="8760010" y="2451749"/>
            <a:ext cx="489317" cy="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249990F-1DE5-C694-BDBD-2DE7009D57EA}"/>
              </a:ext>
            </a:extLst>
          </p:cNvPr>
          <p:cNvSpPr/>
          <p:nvPr/>
        </p:nvSpPr>
        <p:spPr>
          <a:xfrm>
            <a:off x="5128876" y="2307750"/>
            <a:ext cx="54983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>
                <a:solidFill>
                  <a:schemeClr val="tx1"/>
                </a:solidFill>
              </a:rPr>
              <a:t>가져온 이후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898478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001FFA-599C-959F-11FF-54498DB5D01F}"/>
              </a:ext>
            </a:extLst>
          </p:cNvPr>
          <p:cNvSpPr/>
          <p:nvPr/>
        </p:nvSpPr>
        <p:spPr>
          <a:xfrm>
            <a:off x="6266873" y="1283855"/>
            <a:ext cx="27432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DDF51E2-AA54-3898-F986-0D5FDFD8B700}"/>
              </a:ext>
            </a:extLst>
          </p:cNvPr>
          <p:cNvSpPr/>
          <p:nvPr/>
        </p:nvSpPr>
        <p:spPr>
          <a:xfrm>
            <a:off x="895927" y="1283855"/>
            <a:ext cx="5181600" cy="5058222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348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FD7B626-4B5C-AE29-EFB9-628750B32B78}"/>
              </a:ext>
            </a:extLst>
          </p:cNvPr>
          <p:cNvSpPr/>
          <p:nvPr/>
        </p:nvSpPr>
        <p:spPr>
          <a:xfrm>
            <a:off x="1265382" y="1644140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>
                <a:solidFill>
                  <a:schemeClr val="tx1"/>
                </a:solidFill>
                <a:latin typeface="+mn-ea"/>
              </a:rPr>
              <a:t>인증센터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CertMngPage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F2CFBC-290B-2E89-63C0-62C22747051D}"/>
              </a:ext>
            </a:extLst>
          </p:cNvPr>
          <p:cNvSpPr/>
          <p:nvPr/>
        </p:nvSpPr>
        <p:spPr>
          <a:xfrm>
            <a:off x="1265382" y="2090735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70000" lnSpcReduction="20000"/>
          </a:bodyPr>
          <a:lstStyle/>
          <a:p>
            <a:pPr algn="ctr"/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000" dirty="0" err="1" smtClean="0">
                <a:solidFill>
                  <a:schemeClr val="tx1"/>
                </a:solidFill>
                <a:latin typeface="+mn-ea"/>
              </a:rPr>
              <a:t>인증서관리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CrtfMngPage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538442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7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700" dirty="0" err="1" smtClean="0">
                <a:solidFill>
                  <a:schemeClr val="tx1"/>
                </a:solidFill>
                <a:latin typeface="+mn-ea"/>
              </a:rPr>
              <a:t>인증서삭제</a:t>
            </a:r>
            <a:endParaRPr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800" dirty="0" err="1">
                <a:solidFill>
                  <a:schemeClr val="tx1"/>
                </a:solidFill>
                <a:latin typeface="Calibri" panose="020F0502020204030204" pitchFamily="34" charset="0"/>
              </a:rPr>
              <a:t>CrtfDelPage</a:t>
            </a:r>
            <a:r>
              <a:rPr lang="en-US" altLang="ko-KR" sz="700" dirty="0" err="1">
                <a:solidFill>
                  <a:schemeClr val="tx1"/>
                </a:solidFill>
              </a:rPr>
              <a:t>.tsx</a:t>
            </a:r>
            <a:r>
              <a:rPr lang="en-US" altLang="ko-KR" sz="7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E6CF8B0-B538-B16B-F0EB-F1F49287D1E5}"/>
              </a:ext>
            </a:extLst>
          </p:cNvPr>
          <p:cNvSpPr/>
          <p:nvPr/>
        </p:nvSpPr>
        <p:spPr>
          <a:xfrm>
            <a:off x="6913418" y="2747194"/>
            <a:ext cx="1727200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/>
          </a:bodyPr>
          <a:lstStyle/>
          <a:p>
            <a:pPr algn="ctr"/>
            <a:r>
              <a:rPr lang="en-US" altLang="ko-KR" sz="900" dirty="0" smtClean="0"/>
              <a:t>&lt;&lt;</a:t>
            </a:r>
            <a:r>
              <a:rPr lang="ko-KR" altLang="en-US" sz="900" dirty="0" err="1"/>
              <a:t>외부솔루션</a:t>
            </a:r>
            <a:r>
              <a:rPr lang="ko-KR" altLang="en-US" sz="900" dirty="0"/>
              <a:t> </a:t>
            </a:r>
            <a:r>
              <a:rPr lang="en-US" altLang="ko-KR" sz="900" dirty="0" smtClean="0"/>
              <a:t>Controller&gt;&gt;</a:t>
            </a:r>
            <a:endParaRPr lang="en-US" altLang="ko-KR" sz="9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8DD2481F-89D8-25C0-6E6F-7535C857EB4B}"/>
              </a:ext>
            </a:extLst>
          </p:cNvPr>
          <p:cNvCxnSpPr>
            <a:stCxn id="6" idx="3"/>
            <a:endCxn id="9" idx="1"/>
          </p:cNvCxnSpPr>
          <p:nvPr/>
        </p:nvCxnSpPr>
        <p:spPr>
          <a:xfrm>
            <a:off x="2992582" y="1830843"/>
            <a:ext cx="967509" cy="11593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AF6B56CB-1ACF-E509-9762-CFE025648775}"/>
              </a:ext>
            </a:extLst>
          </p:cNvPr>
          <p:cNvCxnSpPr>
            <a:cxnSpLocks/>
            <a:stCxn id="7" idx="3"/>
            <a:endCxn id="9" idx="1"/>
          </p:cNvCxnSpPr>
          <p:nvPr/>
        </p:nvCxnSpPr>
        <p:spPr>
          <a:xfrm>
            <a:off x="2992582" y="2277438"/>
            <a:ext cx="967509" cy="7127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8" idx="3"/>
            <a:endCxn id="9" idx="1"/>
          </p:cNvCxnSpPr>
          <p:nvPr/>
        </p:nvCxnSpPr>
        <p:spPr>
          <a:xfrm>
            <a:off x="2992582" y="2725145"/>
            <a:ext cx="967509" cy="26502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A8B10782-0A07-A41D-DB15-978B72410A31}"/>
              </a:ext>
            </a:extLst>
          </p:cNvPr>
          <p:cNvCxnSpPr>
            <a:stCxn id="9" idx="3"/>
            <a:endCxn id="10" idx="1"/>
          </p:cNvCxnSpPr>
          <p:nvPr/>
        </p:nvCxnSpPr>
        <p:spPr>
          <a:xfrm>
            <a:off x="5687291" y="2990174"/>
            <a:ext cx="122612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" name="Text Box 73">
            <a:extLst>
              <a:ext uri="{FF2B5EF4-FFF2-40B4-BE49-F238E27FC236}">
                <a16:creationId xmlns:a16="http://schemas.microsoft.com/office/drawing/2014/main" id="{76C9ABC8-A4D3-5907-4020-49C93E468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694" y="1136459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296238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인증서가져오기</a:t>
            </a:r>
            <a:endParaRPr lang="ko-KR" altLang="en-US" sz="10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CrtfReceivePage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37600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인증서내보내기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CrtfSendPage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3789616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</a:rPr>
              <a:t>인증서비밀번호확인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CrtfPswd</a:t>
            </a:r>
            <a:r>
              <a:rPr lang="en-US" altLang="ko-KR" sz="1000" dirty="0" err="1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  <p:cxnSp>
        <p:nvCxnSpPr>
          <p:cNvPr id="32" name="직선 화살표 연결선 31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18" idx="3"/>
            <a:endCxn id="9" idx="1"/>
          </p:cNvCxnSpPr>
          <p:nvPr/>
        </p:nvCxnSpPr>
        <p:spPr>
          <a:xfrm flipV="1">
            <a:off x="2992582" y="2990174"/>
            <a:ext cx="967509" cy="1589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0" idx="3"/>
            <a:endCxn id="9" idx="1"/>
          </p:cNvCxnSpPr>
          <p:nvPr/>
        </p:nvCxnSpPr>
        <p:spPr>
          <a:xfrm flipV="1">
            <a:off x="2992582" y="2990174"/>
            <a:ext cx="967509" cy="5725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418E1257-E5C2-5705-1378-45505004ABAF}"/>
              </a:ext>
            </a:extLst>
          </p:cNvPr>
          <p:cNvCxnSpPr>
            <a:cxnSpLocks/>
            <a:stCxn id="22" idx="3"/>
            <a:endCxn id="9" idx="1"/>
          </p:cNvCxnSpPr>
          <p:nvPr/>
        </p:nvCxnSpPr>
        <p:spPr>
          <a:xfrm flipV="1">
            <a:off x="2992582" y="2990174"/>
            <a:ext cx="967509" cy="98614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26CB017-8967-4DC4-0EAD-ADB3B9EAB841}"/>
              </a:ext>
            </a:extLst>
          </p:cNvPr>
          <p:cNvSpPr/>
          <p:nvPr/>
        </p:nvSpPr>
        <p:spPr>
          <a:xfrm>
            <a:off x="1265382" y="4203231"/>
            <a:ext cx="1727200" cy="373406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62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000" dirty="0">
                <a:solidFill>
                  <a:schemeClr val="tx1"/>
                </a:solidFill>
              </a:rPr>
              <a:t>&lt;&lt;App Page&gt;&gt;</a:t>
            </a:r>
          </a:p>
          <a:p>
            <a:pPr algn="ctr">
              <a:lnSpc>
                <a:spcPct val="120000"/>
              </a:lnSpc>
            </a:pP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인증성공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</a:rPr>
              <a:t>,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</a:rPr>
              <a:t>실패안내</a:t>
            </a:r>
            <a:endParaRPr lang="en-US" altLang="ko-KR" sz="1000" dirty="0">
              <a:solidFill>
                <a:schemeClr val="tx1"/>
              </a:solidFill>
            </a:endParaRPr>
          </a:p>
          <a:p>
            <a:pPr algn="ctr">
              <a:lnSpc>
                <a:spcPct val="120000"/>
              </a:lnSpc>
            </a:pPr>
            <a:r>
              <a:rPr lang="en-US" altLang="ko-KR" sz="1000" dirty="0" err="1">
                <a:solidFill>
                  <a:schemeClr val="tx1"/>
                </a:solidFill>
                <a:latin typeface="Calibri" panose="020F0502020204030204" pitchFamily="34" charset="0"/>
              </a:rPr>
              <a:t>CrtfInfoMsg</a:t>
            </a:r>
            <a:r>
              <a:rPr lang="en-US" altLang="ko-KR" sz="1000" dirty="0" err="1" smtClean="0">
                <a:solidFill>
                  <a:schemeClr val="tx1"/>
                </a:solidFill>
              </a:rPr>
              <a:t>.tsx</a:t>
            </a:r>
            <a:r>
              <a:rPr lang="en-US" altLang="ko-KR" sz="1000" b="1" baseline="30000" dirty="0" smtClean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b="1" baseline="30000" dirty="0">
                <a:solidFill>
                  <a:schemeClr val="tx1"/>
                </a:solidFill>
                <a:latin typeface="+mn-ea"/>
              </a:rPr>
              <a:t>1)</a:t>
            </a:r>
            <a:endParaRPr lang="en-US" altLang="ko-KR" sz="10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8399349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인증센터는</a:t>
            </a:r>
            <a:r>
              <a:rPr lang="en-US" altLang="ko-KR" dirty="0"/>
              <a:t> </a:t>
            </a:r>
            <a:r>
              <a:rPr lang="ko-KR" altLang="en-US" dirty="0" smtClean="0"/>
              <a:t>한국정보인증 스마트 </a:t>
            </a:r>
            <a:r>
              <a:rPr lang="en-US" altLang="ko-KR" dirty="0" smtClean="0"/>
              <a:t>PKI</a:t>
            </a:r>
            <a:r>
              <a:rPr lang="ko-KR" altLang="en-US" dirty="0"/>
              <a:t> 솔루션을 사용함</a:t>
            </a:r>
            <a:r>
              <a:rPr lang="en-US" altLang="ko-KR" dirty="0"/>
              <a:t>.</a:t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err="1"/>
              <a:t>SmartPKI</a:t>
            </a:r>
            <a:r>
              <a:rPr lang="en-US" altLang="ko-KR" dirty="0"/>
              <a:t> </a:t>
            </a:r>
            <a:r>
              <a:rPr lang="en-US" altLang="ko-KR" dirty="0" smtClean="0"/>
              <a:t>v2.2.5_AOS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 smtClean="0"/>
              <a:t>- </a:t>
            </a:r>
            <a:r>
              <a:rPr lang="ko-KR" altLang="en-US" dirty="0" smtClean="0"/>
              <a:t>개발자 </a:t>
            </a:r>
            <a:r>
              <a:rPr lang="en-US" altLang="ko-KR" dirty="0" smtClean="0"/>
              <a:t>SDK </a:t>
            </a:r>
            <a:r>
              <a:rPr lang="en-US" altLang="ko-KR" u="sng" dirty="0" smtClean="0">
                <a:hlinkClick r:id="rId2"/>
              </a:rPr>
              <a:t>http</a:t>
            </a:r>
            <a:r>
              <a:rPr lang="en-US" altLang="ko-KR" u="sng" dirty="0">
                <a:hlinkClick r:id="rId2"/>
              </a:rPr>
              <a:t>://developer.android.com/sdk/index.html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en-US" altLang="ko-KR" dirty="0" smtClean="0"/>
              <a:t>SmartPKI_v2.3.2_iOS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매뉴얼 확인 필요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인증서 관리 </a:t>
            </a:r>
            <a:r>
              <a:rPr lang="en-US" altLang="ko-KR" dirty="0"/>
              <a:t>MUI-CM-04-M14</a:t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 smtClean="0"/>
              <a:t>인증서 가져오기 </a:t>
            </a:r>
            <a:r>
              <a:rPr lang="en-US" altLang="ko-KR" dirty="0" smtClean="0"/>
              <a:t>MUI-CM-04-M16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인증서내보내기 </a:t>
            </a:r>
            <a:r>
              <a:rPr lang="en-US" altLang="ko-KR" dirty="0"/>
              <a:t>MUI-CM-04-M17</a:t>
            </a:r>
            <a:endParaRPr lang="en-US" altLang="ko-KR" dirty="0" smtClean="0"/>
          </a:p>
          <a:p>
            <a:pPr marL="228600" indent="-228600">
              <a:buFont typeface="+mj-lt"/>
              <a:buAutoNum type="arabicPeriod"/>
            </a:pP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모바일의 </a:t>
            </a:r>
            <a:r>
              <a:rPr lang="ko-KR" altLang="en-US" dirty="0" err="1" smtClean="0"/>
              <a:t>생체인증</a:t>
            </a:r>
            <a:r>
              <a:rPr lang="ko-KR" altLang="en-US" dirty="0" smtClean="0"/>
              <a:t> 등록 사용 화면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en-US" altLang="ko-KR" dirty="0" smtClean="0"/>
              <a:t>MUI-CM-03-M14 </a:t>
            </a:r>
            <a:r>
              <a:rPr lang="ko-KR" altLang="en-US" dirty="0" err="1"/>
              <a:t>생체인증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349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인증센터 화면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인증센터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7" name="그룹 6"/>
          <p:cNvGrpSpPr/>
          <p:nvPr/>
        </p:nvGrpSpPr>
        <p:grpSpPr>
          <a:xfrm>
            <a:off x="903581" y="2145413"/>
            <a:ext cx="2255663" cy="306146"/>
            <a:chOff x="903581" y="2074658"/>
            <a:chExt cx="2255663" cy="306146"/>
          </a:xfrm>
        </p:grpSpPr>
        <p:sp>
          <p:nvSpPr>
            <p:cNvPr id="65" name="모서리가 둥근 직사각형 64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관리</a:t>
              </a: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903581" y="2593969"/>
            <a:ext cx="2255663" cy="306146"/>
            <a:chOff x="903581" y="2461599"/>
            <a:chExt cx="2255663" cy="306146"/>
          </a:xfrm>
        </p:grpSpPr>
        <p:sp>
          <p:nvSpPr>
            <p:cNvPr id="69" name="모서리가 둥근 직사각형 68"/>
            <p:cNvSpPr/>
            <p:nvPr/>
          </p:nvSpPr>
          <p:spPr>
            <a:xfrm>
              <a:off x="903581" y="2461599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560811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553117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가져오기</a:t>
              </a:r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903581" y="3042525"/>
            <a:ext cx="2255663" cy="306146"/>
            <a:chOff x="903581" y="2845891"/>
            <a:chExt cx="2255663" cy="306146"/>
          </a:xfrm>
        </p:grpSpPr>
        <p:sp>
          <p:nvSpPr>
            <p:cNvPr id="67" name="모서리가 둥근 직사각형 66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인증서 내보내기</a:t>
              </a:r>
            </a:p>
          </p:txBody>
        </p:sp>
      </p:grpSp>
      <p:grpSp>
        <p:nvGrpSpPr>
          <p:cNvPr id="3" name="그룹 2"/>
          <p:cNvGrpSpPr/>
          <p:nvPr/>
        </p:nvGrpSpPr>
        <p:grpSpPr>
          <a:xfrm>
            <a:off x="903581" y="3491082"/>
            <a:ext cx="2255663" cy="306146"/>
            <a:chOff x="903581" y="3230183"/>
            <a:chExt cx="2255663" cy="306146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903581" y="323018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3329395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332170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err="1">
                  <a:latin typeface="+mn-ea"/>
                </a:rPr>
                <a:t>생체인증</a:t>
              </a:r>
              <a:r>
                <a:rPr lang="ko-KR" altLang="en-US" sz="800" b="1" dirty="0">
                  <a:latin typeface="+mn-ea"/>
                </a:rPr>
                <a:t> </a:t>
              </a:r>
              <a:r>
                <a:rPr lang="en-US" altLang="ko-KR" sz="800" b="1" dirty="0">
                  <a:latin typeface="+mn-ea"/>
                </a:rPr>
                <a:t>(</a:t>
              </a:r>
              <a:r>
                <a:rPr lang="ko-KR" altLang="en-US" sz="800" b="1" dirty="0">
                  <a:latin typeface="+mn-ea"/>
                </a:rPr>
                <a:t>얼굴</a:t>
              </a:r>
              <a:r>
                <a:rPr lang="en-US" altLang="ko-KR" sz="800" b="1" dirty="0">
                  <a:latin typeface="+mn-ea"/>
                </a:rPr>
                <a:t>, </a:t>
              </a:r>
              <a:r>
                <a:rPr lang="ko-KR" altLang="en-US" sz="800" b="1" dirty="0">
                  <a:latin typeface="+mn-ea"/>
                </a:rPr>
                <a:t>지문</a:t>
              </a:r>
              <a:r>
                <a:rPr lang="en-US" altLang="ko-KR" sz="800" b="1" dirty="0">
                  <a:latin typeface="+mn-ea"/>
                </a:rPr>
                <a:t>)</a:t>
              </a:r>
              <a:endParaRPr lang="ko-KR" altLang="en-US" sz="800" b="1" dirty="0">
                <a:latin typeface="+mn-ea"/>
              </a:endParaRPr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558090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35" name="그룹 34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36" name="직사각형 35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설명 추가</a:t>
              </a:r>
              <a:endParaRPr lang="ko-KR" altLang="en-US" dirty="0"/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솔루션 정보 추가</a:t>
              </a:r>
              <a:endParaRPr lang="en-US" altLang="ko-KR" sz="700" dirty="0" smtClean="0"/>
            </a:p>
            <a:p>
              <a:pPr marL="228600" indent="-228600">
                <a:buAutoNum type="arabicPeriod"/>
              </a:pPr>
              <a:r>
                <a:rPr lang="ko-KR" altLang="en-US" sz="700" dirty="0" err="1" smtClean="0"/>
                <a:t>디렉션</a:t>
              </a:r>
              <a:r>
                <a:rPr lang="ko-KR" altLang="en-US" sz="700" dirty="0" smtClean="0"/>
                <a:t>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095200231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보유하고 있는 인증서 목록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MUI-CM-04-M14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903581" y="200472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10394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24394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36892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36" name="모서리가 둥근 직사각형 35"/>
          <p:cNvSpPr/>
          <p:nvPr/>
        </p:nvSpPr>
        <p:spPr>
          <a:xfrm>
            <a:off x="2681859" y="2224346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37" name="모서리가 둥근 직사각형 36"/>
          <p:cNvSpPr/>
          <p:nvPr/>
        </p:nvSpPr>
        <p:spPr>
          <a:xfrm>
            <a:off x="903581" y="272031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81952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95952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08450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2681859" y="2939927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42" name="모서리가 둥근 직사각형 41"/>
          <p:cNvSpPr/>
          <p:nvPr/>
        </p:nvSpPr>
        <p:spPr>
          <a:xfrm>
            <a:off x="903581" y="3435891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535104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675103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80008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2681859" y="3655508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15156713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삭제 반영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인증서 관리 화면에서 토스트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토스트 메시지는 솔루션 메시지 활용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삭제</a:t>
            </a:r>
            <a:r>
              <a:rPr lang="ko-KR" altLang="en-US" dirty="0"/>
              <a:t> 팝업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삭제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MUI-CM-04-P15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3011653"/>
            <a:ext cx="2712027" cy="3215510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3048280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3182696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3163375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삭제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3424775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grpSp>
        <p:nvGrpSpPr>
          <p:cNvPr id="5" name="그룹 4"/>
          <p:cNvGrpSpPr/>
          <p:nvPr/>
        </p:nvGrpSpPr>
        <p:grpSpPr>
          <a:xfrm>
            <a:off x="883295" y="5756042"/>
            <a:ext cx="2305144" cy="317083"/>
            <a:chOff x="861671" y="5756042"/>
            <a:chExt cx="2305144" cy="317083"/>
          </a:xfrm>
        </p:grpSpPr>
        <p:sp>
          <p:nvSpPr>
            <p:cNvPr id="47" name="사각형: 둥근 모서리 14">
              <a:extLst>
                <a:ext uri="{FF2B5EF4-FFF2-40B4-BE49-F238E27FC236}">
                  <a16:creationId xmlns:a16="http://schemas.microsoft.com/office/drawing/2014/main" id="{CB17FF57-D096-6A31-10F0-093EB170D38C}"/>
                </a:ext>
              </a:extLst>
            </p:cNvPr>
            <p:cNvSpPr/>
            <p:nvPr/>
          </p:nvSpPr>
          <p:spPr>
            <a:xfrm>
              <a:off x="2086815" y="5756042"/>
              <a:ext cx="1080000" cy="317083"/>
            </a:xfrm>
            <a:prstGeom prst="round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 fontAlgn="base" latinLnBrk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1" lang="ko-KR" altLang="en-US" sz="1000" kern="0" dirty="0">
                  <a:solidFill>
                    <a:prstClr val="white"/>
                  </a:solidFill>
                </a:rPr>
                <a:t>삭제하기</a:t>
              </a:r>
              <a:endParaRPr kumimoji="1" lang="en-US" altLang="ko-KR" sz="1000" kern="0" dirty="0">
                <a:solidFill>
                  <a:prstClr val="white"/>
                </a:solidFill>
              </a:endParaRPr>
            </a:p>
          </p:txBody>
        </p:sp>
        <p:sp>
          <p:nvSpPr>
            <p:cNvPr id="48" name="사각형: 둥근 모서리 15">
              <a:extLst>
                <a:ext uri="{FF2B5EF4-FFF2-40B4-BE49-F238E27FC236}">
                  <a16:creationId xmlns:a16="http://schemas.microsoft.com/office/drawing/2014/main" id="{E2B61CFB-AD16-68D0-8752-50D9C5E01971}"/>
                </a:ext>
              </a:extLst>
            </p:cNvPr>
            <p:cNvSpPr/>
            <p:nvPr/>
          </p:nvSpPr>
          <p:spPr>
            <a:xfrm>
              <a:off x="861671" y="5756042"/>
              <a:ext cx="1080000" cy="317083"/>
            </a:xfrm>
            <a:prstGeom prst="roundRect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취소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632975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선택하신 인증서는 스마트폰에서 삭제되는 것이며</a:t>
            </a:r>
            <a:r>
              <a:rPr lang="en-US" altLang="ko-KR" sz="700" dirty="0">
                <a:latin typeface="+mn-ea"/>
              </a:rPr>
              <a:t>,</a:t>
            </a:r>
            <a:r>
              <a:rPr lang="ko-KR" altLang="en-US" sz="700" dirty="0">
                <a:latin typeface="+mn-ea"/>
              </a:rPr>
              <a:t> 다른 디바이스에 저장된 인증서는 사용할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선택한 인증서를 삭제하시겠습니까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sp>
        <p:nvSpPr>
          <p:cNvPr id="73" name="모서리가 둥근 직사각형 72"/>
          <p:cNvSpPr/>
          <p:nvPr/>
        </p:nvSpPr>
        <p:spPr>
          <a:xfrm>
            <a:off x="903581" y="441154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51075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6507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77573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422666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삭제하였습니다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903581" y="5371351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86470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87" name="모서리가 둥근 직사각형 86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 암호 입력이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7775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4934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인증서 관리</a:t>
            </a:r>
            <a:endParaRPr lang="en-US" altLang="ko-KR" sz="800" dirty="0">
              <a:latin typeface="+mn-ea"/>
            </a:endParaRP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384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2" name="그룹 91"/>
          <p:cNvGrpSpPr/>
          <p:nvPr/>
        </p:nvGrpSpPr>
        <p:grpSpPr>
          <a:xfrm rot="5400000">
            <a:off x="3868283" y="1640499"/>
            <a:ext cx="94010" cy="47005"/>
            <a:chOff x="6812560" y="3297172"/>
            <a:chExt cx="94010" cy="47005"/>
          </a:xfrm>
        </p:grpSpPr>
        <p:cxnSp>
          <p:nvCxnSpPr>
            <p:cNvPr id="93" name="직선 연결선 9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직선 연결선 9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타원 94"/>
          <p:cNvSpPr/>
          <p:nvPr/>
        </p:nvSpPr>
        <p:spPr>
          <a:xfrm>
            <a:off x="615780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모서리가 둥근 직사각형 106"/>
          <p:cNvSpPr/>
          <p:nvPr/>
        </p:nvSpPr>
        <p:spPr>
          <a:xfrm>
            <a:off x="4048656" y="2010783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109996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24999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374974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1" name="모서리가 둥근 직사각형 110"/>
          <p:cNvSpPr/>
          <p:nvPr/>
        </p:nvSpPr>
        <p:spPr>
          <a:xfrm>
            <a:off x="5826934" y="2230400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2" name="모서리가 둥근 직사각형 111"/>
          <p:cNvSpPr/>
          <p:nvPr/>
        </p:nvSpPr>
        <p:spPr>
          <a:xfrm>
            <a:off x="4048656" y="2726364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825577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2965576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80130" y="3090555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116" name="모서리가 둥근 직사각형 115"/>
          <p:cNvSpPr/>
          <p:nvPr/>
        </p:nvSpPr>
        <p:spPr>
          <a:xfrm>
            <a:off x="5826934" y="2945981"/>
            <a:ext cx="398489" cy="162000"/>
          </a:xfrm>
          <a:prstGeom prst="roundRect">
            <a:avLst>
              <a:gd name="adj" fmla="val 23409"/>
            </a:avLst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600" b="1" dirty="0">
                <a:solidFill>
                  <a:srgbClr val="0070C0"/>
                </a:solidFill>
              </a:rPr>
              <a:t>삭제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630504819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</a:t>
            </a:r>
            <a:r>
              <a:rPr lang="ko-KR" altLang="en-US" dirty="0" smtClean="0"/>
              <a:t>영역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- 12</a:t>
            </a:r>
            <a:r>
              <a:rPr lang="ko-KR" altLang="en-US" dirty="0" smtClean="0"/>
              <a:t>자리 번호 입력 시 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버튼영역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실패 메시지 표시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성공 시 인증서 비밀번호 입력 화면 표시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 dirty="0"/>
              <a:t>PC → </a:t>
            </a:r>
            <a:r>
              <a:rPr lang="ko-KR" altLang="en-US" dirty="0"/>
              <a:t>모바일 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MUI-CM-04-M16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가져오기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06890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가져오기를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en-US" altLang="ko-KR" sz="700" dirty="0">
                <a:latin typeface="+mn-ea"/>
              </a:rPr>
              <a:t>PC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으로 인증서를 가져옵니다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1674396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2445210" y="2443797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>
                <a:solidFill>
                  <a:schemeClr val="bg1">
                    <a:lumMod val="75000"/>
                  </a:schemeClr>
                </a:solidFill>
              </a:rPr>
              <a:t>0000</a:t>
            </a:r>
            <a:endParaRPr lang="ko-KR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204289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 입력</a:t>
            </a:r>
            <a:endParaRPr lang="en-US" altLang="ko-KR" sz="700" b="1" dirty="0">
              <a:latin typeface="+mn-ea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701298" y="3940522"/>
            <a:ext cx="2624283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1" name="그룹 60"/>
          <p:cNvGrpSpPr/>
          <p:nvPr/>
        </p:nvGrpSpPr>
        <p:grpSpPr>
          <a:xfrm>
            <a:off x="825521" y="4059066"/>
            <a:ext cx="2370716" cy="306146"/>
            <a:chOff x="3982951" y="3679873"/>
            <a:chExt cx="2255663" cy="306146"/>
          </a:xfrm>
        </p:grpSpPr>
        <p:sp>
          <p:nvSpPr>
            <p:cNvPr id="62" name="모서리가 둥근 직사각형 61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인증서 가져오기</a:t>
              </a: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가상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모서리가 둥근 직사각형 90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3" name="모서리가 둥근 직사각형 92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07221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18544393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인증서 선택 시 인증서 비밀번호 확인 이후 우측 화면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선택된 인증서 표시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인증번호 </a:t>
            </a:r>
            <a:r>
              <a:rPr lang="en-US" altLang="ko-KR" dirty="0"/>
              <a:t>(</a:t>
            </a:r>
            <a:r>
              <a:rPr lang="ko-KR" altLang="en-US" dirty="0" err="1"/>
              <a:t>복사용</a:t>
            </a:r>
            <a:r>
              <a:rPr lang="en-US" altLang="ko-KR" dirty="0"/>
              <a:t>) </a:t>
            </a:r>
            <a:r>
              <a:rPr lang="ko-KR" altLang="en-US" dirty="0" smtClean="0"/>
              <a:t>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버튼 클릭 시 인증번호 복사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띄어쓰기 없는 </a:t>
            </a:r>
            <a:r>
              <a:rPr lang="en-US" altLang="ko-KR" dirty="0" smtClean="0"/>
              <a:t>12</a:t>
            </a:r>
            <a:r>
              <a:rPr lang="ko-KR" altLang="en-US" dirty="0" smtClean="0"/>
              <a:t>자리 번호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토스트 메시지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인증번호를 복사했습니다</a:t>
            </a:r>
            <a:r>
              <a:rPr lang="en-US" altLang="ko-KR" dirty="0" smtClean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lvl="0">
              <a:defRPr/>
            </a:pPr>
            <a:r>
              <a:rPr lang="ko-KR" altLang="en-US" dirty="0" smtClean="0">
                <a:solidFill>
                  <a:prstClr val="black"/>
                </a:solidFill>
                <a:latin typeface="맑은 고딕" panose="020B0503020000020004" pitchFamily="50" charset="-127"/>
              </a:rPr>
              <a:t>인증서내보내기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/>
              <a:t>모바일 </a:t>
            </a:r>
            <a:r>
              <a:rPr lang="en-US" altLang="ko-KR" dirty="0"/>
              <a:t>→ PC </a:t>
            </a:r>
            <a:r>
              <a:rPr lang="ko-KR" altLang="en-US" dirty="0"/>
              <a:t>인증서 복사 기능 및 화면 </a:t>
            </a:r>
            <a:endParaRPr lang="en-US" altLang="ko-KR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lvl="0"/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MUI-CM-04-M17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56407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800905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79" name="그룹 78"/>
          <p:cNvGrpSpPr/>
          <p:nvPr/>
        </p:nvGrpSpPr>
        <p:grpSpPr>
          <a:xfrm rot="5400000">
            <a:off x="3875348" y="1640499"/>
            <a:ext cx="94010" cy="47005"/>
            <a:chOff x="6812560" y="3297172"/>
            <a:chExt cx="94010" cy="47005"/>
          </a:xfrm>
        </p:grpSpPr>
        <p:cxnSp>
          <p:nvCxnSpPr>
            <p:cNvPr id="81" name="직선 연결선 80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3" name="타원 82"/>
          <p:cNvSpPr/>
          <p:nvPr/>
        </p:nvSpPr>
        <p:spPr>
          <a:xfrm>
            <a:off x="6164872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4373624"/>
            <a:ext cx="2305144" cy="53860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</a:rPr>
              <a:t>화면의 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 화면에 표시되는 인증번호 </a:t>
            </a:r>
            <a:r>
              <a:rPr lang="en-US" altLang="ko-KR" sz="700" dirty="0">
                <a:latin typeface="+mn-ea"/>
              </a:rPr>
              <a:t>12</a:t>
            </a:r>
            <a:r>
              <a:rPr lang="ko-KR" altLang="en-US" sz="700" dirty="0">
                <a:latin typeface="+mn-ea"/>
              </a:rPr>
              <a:t>자리를 입력하여 인증서 내보내기를 하실 수 있습니다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인증서를 내보냅니다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53" name="모서리가 둥근 직사각형 52"/>
          <p:cNvSpPr/>
          <p:nvPr/>
        </p:nvSpPr>
        <p:spPr>
          <a:xfrm>
            <a:off x="4023916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1234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6" name="모서리가 둥근 직사각형 55"/>
          <p:cNvSpPr/>
          <p:nvPr/>
        </p:nvSpPr>
        <p:spPr>
          <a:xfrm>
            <a:off x="4794731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5678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5565545" y="3335031"/>
            <a:ext cx="714034" cy="27088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rgbClr val="0070C0"/>
                </a:solidFill>
              </a:rPr>
              <a:t>9012</a:t>
            </a:r>
            <a:endParaRPr lang="ko-KR" altLang="en-US" sz="800" b="1" dirty="0">
              <a:solidFill>
                <a:srgbClr val="0070C0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309552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인증서 내보내기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그룹 31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33" name="직선 연결선 32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직선 연결선 33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5" name="타원 34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903581" y="2386628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485841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62584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275081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1" name="모서리가 둥근 직사각형 40"/>
          <p:cNvSpPr/>
          <p:nvPr/>
        </p:nvSpPr>
        <p:spPr>
          <a:xfrm>
            <a:off x="903581" y="3102209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201422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2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34142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466400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46" name="모서리가 둥근 직사각형 45"/>
          <p:cNvSpPr/>
          <p:nvPr/>
        </p:nvSpPr>
        <p:spPr>
          <a:xfrm>
            <a:off x="903581" y="3817790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3917003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3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057002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 err="1">
                <a:latin typeface="+mn-ea"/>
              </a:rPr>
              <a:t>코스콤</a:t>
            </a:r>
            <a:endParaRPr lang="ko-KR" altLang="en-US" sz="700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1981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22BC05EE-C648-7CA2-4CCC-6E1C1A7E9BDA}"/>
              </a:ext>
            </a:extLst>
          </p:cNvPr>
          <p:cNvGrpSpPr/>
          <p:nvPr/>
        </p:nvGrpSpPr>
        <p:grpSpPr>
          <a:xfrm>
            <a:off x="1992981" y="4950686"/>
            <a:ext cx="76863" cy="292489"/>
            <a:chOff x="3750067" y="4683795"/>
            <a:chExt cx="76863" cy="292489"/>
          </a:xfrm>
        </p:grpSpPr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B62EC5A9-8616-6B01-4FB1-D38CF6C29F0E}"/>
                </a:ext>
              </a:extLst>
            </p:cNvPr>
            <p:cNvSpPr/>
            <p:nvPr/>
          </p:nvSpPr>
          <p:spPr>
            <a:xfrm>
              <a:off x="3750067" y="4683795"/>
              <a:ext cx="76863" cy="76863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0D32B1A6-219D-1D15-5FDD-889D3F5740C1}"/>
                </a:ext>
              </a:extLst>
            </p:cNvPr>
            <p:cNvSpPr/>
            <p:nvPr/>
          </p:nvSpPr>
          <p:spPr>
            <a:xfrm>
              <a:off x="3750067" y="4791517"/>
              <a:ext cx="76863" cy="7686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  <p:sp>
          <p:nvSpPr>
            <p:cNvPr id="67" name="타원 66">
              <a:extLst>
                <a:ext uri="{FF2B5EF4-FFF2-40B4-BE49-F238E27FC236}">
                  <a16:creationId xmlns:a16="http://schemas.microsoft.com/office/drawing/2014/main" id="{F347D62C-1828-433E-F5ED-51C6591859DD}"/>
                </a:ext>
              </a:extLst>
            </p:cNvPr>
            <p:cNvSpPr/>
            <p:nvPr/>
          </p:nvSpPr>
          <p:spPr>
            <a:xfrm>
              <a:off x="3750067" y="4899421"/>
              <a:ext cx="76863" cy="7686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/>
            </a:p>
          </p:txBody>
        </p:sp>
      </p:grp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159620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278517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78840" y="2009061"/>
            <a:ext cx="230514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스마트폰 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 </a:t>
            </a:r>
            <a:r>
              <a:rPr lang="en-US" altLang="ko-KR" sz="700" dirty="0">
                <a:latin typeface="+mn-ea"/>
              </a:rPr>
              <a:t>PC </a:t>
            </a:r>
            <a:r>
              <a:rPr lang="ko-KR" altLang="en-US" sz="700" dirty="0">
                <a:latin typeface="+mn-ea"/>
                <a:sym typeface="Wingdings" panose="05000000000000000000" pitchFamily="2" charset="2"/>
              </a:rPr>
              <a:t>로 내보내기 하려는 인증서를 선택해주세요</a:t>
            </a:r>
            <a:r>
              <a:rPr lang="en-US" altLang="ko-KR" sz="700" dirty="0">
                <a:latin typeface="+mn-ea"/>
                <a:sym typeface="Wingdings" panose="05000000000000000000" pitchFamily="2" charset="2"/>
              </a:rPr>
              <a:t>.</a:t>
            </a:r>
            <a:endParaRPr lang="en-US" altLang="ko-KR" sz="700" dirty="0">
              <a:latin typeface="+mn-ea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001736" y="2011786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선택된 인증서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70" name="모서리가 둥근 직사각형 69"/>
          <p:cNvSpPr/>
          <p:nvPr/>
        </p:nvSpPr>
        <p:spPr>
          <a:xfrm>
            <a:off x="4023916" y="2219217"/>
            <a:ext cx="2255663" cy="601234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318430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인증서 </a:t>
            </a:r>
            <a:r>
              <a:rPr lang="ko-KR" altLang="en-US" sz="800" b="1" dirty="0" err="1">
                <a:latin typeface="+mn-ea"/>
              </a:rPr>
              <a:t>타이틀명</a:t>
            </a:r>
            <a:r>
              <a:rPr lang="ko-KR" altLang="en-US" sz="800" b="1" dirty="0">
                <a:latin typeface="+mn-ea"/>
              </a:rPr>
              <a:t> </a:t>
            </a:r>
            <a:r>
              <a:rPr lang="en-US" altLang="ko-KR" sz="800" b="1" dirty="0">
                <a:latin typeface="+mn-ea"/>
              </a:rPr>
              <a:t>1</a:t>
            </a:r>
            <a:endParaRPr lang="ko-KR" altLang="en-US" sz="800" b="1" dirty="0">
              <a:latin typeface="+mn-ea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458429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한국정보인증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4155390" y="2583408"/>
            <a:ext cx="1731957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700" dirty="0">
                <a:latin typeface="+mn-ea"/>
              </a:rPr>
              <a:t>2026-07-11</a:t>
            </a:r>
            <a:r>
              <a:rPr lang="ko-KR" altLang="en-US" sz="700" dirty="0">
                <a:latin typeface="+mn-ea"/>
              </a:rPr>
              <a:t>까지</a:t>
            </a:r>
            <a:r>
              <a:rPr lang="en-US" altLang="ko-KR" sz="700" dirty="0">
                <a:latin typeface="+mn-ea"/>
              </a:rPr>
              <a:t> </a:t>
            </a:r>
            <a:r>
              <a:rPr lang="ko-KR" altLang="en-US" sz="700" dirty="0">
                <a:latin typeface="+mn-ea"/>
              </a:rPr>
              <a:t>유효함</a:t>
            </a: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238662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9984" y="3063319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4</a:t>
            </a:r>
            <a:endParaRPr lang="ko-KR" altLang="en-US" sz="900" b="1" dirty="0"/>
          </a:p>
        </p:txBody>
      </p:sp>
      <p:grpSp>
        <p:nvGrpSpPr>
          <p:cNvPr id="60" name="그룹 59"/>
          <p:cNvGrpSpPr/>
          <p:nvPr/>
        </p:nvGrpSpPr>
        <p:grpSpPr>
          <a:xfrm>
            <a:off x="4023915" y="3703056"/>
            <a:ext cx="2255663" cy="306146"/>
            <a:chOff x="3982951" y="3679873"/>
            <a:chExt cx="2255663" cy="306146"/>
          </a:xfrm>
        </p:grpSpPr>
        <p:sp>
          <p:nvSpPr>
            <p:cNvPr id="61" name="모서리가 둥근 직사각형 60"/>
            <p:cNvSpPr/>
            <p:nvPr/>
          </p:nvSpPr>
          <p:spPr>
            <a:xfrm>
              <a:off x="3982951" y="3679873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4259991" y="3779085"/>
              <a:ext cx="170158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700" b="1" dirty="0" smtClean="0">
                  <a:solidFill>
                    <a:schemeClr val="bg1"/>
                  </a:solidFill>
                  <a:latin typeface="+mn-ea"/>
                </a:rPr>
                <a:t>인증번호 복사하기</a:t>
              </a:r>
              <a:endParaRPr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64" name="직사각형 6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2026-07-13 </a:t>
              </a:r>
              <a:r>
                <a:rPr lang="ko-KR" altLang="en-US" dirty="0" smtClean="0"/>
                <a:t>화면 </a:t>
              </a:r>
              <a:r>
                <a:rPr lang="ko-KR" altLang="en-US" dirty="0"/>
                <a:t>수정</a:t>
              </a: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인증번호 복사하기 버튼 추가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66514976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타이틀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 영역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인증서 가상 </a:t>
            </a:r>
            <a:r>
              <a:rPr lang="ko-KR" altLang="en-US" dirty="0" err="1"/>
              <a:t>키패드는</a:t>
            </a:r>
            <a:r>
              <a:rPr lang="ko-KR" altLang="en-US" dirty="0"/>
              <a:t> 보안 </a:t>
            </a:r>
            <a:r>
              <a:rPr lang="ko-KR" altLang="en-US" dirty="0" err="1"/>
              <a:t>키패드</a:t>
            </a:r>
            <a:r>
              <a:rPr lang="ko-KR" altLang="en-US" dirty="0"/>
              <a:t> 활용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인증서 비밀번호 확인 </a:t>
            </a:r>
            <a:r>
              <a:rPr lang="ko-KR" altLang="en-US" dirty="0" smtClean="0">
                <a:latin typeface="+mn-ea"/>
              </a:rPr>
              <a:t>팝업 </a:t>
            </a:r>
            <a:r>
              <a:rPr lang="en-US" altLang="ko-KR" dirty="0" smtClean="0">
                <a:latin typeface="+mn-ea"/>
              </a:rPr>
              <a:t>– </a:t>
            </a:r>
            <a:r>
              <a:rPr lang="ko-KR" altLang="en-US" dirty="0" smtClean="0">
                <a:latin typeface="+mn-ea"/>
              </a:rPr>
              <a:t>인증서 내보내기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가져오기 시 비밀번호 확인 화면</a:t>
            </a:r>
            <a:endParaRPr lang="ko-KR" altLang="en-US" dirty="0"/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700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내보내기 </a:t>
            </a:r>
            <a:r>
              <a:rPr lang="en-US" altLang="ko-KR" dirty="0" smtClean="0">
                <a:latin typeface="+mn-ea"/>
              </a:rPr>
              <a:t>&gt; </a:t>
            </a:r>
            <a:r>
              <a:rPr lang="ko-KR" altLang="en-US" dirty="0" smtClean="0">
                <a:latin typeface="+mn-ea"/>
              </a:rPr>
              <a:t>인증서 </a:t>
            </a:r>
            <a:r>
              <a:rPr lang="ko-KR" altLang="en-US" dirty="0">
                <a:latin typeface="+mn-ea"/>
              </a:rPr>
              <a:t>비밀번호 </a:t>
            </a:r>
            <a:r>
              <a:rPr lang="ko-KR" altLang="en-US" dirty="0" smtClean="0">
                <a:latin typeface="+mn-ea"/>
              </a:rPr>
              <a:t>확인</a:t>
            </a:r>
            <a:endParaRPr lang="en-US" altLang="ko-KR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MUI-CM-04-P18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84921"/>
            <a:ext cx="2712027" cy="4738372"/>
          </a:xfrm>
          <a:prstGeom prst="rect">
            <a:avLst/>
          </a:prstGeom>
          <a:solidFill>
            <a:srgbClr val="0D0D0D">
              <a:alpha val="50196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" name="양쪽 모서리가 둥근 사각형 21"/>
          <p:cNvSpPr/>
          <p:nvPr/>
        </p:nvSpPr>
        <p:spPr>
          <a:xfrm>
            <a:off x="679854" y="2230399"/>
            <a:ext cx="2712027" cy="3992893"/>
          </a:xfrm>
          <a:prstGeom prst="round2SameRect">
            <a:avLst>
              <a:gd name="adj1" fmla="val 4887"/>
              <a:gd name="adj2" fmla="val 0"/>
            </a:avLst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>
              <a:solidFill>
                <a:schemeClr val="tx1"/>
              </a:solidFill>
            </a:endParaRPr>
          </a:p>
        </p:txBody>
      </p:sp>
      <p:sp>
        <p:nvSpPr>
          <p:cNvPr id="23" name="모서리가 둥근 직사각형 22"/>
          <p:cNvSpPr/>
          <p:nvPr/>
        </p:nvSpPr>
        <p:spPr>
          <a:xfrm>
            <a:off x="1765867" y="2267027"/>
            <a:ext cx="540000" cy="4571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168793" y="2401443"/>
            <a:ext cx="94010" cy="94010"/>
            <a:chOff x="6812560" y="3297172"/>
            <a:chExt cx="94010" cy="94010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08931" y="2382122"/>
            <a:ext cx="179875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dirty="0">
                <a:latin typeface="+mn-ea"/>
              </a:rPr>
              <a:t>인증서 비밀번호 확인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9854" y="2643522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4" name="타원 4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47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1541933" y="4038347"/>
            <a:ext cx="1646506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prstClr val="white"/>
                </a:solidFill>
              </a:rPr>
              <a:t>완료</a:t>
            </a:r>
            <a:endParaRPr kumimoji="1" lang="en-US" altLang="ko-KR" sz="1000" kern="0" dirty="0">
              <a:solidFill>
                <a:prstClr val="white"/>
              </a:solidFill>
            </a:endParaRPr>
          </a:p>
        </p:txBody>
      </p:sp>
      <p:sp>
        <p:nvSpPr>
          <p:cNvPr id="48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3295" y="4038347"/>
            <a:ext cx="551805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2851722"/>
            <a:ext cx="2305144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인증서 가져오기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내보내기에 사용되는 인증서의 비밀번호를 확인합니다</a:t>
            </a:r>
            <a:r>
              <a:rPr lang="en-US" altLang="ko-KR" sz="700" dirty="0">
                <a:latin typeface="+mn-ea"/>
              </a:rPr>
              <a:t>.</a:t>
            </a:r>
          </a:p>
          <a:p>
            <a:endParaRPr lang="en-US" altLang="ko-KR" sz="700" dirty="0">
              <a:latin typeface="+mn-ea"/>
            </a:endParaRPr>
          </a:p>
          <a:p>
            <a:r>
              <a:rPr lang="ko-KR" altLang="en-US" sz="700" dirty="0">
                <a:latin typeface="+mn-ea"/>
              </a:rPr>
              <a:t>인증서의 비밀번호를 입력해주세요</a:t>
            </a:r>
            <a:r>
              <a:rPr lang="en-US" altLang="ko-KR" sz="700" dirty="0">
                <a:latin typeface="+mn-ea"/>
              </a:rPr>
              <a:t>.</a:t>
            </a:r>
          </a:p>
        </p:txBody>
      </p:sp>
      <p:sp>
        <p:nvSpPr>
          <p:cNvPr id="53" name="모서리가 둥근 직사각형 52"/>
          <p:cNvSpPr/>
          <p:nvPr/>
        </p:nvSpPr>
        <p:spPr>
          <a:xfrm>
            <a:off x="903581" y="3631332"/>
            <a:ext cx="2255663" cy="227857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3446451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b="1" dirty="0">
                <a:latin typeface="+mn-ea"/>
              </a:rPr>
              <a:t>인증서 비밀번호</a:t>
            </a:r>
            <a:endParaRPr lang="en-US" altLang="ko-KR" sz="700" b="1" dirty="0"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4506743"/>
            <a:ext cx="2712027" cy="172042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solidFill>
                  <a:sysClr val="windowText" lastClr="000000"/>
                </a:solidFill>
              </a:rPr>
              <a:t>보안 </a:t>
            </a:r>
            <a:r>
              <a:rPr lang="ko-KR" altLang="en-US" dirty="0" err="1">
                <a:solidFill>
                  <a:sysClr val="windowText" lastClr="000000"/>
                </a:solidFill>
              </a:rPr>
              <a:t>키패드</a:t>
            </a:r>
            <a:r>
              <a:rPr lang="ko-KR" altLang="en-US" dirty="0">
                <a:solidFill>
                  <a:sysClr val="windowText" lastClr="000000"/>
                </a:solidFill>
              </a:rPr>
              <a:t> 영역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435234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68455" y="53659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95222033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토스트 메시지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인증 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성공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실패 메시지 </a:t>
            </a:r>
            <a:r>
              <a:rPr lang="en-US" altLang="ko-KR" dirty="0">
                <a:latin typeface="+mn-ea"/>
              </a:rPr>
              <a:t>- </a:t>
            </a:r>
            <a:r>
              <a:rPr lang="ko-KR" altLang="en-US" dirty="0">
                <a:latin typeface="+mn-ea"/>
              </a:rPr>
              <a:t>스마트 </a:t>
            </a:r>
            <a:r>
              <a:rPr lang="en-US" altLang="ko-KR" dirty="0">
                <a:latin typeface="+mn-ea"/>
              </a:rPr>
              <a:t>PKI </a:t>
            </a:r>
            <a:r>
              <a:rPr lang="ko-KR" altLang="en-US" dirty="0">
                <a:latin typeface="+mn-ea"/>
              </a:rPr>
              <a:t>메시지 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인증센터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인증서 관리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각 인증 페이지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MUI-CM-04-P19</a:t>
            </a:r>
            <a:endParaRPr lang="ko-KR" altLang="en-US" dirty="0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4299147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시간이 초과되었습니다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59"/>
          <p:cNvSpPr/>
          <p:nvPr/>
        </p:nvSpPr>
        <p:spPr>
          <a:xfrm>
            <a:off x="4299147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99175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인증번호가 틀렸습니다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모서리가 둥근 직사각형 30"/>
          <p:cNvSpPr/>
          <p:nvPr/>
        </p:nvSpPr>
        <p:spPr>
          <a:xfrm>
            <a:off x="1181373" y="5491535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71127" y="316337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36" name="모서리가 둥근 직사각형 35"/>
          <p:cNvSpPr/>
          <p:nvPr/>
        </p:nvSpPr>
        <p:spPr>
          <a:xfrm>
            <a:off x="1181373" y="5116496"/>
            <a:ext cx="1705200" cy="209216"/>
          </a:xfrm>
          <a:prstGeom prst="roundRect">
            <a:avLst>
              <a:gd name="adj" fmla="val 50000"/>
            </a:avLst>
          </a:prstGeom>
          <a:solidFill>
            <a:srgbClr val="000000">
              <a:alpha val="50196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81401" y="516724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인증서를 복사하였습니다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26388861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356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5. </a:t>
            </a:r>
            <a:r>
              <a:rPr lang="ko-KR" altLang="en-US" dirty="0"/>
              <a:t>국방전자조달 소개 메뉴</a:t>
            </a:r>
            <a:endParaRPr lang="en-US" altLang="ko-KR" dirty="0"/>
          </a:p>
          <a:p>
            <a:r>
              <a:rPr lang="en-US" altLang="ko-KR" dirty="0"/>
              <a:t>5.1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345089"/>
              </p:ext>
            </p:extLst>
          </p:nvPr>
        </p:nvGraphicFramePr>
        <p:xfrm>
          <a:off x="635474" y="1574092"/>
          <a:ext cx="8749092" cy="160128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54269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시스템소개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시스템 소개 정보를 안내한다</a:t>
                      </a:r>
                      <a:r>
                        <a:rPr lang="en-US" altLang="ko-KR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IntroducePage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주요특징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주요 특징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FeaturePage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연혁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연혁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HistoryPage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인포그래픽스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인포그래픽스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GraphicPage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5426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관련시스템</a:t>
                      </a:r>
                      <a:endParaRPr lang="ko-KR" altLang="en-US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관련시스템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SystemPage</a:t>
                      </a: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6658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이용문의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이용문의 정보를 안내한다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InquiryPage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UC-ZZ-18-05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98094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357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5.2.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시스템소개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4019EDD-4322-2651-BC19-3D7C8083D355}"/>
              </a:ext>
            </a:extLst>
          </p:cNvPr>
          <p:cNvSpPr/>
          <p:nvPr/>
        </p:nvSpPr>
        <p:spPr>
          <a:xfrm>
            <a:off x="5097742" y="2732031"/>
            <a:ext cx="237994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spAutoFit/>
          </a:bodyPr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끝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04C0B0F-7275-1964-CD84-22454585E4D5}"/>
              </a:ext>
            </a:extLst>
          </p:cNvPr>
          <p:cNvGrpSpPr/>
          <p:nvPr/>
        </p:nvGrpSpPr>
        <p:grpSpPr>
          <a:xfrm>
            <a:off x="5126739" y="2516031"/>
            <a:ext cx="180000" cy="180000"/>
            <a:chOff x="5058274" y="2498299"/>
            <a:chExt cx="180000" cy="180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9B5D9EB-9463-896B-12A2-37CBFEB67E81}"/>
                </a:ext>
              </a:extLst>
            </p:cNvPr>
            <p:cNvSpPr/>
            <p:nvPr/>
          </p:nvSpPr>
          <p:spPr>
            <a:xfrm>
              <a:off x="5058274" y="2498299"/>
              <a:ext cx="180000" cy="180000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28">
              <a:extLst>
                <a:ext uri="{FF2B5EF4-FFF2-40B4-BE49-F238E27FC236}">
                  <a16:creationId xmlns:a16="http://schemas.microsoft.com/office/drawing/2014/main" id="{5035D845-DB68-ACE3-6F03-D835D7B8D78D}"/>
                </a:ext>
              </a:extLst>
            </p:cNvPr>
            <p:cNvSpPr/>
            <p:nvPr/>
          </p:nvSpPr>
          <p:spPr>
            <a:xfrm>
              <a:off x="5094274" y="2534299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연혁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인포그래픽스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관련시스템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이용문의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주요특징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133201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80794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28387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 flipV="1">
            <a:off x="3788168" y="2606031"/>
            <a:ext cx="1338571" cy="240197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2606031"/>
            <a:ext cx="1338571" cy="76426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2606031"/>
            <a:ext cx="1338571" cy="128833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7780215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358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시스템소개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IntroducePage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주요특징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FeaturePage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연혁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HistoryPage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인포그래픽스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GraphicPage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관련시스템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SystemPage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이용문의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InquiryPage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2171057455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359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시스템소개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/>
              <a:t>시스템 소개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>
                <a:latin typeface="+mn-ea"/>
              </a:rPr>
              <a:t>시스템소개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9840"/>
          <a:stretch/>
        </p:blipFill>
        <p:spPr>
          <a:xfrm>
            <a:off x="675399" y="1493927"/>
            <a:ext cx="2712027" cy="4732701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/>
          <a:srcRect b="25674"/>
          <a:stretch/>
        </p:blipFill>
        <p:spPr>
          <a:xfrm>
            <a:off x="4572457" y="1273831"/>
            <a:ext cx="1202838" cy="5172892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4543567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주요특징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주요 특징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주요특징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MUI-CM-05-M02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142"/>
          <a:stretch/>
        </p:blipFill>
        <p:spPr>
          <a:xfrm>
            <a:off x="675399" y="1493928"/>
            <a:ext cx="2712027" cy="4715283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54237"/>
          <a:stretch/>
        </p:blipFill>
        <p:spPr>
          <a:xfrm>
            <a:off x="4028222" y="1493928"/>
            <a:ext cx="944988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45763" b="13601"/>
          <a:stretch/>
        </p:blipFill>
        <p:spPr>
          <a:xfrm>
            <a:off x="5353870" y="1493927"/>
            <a:ext cx="944988" cy="4210187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735101353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연혁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연혁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연혁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MUI-CM-05-M03</a:t>
            </a:r>
            <a:endParaRPr lang="ko-KR" altLang="en-US" sz="1000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81764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b="48548"/>
          <a:stretch/>
        </p:blipFill>
        <p:spPr>
          <a:xfrm>
            <a:off x="4068784" y="1493927"/>
            <a:ext cx="964771" cy="4723993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 rotWithShape="1">
          <a:blip r:embed="rId2"/>
          <a:srcRect t="51547"/>
          <a:stretch/>
        </p:blipFill>
        <p:spPr>
          <a:xfrm>
            <a:off x="5300924" y="1493927"/>
            <a:ext cx="964771" cy="4448698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987032311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smtClean="0"/>
              <a:t>콘텐츠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/>
              <a:t>개발기간 중 현행화 예정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인포그래픽스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인포그래픽스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인포그래픽스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MUI-CM-05-M04</a:t>
            </a:r>
            <a:endParaRPr lang="ko-KR" altLang="en-US" sz="1000" dirty="0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6969B4D1-B485-E260-A44F-DFB4FE93A4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96861" y="1774041"/>
            <a:ext cx="3445451" cy="406927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401458451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관련시스템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관련시스템</a:t>
            </a:r>
            <a:r>
              <a:rPr lang="ko-KR" altLang="en-US" dirty="0">
                <a:latin typeface="+mn-ea"/>
              </a:rPr>
              <a:t>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관련시스템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MUI-CM-05-M05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64909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25789"/>
          <a:stretch/>
        </p:blipFill>
        <p:spPr>
          <a:xfrm>
            <a:off x="3795734" y="1493928"/>
            <a:ext cx="1280010" cy="4715284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74486"/>
          <a:stretch/>
        </p:blipFill>
        <p:spPr>
          <a:xfrm>
            <a:off x="5227751" y="1493927"/>
            <a:ext cx="1280010" cy="1621123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5399210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이용문의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이용문의 정보를 안내한다</a:t>
            </a:r>
            <a:r>
              <a:rPr lang="en-US" altLang="ko-KR" dirty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국방전자조달 소개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이용문의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MUI-CM-05-M06</a:t>
            </a:r>
            <a:endParaRPr lang="ko-KR" altLang="en-US" sz="1000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-1" b="71994"/>
          <a:stretch/>
        </p:blipFill>
        <p:spPr>
          <a:xfrm>
            <a:off x="679024" y="1493927"/>
            <a:ext cx="2708402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41561"/>
          <a:stretch/>
        </p:blipFill>
        <p:spPr>
          <a:xfrm>
            <a:off x="3795735" y="1493927"/>
            <a:ext cx="1300401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58439" b="23926"/>
          <a:stretch/>
        </p:blipFill>
        <p:spPr>
          <a:xfrm>
            <a:off x="5207360" y="1493927"/>
            <a:ext cx="1300401" cy="142820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6178583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365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6. </a:t>
            </a:r>
            <a:r>
              <a:rPr lang="ko-KR" altLang="en-US" dirty="0"/>
              <a:t>이용안내 메뉴</a:t>
            </a:r>
            <a:endParaRPr lang="en-US" altLang="ko-KR" dirty="0"/>
          </a:p>
          <a:p>
            <a:r>
              <a:rPr lang="en-US" altLang="ko-KR" dirty="0"/>
              <a:t>6.1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1662148"/>
              </p:ext>
            </p:extLst>
          </p:nvPr>
        </p:nvGraphicFramePr>
        <p:xfrm>
          <a:off x="635474" y="1574093"/>
          <a:ext cx="8749092" cy="335232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사전준비사항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사전준비사항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/biz/cm/p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reparation01/Preparation01Page.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청렴계약제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청렴계약제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Preparation02Page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국방조달참여절차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참여절차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전자입찰절차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전자대금청구절차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국내조달 전자대금청구절차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Domestic03Page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6479342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등록절차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국외조달원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등록절차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Foreign01Page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9031716"/>
                  </a:ext>
                </a:extLst>
              </a:tr>
              <a:tr h="23903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국외조달원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 등록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</a:rPr>
                        <a:t>변경안내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국외조달원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등록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변경안내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foreign02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oreign02Page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587819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MUI-CM-05-M14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국외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전자입찰절차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 err="1">
                          <a:latin typeface="+mn-ea"/>
                        </a:rPr>
                        <a:t>국외조달</a:t>
                      </a:r>
                      <a:r>
                        <a:rPr lang="ko-KR" altLang="en-US" sz="800" dirty="0">
                          <a:latin typeface="+mn-ea"/>
                        </a:rPr>
                        <a:t> 전자입찰절차 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보를 안내한다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foreign03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</a:rPr>
                        <a:t>F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oreign03Page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390001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MUI-CM-05-M15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관련사이트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  <a:r>
                        <a:rPr lang="en-US" altLang="ko-KR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Page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관련사이트 정보를 안내한다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SitePage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8779103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MUI-MS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-01-P06</a:t>
                      </a:r>
                      <a:endParaRPr lang="ko-KR" alt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앱 이용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AppSrvcExpln</a:t>
                      </a:r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스플래시에서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사용된 앱 이용 안내 다시 보기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/biz/cm/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AppAuthrtAgre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AppSrvcExpln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UC-ZZ-18-03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2674137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50446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366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989311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130015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사전준비사항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184015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5097742" y="3221511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274015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2366608" y="2178157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국방조달참여절차</a:t>
            </a:r>
          </a:p>
        </p:txBody>
      </p: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02AF491E-63F1-F699-073F-514A5C4333F6}"/>
              </a:ext>
            </a:extLst>
          </p:cNvPr>
          <p:cNvCxnSpPr>
            <a:stCxn id="5" idx="4"/>
            <a:endCxn id="34" idx="1"/>
          </p:cNvCxnSpPr>
          <p:nvPr/>
        </p:nvCxnSpPr>
        <p:spPr>
          <a:xfrm rot="16200000" flipH="1">
            <a:off x="1394741" y="1350290"/>
            <a:ext cx="958142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270222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국내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CFECD5A-167A-2BFA-A89F-A19A249C0BEF}"/>
              </a:ext>
            </a:extLst>
          </p:cNvPr>
          <p:cNvSpPr/>
          <p:nvPr/>
        </p:nvSpPr>
        <p:spPr>
          <a:xfrm>
            <a:off x="2366608" y="3226299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전자대금청구절차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5B17AD25-D206-F26A-9104-B75209208B2A}"/>
              </a:ext>
            </a:extLst>
          </p:cNvPr>
          <p:cNvSpPr/>
          <p:nvPr/>
        </p:nvSpPr>
        <p:spPr>
          <a:xfrm>
            <a:off x="2366608" y="3750370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 err="1">
                <a:solidFill>
                  <a:schemeClr val="tx1"/>
                </a:solidFill>
              </a:rPr>
              <a:t>국외조달원</a:t>
            </a:r>
            <a:r>
              <a:rPr lang="ko-KR" altLang="en-US" sz="800" dirty="0">
                <a:solidFill>
                  <a:schemeClr val="tx1"/>
                </a:solidFill>
              </a:rPr>
              <a:t> 등록절차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D378D86-4B1E-1F57-AC9B-76EEAE958A06}"/>
              </a:ext>
            </a:extLst>
          </p:cNvPr>
          <p:cNvSpPr/>
          <p:nvPr/>
        </p:nvSpPr>
        <p:spPr>
          <a:xfrm>
            <a:off x="2366608" y="427444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변경안내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BB1C59E-02BD-94B4-9458-F9347CA2D9FF}"/>
              </a:ext>
            </a:extLst>
          </p:cNvPr>
          <p:cNvSpPr/>
          <p:nvPr/>
        </p:nvSpPr>
        <p:spPr>
          <a:xfrm>
            <a:off x="2366608" y="479851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국외 </a:t>
            </a:r>
            <a:r>
              <a:rPr lang="en-US" altLang="ko-KR" sz="800" dirty="0">
                <a:solidFill>
                  <a:schemeClr val="tx1"/>
                </a:solidFill>
              </a:rPr>
              <a:t>- </a:t>
            </a:r>
            <a:r>
              <a:rPr lang="ko-KR" altLang="en-US" sz="800" dirty="0">
                <a:solidFill>
                  <a:schemeClr val="tx1"/>
                </a:solidFill>
              </a:rPr>
              <a:t>전자입찰절차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CFDF6D94-4D2F-7F6C-B069-143F7B96D22A}"/>
              </a:ext>
            </a:extLst>
          </p:cNvPr>
          <p:cNvCxnSpPr>
            <a:stCxn id="5" idx="4"/>
            <a:endCxn id="37" idx="1"/>
          </p:cNvCxnSpPr>
          <p:nvPr/>
        </p:nvCxnSpPr>
        <p:spPr>
          <a:xfrm rot="16200000" flipH="1">
            <a:off x="1132706" y="1612325"/>
            <a:ext cx="1482213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연결선: 꺾임 42">
            <a:extLst>
              <a:ext uri="{FF2B5EF4-FFF2-40B4-BE49-F238E27FC236}">
                <a16:creationId xmlns:a16="http://schemas.microsoft.com/office/drawing/2014/main" id="{CE45CF68-21E8-22BD-72CD-36C63BECD0F7}"/>
              </a:ext>
            </a:extLst>
          </p:cNvPr>
          <p:cNvCxnSpPr>
            <a:stCxn id="5" idx="4"/>
            <a:endCxn id="38" idx="1"/>
          </p:cNvCxnSpPr>
          <p:nvPr/>
        </p:nvCxnSpPr>
        <p:spPr>
          <a:xfrm rot="16200000" flipH="1">
            <a:off x="870670" y="1874361"/>
            <a:ext cx="2006284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연결선: 꺾임 43">
            <a:extLst>
              <a:ext uri="{FF2B5EF4-FFF2-40B4-BE49-F238E27FC236}">
                <a16:creationId xmlns:a16="http://schemas.microsoft.com/office/drawing/2014/main" id="{F85301B9-81E9-EFE4-CD6A-9ECF68788A13}"/>
              </a:ext>
            </a:extLst>
          </p:cNvPr>
          <p:cNvCxnSpPr>
            <a:stCxn id="5" idx="4"/>
            <a:endCxn id="39" idx="1"/>
          </p:cNvCxnSpPr>
          <p:nvPr/>
        </p:nvCxnSpPr>
        <p:spPr>
          <a:xfrm rot="16200000" flipH="1">
            <a:off x="608635" y="2136396"/>
            <a:ext cx="2530355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연결선: 꺾임 52">
            <a:extLst>
              <a:ext uri="{FF2B5EF4-FFF2-40B4-BE49-F238E27FC236}">
                <a16:creationId xmlns:a16="http://schemas.microsoft.com/office/drawing/2014/main" id="{CD627301-C430-A011-579E-9C40E27EDB40}"/>
              </a:ext>
            </a:extLst>
          </p:cNvPr>
          <p:cNvCxnSpPr>
            <a:stCxn id="5" idx="4"/>
            <a:endCxn id="40" idx="1"/>
          </p:cNvCxnSpPr>
          <p:nvPr/>
        </p:nvCxnSpPr>
        <p:spPr>
          <a:xfrm rot="16200000" flipH="1">
            <a:off x="346599" y="2398432"/>
            <a:ext cx="305442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729A2AB8-659F-426C-56DA-422C8BAA20F7}"/>
              </a:ext>
            </a:extLst>
          </p:cNvPr>
          <p:cNvCxnSpPr>
            <a:stCxn id="5" idx="4"/>
            <a:endCxn id="41" idx="1"/>
          </p:cNvCxnSpPr>
          <p:nvPr/>
        </p:nvCxnSpPr>
        <p:spPr>
          <a:xfrm rot="16200000" flipH="1">
            <a:off x="84564" y="2660467"/>
            <a:ext cx="3578497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2366608" y="1654086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청렴계약제</a:t>
            </a:r>
          </a:p>
        </p:txBody>
      </p:sp>
      <p:cxnSp>
        <p:nvCxnSpPr>
          <p:cNvPr id="6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5" idx="4"/>
            <a:endCxn id="60" idx="1"/>
          </p:cNvCxnSpPr>
          <p:nvPr/>
        </p:nvCxnSpPr>
        <p:spPr>
          <a:xfrm rot="16200000" flipH="1">
            <a:off x="1656777" y="1088254"/>
            <a:ext cx="434071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20CDCE3D-4C6B-BA16-AA25-2DA6E66BCD2E}"/>
              </a:ext>
            </a:extLst>
          </p:cNvPr>
          <p:cNvSpPr/>
          <p:nvPr/>
        </p:nvSpPr>
        <p:spPr>
          <a:xfrm>
            <a:off x="2366608" y="5322583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관련사이트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34" name="연결선: 꺾임 133">
            <a:extLst>
              <a:ext uri="{FF2B5EF4-FFF2-40B4-BE49-F238E27FC236}">
                <a16:creationId xmlns:a16="http://schemas.microsoft.com/office/drawing/2014/main" id="{116E8111-1955-150D-AB7F-15AA6FB9F3C8}"/>
              </a:ext>
            </a:extLst>
          </p:cNvPr>
          <p:cNvCxnSpPr>
            <a:stCxn id="5" idx="4"/>
            <a:endCxn id="133" idx="1"/>
          </p:cNvCxnSpPr>
          <p:nvPr/>
        </p:nvCxnSpPr>
        <p:spPr>
          <a:xfrm rot="16200000" flipH="1">
            <a:off x="-177472" y="2922503"/>
            <a:ext cx="4102568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BE73A25C-8071-605A-9B3F-4CD21668733A}"/>
              </a:ext>
            </a:extLst>
          </p:cNvPr>
          <p:cNvSpPr/>
          <p:nvPr/>
        </p:nvSpPr>
        <p:spPr>
          <a:xfrm>
            <a:off x="2366608" y="584665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이용 안내</a:t>
            </a:r>
          </a:p>
        </p:txBody>
      </p:sp>
      <p:cxnSp>
        <p:nvCxnSpPr>
          <p:cNvPr id="137" name="연결선: 꺾임 136">
            <a:extLst>
              <a:ext uri="{FF2B5EF4-FFF2-40B4-BE49-F238E27FC236}">
                <a16:creationId xmlns:a16="http://schemas.microsoft.com/office/drawing/2014/main" id="{E817709E-FD18-1B63-CE48-BED45C5EF2E4}"/>
              </a:ext>
            </a:extLst>
          </p:cNvPr>
          <p:cNvCxnSpPr>
            <a:stCxn id="5" idx="4"/>
            <a:endCxn id="136" idx="1"/>
          </p:cNvCxnSpPr>
          <p:nvPr/>
        </p:nvCxnSpPr>
        <p:spPr>
          <a:xfrm rot="16200000" flipH="1">
            <a:off x="-439506" y="3184537"/>
            <a:ext cx="4626636" cy="985591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19" idx="2"/>
          </p:cNvCxnSpPr>
          <p:nvPr/>
        </p:nvCxnSpPr>
        <p:spPr>
          <a:xfrm>
            <a:off x="3788168" y="1274015"/>
            <a:ext cx="1338571" cy="203749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3788168" y="1798086"/>
            <a:ext cx="1338571" cy="151342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3788168" y="2322157"/>
            <a:ext cx="1338571" cy="98935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19" idx="2"/>
          </p:cNvCxnSpPr>
          <p:nvPr/>
        </p:nvCxnSpPr>
        <p:spPr>
          <a:xfrm>
            <a:off x="3788168" y="2846228"/>
            <a:ext cx="1338571" cy="46528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8" idx="3"/>
            <a:endCxn id="19" idx="2"/>
          </p:cNvCxnSpPr>
          <p:nvPr/>
        </p:nvCxnSpPr>
        <p:spPr>
          <a:xfrm flipV="1">
            <a:off x="3788168" y="3311511"/>
            <a:ext cx="1338571" cy="5878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9" idx="3"/>
            <a:endCxn id="19" idx="2"/>
          </p:cNvCxnSpPr>
          <p:nvPr/>
        </p:nvCxnSpPr>
        <p:spPr>
          <a:xfrm flipV="1">
            <a:off x="3788168" y="3311511"/>
            <a:ext cx="1338571" cy="58285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0" idx="3"/>
            <a:endCxn id="19" idx="2"/>
          </p:cNvCxnSpPr>
          <p:nvPr/>
        </p:nvCxnSpPr>
        <p:spPr>
          <a:xfrm flipV="1">
            <a:off x="3788168" y="3311511"/>
            <a:ext cx="1338571" cy="110693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41" idx="3"/>
            <a:endCxn id="19" idx="2"/>
          </p:cNvCxnSpPr>
          <p:nvPr/>
        </p:nvCxnSpPr>
        <p:spPr>
          <a:xfrm flipV="1">
            <a:off x="3788168" y="3311511"/>
            <a:ext cx="1338571" cy="163100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3" idx="3"/>
            <a:endCxn id="19" idx="2"/>
          </p:cNvCxnSpPr>
          <p:nvPr/>
        </p:nvCxnSpPr>
        <p:spPr>
          <a:xfrm flipV="1">
            <a:off x="3788168" y="3311511"/>
            <a:ext cx="1338571" cy="215507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136" idx="3"/>
            <a:endCxn id="19" idx="2"/>
          </p:cNvCxnSpPr>
          <p:nvPr/>
        </p:nvCxnSpPr>
        <p:spPr>
          <a:xfrm flipV="1">
            <a:off x="3788168" y="3311511"/>
            <a:ext cx="1338571" cy="267914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9945476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367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377745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사전준비사항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1979942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청렴계약제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Preparation02Page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2581860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국방조달참여절차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1624440"/>
            <a:ext cx="1559406" cy="13657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244896"/>
            <a:ext cx="1559406" cy="7452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>
            <a:off x="2409921" y="2841193"/>
            <a:ext cx="1550170" cy="148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4671E-4427-2BDF-F89C-1D2C6FF8CDC4}"/>
              </a:ext>
            </a:extLst>
          </p:cNvPr>
          <p:cNvSpPr/>
          <p:nvPr/>
        </p:nvSpPr>
        <p:spPr>
          <a:xfrm>
            <a:off x="587331" y="3182219"/>
            <a:ext cx="1822590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국내 </a:t>
            </a:r>
            <a:r>
              <a:rPr lang="en-US" altLang="ko-KR" sz="1100" dirty="0">
                <a:solidFill>
                  <a:schemeClr val="tx1"/>
                </a:solidFill>
              </a:rPr>
              <a:t>- </a:t>
            </a:r>
            <a:r>
              <a:rPr lang="ko-KR" altLang="en-US" sz="1100" dirty="0">
                <a:solidFill>
                  <a:schemeClr val="tx1"/>
                </a:solidFill>
              </a:rPr>
              <a:t>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DA384F7-003A-8FF5-8CA0-66426F46808C}"/>
              </a:ext>
            </a:extLst>
          </p:cNvPr>
          <p:cNvSpPr/>
          <p:nvPr/>
        </p:nvSpPr>
        <p:spPr>
          <a:xfrm>
            <a:off x="578095" y="3793800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전자대금청구절차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Domestic03Page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F0E73C03-9092-F094-8AA2-4C44C53A7B41}"/>
              </a:ext>
            </a:extLst>
          </p:cNvPr>
          <p:cNvCxnSpPr>
            <a:cxnSpLocks/>
            <a:stCxn id="18" idx="3"/>
            <a:endCxn id="39" idx="1"/>
          </p:cNvCxnSpPr>
          <p:nvPr/>
        </p:nvCxnSpPr>
        <p:spPr>
          <a:xfrm flipV="1">
            <a:off x="2409921" y="2990174"/>
            <a:ext cx="1550170" cy="44731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6B7AEA11-AAE1-EEF4-81E7-9065429B580D}"/>
              </a:ext>
            </a:extLst>
          </p:cNvPr>
          <p:cNvCxnSpPr>
            <a:cxnSpLocks/>
            <a:stCxn id="19" idx="3"/>
            <a:endCxn id="39" idx="1"/>
          </p:cNvCxnSpPr>
          <p:nvPr/>
        </p:nvCxnSpPr>
        <p:spPr>
          <a:xfrm flipV="1">
            <a:off x="2409921" y="2990174"/>
            <a:ext cx="1550170" cy="10588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B2F7C40-600B-875B-C343-ECDD468EC02B}"/>
              </a:ext>
            </a:extLst>
          </p:cNvPr>
          <p:cNvSpPr/>
          <p:nvPr/>
        </p:nvSpPr>
        <p:spPr>
          <a:xfrm>
            <a:off x="587331" y="4347866"/>
            <a:ext cx="1831826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 err="1">
                <a:solidFill>
                  <a:schemeClr val="tx1"/>
                </a:solidFill>
              </a:rPr>
              <a:t>국외조달원등록절차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Foreign01Page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BD7FC058-62A0-1FAB-CEB6-BB905872E30E}"/>
              </a:ext>
            </a:extLst>
          </p:cNvPr>
          <p:cNvCxnSpPr>
            <a:cxnSpLocks/>
            <a:stCxn id="27" idx="3"/>
            <a:endCxn id="39" idx="1"/>
          </p:cNvCxnSpPr>
          <p:nvPr/>
        </p:nvCxnSpPr>
        <p:spPr>
          <a:xfrm flipV="1">
            <a:off x="2419157" y="2990174"/>
            <a:ext cx="1540934" cy="16129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F66584F-EEE5-DF1C-E16B-45A654981E6D}"/>
              </a:ext>
            </a:extLst>
          </p:cNvPr>
          <p:cNvSpPr/>
          <p:nvPr/>
        </p:nvSpPr>
        <p:spPr>
          <a:xfrm>
            <a:off x="587330" y="4976710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국외조달원등록</a:t>
            </a:r>
            <a:r>
              <a:rPr lang="en-US" altLang="ko-KR" sz="1100" dirty="0">
                <a:solidFill>
                  <a:schemeClr val="tx1"/>
                </a:solidFill>
              </a:rPr>
              <a:t>/</a:t>
            </a:r>
            <a:r>
              <a:rPr lang="ko-KR" altLang="en-US" sz="1100" dirty="0">
                <a:solidFill>
                  <a:schemeClr val="tx1"/>
                </a:solidFill>
              </a:rPr>
              <a:t>변경안내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Foreign02Page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34360397-962A-DE55-F3AB-F52E7CF3D102}"/>
              </a:ext>
            </a:extLst>
          </p:cNvPr>
          <p:cNvCxnSpPr>
            <a:cxnSpLocks/>
            <a:stCxn id="34" idx="3"/>
            <a:endCxn id="39" idx="1"/>
          </p:cNvCxnSpPr>
          <p:nvPr/>
        </p:nvCxnSpPr>
        <p:spPr>
          <a:xfrm flipV="1">
            <a:off x="2419157" y="2990174"/>
            <a:ext cx="1540934" cy="224180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201F9E-7F68-9B8B-10DA-19342D571C18}"/>
              </a:ext>
            </a:extLst>
          </p:cNvPr>
          <p:cNvSpPr/>
          <p:nvPr/>
        </p:nvSpPr>
        <p:spPr>
          <a:xfrm>
            <a:off x="587330" y="5559027"/>
            <a:ext cx="1831827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국외전자입찰절차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>
                <a:solidFill>
                  <a:schemeClr val="tx1"/>
                </a:solidFill>
                <a:latin typeface="Calibri" panose="020F0502020204030204" pitchFamily="34" charset="0"/>
              </a:rPr>
              <a:t>Foreign03Page</a:t>
            </a:r>
            <a:r>
              <a:rPr lang="en-US" altLang="ko-KR" sz="1100" dirty="0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48" name="직선 화살표 연결선 47">
            <a:extLst>
              <a:ext uri="{FF2B5EF4-FFF2-40B4-BE49-F238E27FC236}">
                <a16:creationId xmlns:a16="http://schemas.microsoft.com/office/drawing/2014/main" id="{0D4D0308-2143-C1F4-B3DA-D7229C517CFE}"/>
              </a:ext>
            </a:extLst>
          </p:cNvPr>
          <p:cNvCxnSpPr>
            <a:stCxn id="46" idx="3"/>
            <a:endCxn id="39" idx="1"/>
          </p:cNvCxnSpPr>
          <p:nvPr/>
        </p:nvCxnSpPr>
        <p:spPr>
          <a:xfrm flipV="1">
            <a:off x="2419157" y="2990174"/>
            <a:ext cx="1540934" cy="282412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F1979A7-187B-8CC0-5EAD-9E911A321D65}"/>
              </a:ext>
            </a:extLst>
          </p:cNvPr>
          <p:cNvSpPr/>
          <p:nvPr/>
        </p:nvSpPr>
        <p:spPr>
          <a:xfrm>
            <a:off x="2888323" y="5481964"/>
            <a:ext cx="1294602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관련사이트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SitePage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BBF5535-8BD2-DA27-9508-2AAACD963DE2}"/>
              </a:ext>
            </a:extLst>
          </p:cNvPr>
          <p:cNvSpPr/>
          <p:nvPr/>
        </p:nvSpPr>
        <p:spPr>
          <a:xfrm>
            <a:off x="4375355" y="5462214"/>
            <a:ext cx="1421601" cy="510540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>
                <a:solidFill>
                  <a:schemeClr val="tx1"/>
                </a:solidFill>
              </a:rPr>
              <a:t>&lt;&lt;App Page&gt;&gt;</a:t>
            </a:r>
          </a:p>
          <a:p>
            <a:pPr lvl="0" algn="ctr"/>
            <a:r>
              <a:rPr lang="ko-KR" altLang="en-US" sz="1100" dirty="0">
                <a:solidFill>
                  <a:schemeClr val="tx1"/>
                </a:solidFill>
                <a:latin typeface="맑은 고딕" panose="020B0503020000020004" pitchFamily="50" charset="-127"/>
              </a:rPr>
              <a:t>앱 이용 안내</a:t>
            </a:r>
            <a:endParaRPr lang="en-US" altLang="ko-KR" sz="1100" dirty="0">
              <a:solidFill>
                <a:schemeClr val="tx1"/>
              </a:solidFill>
            </a:endParaRPr>
          </a:p>
          <a:p>
            <a:pPr algn="ctr"/>
            <a:r>
              <a:rPr lang="en-US" altLang="ko-KR" sz="1100" dirty="0" err="1">
                <a:solidFill>
                  <a:schemeClr val="tx1"/>
                </a:solidFill>
                <a:latin typeface="Calibri" panose="020F0502020204030204" pitchFamily="34" charset="0"/>
              </a:rPr>
              <a:t>AppSrvcExpln</a:t>
            </a:r>
            <a:r>
              <a:rPr lang="en-US" altLang="ko-KR" sz="1100" dirty="0" err="1">
                <a:solidFill>
                  <a:schemeClr val="tx1"/>
                </a:solidFill>
              </a:rPr>
              <a:t>.tsx</a:t>
            </a:r>
            <a:r>
              <a:rPr lang="en-US" altLang="ko-KR" sz="1100" b="1" baseline="30000" dirty="0">
                <a:solidFill>
                  <a:schemeClr val="tx1"/>
                </a:solidFill>
                <a:latin typeface="+mn-ea"/>
              </a:rPr>
              <a:t> 1)</a:t>
            </a:r>
            <a:endParaRPr lang="en-US" altLang="ko-KR" sz="1100" dirty="0">
              <a:solidFill>
                <a:schemeClr val="tx1"/>
              </a:solidFill>
            </a:endParaRP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DCFF2270-4921-2DBE-4FE7-F47558EADD78}"/>
              </a:ext>
            </a:extLst>
          </p:cNvPr>
          <p:cNvCxnSpPr>
            <a:stCxn id="68" idx="0"/>
            <a:endCxn id="39" idx="2"/>
          </p:cNvCxnSpPr>
          <p:nvPr/>
        </p:nvCxnSpPr>
        <p:spPr>
          <a:xfrm flipV="1">
            <a:off x="3535624" y="3810190"/>
            <a:ext cx="1288067" cy="167177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E951C1A0-315F-228E-7726-753A2B3E22C9}"/>
              </a:ext>
            </a:extLst>
          </p:cNvPr>
          <p:cNvCxnSpPr>
            <a:stCxn id="69" idx="0"/>
            <a:endCxn id="39" idx="2"/>
          </p:cNvCxnSpPr>
          <p:nvPr/>
        </p:nvCxnSpPr>
        <p:spPr>
          <a:xfrm flipH="1" flipV="1">
            <a:off x="4823691" y="3810190"/>
            <a:ext cx="262465" cy="165202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D3CB4D9-52F7-0D5C-68EF-1168EC02BFE2}"/>
              </a:ext>
            </a:extLst>
          </p:cNvPr>
          <p:cNvSpPr/>
          <p:nvPr/>
        </p:nvSpPr>
        <p:spPr>
          <a:xfrm>
            <a:off x="6849666" y="2747194"/>
            <a:ext cx="1945632" cy="48595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</a:t>
            </a:r>
            <a:r>
              <a:rPr lang="ko-KR" altLang="en-US" sz="1100" dirty="0"/>
              <a:t>공통</a:t>
            </a:r>
            <a:r>
              <a:rPr lang="en-US" altLang="ko-KR" sz="1100" dirty="0"/>
              <a:t>Controller&gt;&gt;</a:t>
            </a:r>
          </a:p>
          <a:p>
            <a:pPr algn="ctr"/>
            <a:r>
              <a:rPr lang="en-US" altLang="ko-KR" sz="1100" dirty="0" err="1"/>
              <a:t>ComController</a:t>
            </a:r>
            <a:endParaRPr lang="en-US" altLang="ko-KR" sz="1100" dirty="0"/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263AF93D-84A9-5883-893A-24F5B3B4EDAB}"/>
              </a:ext>
            </a:extLst>
          </p:cNvPr>
          <p:cNvCxnSpPr>
            <a:cxnSpLocks/>
            <a:stCxn id="39" idx="3"/>
            <a:endCxn id="30" idx="1"/>
          </p:cNvCxnSpPr>
          <p:nvPr/>
        </p:nvCxnSpPr>
        <p:spPr>
          <a:xfrm>
            <a:off x="5687291" y="2990174"/>
            <a:ext cx="1162375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23540558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사용자 등록 하단 </a:t>
            </a:r>
            <a:r>
              <a:rPr lang="en-US" altLang="ko-KR" dirty="0"/>
              <a:t>[</a:t>
            </a:r>
            <a:r>
              <a:rPr lang="ko-KR" altLang="en-US" dirty="0"/>
              <a:t>유의사항</a:t>
            </a:r>
            <a:r>
              <a:rPr lang="en-US" altLang="ko-KR" dirty="0"/>
              <a:t>]</a:t>
            </a:r>
            <a:r>
              <a:rPr lang="ko-KR" altLang="en-US" dirty="0"/>
              <a:t> 안내 추가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/>
              <a:t>모바일에서는 사용자 등록되지 않습니다</a:t>
            </a:r>
            <a:r>
              <a:rPr lang="en-US" altLang="ko-KR" dirty="0"/>
              <a:t>. PC </a:t>
            </a:r>
            <a:r>
              <a:rPr lang="ko-KR" altLang="en-US" dirty="0"/>
              <a:t>버전에서 </a:t>
            </a:r>
            <a:r>
              <a:rPr lang="ko-KR" altLang="en-US" dirty="0" err="1"/>
              <a:t>업체등록</a:t>
            </a:r>
            <a:r>
              <a:rPr lang="ko-KR" altLang="en-US" dirty="0"/>
              <a:t> 및 사용자 등록을 진행한 이후 모바일 앱 서비스 사용이 가능합니다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사전준비사항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사전준비사항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사전준비사항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MUI-CM-05-M07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70846"/>
          <a:stretch/>
        </p:blipFill>
        <p:spPr>
          <a:xfrm>
            <a:off x="675399" y="1493928"/>
            <a:ext cx="2712027" cy="471528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b="39010"/>
          <a:stretch/>
        </p:blipFill>
        <p:spPr>
          <a:xfrm>
            <a:off x="3795734" y="1493927"/>
            <a:ext cx="1291541" cy="469786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/>
          <a:srcRect t="61443"/>
          <a:stretch/>
        </p:blipFill>
        <p:spPr>
          <a:xfrm>
            <a:off x="5216220" y="1493927"/>
            <a:ext cx="1291541" cy="296990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6421696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804237253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369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청렴계약제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청렴계약제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조달사전준비안내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청렴계약제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MUI-CM-05-M08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47332"/>
          <a:stretch/>
        </p:blipFill>
        <p:spPr>
          <a:xfrm>
            <a:off x="675399" y="1493928"/>
            <a:ext cx="2712027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33839" y="1493927"/>
            <a:ext cx="1435816" cy="4766110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135352500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국방조달참여절차</a:t>
            </a:r>
            <a:endParaRPr lang="en-US" altLang="ko-KR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</a:t>
            </a:r>
            <a:r>
              <a:rPr lang="ko-KR" altLang="en-US" dirty="0" err="1">
                <a:latin typeface="+mn-ea"/>
              </a:rPr>
              <a:t>참여절차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국방조달참여절차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MUI-CM-05-M09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3" name="그림 22"/>
          <p:cNvPicPr>
            <a:picLocks noChangeAspect="1"/>
          </p:cNvPicPr>
          <p:nvPr/>
        </p:nvPicPr>
        <p:blipFill rotWithShape="1">
          <a:blip r:embed="rId2"/>
          <a:srcRect b="80601"/>
          <a:stretch/>
        </p:blipFill>
        <p:spPr>
          <a:xfrm>
            <a:off x="3795734" y="1493927"/>
            <a:ext cx="1281087" cy="4723993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3"/>
          <a:srcRect b="24753"/>
          <a:stretch/>
        </p:blipFill>
        <p:spPr>
          <a:xfrm>
            <a:off x="675399" y="1493927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 rotWithShape="1">
          <a:blip r:embed="rId2"/>
          <a:srcRect t="19435" b="60235"/>
          <a:stretch/>
        </p:blipFill>
        <p:spPr>
          <a:xfrm>
            <a:off x="5226674" y="1493928"/>
            <a:ext cx="1281087" cy="4950416"/>
          </a:xfrm>
          <a:prstGeom prst="rect">
            <a:avLst/>
          </a:prstGeom>
        </p:spPr>
      </p:pic>
      <p:sp>
        <p:nvSpPr>
          <p:cNvPr id="22" name="직사각형 2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7513105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371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국내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전자입찰절차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MUI-CM-05-M010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4916"/>
          <a:stretch/>
        </p:blipFill>
        <p:spPr>
          <a:xfrm>
            <a:off x="675399" y="1493929"/>
            <a:ext cx="2712027" cy="4706574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64448"/>
          <a:stretch/>
        </p:blipFill>
        <p:spPr>
          <a:xfrm>
            <a:off x="3795734" y="1493928"/>
            <a:ext cx="1157008" cy="4732702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35486" b="27326"/>
          <a:stretch/>
        </p:blipFill>
        <p:spPr>
          <a:xfrm>
            <a:off x="5350753" y="1493928"/>
            <a:ext cx="1157008" cy="4950415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022755313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372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전자대금청구절차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국내조달 전자대금청구절차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국내조달안내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전자대금청구절차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MUI-CM-05-M11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t="1" b="66427"/>
          <a:stretch/>
        </p:blipFill>
        <p:spPr>
          <a:xfrm>
            <a:off x="675399" y="1493928"/>
            <a:ext cx="2717346" cy="474141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5" name="그림 14"/>
          <p:cNvPicPr>
            <a:picLocks noChangeAspect="1"/>
          </p:cNvPicPr>
          <p:nvPr/>
        </p:nvPicPr>
        <p:blipFill rotWithShape="1">
          <a:blip r:embed="rId2"/>
          <a:srcRect b="26769"/>
          <a:stretch/>
        </p:blipFill>
        <p:spPr>
          <a:xfrm>
            <a:off x="3790415" y="1493927"/>
            <a:ext cx="1241197" cy="4723993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t="73096"/>
          <a:stretch/>
        </p:blipFill>
        <p:spPr>
          <a:xfrm>
            <a:off x="5266564" y="1493927"/>
            <a:ext cx="1241197" cy="1735490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2496272065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373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solidFill>
                  <a:prstClr val="black"/>
                </a:solidFill>
                <a:latin typeface="맑은 고딕" panose="020B0503020000020004" pitchFamily="50" charset="-127"/>
              </a:rPr>
              <a:t>국외조달원</a:t>
            </a:r>
            <a:r>
              <a:rPr lang="ko-KR" altLang="en-US" dirty="0">
                <a:solidFill>
                  <a:prstClr val="black"/>
                </a:solidFill>
                <a:latin typeface="맑은 고딕" panose="020B0503020000020004" pitchFamily="50" charset="-127"/>
              </a:rPr>
              <a:t> 등록절차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59751"/>
          <a:stretch/>
        </p:blipFill>
        <p:spPr>
          <a:xfrm>
            <a:off x="675399" y="1493927"/>
            <a:ext cx="2712027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15799"/>
          <a:stretch/>
        </p:blipFill>
        <p:spPr>
          <a:xfrm>
            <a:off x="3795734" y="1493926"/>
            <a:ext cx="1301150" cy="4741411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84046"/>
          <a:stretch/>
        </p:blipFill>
        <p:spPr>
          <a:xfrm>
            <a:off x="5212677" y="1493926"/>
            <a:ext cx="1301150" cy="898384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328916524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국외조달원</a:t>
            </a:r>
            <a:r>
              <a:rPr lang="ko-KR" altLang="en-US" dirty="0">
                <a:latin typeface="+mn-ea"/>
              </a:rPr>
              <a:t> 등록</a:t>
            </a:r>
            <a:r>
              <a:rPr lang="en-US" altLang="ko-KR" dirty="0">
                <a:latin typeface="+mn-ea"/>
              </a:rPr>
              <a:t>/</a:t>
            </a:r>
            <a:r>
              <a:rPr lang="ko-KR" altLang="en-US" dirty="0" err="1">
                <a:latin typeface="+mn-ea"/>
              </a:rPr>
              <a:t>변경안내</a:t>
            </a:r>
            <a:r>
              <a:rPr lang="ko-KR" altLang="en-US" dirty="0">
                <a:latin typeface="+mn-ea"/>
              </a:rPr>
              <a:t>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 err="1"/>
              <a:t>국외조달원</a:t>
            </a:r>
            <a:r>
              <a:rPr lang="ko-KR" altLang="en-US" dirty="0"/>
              <a:t> 등록</a:t>
            </a:r>
            <a:r>
              <a:rPr lang="en-US" altLang="ko-KR" dirty="0"/>
              <a:t>/</a:t>
            </a:r>
            <a:r>
              <a:rPr lang="ko-KR" altLang="en-US" dirty="0" err="1"/>
              <a:t>변경안내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86369"/>
          <a:stretch/>
        </p:blipFill>
        <p:spPr>
          <a:xfrm>
            <a:off x="675399" y="1493928"/>
            <a:ext cx="2712027" cy="4732702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/>
          <a:srcRect b="71977"/>
          <a:stretch/>
        </p:blipFill>
        <p:spPr>
          <a:xfrm>
            <a:off x="3795735" y="1493927"/>
            <a:ext cx="1311846" cy="4706576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2"/>
          <a:srcRect t="28127" b="42347"/>
          <a:stretch/>
        </p:blipFill>
        <p:spPr>
          <a:xfrm>
            <a:off x="5195915" y="1493928"/>
            <a:ext cx="1311846" cy="4959124"/>
          </a:xfrm>
          <a:prstGeom prst="rect">
            <a:avLst/>
          </a:prstGeom>
        </p:spPr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3877668449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국외 </a:t>
            </a:r>
            <a:r>
              <a:rPr lang="en-US" altLang="ko-KR" dirty="0"/>
              <a:t>- </a:t>
            </a:r>
            <a:r>
              <a:rPr lang="ko-KR" altLang="en-US" dirty="0"/>
              <a:t>전자입찰절차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 err="1">
                <a:latin typeface="+mn-ea"/>
              </a:rPr>
              <a:t>국외조달</a:t>
            </a:r>
            <a:r>
              <a:rPr lang="ko-KR" altLang="en-US" dirty="0">
                <a:latin typeface="+mn-ea"/>
              </a:rPr>
              <a:t> 전자입찰절차 정보를 안내한다 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국외조달안내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전자입찰절차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17079"/>
          <a:stretch/>
        </p:blipFill>
        <p:spPr>
          <a:xfrm>
            <a:off x="675399" y="1493927"/>
            <a:ext cx="2712028" cy="472399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95733" y="1493927"/>
            <a:ext cx="1161094" cy="4723993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91562" y="1496757"/>
            <a:ext cx="1216199" cy="4399165"/>
          </a:xfrm>
          <a:prstGeom prst="rect">
            <a:avLst/>
          </a:prstGeom>
        </p:spPr>
      </p:pic>
      <p:sp>
        <p:nvSpPr>
          <p:cNvPr id="17" name="타원 1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9935417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376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관련사이트</a:t>
            </a: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관련사이트 정보를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이용안내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/>
              <a:t>관련사이트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MUI-CM-05-M15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89592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로그인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01131" y="5542282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+mn-ea"/>
              </a:rPr>
              <a:t>로그아웃 되었습니다</a:t>
            </a:r>
            <a:r>
              <a:rPr lang="en-US" altLang="ko-KR" sz="700" dirty="0">
                <a:solidFill>
                  <a:schemeClr val="bg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/>
          <a:srcRect b="28789"/>
          <a:stretch/>
        </p:blipFill>
        <p:spPr>
          <a:xfrm>
            <a:off x="675399" y="1493927"/>
            <a:ext cx="2712027" cy="4967833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5399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201938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3"/>
          <a:srcRect b="75403"/>
          <a:stretch/>
        </p:blipFill>
        <p:spPr>
          <a:xfrm>
            <a:off x="3805204" y="1493928"/>
            <a:ext cx="1230093" cy="4732702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 rotWithShape="1">
          <a:blip r:embed="rId3"/>
          <a:srcRect t="24552" b="49629"/>
          <a:stretch/>
        </p:blipFill>
        <p:spPr>
          <a:xfrm>
            <a:off x="5277668" y="1493929"/>
            <a:ext cx="1230093" cy="4967832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0823945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앱 이용에 대한 안내 인덱스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표시 안내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메인홈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클릭 시 각 화면 </a:t>
            </a:r>
            <a:r>
              <a:rPr lang="en-US" altLang="ko-KR" dirty="0" smtClean="0"/>
              <a:t>1</a:t>
            </a:r>
            <a:r>
              <a:rPr lang="ko-KR" altLang="en-US" dirty="0" smtClean="0"/>
              <a:t>번 안내 표시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  <a:p>
            <a:pPr marL="228600" indent="-228600">
              <a:buAutoNum type="arabicPeriod"/>
            </a:pPr>
            <a:r>
              <a:rPr lang="ko-KR" altLang="en-US" dirty="0" smtClean="0"/>
              <a:t>닫기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메인 페이지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이용안내 닫기</a:t>
            </a:r>
            <a:endParaRPr lang="en-US" altLang="ko-KR" dirty="0" smtClean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377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23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788121" y="1582647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190693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" name="그룹 24"/>
            <p:cNvGrpSpPr/>
            <p:nvPr/>
          </p:nvGrpSpPr>
          <p:grpSpPr>
            <a:xfrm>
              <a:off x="677960" y="5859779"/>
              <a:ext cx="2712027" cy="372519"/>
              <a:chOff x="3788901" y="5859779"/>
              <a:chExt cx="2712027" cy="372519"/>
            </a:xfrm>
          </p:grpSpPr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378890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4466908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144915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직사각형 28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81985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/>
              <p:cNvSpPr/>
              <p:nvPr/>
            </p:nvSpPr>
            <p:spPr>
              <a:xfrm>
                <a:off x="4028078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3872308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홈</a:t>
                </a:r>
              </a:p>
            </p:txBody>
          </p:sp>
          <p:sp>
            <p:nvSpPr>
              <p:cNvPr id="32" name="타원 31"/>
              <p:cNvSpPr/>
              <p:nvPr/>
            </p:nvSpPr>
            <p:spPr>
              <a:xfrm>
                <a:off x="4716846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561076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통합검색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4" name="타원 33"/>
              <p:cNvSpPr/>
              <p:nvPr/>
            </p:nvSpPr>
            <p:spPr>
              <a:xfrm>
                <a:off x="5386873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231103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챗봇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6" name="타원 35"/>
              <p:cNvSpPr/>
              <p:nvPr/>
            </p:nvSpPr>
            <p:spPr>
              <a:xfrm>
                <a:off x="6069480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913710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마이</a:t>
                </a:r>
              </a:p>
            </p:txBody>
          </p:sp>
        </p:grpSp>
        <p:sp>
          <p:nvSpPr>
            <p:cNvPr id="38" name="타원 37"/>
            <p:cNvSpPr/>
            <p:nvPr/>
          </p:nvSpPr>
          <p:spPr>
            <a:xfrm>
              <a:off x="2446129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타원 38"/>
            <p:cNvSpPr/>
            <p:nvPr/>
          </p:nvSpPr>
          <p:spPr>
            <a:xfrm>
              <a:off x="2759886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/>
            <p:cNvSpPr/>
            <p:nvPr/>
          </p:nvSpPr>
          <p:spPr>
            <a:xfrm>
              <a:off x="3073643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283172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41019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3" name="모서리가 둥근 직사각형 42"/>
            <p:cNvSpPr/>
            <p:nvPr/>
          </p:nvSpPr>
          <p:spPr>
            <a:xfrm>
              <a:off x="891228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89927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바로가기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45" name="모서리가 둥근 직사각형 44"/>
            <p:cNvSpPr/>
            <p:nvPr/>
          </p:nvSpPr>
          <p:spPr>
            <a:xfrm>
              <a:off x="1508351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모서리가 둥근 직사각형 45"/>
            <p:cNvSpPr/>
            <p:nvPr/>
          </p:nvSpPr>
          <p:spPr>
            <a:xfrm>
              <a:off x="2125474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2742597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891228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1508351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2125474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2742597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30790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사용 안내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537337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>
                  <a:latin typeface="+mn-ea"/>
                </a:rPr>
                <a:t>사전준비안내</a:t>
              </a:r>
              <a:endParaRPr lang="ko-KR" altLang="en-US" sz="800" dirty="0">
                <a:latin typeface="+mn-ea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891228" y="4736426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891227" y="4903435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5152551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국내조달안내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891228" y="5351640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모서리가 둥근 직사각형 57"/>
            <p:cNvSpPr/>
            <p:nvPr/>
          </p:nvSpPr>
          <p:spPr>
            <a:xfrm>
              <a:off x="891227" y="5518649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rot="16200000">
              <a:off x="3143548" y="4560840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/>
            <p:cNvGrpSpPr/>
            <p:nvPr/>
          </p:nvGrpSpPr>
          <p:grpSpPr>
            <a:xfrm rot="16200000">
              <a:off x="3143549" y="5181230"/>
              <a:ext cx="94010" cy="47005"/>
              <a:chOff x="6812560" y="3297172"/>
              <a:chExt cx="94010" cy="47005"/>
            </a:xfrm>
          </p:grpSpPr>
          <p:cxnSp>
            <p:nvCxnSpPr>
              <p:cNvPr id="63" name="직선 연결선 6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/>
            <p:cNvGrpSpPr/>
            <p:nvPr/>
          </p:nvGrpSpPr>
          <p:grpSpPr>
            <a:xfrm>
              <a:off x="767702" y="2113949"/>
              <a:ext cx="2527420" cy="477995"/>
              <a:chOff x="786326" y="2270279"/>
              <a:chExt cx="2527420" cy="477995"/>
            </a:xfrm>
          </p:grpSpPr>
          <p:sp>
            <p:nvSpPr>
              <p:cNvPr id="66" name="모서리가 둥근 직사각형 65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타원 66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76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공고명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77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공고번호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70" name="타원 69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7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72" name="타원 71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74" name="직선 연결선 73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직선 연결선 74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/>
          <p:cNvSpPr txBox="1"/>
          <p:nvPr/>
        </p:nvSpPr>
        <p:spPr>
          <a:xfrm>
            <a:off x="897083" y="3116755"/>
            <a:ext cx="2273780" cy="1354217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ko-KR" altLang="en-US" sz="1000" b="1" dirty="0" smtClean="0">
                <a:solidFill>
                  <a:schemeClr val="bg1"/>
                </a:solidFill>
              </a:rPr>
              <a:t>앱 이용안내</a:t>
            </a:r>
            <a:endParaRPr lang="en-US" altLang="ko-KR" sz="900" b="1" dirty="0" smtClean="0">
              <a:solidFill>
                <a:schemeClr val="bg1"/>
              </a:solidFill>
            </a:endParaRPr>
          </a:p>
          <a:p>
            <a:endParaRPr lang="en-US" altLang="ko-KR" sz="900" dirty="0" smtClean="0">
              <a:solidFill>
                <a:schemeClr val="bg1"/>
              </a:solidFill>
            </a:endParaRPr>
          </a:p>
          <a:p>
            <a:r>
              <a:rPr lang="ko-KR" altLang="en-US" sz="900" dirty="0" smtClean="0">
                <a:solidFill>
                  <a:schemeClr val="bg1"/>
                </a:solidFill>
              </a:rPr>
              <a:t>안내를 원하시는 항목을 선택해주세요</a:t>
            </a:r>
            <a:r>
              <a:rPr lang="en-US" altLang="ko-KR" sz="900" dirty="0" smtClean="0">
                <a:solidFill>
                  <a:schemeClr val="bg1"/>
                </a:solidFill>
              </a:rPr>
              <a:t>.</a:t>
            </a:r>
          </a:p>
          <a:p>
            <a:endParaRPr lang="en-US" altLang="ko-KR" sz="900" dirty="0" smtClean="0">
              <a:solidFill>
                <a:schemeClr val="bg1"/>
              </a:solidFill>
            </a:endParaRPr>
          </a:p>
          <a:p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err="1" smtClean="0">
                <a:solidFill>
                  <a:schemeClr val="bg1"/>
                </a:solidFill>
              </a:rPr>
              <a:t>메인홈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err="1" smtClean="0">
                <a:solidFill>
                  <a:schemeClr val="bg1"/>
                </a:solidFill>
              </a:rPr>
              <a:t>마이페이지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smtClean="0">
                <a:solidFill>
                  <a:schemeClr val="bg1"/>
                </a:solidFill>
              </a:rPr>
              <a:t>메뉴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smtClean="0">
                <a:solidFill>
                  <a:schemeClr val="bg1"/>
                </a:solidFill>
              </a:rPr>
              <a:t>조달계획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r>
              <a:rPr lang="ko-KR" altLang="en-US" sz="900" dirty="0">
                <a:solidFill>
                  <a:schemeClr val="bg1"/>
                </a:solidFill>
              </a:rPr>
              <a:t/>
            </a:r>
            <a:br>
              <a:rPr lang="ko-KR" altLang="en-US" sz="900" dirty="0">
                <a:solidFill>
                  <a:schemeClr val="bg1"/>
                </a:solidFill>
              </a:rPr>
            </a:br>
            <a:r>
              <a:rPr lang="en-US" altLang="ko-KR" sz="900" dirty="0" smtClean="0">
                <a:solidFill>
                  <a:schemeClr val="bg1"/>
                </a:solidFill>
              </a:rPr>
              <a:t>- </a:t>
            </a:r>
            <a:r>
              <a:rPr lang="ko-KR" altLang="en-US" sz="900" dirty="0" smtClean="0">
                <a:solidFill>
                  <a:schemeClr val="bg1"/>
                </a:solidFill>
              </a:rPr>
              <a:t>입찰</a:t>
            </a:r>
            <a:r>
              <a:rPr lang="en-US" altLang="ko-KR" sz="900" dirty="0" smtClean="0">
                <a:solidFill>
                  <a:schemeClr val="bg1"/>
                </a:solidFill>
              </a:rPr>
              <a:t>		&gt;</a:t>
            </a:r>
            <a:endParaRPr lang="ko-KR" altLang="en-US" sz="900" dirty="0">
              <a:solidFill>
                <a:schemeClr val="bg1"/>
              </a:solidFill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86" name="그룹 8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7" name="직사각형 8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  <p:sp>
        <p:nvSpPr>
          <p:cNvPr id="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881401" y="5771878"/>
            <a:ext cx="2305144" cy="317083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lvl="0"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1000" kern="0" dirty="0">
                <a:solidFill>
                  <a:srgbClr val="0070C0"/>
                </a:solidFill>
              </a:rPr>
              <a:t>앱 이용안내 닫기</a:t>
            </a: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5859778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58934827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앱 이용에 대한 안내 화면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전체 표시 안내 목록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메인홈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메뉴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입찰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설명 앞 숫자는 순차 노출하는 경우 진행 순서를 의미함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설명 앞 숫자는 제거하고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아래 참고 이미지와 같이 한 화면에 모두 표시하여도 무방함</a:t>
            </a:r>
            <a:r>
              <a:rPr lang="en-US" altLang="ko-KR" dirty="0" smtClean="0"/>
              <a:t>.</a:t>
            </a:r>
          </a:p>
          <a:p>
            <a:pPr marL="228600" indent="-228600">
              <a:buAutoNum type="arabicPeriod"/>
            </a:pPr>
            <a:r>
              <a:rPr lang="ko-KR" altLang="en-US" dirty="0" smtClean="0"/>
              <a:t>레이어 </a:t>
            </a:r>
            <a:r>
              <a:rPr lang="ko-KR" altLang="en-US" dirty="0" err="1" smtClean="0"/>
              <a:t>최상단에</a:t>
            </a:r>
            <a:r>
              <a:rPr lang="ko-KR" altLang="en-US" dirty="0" smtClean="0"/>
              <a:t> 표시되는 버튼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앱 이용안내 닫기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메인 홈 이동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다음 클릭 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이전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다음 안내 표시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  &gt; </a:t>
            </a:r>
            <a:r>
              <a:rPr lang="ko-KR" altLang="en-US" dirty="0" smtClean="0"/>
              <a:t>첫 화면</a:t>
            </a:r>
            <a:r>
              <a:rPr lang="en-US" altLang="ko-KR" dirty="0" smtClean="0"/>
              <a:t>, </a:t>
            </a:r>
            <a:r>
              <a:rPr lang="ko-KR" altLang="en-US" dirty="0" smtClean="0"/>
              <a:t>마지막 화면에서는 각각 이전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다음 버튼 </a:t>
            </a:r>
            <a:r>
              <a:rPr lang="en-US" altLang="ko-KR" dirty="0" smtClean="0"/>
              <a:t>disable </a:t>
            </a:r>
            <a:r>
              <a:rPr lang="ko-KR" altLang="en-US" dirty="0" smtClean="0"/>
              <a:t>처리</a:t>
            </a:r>
            <a:endParaRPr lang="en-US" altLang="ko-KR" dirty="0"/>
          </a:p>
          <a:p>
            <a:pPr marL="228600" indent="-228600">
              <a:buAutoNum type="arabicPeriod"/>
            </a:pP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378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2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grpSp>
        <p:nvGrpSpPr>
          <p:cNvPr id="6" name="그룹 5"/>
          <p:cNvGrpSpPr/>
          <p:nvPr/>
        </p:nvGrpSpPr>
        <p:grpSpPr>
          <a:xfrm>
            <a:off x="677960" y="1493927"/>
            <a:ext cx="2712027" cy="4738372"/>
            <a:chOff x="677960" y="1493927"/>
            <a:chExt cx="2712027" cy="473837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7960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23" name="Picture 2">
              <a:extLst>
                <a:ext uri="{FF2B5EF4-FFF2-40B4-BE49-F238E27FC236}">
                  <a16:creationId xmlns:a16="http://schemas.microsoft.com/office/drawing/2014/main" id="{1C4B5929-C206-23D9-2234-19ADD0E7AA5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01" r="32311"/>
            <a:stretch>
              <a:fillRect/>
            </a:stretch>
          </p:blipFill>
          <p:spPr bwMode="auto">
            <a:xfrm>
              <a:off x="788121" y="1582647"/>
              <a:ext cx="1252261" cy="214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190693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5" name="그룹 24"/>
            <p:cNvGrpSpPr/>
            <p:nvPr/>
          </p:nvGrpSpPr>
          <p:grpSpPr>
            <a:xfrm>
              <a:off x="677960" y="5859779"/>
              <a:ext cx="2712027" cy="372519"/>
              <a:chOff x="3788901" y="5859779"/>
              <a:chExt cx="2712027" cy="372519"/>
            </a:xfrm>
          </p:grpSpPr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378890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4466908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144915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직사각형 28">
                <a:extLst>
                  <a:ext uri="{FF2B5EF4-FFF2-40B4-BE49-F238E27FC236}">
                    <a16:creationId xmlns:a16="http://schemas.microsoft.com/office/drawing/2014/main" id="{F56F1743-11A0-EA94-9184-4E42C0A37F9C}"/>
                  </a:ext>
                </a:extLst>
              </p:cNvPr>
              <p:cNvSpPr/>
              <p:nvPr/>
            </p:nvSpPr>
            <p:spPr>
              <a:xfrm>
                <a:off x="5819851" y="5859779"/>
                <a:ext cx="681077" cy="37251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/>
              <p:cNvSpPr/>
              <p:nvPr/>
            </p:nvSpPr>
            <p:spPr>
              <a:xfrm>
                <a:off x="4028078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3872308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홈</a:t>
                </a:r>
              </a:p>
            </p:txBody>
          </p:sp>
          <p:sp>
            <p:nvSpPr>
              <p:cNvPr id="32" name="타원 31"/>
              <p:cNvSpPr/>
              <p:nvPr/>
            </p:nvSpPr>
            <p:spPr>
              <a:xfrm>
                <a:off x="4716846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561076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smtClean="0">
                    <a:latin typeface="+mn-ea"/>
                  </a:rPr>
                  <a:t>통합검색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4" name="타원 33"/>
              <p:cNvSpPr/>
              <p:nvPr/>
            </p:nvSpPr>
            <p:spPr>
              <a:xfrm>
                <a:off x="5386873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231103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 err="1" smtClean="0">
                    <a:latin typeface="+mn-ea"/>
                  </a:rPr>
                  <a:t>챗봇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36" name="타원 35"/>
              <p:cNvSpPr/>
              <p:nvPr/>
            </p:nvSpPr>
            <p:spPr>
              <a:xfrm>
                <a:off x="6069480" y="5901000"/>
                <a:ext cx="187961" cy="18796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5913710" y="6119441"/>
                <a:ext cx="499500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700" dirty="0">
                    <a:latin typeface="+mn-ea"/>
                  </a:rPr>
                  <a:t>마이</a:t>
                </a:r>
              </a:p>
            </p:txBody>
          </p:sp>
        </p:grpSp>
        <p:sp>
          <p:nvSpPr>
            <p:cNvPr id="38" name="타원 37"/>
            <p:cNvSpPr/>
            <p:nvPr/>
          </p:nvSpPr>
          <p:spPr>
            <a:xfrm>
              <a:off x="2446129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타원 38"/>
            <p:cNvSpPr/>
            <p:nvPr/>
          </p:nvSpPr>
          <p:spPr>
            <a:xfrm>
              <a:off x="2759886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/>
            <p:cNvSpPr/>
            <p:nvPr/>
          </p:nvSpPr>
          <p:spPr>
            <a:xfrm>
              <a:off x="3073643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2831721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직선 연결선 41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41019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3" name="모서리가 둥근 직사각형 42"/>
            <p:cNvSpPr/>
            <p:nvPr/>
          </p:nvSpPr>
          <p:spPr>
            <a:xfrm>
              <a:off x="891228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899271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 err="1">
                  <a:latin typeface="+mn-ea"/>
                </a:rPr>
                <a:t>바로가기</a:t>
              </a:r>
              <a:endParaRPr lang="ko-KR" altLang="en-US" sz="900" b="1" dirty="0">
                <a:latin typeface="+mn-ea"/>
              </a:endParaRPr>
            </a:p>
          </p:txBody>
        </p:sp>
        <p:sp>
          <p:nvSpPr>
            <p:cNvPr id="45" name="모서리가 둥근 직사각형 44"/>
            <p:cNvSpPr/>
            <p:nvPr/>
          </p:nvSpPr>
          <p:spPr>
            <a:xfrm>
              <a:off x="1508351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모서리가 둥근 직사각형 45"/>
            <p:cNvSpPr/>
            <p:nvPr/>
          </p:nvSpPr>
          <p:spPr>
            <a:xfrm>
              <a:off x="2125474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2742597" y="3057723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891228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1508351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2125474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모서리가 둥근 직사각형 50"/>
            <p:cNvSpPr/>
            <p:nvPr/>
          </p:nvSpPr>
          <p:spPr>
            <a:xfrm>
              <a:off x="2742597" y="3562354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307902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사용 안내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537337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>
                  <a:latin typeface="+mn-ea"/>
                </a:rPr>
                <a:t>사전준비안내</a:t>
              </a:r>
              <a:endParaRPr lang="ko-KR" altLang="en-US" sz="800" dirty="0">
                <a:latin typeface="+mn-ea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891228" y="4736426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891227" y="4903435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5152551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국내조달안내</a:t>
              </a:r>
            </a:p>
          </p:txBody>
        </p:sp>
        <p:sp>
          <p:nvSpPr>
            <p:cNvPr id="57" name="모서리가 둥근 직사각형 56"/>
            <p:cNvSpPr/>
            <p:nvPr/>
          </p:nvSpPr>
          <p:spPr>
            <a:xfrm>
              <a:off x="891228" y="5351640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모서리가 둥근 직사각형 57"/>
            <p:cNvSpPr/>
            <p:nvPr/>
          </p:nvSpPr>
          <p:spPr>
            <a:xfrm>
              <a:off x="891227" y="5518649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9" name="그룹 58"/>
            <p:cNvGrpSpPr/>
            <p:nvPr/>
          </p:nvGrpSpPr>
          <p:grpSpPr>
            <a:xfrm rot="16200000">
              <a:off x="3143548" y="4560840"/>
              <a:ext cx="94010" cy="47005"/>
              <a:chOff x="6812560" y="3297172"/>
              <a:chExt cx="94010" cy="47005"/>
            </a:xfrm>
          </p:grpSpPr>
          <p:cxnSp>
            <p:nvCxnSpPr>
              <p:cNvPr id="60" name="직선 연결선 59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그룹 61"/>
            <p:cNvGrpSpPr/>
            <p:nvPr/>
          </p:nvGrpSpPr>
          <p:grpSpPr>
            <a:xfrm rot="16200000">
              <a:off x="3143549" y="5181230"/>
              <a:ext cx="94010" cy="47005"/>
              <a:chOff x="6812560" y="3297172"/>
              <a:chExt cx="94010" cy="47005"/>
            </a:xfrm>
          </p:grpSpPr>
          <p:cxnSp>
            <p:nvCxnSpPr>
              <p:cNvPr id="63" name="직선 연결선 6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4" name="직선 연결선 6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/>
            <p:cNvGrpSpPr/>
            <p:nvPr/>
          </p:nvGrpSpPr>
          <p:grpSpPr>
            <a:xfrm>
              <a:off x="767702" y="2113949"/>
              <a:ext cx="2527420" cy="477995"/>
              <a:chOff x="786326" y="2270279"/>
              <a:chExt cx="2527420" cy="477995"/>
            </a:xfrm>
          </p:grpSpPr>
          <p:sp>
            <p:nvSpPr>
              <p:cNvPr id="66" name="모서리가 둥근 직사각형 65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타원 66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69" name="그룹 68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76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공고명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77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공고번호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70" name="타원 69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7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72" name="타원 71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74" name="직선 연결선 73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직선 연결선 74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450135" y="2562611"/>
            <a:ext cx="1701107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공고를 바로 검색할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" name="꺾인 연결선 8"/>
          <p:cNvCxnSpPr>
            <a:stCxn id="7" idx="1"/>
          </p:cNvCxnSpPr>
          <p:nvPr/>
        </p:nvCxnSpPr>
        <p:spPr>
          <a:xfrm rot="10800000">
            <a:off x="1260867" y="2478595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1299344" y="4029840"/>
            <a:ext cx="1604927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메인화면에서 주요 서비스에</a:t>
            </a:r>
            <a:endParaRPr lang="en-US" altLang="ko-KR" sz="800" dirty="0" smtClean="0">
              <a:solidFill>
                <a:schemeClr val="bg1"/>
              </a:solidFill>
            </a:endParaRPr>
          </a:p>
          <a:p>
            <a:r>
              <a:rPr lang="ko-KR" altLang="en-US" sz="800" dirty="0" smtClean="0">
                <a:solidFill>
                  <a:schemeClr val="bg1"/>
                </a:solidFill>
              </a:rPr>
              <a:t>쉽게 이동할 수 있어요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3" name="꺾인 연결선 82"/>
          <p:cNvCxnSpPr>
            <a:stCxn id="82" idx="1"/>
          </p:cNvCxnSpPr>
          <p:nvPr/>
        </p:nvCxnSpPr>
        <p:spPr>
          <a:xfrm rot="10800000">
            <a:off x="1110076" y="3945827"/>
            <a:ext cx="189268" cy="253291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919595" y="1857231"/>
            <a:ext cx="2045753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전체 메뉴와 알림을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5" name="꺾인 연결선 84"/>
          <p:cNvCxnSpPr>
            <a:stCxn id="84" idx="3"/>
          </p:cNvCxnSpPr>
          <p:nvPr/>
        </p:nvCxnSpPr>
        <p:spPr>
          <a:xfrm flipV="1">
            <a:off x="2965348" y="1810619"/>
            <a:ext cx="85157" cy="154334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1299344" y="5553299"/>
            <a:ext cx="2023311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4.</a:t>
            </a:r>
            <a:r>
              <a:rPr lang="ko-KR" altLang="en-US" sz="800" dirty="0" smtClean="0">
                <a:solidFill>
                  <a:schemeClr val="bg1"/>
                </a:solidFill>
              </a:rPr>
              <a:t>홈 이동</a:t>
            </a:r>
            <a:r>
              <a:rPr lang="en-US" altLang="ko-KR" sz="800" dirty="0" smtClean="0">
                <a:solidFill>
                  <a:schemeClr val="bg1"/>
                </a:solidFill>
              </a:rPr>
              <a:t>, </a:t>
            </a:r>
            <a:r>
              <a:rPr lang="ko-KR" altLang="en-US" sz="800" dirty="0" smtClean="0">
                <a:solidFill>
                  <a:schemeClr val="bg1"/>
                </a:solidFill>
              </a:rPr>
              <a:t>통합검색</a:t>
            </a:r>
            <a:r>
              <a:rPr lang="en-US" altLang="ko-KR" sz="800" dirty="0" smtClean="0">
                <a:solidFill>
                  <a:schemeClr val="bg1"/>
                </a:solidFill>
              </a:rPr>
              <a:t>,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챗봇</a:t>
            </a:r>
            <a:r>
              <a:rPr lang="en-US" altLang="ko-KR" sz="800" dirty="0" smtClean="0">
                <a:solidFill>
                  <a:schemeClr val="bg1"/>
                </a:solidFill>
              </a:rPr>
              <a:t>,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마이페이지를</a:t>
            </a:r>
            <a:r>
              <a:rPr lang="ko-KR" altLang="en-US" sz="800" dirty="0" smtClean="0">
                <a:solidFill>
                  <a:schemeClr val="bg1"/>
                </a:solidFill>
              </a:rPr>
              <a:t> 쓰기 쉽게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꺼내두었어요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0" name="꺾인 연결선 89"/>
          <p:cNvCxnSpPr>
            <a:stCxn id="89" idx="1"/>
          </p:cNvCxnSpPr>
          <p:nvPr/>
        </p:nvCxnSpPr>
        <p:spPr>
          <a:xfrm rot="10800000" flipV="1">
            <a:off x="1160186" y="5722576"/>
            <a:ext cx="139158" cy="165060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94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5236515" y="5771878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다음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95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4011371" y="5771878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 smtClean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이전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6191609" y="1682789"/>
            <a:ext cx="94010" cy="94010"/>
            <a:chOff x="6812560" y="3297172"/>
            <a:chExt cx="94010" cy="94010"/>
          </a:xfrm>
        </p:grpSpPr>
        <p:cxnSp>
          <p:nvCxnSpPr>
            <p:cNvPr id="97" name="직선 연결선 96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직선 연결선 97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9" name="TextBox 98"/>
          <p:cNvSpPr txBox="1"/>
          <p:nvPr/>
        </p:nvSpPr>
        <p:spPr>
          <a:xfrm>
            <a:off x="5309993" y="1636062"/>
            <a:ext cx="87716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700" b="1" dirty="0" smtClean="0"/>
              <a:t>앱 이용안내 닫기</a:t>
            </a:r>
            <a:endParaRPr lang="ko-KR" altLang="en-US" sz="700" b="1" dirty="0"/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90214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3883" y="1659861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3</a:t>
            </a:r>
            <a:endParaRPr lang="ko-KR" altLang="en-US" sz="900" b="1" dirty="0"/>
          </a:p>
        </p:txBody>
      </p:sp>
      <p:grpSp>
        <p:nvGrpSpPr>
          <p:cNvPr id="86" name="그룹 8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87" name="직사각형 8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991789045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직사각형 8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/>
          <p:cNvGrpSpPr/>
          <p:nvPr/>
        </p:nvGrpSpPr>
        <p:grpSpPr>
          <a:xfrm>
            <a:off x="680570" y="1515996"/>
            <a:ext cx="2712027" cy="4709440"/>
            <a:chOff x="680570" y="1515996"/>
            <a:chExt cx="2712027" cy="4709440"/>
          </a:xfrm>
        </p:grpSpPr>
        <p:pic>
          <p:nvPicPr>
            <p:cNvPr id="87" name="그림 86">
              <a:extLst>
                <a:ext uri="{FF2B5EF4-FFF2-40B4-BE49-F238E27FC236}">
                  <a16:creationId xmlns:a16="http://schemas.microsoft.com/office/drawing/2014/main" id="{6EA78311-C2E0-881B-8EBE-A8E77192A9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44" r="4806" b="32893"/>
            <a:stretch/>
          </p:blipFill>
          <p:spPr>
            <a:xfrm>
              <a:off x="856015" y="4368527"/>
              <a:ext cx="2362786" cy="1856909"/>
            </a:xfrm>
            <a:prstGeom prst="rect">
              <a:avLst/>
            </a:prstGeom>
          </p:spPr>
        </p:pic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36072" y="1608356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 err="1">
                  <a:latin typeface="+mn-ea"/>
                </a:rPr>
                <a:t>마이페이지</a:t>
              </a:r>
              <a:endParaRPr lang="en-US" altLang="ko-KR" sz="800" dirty="0">
                <a:latin typeface="+mn-ea"/>
              </a:endParaRP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1846937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92" name="그룹 91"/>
            <p:cNvGrpSpPr/>
            <p:nvPr/>
          </p:nvGrpSpPr>
          <p:grpSpPr>
            <a:xfrm rot="5400000">
              <a:off x="755013" y="1640499"/>
              <a:ext cx="94010" cy="47005"/>
              <a:chOff x="6812560" y="3297172"/>
              <a:chExt cx="94010" cy="47005"/>
            </a:xfrm>
          </p:grpSpPr>
          <p:cxnSp>
            <p:nvCxnSpPr>
              <p:cNvPr id="93" name="직선 연결선 9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02" name="직선 연결선 101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03" name="타원 102"/>
            <p:cNvSpPr/>
            <p:nvPr/>
          </p:nvSpPr>
          <p:spPr>
            <a:xfrm>
              <a:off x="3044537" y="158037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1131" y="2055971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800" b="1" dirty="0">
                  <a:latin typeface="+mn-ea"/>
                </a:rPr>
                <a:t>[A </a:t>
              </a:r>
              <a:r>
                <a:rPr lang="ko-KR" altLang="en-US" sz="800" b="1" dirty="0">
                  <a:latin typeface="+mn-ea"/>
                </a:rPr>
                <a:t>업체</a:t>
              </a:r>
              <a:r>
                <a:rPr lang="en-US" altLang="ko-KR" sz="800" b="1" dirty="0">
                  <a:latin typeface="+mn-ea"/>
                </a:rPr>
                <a:t>] </a:t>
              </a:r>
              <a:r>
                <a:rPr lang="ko-KR" altLang="en-US" sz="800" b="1" dirty="0">
                  <a:latin typeface="+mn-ea"/>
                </a:rPr>
                <a:t>홍길동 님</a:t>
              </a:r>
            </a:p>
          </p:txBody>
        </p:sp>
        <p:sp>
          <p:nvSpPr>
            <p:cNvPr id="105" name="타원 104"/>
            <p:cNvSpPr/>
            <p:nvPr/>
          </p:nvSpPr>
          <p:spPr>
            <a:xfrm>
              <a:off x="3044537" y="1995960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002436" y="1977892"/>
              <a:ext cx="282450" cy="2308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900" dirty="0"/>
                <a:t>⚙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2993286" y="1515996"/>
              <a:ext cx="290464" cy="276999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ko-KR" altLang="en-US" sz="1200" dirty="0"/>
                <a:t>≡</a:t>
              </a:r>
            </a:p>
          </p:txBody>
        </p:sp>
        <p:sp>
          <p:nvSpPr>
            <p:cNvPr id="108" name="모서리가 둥근 직사각형 107"/>
            <p:cNvSpPr/>
            <p:nvPr/>
          </p:nvSpPr>
          <p:spPr>
            <a:xfrm>
              <a:off x="903581" y="2423118"/>
              <a:ext cx="2255663" cy="1012125"/>
            </a:xfrm>
            <a:prstGeom prst="roundRect">
              <a:avLst>
                <a:gd name="adj" fmla="val 654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9" name="그룹 108"/>
            <p:cNvGrpSpPr/>
            <p:nvPr/>
          </p:nvGrpSpPr>
          <p:grpSpPr>
            <a:xfrm>
              <a:off x="903581" y="2344367"/>
              <a:ext cx="2255663" cy="306146"/>
              <a:chOff x="903581" y="2074658"/>
              <a:chExt cx="2255663" cy="306146"/>
            </a:xfrm>
          </p:grpSpPr>
          <p:sp>
            <p:nvSpPr>
              <p:cNvPr id="110" name="모서리가 둥근 직사각형 109"/>
              <p:cNvSpPr/>
              <p:nvPr/>
            </p:nvSpPr>
            <p:spPr>
              <a:xfrm>
                <a:off x="903581" y="2074658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76525" y="2173870"/>
                <a:ext cx="36801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700" dirty="0">
                    <a:latin typeface="+mn-ea"/>
                  </a:rPr>
                  <a:t>&gt;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5" y="2166176"/>
                <a:ext cx="1731957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b="1" dirty="0">
                    <a:latin typeface="+mn-ea"/>
                  </a:rPr>
                  <a:t>나의 진행 업무 현황</a:t>
                </a: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0900" y="2166176"/>
                <a:ext cx="79878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800" b="1" dirty="0">
                    <a:solidFill>
                      <a:srgbClr val="0070C0"/>
                    </a:solidFill>
                    <a:latin typeface="+mn-ea"/>
                  </a:rPr>
                  <a:t>00</a:t>
                </a:r>
                <a:r>
                  <a:rPr lang="en-US" altLang="ko-KR" sz="800" b="1" dirty="0">
                    <a:latin typeface="+mn-ea"/>
                  </a:rPr>
                  <a:t> </a:t>
                </a:r>
                <a:r>
                  <a:rPr lang="ko-KR" altLang="en-US" sz="800" b="1" dirty="0">
                    <a:latin typeface="+mn-ea"/>
                  </a:rPr>
                  <a:t>건</a:t>
                </a:r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721050"/>
              <a:ext cx="1731957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dirty="0">
                  <a:latin typeface="+mn-ea"/>
                </a:rPr>
                <a:t>입찰참가신청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latin typeface="+mn-ea"/>
                </a:rPr>
                <a:t>적격심사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latin typeface="+mn-ea"/>
                </a:rPr>
                <a:t>기술평가</a:t>
              </a:r>
              <a:endParaRPr lang="en-US" altLang="ko-KR" sz="700" dirty="0">
                <a:latin typeface="+mn-ea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 err="1">
                  <a:latin typeface="+mn-ea"/>
                </a:rPr>
                <a:t>사양서평가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70713" y="2721050"/>
              <a:ext cx="648968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  <a:endParaRPr lang="en-US" altLang="ko-KR" sz="700" dirty="0">
                <a:latin typeface="+mn-ea"/>
              </a:endParaRP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solidFill>
                    <a:srgbClr val="0070C0"/>
                  </a:solidFill>
                  <a:latin typeface="+mn-ea"/>
                </a:rPr>
                <a:t>00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871283" y="2721050"/>
              <a:ext cx="173253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grpSp>
          <p:nvGrpSpPr>
            <p:cNvPr id="117" name="그룹 116"/>
            <p:cNvGrpSpPr/>
            <p:nvPr/>
          </p:nvGrpSpPr>
          <p:grpSpPr>
            <a:xfrm>
              <a:off x="903581" y="3511341"/>
              <a:ext cx="2255663" cy="306146"/>
              <a:chOff x="903581" y="2074658"/>
              <a:chExt cx="2255663" cy="306146"/>
            </a:xfrm>
          </p:grpSpPr>
          <p:sp>
            <p:nvSpPr>
              <p:cNvPr id="118" name="모서리가 둥근 직사각형 117"/>
              <p:cNvSpPr/>
              <p:nvPr/>
            </p:nvSpPr>
            <p:spPr>
              <a:xfrm>
                <a:off x="903581" y="2074658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76525" y="2173870"/>
                <a:ext cx="36801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700" dirty="0">
                    <a:latin typeface="+mn-ea"/>
                  </a:rPr>
                  <a:t>&gt;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5" y="2166176"/>
                <a:ext cx="1731957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b="1" dirty="0">
                    <a:latin typeface="+mn-ea"/>
                  </a:rPr>
                  <a:t>나의 업무 이력 현황</a:t>
                </a:r>
              </a:p>
            </p:txBody>
          </p:sp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0900" y="2166176"/>
                <a:ext cx="79878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800" b="1" dirty="0">
                    <a:solidFill>
                      <a:srgbClr val="0070C0"/>
                    </a:solidFill>
                    <a:latin typeface="+mn-ea"/>
                  </a:rPr>
                  <a:t>00</a:t>
                </a:r>
                <a:r>
                  <a:rPr lang="en-US" altLang="ko-KR" sz="800" b="1" dirty="0">
                    <a:latin typeface="+mn-ea"/>
                  </a:rPr>
                  <a:t> </a:t>
                </a:r>
                <a:r>
                  <a:rPr lang="ko-KR" altLang="en-US" sz="800" b="1" dirty="0">
                    <a:latin typeface="+mn-ea"/>
                  </a:rPr>
                  <a:t>건</a:t>
                </a:r>
              </a:p>
            </p:txBody>
          </p:sp>
        </p:grpSp>
        <p:grpSp>
          <p:nvGrpSpPr>
            <p:cNvPr id="122" name="그룹 121"/>
            <p:cNvGrpSpPr/>
            <p:nvPr/>
          </p:nvGrpSpPr>
          <p:grpSpPr>
            <a:xfrm>
              <a:off x="903581" y="3893585"/>
              <a:ext cx="2255663" cy="306146"/>
              <a:chOff x="903581" y="2074658"/>
              <a:chExt cx="2255663" cy="306146"/>
            </a:xfrm>
          </p:grpSpPr>
          <p:sp>
            <p:nvSpPr>
              <p:cNvPr id="123" name="모서리가 둥근 직사각형 122"/>
              <p:cNvSpPr/>
              <p:nvPr/>
            </p:nvSpPr>
            <p:spPr>
              <a:xfrm>
                <a:off x="903581" y="2074658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676525" y="2173870"/>
                <a:ext cx="36801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700" dirty="0">
                    <a:latin typeface="+mn-ea"/>
                  </a:rPr>
                  <a:t>&gt;</a:t>
                </a:r>
                <a:endParaRPr lang="ko-KR" altLang="en-US" sz="700" dirty="0">
                  <a:latin typeface="+mn-ea"/>
                </a:endParaRP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35055" y="2166176"/>
                <a:ext cx="1731957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800" b="1" dirty="0">
                    <a:latin typeface="+mn-ea"/>
                  </a:rPr>
                  <a:t>관심 입찰공고</a:t>
                </a: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2120900" y="2166176"/>
                <a:ext cx="798781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r"/>
                <a:r>
                  <a:rPr lang="en-US" altLang="ko-KR" sz="800" b="1" dirty="0">
                    <a:solidFill>
                      <a:srgbClr val="0070C0"/>
                    </a:solidFill>
                    <a:latin typeface="+mn-ea"/>
                  </a:rPr>
                  <a:t>00</a:t>
                </a:r>
                <a:r>
                  <a:rPr lang="en-US" altLang="ko-KR" sz="800" b="1" dirty="0">
                    <a:latin typeface="+mn-ea"/>
                  </a:rPr>
                  <a:t> </a:t>
                </a:r>
                <a:r>
                  <a:rPr lang="ko-KR" altLang="en-US" sz="800" b="1" dirty="0">
                    <a:latin typeface="+mn-ea"/>
                  </a:rPr>
                  <a:t>건</a:t>
                </a:r>
              </a:p>
            </p:txBody>
          </p:sp>
        </p:grp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901131" y="42925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업무 캘린더</a:t>
              </a:r>
            </a:p>
          </p:txBody>
        </p:sp>
        <p:sp>
          <p:nvSpPr>
            <p:cNvPr id="128" name="모서리가 둥근 직사각형 127"/>
            <p:cNvSpPr/>
            <p:nvPr/>
          </p:nvSpPr>
          <p:spPr>
            <a:xfrm>
              <a:off x="2737360" y="4273131"/>
              <a:ext cx="419793" cy="162000"/>
            </a:xfrm>
            <a:prstGeom prst="roundRect">
              <a:avLst>
                <a:gd name="adj" fmla="val 2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ko-KR" altLang="en-US" sz="600" b="1" dirty="0" err="1">
                  <a:solidFill>
                    <a:schemeClr val="tx1"/>
                  </a:solidFill>
                </a:rPr>
                <a:t>더보기</a:t>
              </a:r>
              <a:r>
                <a:rPr lang="ko-KR" altLang="en-US" sz="600" b="1" dirty="0">
                  <a:solidFill>
                    <a:schemeClr val="tx1"/>
                  </a:solidFill>
                </a:rPr>
                <a:t> </a:t>
              </a:r>
              <a:r>
                <a:rPr lang="en-US" altLang="ko-KR" sz="600" b="1" dirty="0">
                  <a:solidFill>
                    <a:schemeClr val="tx1"/>
                  </a:solidFill>
                </a:rPr>
                <a:t>&gt;</a:t>
              </a:r>
              <a:endParaRPr lang="ko-KR" altLang="en-US" sz="600" b="1" dirty="0">
                <a:solidFill>
                  <a:schemeClr val="tx1"/>
                </a:solidFill>
              </a:endParaRP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err="1" smtClean="0"/>
              <a:t>마이페이지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숫자는 제외하고 표시함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메뉴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숫자는 제외하고 표시함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379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3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933" y="1500366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236520" y="3756149"/>
            <a:ext cx="214834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진행했던 업무 이력을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" name="꺾인 연결선 8"/>
          <p:cNvCxnSpPr>
            <a:stCxn id="7" idx="1"/>
          </p:cNvCxnSpPr>
          <p:nvPr/>
        </p:nvCxnSpPr>
        <p:spPr>
          <a:xfrm rot="10800000">
            <a:off x="1047252" y="3672133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1028441" y="4213241"/>
            <a:ext cx="2492990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입찰공고에 별 표시한 공고를 모아볼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3" name="꺾인 연결선 82"/>
          <p:cNvCxnSpPr>
            <a:stCxn id="82" idx="1"/>
          </p:cNvCxnSpPr>
          <p:nvPr/>
        </p:nvCxnSpPr>
        <p:spPr>
          <a:xfrm rot="10800000">
            <a:off x="839173" y="4129228"/>
            <a:ext cx="189268" cy="253291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746807" y="2032539"/>
            <a:ext cx="214834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진행중인 업무 현황을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5" name="꺾인 연결선 84"/>
          <p:cNvCxnSpPr>
            <a:stCxn id="84" idx="3"/>
          </p:cNvCxnSpPr>
          <p:nvPr/>
        </p:nvCxnSpPr>
        <p:spPr>
          <a:xfrm>
            <a:off x="2895152" y="2140261"/>
            <a:ext cx="173276" cy="18647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1217905" y="5821116"/>
            <a:ext cx="2023311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4. </a:t>
            </a:r>
            <a:r>
              <a:rPr lang="ko-KR" altLang="en-US" sz="800" dirty="0" smtClean="0">
                <a:solidFill>
                  <a:schemeClr val="bg1"/>
                </a:solidFill>
              </a:rPr>
              <a:t>업무 캘린더를 통해 공고 일정과 개인 일정을 더 쉽게 확인할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0" name="꺾인 연결선 89"/>
          <p:cNvCxnSpPr>
            <a:stCxn id="89" idx="1"/>
          </p:cNvCxnSpPr>
          <p:nvPr/>
        </p:nvCxnSpPr>
        <p:spPr>
          <a:xfrm rot="10800000">
            <a:off x="1049185" y="5807817"/>
            <a:ext cx="168720" cy="182577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grpSp>
        <p:nvGrpSpPr>
          <p:cNvPr id="15" name="그룹 14"/>
          <p:cNvGrpSpPr/>
          <p:nvPr/>
        </p:nvGrpSpPr>
        <p:grpSpPr>
          <a:xfrm>
            <a:off x="3785444" y="1582794"/>
            <a:ext cx="2712027" cy="4410956"/>
            <a:chOff x="677960" y="1582794"/>
            <a:chExt cx="2712027" cy="4410956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81401" y="2065266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로그인 하기 </a:t>
              </a:r>
              <a:r>
                <a:rPr lang="en-US" altLang="ko-KR" sz="900" b="1" dirty="0">
                  <a:latin typeface="+mn-ea"/>
                </a:rPr>
                <a:t>&gt;</a:t>
              </a:r>
              <a:endParaRPr lang="ko-KR" altLang="en-US" sz="900" b="1" dirty="0">
                <a:latin typeface="+mn-ea"/>
              </a:endParaRP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1906933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1" name="타원 130"/>
            <p:cNvSpPr/>
            <p:nvPr/>
          </p:nvSpPr>
          <p:spPr>
            <a:xfrm>
              <a:off x="873369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2" name="타원 131"/>
            <p:cNvSpPr/>
            <p:nvPr/>
          </p:nvSpPr>
          <p:spPr>
            <a:xfrm>
              <a:off x="2759886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타원 132"/>
            <p:cNvSpPr/>
            <p:nvPr/>
          </p:nvSpPr>
          <p:spPr>
            <a:xfrm>
              <a:off x="3073643" y="1582794"/>
              <a:ext cx="228600" cy="228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7960" y="3212762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3484334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36" name="모서리가 둥근 직사각형 135"/>
            <p:cNvSpPr/>
            <p:nvPr/>
          </p:nvSpPr>
          <p:spPr>
            <a:xfrm>
              <a:off x="891228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7" name="모서리가 둥근 직사각형 136"/>
            <p:cNvSpPr/>
            <p:nvPr/>
          </p:nvSpPr>
          <p:spPr>
            <a:xfrm>
              <a:off x="1508351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8" name="모서리가 둥근 직사각형 137"/>
            <p:cNvSpPr/>
            <p:nvPr/>
          </p:nvSpPr>
          <p:spPr>
            <a:xfrm>
              <a:off x="2125474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모서리가 둥근 직사각형 138"/>
            <p:cNvSpPr/>
            <p:nvPr/>
          </p:nvSpPr>
          <p:spPr>
            <a:xfrm>
              <a:off x="2742597" y="2364250"/>
              <a:ext cx="434121" cy="434121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3313189"/>
              <a:ext cx="2305144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900" b="1" dirty="0">
                  <a:latin typeface="+mn-ea"/>
                </a:rPr>
                <a:t>메뉴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3542624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조달계획</a:t>
              </a:r>
            </a:p>
          </p:txBody>
        </p:sp>
        <p:sp>
          <p:nvSpPr>
            <p:cNvPr id="142" name="모서리가 둥근 직사각형 141"/>
            <p:cNvSpPr/>
            <p:nvPr/>
          </p:nvSpPr>
          <p:spPr>
            <a:xfrm>
              <a:off x="891228" y="3741713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모서리가 둥근 직사각형 142"/>
            <p:cNvSpPr/>
            <p:nvPr/>
          </p:nvSpPr>
          <p:spPr>
            <a:xfrm>
              <a:off x="891227" y="3908722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157838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입찰</a:t>
              </a:r>
            </a:p>
          </p:txBody>
        </p:sp>
        <p:sp>
          <p:nvSpPr>
            <p:cNvPr id="145" name="모서리가 둥근 직사각형 144"/>
            <p:cNvSpPr/>
            <p:nvPr/>
          </p:nvSpPr>
          <p:spPr>
            <a:xfrm>
              <a:off x="891228" y="4356927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6" name="모서리가 둥근 직사각형 145"/>
            <p:cNvSpPr/>
            <p:nvPr/>
          </p:nvSpPr>
          <p:spPr>
            <a:xfrm>
              <a:off x="891227" y="4523936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4828123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계약</a:t>
              </a:r>
            </a:p>
          </p:txBody>
        </p:sp>
        <p:sp>
          <p:nvSpPr>
            <p:cNvPr id="148" name="모서리가 둥근 직사각형 147"/>
            <p:cNvSpPr/>
            <p:nvPr/>
          </p:nvSpPr>
          <p:spPr>
            <a:xfrm>
              <a:off x="891228" y="5027212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9" name="모서리가 둥근 직사각형 148"/>
            <p:cNvSpPr/>
            <p:nvPr/>
          </p:nvSpPr>
          <p:spPr>
            <a:xfrm>
              <a:off x="891227" y="5194221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4103404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4740330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52" name="그룹 151"/>
            <p:cNvGrpSpPr/>
            <p:nvPr/>
          </p:nvGrpSpPr>
          <p:grpSpPr>
            <a:xfrm flipV="1">
              <a:off x="3124233" y="3580677"/>
              <a:ext cx="94010" cy="47005"/>
              <a:chOff x="6812560" y="3297172"/>
              <a:chExt cx="94010" cy="47005"/>
            </a:xfrm>
          </p:grpSpPr>
          <p:cxnSp>
            <p:nvCxnSpPr>
              <p:cNvPr id="153" name="직선 연결선 15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4" name="직선 연결선 15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55" name="그룹 154"/>
            <p:cNvGrpSpPr/>
            <p:nvPr/>
          </p:nvGrpSpPr>
          <p:grpSpPr>
            <a:xfrm flipV="1">
              <a:off x="3124233" y="4195891"/>
              <a:ext cx="94010" cy="47005"/>
              <a:chOff x="6812560" y="3297172"/>
              <a:chExt cx="94010" cy="47005"/>
            </a:xfrm>
          </p:grpSpPr>
          <p:cxnSp>
            <p:nvCxnSpPr>
              <p:cNvPr id="156" name="직선 연결선 15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7" name="직선 연결선 15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58" name="그룹 157"/>
            <p:cNvGrpSpPr/>
            <p:nvPr/>
          </p:nvGrpSpPr>
          <p:grpSpPr>
            <a:xfrm flipV="1">
              <a:off x="3124233" y="4866176"/>
              <a:ext cx="94010" cy="47005"/>
              <a:chOff x="6812560" y="3297172"/>
              <a:chExt cx="94010" cy="47005"/>
            </a:xfrm>
          </p:grpSpPr>
          <p:cxnSp>
            <p:nvCxnSpPr>
              <p:cNvPr id="159" name="직선 연결선 158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0" name="직선 연결선 159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878892" y="5501652"/>
              <a:ext cx="2305144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dirty="0">
                  <a:latin typeface="+mn-ea"/>
                </a:rPr>
                <a:t>대금</a:t>
              </a:r>
              <a:r>
                <a:rPr lang="en-US" altLang="ko-KR" sz="800" dirty="0">
                  <a:latin typeface="+mn-ea"/>
                </a:rPr>
                <a:t>/</a:t>
              </a:r>
              <a:r>
                <a:rPr lang="ko-KR" altLang="en-US" sz="800" dirty="0">
                  <a:latin typeface="+mn-ea"/>
                </a:rPr>
                <a:t>사후</a:t>
              </a:r>
            </a:p>
          </p:txBody>
        </p:sp>
        <p:sp>
          <p:nvSpPr>
            <p:cNvPr id="162" name="모서리가 둥근 직사각형 161"/>
            <p:cNvSpPr/>
            <p:nvPr/>
          </p:nvSpPr>
          <p:spPr>
            <a:xfrm>
              <a:off x="891228" y="5700741"/>
              <a:ext cx="1817682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891227" y="5867750"/>
              <a:ext cx="2062597" cy="126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1832" y="5413859"/>
              <a:ext cx="2624283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65" name="그룹 164"/>
            <p:cNvGrpSpPr/>
            <p:nvPr/>
          </p:nvGrpSpPr>
          <p:grpSpPr>
            <a:xfrm flipV="1">
              <a:off x="3124233" y="5539705"/>
              <a:ext cx="94010" cy="47005"/>
              <a:chOff x="6812560" y="3297172"/>
              <a:chExt cx="94010" cy="47005"/>
            </a:xfrm>
          </p:grpSpPr>
          <p:cxnSp>
            <p:nvCxnSpPr>
              <p:cNvPr id="166" name="직선 연결선 165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7" name="직선 연결선 166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68" name="그룹 167"/>
            <p:cNvGrpSpPr/>
            <p:nvPr/>
          </p:nvGrpSpPr>
          <p:grpSpPr>
            <a:xfrm>
              <a:off x="906142" y="2861354"/>
              <a:ext cx="2255663" cy="306146"/>
              <a:chOff x="3982951" y="3679873"/>
              <a:chExt cx="2255663" cy="306146"/>
            </a:xfrm>
          </p:grpSpPr>
          <p:sp>
            <p:nvSpPr>
              <p:cNvPr id="169" name="모서리가 둥근 직사각형 168"/>
              <p:cNvSpPr/>
              <p:nvPr/>
            </p:nvSpPr>
            <p:spPr>
              <a:xfrm>
                <a:off x="3982951" y="3679873"/>
                <a:ext cx="2255663" cy="306146"/>
              </a:xfrm>
              <a:prstGeom prst="roundRect">
                <a:avLst>
                  <a:gd name="adj" fmla="val 18626"/>
                </a:avLst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4114426" y="3779085"/>
                <a:ext cx="170158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b="1" dirty="0" err="1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메뉴명</a:t>
                </a:r>
                <a:r>
                  <a:rPr lang="ko-KR" altLang="en-US" sz="700" b="1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</a:rPr>
                  <a:t> 검색</a:t>
                </a:r>
              </a:p>
            </p:txBody>
          </p:sp>
        </p:grpSp>
        <p:sp>
          <p:nvSpPr>
            <p:cNvPr id="171" name="타원 170"/>
            <p:cNvSpPr/>
            <p:nvPr/>
          </p:nvSpPr>
          <p:spPr>
            <a:xfrm>
              <a:off x="2932305" y="2941887"/>
              <a:ext cx="145081" cy="14508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804367" y="1500366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TextBox 172"/>
          <p:cNvSpPr txBox="1"/>
          <p:nvPr/>
        </p:nvSpPr>
        <p:spPr>
          <a:xfrm>
            <a:off x="3874241" y="2032539"/>
            <a:ext cx="2214068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사용자들이 자주 사용하는 메뉴가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4" name="꺾인 연결선 173"/>
          <p:cNvCxnSpPr>
            <a:stCxn id="173" idx="3"/>
          </p:cNvCxnSpPr>
          <p:nvPr/>
        </p:nvCxnSpPr>
        <p:spPr>
          <a:xfrm>
            <a:off x="6088309" y="2140261"/>
            <a:ext cx="107553" cy="18647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타원 1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130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8" name="TextBox 177"/>
          <p:cNvSpPr txBox="1"/>
          <p:nvPr/>
        </p:nvSpPr>
        <p:spPr>
          <a:xfrm>
            <a:off x="4400130" y="3198574"/>
            <a:ext cx="1906291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메뉴명을</a:t>
            </a:r>
            <a:r>
              <a:rPr lang="ko-KR" altLang="en-US" sz="800" dirty="0" smtClean="0">
                <a:solidFill>
                  <a:schemeClr val="bg1"/>
                </a:solidFill>
              </a:rPr>
              <a:t> 검색해서 찾을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9" name="꺾인 연결선 178"/>
          <p:cNvCxnSpPr>
            <a:stCxn id="178" idx="1"/>
          </p:cNvCxnSpPr>
          <p:nvPr/>
        </p:nvCxnSpPr>
        <p:spPr>
          <a:xfrm rot="10800000">
            <a:off x="4210862" y="3114558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Box 179"/>
          <p:cNvSpPr txBox="1"/>
          <p:nvPr/>
        </p:nvSpPr>
        <p:spPr>
          <a:xfrm>
            <a:off x="4243238" y="4378378"/>
            <a:ext cx="1943161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각각의 메뉴는 열고 닫을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81" name="꺾인 연결선 180"/>
          <p:cNvCxnSpPr>
            <a:stCxn id="180" idx="1"/>
          </p:cNvCxnSpPr>
          <p:nvPr/>
        </p:nvCxnSpPr>
        <p:spPr>
          <a:xfrm rot="10800000">
            <a:off x="4053970" y="4294366"/>
            <a:ext cx="189268" cy="191734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6" name="그룹 175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77" name="직사각형 176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82" name="직사각형 181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451350985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/>
          <p:cNvGrpSpPr/>
          <p:nvPr/>
        </p:nvGrpSpPr>
        <p:grpSpPr>
          <a:xfrm>
            <a:off x="3801786" y="1582647"/>
            <a:ext cx="2717198" cy="4681146"/>
            <a:chOff x="675399" y="1582647"/>
            <a:chExt cx="2717198" cy="4681146"/>
          </a:xfrm>
        </p:grpSpPr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80570" y="227344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34" name="그룹 233"/>
            <p:cNvGrpSpPr/>
            <p:nvPr/>
          </p:nvGrpSpPr>
          <p:grpSpPr>
            <a:xfrm>
              <a:off x="781461" y="3684828"/>
              <a:ext cx="2186266" cy="467617"/>
              <a:chOff x="781461" y="2610063"/>
              <a:chExt cx="2186266" cy="467617"/>
            </a:xfrm>
          </p:grpSpPr>
          <p:sp>
            <p:nvSpPr>
              <p:cNvPr id="235" name="TextBox 58">
                <a:extLst>
                  <a:ext uri="{FF2B5EF4-FFF2-40B4-BE49-F238E27FC236}">
                    <a16:creationId xmlns:a16="http://schemas.microsoft.com/office/drawing/2014/main" id="{02FC114B-B48B-345F-BD70-2B5A196F5B3E}"/>
                  </a:ext>
                </a:extLst>
              </p:cNvPr>
              <p:cNvSpPr txBox="1"/>
              <p:nvPr/>
            </p:nvSpPr>
            <p:spPr>
              <a:xfrm>
                <a:off x="808106" y="2831459"/>
                <a:ext cx="2159621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700" dirty="0">
                    <a:latin typeface="+mn-ea"/>
                  </a:rPr>
                  <a:t>G2B</a:t>
                </a:r>
                <a:r>
                  <a:rPr lang="ko-KR" altLang="en-US" sz="700" dirty="0" err="1" smtClean="0">
                    <a:latin typeface="+mn-ea"/>
                  </a:rPr>
                  <a:t>공고번호</a:t>
                </a:r>
                <a:r>
                  <a:rPr lang="ko-KR" altLang="en-US" sz="700" dirty="0" smtClean="0">
                    <a:latin typeface="+mn-ea"/>
                  </a:rPr>
                  <a:t> </a:t>
                </a:r>
                <a:r>
                  <a:rPr lang="en-US" altLang="ko-KR" sz="700" dirty="0" smtClean="0">
                    <a:latin typeface="+mn-ea"/>
                  </a:rPr>
                  <a:t>: </a:t>
                </a:r>
                <a:r>
                  <a:rPr lang="en-US" altLang="ko-KR" sz="700" dirty="0" smtClean="0"/>
                  <a:t>2026LGM000604191-01</a:t>
                </a:r>
                <a:endParaRPr lang="en-US" altLang="ko-KR" sz="700" dirty="0"/>
              </a:p>
              <a:p>
                <a:r>
                  <a:rPr lang="en-US" altLang="ko-KR" sz="900" b="1" dirty="0" smtClean="0"/>
                  <a:t>(</a:t>
                </a:r>
                <a:r>
                  <a:rPr lang="ko-KR" altLang="en-US" sz="900" b="1" dirty="0" smtClean="0"/>
                  <a:t>입찰 건명</a:t>
                </a:r>
                <a:r>
                  <a:rPr lang="en-US" altLang="ko-KR" sz="900" b="1" dirty="0" smtClean="0"/>
                  <a:t>) </a:t>
                </a:r>
                <a:r>
                  <a:rPr lang="ko-KR" altLang="en-US" sz="900" b="1" dirty="0" err="1" smtClean="0"/>
                  <a:t>입찰건명을</a:t>
                </a:r>
                <a:r>
                  <a:rPr lang="ko-KR" altLang="en-US" sz="900" b="1" dirty="0" smtClean="0"/>
                  <a:t> 노출하는 영역</a:t>
                </a:r>
                <a:endParaRPr lang="en-US" altLang="ko-KR" sz="900" b="1" dirty="0" smtClean="0"/>
              </a:p>
            </p:txBody>
          </p:sp>
          <p:sp>
            <p:nvSpPr>
              <p:cNvPr id="236" name="모서리가 둥근 직사각형 235"/>
              <p:cNvSpPr/>
              <p:nvPr/>
            </p:nvSpPr>
            <p:spPr>
              <a:xfrm>
                <a:off x="781461" y="2610063"/>
                <a:ext cx="243478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smtClean="0">
                    <a:solidFill>
                      <a:schemeClr val="dk1"/>
                    </a:solidFill>
                  </a:rPr>
                  <a:t>용역</a:t>
                </a:r>
                <a:endParaRPr lang="ko-KR" altLang="en-US" sz="600" dirty="0">
                  <a:solidFill>
                    <a:schemeClr val="dk1"/>
                  </a:solidFill>
                </a:endParaRPr>
              </a:p>
            </p:txBody>
          </p:sp>
          <p:sp>
            <p:nvSpPr>
              <p:cNvPr id="237" name="모서리가 둥근 직사각형 236"/>
              <p:cNvSpPr/>
              <p:nvPr/>
            </p:nvSpPr>
            <p:spPr>
              <a:xfrm>
                <a:off x="1075655" y="2610063"/>
                <a:ext cx="396419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smtClean="0"/>
                  <a:t>경쟁입찰</a:t>
                </a:r>
                <a:endParaRPr lang="ko-KR" altLang="en-US" sz="600" dirty="0"/>
              </a:p>
            </p:txBody>
          </p:sp>
        </p:grp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58759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263666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19814" y="2329182"/>
              <a:ext cx="45225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공지사항</a:t>
              </a:r>
            </a:p>
          </p:txBody>
        </p:sp>
        <p:sp>
          <p:nvSpPr>
            <p:cNvPr id="241" name="타원 240"/>
            <p:cNvSpPr/>
            <p:nvPr/>
          </p:nvSpPr>
          <p:spPr>
            <a:xfrm>
              <a:off x="783686" y="2360527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42" name="그룹 241"/>
            <p:cNvGrpSpPr/>
            <p:nvPr/>
          </p:nvGrpSpPr>
          <p:grpSpPr>
            <a:xfrm>
              <a:off x="3143548" y="2442513"/>
              <a:ext cx="94010" cy="47005"/>
              <a:chOff x="6812560" y="3297172"/>
              <a:chExt cx="94010" cy="47005"/>
            </a:xfrm>
          </p:grpSpPr>
          <p:cxnSp>
            <p:nvCxnSpPr>
              <p:cNvPr id="243" name="직선 연결선 24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44" name="직선 연결선 24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45" name="그룹 244"/>
            <p:cNvGrpSpPr/>
            <p:nvPr/>
          </p:nvGrpSpPr>
          <p:grpSpPr>
            <a:xfrm>
              <a:off x="767702" y="2696788"/>
              <a:ext cx="2527420" cy="477995"/>
              <a:chOff x="786326" y="2270279"/>
              <a:chExt cx="2527420" cy="477995"/>
            </a:xfrm>
          </p:grpSpPr>
          <p:sp>
            <p:nvSpPr>
              <p:cNvPr id="246" name="모서리가 둥근 직사각형 245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7" name="타원 246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249" name="그룹 248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256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공고명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257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공고번호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250" name="타원 249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251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52" name="타원 251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53" name="그룹 252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254" name="직선 연결선 253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직선 연결선 254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23224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301231"/>
              <a:ext cx="135706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chemeClr val="accent1">
                      <a:lumMod val="75000"/>
                    </a:schemeClr>
                  </a:solidFill>
                  <a:latin typeface="+mn-ea"/>
                </a:rPr>
                <a:t>2,010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78206" y="3297177"/>
              <a:ext cx="39384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표시 개수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27990" y="3297177"/>
              <a:ext cx="50571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개</a:t>
              </a:r>
            </a:p>
          </p:txBody>
        </p:sp>
        <p:grpSp>
          <p:nvGrpSpPr>
            <p:cNvPr id="262" name="그룹 261"/>
            <p:cNvGrpSpPr/>
            <p:nvPr/>
          </p:nvGrpSpPr>
          <p:grpSpPr>
            <a:xfrm>
              <a:off x="3143548" y="3399000"/>
              <a:ext cx="94010" cy="47005"/>
              <a:chOff x="6812560" y="3297172"/>
              <a:chExt cx="94010" cy="47005"/>
            </a:xfrm>
          </p:grpSpPr>
          <p:cxnSp>
            <p:nvCxnSpPr>
              <p:cNvPr id="263" name="직선 연결선 262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4" name="직선 연결선 263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65" name="그룹 264"/>
            <p:cNvGrpSpPr/>
            <p:nvPr/>
          </p:nvGrpSpPr>
          <p:grpSpPr>
            <a:xfrm>
              <a:off x="677960" y="1582647"/>
              <a:ext cx="2714637" cy="686386"/>
              <a:chOff x="677960" y="1582647"/>
              <a:chExt cx="2714637" cy="686386"/>
            </a:xfrm>
          </p:grpSpPr>
          <p:sp>
            <p:nvSpPr>
              <p:cNvPr id="266" name="TextBox 265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1000027" y="2030452"/>
                <a:ext cx="206277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800" dirty="0" smtClean="0">
                    <a:latin typeface="+mn-ea"/>
                  </a:rPr>
                  <a:t>입찰공고 </a:t>
                </a:r>
                <a:r>
                  <a:rPr lang="ko-KR" altLang="en-US" sz="800" dirty="0" err="1" smtClean="0">
                    <a:latin typeface="+mn-ea"/>
                  </a:rPr>
                  <a:t>통합목록</a:t>
                </a:r>
                <a:endParaRPr lang="ko-KR" altLang="en-US" sz="800" dirty="0">
                  <a:latin typeface="+mn-ea"/>
                </a:endParaRPr>
              </a:p>
            </p:txBody>
          </p:sp>
          <p:cxnSp>
            <p:nvCxnSpPr>
              <p:cNvPr id="267" name="직선 연결선 266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2269033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268" name="그룹 267"/>
              <p:cNvGrpSpPr/>
              <p:nvPr/>
            </p:nvGrpSpPr>
            <p:grpSpPr>
              <a:xfrm rot="5400000">
                <a:off x="852159" y="2062596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75" name="직선 연결선 274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직선 연결선 275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9" name="그룹 268"/>
              <p:cNvGrpSpPr/>
              <p:nvPr/>
            </p:nvGrpSpPr>
            <p:grpSpPr>
              <a:xfrm>
                <a:off x="677960" y="1582647"/>
                <a:ext cx="2712027" cy="324286"/>
                <a:chOff x="677960" y="1582647"/>
                <a:chExt cx="2712027" cy="324286"/>
              </a:xfrm>
            </p:grpSpPr>
            <p:pic>
              <p:nvPicPr>
                <p:cNvPr id="270" name="Picture 2">
                  <a:extLst>
                    <a:ext uri="{FF2B5EF4-FFF2-40B4-BE49-F238E27FC236}">
                      <a16:creationId xmlns:a16="http://schemas.microsoft.com/office/drawing/2014/main" id="{1C4B5929-C206-23D9-2234-19ADD0E7AA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-101" r="32311"/>
                <a:stretch>
                  <a:fillRect/>
                </a:stretch>
              </p:blipFill>
              <p:spPr bwMode="auto">
                <a:xfrm>
                  <a:off x="788121" y="1582647"/>
                  <a:ext cx="1252261" cy="214475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cxnSp>
              <p:nvCxnSpPr>
                <p:cNvPr id="271" name="직선 연결선 270">
                  <a:extLst>
                    <a:ext uri="{FF2B5EF4-FFF2-40B4-BE49-F238E27FC236}">
                      <a16:creationId xmlns:a16="http://schemas.microsoft.com/office/drawing/2014/main" id="{E9293055-D5CD-4B9E-7F64-64B2D2CA7A52}"/>
                    </a:ext>
                  </a:extLst>
                </p:cNvPr>
                <p:cNvCxnSpPr/>
                <p:nvPr/>
              </p:nvCxnSpPr>
              <p:spPr>
                <a:xfrm>
                  <a:off x="677960" y="1906933"/>
                  <a:ext cx="2712027" cy="0"/>
                </a:xfrm>
                <a:prstGeom prst="line">
                  <a:avLst/>
                </a:prstGeom>
                <a:noFill/>
                <a:ln w="31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  <p:sp>
              <p:nvSpPr>
                <p:cNvPr id="272" name="타원 271"/>
                <p:cNvSpPr/>
                <p:nvPr/>
              </p:nvSpPr>
              <p:spPr>
                <a:xfrm>
                  <a:off x="2446129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73" name="타원 272"/>
                <p:cNvSpPr/>
                <p:nvPr/>
              </p:nvSpPr>
              <p:spPr>
                <a:xfrm>
                  <a:off x="2759886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74" name="타원 273"/>
                <p:cNvSpPr/>
                <p:nvPr/>
              </p:nvSpPr>
              <p:spPr>
                <a:xfrm>
                  <a:off x="3073643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  <p:grpSp>
          <p:nvGrpSpPr>
            <p:cNvPr id="277" name="그룹 276"/>
            <p:cNvGrpSpPr/>
            <p:nvPr/>
          </p:nvGrpSpPr>
          <p:grpSpPr>
            <a:xfrm>
              <a:off x="808106" y="4399754"/>
              <a:ext cx="2461380" cy="692497"/>
              <a:chOff x="783686" y="4433552"/>
              <a:chExt cx="2461380" cy="692497"/>
            </a:xfrm>
          </p:grpSpPr>
          <p:sp>
            <p:nvSpPr>
              <p:cNvPr id="278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783686" y="4433552"/>
                <a:ext cx="769441" cy="69249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발주기관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기초예가금액</a:t>
                </a:r>
                <a:endParaRPr lang="ko-KR" altLang="en-US" sz="5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생산능력제출마감일시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err="1" smtClean="0">
                    <a:latin typeface="+mn-ea"/>
                  </a:rPr>
                  <a:t>입찰참가등록마감일시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입찰서제출마감일시</a:t>
                </a:r>
                <a:endParaRPr lang="en-US" altLang="ko-KR" sz="600" dirty="0" smtClean="0">
                  <a:latin typeface="+mn-ea"/>
                </a:endParaRPr>
              </a:p>
            </p:txBody>
          </p:sp>
          <p:sp>
            <p:nvSpPr>
              <p:cNvPr id="279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2757753" y="4433552"/>
                <a:ext cx="487313" cy="67467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한국전력공사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150,000,000</a:t>
                </a:r>
                <a:r>
                  <a:rPr lang="ko-KR" altLang="en-US" sz="600" dirty="0" smtClean="0">
                    <a:latin typeface="+mn-ea"/>
                  </a:rPr>
                  <a:t>원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2026-07-15</a:t>
                </a: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2026-07-17</a:t>
                </a:r>
                <a:br>
                  <a:rPr lang="en-US" altLang="ko-KR" sz="600" dirty="0" smtClean="0">
                    <a:latin typeface="+mn-ea"/>
                  </a:rPr>
                </a:br>
                <a:r>
                  <a:rPr lang="en-US" altLang="ko-KR" sz="600" dirty="0" smtClean="0">
                    <a:latin typeface="+mn-ea"/>
                  </a:rPr>
                  <a:t>2026-07-18</a:t>
                </a:r>
                <a:endParaRPr lang="en-US" altLang="ko-KR" sz="600" dirty="0">
                  <a:latin typeface="+mn-ea"/>
                </a:endParaRPr>
              </a:p>
            </p:txBody>
          </p:sp>
        </p:grpSp>
        <p:sp>
          <p:nvSpPr>
            <p:cNvPr id="280" name="모서리가 둥근 직사각형 279"/>
            <p:cNvSpPr/>
            <p:nvPr/>
          </p:nvSpPr>
          <p:spPr>
            <a:xfrm>
              <a:off x="1522790" y="3684828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취급공고</a:t>
              </a:r>
              <a:endParaRPr lang="ko-KR" altLang="en-US" sz="600" dirty="0"/>
            </a:p>
          </p:txBody>
        </p: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58922" y="5194143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82" name="그룹 281"/>
            <p:cNvGrpSpPr/>
            <p:nvPr/>
          </p:nvGrpSpPr>
          <p:grpSpPr>
            <a:xfrm>
              <a:off x="783686" y="5271868"/>
              <a:ext cx="2186266" cy="467617"/>
              <a:chOff x="781461" y="2610063"/>
              <a:chExt cx="2186266" cy="467617"/>
            </a:xfrm>
          </p:grpSpPr>
          <p:sp>
            <p:nvSpPr>
              <p:cNvPr id="283" name="TextBox 58">
                <a:extLst>
                  <a:ext uri="{FF2B5EF4-FFF2-40B4-BE49-F238E27FC236}">
                    <a16:creationId xmlns:a16="http://schemas.microsoft.com/office/drawing/2014/main" id="{02FC114B-B48B-345F-BD70-2B5A196F5B3E}"/>
                  </a:ext>
                </a:extLst>
              </p:cNvPr>
              <p:cNvSpPr txBox="1"/>
              <p:nvPr/>
            </p:nvSpPr>
            <p:spPr>
              <a:xfrm>
                <a:off x="808106" y="2831459"/>
                <a:ext cx="2159621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700" dirty="0" smtClean="0">
                    <a:latin typeface="+mn-ea"/>
                  </a:rPr>
                  <a:t>통합참조번호 </a:t>
                </a:r>
                <a:r>
                  <a:rPr lang="en-US" altLang="ko-KR" sz="700" dirty="0" smtClean="0">
                    <a:latin typeface="+mn-ea"/>
                  </a:rPr>
                  <a:t>: </a:t>
                </a:r>
                <a:r>
                  <a:rPr lang="en-US" altLang="ko-KR" sz="700" dirty="0" smtClean="0"/>
                  <a:t>2026LGM000604191-01</a:t>
                </a:r>
                <a:endParaRPr lang="en-US" altLang="ko-KR" sz="700" dirty="0"/>
              </a:p>
              <a:p>
                <a:r>
                  <a:rPr lang="en-US" altLang="ko-KR" sz="900" b="1" dirty="0">
                    <a:latin typeface="+mn-ea"/>
                  </a:rPr>
                  <a:t>(</a:t>
                </a:r>
                <a:r>
                  <a:rPr lang="ko-KR" altLang="en-US" sz="900" b="1" dirty="0" err="1">
                    <a:latin typeface="+mn-ea"/>
                  </a:rPr>
                  <a:t>공사명</a:t>
                </a:r>
                <a:r>
                  <a:rPr lang="en-US" altLang="ko-KR" sz="900" b="1" dirty="0">
                    <a:latin typeface="+mn-ea"/>
                  </a:rPr>
                  <a:t>) </a:t>
                </a:r>
                <a:r>
                  <a:rPr lang="ko-KR" altLang="en-US" sz="900" b="1" dirty="0">
                    <a:latin typeface="+mn-ea"/>
                  </a:rPr>
                  <a:t>커피나인청사 </a:t>
                </a:r>
                <a:r>
                  <a:rPr lang="ko-KR" altLang="en-US" sz="900" b="1" dirty="0" err="1">
                    <a:latin typeface="+mn-ea"/>
                  </a:rPr>
                  <a:t>냉난방기</a:t>
                </a:r>
                <a:r>
                  <a:rPr lang="ko-KR" altLang="en-US" sz="900" b="1" dirty="0">
                    <a:latin typeface="+mn-ea"/>
                  </a:rPr>
                  <a:t> </a:t>
                </a:r>
                <a:r>
                  <a:rPr lang="ko-KR" altLang="en-US" sz="900" b="1" dirty="0" err="1">
                    <a:latin typeface="+mn-ea"/>
                  </a:rPr>
                  <a:t>교체공사</a:t>
                </a:r>
                <a:endParaRPr lang="ko-KR" altLang="en-US" sz="900" b="1" dirty="0"/>
              </a:p>
            </p:txBody>
          </p:sp>
          <p:sp>
            <p:nvSpPr>
              <p:cNvPr id="284" name="모서리가 둥근 직사각형 283"/>
              <p:cNvSpPr/>
              <p:nvPr/>
            </p:nvSpPr>
            <p:spPr>
              <a:xfrm>
                <a:off x="781461" y="2610063"/>
                <a:ext cx="243478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smtClean="0">
                    <a:solidFill>
                      <a:schemeClr val="dk1"/>
                    </a:solidFill>
                  </a:rPr>
                  <a:t>공사</a:t>
                </a:r>
                <a:endParaRPr lang="ko-KR" altLang="en-US" sz="600" dirty="0">
                  <a:solidFill>
                    <a:schemeClr val="dk1"/>
                  </a:solidFill>
                </a:endParaRPr>
              </a:p>
            </p:txBody>
          </p:sp>
          <p:sp>
            <p:nvSpPr>
              <p:cNvPr id="285" name="모서리가 둥근 직사각형 284"/>
              <p:cNvSpPr/>
              <p:nvPr/>
            </p:nvSpPr>
            <p:spPr>
              <a:xfrm>
                <a:off x="1075655" y="2610063"/>
                <a:ext cx="396419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 err="1" smtClean="0"/>
                  <a:t>공개수의</a:t>
                </a:r>
                <a:endParaRPr lang="ko-KR" altLang="en-US" sz="600" dirty="0"/>
              </a:p>
            </p:txBody>
          </p:sp>
        </p:grpSp>
        <p:grpSp>
          <p:nvGrpSpPr>
            <p:cNvPr id="286" name="그룹 285"/>
            <p:cNvGrpSpPr/>
            <p:nvPr/>
          </p:nvGrpSpPr>
          <p:grpSpPr>
            <a:xfrm>
              <a:off x="810331" y="5986794"/>
              <a:ext cx="2461380" cy="276999"/>
              <a:chOff x="783686" y="4433552"/>
              <a:chExt cx="2461380" cy="276999"/>
            </a:xfrm>
          </p:grpSpPr>
          <p:sp>
            <p:nvSpPr>
              <p:cNvPr id="287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783686" y="4433552"/>
                <a:ext cx="46166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발주기관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기초예가금액</a:t>
                </a:r>
                <a:endParaRPr lang="ko-KR" altLang="en-US" sz="500" dirty="0">
                  <a:latin typeface="+mn-ea"/>
                </a:endParaRPr>
              </a:p>
            </p:txBody>
          </p:sp>
          <p:sp>
            <p:nvSpPr>
              <p:cNvPr id="288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2757753" y="4433552"/>
                <a:ext cx="48731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smtClean="0">
                    <a:latin typeface="+mn-ea"/>
                  </a:rPr>
                  <a:t>한국전력공사</a:t>
                </a:r>
                <a:endParaRPr lang="en-US" altLang="ko-KR" sz="600" dirty="0" smtClean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en-US" altLang="ko-KR" sz="600" dirty="0" smtClean="0">
                    <a:latin typeface="+mn-ea"/>
                  </a:rPr>
                  <a:t>150,000,000</a:t>
                </a:r>
                <a:r>
                  <a:rPr lang="ko-KR" altLang="en-US" sz="600" dirty="0" smtClean="0">
                    <a:latin typeface="+mn-ea"/>
                  </a:rPr>
                  <a:t>원</a:t>
                </a:r>
                <a:endParaRPr lang="en-US" altLang="ko-KR" sz="600" dirty="0" smtClean="0">
                  <a:latin typeface="+mn-ea"/>
                </a:endParaRPr>
              </a:p>
            </p:txBody>
          </p:sp>
        </p:grpSp>
        <p:sp>
          <p:nvSpPr>
            <p:cNvPr id="289" name="모서리가 둥근 직사각형 288"/>
            <p:cNvSpPr/>
            <p:nvPr/>
          </p:nvSpPr>
          <p:spPr>
            <a:xfrm>
              <a:off x="1525015" y="5271868"/>
              <a:ext cx="396419" cy="119400"/>
            </a:xfrm>
            <a:prstGeom prst="roundRect">
              <a:avLst>
                <a:gd name="adj" fmla="val 23409"/>
              </a:avLst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600" dirty="0" err="1" smtClean="0"/>
                <a:t>재공고</a:t>
              </a:r>
              <a:endParaRPr lang="ko-KR" altLang="en-US" sz="600" dirty="0"/>
            </a:p>
          </p:txBody>
        </p:sp>
      </p:grpSp>
      <p:grpSp>
        <p:nvGrpSpPr>
          <p:cNvPr id="5" name="그룹 4"/>
          <p:cNvGrpSpPr/>
          <p:nvPr/>
        </p:nvGrpSpPr>
        <p:grpSpPr>
          <a:xfrm>
            <a:off x="675399" y="1493927"/>
            <a:ext cx="2717198" cy="4738372"/>
            <a:chOff x="675399" y="1493927"/>
            <a:chExt cx="2717198" cy="4738372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56F1743-11A0-EA94-9184-4E42C0A37F9C}"/>
                </a:ext>
              </a:extLst>
            </p:cNvPr>
            <p:cNvSpPr/>
            <p:nvPr/>
          </p:nvSpPr>
          <p:spPr>
            <a:xfrm>
              <a:off x="675399" y="1493927"/>
              <a:ext cx="2712027" cy="4738372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7" name="그룹 176"/>
            <p:cNvGrpSpPr/>
            <p:nvPr/>
          </p:nvGrpSpPr>
          <p:grpSpPr>
            <a:xfrm>
              <a:off x="781461" y="4065071"/>
              <a:ext cx="2473257" cy="1098561"/>
              <a:chOff x="781461" y="2610063"/>
              <a:chExt cx="2473257" cy="1098561"/>
            </a:xfrm>
          </p:grpSpPr>
          <p:sp>
            <p:nvSpPr>
              <p:cNvPr id="182" name="TextBox 58">
                <a:extLst>
                  <a:ext uri="{FF2B5EF4-FFF2-40B4-BE49-F238E27FC236}">
                    <a16:creationId xmlns:a16="http://schemas.microsoft.com/office/drawing/2014/main" id="{02FC114B-B48B-345F-BD70-2B5A196F5B3E}"/>
                  </a:ext>
                </a:extLst>
              </p:cNvPr>
              <p:cNvSpPr txBox="1"/>
              <p:nvPr/>
            </p:nvSpPr>
            <p:spPr>
              <a:xfrm>
                <a:off x="781461" y="2794394"/>
                <a:ext cx="2473257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700" dirty="0" err="1"/>
                  <a:t>판단번호</a:t>
                </a:r>
                <a:r>
                  <a:rPr lang="ko-KR" altLang="en-US" sz="700" dirty="0"/>
                  <a:t> </a:t>
                </a:r>
                <a:r>
                  <a:rPr lang="en-US" altLang="ko-KR" sz="700" dirty="0"/>
                  <a:t>6000A</a:t>
                </a:r>
              </a:p>
              <a:p>
                <a:r>
                  <a:rPr lang="en-US" altLang="ko-KR" sz="900" b="1" dirty="0"/>
                  <a:t>‘26</a:t>
                </a:r>
                <a:r>
                  <a:rPr lang="ko-KR" altLang="en-US" sz="900" b="1" dirty="0"/>
                  <a:t>년 </a:t>
                </a:r>
                <a:r>
                  <a:rPr lang="en-US" altLang="ko-KR" sz="900" b="1" dirty="0"/>
                  <a:t>K5</a:t>
                </a:r>
                <a:r>
                  <a:rPr lang="ko-KR" altLang="en-US" sz="900" b="1" dirty="0"/>
                  <a:t>방독면</a:t>
                </a:r>
              </a:p>
            </p:txBody>
          </p:sp>
          <p:sp>
            <p:nvSpPr>
              <p:cNvPr id="183" name="TextBox 59">
                <a:extLst>
                  <a:ext uri="{FF2B5EF4-FFF2-40B4-BE49-F238E27FC236}">
                    <a16:creationId xmlns:a16="http://schemas.microsoft.com/office/drawing/2014/main" id="{F77C802D-3BC8-270F-87FC-5F442BD8054D}"/>
                  </a:ext>
                </a:extLst>
              </p:cNvPr>
              <p:cNvSpPr txBox="1"/>
              <p:nvPr/>
            </p:nvSpPr>
            <p:spPr>
              <a:xfrm>
                <a:off x="781461" y="3154626"/>
                <a:ext cx="384721" cy="55399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50000"/>
                  </a:lnSpc>
                </a:pPr>
                <a:r>
                  <a:rPr lang="ko-KR" altLang="en-US" sz="600" dirty="0" err="1">
                    <a:latin typeface="+mn-ea"/>
                  </a:rPr>
                  <a:t>발주예정월</a:t>
                </a:r>
                <a:endParaRPr lang="en-US" altLang="ko-KR" sz="6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발주기관</a:t>
                </a:r>
                <a:endParaRPr lang="en-US" altLang="ko-KR" sz="6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계약방법</a:t>
                </a:r>
                <a:endParaRPr lang="en-US" altLang="ko-KR" sz="600" dirty="0">
                  <a:latin typeface="+mn-ea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ko-KR" altLang="en-US" sz="600" dirty="0" err="1">
                    <a:latin typeface="+mn-ea"/>
                  </a:rPr>
                  <a:t>예산금액</a:t>
                </a:r>
                <a:endParaRPr lang="en-US" altLang="ko-KR" sz="600" dirty="0">
                  <a:latin typeface="+mn-ea"/>
                </a:endParaRPr>
              </a:p>
            </p:txBody>
          </p:sp>
          <p:sp>
            <p:nvSpPr>
              <p:cNvPr id="184" name="TextBox 60">
                <a:extLst>
                  <a:ext uri="{FF2B5EF4-FFF2-40B4-BE49-F238E27FC236}">
                    <a16:creationId xmlns:a16="http://schemas.microsoft.com/office/drawing/2014/main" id="{8F5E3227-69E6-C89F-B8C5-534226E95EA8}"/>
                  </a:ext>
                </a:extLst>
              </p:cNvPr>
              <p:cNvSpPr txBox="1"/>
              <p:nvPr/>
            </p:nvSpPr>
            <p:spPr>
              <a:xfrm>
                <a:off x="2596303" y="3139237"/>
                <a:ext cx="538609" cy="55399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>
                  <a:lnSpc>
                    <a:spcPct val="150000"/>
                  </a:lnSpc>
                </a:pPr>
                <a:r>
                  <a:rPr lang="en-US" altLang="ko-KR" sz="600" dirty="0">
                    <a:latin typeface="+mn-ea"/>
                  </a:rPr>
                  <a:t>2026-03</a:t>
                </a:r>
              </a:p>
              <a:p>
                <a:pPr algn="r">
                  <a:lnSpc>
                    <a:spcPct val="150000"/>
                  </a:lnSpc>
                </a:pPr>
                <a:r>
                  <a:rPr lang="ko-KR" altLang="en-US" sz="600" dirty="0">
                    <a:latin typeface="+mn-ea"/>
                  </a:rPr>
                  <a:t>화력총괄계약팀</a:t>
                </a:r>
                <a:endParaRPr lang="en-US" altLang="ko-KR" sz="600" dirty="0">
                  <a:latin typeface="+mn-ea"/>
                </a:endParaRPr>
              </a:p>
              <a:p>
                <a:pPr algn="r">
                  <a:lnSpc>
                    <a:spcPct val="150000"/>
                  </a:lnSpc>
                </a:pPr>
                <a:r>
                  <a:rPr lang="ko-KR" altLang="en-US" sz="600" dirty="0" err="1">
                    <a:latin typeface="+mn-ea"/>
                  </a:rPr>
                  <a:t>총액제</a:t>
                </a:r>
                <a:endParaRPr lang="en-US" altLang="ko-KR" sz="600" dirty="0">
                  <a:latin typeface="+mn-ea"/>
                </a:endParaRPr>
              </a:p>
              <a:p>
                <a:pPr algn="r">
                  <a:lnSpc>
                    <a:spcPct val="150000"/>
                  </a:lnSpc>
                </a:pPr>
                <a:r>
                  <a:rPr lang="en-US" altLang="ko-KR" sz="600" dirty="0">
                    <a:latin typeface="+mn-ea"/>
                  </a:rPr>
                  <a:t>11,616,000 </a:t>
                </a:r>
                <a:r>
                  <a:rPr lang="ko-KR" altLang="en-US" sz="600" dirty="0">
                    <a:latin typeface="+mn-ea"/>
                  </a:rPr>
                  <a:t>원</a:t>
                </a:r>
              </a:p>
            </p:txBody>
          </p:sp>
          <p:sp>
            <p:nvSpPr>
              <p:cNvPr id="185" name="모서리가 둥근 직사각형 184"/>
              <p:cNvSpPr/>
              <p:nvPr/>
            </p:nvSpPr>
            <p:spPr>
              <a:xfrm>
                <a:off x="781461" y="2610063"/>
                <a:ext cx="243478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>
                    <a:solidFill>
                      <a:schemeClr val="dk1"/>
                    </a:solidFill>
                  </a:rPr>
                  <a:t>물품</a:t>
                </a:r>
              </a:p>
            </p:txBody>
          </p:sp>
          <p:sp>
            <p:nvSpPr>
              <p:cNvPr id="186" name="모서리가 둥근 직사각형 185"/>
              <p:cNvSpPr/>
              <p:nvPr/>
            </p:nvSpPr>
            <p:spPr>
              <a:xfrm>
                <a:off x="1075655" y="2610063"/>
                <a:ext cx="396419" cy="119400"/>
              </a:xfrm>
              <a:prstGeom prst="roundRect">
                <a:avLst>
                  <a:gd name="adj" fmla="val 23409"/>
                </a:avLst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/>
                <a:r>
                  <a:rPr lang="ko-KR" altLang="en-US" sz="600" dirty="0"/>
                  <a:t>수의계약</a:t>
                </a:r>
              </a:p>
            </p:txBody>
          </p:sp>
        </p:grpSp>
        <p:cxnSp>
          <p:nvCxnSpPr>
            <p:cNvPr id="187" name="직선 연결선 186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5245877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720490" y="3941180"/>
              <a:ext cx="2621844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19814" y="2324769"/>
              <a:ext cx="45225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 err="1">
                  <a:latin typeface="+mn-ea"/>
                </a:rPr>
                <a:t>업무도움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90" name="타원 189"/>
            <p:cNvSpPr/>
            <p:nvPr/>
          </p:nvSpPr>
          <p:spPr>
            <a:xfrm>
              <a:off x="783686" y="2356114"/>
              <a:ext cx="187961" cy="18796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1" name="그룹 190"/>
            <p:cNvGrpSpPr/>
            <p:nvPr/>
          </p:nvGrpSpPr>
          <p:grpSpPr>
            <a:xfrm>
              <a:off x="3143548" y="2438100"/>
              <a:ext cx="94010" cy="47005"/>
              <a:chOff x="6812560" y="3297172"/>
              <a:chExt cx="94010" cy="47005"/>
            </a:xfrm>
          </p:grpSpPr>
          <p:cxnSp>
            <p:nvCxnSpPr>
              <p:cNvPr id="192" name="직선 연결선 191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3" name="직선 연결선 192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78515" y="3638327"/>
              <a:ext cx="135706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dirty="0">
                  <a:latin typeface="+mn-ea"/>
                </a:rPr>
                <a:t>총 </a:t>
              </a:r>
              <a:r>
                <a:rPr lang="en-US" altLang="ko-KR" sz="700" dirty="0">
                  <a:solidFill>
                    <a:schemeClr val="accent1">
                      <a:lumMod val="75000"/>
                    </a:schemeClr>
                  </a:solidFill>
                  <a:latin typeface="+mn-ea"/>
                </a:rPr>
                <a:t>2,010</a:t>
              </a:r>
              <a:r>
                <a:rPr lang="en-US" altLang="ko-KR" sz="700" dirty="0">
                  <a:latin typeface="+mn-ea"/>
                </a:rPr>
                <a:t> </a:t>
              </a:r>
              <a:r>
                <a:rPr lang="ko-KR" altLang="en-US" sz="700" dirty="0">
                  <a:latin typeface="+mn-ea"/>
                </a:rPr>
                <a:t>건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278206" y="3634273"/>
              <a:ext cx="393849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700" b="1" dirty="0">
                  <a:latin typeface="+mn-ea"/>
                </a:rPr>
                <a:t>표시 개수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727990" y="3634273"/>
              <a:ext cx="505710" cy="1811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en-US" altLang="ko-KR" sz="700" dirty="0">
                  <a:latin typeface="+mn-ea"/>
                </a:rPr>
                <a:t>10 </a:t>
              </a:r>
              <a:r>
                <a:rPr lang="ko-KR" altLang="en-US" sz="700" dirty="0">
                  <a:latin typeface="+mn-ea"/>
                </a:rPr>
                <a:t>개</a:t>
              </a:r>
            </a:p>
          </p:txBody>
        </p:sp>
        <p:grpSp>
          <p:nvGrpSpPr>
            <p:cNvPr id="197" name="그룹 196"/>
            <p:cNvGrpSpPr/>
            <p:nvPr/>
          </p:nvGrpSpPr>
          <p:grpSpPr>
            <a:xfrm>
              <a:off x="3143548" y="3746640"/>
              <a:ext cx="94010" cy="47005"/>
              <a:chOff x="6812560" y="3297172"/>
              <a:chExt cx="94010" cy="47005"/>
            </a:xfrm>
          </p:grpSpPr>
          <p:cxnSp>
            <p:nvCxnSpPr>
              <p:cNvPr id="198" name="직선 연결선 197"/>
              <p:cNvCxnSpPr/>
              <p:nvPr/>
            </p:nvCxnSpPr>
            <p:spPr>
              <a:xfrm>
                <a:off x="6812560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9" name="직선 연결선 198"/>
              <p:cNvCxnSpPr/>
              <p:nvPr/>
            </p:nvCxnSpPr>
            <p:spPr>
              <a:xfrm flipH="1">
                <a:off x="6859565" y="3297172"/>
                <a:ext cx="47005" cy="47005"/>
              </a:xfrm>
              <a:prstGeom prst="line">
                <a:avLst/>
              </a:prstGeom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00" name="그룹 199"/>
            <p:cNvGrpSpPr/>
            <p:nvPr/>
          </p:nvGrpSpPr>
          <p:grpSpPr>
            <a:xfrm>
              <a:off x="767702" y="3033884"/>
              <a:ext cx="2527420" cy="477995"/>
              <a:chOff x="786326" y="2270279"/>
              <a:chExt cx="2527420" cy="477995"/>
            </a:xfrm>
          </p:grpSpPr>
          <p:sp>
            <p:nvSpPr>
              <p:cNvPr id="201" name="모서리가 둥근 직사각형 200"/>
              <p:cNvSpPr/>
              <p:nvPr/>
            </p:nvSpPr>
            <p:spPr>
              <a:xfrm>
                <a:off x="786326" y="2481707"/>
                <a:ext cx="2527420" cy="266567"/>
              </a:xfrm>
              <a:prstGeom prst="roundRect">
                <a:avLst>
                  <a:gd name="adj" fmla="val 50000"/>
                </a:avLst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2" name="타원 201"/>
              <p:cNvSpPr/>
              <p:nvPr/>
            </p:nvSpPr>
            <p:spPr>
              <a:xfrm>
                <a:off x="3071451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890013" y="2561129"/>
                <a:ext cx="1886364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검색할 내용을 입력하세요</a:t>
                </a:r>
                <a:r>
                  <a:rPr lang="en-US" altLang="ko-KR" sz="7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204" name="그룹 203"/>
              <p:cNvGrpSpPr/>
              <p:nvPr/>
            </p:nvGrpSpPr>
            <p:grpSpPr>
              <a:xfrm>
                <a:off x="795624" y="2274581"/>
                <a:ext cx="1299303" cy="155984"/>
                <a:chOff x="808107" y="2288229"/>
                <a:chExt cx="1189739" cy="168318"/>
              </a:xfrm>
            </p:grpSpPr>
            <p:sp>
              <p:nvSpPr>
                <p:cNvPr id="211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808107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0070C0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solidFill>
                        <a:srgbClr val="0070C0"/>
                      </a:solidFill>
                      <a:latin typeface="맑은 고딕"/>
                      <a:ea typeface="맑은 고딕" panose="020B0503020000020004" pitchFamily="50" charset="-127"/>
                    </a:rPr>
                    <a:t>조달명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맑은 고딕"/>
                  </a:endParaRPr>
                </a:p>
              </p:txBody>
            </p:sp>
            <p:sp>
              <p:nvSpPr>
                <p:cNvPr id="212" name="사각형: 둥근 모서리 31">
                  <a:extLst>
                    <a:ext uri="{FF2B5EF4-FFF2-40B4-BE49-F238E27FC236}">
                      <a16:creationId xmlns:a16="http://schemas.microsoft.com/office/drawing/2014/main" id="{2AC143EE-93CF-3518-F0CB-8469E98507E0}"/>
                    </a:ext>
                  </a:extLst>
                </p:cNvPr>
                <p:cNvSpPr/>
                <p:nvPr/>
              </p:nvSpPr>
              <p:spPr>
                <a:xfrm>
                  <a:off x="1434352" y="2288229"/>
                  <a:ext cx="563494" cy="168318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lIns="0" tIns="0" rIns="0" bIns="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kern="0" dirty="0" err="1">
                      <a:latin typeface="맑은 고딕"/>
                      <a:ea typeface="맑은 고딕" panose="020B0503020000020004" pitchFamily="50" charset="-127"/>
                    </a:rPr>
                    <a:t>판단번호</a:t>
                  </a:r>
                  <a:endParaRPr kumimoji="1" lang="en-US" sz="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</a:endParaRPr>
                </a:p>
              </p:txBody>
            </p:sp>
          </p:grpSp>
          <p:sp>
            <p:nvSpPr>
              <p:cNvPr id="205" name="타원 204"/>
              <p:cNvSpPr/>
              <p:nvPr/>
            </p:nvSpPr>
            <p:spPr>
              <a:xfrm>
                <a:off x="814969" y="2290708"/>
                <a:ext cx="108000" cy="10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/>
                  <a:t>V</a:t>
                </a:r>
                <a:endParaRPr lang="ko-KR" altLang="en-US" sz="600" dirty="0"/>
              </a:p>
            </p:txBody>
          </p:sp>
          <p:sp>
            <p:nvSpPr>
              <p:cNvPr id="206" name="사각형: 둥근 모서리 31">
                <a:extLst>
                  <a:ext uri="{FF2B5EF4-FFF2-40B4-BE49-F238E27FC236}">
                    <a16:creationId xmlns:a16="http://schemas.microsoft.com/office/drawing/2014/main" id="{2AC143EE-93CF-3518-F0CB-8469E98507E0}"/>
                  </a:ext>
                </a:extLst>
              </p:cNvPr>
              <p:cNvSpPr/>
              <p:nvPr/>
            </p:nvSpPr>
            <p:spPr>
              <a:xfrm>
                <a:off x="2726021" y="2270279"/>
                <a:ext cx="582849" cy="154795"/>
              </a:xfrm>
              <a:prstGeom prst="round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kern="0" dirty="0" err="1">
                    <a:latin typeface="맑은 고딕"/>
                    <a:ea typeface="맑은 고딕" panose="020B0503020000020004" pitchFamily="50" charset="-127"/>
                  </a:rPr>
                  <a:t>검색필터</a:t>
                </a:r>
                <a:endParaRPr kumimoji="1" 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</a:endParaRPr>
              </a:p>
            </p:txBody>
          </p:sp>
          <p:sp>
            <p:nvSpPr>
              <p:cNvPr id="207" name="타원 206"/>
              <p:cNvSpPr/>
              <p:nvPr/>
            </p:nvSpPr>
            <p:spPr>
              <a:xfrm>
                <a:off x="2857726" y="2551066"/>
                <a:ext cx="145884" cy="145882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08" name="그룹 207"/>
              <p:cNvGrpSpPr/>
              <p:nvPr/>
            </p:nvGrpSpPr>
            <p:grpSpPr>
              <a:xfrm>
                <a:off x="2901631" y="2585953"/>
                <a:ext cx="58075" cy="58074"/>
                <a:chOff x="6812560" y="3297172"/>
                <a:chExt cx="94010" cy="94010"/>
              </a:xfrm>
            </p:grpSpPr>
            <p:cxnSp>
              <p:nvCxnSpPr>
                <p:cNvPr id="209" name="직선 연결선 208"/>
                <p:cNvCxnSpPr/>
                <p:nvPr/>
              </p:nvCxnSpPr>
              <p:spPr>
                <a:xfrm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10" name="직선 연결선 209"/>
                <p:cNvCxnSpPr/>
                <p:nvPr/>
              </p:nvCxnSpPr>
              <p:spPr>
                <a:xfrm rot="5400000">
                  <a:off x="6812560" y="3297172"/>
                  <a:ext cx="94010" cy="94010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13" name="직선 연결선 212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632254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4" name="직선 연결선 213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3599105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5" name="직선 연결선 214">
              <a:extLst>
                <a:ext uri="{FF2B5EF4-FFF2-40B4-BE49-F238E27FC236}">
                  <a16:creationId xmlns:a16="http://schemas.microsoft.com/office/drawing/2014/main" id="{E9293055-D5CD-4B9E-7F64-64B2D2CA7A52}"/>
                </a:ext>
              </a:extLst>
            </p:cNvPr>
            <p:cNvCxnSpPr/>
            <p:nvPr/>
          </p:nvCxnSpPr>
          <p:spPr>
            <a:xfrm>
              <a:off x="675399" y="2977256"/>
              <a:ext cx="2712027" cy="0"/>
            </a:xfrm>
            <a:prstGeom prst="line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781461" y="2743200"/>
              <a:ext cx="663859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 smtClean="0">
                  <a:latin typeface="+mn-ea"/>
                </a:rPr>
                <a:t>유형</a:t>
              </a:r>
              <a:endParaRPr lang="ko-KR" altLang="en-US" sz="800" b="1" dirty="0">
                <a:latin typeface="+mn-ea"/>
              </a:endParaRPr>
            </a:p>
          </p:txBody>
        </p:sp>
        <p:sp>
          <p:nvSpPr>
            <p:cNvPr id="217" name="모서리가 둥근 직사각형 216"/>
            <p:cNvSpPr/>
            <p:nvPr/>
          </p:nvSpPr>
          <p:spPr>
            <a:xfrm>
              <a:off x="1104835" y="2711058"/>
              <a:ext cx="685866" cy="187200"/>
            </a:xfrm>
            <a:prstGeom prst="roundRect">
              <a:avLst>
                <a:gd name="adj" fmla="val 17463"/>
              </a:avLst>
            </a:prstGeom>
            <a:solidFill>
              <a:srgbClr val="0070C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ko-KR" altLang="en-US" sz="800" b="1" dirty="0" smtClean="0">
                  <a:solidFill>
                    <a:schemeClr val="bg1"/>
                  </a:solidFill>
                </a:rPr>
                <a:t>조달계획</a:t>
              </a:r>
              <a:endParaRPr lang="ko-KR" altLang="en-US" sz="800" b="1" dirty="0">
                <a:solidFill>
                  <a:schemeClr val="bg1"/>
                </a:solidFill>
              </a:endParaRPr>
            </a:p>
          </p:txBody>
        </p:sp>
        <p:sp>
          <p:nvSpPr>
            <p:cNvPr id="218" name="모서리가 둥근 직사각형 217"/>
            <p:cNvSpPr/>
            <p:nvPr/>
          </p:nvSpPr>
          <p:spPr>
            <a:xfrm>
              <a:off x="1857752" y="2711058"/>
              <a:ext cx="685866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ko-KR" altLang="en-US" sz="800" smtClean="0">
                  <a:solidFill>
                    <a:schemeClr val="tx1"/>
                  </a:solidFill>
                </a:rPr>
                <a:t>사전규격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19" name="모서리가 둥근 직사각형 218"/>
            <p:cNvSpPr/>
            <p:nvPr/>
          </p:nvSpPr>
          <p:spPr>
            <a:xfrm>
              <a:off x="2604380" y="2711058"/>
              <a:ext cx="685866" cy="187200"/>
            </a:xfrm>
            <a:prstGeom prst="roundRect">
              <a:avLst>
                <a:gd name="adj" fmla="val 17463"/>
              </a:avLst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ko-KR" altLang="en-US" sz="800" dirty="0" smtClean="0">
                  <a:solidFill>
                    <a:schemeClr val="tx1"/>
                  </a:solidFill>
                </a:rPr>
                <a:t>연간조달계획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20" name="사각형: 둥근 모서리 31">
              <a:extLst>
                <a:ext uri="{FF2B5EF4-FFF2-40B4-BE49-F238E27FC236}">
                  <a16:creationId xmlns:a16="http://schemas.microsoft.com/office/drawing/2014/main" id="{2AC143EE-93CF-3518-F0CB-8469E98507E0}"/>
                </a:ext>
              </a:extLst>
            </p:cNvPr>
            <p:cNvSpPr/>
            <p:nvPr/>
          </p:nvSpPr>
          <p:spPr>
            <a:xfrm>
              <a:off x="808106" y="5828262"/>
              <a:ext cx="2446613" cy="279492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rgbClr val="0070C0"/>
              </a:solidFill>
              <a:prstDash val="solid"/>
            </a:ln>
            <a:effectLst/>
          </p:spPr>
          <p:txBody>
            <a:bodyPr lIns="0" tIns="0" rIns="0" b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kern="0" dirty="0" err="1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더보기</a:t>
              </a:r>
              <a:r>
                <a:rPr kumimoji="1" lang="ko-KR" altLang="en-US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00" kern="0" dirty="0">
                  <a:solidFill>
                    <a:srgbClr val="0070C0"/>
                  </a:solidFill>
                  <a:latin typeface="맑은 고딕"/>
                  <a:ea typeface="맑은 고딕" panose="020B0503020000020004" pitchFamily="50" charset="-127"/>
                </a:rPr>
                <a:t>(10/258)</a:t>
              </a:r>
              <a:endParaRPr kumimoji="1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+mn-ea"/>
                <a:cs typeface="+mn-cs"/>
              </a:endParaRPr>
            </a:p>
          </p:txBody>
        </p:sp>
        <p:grpSp>
          <p:nvGrpSpPr>
            <p:cNvPr id="221" name="그룹 220"/>
            <p:cNvGrpSpPr/>
            <p:nvPr/>
          </p:nvGrpSpPr>
          <p:grpSpPr>
            <a:xfrm>
              <a:off x="677960" y="1582647"/>
              <a:ext cx="2714637" cy="686386"/>
              <a:chOff x="677960" y="1582647"/>
              <a:chExt cx="2714637" cy="686386"/>
            </a:xfrm>
          </p:grpSpPr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FFC49AEA-2A8F-250C-A86A-A7751D9706C3}"/>
                  </a:ext>
                </a:extLst>
              </p:cNvPr>
              <p:cNvSpPr txBox="1"/>
              <p:nvPr/>
            </p:nvSpPr>
            <p:spPr>
              <a:xfrm>
                <a:off x="993635" y="2030452"/>
                <a:ext cx="2075554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800" dirty="0">
                    <a:latin typeface="+mn-ea"/>
                  </a:rPr>
                  <a:t>조달계획 </a:t>
                </a:r>
                <a:r>
                  <a:rPr lang="ko-KR" altLang="en-US" sz="800" dirty="0" err="1">
                    <a:latin typeface="+mn-ea"/>
                  </a:rPr>
                  <a:t>통합목록</a:t>
                </a:r>
                <a:endParaRPr lang="ko-KR" altLang="en-US" sz="800" dirty="0">
                  <a:latin typeface="+mn-ea"/>
                </a:endParaRPr>
              </a:p>
            </p:txBody>
          </p:sp>
          <p:cxnSp>
            <p:nvCxnSpPr>
              <p:cNvPr id="223" name="직선 연결선 222">
                <a:extLst>
                  <a:ext uri="{FF2B5EF4-FFF2-40B4-BE49-F238E27FC236}">
                    <a16:creationId xmlns:a16="http://schemas.microsoft.com/office/drawing/2014/main" id="{E9293055-D5CD-4B9E-7F64-64B2D2CA7A52}"/>
                  </a:ext>
                </a:extLst>
              </p:cNvPr>
              <p:cNvCxnSpPr/>
              <p:nvPr/>
            </p:nvCxnSpPr>
            <p:spPr>
              <a:xfrm>
                <a:off x="680570" y="2269033"/>
                <a:ext cx="2712027" cy="0"/>
              </a:xfrm>
              <a:prstGeom prst="line">
                <a:avLst/>
              </a:prstGeom>
              <a:noFill/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224" name="그룹 223"/>
              <p:cNvGrpSpPr/>
              <p:nvPr/>
            </p:nvGrpSpPr>
            <p:grpSpPr>
              <a:xfrm rot="5400000">
                <a:off x="852159" y="2062596"/>
                <a:ext cx="94010" cy="47005"/>
                <a:chOff x="6812560" y="3297172"/>
                <a:chExt cx="94010" cy="47005"/>
              </a:xfrm>
            </p:grpSpPr>
            <p:cxnSp>
              <p:nvCxnSpPr>
                <p:cNvPr id="231" name="직선 연결선 230"/>
                <p:cNvCxnSpPr/>
                <p:nvPr/>
              </p:nvCxnSpPr>
              <p:spPr>
                <a:xfrm>
                  <a:off x="6812560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직선 연결선 231"/>
                <p:cNvCxnSpPr/>
                <p:nvPr/>
              </p:nvCxnSpPr>
              <p:spPr>
                <a:xfrm flipH="1">
                  <a:off x="6859565" y="3297172"/>
                  <a:ext cx="47005" cy="47005"/>
                </a:xfrm>
                <a:prstGeom prst="line">
                  <a:avLst/>
                </a:prstGeom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5" name="그룹 224"/>
              <p:cNvGrpSpPr/>
              <p:nvPr/>
            </p:nvGrpSpPr>
            <p:grpSpPr>
              <a:xfrm>
                <a:off x="677960" y="1582647"/>
                <a:ext cx="2712027" cy="324286"/>
                <a:chOff x="677960" y="1582647"/>
                <a:chExt cx="2712027" cy="324286"/>
              </a:xfrm>
            </p:grpSpPr>
            <p:pic>
              <p:nvPicPr>
                <p:cNvPr id="226" name="Picture 2">
                  <a:extLst>
                    <a:ext uri="{FF2B5EF4-FFF2-40B4-BE49-F238E27FC236}">
                      <a16:creationId xmlns:a16="http://schemas.microsoft.com/office/drawing/2014/main" id="{1C4B5929-C206-23D9-2234-19ADD0E7AA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-101" r="32311"/>
                <a:stretch>
                  <a:fillRect/>
                </a:stretch>
              </p:blipFill>
              <p:spPr bwMode="auto">
                <a:xfrm>
                  <a:off x="788121" y="1582647"/>
                  <a:ext cx="1252261" cy="214475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cxnSp>
              <p:nvCxnSpPr>
                <p:cNvPr id="227" name="직선 연결선 226">
                  <a:extLst>
                    <a:ext uri="{FF2B5EF4-FFF2-40B4-BE49-F238E27FC236}">
                      <a16:creationId xmlns:a16="http://schemas.microsoft.com/office/drawing/2014/main" id="{E9293055-D5CD-4B9E-7F64-64B2D2CA7A52}"/>
                    </a:ext>
                  </a:extLst>
                </p:cNvPr>
                <p:cNvCxnSpPr/>
                <p:nvPr/>
              </p:nvCxnSpPr>
              <p:spPr>
                <a:xfrm>
                  <a:off x="677960" y="1906933"/>
                  <a:ext cx="2712027" cy="0"/>
                </a:xfrm>
                <a:prstGeom prst="line">
                  <a:avLst/>
                </a:prstGeom>
                <a:noFill/>
                <a:ln w="31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</p:cxnSp>
            <p:sp>
              <p:nvSpPr>
                <p:cNvPr id="228" name="타원 227"/>
                <p:cNvSpPr/>
                <p:nvPr/>
              </p:nvSpPr>
              <p:spPr>
                <a:xfrm>
                  <a:off x="2446129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9" name="타원 228"/>
                <p:cNvSpPr/>
                <p:nvPr/>
              </p:nvSpPr>
              <p:spPr>
                <a:xfrm>
                  <a:off x="2759886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30" name="타원 229"/>
                <p:cNvSpPr/>
                <p:nvPr/>
              </p:nvSpPr>
              <p:spPr>
                <a:xfrm>
                  <a:off x="3073643" y="1582794"/>
                  <a:ext cx="228600" cy="228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7960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ko-KR" altLang="en-US" dirty="0" smtClean="0"/>
              <a:t>조달계획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- </a:t>
            </a:r>
            <a:r>
              <a:rPr lang="ko-KR" altLang="en-US" dirty="0" smtClean="0"/>
              <a:t>숫자는 제외하고 표시함</a:t>
            </a:r>
            <a:endParaRPr lang="en-US" altLang="ko-KR" dirty="0" smtClean="0"/>
          </a:p>
          <a:p>
            <a:pPr marL="228600" indent="-228600">
              <a:buAutoNum type="arabicPeriod"/>
            </a:pPr>
            <a:r>
              <a:rPr lang="ko-KR" altLang="en-US" dirty="0" smtClean="0"/>
              <a:t>입찰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숫자는 제외하고 표시함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380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 err="1"/>
              <a:t>앱이용안내</a:t>
            </a:r>
            <a:r>
              <a:rPr lang="ko-KR" altLang="en-US" dirty="0"/>
              <a:t> </a:t>
            </a:r>
            <a:endParaRPr lang="ko-KR" altLang="en-US" dirty="0">
              <a:latin typeface="+mn-ea"/>
            </a:endParaRPr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 dirty="0" smtClean="0">
                <a:latin typeface="+mn-ea"/>
              </a:rPr>
              <a:t>앱 </a:t>
            </a:r>
            <a:r>
              <a:rPr lang="ko-KR" altLang="en-US" dirty="0">
                <a:latin typeface="+mn-ea"/>
              </a:rPr>
              <a:t>이용안내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ko-KR" altLang="en-US" dirty="0"/>
              <a:t>앱 기동 </a:t>
            </a:r>
            <a:r>
              <a:rPr lang="en-US" altLang="ko-KR" dirty="0"/>
              <a:t>&gt; </a:t>
            </a:r>
            <a:r>
              <a:rPr lang="ko-KR" altLang="en-US" dirty="0"/>
              <a:t>앱 이용안내</a:t>
            </a:r>
            <a:endParaRPr lang="ko-KR" altLang="en-US" dirty="0">
              <a:latin typeface="+mn-ea"/>
            </a:endParaRP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MUI-CM-05-M16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림 19"/>
          <p:cNvPicPr>
            <a:picLocks noChangeAspect="1"/>
          </p:cNvPicPr>
          <p:nvPr/>
        </p:nvPicPr>
        <p:blipFill rotWithShape="1">
          <a:blip r:embed="rId3"/>
          <a:srcRect b="22502"/>
          <a:stretch/>
        </p:blipFill>
        <p:spPr>
          <a:xfrm>
            <a:off x="7648135" y="4368394"/>
            <a:ext cx="1166392" cy="2038851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676933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217905" y="2424051"/>
            <a:ext cx="211147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조달계획 유형에 따라 목록이 바뀌어요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" name="꺾인 연결선 8"/>
          <p:cNvCxnSpPr>
            <a:stCxn id="7" idx="1"/>
          </p:cNvCxnSpPr>
          <p:nvPr/>
        </p:nvCxnSpPr>
        <p:spPr>
          <a:xfrm rot="10800000" flipV="1">
            <a:off x="1110657" y="2531773"/>
            <a:ext cx="107249" cy="142240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729380" y="3271274"/>
            <a:ext cx="2045753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검색필터로</a:t>
            </a:r>
            <a:r>
              <a:rPr lang="ko-KR" altLang="en-US" sz="800" dirty="0" smtClean="0">
                <a:solidFill>
                  <a:schemeClr val="bg1"/>
                </a:solidFill>
              </a:rPr>
              <a:t> 상세 검색을 할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3" name="꺾인 연결선 82"/>
          <p:cNvCxnSpPr>
            <a:stCxn id="82" idx="3"/>
          </p:cNvCxnSpPr>
          <p:nvPr/>
        </p:nvCxnSpPr>
        <p:spPr>
          <a:xfrm flipV="1">
            <a:off x="2775133" y="3179993"/>
            <a:ext cx="135070" cy="19900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746807" y="2032539"/>
            <a:ext cx="214834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업무에 참고할 수 있는 도움말이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85" name="꺾인 연결선 84"/>
          <p:cNvCxnSpPr/>
          <p:nvPr/>
        </p:nvCxnSpPr>
        <p:spPr>
          <a:xfrm>
            <a:off x="2790092" y="2140261"/>
            <a:ext cx="173276" cy="186473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/>
          <p:cNvSpPr txBox="1"/>
          <p:nvPr/>
        </p:nvSpPr>
        <p:spPr>
          <a:xfrm>
            <a:off x="1194710" y="5159042"/>
            <a:ext cx="2023311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4. </a:t>
            </a:r>
            <a:r>
              <a:rPr lang="ko-KR" altLang="en-US" sz="800" dirty="0">
                <a:solidFill>
                  <a:schemeClr val="bg1"/>
                </a:solidFill>
              </a:rPr>
              <a:t>공고들이 카드형식으로 표시되요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90" name="꺾인 연결선 89"/>
          <p:cNvCxnSpPr>
            <a:stCxn id="89" idx="1"/>
          </p:cNvCxnSpPr>
          <p:nvPr/>
        </p:nvCxnSpPr>
        <p:spPr>
          <a:xfrm rot="10800000">
            <a:off x="1101572" y="5159044"/>
            <a:ext cx="93139" cy="107720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4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804933" y="1493927"/>
            <a:ext cx="2712027" cy="4738372"/>
          </a:xfrm>
          <a:prstGeom prst="rect">
            <a:avLst/>
          </a:prstGeom>
          <a:solidFill>
            <a:srgbClr val="000000">
              <a:alpha val="4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TextBox 172"/>
          <p:cNvSpPr txBox="1"/>
          <p:nvPr/>
        </p:nvSpPr>
        <p:spPr>
          <a:xfrm>
            <a:off x="3922472" y="3295630"/>
            <a:ext cx="2172390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1. </a:t>
            </a:r>
            <a:r>
              <a:rPr lang="ko-KR" altLang="en-US" sz="800" dirty="0" smtClean="0">
                <a:solidFill>
                  <a:schemeClr val="bg1"/>
                </a:solidFill>
              </a:rPr>
              <a:t>공고들이 카드형식으로 표시되요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</a:p>
          <a:p>
            <a:r>
              <a:rPr lang="ko-KR" altLang="en-US" sz="800" dirty="0" smtClean="0">
                <a:solidFill>
                  <a:schemeClr val="bg1"/>
                </a:solidFill>
              </a:rPr>
              <a:t>카드를 클릭하면 상세 내용을 볼 수 있어요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4" name="꺾인 연결선 173"/>
          <p:cNvCxnSpPr>
            <a:stCxn id="173" idx="3"/>
          </p:cNvCxnSpPr>
          <p:nvPr/>
        </p:nvCxnSpPr>
        <p:spPr>
          <a:xfrm>
            <a:off x="6094862" y="3464907"/>
            <a:ext cx="57354" cy="169277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타원 174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698130" y="1407862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 smtClean="0"/>
              <a:t>2</a:t>
            </a:r>
            <a:endParaRPr lang="ko-KR" altLang="en-US" sz="900" b="1" dirty="0"/>
          </a:p>
        </p:txBody>
      </p:sp>
      <p:sp>
        <p:nvSpPr>
          <p:cNvPr id="178" name="TextBox 177"/>
          <p:cNvSpPr txBox="1"/>
          <p:nvPr/>
        </p:nvSpPr>
        <p:spPr>
          <a:xfrm>
            <a:off x="4400130" y="3941180"/>
            <a:ext cx="2008883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2. </a:t>
            </a:r>
            <a:r>
              <a:rPr lang="ko-KR" altLang="en-US" sz="800" dirty="0" smtClean="0">
                <a:solidFill>
                  <a:schemeClr val="bg1"/>
                </a:solidFill>
              </a:rPr>
              <a:t>카드 상단에 주요 조건들이 제공되요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179" name="꺾인 연결선 178"/>
          <p:cNvCxnSpPr>
            <a:stCxn id="178" idx="1"/>
          </p:cNvCxnSpPr>
          <p:nvPr/>
        </p:nvCxnSpPr>
        <p:spPr>
          <a:xfrm rot="10800000">
            <a:off x="4210862" y="3857164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9" name="TextBox 298"/>
          <p:cNvSpPr txBox="1"/>
          <p:nvPr/>
        </p:nvSpPr>
        <p:spPr>
          <a:xfrm>
            <a:off x="4400130" y="5192780"/>
            <a:ext cx="2111475" cy="21544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3. </a:t>
            </a:r>
            <a:r>
              <a:rPr lang="ko-KR" altLang="en-US" sz="800" dirty="0" smtClean="0">
                <a:solidFill>
                  <a:schemeClr val="bg1"/>
                </a:solidFill>
              </a:rPr>
              <a:t>공고의 주요 정보들이 하단에 표시되요</a:t>
            </a:r>
            <a:r>
              <a:rPr lang="en-US" altLang="ko-KR" sz="800" dirty="0" smtClean="0">
                <a:solidFill>
                  <a:schemeClr val="bg1"/>
                </a:solidFill>
              </a:rPr>
              <a:t>.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300" name="꺾인 연결선 299"/>
          <p:cNvCxnSpPr>
            <a:stCxn id="299" idx="1"/>
          </p:cNvCxnSpPr>
          <p:nvPr/>
        </p:nvCxnSpPr>
        <p:spPr>
          <a:xfrm rot="10800000">
            <a:off x="4210862" y="5108764"/>
            <a:ext cx="189268" cy="191738"/>
          </a:xfrm>
          <a:prstGeom prst="bentConnector2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1" name="TextBox 300"/>
          <p:cNvSpPr txBox="1"/>
          <p:nvPr/>
        </p:nvSpPr>
        <p:spPr>
          <a:xfrm>
            <a:off x="1194710" y="5533731"/>
            <a:ext cx="2023311" cy="338554"/>
          </a:xfrm>
          <a:prstGeom prst="rect">
            <a:avLst/>
          </a:prstGeom>
          <a:solidFill>
            <a:srgbClr val="0D0D0D">
              <a:alpha val="5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altLang="ko-KR" sz="800" dirty="0" smtClean="0">
                <a:solidFill>
                  <a:schemeClr val="bg1"/>
                </a:solidFill>
              </a:rPr>
              <a:t>5. </a:t>
            </a:r>
            <a:r>
              <a:rPr lang="ko-KR" altLang="en-US" sz="800" dirty="0" err="1" smtClean="0">
                <a:solidFill>
                  <a:schemeClr val="bg1"/>
                </a:solidFill>
              </a:rPr>
              <a:t>더보기</a:t>
            </a:r>
            <a:r>
              <a:rPr lang="ko-KR" altLang="en-US" sz="800" dirty="0" smtClean="0">
                <a:solidFill>
                  <a:schemeClr val="bg1"/>
                </a:solidFill>
              </a:rPr>
              <a:t> 버튼으로 공고를 추가로 확인할 수 있어요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cxnSp>
        <p:nvCxnSpPr>
          <p:cNvPr id="302" name="꺾인 연결선 301"/>
          <p:cNvCxnSpPr>
            <a:stCxn id="301" idx="1"/>
          </p:cNvCxnSpPr>
          <p:nvPr/>
        </p:nvCxnSpPr>
        <p:spPr>
          <a:xfrm rot="10800000" flipV="1">
            <a:off x="1050406" y="5703007"/>
            <a:ext cx="144305" cy="104367"/>
          </a:xfrm>
          <a:prstGeom prst="bentConnector3">
            <a:avLst>
              <a:gd name="adj1" fmla="val 50000"/>
            </a:avLst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그룹 142"/>
          <p:cNvGrpSpPr/>
          <p:nvPr/>
        </p:nvGrpSpPr>
        <p:grpSpPr>
          <a:xfrm>
            <a:off x="8223250" y="569392"/>
            <a:ext cx="3365500" cy="634511"/>
            <a:chOff x="8223250" y="569392"/>
            <a:chExt cx="3365500" cy="634511"/>
          </a:xfrm>
        </p:grpSpPr>
        <p:sp>
          <p:nvSpPr>
            <p:cNvPr id="144" name="직사각형 143"/>
            <p:cNvSpPr/>
            <p:nvPr/>
          </p:nvSpPr>
          <p:spPr>
            <a:xfrm>
              <a:off x="8223250" y="569392"/>
              <a:ext cx="1682750" cy="219465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rmAutofit fontScale="55000" lnSpcReduction="20000"/>
            </a:bodyPr>
            <a:lstStyle/>
            <a:p>
              <a:pPr algn="ctr"/>
              <a:r>
                <a:rPr lang="en-US" altLang="ko-KR" dirty="0" smtClean="0"/>
                <a:t>2026-07-24 </a:t>
              </a:r>
              <a:r>
                <a:rPr lang="ko-KR" altLang="en-US" dirty="0"/>
                <a:t>화면 </a:t>
              </a:r>
              <a:r>
                <a:rPr lang="ko-KR" altLang="en-US" dirty="0" smtClean="0"/>
                <a:t>추가</a:t>
              </a:r>
              <a:endParaRPr lang="ko-KR" altLang="en-US" dirty="0"/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9906000" y="569392"/>
              <a:ext cx="1682750" cy="63451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marL="228600" indent="-228600">
                <a:buAutoNum type="arabicPeriod"/>
              </a:pPr>
              <a:r>
                <a:rPr lang="ko-KR" altLang="en-US" sz="700" dirty="0" smtClean="0"/>
                <a:t>앱 이용안내 화면 추가</a:t>
              </a:r>
              <a:r>
                <a:rPr lang="en-US" altLang="ko-KR" sz="700" dirty="0" smtClean="0"/>
                <a:t/>
              </a:r>
              <a:br>
                <a:rPr lang="en-US" altLang="ko-KR" sz="700" dirty="0" smtClean="0"/>
              </a:br>
              <a:r>
                <a:rPr lang="en-US" altLang="ko-KR" sz="700" dirty="0" smtClean="0"/>
                <a:t>- </a:t>
              </a:r>
              <a:r>
                <a:rPr lang="ko-KR" altLang="en-US" sz="700" dirty="0" err="1" smtClean="0"/>
                <a:t>코치마크</a:t>
              </a:r>
              <a:r>
                <a:rPr lang="ko-KR" altLang="en-US" sz="700" dirty="0" smtClean="0"/>
                <a:t> 방식</a:t>
              </a:r>
              <a:endParaRPr lang="ko-KR" altLang="en-US" sz="700" dirty="0"/>
            </a:p>
          </p:txBody>
        </p:sp>
      </p:grpSp>
    </p:spTree>
    <p:extLst>
      <p:ext uri="{BB962C8B-B14F-4D97-AF65-F5344CB8AC3E}">
        <p14:creationId xmlns:p14="http://schemas.microsoft.com/office/powerpoint/2010/main" val="3472540418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2122368-0202-31C8-C260-22B3270E06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27200" y="6588000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381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AE9582C-E43E-5A8F-8BC8-AB0EA50F2DF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 anchor="t"/>
          <a:lstStyle/>
          <a:p>
            <a:r>
              <a:rPr lang="en-US" altLang="ko-KR" dirty="0"/>
              <a:t>7. </a:t>
            </a:r>
            <a:r>
              <a:rPr lang="ko-KR" altLang="en-US" dirty="0"/>
              <a:t>앱 설정</a:t>
            </a:r>
            <a:endParaRPr lang="en-US" altLang="ko-KR" dirty="0"/>
          </a:p>
          <a:p>
            <a:r>
              <a:rPr lang="en-US" altLang="ko-KR" dirty="0"/>
              <a:t>7.1 </a:t>
            </a:r>
            <a:r>
              <a:rPr lang="ko-KR" altLang="en-US" dirty="0"/>
              <a:t>화면 목록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7184140"/>
              </p:ext>
            </p:extLst>
          </p:nvPr>
        </p:nvGraphicFramePr>
        <p:xfrm>
          <a:off x="635474" y="1574093"/>
          <a:ext cx="8749092" cy="8976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9308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3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44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003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45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57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46764"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화면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한글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화면명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웹페이지 경로</a:t>
                      </a:r>
                      <a:r>
                        <a:rPr lang="en-US" altLang="ko-KR" sz="800" b="1" baseline="30000" dirty="0">
                          <a:latin typeface="+mn-ea"/>
                          <a:ea typeface="+mn-ea"/>
                        </a:rPr>
                        <a:t>1)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/>
                      </a:pPr>
                      <a:r>
                        <a:rPr lang="ko-KR" altLang="en-US" sz="800" b="1" dirty="0" err="1">
                          <a:latin typeface="+mn-ea"/>
                          <a:ea typeface="+mn-ea"/>
                        </a:rPr>
                        <a:t>유스케이스</a:t>
                      </a: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6764"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MUI-MS-02-M01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설정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AppStng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설정 정보를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AppStngPage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MUI-MS-02-P02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앱 캐시 삭제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앱 캐시 정보를 삭제한다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AppCashDel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799098"/>
                  </a:ext>
                </a:extLst>
              </a:tr>
              <a:tr h="174960">
                <a:tc>
                  <a:txBody>
                    <a:bodyPr/>
                    <a:lstStyle/>
                    <a:p>
                      <a:pPr algn="l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MUI-MS-02-P03</a:t>
                      </a:r>
                      <a:endParaRPr lang="en-US" sz="800" b="0" i="0" u="none" strike="noStrike" kern="120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모바일앱서비스 안내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웹에서 로그인 서비스를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사용하려할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때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모바일 앱을 안내한다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defRPr/>
                      </a:pP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src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/biz/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ms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ppStng</a:t>
                      </a: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/</a:t>
                      </a:r>
                      <a:r>
                        <a:rPr lang="en-US" altLang="ko-KR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AppSrvc</a:t>
                      </a:r>
                      <a:r>
                        <a:rPr lang="en-US" altLang="ko-KR" sz="8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.tsx</a:t>
                      </a:r>
                      <a:endParaRPr lang="ko-KR" altLang="en-US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Native App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</a:t>
                      </a:r>
                    </a:p>
                  </a:txBody>
                  <a:tcPr marL="36000" marR="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635983"/>
                  </a:ext>
                </a:extLst>
              </a:tr>
            </a:tbl>
          </a:graphicData>
        </a:graphic>
      </p:graphicFrame>
      <p:sp>
        <p:nvSpPr>
          <p:cNvPr id="4" name="Text Box 73">
            <a:extLst>
              <a:ext uri="{FF2B5EF4-FFF2-40B4-BE49-F238E27FC236}">
                <a16:creationId xmlns:a16="http://schemas.microsoft.com/office/drawing/2014/main" id="{6BCDFFF8-E699-5B49-38BC-CBE31E92D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6550" y="1466370"/>
            <a:ext cx="1678016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1)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88899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382</a:t>
            </a:fld>
            <a:endParaRPr lang="ko-KR" altLang="en-US" dirty="0"/>
          </a:p>
        </p:txBody>
      </p:sp>
      <p:sp>
        <p:nvSpPr>
          <p:cNvPr id="152" name="텍스트 개체 틀 2">
            <a:extLst>
              <a:ext uri="{FF2B5EF4-FFF2-40B4-BE49-F238E27FC236}">
                <a16:creationId xmlns:a16="http://schemas.microsoft.com/office/drawing/2014/main" id="{2A43B398-1F7B-131F-A0D8-AEA5D69709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612000"/>
            <a:ext cx="9001125" cy="324000"/>
          </a:xfrm>
        </p:spPr>
        <p:txBody>
          <a:bodyPr/>
          <a:lstStyle/>
          <a:p>
            <a:r>
              <a:rPr lang="en-US" altLang="ko-KR" dirty="0"/>
              <a:t>7.2. </a:t>
            </a:r>
            <a:r>
              <a:rPr lang="ko-KR" altLang="en-US" dirty="0"/>
              <a:t>화면 흐름도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172656" y="1581494"/>
            <a:ext cx="307777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>
                <a:solidFill>
                  <a:schemeClr val="tx1"/>
                </a:solidFill>
              </a:rPr>
              <a:t>사용자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1F177D-FEE3-BEB4-F7D3-295E52612890}"/>
              </a:ext>
            </a:extLst>
          </p:cNvPr>
          <p:cNvSpPr/>
          <p:nvPr/>
        </p:nvSpPr>
        <p:spPr>
          <a:xfrm>
            <a:off x="2366608" y="1722198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설정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1776198"/>
            <a:ext cx="448641" cy="180000"/>
            <a:chOff x="4520608" y="1663914"/>
            <a:chExt cx="448641" cy="180000"/>
          </a:xfrm>
        </p:grpSpPr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336770-3307-E038-1843-D3E94EEE0172}"/>
              </a:ext>
            </a:extLst>
          </p:cNvPr>
          <p:cNvGrpSpPr/>
          <p:nvPr/>
        </p:nvGrpSpPr>
        <p:grpSpPr>
          <a:xfrm>
            <a:off x="7863972" y="2664163"/>
            <a:ext cx="237994" cy="339111"/>
            <a:chOff x="565604" y="5691736"/>
            <a:chExt cx="237994" cy="339111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019EDD-4322-2651-BC19-3D7C8083D355}"/>
                </a:ext>
              </a:extLst>
            </p:cNvPr>
            <p:cNvSpPr/>
            <p:nvPr/>
          </p:nvSpPr>
          <p:spPr>
            <a:xfrm>
              <a:off x="565604" y="5907736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끝</a:t>
              </a: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04C0B0F-7275-1964-CD84-22454585E4D5}"/>
                </a:ext>
              </a:extLst>
            </p:cNvPr>
            <p:cNvGrpSpPr/>
            <p:nvPr/>
          </p:nvGrpSpPr>
          <p:grpSpPr>
            <a:xfrm>
              <a:off x="594601" y="5691736"/>
              <a:ext cx="180000" cy="180000"/>
              <a:chOff x="5058274" y="2498299"/>
              <a:chExt cx="180000" cy="180000"/>
            </a:xfrm>
          </p:grpSpPr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E9B5D9EB-9463-896B-12A2-37CBFEB67E81}"/>
                  </a:ext>
                </a:extLst>
              </p:cNvPr>
              <p:cNvSpPr/>
              <p:nvPr/>
            </p:nvSpPr>
            <p:spPr>
              <a:xfrm>
                <a:off x="5058274" y="2498299"/>
                <a:ext cx="180000" cy="180000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035D845-DB68-ACE3-6F03-D835D7B8D78D}"/>
                  </a:ext>
                </a:extLst>
              </p:cNvPr>
              <p:cNvSpPr/>
              <p:nvPr/>
            </p:nvSpPr>
            <p:spPr>
              <a:xfrm>
                <a:off x="5094274" y="2534299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5" idx="6"/>
            <a:endCxn id="3" idx="1"/>
          </p:cNvCxnSpPr>
          <p:nvPr/>
        </p:nvCxnSpPr>
        <p:spPr>
          <a:xfrm>
            <a:off x="1471017" y="1866198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2241332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캐시 삭제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78E964E-71D4-0A4A-6B62-9B3E9D98F58D}"/>
              </a:ext>
            </a:extLst>
          </p:cNvPr>
          <p:cNvSpPr/>
          <p:nvPr/>
        </p:nvSpPr>
        <p:spPr>
          <a:xfrm>
            <a:off x="2366608" y="3294411"/>
            <a:ext cx="1421560" cy="288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모바일앱서비스 안내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AEEDFB4-914D-EC9C-7C39-0AC873E02BC6}"/>
              </a:ext>
            </a:extLst>
          </p:cNvPr>
          <p:cNvSpPr/>
          <p:nvPr/>
        </p:nvSpPr>
        <p:spPr>
          <a:xfrm>
            <a:off x="5132838" y="171726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디바이스 </a:t>
            </a:r>
            <a:r>
              <a:rPr lang="en-US" altLang="ko-KR" sz="800" dirty="0">
                <a:solidFill>
                  <a:schemeClr val="tx1"/>
                </a:solidFill>
              </a:rPr>
              <a:t>–</a:t>
            </a:r>
            <a:r>
              <a:rPr lang="ko-KR" altLang="en-US" sz="800" dirty="0">
                <a:solidFill>
                  <a:schemeClr val="tx1"/>
                </a:solidFill>
              </a:rPr>
              <a:t> 앱 권한</a:t>
            </a:r>
          </a:p>
        </p:txBody>
      </p:sp>
      <p:cxnSp>
        <p:nvCxnSpPr>
          <p:cNvPr id="82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" idx="3"/>
            <a:endCxn id="34" idx="1"/>
          </p:cNvCxnSpPr>
          <p:nvPr/>
        </p:nvCxnSpPr>
        <p:spPr>
          <a:xfrm>
            <a:off x="3788168" y="1866198"/>
            <a:ext cx="1344670" cy="51913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C7FD98A-881C-6F37-BA08-19801A94DD6D}"/>
              </a:ext>
            </a:extLst>
          </p:cNvPr>
          <p:cNvSpPr/>
          <p:nvPr/>
        </p:nvSpPr>
        <p:spPr>
          <a:xfrm>
            <a:off x="1022376" y="3149934"/>
            <a:ext cx="755015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r>
              <a:rPr lang="ko-KR" altLang="en-US" sz="800" b="1" dirty="0" err="1">
                <a:solidFill>
                  <a:schemeClr val="tx1"/>
                </a:solidFill>
              </a:rPr>
              <a:t>모바일웹</a:t>
            </a:r>
            <a:r>
              <a:rPr lang="ko-KR" altLang="en-US" sz="800" b="1" dirty="0">
                <a:solidFill>
                  <a:schemeClr val="tx1"/>
                </a:solidFill>
              </a:rPr>
              <a:t> 사용자</a:t>
            </a: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6978CD2B-1BB9-BD9C-1ECE-98361D08ADB9}"/>
              </a:ext>
            </a:extLst>
          </p:cNvPr>
          <p:cNvGrpSpPr/>
          <p:nvPr/>
        </p:nvGrpSpPr>
        <p:grpSpPr>
          <a:xfrm>
            <a:off x="1022376" y="3348411"/>
            <a:ext cx="448641" cy="180000"/>
            <a:chOff x="4520608" y="1663914"/>
            <a:chExt cx="448641" cy="180000"/>
          </a:xfrm>
        </p:grpSpPr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09D3D24C-C346-627F-6657-2F6131A6BE42}"/>
                </a:ext>
              </a:extLst>
            </p:cNvPr>
            <p:cNvSpPr/>
            <p:nvPr/>
          </p:nvSpPr>
          <p:spPr>
            <a:xfrm>
              <a:off x="4789249" y="1663914"/>
              <a:ext cx="180000" cy="180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4996C471-E44F-C5C9-F26F-9A9662EC602C}"/>
                </a:ext>
              </a:extLst>
            </p:cNvPr>
            <p:cNvSpPr/>
            <p:nvPr/>
          </p:nvSpPr>
          <p:spPr>
            <a:xfrm>
              <a:off x="4520608" y="1714380"/>
              <a:ext cx="237994" cy="1231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</a:rPr>
                <a:t>시작</a:t>
              </a:r>
            </a:p>
          </p:txBody>
        </p:sp>
      </p:grp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49" idx="6"/>
            <a:endCxn id="37" idx="1"/>
          </p:cNvCxnSpPr>
          <p:nvPr/>
        </p:nvCxnSpPr>
        <p:spPr>
          <a:xfrm>
            <a:off x="1471017" y="3438411"/>
            <a:ext cx="89559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" idx="3"/>
            <a:endCxn id="60" idx="1"/>
          </p:cNvCxnSpPr>
          <p:nvPr/>
        </p:nvCxnSpPr>
        <p:spPr>
          <a:xfrm flipV="1">
            <a:off x="3788168" y="1861261"/>
            <a:ext cx="1344670" cy="493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294411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 연결</a:t>
            </a:r>
          </a:p>
        </p:txBody>
      </p:sp>
      <p:sp>
        <p:nvSpPr>
          <p:cNvPr id="63" name="사각형: 둥근 모서리 33">
            <a:extLst>
              <a:ext uri="{FF2B5EF4-FFF2-40B4-BE49-F238E27FC236}">
                <a16:creationId xmlns:a16="http://schemas.microsoft.com/office/drawing/2014/main" id="{98DB5003-88A6-609C-ADAE-D7A05C24EDFC}"/>
              </a:ext>
            </a:extLst>
          </p:cNvPr>
          <p:cNvSpPr/>
          <p:nvPr/>
        </p:nvSpPr>
        <p:spPr>
          <a:xfrm>
            <a:off x="5132838" y="3808173"/>
            <a:ext cx="1421560" cy="288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앱스토어</a:t>
            </a:r>
          </a:p>
        </p:txBody>
      </p:sp>
      <p:cxnSp>
        <p:nvCxnSpPr>
          <p:cNvPr id="6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7" idx="3"/>
            <a:endCxn id="63" idx="1"/>
          </p:cNvCxnSpPr>
          <p:nvPr/>
        </p:nvCxnSpPr>
        <p:spPr>
          <a:xfrm>
            <a:off x="3788168" y="3438411"/>
            <a:ext cx="1344670" cy="51376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>
            <a:extLst>
              <a:ext uri="{FF2B5EF4-FFF2-40B4-BE49-F238E27FC236}">
                <a16:creationId xmlns:a16="http://schemas.microsoft.com/office/drawing/2014/main" id="{A2217EA9-E206-27C6-6227-E336F5A0DFB7}"/>
              </a:ext>
            </a:extLst>
          </p:cNvPr>
          <p:cNvCxnSpPr>
            <a:cxnSpLocks/>
            <a:stCxn id="37" idx="3"/>
            <a:endCxn id="62" idx="1"/>
          </p:cNvCxnSpPr>
          <p:nvPr/>
        </p:nvCxnSpPr>
        <p:spPr>
          <a:xfrm>
            <a:off x="3788168" y="3438411"/>
            <a:ext cx="1344670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0" idx="3"/>
            <a:endCxn id="19" idx="2"/>
          </p:cNvCxnSpPr>
          <p:nvPr/>
        </p:nvCxnSpPr>
        <p:spPr>
          <a:xfrm>
            <a:off x="6554398" y="1861261"/>
            <a:ext cx="1338571" cy="89290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34" idx="3"/>
            <a:endCxn id="19" idx="2"/>
          </p:cNvCxnSpPr>
          <p:nvPr/>
        </p:nvCxnSpPr>
        <p:spPr>
          <a:xfrm>
            <a:off x="6554398" y="2385332"/>
            <a:ext cx="1338571" cy="368831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2" idx="3"/>
            <a:endCxn id="19" idx="2"/>
          </p:cNvCxnSpPr>
          <p:nvPr/>
        </p:nvCxnSpPr>
        <p:spPr>
          <a:xfrm flipV="1">
            <a:off x="6554398" y="2754163"/>
            <a:ext cx="1338571" cy="68424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연결선: 꺾임 60">
            <a:extLst>
              <a:ext uri="{FF2B5EF4-FFF2-40B4-BE49-F238E27FC236}">
                <a16:creationId xmlns:a16="http://schemas.microsoft.com/office/drawing/2014/main" id="{064FA8DB-8F69-5091-2BE5-8CFAFA214B6D}"/>
              </a:ext>
            </a:extLst>
          </p:cNvPr>
          <p:cNvCxnSpPr>
            <a:stCxn id="63" idx="3"/>
            <a:endCxn id="19" idx="2"/>
          </p:cNvCxnSpPr>
          <p:nvPr/>
        </p:nvCxnSpPr>
        <p:spPr>
          <a:xfrm flipV="1">
            <a:off x="6554398" y="2754163"/>
            <a:ext cx="1338571" cy="1198010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996C471-E44F-C5C9-F26F-9A9662EC602C}"/>
              </a:ext>
            </a:extLst>
          </p:cNvPr>
          <p:cNvSpPr/>
          <p:nvPr/>
        </p:nvSpPr>
        <p:spPr>
          <a:xfrm>
            <a:off x="2366607" y="3149935"/>
            <a:ext cx="1338571" cy="12311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800" dirty="0" smtClean="0">
                <a:solidFill>
                  <a:schemeClr val="tx1"/>
                </a:solidFill>
              </a:rPr>
              <a:t>로그인</a:t>
            </a:r>
            <a:r>
              <a:rPr lang="en-US" altLang="ko-KR" sz="800" dirty="0" smtClean="0">
                <a:solidFill>
                  <a:schemeClr val="tx1"/>
                </a:solidFill>
              </a:rPr>
              <a:t> </a:t>
            </a:r>
            <a:r>
              <a:rPr lang="ko-KR" altLang="en-US" sz="800" dirty="0" smtClean="0">
                <a:solidFill>
                  <a:schemeClr val="tx1"/>
                </a:solidFill>
              </a:rPr>
              <a:t>서비스 사용 시도 시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2838823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3B73B6-9533-B663-F47A-582CAB9DC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34C8E023-7346-48FC-AB24-9A3388C53208}" type="slidenum">
              <a:rPr lang="ko-KR" altLang="en-US" smtClean="0"/>
              <a:pPr/>
              <a:t>383</a:t>
            </a:fld>
            <a:endParaRPr lang="ko-KR" altLang="en-US" dirty="0"/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456693E-B362-1964-1F83-5ED0D9D1627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7.3 </a:t>
            </a:r>
            <a:r>
              <a:rPr lang="ko-KR" altLang="en-US" dirty="0"/>
              <a:t>앱 구성 다이어그램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F128619-663F-4D19-19E9-1E6F38EFDDF3}"/>
              </a:ext>
            </a:extLst>
          </p:cNvPr>
          <p:cNvSpPr/>
          <p:nvPr/>
        </p:nvSpPr>
        <p:spPr>
          <a:xfrm>
            <a:off x="6284628" y="1007533"/>
            <a:ext cx="2743200" cy="5181316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서버 영역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1CB2831-A480-99BB-B1E6-806F67233A32}"/>
              </a:ext>
            </a:extLst>
          </p:cNvPr>
          <p:cNvSpPr/>
          <p:nvPr/>
        </p:nvSpPr>
        <p:spPr>
          <a:xfrm>
            <a:off x="389467" y="1007533"/>
            <a:ext cx="5705815" cy="518131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algn="ctr"/>
            <a:r>
              <a:rPr lang="ko-KR" altLang="en-US" sz="1400" dirty="0"/>
              <a:t>화면 영역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211F437-2CBB-D7A8-65D2-70363026244A}"/>
              </a:ext>
            </a:extLst>
          </p:cNvPr>
          <p:cNvSpPr/>
          <p:nvPr/>
        </p:nvSpPr>
        <p:spPr>
          <a:xfrm>
            <a:off x="578095" y="1802607"/>
            <a:ext cx="1822590" cy="493389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2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설정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AppStngPage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F474B58-0035-035C-62CD-92C77B7639B8}"/>
              </a:ext>
            </a:extLst>
          </p:cNvPr>
          <p:cNvSpPr/>
          <p:nvPr/>
        </p:nvSpPr>
        <p:spPr>
          <a:xfrm>
            <a:off x="578095" y="2404804"/>
            <a:ext cx="1822590" cy="529907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앱 캐시 삭제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AppCashDel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7B9F658-66B3-FEBD-9F60-D810061D912D}"/>
              </a:ext>
            </a:extLst>
          </p:cNvPr>
          <p:cNvSpPr/>
          <p:nvPr/>
        </p:nvSpPr>
        <p:spPr>
          <a:xfrm>
            <a:off x="587331" y="3006722"/>
            <a:ext cx="1822590" cy="518665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>
            <a:normAutofit fontScale="92500" lnSpcReduction="10000"/>
          </a:bodyPr>
          <a:lstStyle/>
          <a:p>
            <a:pPr algn="ctr"/>
            <a:r>
              <a:rPr lang="en-US" altLang="ko-KR" sz="1100" dirty="0"/>
              <a:t>&lt;&lt;App Page&gt;&gt;</a:t>
            </a:r>
          </a:p>
          <a:p>
            <a:pPr algn="ctr"/>
            <a:r>
              <a:rPr lang="ko-KR" altLang="en-US" sz="1100" dirty="0">
                <a:solidFill>
                  <a:schemeClr val="tx1"/>
                </a:solidFill>
              </a:rPr>
              <a:t>모바일앱서비스 안내</a:t>
            </a:r>
            <a:endParaRPr lang="en-US" altLang="ko-KR" sz="1100" dirty="0"/>
          </a:p>
          <a:p>
            <a:pPr algn="ctr"/>
            <a:r>
              <a:rPr lang="en-US" altLang="ko-KR" sz="1100" dirty="0" err="1">
                <a:solidFill>
                  <a:srgbClr val="000000"/>
                </a:solidFill>
                <a:latin typeface="Calibri" panose="020F0502020204030204" pitchFamily="34" charset="0"/>
              </a:rPr>
              <a:t>AppSrvc</a:t>
            </a:r>
            <a:r>
              <a:rPr lang="en-US" altLang="ko-KR" sz="1100" dirty="0" err="1"/>
              <a:t>.tsx</a:t>
            </a:r>
            <a:r>
              <a:rPr lang="en-US" altLang="ko-KR" sz="1100" b="1" baseline="30000" dirty="0">
                <a:latin typeface="+mn-ea"/>
              </a:rPr>
              <a:t> 1)</a:t>
            </a:r>
            <a:endParaRPr lang="en-US" altLang="ko-KR" sz="11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C223C0E5-3E8B-2275-E6D7-80AE7BF512A5}"/>
              </a:ext>
            </a:extLst>
          </p:cNvPr>
          <p:cNvCxnSpPr>
            <a:cxnSpLocks/>
            <a:stCxn id="6" idx="3"/>
            <a:endCxn id="39" idx="1"/>
          </p:cNvCxnSpPr>
          <p:nvPr/>
        </p:nvCxnSpPr>
        <p:spPr>
          <a:xfrm>
            <a:off x="2400685" y="2049302"/>
            <a:ext cx="1559406" cy="94087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59541914-3C9F-A030-94F4-E40F62763473}"/>
              </a:ext>
            </a:extLst>
          </p:cNvPr>
          <p:cNvCxnSpPr>
            <a:cxnSpLocks/>
            <a:stCxn id="7" idx="3"/>
            <a:endCxn id="39" idx="1"/>
          </p:cNvCxnSpPr>
          <p:nvPr/>
        </p:nvCxnSpPr>
        <p:spPr>
          <a:xfrm>
            <a:off x="2400685" y="2669758"/>
            <a:ext cx="1559406" cy="3204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09C6E581-C0D7-85C0-7C1C-40297C3C3FF1}"/>
              </a:ext>
            </a:extLst>
          </p:cNvPr>
          <p:cNvCxnSpPr>
            <a:cxnSpLocks/>
            <a:stCxn id="8" idx="3"/>
            <a:endCxn id="39" idx="1"/>
          </p:cNvCxnSpPr>
          <p:nvPr/>
        </p:nvCxnSpPr>
        <p:spPr>
          <a:xfrm flipV="1">
            <a:off x="2409921" y="2990174"/>
            <a:ext cx="1550170" cy="2758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 Box 73">
            <a:extLst>
              <a:ext uri="{FF2B5EF4-FFF2-40B4-BE49-F238E27FC236}">
                <a16:creationId xmlns:a16="http://schemas.microsoft.com/office/drawing/2014/main" id="{A6A37441-CC1D-D3E2-A9BD-035000473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628" y="882139"/>
            <a:ext cx="1727200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>
              <a:spcBef>
                <a:spcPct val="50000"/>
              </a:spcBef>
            </a:pPr>
            <a:r>
              <a:rPr lang="ko-KR" altLang="en-US" sz="700" dirty="0"/>
              <a:t>영문명</a:t>
            </a:r>
            <a:r>
              <a:rPr lang="en-US" altLang="ko-KR" sz="700" dirty="0"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prstClr val="black"/>
                </a:solidFill>
                <a:latin typeface="+mn-ea"/>
              </a:rPr>
              <a:t>상세설계 기간에 작성 예정</a:t>
            </a:r>
            <a:endParaRPr lang="en-US" altLang="ko-KR" sz="7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8EEC1B9-CC65-F7BE-5073-784BEE06A8EF}"/>
              </a:ext>
            </a:extLst>
          </p:cNvPr>
          <p:cNvSpPr/>
          <p:nvPr/>
        </p:nvSpPr>
        <p:spPr>
          <a:xfrm>
            <a:off x="3960091" y="2170157"/>
            <a:ext cx="1727200" cy="1640033"/>
          </a:xfrm>
          <a:prstGeom prst="rect">
            <a:avLst/>
          </a:prstGeom>
          <a:ln w="95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100" dirty="0"/>
              <a:t>&lt;&lt;React Object&gt;&gt;</a:t>
            </a:r>
          </a:p>
          <a:p>
            <a:pPr algn="ctr"/>
            <a:endParaRPr lang="en-US" altLang="ko-KR" sz="1100" dirty="0"/>
          </a:p>
          <a:p>
            <a:pPr algn="ctr"/>
            <a:r>
              <a:rPr lang="en-US" altLang="ko-KR" sz="1100" dirty="0"/>
              <a:t>Forms</a:t>
            </a:r>
          </a:p>
          <a:p>
            <a:pPr algn="ctr"/>
            <a:r>
              <a:rPr lang="en-US" altLang="ko-KR" sz="1100" dirty="0"/>
              <a:t>Grid</a:t>
            </a:r>
          </a:p>
          <a:p>
            <a:pPr algn="ctr"/>
            <a:r>
              <a:rPr lang="en-US" altLang="ko-KR" sz="1100" dirty="0"/>
              <a:t>Container</a:t>
            </a:r>
          </a:p>
          <a:p>
            <a:pPr algn="ctr"/>
            <a:r>
              <a:rPr lang="en-US" altLang="ko-KR" sz="1100" dirty="0"/>
              <a:t>Navigation</a:t>
            </a:r>
          </a:p>
          <a:p>
            <a:pPr algn="ctr"/>
            <a:r>
              <a:rPr lang="en-US" altLang="ko-KR" sz="1100" dirty="0"/>
              <a:t>Chart</a:t>
            </a:r>
          </a:p>
          <a:p>
            <a:pPr algn="ctr"/>
            <a:r>
              <a:rPr lang="en-US" altLang="ko-KR" sz="1100" dirty="0"/>
              <a:t>Frame</a:t>
            </a:r>
          </a:p>
        </p:txBody>
      </p:sp>
    </p:spTree>
    <p:extLst>
      <p:ext uri="{BB962C8B-B14F-4D97-AF65-F5344CB8AC3E}">
        <p14:creationId xmlns:p14="http://schemas.microsoft.com/office/powerpoint/2010/main" val="499836018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 err="1"/>
              <a:t>마이페이지</a:t>
            </a:r>
            <a:r>
              <a:rPr lang="ko-KR" altLang="en-US" dirty="0"/>
              <a:t> </a:t>
            </a:r>
            <a:r>
              <a:rPr lang="ko-KR" altLang="en-US" dirty="0" err="1"/>
              <a:t>알림설정</a:t>
            </a:r>
            <a:r>
              <a:rPr lang="ko-KR" altLang="en-US" dirty="0"/>
              <a:t> 값과 동일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알림 서비스 신청 및 해지 페이지 </a:t>
            </a:r>
            <a:r>
              <a:rPr lang="ko-KR" altLang="en-US" dirty="0" err="1"/>
              <a:t>바로가기</a:t>
            </a:r>
            <a:r>
              <a:rPr lang="ko-KR" altLang="en-US" dirty="0"/>
              <a:t> 버튼</a:t>
            </a:r>
            <a:endParaRPr lang="en-US" altLang="ko-KR" dirty="0"/>
          </a:p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앱 설정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앱 권한 설정 </a:t>
            </a:r>
            <a:r>
              <a:rPr lang="en-US" altLang="ko-KR" dirty="0">
                <a:sym typeface="Wingdings" panose="05000000000000000000" pitchFamily="2" charset="2"/>
              </a:rPr>
              <a:t> </a:t>
            </a:r>
            <a:r>
              <a:rPr lang="ko-KR" altLang="en-US" dirty="0">
                <a:sym typeface="Wingdings" panose="05000000000000000000" pitchFamily="2" charset="2"/>
              </a:rPr>
              <a:t>시스템 앱 설정으로 </a:t>
            </a:r>
            <a:r>
              <a:rPr lang="ko-KR" altLang="en-US" dirty="0" err="1">
                <a:sym typeface="Wingdings" panose="05000000000000000000" pitchFamily="2" charset="2"/>
              </a:rPr>
              <a:t>바로가기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버전 정보 아코디언으로 최소화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앱 캐시 삭제 클릭 시 팝업 확인</a:t>
            </a:r>
            <a:endParaRPr lang="en-US" altLang="ko-KR" dirty="0">
              <a:sym typeface="Wingdings" panose="05000000000000000000" pitchFamily="2" charset="2"/>
            </a:endParaRPr>
          </a:p>
          <a:p>
            <a:pPr marL="228600" indent="-228600">
              <a:buFont typeface="+mj-lt"/>
              <a:buAutoNum type="arabicPeriod"/>
            </a:pPr>
            <a:r>
              <a:rPr lang="ko-KR" altLang="en-US" dirty="0">
                <a:sym typeface="Wingdings" panose="05000000000000000000" pitchFamily="2" charset="2"/>
              </a:rPr>
              <a:t>약관</a:t>
            </a:r>
            <a:r>
              <a:rPr lang="en-US" altLang="ko-KR" dirty="0">
                <a:sym typeface="Wingdings" panose="05000000000000000000" pitchFamily="2" charset="2"/>
              </a:rPr>
              <a:t> dapa.go.kr</a:t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개인정보 처리방침 외부 브라우저 링크</a:t>
            </a:r>
            <a:r>
              <a:rPr lang="en-US" altLang="ko-KR" dirty="0">
                <a:sym typeface="Wingdings" panose="05000000000000000000" pitchFamily="2" charset="2"/>
              </a:rPr>
              <a:t/>
            </a:r>
            <a:br>
              <a:rPr lang="en-US" altLang="ko-KR" dirty="0">
                <a:sym typeface="Wingdings" panose="05000000000000000000" pitchFamily="2" charset="2"/>
              </a:rPr>
            </a:br>
            <a:r>
              <a:rPr lang="en-US" altLang="ko-KR" dirty="0">
                <a:sym typeface="Wingdings" panose="05000000000000000000" pitchFamily="2" charset="2"/>
              </a:rPr>
              <a:t>- </a:t>
            </a:r>
            <a:r>
              <a:rPr lang="ko-KR" altLang="en-US" dirty="0">
                <a:sym typeface="Wingdings" panose="05000000000000000000" pitchFamily="2" charset="2"/>
              </a:rPr>
              <a:t>저작권 정책 외부 브라우저 링크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384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설정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앱 설정 화면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메인 홈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설정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MUI-MS-02-M01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936072" y="1608356"/>
            <a:ext cx="23051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vl="0"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</a:rPr>
              <a:t>설정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80570" y="1846937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5" name="그룹 24"/>
          <p:cNvGrpSpPr/>
          <p:nvPr/>
        </p:nvGrpSpPr>
        <p:grpSpPr>
          <a:xfrm rot="5400000">
            <a:off x="755013" y="1640499"/>
            <a:ext cx="94010" cy="47005"/>
            <a:chOff x="6812560" y="3297172"/>
            <a:chExt cx="94010" cy="47005"/>
          </a:xfrm>
        </p:grpSpPr>
        <p:cxnSp>
          <p:nvCxnSpPr>
            <p:cNvPr id="26" name="직선 연결선 25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7" name="직선 연결선 26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8" name="타원 27"/>
          <p:cNvSpPr/>
          <p:nvPr/>
        </p:nvSpPr>
        <p:spPr>
          <a:xfrm>
            <a:off x="3044537" y="1580377"/>
            <a:ext cx="187961" cy="18796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" name="그룹 28"/>
          <p:cNvGrpSpPr/>
          <p:nvPr/>
        </p:nvGrpSpPr>
        <p:grpSpPr>
          <a:xfrm>
            <a:off x="903581" y="3648461"/>
            <a:ext cx="2255663" cy="306146"/>
            <a:chOff x="903581" y="2074658"/>
            <a:chExt cx="2255663" cy="306146"/>
          </a:xfrm>
        </p:grpSpPr>
        <p:sp>
          <p:nvSpPr>
            <p:cNvPr id="30" name="모서리가 둥근 직사각형 29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권한 설정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906602" y="5195084"/>
            <a:ext cx="2255663" cy="306146"/>
            <a:chOff x="903581" y="2845891"/>
            <a:chExt cx="2255663" cy="306146"/>
          </a:xfrm>
        </p:grpSpPr>
        <p:sp>
          <p:nvSpPr>
            <p:cNvPr id="39" name="모서리가 둥근 직사각형 38"/>
            <p:cNvSpPr/>
            <p:nvPr/>
          </p:nvSpPr>
          <p:spPr>
            <a:xfrm>
              <a:off x="903581" y="2845891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945103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937409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앱 캐시 삭제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6F1743-11A0-EA94-9184-4E42C0A37F9C}"/>
              </a:ext>
            </a:extLst>
          </p:cNvPr>
          <p:cNvSpPr/>
          <p:nvPr/>
        </p:nvSpPr>
        <p:spPr>
          <a:xfrm>
            <a:off x="3795734" y="1493927"/>
            <a:ext cx="2712027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83686" y="3348355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773074" y="200273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알림 설정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299999"/>
            <a:ext cx="185626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앱 푸시 알림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890624" y="2446054"/>
            <a:ext cx="1856260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모바일 앱으로 알림</a:t>
            </a:r>
            <a:endParaRPr lang="en-US" altLang="ko-KR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88" name="Toggle Switch">
            <a:extLst>
              <a:ext uri="{FF2B5EF4-FFF2-40B4-BE49-F238E27FC236}">
                <a16:creationId xmlns:a16="http://schemas.microsoft.com/office/drawing/2014/main" id="{7DE372C8-CB0A-433B-A519-4E3FA9DA61AD}"/>
              </a:ext>
            </a:extLst>
          </p:cNvPr>
          <p:cNvGrpSpPr/>
          <p:nvPr/>
        </p:nvGrpSpPr>
        <p:grpSpPr>
          <a:xfrm>
            <a:off x="2910973" y="2361554"/>
            <a:ext cx="301752" cy="137160"/>
            <a:chOff x="840582" y="1601197"/>
            <a:chExt cx="301752" cy="137160"/>
          </a:xfrm>
        </p:grpSpPr>
        <p:sp>
          <p:nvSpPr>
            <p:cNvPr id="89" name="Switch Box">
              <a:extLst>
                <a:ext uri="{FF2B5EF4-FFF2-40B4-BE49-F238E27FC236}">
                  <a16:creationId xmlns:a16="http://schemas.microsoft.com/office/drawing/2014/main" id="{28A08D9B-B4CD-449A-B282-BEFD377C536C}"/>
                </a:ext>
              </a:extLst>
            </p:cNvPr>
            <p:cNvSpPr/>
            <p:nvPr/>
          </p:nvSpPr>
          <p:spPr>
            <a:xfrm>
              <a:off x="840582" y="1601197"/>
              <a:ext cx="301752" cy="137160"/>
            </a:xfrm>
            <a:prstGeom prst="roundRect">
              <a:avLst>
                <a:gd name="adj" fmla="val 50000"/>
              </a:avLst>
            </a:prstGeom>
            <a:solidFill>
              <a:srgbClr val="0078D7"/>
            </a:solidFill>
            <a:ln w="12700">
              <a:solidFill>
                <a:srgbClr val="0078D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witch">
              <a:extLst>
                <a:ext uri="{FF2B5EF4-FFF2-40B4-BE49-F238E27FC236}">
                  <a16:creationId xmlns:a16="http://schemas.microsoft.com/office/drawing/2014/main" id="{9CB0C086-A052-4405-A3B0-7ABEB74E8A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3943" y="1638821"/>
              <a:ext cx="61913" cy="61913"/>
            </a:xfrm>
            <a:prstGeom prst="ellipse">
              <a:avLst/>
            </a:prstGeom>
            <a:solidFill>
              <a:srgbClr val="FFFFFF"/>
            </a:solidFill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64787" y="319093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98" name="그룹 97"/>
          <p:cNvGrpSpPr/>
          <p:nvPr/>
        </p:nvGrpSpPr>
        <p:grpSpPr>
          <a:xfrm>
            <a:off x="903581" y="2707140"/>
            <a:ext cx="2255663" cy="306146"/>
            <a:chOff x="903581" y="2074658"/>
            <a:chExt cx="2255663" cy="306146"/>
          </a:xfrm>
        </p:grpSpPr>
        <p:sp>
          <p:nvSpPr>
            <p:cNvPr id="99" name="모서리가 둥근 직사각형 98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알림 서비스 신청 및 해지</a:t>
              </a:r>
            </a:p>
          </p:txBody>
        </p:sp>
      </p:grpSp>
      <p:sp>
        <p:nvSpPr>
          <p:cNvPr id="102" name="모서리가 둥근 직사각형 101"/>
          <p:cNvSpPr/>
          <p:nvPr/>
        </p:nvSpPr>
        <p:spPr>
          <a:xfrm>
            <a:off x="948491" y="4310789"/>
            <a:ext cx="2165844" cy="692962"/>
          </a:xfrm>
          <a:prstGeom prst="roundRect">
            <a:avLst>
              <a:gd name="adj" fmla="val 5797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모서리가 둥근 직사각형 81"/>
          <p:cNvSpPr/>
          <p:nvPr/>
        </p:nvSpPr>
        <p:spPr>
          <a:xfrm>
            <a:off x="903581" y="4091030"/>
            <a:ext cx="2255663" cy="306146"/>
          </a:xfrm>
          <a:prstGeom prst="roundRect">
            <a:avLst>
              <a:gd name="adj" fmla="val 18626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5055" y="4182548"/>
            <a:ext cx="173195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앱 </a:t>
            </a:r>
            <a:r>
              <a:rPr lang="ko-KR" altLang="en-US" sz="800" b="1" dirty="0" err="1">
                <a:latin typeface="+mn-ea"/>
              </a:rPr>
              <a:t>버전정보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119470" y="4182548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800">
                <a:latin typeface="+mn-ea"/>
              </a:defRPr>
            </a:lvl1pPr>
          </a:lstStyle>
          <a:p>
            <a:pPr algn="r"/>
            <a:r>
              <a:rPr lang="en-US" altLang="ko-KR" dirty="0"/>
              <a:t>V 1.0.1</a:t>
            </a:r>
          </a:p>
        </p:txBody>
      </p:sp>
      <p:grpSp>
        <p:nvGrpSpPr>
          <p:cNvPr id="78" name="그룹 77"/>
          <p:cNvGrpSpPr/>
          <p:nvPr/>
        </p:nvGrpSpPr>
        <p:grpSpPr>
          <a:xfrm>
            <a:off x="2950527" y="4220601"/>
            <a:ext cx="94010" cy="47005"/>
            <a:chOff x="6812560" y="3297172"/>
            <a:chExt cx="94010" cy="47005"/>
          </a:xfrm>
        </p:grpSpPr>
        <p:cxnSp>
          <p:nvCxnSpPr>
            <p:cNvPr id="79" name="직선 연결선 78"/>
            <p:cNvCxnSpPr/>
            <p:nvPr/>
          </p:nvCxnSpPr>
          <p:spPr>
            <a:xfrm>
              <a:off x="6812560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직선 연결선 79"/>
            <p:cNvCxnSpPr/>
            <p:nvPr/>
          </p:nvCxnSpPr>
          <p:spPr>
            <a:xfrm flipH="1">
              <a:off x="6859565" y="3297172"/>
              <a:ext cx="47005" cy="47005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472572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현재 앱 버전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472572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V 1.0.1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638866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정보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638866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/>
              <a:t>iPhone 16.2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1032502" y="4805160"/>
            <a:ext cx="104421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dirty="0">
                <a:latin typeface="+mn-ea"/>
              </a:rPr>
              <a:t>내 기기 </a:t>
            </a:r>
            <a:r>
              <a:rPr lang="en-US" altLang="ko-KR" sz="800" dirty="0">
                <a:latin typeface="+mn-ea"/>
              </a:rPr>
              <a:t>OS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2076712" y="4805160"/>
            <a:ext cx="81979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800" dirty="0" err="1"/>
              <a:t>ios</a:t>
            </a:r>
            <a:endParaRPr lang="en-US" altLang="ko-KR" sz="800" dirty="0"/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6605470" y="4649724"/>
            <a:ext cx="2579992" cy="1200743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사각형: 둥근 모서리 14">
            <a:extLst>
              <a:ext uri="{FF2B5EF4-FFF2-40B4-BE49-F238E27FC236}">
                <a16:creationId xmlns:a16="http://schemas.microsoft.com/office/drawing/2014/main" id="{CB17FF57-D096-6A31-10F0-093EB170D38C}"/>
              </a:ext>
            </a:extLst>
          </p:cNvPr>
          <p:cNvSpPr/>
          <p:nvPr/>
        </p:nvSpPr>
        <p:spPr>
          <a:xfrm>
            <a:off x="7948308" y="5408886"/>
            <a:ext cx="1080000" cy="317083"/>
          </a:xfrm>
          <a:prstGeom prst="roundRect">
            <a:avLst/>
          </a:prstGeom>
          <a:solidFill>
            <a:srgbClr val="0070C0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+mn-ea"/>
                <a:cs typeface="+mn-cs"/>
              </a:rPr>
              <a:t>삭제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1" name="사각형: 둥근 모서리 15">
            <a:extLst>
              <a:ext uri="{FF2B5EF4-FFF2-40B4-BE49-F238E27FC236}">
                <a16:creationId xmlns:a16="http://schemas.microsoft.com/office/drawing/2014/main" id="{E2B61CFB-AD16-68D0-8752-50D9C5E01971}"/>
              </a:ext>
            </a:extLst>
          </p:cNvPr>
          <p:cNvSpPr/>
          <p:nvPr/>
        </p:nvSpPr>
        <p:spPr>
          <a:xfrm>
            <a:off x="6723164" y="5408886"/>
            <a:ext cx="1080000" cy="317083"/>
          </a:xfrm>
          <a:prstGeom prst="roundRect">
            <a:avLst/>
          </a:prstGeom>
          <a:noFill/>
          <a:ln w="12700" cap="flat" cmpd="sng" algn="ctr">
            <a:solidFill>
              <a:srgbClr val="0070C0"/>
            </a:solidFill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00" kern="0" dirty="0">
                <a:solidFill>
                  <a:srgbClr val="0070C0"/>
                </a:solidFill>
                <a:latin typeface="맑은 고딕"/>
                <a:ea typeface="맑은 고딕" panose="020B0503020000020004" pitchFamily="50" charset="-127"/>
              </a:rPr>
              <a:t>취소</a:t>
            </a:r>
            <a:endParaRPr kumimoji="1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23164" y="4796454"/>
            <a:ext cx="2305144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b="1" dirty="0">
                <a:latin typeface="+mn-ea"/>
              </a:rPr>
              <a:t>앱 캐시 삭제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6742894" y="5028963"/>
            <a:ext cx="2305144" cy="1077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700" dirty="0">
                <a:latin typeface="+mn-ea"/>
              </a:rPr>
              <a:t>앱에 임시 보관된 캐시를 삭제할까요</a:t>
            </a:r>
            <a:r>
              <a:rPr lang="en-US" altLang="ko-KR" sz="700" dirty="0">
                <a:latin typeface="+mn-ea"/>
              </a:rPr>
              <a:t>?</a:t>
            </a:r>
          </a:p>
        </p:txBody>
      </p:sp>
      <p:grpSp>
        <p:nvGrpSpPr>
          <p:cNvPr id="114" name="그룹 113"/>
          <p:cNvGrpSpPr/>
          <p:nvPr/>
        </p:nvGrpSpPr>
        <p:grpSpPr>
          <a:xfrm>
            <a:off x="8934298" y="4796454"/>
            <a:ext cx="94010" cy="94010"/>
            <a:chOff x="6812560" y="3297172"/>
            <a:chExt cx="94010" cy="94010"/>
          </a:xfrm>
        </p:grpSpPr>
        <p:cxnSp>
          <p:nvCxnSpPr>
            <p:cNvPr id="115" name="직선 연결선 114"/>
            <p:cNvCxnSpPr/>
            <p:nvPr/>
          </p:nvCxnSpPr>
          <p:spPr>
            <a:xfrm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6" name="직선 연결선 115"/>
            <p:cNvCxnSpPr/>
            <p:nvPr/>
          </p:nvCxnSpPr>
          <p:spPr>
            <a:xfrm rot="5400000">
              <a:off x="6812560" y="3297172"/>
              <a:ext cx="94010" cy="9401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7" name="직사각형 116"/>
          <p:cNvSpPr/>
          <p:nvPr/>
        </p:nvSpPr>
        <p:spPr>
          <a:xfrm>
            <a:off x="6541384" y="4418892"/>
            <a:ext cx="1043876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>
              <a:buFont typeface="Arial" panose="020B0604020202020204" pitchFamily="34" charset="0"/>
              <a:buNone/>
            </a:pPr>
            <a:r>
              <a:rPr lang="en-US" altLang="ko-KR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MUI-MS-02-P02</a:t>
            </a:r>
            <a:endParaRPr lang="ko-KR" altLang="en-US" sz="900" dirty="0">
              <a:solidFill>
                <a:srgbClr val="000000"/>
              </a:solidFill>
              <a:latin typeface="맑은 고딕" panose="020B0503020000020004" pitchFamily="50" charset="-127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8075444" y="4418892"/>
            <a:ext cx="1177967" cy="230832"/>
          </a:xfrm>
          <a:prstGeom prst="rect">
            <a:avLst/>
          </a:prstGeom>
        </p:spPr>
        <p:txBody>
          <a:bodyPr lIns="72000" tIns="36000" rIns="72000" bIns="36000"/>
          <a:lstStyle/>
          <a:p>
            <a:pPr algn="r">
              <a:buFont typeface="Arial" panose="020B0604020202020204" pitchFamily="34" charset="0"/>
              <a:buNone/>
            </a:pPr>
            <a:r>
              <a:rPr lang="ko-KR" altLang="en-US" sz="900" dirty="0">
                <a:solidFill>
                  <a:srgbClr val="000000"/>
                </a:solidFill>
                <a:latin typeface="맑은 고딕" panose="020B0503020000020004" pitchFamily="50" charset="-127"/>
              </a:rPr>
              <a:t>앱 캐시 삭제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5DF28B5-84C4-84C3-4D62-98FEE71BEAA5}"/>
              </a:ext>
            </a:extLst>
          </p:cNvPr>
          <p:cNvSpPr txBox="1"/>
          <p:nvPr/>
        </p:nvSpPr>
        <p:spPr>
          <a:xfrm>
            <a:off x="2772830" y="6326480"/>
            <a:ext cx="617157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900" b="1" dirty="0">
                <a:solidFill>
                  <a:srgbClr val="0070C0"/>
                </a:solidFill>
                <a:latin typeface="+mn-ea"/>
              </a:rPr>
              <a:t>우측에 계속</a:t>
            </a:r>
          </a:p>
        </p:txBody>
      </p:sp>
      <p:grpSp>
        <p:nvGrpSpPr>
          <p:cNvPr id="120" name="그룹 119"/>
          <p:cNvGrpSpPr/>
          <p:nvPr/>
        </p:nvGrpSpPr>
        <p:grpSpPr>
          <a:xfrm>
            <a:off x="4034528" y="1984727"/>
            <a:ext cx="2255663" cy="306146"/>
            <a:chOff x="903581" y="2074658"/>
            <a:chExt cx="2255663" cy="306146"/>
          </a:xfrm>
        </p:grpSpPr>
        <p:sp>
          <p:nvSpPr>
            <p:cNvPr id="121" name="모서리가 둥근 직사각형 120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개인정보처리방침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FFC49AEA-2A8F-250C-A86A-A7751D9706C3}"/>
              </a:ext>
            </a:extLst>
          </p:cNvPr>
          <p:cNvSpPr txBox="1"/>
          <p:nvPr/>
        </p:nvSpPr>
        <p:spPr>
          <a:xfrm>
            <a:off x="3914633" y="1684621"/>
            <a:ext cx="77703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800" b="1" dirty="0">
                <a:latin typeface="+mn-ea"/>
              </a:rPr>
              <a:t>약관</a:t>
            </a:r>
            <a:endParaRPr lang="en-US" altLang="ko-KR" sz="800" b="1" dirty="0">
              <a:solidFill>
                <a:srgbClr val="FF0000"/>
              </a:solidFill>
              <a:latin typeface="+mn-ea"/>
            </a:endParaRP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678420" y="5725969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2" name="그룹 131"/>
          <p:cNvGrpSpPr/>
          <p:nvPr/>
        </p:nvGrpSpPr>
        <p:grpSpPr>
          <a:xfrm>
            <a:off x="4034528" y="2427296"/>
            <a:ext cx="2255663" cy="306146"/>
            <a:chOff x="903581" y="2074658"/>
            <a:chExt cx="2255663" cy="306146"/>
          </a:xfrm>
        </p:grpSpPr>
        <p:sp>
          <p:nvSpPr>
            <p:cNvPr id="133" name="모서리가 둥근 직사각형 132"/>
            <p:cNvSpPr/>
            <p:nvPr/>
          </p:nvSpPr>
          <p:spPr>
            <a:xfrm>
              <a:off x="903581" y="2074658"/>
              <a:ext cx="2255663" cy="306146"/>
            </a:xfrm>
            <a:prstGeom prst="roundRect">
              <a:avLst>
                <a:gd name="adj" fmla="val 18626"/>
              </a:avLst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2676525" y="2173870"/>
              <a:ext cx="368012" cy="1077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700" dirty="0">
                  <a:latin typeface="+mn-ea"/>
                </a:rPr>
                <a:t>&gt;</a:t>
              </a:r>
              <a:endParaRPr lang="ko-KR" altLang="en-US" sz="700" dirty="0">
                <a:latin typeface="+mn-ea"/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FFC49AEA-2A8F-250C-A86A-A7751D9706C3}"/>
                </a:ext>
              </a:extLst>
            </p:cNvPr>
            <p:cNvSpPr txBox="1"/>
            <p:nvPr/>
          </p:nvSpPr>
          <p:spPr>
            <a:xfrm>
              <a:off x="1035055" y="2166176"/>
              <a:ext cx="1731957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800" b="1" dirty="0">
                  <a:latin typeface="+mn-ea"/>
                </a:rPr>
                <a:t>저작권 정책</a:t>
              </a:r>
              <a:endParaRPr lang="en-US" altLang="ko-KR" sz="800" b="1" dirty="0">
                <a:solidFill>
                  <a:srgbClr val="FF0000"/>
                </a:solidFill>
                <a:latin typeface="+mn-ea"/>
              </a:endParaRPr>
            </a:p>
          </p:txBody>
        </p:sp>
      </p:grp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E9293055-D5CD-4B9E-7F64-64B2D2CA7A52}"/>
              </a:ext>
            </a:extLst>
          </p:cNvPr>
          <p:cNvCxnSpPr/>
          <p:nvPr/>
        </p:nvCxnSpPr>
        <p:spPr>
          <a:xfrm>
            <a:off x="3795734" y="2914074"/>
            <a:ext cx="2712027" cy="0"/>
          </a:xfrm>
          <a:prstGeom prst="line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37" name="타원 136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197010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589336" y="3299336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2</a:t>
            </a:r>
            <a:endParaRPr lang="ko-KR" altLang="en-US" sz="900" b="1" dirty="0"/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3708880" y="1666693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3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129785500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684F4725-C9F0-CBDB-8A92-4A6CEC4586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ko-KR" altLang="en-US" dirty="0"/>
              <a:t>콘텐츠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>
                <a:solidFill>
                  <a:srgbClr val="FF0000"/>
                </a:solidFill>
              </a:rPr>
              <a:t>- </a:t>
            </a:r>
            <a:r>
              <a:rPr lang="ko-KR" altLang="en-US" dirty="0">
                <a:solidFill>
                  <a:srgbClr val="FF0000"/>
                </a:solidFill>
              </a:rPr>
              <a:t>모바일 웹에서 서비스 사용 시</a:t>
            </a:r>
            <a:r>
              <a:rPr lang="en-US" altLang="ko-KR" dirty="0">
                <a:solidFill>
                  <a:srgbClr val="FF0000"/>
                </a:solidFill>
              </a:rPr>
              <a:t>, </a:t>
            </a:r>
            <a:r>
              <a:rPr lang="ko-KR" altLang="en-US" dirty="0">
                <a:solidFill>
                  <a:srgbClr val="FF0000"/>
                </a:solidFill>
              </a:rPr>
              <a:t>로그인 서비스를 사용하려 할 때 노출되는 팝업 메시지임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- </a:t>
            </a:r>
            <a:r>
              <a:rPr lang="ko-KR" altLang="en-US" dirty="0"/>
              <a:t>버튼 클릭 시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있다면 앱으로 연결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  &gt; </a:t>
            </a:r>
            <a:r>
              <a:rPr lang="ko-KR" altLang="en-US" dirty="0"/>
              <a:t>앱이 설치되어 있지 않다면 앱 설치 스토어로 연결</a:t>
            </a:r>
            <a:endParaRPr lang="en-US" altLang="ko-KR" dirty="0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F34168-C6CD-46A8-A3C6-1A0350C93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336153" y="6596721"/>
            <a:ext cx="1258128" cy="216000"/>
          </a:xfrm>
        </p:spPr>
        <p:txBody>
          <a:bodyPr/>
          <a:lstStyle/>
          <a:p>
            <a:fld id="{34C8E023-7346-48FC-AB24-9A3388C53208}" type="slidenum">
              <a:rPr lang="ko-KR" altLang="en-US" smtClean="0"/>
              <a:pPr/>
              <a:t>385</a:t>
            </a:fld>
            <a:endParaRPr lang="ko-KR" altLang="en-US" dirty="0"/>
          </a:p>
        </p:txBody>
      </p:sp>
      <p:sp>
        <p:nvSpPr>
          <p:cNvPr id="10" name="텍스트 개체 틀 9">
            <a:extLst>
              <a:ext uri="{FF2B5EF4-FFF2-40B4-BE49-F238E27FC236}">
                <a16:creationId xmlns:a16="http://schemas.microsoft.com/office/drawing/2014/main" id="{D72B1D79-CE3C-9F24-3515-FEB8E153DB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>
                <a:latin typeface="+mn-ea"/>
              </a:rPr>
              <a:t>모바일앱서비스안내</a:t>
            </a:r>
            <a:endParaRPr lang="ko-KR" altLang="en-US" dirty="0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1A39A19D-48F8-C100-E4B0-B66C476312E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0">
              <a:lnSpc>
                <a:spcPct val="100000"/>
              </a:lnSpc>
              <a:spcBef>
                <a:spcPts val="0"/>
              </a:spcBef>
              <a:defRPr/>
            </a:pPr>
            <a:r>
              <a:rPr lang="ko-KR" altLang="en-US" dirty="0">
                <a:latin typeface="+mn-ea"/>
              </a:rPr>
              <a:t>모바일 웹에서 로그인 서비스를 </a:t>
            </a:r>
            <a:r>
              <a:rPr lang="ko-KR" altLang="en-US" dirty="0" err="1">
                <a:latin typeface="+mn-ea"/>
              </a:rPr>
              <a:t>사용하려할</a:t>
            </a:r>
            <a:r>
              <a:rPr lang="ko-KR" altLang="en-US" dirty="0">
                <a:latin typeface="+mn-ea"/>
              </a:rPr>
              <a:t> 때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모바일 앱을 안내한다</a:t>
            </a:r>
          </a:p>
        </p:txBody>
      </p:sp>
      <p:sp>
        <p:nvSpPr>
          <p:cNvPr id="12" name="텍스트 개체 틀 11">
            <a:extLst>
              <a:ext uri="{FF2B5EF4-FFF2-40B4-BE49-F238E27FC236}">
                <a16:creationId xmlns:a16="http://schemas.microsoft.com/office/drawing/2014/main" id="{12A7EEAD-A494-801C-77B8-2B1A8A6F95B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>
                <a:latin typeface="+mn-ea"/>
              </a:rPr>
              <a:t>모바일 웹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로그인 서비스 </a:t>
            </a:r>
            <a:r>
              <a:rPr lang="en-US" altLang="ko-KR" dirty="0">
                <a:latin typeface="+mn-ea"/>
              </a:rPr>
              <a:t>&gt; </a:t>
            </a:r>
            <a:r>
              <a:rPr lang="ko-KR" altLang="en-US" dirty="0">
                <a:latin typeface="+mn-ea"/>
              </a:rPr>
              <a:t>모바일앱서비스안내</a:t>
            </a:r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0643EE08-B324-56D6-CB41-C4D8C5E3832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 dirty="0">
                <a:solidFill>
                  <a:srgbClr val="000000"/>
                </a:solidFill>
                <a:latin typeface="맑은 고딕" panose="020B0503020000020004" pitchFamily="50" charset="-127"/>
              </a:rPr>
              <a:t>MUI-MS-02-P03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1F397FE-75BC-416F-A3B0-F0A2DFA42B38}"/>
              </a:ext>
            </a:extLst>
          </p:cNvPr>
          <p:cNvSpPr/>
          <p:nvPr/>
        </p:nvSpPr>
        <p:spPr>
          <a:xfrm>
            <a:off x="675401" y="1493927"/>
            <a:ext cx="2712026" cy="4738372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99"/>
          </a:p>
        </p:txBody>
      </p:sp>
      <p:grpSp>
        <p:nvGrpSpPr>
          <p:cNvPr id="19" name="Overlay and Alert">
            <a:extLst>
              <a:ext uri="{FF2B5EF4-FFF2-40B4-BE49-F238E27FC236}">
                <a16:creationId xmlns:a16="http://schemas.microsoft.com/office/drawing/2014/main" id="{8570DB11-89E5-44DD-9545-614AC5D78982}"/>
              </a:ext>
            </a:extLst>
          </p:cNvPr>
          <p:cNvGrpSpPr/>
          <p:nvPr/>
        </p:nvGrpSpPr>
        <p:grpSpPr>
          <a:xfrm>
            <a:off x="675401" y="1493927"/>
            <a:ext cx="2701627" cy="4738361"/>
            <a:chOff x="595686" y="1261242"/>
            <a:chExt cx="2286000" cy="4064000"/>
          </a:xfrm>
        </p:grpSpPr>
        <p:sp>
          <p:nvSpPr>
            <p:cNvPr id="20" name="Overlay">
              <a:extLst>
                <a:ext uri="{FF2B5EF4-FFF2-40B4-BE49-F238E27FC236}">
                  <a16:creationId xmlns:a16="http://schemas.microsoft.com/office/drawing/2014/main" id="{50423D8B-855D-4277-89CC-C6A83C80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686" y="1261242"/>
              <a:ext cx="2286000" cy="4064000"/>
            </a:xfrm>
            <a:prstGeom prst="rect">
              <a:avLst/>
            </a:prstGeom>
            <a:solidFill>
              <a:srgbClr val="000000">
                <a:alpha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Background">
              <a:extLst>
                <a:ext uri="{FF2B5EF4-FFF2-40B4-BE49-F238E27FC236}">
                  <a16:creationId xmlns:a16="http://schemas.microsoft.com/office/drawing/2014/main" id="{A1A44B50-9D70-4862-8DC3-A37BCACED50C}"/>
                </a:ext>
              </a:extLst>
            </p:cNvPr>
            <p:cNvSpPr/>
            <p:nvPr/>
          </p:nvSpPr>
          <p:spPr>
            <a:xfrm>
              <a:off x="781226" y="2038441"/>
              <a:ext cx="1914922" cy="2584963"/>
            </a:xfrm>
            <a:prstGeom prst="roundRect">
              <a:avLst>
                <a:gd name="adj" fmla="val 3509"/>
              </a:avLst>
            </a:prstGeom>
            <a:solidFill>
              <a:srgbClr val="FFFFF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182880" tIns="128016" rIns="182880" bIns="4572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0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9B1AD0E-77B8-4F9D-ADEF-B1427C8D6092}"/>
              </a:ext>
            </a:extLst>
          </p:cNvPr>
          <p:cNvSpPr/>
          <p:nvPr/>
        </p:nvSpPr>
        <p:spPr>
          <a:xfrm>
            <a:off x="1078300" y="3553946"/>
            <a:ext cx="1962202" cy="9144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000" b="1" dirty="0">
                <a:solidFill>
                  <a:schemeClr val="tx1"/>
                </a:solidFill>
              </a:rPr>
              <a:t>국방전자조달 모바일 서비스란</a:t>
            </a:r>
            <a:r>
              <a:rPr lang="en-US" altLang="ko-KR" sz="1000" b="1" dirty="0">
                <a:solidFill>
                  <a:schemeClr val="tx1"/>
                </a:solidFill>
              </a:rPr>
              <a:t>?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국방전자조달시스템에 게시되는 주요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조달정보를 언제 어디서나 조회할 수 있도록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스마트폰에서도 이용 가능한 모바일 앱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서비스입니다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</a:p>
          <a:p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각종 입찰공고는 물론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조달계획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입찰결과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</a:p>
          <a:p>
            <a:r>
              <a:rPr lang="ko-KR" altLang="en-US" sz="800" dirty="0">
                <a:solidFill>
                  <a:schemeClr val="tx1"/>
                </a:solidFill>
              </a:rPr>
              <a:t>계약정보 등 다양한 정보를 실시간으로 </a:t>
            </a:r>
            <a:endParaRPr lang="en-US" altLang="ko-KR" sz="800" dirty="0">
              <a:solidFill>
                <a:schemeClr val="tx1"/>
              </a:solidFill>
            </a:endParaRPr>
          </a:p>
          <a:p>
            <a:r>
              <a:rPr lang="ko-KR" altLang="en-US" sz="800" dirty="0">
                <a:solidFill>
                  <a:schemeClr val="tx1"/>
                </a:solidFill>
              </a:rPr>
              <a:t>조회하실 수 있습니다</a:t>
            </a:r>
            <a:r>
              <a:rPr lang="en-US" altLang="ko-KR" sz="800" dirty="0">
                <a:solidFill>
                  <a:schemeClr val="tx1"/>
                </a:solidFill>
              </a:rPr>
              <a:t>.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3" name="사각형: 둥근 모서리 79">
            <a:extLst>
              <a:ext uri="{FF2B5EF4-FFF2-40B4-BE49-F238E27FC236}">
                <a16:creationId xmlns:a16="http://schemas.microsoft.com/office/drawing/2014/main" id="{3086DFF5-18F6-4939-8DBB-B672A87906A0}"/>
              </a:ext>
            </a:extLst>
          </p:cNvPr>
          <p:cNvSpPr/>
          <p:nvPr/>
        </p:nvSpPr>
        <p:spPr>
          <a:xfrm>
            <a:off x="1078300" y="5029200"/>
            <a:ext cx="1962202" cy="220443"/>
          </a:xfrm>
          <a:prstGeom prst="roundRect">
            <a:avLst/>
          </a:prstGeom>
          <a:solidFill>
            <a:srgbClr val="0070C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>
                <a:solidFill>
                  <a:schemeClr val="bg1"/>
                </a:solidFill>
              </a:rPr>
              <a:t>국방전자조달 앱 실행하기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C8E76FAB-6B90-42DF-A52B-36ACEC056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5001" y="2783146"/>
            <a:ext cx="1828800" cy="371475"/>
          </a:xfrm>
          <a:prstGeom prst="rect">
            <a:avLst/>
          </a:prstGeom>
          <a:solidFill>
            <a:schemeClr val="bg1"/>
          </a:solidFill>
          <a:ln>
            <a:solidFill>
              <a:srgbClr val="F5F5F5"/>
            </a:solidFill>
          </a:ln>
        </p:spPr>
      </p:pic>
      <p:sp>
        <p:nvSpPr>
          <p:cNvPr id="32" name="타원 31">
            <a:extLst>
              <a:ext uri="{FF2B5EF4-FFF2-40B4-BE49-F238E27FC236}">
                <a16:creationId xmlns:a16="http://schemas.microsoft.com/office/drawing/2014/main" id="{37A7FF4F-0EAA-1463-560A-D5EC24416103}"/>
              </a:ext>
            </a:extLst>
          </p:cNvPr>
          <p:cNvSpPr/>
          <p:nvPr/>
        </p:nvSpPr>
        <p:spPr>
          <a:xfrm>
            <a:off x="814437" y="2314015"/>
            <a:ext cx="172130" cy="172130"/>
          </a:xfrm>
          <a:prstGeom prst="ellipse">
            <a:avLst/>
          </a:prstGeom>
          <a:solidFill>
            <a:schemeClr val="accent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900" b="1" dirty="0"/>
              <a:t>1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45248384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HNKjcG5LQF3a4yIKJeEMiBUZIB0kVbgXykBmurRQ/4=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18514</TotalTime>
  <Words>50107</Words>
  <Application>Microsoft Office PowerPoint</Application>
  <PresentationFormat>A4 용지(210x297mm)</PresentationFormat>
  <Paragraphs>21996</Paragraphs>
  <Slides>386</Slides>
  <Notes>5</Notes>
  <HiddenSlides>0</HiddenSlides>
  <MMClips>0</MMClips>
  <ScaleCrop>false</ScaleCrop>
  <HeadingPairs>
    <vt:vector size="6" baseType="variant">
      <vt:variant>
        <vt:lpstr>사용한 글꼴</vt:lpstr>
      </vt:variant>
      <vt:variant>
        <vt:i4>11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386</vt:i4>
      </vt:variant>
    </vt:vector>
  </HeadingPairs>
  <TitlesOfParts>
    <vt:vector size="398" baseType="lpstr">
      <vt:lpstr>Pretendard GOV</vt:lpstr>
      <vt:lpstr>Pretendard Medium</vt:lpstr>
      <vt:lpstr>맑은 고딕</vt:lpstr>
      <vt:lpstr>맑은 고딕 (본문)</vt:lpstr>
      <vt:lpstr>Arial</vt:lpstr>
      <vt:lpstr>Calibri</vt:lpstr>
      <vt:lpstr>Consolas</vt:lpstr>
      <vt:lpstr>Segoe UI</vt:lpstr>
      <vt:lpstr>Times New Roman</vt:lpstr>
      <vt:lpstr>Verdana</vt:lpstr>
      <vt:lpstr>Wingdings</vt:lpstr>
      <vt:lpstr>Office 테마</vt:lpstr>
      <vt:lpstr>사용자인터페이스 설계서 - 모바일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LIG SYSTEM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표준서식-PPTX-A4-Landscape</dc:title>
  <dc:subject>프로젝트 명</dc:subject>
  <dc:creator>LIG SYSTEM</dc:creator>
  <cp:keywords>표준서식-PPTX-A4-Landscape</cp:keywords>
  <cp:lastModifiedBy>User</cp:lastModifiedBy>
  <cp:revision>1004</cp:revision>
  <cp:lastPrinted>2016-10-27T08:57:39Z</cp:lastPrinted>
  <dcterms:created xsi:type="dcterms:W3CDTF">2016-10-27T07:41:55Z</dcterms:created>
  <dcterms:modified xsi:type="dcterms:W3CDTF">2026-07-29T08:40:20Z</dcterms:modified>
  <cp:category>서브시스템/업무명</cp:category>
  <cp:contentStatus>0.1</cp:contentStatus>
</cp:coreProperties>
</file>