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178"/>
  </p:notesMasterIdLst>
  <p:handoutMasterIdLst>
    <p:handoutMasterId r:id="rId179"/>
  </p:handoutMasterIdLst>
  <p:sldIdLst>
    <p:sldId id="861" r:id="rId2"/>
    <p:sldId id="886" r:id="rId3"/>
    <p:sldId id="888" r:id="rId4"/>
    <p:sldId id="863" r:id="rId5"/>
    <p:sldId id="864" r:id="rId6"/>
    <p:sldId id="865" r:id="rId7"/>
    <p:sldId id="889" r:id="rId8"/>
    <p:sldId id="866" r:id="rId9"/>
    <p:sldId id="893" r:id="rId10"/>
    <p:sldId id="867" r:id="rId11"/>
    <p:sldId id="894" r:id="rId12"/>
    <p:sldId id="890" r:id="rId13"/>
    <p:sldId id="895" r:id="rId14"/>
    <p:sldId id="868" r:id="rId15"/>
    <p:sldId id="869" r:id="rId16"/>
    <p:sldId id="870" r:id="rId17"/>
    <p:sldId id="871" r:id="rId18"/>
    <p:sldId id="621" r:id="rId19"/>
    <p:sldId id="292" r:id="rId20"/>
    <p:sldId id="891" r:id="rId21"/>
    <p:sldId id="892" r:id="rId22"/>
    <p:sldId id="778" r:id="rId23"/>
    <p:sldId id="630" r:id="rId24"/>
    <p:sldId id="631" r:id="rId25"/>
    <p:sldId id="633" r:id="rId26"/>
    <p:sldId id="632" r:id="rId27"/>
    <p:sldId id="634" r:id="rId28"/>
    <p:sldId id="779" r:id="rId29"/>
    <p:sldId id="780" r:id="rId30"/>
    <p:sldId id="781" r:id="rId31"/>
    <p:sldId id="782" r:id="rId32"/>
    <p:sldId id="784" r:id="rId33"/>
    <p:sldId id="640" r:id="rId34"/>
    <p:sldId id="785" r:id="rId35"/>
    <p:sldId id="786" r:id="rId36"/>
    <p:sldId id="787" r:id="rId37"/>
    <p:sldId id="788" r:id="rId38"/>
    <p:sldId id="645" r:id="rId39"/>
    <p:sldId id="646" r:id="rId40"/>
    <p:sldId id="647" r:id="rId41"/>
    <p:sldId id="648" r:id="rId42"/>
    <p:sldId id="649" r:id="rId43"/>
    <p:sldId id="789" r:id="rId44"/>
    <p:sldId id="790" r:id="rId45"/>
    <p:sldId id="791" r:id="rId46"/>
    <p:sldId id="792" r:id="rId47"/>
    <p:sldId id="794" r:id="rId48"/>
    <p:sldId id="655" r:id="rId49"/>
    <p:sldId id="656" r:id="rId50"/>
    <p:sldId id="657" r:id="rId51"/>
    <p:sldId id="658" r:id="rId52"/>
    <p:sldId id="795" r:id="rId53"/>
    <p:sldId id="796" r:id="rId54"/>
    <p:sldId id="797" r:id="rId55"/>
    <p:sldId id="798" r:id="rId56"/>
    <p:sldId id="663" r:id="rId57"/>
    <p:sldId id="664" r:id="rId58"/>
    <p:sldId id="874" r:id="rId59"/>
    <p:sldId id="875" r:id="rId60"/>
    <p:sldId id="799" r:id="rId61"/>
    <p:sldId id="800" r:id="rId62"/>
    <p:sldId id="801" r:id="rId63"/>
    <p:sldId id="668" r:id="rId64"/>
    <p:sldId id="873" r:id="rId65"/>
    <p:sldId id="669" r:id="rId66"/>
    <p:sldId id="802" r:id="rId67"/>
    <p:sldId id="803" r:id="rId68"/>
    <p:sldId id="804" r:id="rId69"/>
    <p:sldId id="674" r:id="rId70"/>
    <p:sldId id="675" r:id="rId71"/>
    <p:sldId id="676" r:id="rId72"/>
    <p:sldId id="677" r:id="rId73"/>
    <p:sldId id="805" r:id="rId74"/>
    <p:sldId id="806" r:id="rId75"/>
    <p:sldId id="807" r:id="rId76"/>
    <p:sldId id="681" r:id="rId77"/>
    <p:sldId id="682" r:id="rId78"/>
    <p:sldId id="683" r:id="rId79"/>
    <p:sldId id="684" r:id="rId80"/>
    <p:sldId id="702" r:id="rId81"/>
    <p:sldId id="876" r:id="rId82"/>
    <p:sldId id="877" r:id="rId83"/>
    <p:sldId id="878" r:id="rId84"/>
    <p:sldId id="879" r:id="rId85"/>
    <p:sldId id="811" r:id="rId86"/>
    <p:sldId id="689" r:id="rId87"/>
    <p:sldId id="808" r:id="rId88"/>
    <p:sldId id="809" r:id="rId89"/>
    <p:sldId id="810" r:id="rId90"/>
    <p:sldId id="693" r:id="rId91"/>
    <p:sldId id="812" r:id="rId92"/>
    <p:sldId id="695" r:id="rId93"/>
    <p:sldId id="696" r:id="rId94"/>
    <p:sldId id="813" r:id="rId95"/>
    <p:sldId id="814" r:id="rId96"/>
    <p:sldId id="815" r:id="rId97"/>
    <p:sldId id="700" r:id="rId98"/>
    <p:sldId id="816" r:id="rId99"/>
    <p:sldId id="857" r:id="rId100"/>
    <p:sldId id="855" r:id="rId101"/>
    <p:sldId id="854" r:id="rId102"/>
    <p:sldId id="856" r:id="rId103"/>
    <p:sldId id="704" r:id="rId104"/>
    <p:sldId id="705" r:id="rId105"/>
    <p:sldId id="817" r:id="rId106"/>
    <p:sldId id="818" r:id="rId107"/>
    <p:sldId id="708" r:id="rId108"/>
    <p:sldId id="709" r:id="rId109"/>
    <p:sldId id="710" r:id="rId110"/>
    <p:sldId id="711" r:id="rId111"/>
    <p:sldId id="819" r:id="rId112"/>
    <p:sldId id="820" r:id="rId113"/>
    <p:sldId id="821" r:id="rId114"/>
    <p:sldId id="715" r:id="rId115"/>
    <p:sldId id="716" r:id="rId116"/>
    <p:sldId id="717" r:id="rId117"/>
    <p:sldId id="718" r:id="rId118"/>
    <p:sldId id="822" r:id="rId119"/>
    <p:sldId id="823" r:id="rId120"/>
    <p:sldId id="824" r:id="rId121"/>
    <p:sldId id="825" r:id="rId122"/>
    <p:sldId id="723" r:id="rId123"/>
    <p:sldId id="881" r:id="rId124"/>
    <p:sldId id="882" r:id="rId125"/>
    <p:sldId id="883" r:id="rId126"/>
    <p:sldId id="826" r:id="rId127"/>
    <p:sldId id="827" r:id="rId128"/>
    <p:sldId id="828" r:id="rId129"/>
    <p:sldId id="829" r:id="rId130"/>
    <p:sldId id="728" r:id="rId131"/>
    <p:sldId id="729" r:id="rId132"/>
    <p:sldId id="730" r:id="rId133"/>
    <p:sldId id="731" r:id="rId134"/>
    <p:sldId id="830" r:id="rId135"/>
    <p:sldId id="831" r:id="rId136"/>
    <p:sldId id="832" r:id="rId137"/>
    <p:sldId id="833" r:id="rId138"/>
    <p:sldId id="736" r:id="rId139"/>
    <p:sldId id="884" r:id="rId140"/>
    <p:sldId id="737" r:id="rId141"/>
    <p:sldId id="738" r:id="rId142"/>
    <p:sldId id="834" r:id="rId143"/>
    <p:sldId id="835" r:id="rId144"/>
    <p:sldId id="742" r:id="rId145"/>
    <p:sldId id="743" r:id="rId146"/>
    <p:sldId id="744" r:id="rId147"/>
    <p:sldId id="745" r:id="rId148"/>
    <p:sldId id="746" r:id="rId149"/>
    <p:sldId id="748" r:id="rId150"/>
    <p:sldId id="836" r:id="rId151"/>
    <p:sldId id="837" r:id="rId152"/>
    <p:sldId id="838" r:id="rId153"/>
    <p:sldId id="840" r:id="rId154"/>
    <p:sldId id="755" r:id="rId155"/>
    <p:sldId id="841" r:id="rId156"/>
    <p:sldId id="842" r:id="rId157"/>
    <p:sldId id="843" r:id="rId158"/>
    <p:sldId id="759" r:id="rId159"/>
    <p:sldId id="844" r:id="rId160"/>
    <p:sldId id="761" r:id="rId161"/>
    <p:sldId id="845" r:id="rId162"/>
    <p:sldId id="763" r:id="rId163"/>
    <p:sldId id="846" r:id="rId164"/>
    <p:sldId id="847" r:id="rId165"/>
    <p:sldId id="747" r:id="rId166"/>
    <p:sldId id="848" r:id="rId167"/>
    <p:sldId id="754" r:id="rId168"/>
    <p:sldId id="766" r:id="rId169"/>
    <p:sldId id="767" r:id="rId170"/>
    <p:sldId id="768" r:id="rId171"/>
    <p:sldId id="769" r:id="rId172"/>
    <p:sldId id="849" r:id="rId173"/>
    <p:sldId id="850" r:id="rId174"/>
    <p:sldId id="851" r:id="rId175"/>
    <p:sldId id="773" r:id="rId176"/>
    <p:sldId id="852" r:id="rId177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E17E9566-FE8C-4BF9-8A43-99A4B4FC8091}">
          <p14:sldIdLst>
            <p14:sldId id="861"/>
            <p14:sldId id="886"/>
            <p14:sldId id="888"/>
            <p14:sldId id="863"/>
            <p14:sldId id="864"/>
          </p14:sldIdLst>
        </p14:section>
        <p14:section name="목록" id="{A88D8C4A-42D5-488C-851B-9A15CEB54A60}">
          <p14:sldIdLst>
            <p14:sldId id="865"/>
            <p14:sldId id="889"/>
            <p14:sldId id="866"/>
            <p14:sldId id="893"/>
            <p14:sldId id="867"/>
            <p14:sldId id="894"/>
            <p14:sldId id="890"/>
            <p14:sldId id="895"/>
            <p14:sldId id="868"/>
            <p14:sldId id="869"/>
            <p14:sldId id="870"/>
            <p14:sldId id="871"/>
          </p14:sldIdLst>
        </p14:section>
        <p14:section name="1.계약통합목록" id="{BB5718C8-07C1-4018-9189-79486BE9C0C5}">
          <p14:sldIdLst>
            <p14:sldId id="621"/>
            <p14:sldId id="292"/>
            <p14:sldId id="891"/>
            <p14:sldId id="892"/>
            <p14:sldId id="778"/>
            <p14:sldId id="630"/>
            <p14:sldId id="631"/>
            <p14:sldId id="633"/>
            <p14:sldId id="632"/>
            <p14:sldId id="634"/>
            <p14:sldId id="779"/>
            <p14:sldId id="780"/>
            <p14:sldId id="781"/>
            <p14:sldId id="782"/>
            <p14:sldId id="784"/>
            <p14:sldId id="640"/>
            <p14:sldId id="785"/>
            <p14:sldId id="786"/>
            <p14:sldId id="787"/>
            <p14:sldId id="788"/>
            <p14:sldId id="645"/>
            <p14:sldId id="646"/>
            <p14:sldId id="647"/>
            <p14:sldId id="648"/>
            <p14:sldId id="649"/>
            <p14:sldId id="789"/>
            <p14:sldId id="790"/>
            <p14:sldId id="791"/>
            <p14:sldId id="792"/>
            <p14:sldId id="794"/>
            <p14:sldId id="655"/>
            <p14:sldId id="656"/>
            <p14:sldId id="657"/>
            <p14:sldId id="658"/>
            <p14:sldId id="795"/>
            <p14:sldId id="796"/>
            <p14:sldId id="797"/>
            <p14:sldId id="798"/>
            <p14:sldId id="663"/>
            <p14:sldId id="664"/>
            <p14:sldId id="874"/>
            <p14:sldId id="875"/>
            <p14:sldId id="799"/>
            <p14:sldId id="800"/>
            <p14:sldId id="801"/>
            <p14:sldId id="668"/>
            <p14:sldId id="873"/>
            <p14:sldId id="669"/>
            <p14:sldId id="802"/>
            <p14:sldId id="803"/>
            <p14:sldId id="804"/>
            <p14:sldId id="674"/>
            <p14:sldId id="675"/>
            <p14:sldId id="676"/>
            <p14:sldId id="677"/>
            <p14:sldId id="805"/>
            <p14:sldId id="806"/>
            <p14:sldId id="807"/>
            <p14:sldId id="681"/>
            <p14:sldId id="682"/>
            <p14:sldId id="683"/>
            <p14:sldId id="684"/>
            <p14:sldId id="702"/>
            <p14:sldId id="876"/>
            <p14:sldId id="877"/>
            <p14:sldId id="878"/>
            <p14:sldId id="879"/>
            <p14:sldId id="811"/>
            <p14:sldId id="689"/>
            <p14:sldId id="808"/>
            <p14:sldId id="809"/>
            <p14:sldId id="810"/>
            <p14:sldId id="693"/>
            <p14:sldId id="812"/>
            <p14:sldId id="695"/>
            <p14:sldId id="696"/>
            <p14:sldId id="813"/>
            <p14:sldId id="814"/>
            <p14:sldId id="815"/>
            <p14:sldId id="700"/>
            <p14:sldId id="816"/>
            <p14:sldId id="857"/>
            <p14:sldId id="855"/>
            <p14:sldId id="854"/>
            <p14:sldId id="856"/>
          </p14:sldIdLst>
        </p14:section>
        <p14:section name="2.해지해제목록" id="{ADA4911A-617C-45D8-B34E-F8DEC2891795}">
          <p14:sldIdLst>
            <p14:sldId id="704"/>
            <p14:sldId id="705"/>
            <p14:sldId id="817"/>
            <p14:sldId id="818"/>
            <p14:sldId id="708"/>
            <p14:sldId id="709"/>
            <p14:sldId id="710"/>
            <p14:sldId id="711"/>
            <p14:sldId id="819"/>
            <p14:sldId id="820"/>
            <p14:sldId id="821"/>
            <p14:sldId id="715"/>
            <p14:sldId id="716"/>
            <p14:sldId id="717"/>
            <p14:sldId id="718"/>
            <p14:sldId id="822"/>
            <p14:sldId id="823"/>
            <p14:sldId id="824"/>
            <p14:sldId id="825"/>
            <p14:sldId id="723"/>
            <p14:sldId id="881"/>
            <p14:sldId id="882"/>
            <p14:sldId id="883"/>
            <p14:sldId id="826"/>
            <p14:sldId id="827"/>
            <p14:sldId id="828"/>
            <p14:sldId id="829"/>
            <p14:sldId id="728"/>
            <p14:sldId id="729"/>
            <p14:sldId id="730"/>
            <p14:sldId id="731"/>
            <p14:sldId id="830"/>
            <p14:sldId id="831"/>
            <p14:sldId id="832"/>
            <p14:sldId id="833"/>
            <p14:sldId id="736"/>
            <p14:sldId id="884"/>
            <p14:sldId id="737"/>
            <p14:sldId id="738"/>
            <p14:sldId id="834"/>
            <p14:sldId id="835"/>
          </p14:sldIdLst>
        </p14:section>
        <p14:section name="[국외] 전자계약 상세" id="{424AC961-1D86-485E-99C9-7ED55C62E3A6}">
          <p14:sldIdLst>
            <p14:sldId id="742"/>
            <p14:sldId id="743"/>
            <p14:sldId id="744"/>
            <p14:sldId id="745"/>
            <p14:sldId id="746"/>
            <p14:sldId id="748"/>
            <p14:sldId id="836"/>
            <p14:sldId id="837"/>
            <p14:sldId id="838"/>
            <p14:sldId id="840"/>
            <p14:sldId id="755"/>
            <p14:sldId id="841"/>
            <p14:sldId id="842"/>
            <p14:sldId id="843"/>
            <p14:sldId id="759"/>
            <p14:sldId id="844"/>
            <p14:sldId id="761"/>
            <p14:sldId id="845"/>
            <p14:sldId id="763"/>
            <p14:sldId id="846"/>
            <p14:sldId id="847"/>
            <p14:sldId id="747"/>
            <p14:sldId id="848"/>
            <p14:sldId id="754"/>
            <p14:sldId id="766"/>
            <p14:sldId id="767"/>
            <p14:sldId id="768"/>
            <p14:sldId id="769"/>
            <p14:sldId id="849"/>
            <p14:sldId id="850"/>
            <p14:sldId id="851"/>
            <p14:sldId id="773"/>
            <p14:sldId id="85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12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F4294"/>
    <a:srgbClr val="000000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12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1146" y="102"/>
      </p:cViewPr>
      <p:guideLst>
        <p:guide orient="horz" pos="2160"/>
        <p:guide pos="3120"/>
      </p:guideLst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viewProps" Target="viewProps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theme" Target="theme/theme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72" Type="http://schemas.openxmlformats.org/officeDocument/2006/relationships/slide" Target="slides/slide17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tableStyles" Target="tableStyle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notesMaster" Target="notesMasters/notesMaster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handoutMaster" Target="handoutMasters/handoutMaster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presProps" Target="presProps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2026-07-10 (Friday)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2026-07-10 (Friday)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592090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937303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209261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53186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802406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200297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129469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1417738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575509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00301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95444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33507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9074449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839277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41689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682399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753821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828417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97366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13922239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 err="1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제개정이력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</a:t>
            </a:r>
            <a:r>
              <a:rPr lang="en-US" altLang="ko-KR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03.</a:t>
            </a:r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계약</a:t>
            </a:r>
            <a:r>
              <a:rPr lang="en-US" altLang="ko-KR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03.</a:t>
            </a:r>
            <a:r>
              <a:rPr lang="ko-KR" altLang="en-US" dirty="0"/>
              <a:t>계약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338554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F21A837-6853-B5CA-5641-F9A516F3B3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CF8D2BE-3FE8-714A-457C-A4A1521A282B}"/>
              </a:ext>
            </a:extLst>
          </p:cNvPr>
          <p:cNvSpPr/>
          <p:nvPr/>
        </p:nvSpPr>
        <p:spPr>
          <a:xfrm>
            <a:off x="3079266" y="1809750"/>
            <a:ext cx="3771900" cy="34004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국방전자조달시스템 고도화 구축 사업 이외의 어떠한 목적에도 사용을 금하며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사업관리기관 및 개발업체  요원 이외의 열람을 통제한다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</a:p>
          <a:p>
            <a:pPr marL="342900" indent="-342900">
              <a:buAutoNum type="arabicPeriod"/>
            </a:pPr>
            <a:endParaRPr lang="en-US" altLang="ko-KR" sz="1400" dirty="0">
              <a:solidFill>
                <a:schemeClr val="tx1"/>
              </a:solidFill>
            </a:endParaRPr>
          </a:p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방위사업청의 승인없이 발췌 및 복사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배포를 금지하며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방위사업청  문서관리규정에 의하여 관리한다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id="{B3A35A62-3F88-2F9F-9F03-E16DFE92E11E}"/>
              </a:ext>
            </a:extLst>
          </p:cNvPr>
          <p:cNvSpPr txBox="1">
            <a:spLocks/>
          </p:cNvSpPr>
          <p:nvPr/>
        </p:nvSpPr>
        <p:spPr>
          <a:xfrm>
            <a:off x="2265216" y="978498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600"/>
              <a:t>경 고 문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257628989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52374" y="1286787"/>
          <a:ext cx="8782571" cy="3743598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</a:t>
                      </a:r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.9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PMO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 및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TF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검토요청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31071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94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1319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5073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9001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221317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553030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2" name="Group 759">
            <a:extLst>
              <a:ext uri="{FF2B5EF4-FFF2-40B4-BE49-F238E27FC236}">
                <a16:creationId xmlns:a16="http://schemas.microsoft.com/office/drawing/2014/main" id="{2D87D75F-48CB-BAC6-E8EC-9D54A13E8B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52374" y="1416776"/>
          <a:ext cx="8782571" cy="49147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34058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988586" y="1265003"/>
          <a:ext cx="7926814" cy="51022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102241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계약통합목록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국외 계약 통합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5911785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597410"/>
              </p:ext>
            </p:extLst>
          </p:nvPr>
        </p:nvGraphicFramePr>
        <p:xfrm>
          <a:off x="635474" y="1413419"/>
          <a:ext cx="8701200" cy="4673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MUI-CT-01-M01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계약통합목록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통합 목록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MUI-CT-01-P02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검색필터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계약통합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MUI-CT-01-M03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물품전자계약진행상세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 진행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상세내용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-Cn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1852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계약업체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CmdtyElctrCtrtPrgrsDtl-Artcl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395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</a:rPr>
                        <a:t>계약특수조건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CmdtyElctrCtrtPrgrsDtl-SpclCnd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05740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</a:rPr>
                        <a:t>첨부서류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-Adoc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CmdtyElctrCtrtPrgrsDtl-Adoc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693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MUI-CT-01-M04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물품전자계약확정상세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CmdtyElctrCtrtCfmtnDtlPage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 확정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CmdtyElctrCtrtCfmtnDtlPage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40808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09198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(2/6)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1452547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MUI-CT-01-M05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물품일반계약서상세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일반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cmdtyGnrlCtrdocDt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397847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MUI-CT-01-M06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물품수정계약서상세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수정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41479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CmdtyMdfcnCtrdocDtl_Cn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CmdtyMdfcnCtrdocDtl_Cn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861732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CmdtyMdfcnCtrdocDtl_MdfcnCtrt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CmdtyMdfcnCtrdocDtl_MdfcnCtrt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9462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CmdtyMdfcnCtrdocDtl_Spcl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CmdtyMdfcnCtrdocDtl_Spcl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40329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MUI-CT-01-M07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물품총액계약서상세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4358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CmdtyGramtCtrdocDtl_Cn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CmdtyGramtCtrdocDtl_Cn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87666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CmdtyGramtCtrdocDtl_Ctrt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계약서 탭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CmdtyGramtCtrdocDtl_Ctrt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23959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CmdtyGramtCtrdocDtl_Spcl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CmdtyGramtCtrdocDtl_Spcl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91703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MUI-CT-01-M08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물품단가계약서상세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CmdtyUntprcCtrdocDtl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34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MUI-CT-01-T16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상세정보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CmdtyUntprcCtrdocDtl_Cn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CmdtyUntprcCtrdocDtl_Cn.tsx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523606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77081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(3/6)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4426220"/>
              </p:ext>
            </p:extLst>
          </p:nvPr>
        </p:nvGraphicFramePr>
        <p:xfrm>
          <a:off x="635474" y="1413419"/>
          <a:ext cx="8701200" cy="49891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CmdtyUntprcCtrdocDtl_Ctrt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CmdtyUntprcCtrdocDtl_Ctrt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7931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CmdtyUntprcCtrdocDtl_Spcl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CmdtyUntprcCtrdocDtl_Spcl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30978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MUI-CT-01-M09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공사전자계약진행상세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CstrnElctrCtrtPrgrsDtlPage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 계약 진행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cstrnElctrCtrtPrgrsDtl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993972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CstrnElctrCtrtPrgrsDtl_Cn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CstrnElctrCtrtPrgrsDtl_Cn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89521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CstrnElctrCtrtPrgrsDtl_Artcl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CstrnElctrCtrtPrgrsDtl_Artcl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5596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하자담보책임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CstrnElctrCtrtPrgrsDtl_Flw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CstrnElctrCtrtPrgrsDtl_Flw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5558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CstrnElctrCtrtPrgrsDtl_Adoc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CstrnElctrCtrtPrgrsDtl_Adoc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5738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MUI-CT-01-M10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공사계약서상세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733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CstrnCtrdocDtl_Cn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계약서 탭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CstrnCtrdocDtl_Cn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95756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4037527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(4/6)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1661977"/>
              </p:ext>
            </p:extLst>
          </p:nvPr>
        </p:nvGraphicFramePr>
        <p:xfrm>
          <a:off x="635474" y="1413419"/>
          <a:ext cx="8701200" cy="31603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하자담보책임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CstrnCtrdocDtl_Flw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CstrnCtrdocDtl_Flw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46739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연대보증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CstrnCtrdocDtl_Grnte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CstrnCtrdocDtl_Grnte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64090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MUI-CT-01-P11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7494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MUI-CT-01-P12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물품최종계약명세서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CmdtyLastCtrdocDtst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최종계약의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CmdtyLastCtrdocDtst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63393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MUI-CT-01-P13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물품수정계약명세서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수정계약의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542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MUI-CT-01-P14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물품일반계약명세서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CmdtyGnrlCtrdocDtst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일반계약의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87314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대금지불정보목록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계약 </a:t>
                      </a:r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건별로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대금지불 정보 목록 조회 화면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99108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대금지불정보조회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계약 건의 대금지불 상세 정보 조회 화면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64174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MUI-CT-01-P17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계약진행상태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CtrtPrgrsSttsInq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진행 상태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CtrtPrgrsSttsInq.tsx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UC-CT-07-01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21436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665467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(5/6)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4120924"/>
              </p:ext>
            </p:extLst>
          </p:nvPr>
        </p:nvGraphicFramePr>
        <p:xfrm>
          <a:off x="635474" y="1413419"/>
          <a:ext cx="8701200" cy="4592121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MUI-CT-03-M01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해제목록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CtrtCncltnRmvListPage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목록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75728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MUI-CT-03-P07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CtrtCncltnRmvList_SrchFilter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03461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일반계약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94971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상세정보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-Cn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CmdtyCtrtCncltnRmvDtl-Cn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84762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계약에 따른 세부항목 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CmdtyCtrtCncltnRmvDtl-Artcl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108115"/>
                  </a:ext>
                </a:extLst>
              </a:tr>
              <a:tr h="456456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계약특수조건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CmdtyCtrtCncltnRmvDtl-SpclCnd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5631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MUI-CT-03-M03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일반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총액제계약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1773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5918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총액제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CncltnRmvGnrlCtrtGramtDtl_Artcl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46874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특수조건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CncltnRmvGnrlCtrtGramtDtl_Spcl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687169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1504234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(6/6)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5007582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MUI-CT-03-M04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해제일반단가제계약상세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CncltnRmvGnrlCtrtUntprcDtlPage.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38395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CncltnRmvGnrlCtrtUntprcDtl_Cn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CncltnRmvGnrlCtrtUntprcDtl_Cn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7361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CncltnRmvGnrlCtrtUntprcDtl_Artcl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CncltnRmvGnrlCtrtUntprcDtl_Artcl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64372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CncltnRmvGnrlCtrtUntprcDtl_Spcl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CncltnRmvGnrlCtrtUntprcDtl_Spcl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81311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MUI-CT-03-M05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해제수정계약상세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95472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CncltnRmvMdfcnCtrtDtl_Cn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CncltnRmvMdfcnCtrtDtl_Cn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758429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CncltnRmvMdfcnCtrtDtl_Ctrt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CncltnRmvMdfcnCtrtDtl_Ctrt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149109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특수조건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CncltnRmvMdfcnCtrtDtl_Spcl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CncltnRmvMdfcnCtrtDtl_Spcl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403509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MUI-CT-03-M06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해제공사계약상세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1184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CstrnCtrtCncltnRmvDtl_Cn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CstrnCtrtCncltnRmvDtl_Cn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4571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CstrnCtrtCncltnRmvDtl_Adoc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CstrnCtrtCncltnRmvDtl_Adoc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63196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1846352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71925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계약통합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3266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0126" y="1772964"/>
            <a:ext cx="37179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상세 화면은 계약과 상태에 따라 상세 탭 화면이 분기되어 표시되며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일부 상세 탭 화면은 중복되어 사용됨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53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검색필터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계약통합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84441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63692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2162468" y="988421"/>
            <a:ext cx="12700" cy="1281085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6237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1971925" y="1772964"/>
            <a:ext cx="381085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1862964"/>
            <a:ext cx="4419152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1236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21305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반송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취소사유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21236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계약업체</a:t>
            </a: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470447" y="21305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3"/>
            <a:endCxn id="140" idx="1"/>
          </p:cNvCxnSpPr>
          <p:nvPr/>
        </p:nvCxnSpPr>
        <p:spPr>
          <a:xfrm flipV="1">
            <a:off x="2754976" y="2199418"/>
            <a:ext cx="1308021" cy="25511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" name="그룹 8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9" name="그룹 8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9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계약상세</a:t>
            </a:r>
            <a:r>
              <a:rPr lang="ko-KR" altLang="en-US" sz="1200" dirty="0">
                <a:solidFill>
                  <a:schemeClr val="tx1"/>
                </a:solidFill>
              </a:rPr>
              <a:t> 정보 조회</a:t>
            </a: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9789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공사전자계약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72567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1408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물품일반계약서상세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55593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물품수정계약서상세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97473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물품총액계약서상세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39303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물품단가계약서상세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2081941"/>
            <a:ext cx="1125417" cy="266397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11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4" idx="1"/>
          </p:cNvCxnSpPr>
          <p:nvPr/>
        </p:nvCxnSpPr>
        <p:spPr>
          <a:xfrm rot="16200000" flipH="1">
            <a:off x="884133" y="2554755"/>
            <a:ext cx="1496965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4779438"/>
            <a:ext cx="1125417" cy="99513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53895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공사계약서상세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9" idx="1"/>
          </p:cNvCxnSpPr>
          <p:nvPr/>
        </p:nvCxnSpPr>
        <p:spPr>
          <a:xfrm rot="16200000" flipH="1">
            <a:off x="-47406" y="3486294"/>
            <a:ext cx="3360043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4" idx="3"/>
            <a:endCxn id="140" idx="1"/>
          </p:cNvCxnSpPr>
          <p:nvPr/>
        </p:nvCxnSpPr>
        <p:spPr>
          <a:xfrm flipV="1">
            <a:off x="2754976" y="2199418"/>
            <a:ext cx="1308021" cy="67025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3898280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3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1590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41658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41590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4699392"/>
            <a:ext cx="4419152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4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9601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49669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하자담보책임</a:t>
            </a:r>
          </a:p>
        </p:txBody>
      </p:sp>
      <p:sp>
        <p:nvSpPr>
          <p:cNvPr id="1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49601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계약업체</a:t>
            </a:r>
          </a:p>
        </p:txBody>
      </p:sp>
      <p:sp>
        <p:nvSpPr>
          <p:cNvPr id="1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470447" y="49669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sp>
        <p:nvSpPr>
          <p:cNvPr id="1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5506169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57668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577375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연대보증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57668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하자담보책임</a:t>
            </a:r>
          </a:p>
        </p:txBody>
      </p:sp>
      <p:cxnSp>
        <p:nvCxnSpPr>
          <p:cNvPr id="1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1" idx="3"/>
            <a:endCxn id="142" idx="1"/>
          </p:cNvCxnSpPr>
          <p:nvPr/>
        </p:nvCxnSpPr>
        <p:spPr>
          <a:xfrm flipV="1">
            <a:off x="2754976" y="5035846"/>
            <a:ext cx="1308021" cy="8714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2" idx="3"/>
            <a:endCxn id="148" idx="1"/>
          </p:cNvCxnSpPr>
          <p:nvPr/>
        </p:nvCxnSpPr>
        <p:spPr>
          <a:xfrm>
            <a:off x="2754976" y="5533510"/>
            <a:ext cx="1308021" cy="3091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2" idx="3"/>
            <a:endCxn id="135" idx="1"/>
          </p:cNvCxnSpPr>
          <p:nvPr/>
        </p:nvCxnSpPr>
        <p:spPr>
          <a:xfrm>
            <a:off x="2754976" y="4118735"/>
            <a:ext cx="1308021" cy="11599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3" idx="3"/>
            <a:endCxn id="135" idx="1"/>
          </p:cNvCxnSpPr>
          <p:nvPr/>
        </p:nvCxnSpPr>
        <p:spPr>
          <a:xfrm flipV="1">
            <a:off x="2754976" y="4234734"/>
            <a:ext cx="1308021" cy="3023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3097168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33578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336475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33578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수정계약명세서</a:t>
            </a: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0" idx="3"/>
            <a:endCxn id="164" idx="1"/>
          </p:cNvCxnSpPr>
          <p:nvPr/>
        </p:nvCxnSpPr>
        <p:spPr>
          <a:xfrm flipV="1">
            <a:off x="2754976" y="3433622"/>
            <a:ext cx="1308021" cy="2663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0" idx="3"/>
            <a:endCxn id="158" idx="2"/>
          </p:cNvCxnSpPr>
          <p:nvPr/>
        </p:nvCxnSpPr>
        <p:spPr>
          <a:xfrm>
            <a:off x="8482149" y="2199418"/>
            <a:ext cx="767178" cy="52750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4" idx="3"/>
            <a:endCxn id="158" idx="2"/>
          </p:cNvCxnSpPr>
          <p:nvPr/>
        </p:nvCxnSpPr>
        <p:spPr>
          <a:xfrm flipV="1">
            <a:off x="7402286" y="2726921"/>
            <a:ext cx="1847041" cy="706701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5" idx="3"/>
            <a:endCxn id="158" idx="2"/>
          </p:cNvCxnSpPr>
          <p:nvPr/>
        </p:nvCxnSpPr>
        <p:spPr>
          <a:xfrm flipV="1">
            <a:off x="7402286" y="2726921"/>
            <a:ext cx="1847041" cy="1507813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3"/>
            <a:endCxn id="158" idx="2"/>
          </p:cNvCxnSpPr>
          <p:nvPr/>
        </p:nvCxnSpPr>
        <p:spPr>
          <a:xfrm flipV="1">
            <a:off x="8482149" y="2726921"/>
            <a:ext cx="767178" cy="23089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8" idx="3"/>
            <a:endCxn id="158" idx="2"/>
          </p:cNvCxnSpPr>
          <p:nvPr/>
        </p:nvCxnSpPr>
        <p:spPr>
          <a:xfrm flipV="1">
            <a:off x="7402286" y="2726921"/>
            <a:ext cx="1847041" cy="3115702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9" idx="3"/>
            <a:endCxn id="158" idx="2"/>
          </p:cNvCxnSpPr>
          <p:nvPr/>
        </p:nvCxnSpPr>
        <p:spPr>
          <a:xfrm flipV="1">
            <a:off x="2754976" y="2726921"/>
            <a:ext cx="6494351" cy="557882"/>
          </a:xfrm>
          <a:prstGeom prst="bentConnector3">
            <a:avLst>
              <a:gd name="adj1" fmla="val 1553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-653143" y="2926080"/>
            <a:ext cx="43794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27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9228706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71925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계약통합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3266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0126" y="1772964"/>
            <a:ext cx="37179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상세 화면은 계약과 상태에 따라 상세 탭 화면이 분기되어 표시되며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일부 상세 탭 화면은 중복되어 사용됨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84441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63692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6237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31053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76" idx="1"/>
          </p:cNvCxnSpPr>
          <p:nvPr/>
        </p:nvCxnSpPr>
        <p:spPr>
          <a:xfrm flipV="1">
            <a:off x="2873679" y="5246245"/>
            <a:ext cx="1312977" cy="7977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" name="그룹 8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9" name="그룹 8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9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계약상세</a:t>
            </a:r>
            <a:r>
              <a:rPr lang="ko-KR" altLang="en-US" sz="1200" dirty="0">
                <a:solidFill>
                  <a:schemeClr val="tx1"/>
                </a:solidFill>
              </a:rPr>
              <a:t> 정보 조회</a:t>
            </a: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978988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공사전자계약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72567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14080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물품일반계약서상세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55593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물품수정계약서상세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97473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물품총액계약서상세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39303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물품단가계약서상세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2081941"/>
            <a:ext cx="1125417" cy="266397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11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4" idx="1"/>
          </p:cNvCxnSpPr>
          <p:nvPr/>
        </p:nvCxnSpPr>
        <p:spPr>
          <a:xfrm rot="16200000" flipH="1">
            <a:off x="884133" y="2554755"/>
            <a:ext cx="1496965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4779438"/>
            <a:ext cx="1125417" cy="99513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538951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공사계약서상세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9" idx="1"/>
          </p:cNvCxnSpPr>
          <p:nvPr/>
        </p:nvCxnSpPr>
        <p:spPr>
          <a:xfrm rot="16200000" flipH="1">
            <a:off x="-47406" y="3486294"/>
            <a:ext cx="3360043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158" idx="2"/>
          </p:cNvCxnSpPr>
          <p:nvPr/>
        </p:nvCxnSpPr>
        <p:spPr>
          <a:xfrm>
            <a:off x="5086656" y="2454537"/>
            <a:ext cx="4162671" cy="2723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8" idx="3"/>
            <a:endCxn id="158" idx="2"/>
          </p:cNvCxnSpPr>
          <p:nvPr/>
        </p:nvCxnSpPr>
        <p:spPr>
          <a:xfrm flipV="1">
            <a:off x="5086656" y="2726921"/>
            <a:ext cx="4162671" cy="3216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158" idx="2"/>
          </p:cNvCxnSpPr>
          <p:nvPr/>
        </p:nvCxnSpPr>
        <p:spPr>
          <a:xfrm flipV="1">
            <a:off x="5086656" y="2726921"/>
            <a:ext cx="4162671" cy="91560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58" idx="2"/>
          </p:cNvCxnSpPr>
          <p:nvPr/>
        </p:nvCxnSpPr>
        <p:spPr>
          <a:xfrm flipV="1">
            <a:off x="5086656" y="2726921"/>
            <a:ext cx="4162671" cy="15095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3"/>
            <a:endCxn id="158" idx="2"/>
          </p:cNvCxnSpPr>
          <p:nvPr/>
        </p:nvCxnSpPr>
        <p:spPr>
          <a:xfrm flipV="1">
            <a:off x="5086656" y="2726921"/>
            <a:ext cx="4162671" cy="25193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76" idx="1"/>
          </p:cNvCxnSpPr>
          <p:nvPr/>
        </p:nvCxnSpPr>
        <p:spPr>
          <a:xfrm>
            <a:off x="2873679" y="4567056"/>
            <a:ext cx="1312977" cy="6791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510224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계약진행상태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물품계약명세서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90453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물품최종계약명세서</a:t>
            </a: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34985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물품수정계약명세서</a:t>
            </a:r>
          </a:p>
        </p:txBody>
      </p: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0925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물품일반계약명세서</a:t>
            </a:r>
          </a:p>
        </p:txBody>
      </p:sp>
      <p:cxnSp>
        <p:nvCxnSpPr>
          <p:cNvPr id="9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7" idx="1"/>
          </p:cNvCxnSpPr>
          <p:nvPr/>
        </p:nvCxnSpPr>
        <p:spPr>
          <a:xfrm flipV="1">
            <a:off x="2868723" y="2454537"/>
            <a:ext cx="1317933" cy="95939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8" idx="1"/>
          </p:cNvCxnSpPr>
          <p:nvPr/>
        </p:nvCxnSpPr>
        <p:spPr>
          <a:xfrm flipV="1">
            <a:off x="2868723" y="3048531"/>
            <a:ext cx="1317933" cy="3653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9" idx="1"/>
          </p:cNvCxnSpPr>
          <p:nvPr/>
        </p:nvCxnSpPr>
        <p:spPr>
          <a:xfrm>
            <a:off x="2868723" y="3413929"/>
            <a:ext cx="1317933" cy="2285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80" idx="1"/>
          </p:cNvCxnSpPr>
          <p:nvPr/>
        </p:nvCxnSpPr>
        <p:spPr>
          <a:xfrm>
            <a:off x="2868723" y="3413929"/>
            <a:ext cx="1317933" cy="8225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TextBox 53"/>
          <p:cNvSpPr txBox="1"/>
          <p:nvPr/>
        </p:nvSpPr>
        <p:spPr>
          <a:xfrm>
            <a:off x="-653143" y="2926080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5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2643480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869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2362692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245269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계약 진입 시 계약 전체 목록이 먼저 노출되며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검색 필터에서 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검색유형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계약진행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계약수정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계약확정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)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을 설정함</a:t>
            </a: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869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3266608" y="245269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63073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219458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9" idx="3"/>
            <a:endCxn id="158" idx="2"/>
          </p:cNvCxnSpPr>
          <p:nvPr/>
        </p:nvCxnSpPr>
        <p:spPr>
          <a:xfrm>
            <a:off x="5097742" y="2452692"/>
            <a:ext cx="2565816" cy="38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1.2.2 </a:t>
            </a:r>
            <a:r>
              <a:rPr lang="ko-KR" altLang="en-US" sz="1200" dirty="0" smtClean="0">
                <a:solidFill>
                  <a:schemeClr val="tx1"/>
                </a:solidFill>
              </a:rPr>
              <a:t>대금지불 </a:t>
            </a:r>
            <a:r>
              <a:rPr lang="ko-KR" altLang="en-US" sz="1200" dirty="0">
                <a:solidFill>
                  <a:schemeClr val="tx1"/>
                </a:solidFill>
              </a:rPr>
              <a:t>정보 조회</a:t>
            </a:r>
          </a:p>
        </p:txBody>
      </p:sp>
    </p:spTree>
    <p:extLst>
      <p:ext uri="{BB962C8B-B14F-4D97-AF65-F5344CB8AC3E}">
        <p14:creationId xmlns:p14="http://schemas.microsoft.com/office/powerpoint/2010/main" val="369515569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 </a:t>
            </a:r>
            <a:r>
              <a:rPr lang="ko-KR" altLang="en-US" sz="800" dirty="0" err="1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검색 필터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63073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 </a:t>
            </a:r>
            <a:r>
              <a:rPr lang="ko-KR" altLang="en-US" sz="800" dirty="0" err="1">
                <a:solidFill>
                  <a:schemeClr val="tx1"/>
                </a:solidFill>
              </a:rPr>
              <a:t>해지해제</a:t>
            </a:r>
            <a:r>
              <a:rPr lang="ko-KR" altLang="en-US" sz="800" dirty="0">
                <a:solidFill>
                  <a:schemeClr val="tx1"/>
                </a:solidFill>
              </a:rPr>
              <a:t> 상세</a:t>
            </a:r>
          </a:p>
        </p:txBody>
      </p: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3266608" y="1772964"/>
            <a:ext cx="931134" cy="681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3732175" y="713397"/>
            <a:ext cx="12700" cy="1831134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816608" y="1261938"/>
            <a:ext cx="14282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검색 반영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계약해지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계약해제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399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계약특수조건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8656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계약에 따른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세부항목 탭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614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25" idx="1"/>
          </p:cNvCxnSpPr>
          <p:nvPr/>
        </p:nvCxnSpPr>
        <p:spPr>
          <a:xfrm>
            <a:off x="5097742" y="245453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4" idx="1"/>
          </p:cNvCxnSpPr>
          <p:nvPr/>
        </p:nvCxnSpPr>
        <p:spPr>
          <a:xfrm flipV="1">
            <a:off x="5097742" y="1830562"/>
            <a:ext cx="931134" cy="6239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3" idx="1"/>
          </p:cNvCxnSpPr>
          <p:nvPr/>
        </p:nvCxnSpPr>
        <p:spPr>
          <a:xfrm>
            <a:off x="5097742" y="2454537"/>
            <a:ext cx="931134" cy="62940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30" idx="1"/>
          </p:cNvCxnSpPr>
          <p:nvPr/>
        </p:nvCxnSpPr>
        <p:spPr>
          <a:xfrm>
            <a:off x="5097742" y="2454537"/>
            <a:ext cx="931134" cy="125095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201602" y="2632123"/>
            <a:ext cx="1484381" cy="98488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일반계약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총액제계약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단가제계약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수정 계약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공사 계약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58" idx="2"/>
          </p:cNvCxnSpPr>
          <p:nvPr/>
        </p:nvCxnSpPr>
        <p:spPr>
          <a:xfrm>
            <a:off x="6928876" y="1830562"/>
            <a:ext cx="734682" cy="6225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5" idx="3"/>
            <a:endCxn id="158" idx="2"/>
          </p:cNvCxnSpPr>
          <p:nvPr/>
        </p:nvCxnSpPr>
        <p:spPr>
          <a:xfrm flipV="1">
            <a:off x="6928876" y="2453073"/>
            <a:ext cx="734682" cy="146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" idx="3"/>
            <a:endCxn id="158" idx="2"/>
          </p:cNvCxnSpPr>
          <p:nvPr/>
        </p:nvCxnSpPr>
        <p:spPr>
          <a:xfrm flipV="1">
            <a:off x="6928876" y="2453073"/>
            <a:ext cx="734682" cy="63086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0" idx="3"/>
            <a:endCxn id="158" idx="2"/>
          </p:cNvCxnSpPr>
          <p:nvPr/>
        </p:nvCxnSpPr>
        <p:spPr>
          <a:xfrm flipV="1">
            <a:off x="6928876" y="2453073"/>
            <a:ext cx="734682" cy="12524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48B079CE-B424-1DB0-3CB7-D0BB4F1E60F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계약 해지해제 조회</a:t>
            </a:r>
          </a:p>
        </p:txBody>
      </p:sp>
    </p:spTree>
    <p:extLst>
      <p:ext uri="{BB962C8B-B14F-4D97-AF65-F5344CB8AC3E}">
        <p14:creationId xmlns:p14="http://schemas.microsoft.com/office/powerpoint/2010/main" val="994884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계약통합목록조회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검색필터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CtrtIntgList_SrchFilter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물품전자계약진행상세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계약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물품전자계약확정상세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CmdtyElctrCtrtCfmtnDtlPage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물품일반계약서상세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CmdtyGnrlCtrdocDtlPage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물품수정계약서상세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물품총액계약서상세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/>
              <a:t>검색필터</a:t>
            </a:r>
            <a:r>
              <a:rPr lang="ko-KR" altLang="en-US" sz="1100" dirty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물품단가계약서상세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992582" y="2990174"/>
            <a:ext cx="967509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>
                <a:solidFill>
                  <a:schemeClr val="tx1"/>
                </a:solidFill>
              </a:rPr>
              <a:t>(1/2)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430039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공사전자계약진행상세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CstrnElctrCtrtPrgrsDtlPage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공사계약서상세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</a:t>
            </a:r>
            <a:r>
              <a:rPr lang="ko-KR" altLang="en-US" sz="9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일반계약</a:t>
            </a: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900" dirty="0">
              <a:solidFill>
                <a:schemeClr val="tx1"/>
              </a:solidFill>
            </a:endParaRPr>
          </a:p>
          <a:p>
            <a:pPr algn="ctr"/>
            <a:r>
              <a:rPr lang="en-US" altLang="ko-KR" sz="900" dirty="0" err="1">
                <a:solidFill>
                  <a:schemeClr val="tx1"/>
                </a:solidFill>
                <a:latin typeface="+mn-ea"/>
              </a:rPr>
              <a:t>CmdtyCtrtCncltnRmvDtlPage</a:t>
            </a:r>
            <a:r>
              <a:rPr lang="en-US" altLang="ko-KR" sz="900" dirty="0" err="1"/>
              <a:t>.tsx</a:t>
            </a:r>
            <a:r>
              <a:rPr lang="en-US" altLang="ko-KR" sz="900" b="1" baseline="30000" dirty="0">
                <a:latin typeface="+mn-ea"/>
              </a:rPr>
              <a:t> 1)</a:t>
            </a:r>
            <a:endParaRPr lang="en-US" altLang="ko-KR" sz="900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계약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총액제계약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/>
          </a:p>
          <a:p>
            <a:pPr algn="ctr"/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CncltnRmvGnrlCtrtGramtDtlPage</a:t>
            </a:r>
            <a:r>
              <a:rPr lang="en-US" altLang="ko-KR" sz="800" dirty="0" err="1"/>
              <a:t>.tsx</a:t>
            </a:r>
            <a:r>
              <a:rPr lang="en-US" altLang="ko-KR" sz="800" b="1" baseline="30000" dirty="0">
                <a:latin typeface="+mn-ea"/>
              </a:rPr>
              <a:t> 1)</a:t>
            </a:r>
            <a:endParaRPr lang="en-US" altLang="ko-KR" sz="800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10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단가제계약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CncltnRmvGnrlCtrtUntprcDtlPage</a:t>
            </a:r>
            <a:r>
              <a:rPr lang="en-US" altLang="ko-KR" sz="1000" dirty="0" err="1"/>
              <a:t>.tsx</a:t>
            </a:r>
            <a:r>
              <a:rPr lang="en-US" altLang="ko-KR" sz="1000" b="1" baseline="30000" dirty="0">
                <a:latin typeface="+mn-ea"/>
              </a:rPr>
              <a:t> 1)</a:t>
            </a:r>
            <a:endParaRPr lang="en-US" altLang="ko-KR" sz="1000" dirty="0"/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수정 계약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CncltnRmvMdfcnCtrtDtlPage</a:t>
            </a:r>
            <a:r>
              <a:rPr lang="en-US" altLang="ko-KR" sz="1000" dirty="0" err="1"/>
              <a:t>.tsx</a:t>
            </a:r>
            <a:r>
              <a:rPr lang="en-US" altLang="ko-KR" sz="1000" b="1" baseline="30000" dirty="0">
                <a:latin typeface="+mn-ea"/>
              </a:rPr>
              <a:t> 1)</a:t>
            </a:r>
            <a:endParaRPr lang="en-US" altLang="ko-KR" sz="1000" dirty="0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공사 계약 상세</a:t>
            </a:r>
            <a:endParaRPr lang="en-US" altLang="ko-KR" sz="1000" dirty="0"/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CstrnCtrtCncltnRmvDtlPage</a:t>
            </a:r>
            <a:r>
              <a:rPr lang="en-US" altLang="ko-KR" sz="1000" dirty="0" err="1"/>
              <a:t>.tsx</a:t>
            </a:r>
            <a:r>
              <a:rPr lang="en-US" altLang="ko-KR" sz="1000" b="1" baseline="30000" dirty="0">
                <a:latin typeface="+mn-ea"/>
              </a:rPr>
              <a:t> 1)</a:t>
            </a:r>
            <a:endParaRPr lang="en-US" altLang="ko-KR" sz="1000" dirty="0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/>
              <a:t>검색필터</a:t>
            </a:r>
            <a:r>
              <a:rPr lang="ko-KR" altLang="en-US" sz="1100" dirty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>
                <a:solidFill>
                  <a:schemeClr val="tx1"/>
                </a:solidFill>
              </a:rPr>
              <a:t>(2/2)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235290" y="5246050"/>
            <a:ext cx="1260764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대금지불정보목록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85400" y="5246050"/>
            <a:ext cx="1260764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대금지불정보조회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PymtDfryInfoInq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</p:cNvCxnSpPr>
          <p:nvPr/>
        </p:nvCxnSpPr>
        <p:spPr>
          <a:xfrm flipV="1">
            <a:off x="3865672" y="3810190"/>
            <a:ext cx="958019" cy="14358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</p:cNvCxnSpPr>
          <p:nvPr/>
        </p:nvCxnSpPr>
        <p:spPr>
          <a:xfrm flipH="1" flipV="1">
            <a:off x="4823691" y="3810190"/>
            <a:ext cx="492091" cy="14358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4871829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/>
              <a:t>상단 </a:t>
            </a:r>
            <a:r>
              <a:rPr lang="ko-KR" altLang="en-US" sz="600" dirty="0" err="1" smtClean="0"/>
              <a:t>업무도움은</a:t>
            </a:r>
            <a:r>
              <a:rPr lang="ko-KR" altLang="en-US" sz="600" dirty="0" smtClean="0"/>
              <a:t> 기본 값으로 접힘 상태로 정보 제공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/>
              <a:t>- </a:t>
            </a:r>
            <a:r>
              <a:rPr lang="ko-KR" altLang="en-US" sz="600" dirty="0"/>
              <a:t>기본값 </a:t>
            </a:r>
            <a:r>
              <a:rPr lang="en-US" altLang="ko-KR" sz="600" dirty="0"/>
              <a:t>: </a:t>
            </a:r>
            <a:r>
              <a:rPr lang="ko-KR" altLang="en-US" sz="600" dirty="0"/>
              <a:t>접힘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사용자 </a:t>
            </a:r>
            <a:r>
              <a:rPr lang="ko-KR" altLang="en-US" sz="600" dirty="0" err="1"/>
              <a:t>클릭시</a:t>
            </a:r>
            <a:r>
              <a:rPr lang="ko-KR" altLang="en-US" sz="600" dirty="0"/>
              <a:t> 확장하여 정보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 smtClean="0"/>
              <a:t>업무도움</a:t>
            </a:r>
            <a:r>
              <a:rPr lang="en-US" altLang="ko-KR" sz="600" dirty="0" smtClean="0"/>
              <a:t> &gt; </a:t>
            </a:r>
            <a:r>
              <a:rPr lang="ko-KR" altLang="en-US" sz="600" dirty="0"/>
              <a:t>내역이 있는 경우 표시</a:t>
            </a:r>
            <a:r>
              <a:rPr lang="en-US" altLang="ko-KR" sz="600" dirty="0"/>
              <a:t>, </a:t>
            </a:r>
            <a:r>
              <a:rPr lang="ko-KR" altLang="en-US" sz="600" dirty="0"/>
              <a:t>내역이 없으면 항목을 표시하지 않음</a:t>
            </a:r>
            <a:r>
              <a:rPr lang="en-US" altLang="ko-KR" sz="600" dirty="0"/>
              <a:t>.</a:t>
            </a:r>
            <a:br>
              <a:rPr lang="en-US" altLang="ko-KR" sz="600" dirty="0"/>
            </a:b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err="1" smtClean="0"/>
              <a:t>검색필터</a:t>
            </a:r>
            <a:r>
              <a:rPr lang="ko-KR" altLang="en-US" sz="600" dirty="0" smtClean="0"/>
              <a:t> 항목 참고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>
                <a:latin typeface="+mn-ea"/>
              </a:rPr>
              <a:t>검색 필터 </a:t>
            </a:r>
            <a:r>
              <a:rPr lang="en-US" altLang="ko-KR" sz="600" dirty="0" smtClean="0">
                <a:latin typeface="+mn-ea"/>
              </a:rPr>
              <a:t>– </a:t>
            </a:r>
            <a:r>
              <a:rPr lang="ko-KR" altLang="en-US" sz="600" dirty="0" smtClean="0">
                <a:latin typeface="+mn-ea"/>
              </a:rPr>
              <a:t>계약 페이지 참고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/>
              <a:t>표시 개수 영역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총 개수 표시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표시 개수 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선택한 건수 만큼 보여주고 </a:t>
            </a:r>
            <a:r>
              <a:rPr lang="ko-KR" altLang="en-US" sz="600" dirty="0" err="1" smtClean="0"/>
              <a:t>더보기시</a:t>
            </a:r>
            <a:r>
              <a:rPr lang="ko-KR" altLang="en-US" sz="600" dirty="0" smtClean="0"/>
              <a:t> 추가로 불러옴</a:t>
            </a:r>
            <a:r>
              <a:rPr lang="en-US" altLang="ko-KR" sz="600" dirty="0" smtClean="0"/>
              <a:t>)</a:t>
            </a:r>
            <a:br>
              <a:rPr lang="en-US" altLang="ko-KR" sz="600" dirty="0" smtClean="0"/>
            </a:br>
            <a:r>
              <a:rPr lang="ko-KR" altLang="en-US" sz="600" dirty="0" smtClean="0"/>
              <a:t>목록 카드 표시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카드 </a:t>
            </a:r>
            <a:r>
              <a:rPr lang="ko-KR" altLang="en-US" sz="600" dirty="0" err="1" smtClean="0"/>
              <a:t>클릭시</a:t>
            </a:r>
            <a:r>
              <a:rPr lang="ko-KR" altLang="en-US" sz="600" dirty="0" smtClean="0"/>
              <a:t> 상세 페이지 이동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3-1] </a:t>
            </a:r>
            <a:r>
              <a:rPr lang="ko-KR" altLang="en-US" sz="600" dirty="0" err="1"/>
              <a:t>계약번호</a:t>
            </a:r>
            <a:r>
              <a:rPr lang="en-US" altLang="ko-KR" sz="600" dirty="0"/>
              <a:t>+</a:t>
            </a:r>
            <a:r>
              <a:rPr lang="ko-KR" altLang="en-US" sz="600" dirty="0" smtClean="0"/>
              <a:t>계약번호차수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600" dirty="0" smtClean="0"/>
              <a:t>- </a:t>
            </a:r>
            <a:r>
              <a:rPr lang="ko-KR" altLang="en-US" sz="600" dirty="0" smtClean="0"/>
              <a:t>레이블이 화면을 넘치는 경우 드래그하여 확인 가능 </a:t>
            </a:r>
            <a:r>
              <a:rPr lang="en-US" altLang="ko-KR" sz="600" dirty="0" smtClean="0"/>
              <a:t>(</a:t>
            </a:r>
            <a:r>
              <a:rPr lang="ko-KR" altLang="en-US" sz="600" dirty="0" err="1" smtClean="0"/>
              <a:t>스와이프기능</a:t>
            </a:r>
            <a:r>
              <a:rPr lang="ko-KR" altLang="en-US" sz="600" dirty="0" smtClean="0"/>
              <a:t> 반영 필요</a:t>
            </a:r>
            <a:r>
              <a:rPr lang="en-US" altLang="ko-KR" sz="600" dirty="0" smtClean="0"/>
              <a:t>)</a:t>
            </a:r>
            <a:br>
              <a:rPr lang="en-US" altLang="ko-KR" sz="600" dirty="0" smtClean="0"/>
            </a:br>
            <a:r>
              <a:rPr lang="en-US" altLang="ko-KR" sz="600" dirty="0" smtClean="0"/>
              <a:t>4-1</a:t>
            </a:r>
            <a:r>
              <a:rPr lang="en-US" altLang="ko-KR" sz="600" dirty="0"/>
              <a:t>] </a:t>
            </a:r>
            <a:r>
              <a:rPr lang="ko-KR" altLang="en-US" sz="600" dirty="0" err="1"/>
              <a:t>표시레이블</a:t>
            </a:r>
            <a:r>
              <a:rPr lang="ko-KR" altLang="en-US" sz="600" dirty="0"/>
              <a:t> 영역 </a:t>
            </a:r>
            <a:r>
              <a:rPr lang="ko-KR" altLang="en-US" sz="600" dirty="0" smtClean="0"/>
              <a:t>항목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업무구분</a:t>
            </a:r>
            <a:r>
              <a:rPr lang="ko-KR" altLang="en-US" sz="600" dirty="0" smtClean="0"/>
              <a:t> </a:t>
            </a:r>
            <a:r>
              <a:rPr lang="en-US" altLang="ko-KR" sz="600" dirty="0" smtClean="0"/>
              <a:t>:  </a:t>
            </a:r>
            <a:r>
              <a:rPr lang="ko-KR" altLang="en-US" sz="600" dirty="0" smtClean="0"/>
              <a:t>전체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물품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용역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공사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국외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입찰구붐</a:t>
            </a:r>
            <a:r>
              <a:rPr lang="ko-KR" altLang="en-US" sz="600" dirty="0" smtClean="0"/>
              <a:t> </a:t>
            </a:r>
            <a:r>
              <a:rPr lang="en-US" altLang="ko-KR" sz="600" dirty="0" smtClean="0"/>
              <a:t>: </a:t>
            </a:r>
            <a:r>
              <a:rPr lang="ko-KR" altLang="en-US" sz="600" dirty="0" err="1" smtClean="0"/>
              <a:t>총액제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단가제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계약상태</a:t>
            </a:r>
            <a:r>
              <a:rPr lang="ko-KR" altLang="en-US" sz="600" dirty="0" smtClean="0"/>
              <a:t> </a:t>
            </a:r>
            <a:r>
              <a:rPr lang="en-US" altLang="ko-KR" sz="600" dirty="0" smtClean="0"/>
              <a:t>: </a:t>
            </a:r>
            <a:r>
              <a:rPr lang="ko-KR" altLang="en-US" sz="600" dirty="0" err="1" smtClean="0"/>
              <a:t>계약진행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계약수정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계약최종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계약확정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계약해지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해제목록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진행상태 </a:t>
            </a:r>
            <a:r>
              <a:rPr lang="en-US" altLang="ko-KR" sz="600" dirty="0" smtClean="0"/>
              <a:t>: </a:t>
            </a:r>
            <a:r>
              <a:rPr lang="ko-KR" altLang="en-US" sz="600" dirty="0" err="1" smtClean="0"/>
              <a:t>서류요청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서류등록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서류반려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체결의뢰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계약방법 </a:t>
            </a:r>
            <a:r>
              <a:rPr lang="en-US" altLang="ko-KR" sz="600" dirty="0" smtClean="0"/>
              <a:t>:  </a:t>
            </a:r>
            <a:r>
              <a:rPr lang="ko-KR" altLang="en-US" sz="600" dirty="0" smtClean="0"/>
              <a:t>일반경쟁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지명경쟁</a:t>
            </a:r>
            <a:r>
              <a:rPr lang="en-US" altLang="ko-KR" sz="600" dirty="0" smtClean="0"/>
              <a:t>,</a:t>
            </a:r>
            <a:r>
              <a:rPr lang="ko-KR" altLang="en-US" sz="600" dirty="0" smtClean="0"/>
              <a:t>제한경쟁</a:t>
            </a:r>
            <a:r>
              <a:rPr lang="en-US" altLang="ko-KR" sz="600" dirty="0" smtClean="0"/>
              <a:t>,</a:t>
            </a:r>
            <a:r>
              <a:rPr lang="ko-KR" altLang="en-US" sz="600" dirty="0" err="1" smtClean="0"/>
              <a:t>복수경쟁</a:t>
            </a:r>
            <a:r>
              <a:rPr lang="en-US" altLang="ko-KR" sz="600" dirty="0" smtClean="0"/>
              <a:t>,</a:t>
            </a:r>
            <a:r>
              <a:rPr lang="ko-KR" altLang="en-US" sz="600" dirty="0" smtClean="0"/>
              <a:t>수의계약</a:t>
            </a:r>
            <a:r>
              <a:rPr lang="en-US" altLang="ko-KR" sz="600" dirty="0" smtClean="0"/>
              <a:t>,</a:t>
            </a:r>
            <a:r>
              <a:rPr lang="ko-KR" altLang="en-US" sz="600" dirty="0" err="1" smtClean="0"/>
              <a:t>협상에의한계약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),2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), 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), </a:t>
            </a:r>
            <a:r>
              <a:rPr lang="ko-KR" altLang="en-US" sz="600" dirty="0" err="1" smtClean="0"/>
              <a:t>종합낙찰제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), </a:t>
            </a:r>
            <a:r>
              <a:rPr lang="ko-KR" altLang="en-US" sz="600" dirty="0" err="1" smtClean="0"/>
              <a:t>역경매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발주기관</a:t>
            </a:r>
            <a:r>
              <a:rPr lang="en-US" altLang="ko-KR" sz="600" dirty="0" smtClean="0"/>
              <a:t>: </a:t>
            </a:r>
            <a:r>
              <a:rPr lang="ko-KR" altLang="en-US" sz="600" dirty="0" smtClean="0"/>
              <a:t>발주기관 전체 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방위사업청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조달본부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경리단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군수사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교육사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학교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근지단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군병원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본부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-9, </a:t>
            </a:r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-A, </a:t>
            </a:r>
            <a:r>
              <a:rPr lang="ko-KR" altLang="en-US" sz="600" dirty="0" smtClean="0"/>
              <a:t>기타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4-2] </a:t>
            </a:r>
            <a:r>
              <a:rPr lang="ko-KR" altLang="en-US" sz="600" dirty="0" smtClean="0"/>
              <a:t>수정계약요청수신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수정계약사유 항목 확인 불가</a:t>
            </a:r>
            <a:r>
              <a:rPr lang="en-US" altLang="ko-KR" sz="600" dirty="0" smtClean="0"/>
              <a:t>.</a:t>
            </a:r>
            <a:r>
              <a:rPr lang="ko-KR" altLang="en-US" sz="600" dirty="0" smtClean="0"/>
              <a:t> 항목명과 코드</a:t>
            </a:r>
            <a:r>
              <a:rPr lang="en-US" altLang="ko-KR" sz="600" dirty="0" smtClean="0"/>
              <a:t>,</a:t>
            </a:r>
            <a:r>
              <a:rPr lang="ko-KR" altLang="en-US" sz="600" dirty="0" smtClean="0"/>
              <a:t>전달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4-3] </a:t>
            </a:r>
            <a:r>
              <a:rPr lang="ko-KR" altLang="en-US" sz="600" dirty="0" smtClean="0"/>
              <a:t>레이블 항목 기타사항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4-4] </a:t>
            </a:r>
            <a:r>
              <a:rPr lang="ko-KR" altLang="en-US" sz="600" dirty="0" smtClean="0"/>
              <a:t>문서 정보 영역 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판단번호</a:t>
            </a:r>
            <a:r>
              <a:rPr lang="ko-KR" altLang="en-US" sz="600" dirty="0" smtClean="0"/>
              <a:t> </a:t>
            </a:r>
            <a:r>
              <a:rPr lang="en-US" altLang="ko-KR" sz="600" dirty="0" smtClean="0"/>
              <a:t>,  </a:t>
            </a:r>
            <a:r>
              <a:rPr lang="ko-KR" altLang="en-US" sz="600" dirty="0" err="1" smtClean="0"/>
              <a:t>계약번호</a:t>
            </a:r>
            <a:r>
              <a:rPr lang="ko-KR" altLang="en-US" sz="600" dirty="0" smtClean="0"/>
              <a:t> 노출 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판단번호</a:t>
            </a:r>
            <a:r>
              <a:rPr lang="ko-KR" altLang="en-US" sz="600" dirty="0" smtClean="0"/>
              <a:t> </a:t>
            </a:r>
            <a:r>
              <a:rPr lang="ko-KR" altLang="en-US" sz="600" dirty="0" err="1" smtClean="0"/>
              <a:t>전체노출</a:t>
            </a:r>
            <a:r>
              <a:rPr lang="ko-KR" altLang="en-US" sz="600" dirty="0" smtClean="0"/>
              <a:t> </a:t>
            </a:r>
            <a:r>
              <a:rPr lang="en-US" altLang="ko-KR" sz="600" dirty="0" smtClean="0"/>
              <a:t>/ </a:t>
            </a:r>
            <a:r>
              <a:rPr lang="ko-KR" altLang="en-US" sz="600" dirty="0" err="1" smtClean="0"/>
              <a:t>계약번호</a:t>
            </a:r>
            <a:r>
              <a:rPr lang="ko-KR" altLang="en-US" sz="600" dirty="0" smtClean="0"/>
              <a:t> </a:t>
            </a:r>
            <a:r>
              <a:rPr lang="ko-KR" altLang="en-US" sz="600" dirty="0" err="1" smtClean="0"/>
              <a:t>노출시</a:t>
            </a:r>
            <a:r>
              <a:rPr lang="ko-KR" altLang="en-US" sz="600" dirty="0" smtClean="0"/>
              <a:t> 해당 라인을 넘어가면 </a:t>
            </a:r>
            <a:r>
              <a:rPr lang="en-US" altLang="ko-KR" sz="600" dirty="0" smtClean="0"/>
              <a:t>(…) </a:t>
            </a:r>
            <a:r>
              <a:rPr lang="ko-KR" altLang="en-US" sz="600" dirty="0" err="1" smtClean="0"/>
              <a:t>말줄임</a:t>
            </a:r>
            <a:r>
              <a:rPr lang="ko-KR" altLang="en-US" sz="600" dirty="0" smtClean="0"/>
              <a:t> 표시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계약번호</a:t>
            </a:r>
            <a:r>
              <a:rPr lang="en-US" altLang="ko-KR" sz="600" dirty="0" smtClean="0"/>
              <a:t>:</a:t>
            </a:r>
            <a:r>
              <a:rPr lang="ko-KR" altLang="en-US" sz="600" dirty="0" smtClean="0"/>
              <a:t> </a:t>
            </a:r>
            <a:r>
              <a:rPr lang="ko-KR" altLang="en-US" sz="600" dirty="0" err="1" smtClean="0"/>
              <a:t>계약번호</a:t>
            </a:r>
            <a:r>
              <a:rPr lang="en-US" altLang="ko-KR" sz="600" dirty="0" smtClean="0"/>
              <a:t>+</a:t>
            </a:r>
            <a:r>
              <a:rPr lang="ko-KR" altLang="en-US" sz="600" dirty="0" smtClean="0"/>
              <a:t>계약번호차수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4-5] </a:t>
            </a:r>
            <a:r>
              <a:rPr lang="ko-KR" altLang="en-US" sz="600" dirty="0" smtClean="0"/>
              <a:t>문서 제목 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제목은 </a:t>
            </a:r>
            <a:r>
              <a:rPr lang="en-US" altLang="ko-KR" sz="600" dirty="0" smtClean="0"/>
              <a:t>2</a:t>
            </a:r>
            <a:r>
              <a:rPr lang="ko-KR" altLang="en-US" sz="600" dirty="0" smtClean="0"/>
              <a:t>줄 까지 노출 이후</a:t>
            </a:r>
            <a:r>
              <a:rPr lang="en-US" altLang="ko-KR" sz="600" dirty="0" smtClean="0"/>
              <a:t>(…) </a:t>
            </a:r>
            <a:r>
              <a:rPr lang="ko-KR" altLang="en-US" sz="600" dirty="0" err="1" smtClean="0"/>
              <a:t>말줄임</a:t>
            </a:r>
            <a:r>
              <a:rPr lang="ko-KR" altLang="en-US" sz="600" dirty="0" smtClean="0"/>
              <a:t> 표시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err="1" smtClean="0"/>
              <a:t>더보기</a:t>
            </a:r>
            <a:r>
              <a:rPr lang="ko-KR" altLang="en-US" sz="600" dirty="0" smtClean="0"/>
              <a:t> 기능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- 3</a:t>
            </a:r>
            <a:r>
              <a:rPr lang="ko-KR" altLang="en-US" sz="600" dirty="0" err="1" smtClean="0"/>
              <a:t>번항목</a:t>
            </a:r>
            <a:r>
              <a:rPr lang="ko-KR" altLang="en-US" sz="600" dirty="0" smtClean="0"/>
              <a:t> 표시 개수 영역에서 선택한 개수로 증가</a:t>
            </a:r>
            <a:r>
              <a:rPr lang="en-US" altLang="ko-KR" sz="600" dirty="0" smtClean="0"/>
              <a:t>.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ko-KR" altLang="en-US" sz="600" dirty="0" smtClean="0"/>
              <a:t>예</a:t>
            </a:r>
            <a:r>
              <a:rPr lang="en-US" altLang="ko-KR" sz="600" dirty="0" smtClean="0"/>
              <a:t>) </a:t>
            </a:r>
            <a:r>
              <a:rPr lang="en-US" altLang="ko-KR" sz="600" dirty="0"/>
              <a:t>10</a:t>
            </a:r>
            <a:r>
              <a:rPr lang="ko-KR" altLang="en-US" sz="600" dirty="0"/>
              <a:t>개 노출 이후 </a:t>
            </a:r>
            <a:r>
              <a:rPr lang="ko-KR" altLang="en-US" sz="600" dirty="0" err="1"/>
              <a:t>더보기</a:t>
            </a:r>
            <a:r>
              <a:rPr lang="ko-KR" altLang="en-US" sz="600" dirty="0"/>
              <a:t> 버튼 클릭으로 </a:t>
            </a:r>
            <a:r>
              <a:rPr lang="en-US" altLang="ko-KR" sz="600" dirty="0"/>
              <a:t>10</a:t>
            </a:r>
            <a:r>
              <a:rPr lang="ko-KR" altLang="en-US" sz="600" dirty="0"/>
              <a:t>개씩 추가 </a:t>
            </a:r>
            <a:r>
              <a:rPr lang="ko-KR" altLang="en-US" sz="600" dirty="0" smtClean="0"/>
              <a:t>로드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endParaRPr lang="en-US" altLang="ko-KR" sz="6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 err="1" smtClean="0"/>
              <a:t>통합목록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 err="1" smtClean="0"/>
              <a:t>통합목록</a:t>
            </a:r>
            <a:r>
              <a:rPr lang="ko-KR" altLang="en-US" dirty="0" smtClean="0"/>
              <a:t>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81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통합목록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046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69299"/>
            <a:ext cx="2473257" cy="1051442"/>
            <a:chOff x="781461" y="3087955"/>
            <a:chExt cx="2473257" cy="1051442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판단번호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99001 /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</a:t>
              </a:r>
            </a:p>
            <a:p>
              <a:r>
                <a:rPr lang="ko-KR" altLang="en-US" sz="900" b="1" dirty="0" smtClean="0"/>
                <a:t>물품구매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585399"/>
              <a:ext cx="307777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계약일자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전자서명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04016" y="3585399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제</a:t>
              </a:r>
              <a:r>
                <a:rPr lang="en-US" altLang="ko-KR" sz="600" dirty="0" smtClean="0">
                  <a:latin typeface="+mn-ea"/>
                </a:rPr>
                <a:t>8385</a:t>
              </a:r>
              <a:r>
                <a:rPr lang="ko-KR" altLang="en-US" sz="600" dirty="0" smtClean="0">
                  <a:latin typeface="+mn-ea"/>
                </a:rPr>
                <a:t>부대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 1 / 4 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  <p:sp>
          <p:nvSpPr>
            <p:cNvPr id="141" name="모서리가 둥근 직사각형 140"/>
            <p:cNvSpPr/>
            <p:nvPr/>
          </p:nvSpPr>
          <p:spPr>
            <a:xfrm>
              <a:off x="2426808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첨언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00573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550943"/>
            <a:ext cx="2534331" cy="1083172"/>
            <a:chOff x="778515" y="2610063"/>
            <a:chExt cx="2534331" cy="1083172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99001 /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2025000000 - 01</a:t>
              </a:r>
            </a:p>
            <a:p>
              <a:r>
                <a:rPr lang="en-US" altLang="ko-KR" sz="900" b="1" dirty="0" smtClean="0"/>
                <a:t>000</a:t>
              </a:r>
              <a:r>
                <a:rPr lang="ko-KR" altLang="en-US" sz="900" b="1" dirty="0" smtClean="0"/>
                <a:t>시설공사</a:t>
              </a:r>
              <a:endParaRPr lang="ko-KR" altLang="en-US" sz="900" b="1" dirty="0"/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계약일자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전자서명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7165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2026-01-03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국군재정관리단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2,596,060,616,000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 1 / 4 </a:t>
              </a: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제한경쟁</a:t>
              </a:r>
              <a:endParaRPr lang="ko-KR" altLang="en-US" sz="600" dirty="0"/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1988604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첨부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324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248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3358" y="43384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10036" y="228338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용역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전체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err="1" smtClean="0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441950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4425342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계약방법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441950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지명경쟁</a:t>
            </a:r>
            <a:endParaRPr lang="ko-KR" altLang="en-US" sz="600" dirty="0"/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441950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제한경쟁</a:t>
            </a:r>
            <a:endParaRPr lang="ko-KR" altLang="en-US" sz="600" dirty="0"/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441950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441950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4591882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4591882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4591882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4759851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4759851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4759851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역경매</a:t>
            </a:r>
            <a:endParaRPr lang="ko-KR" altLang="en-US" sz="600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42020" y="2204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057870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발주기관 전체</a:t>
            </a:r>
            <a:endParaRPr lang="ko-KR" altLang="en-US" sz="600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5063709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발주기관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057870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05787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조달본부</a:t>
            </a:r>
            <a:endParaRPr lang="ko-KR" altLang="en-US" sz="600" dirty="0"/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060145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060145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060145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교육사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5221663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학교</a:t>
            </a:r>
            <a:endParaRPr lang="ko-KR" altLang="en-US" sz="600" dirty="0"/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5221663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5221663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5221663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본부</a:t>
            </a:r>
            <a:endParaRPr lang="ko-KR" altLang="en-US" sz="600" dirty="0"/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5221663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5221663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5221663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기타</a:t>
            </a:r>
            <a:endParaRPr lang="ko-KR" altLang="en-US" sz="600" dirty="0"/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err="1" smtClean="0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err="1" smtClean="0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계약해제</a:t>
            </a:r>
            <a:endParaRPr lang="ko-KR" altLang="en-US" sz="600" dirty="0"/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진행상태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1980118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533959" y="455094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계약해지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err="1" smtClean="0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252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9" name="그룹 138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40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43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 smtClean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</a:t>
              </a:r>
              <a:r>
                <a:rPr lang="ko-KR" altLang="en-US" sz="700" kern="0" dirty="0" smtClean="0">
                  <a:solidFill>
                    <a:prstClr val="black"/>
                  </a:solidFill>
                </a:rPr>
                <a:t>개</a:t>
              </a:r>
              <a:endParaRPr lang="en-US" altLang="ko-KR" sz="700" kern="0" dirty="0" smtClean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71" name="그룹 170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76" name="모서리가 둥근 직사각형 17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79" name="그룹 178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8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9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82" name="타원 18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85" name="타원 184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6" name="그룹 185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70286" y="21800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" name="직사각형 2"/>
          <p:cNvSpPr/>
          <p:nvPr/>
        </p:nvSpPr>
        <p:spPr>
          <a:xfrm>
            <a:off x="7099526" y="6107754"/>
            <a:ext cx="230404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260617 -  </a:t>
            </a:r>
            <a:r>
              <a:rPr lang="ko-KR" altLang="en-US" sz="500" dirty="0" smtClean="0"/>
              <a:t>전체 특이사항 내용 수정</a:t>
            </a:r>
            <a:r>
              <a:rPr lang="en-US" altLang="ko-KR" sz="500" dirty="0" smtClean="0"/>
              <a:t/>
            </a:r>
            <a:br>
              <a:rPr lang="en-US" altLang="ko-KR" sz="500" dirty="0" smtClean="0"/>
            </a:br>
            <a:r>
              <a:rPr lang="en-US" altLang="ko-KR" sz="500" dirty="0" smtClean="0"/>
              <a:t>3-1,4-2,4-3, </a:t>
            </a:r>
            <a:r>
              <a:rPr lang="ko-KR" altLang="en-US" sz="500" dirty="0" smtClean="0"/>
              <a:t>전자서명항목추가 </a:t>
            </a:r>
            <a:endParaRPr lang="en-US" altLang="ko-KR" sz="500" dirty="0" smtClean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3506" y="44706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1637" y="48521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4-5</a:t>
            </a:r>
            <a:endParaRPr lang="ko-KR" altLang="en-US" sz="600" b="1" dirty="0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00784" y="3904394"/>
            <a:ext cx="84791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수정계약요청수신</a:t>
            </a:r>
            <a:endParaRPr lang="ko-KR" altLang="en-US" sz="700" dirty="0">
              <a:latin typeface="+mn-ea"/>
            </a:endParaRPr>
          </a:p>
        </p:txBody>
      </p:sp>
      <p:sp>
        <p:nvSpPr>
          <p:cNvPr id="200" name="모서리가 둥근 직사각형 199"/>
          <p:cNvSpPr/>
          <p:nvPr/>
        </p:nvSpPr>
        <p:spPr>
          <a:xfrm>
            <a:off x="4318555" y="3900003"/>
            <a:ext cx="1975904" cy="112113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700" dirty="0" err="1">
                <a:latin typeface="+mn-ea"/>
              </a:rPr>
              <a:t>mdfcnCtrtDmndrcofc</a:t>
            </a:r>
            <a:endParaRPr lang="ko-KR" altLang="en-US" sz="700" dirty="0">
              <a:latin typeface="+mn-ea"/>
            </a:endParaRPr>
          </a:p>
        </p:txBody>
      </p:sp>
      <p:sp>
        <p:nvSpPr>
          <p:cNvPr id="201" name="타원 2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7061" y="33960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3-1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00784" y="4124313"/>
            <a:ext cx="84791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수정계약사유</a:t>
            </a:r>
            <a:endParaRPr lang="ko-KR" altLang="en-US" sz="700" dirty="0">
              <a:latin typeface="+mn-ea"/>
            </a:endParaRPr>
          </a:p>
        </p:txBody>
      </p:sp>
      <p:sp>
        <p:nvSpPr>
          <p:cNvPr id="204" name="모서리가 둥근 직사각형 203"/>
          <p:cNvSpPr/>
          <p:nvPr/>
        </p:nvSpPr>
        <p:spPr>
          <a:xfrm>
            <a:off x="4318555" y="4119922"/>
            <a:ext cx="1975904" cy="112113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700" dirty="0" err="1" smtClean="0">
                <a:latin typeface="+mn-ea"/>
              </a:rPr>
              <a:t>mdfcnRncd</a:t>
            </a:r>
            <a:r>
              <a:rPr lang="en-US" altLang="ko-KR" sz="700" dirty="0" smtClean="0">
                <a:latin typeface="+mn-ea"/>
              </a:rPr>
              <a:t> , </a:t>
            </a:r>
            <a:r>
              <a:rPr lang="ko-KR" altLang="en-US" sz="700" dirty="0" err="1">
                <a:latin typeface="+mn-ea"/>
              </a:rPr>
              <a:t>상위코드</a:t>
            </a:r>
            <a:r>
              <a:rPr lang="en-US" altLang="ko-KR" sz="700" dirty="0">
                <a:latin typeface="+mn-ea"/>
              </a:rPr>
              <a:t>:</a:t>
            </a:r>
            <a:r>
              <a:rPr lang="en-US" altLang="ko-KR" sz="700" dirty="0" smtClean="0">
                <a:latin typeface="+mn-ea"/>
              </a:rPr>
              <a:t>MRC</a:t>
            </a:r>
            <a:endParaRPr lang="ko-KR" altLang="en-US" sz="700" dirty="0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451189" y="3799851"/>
            <a:ext cx="3104851" cy="571521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86442" y="54145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4-3</a:t>
            </a:r>
            <a:endParaRPr lang="ko-KR" altLang="en-US" sz="600" b="1" dirty="0"/>
          </a:p>
        </p:txBody>
      </p:sp>
      <p:sp>
        <p:nvSpPr>
          <p:cNvPr id="206" name="모서리가 둥근 직사각형 205"/>
          <p:cNvSpPr/>
          <p:nvPr/>
        </p:nvSpPr>
        <p:spPr>
          <a:xfrm>
            <a:off x="4308589" y="55218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첨부</a:t>
            </a:r>
            <a:endParaRPr lang="ko-KR" altLang="en-US" sz="600" dirty="0"/>
          </a:p>
        </p:txBody>
      </p:sp>
      <p:sp>
        <p:nvSpPr>
          <p:cNvPr id="207" name="모서리가 둥근 직사각형 206"/>
          <p:cNvSpPr/>
          <p:nvPr/>
        </p:nvSpPr>
        <p:spPr>
          <a:xfrm>
            <a:off x="4752286" y="55218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첨언</a:t>
            </a:r>
            <a:endParaRPr lang="ko-KR" altLang="en-US" sz="600" dirty="0"/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5534409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기타</a:t>
            </a:r>
            <a:endParaRPr lang="ko-KR" altLang="en-US" sz="700" dirty="0">
              <a:latin typeface="+mn-ea"/>
            </a:endParaRPr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517455" y="36920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4-2</a:t>
            </a:r>
            <a:endParaRPr lang="ko-KR" altLang="en-US" sz="600" b="1" dirty="0"/>
          </a:p>
        </p:txBody>
      </p:sp>
    </p:spTree>
    <p:extLst>
      <p:ext uri="{BB962C8B-B14F-4D97-AF65-F5344CB8AC3E}">
        <p14:creationId xmlns:p14="http://schemas.microsoft.com/office/powerpoint/2010/main" val="3984744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검색필터</a:t>
            </a:r>
            <a:r>
              <a:rPr lang="ko-KR" altLang="en-US" sz="700" dirty="0" smtClean="0"/>
              <a:t> 페이지 타이틀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1-1] </a:t>
            </a:r>
            <a:r>
              <a:rPr lang="ko-KR" altLang="en-US" sz="700" dirty="0" smtClean="0"/>
              <a:t>초기화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1-2] </a:t>
            </a:r>
            <a:r>
              <a:rPr lang="ko-KR" altLang="en-US" sz="700" dirty="0" smtClean="0"/>
              <a:t>창 닫기 버튼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ko-KR" altLang="en-US" sz="700" dirty="0" smtClean="0"/>
              <a:t>각 </a:t>
            </a:r>
            <a:r>
              <a:rPr lang="ko-KR" altLang="en-US" sz="700" dirty="0" err="1"/>
              <a:t>섹션명</a:t>
            </a:r>
            <a:r>
              <a:rPr lang="ko-KR" altLang="en-US" sz="700" dirty="0"/>
              <a:t> 클릭 시 아코디언 </a:t>
            </a:r>
            <a:r>
              <a:rPr lang="ko-KR" altLang="en-US" sz="700" dirty="0" smtClean="0"/>
              <a:t>동작</a:t>
            </a: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검색유형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(</a:t>
            </a:r>
            <a:r>
              <a:rPr lang="ko-KR" altLang="en-US" sz="700" dirty="0" err="1" smtClean="0"/>
              <a:t>필수값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항목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ko-KR" altLang="en-US" sz="700" dirty="0" smtClean="0"/>
              <a:t>전체 계약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계약진행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계약수정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계약확정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default)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전체계약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업무 구분</a:t>
            </a:r>
            <a:r>
              <a:rPr lang="en-US" altLang="ko-KR" sz="700" dirty="0" smtClean="0"/>
              <a:t>(</a:t>
            </a:r>
            <a:r>
              <a:rPr lang="ko-KR" altLang="en-US" sz="700" dirty="0" err="1" smtClean="0"/>
              <a:t>필수값</a:t>
            </a:r>
            <a:r>
              <a:rPr lang="en-US" altLang="ko-KR" sz="700" dirty="0" smtClean="0"/>
              <a:t>)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항목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ko-KR" altLang="en-US" sz="700" dirty="0" smtClean="0"/>
              <a:t>전체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물품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용역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공사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국외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default) </a:t>
            </a:r>
            <a:r>
              <a:rPr lang="ko-KR" altLang="en-US" sz="700" dirty="0" smtClean="0"/>
              <a:t>전체</a:t>
            </a: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검색 설정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서류요청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수신일자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/ </a:t>
            </a:r>
            <a:r>
              <a:rPr lang="ko-KR" altLang="en-US" sz="700" dirty="0" err="1" smtClean="0"/>
              <a:t>계약일자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default) </a:t>
            </a:r>
            <a:r>
              <a:rPr lang="ko-KR" altLang="en-US" sz="700" dirty="0" smtClean="0"/>
              <a:t>당일 포함 과거 </a:t>
            </a:r>
            <a:r>
              <a:rPr lang="en-US" altLang="ko-KR" sz="700" dirty="0" smtClean="0"/>
              <a:t>7</a:t>
            </a:r>
            <a:r>
              <a:rPr lang="ko-KR" altLang="en-US" sz="700" dirty="0" smtClean="0"/>
              <a:t>일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>
                <a:sym typeface="Wingdings" panose="05000000000000000000" pitchFamily="2" charset="2"/>
              </a:rPr>
              <a:t>선택 날짜 즉시 </a:t>
            </a:r>
            <a:r>
              <a:rPr lang="ko-KR" altLang="en-US" sz="700" dirty="0" smtClean="0">
                <a:sym typeface="Wingdings" panose="05000000000000000000" pitchFamily="2" charset="2"/>
              </a:rPr>
              <a:t>업데이트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- 4-1)</a:t>
            </a:r>
            <a:r>
              <a:rPr lang="ko-KR" altLang="en-US" sz="700" dirty="0" smtClean="0"/>
              <a:t>직접 입력 가능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/>
              <a:t>좌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과거 우</a:t>
            </a:r>
            <a:r>
              <a:rPr lang="en-US" altLang="ko-KR" sz="700" dirty="0" smtClean="0"/>
              <a:t>)</a:t>
            </a:r>
            <a:r>
              <a:rPr lang="ko-KR" altLang="en-US" sz="700" dirty="0" err="1" smtClean="0"/>
              <a:t>현재로한다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우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 값은 미래를 선택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입력 할 </a:t>
            </a:r>
            <a:r>
              <a:rPr lang="ko-KR" altLang="en-US" sz="700" dirty="0" err="1" smtClean="0"/>
              <a:t>수없다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우</a:t>
            </a:r>
            <a:r>
              <a:rPr lang="en-US" altLang="ko-KR" sz="700" dirty="0" smtClean="0"/>
              <a:t>) </a:t>
            </a:r>
            <a:r>
              <a:rPr lang="ko-KR" altLang="en-US" sz="700" dirty="0" smtClean="0"/>
              <a:t>값이 미래를 입력한 경우 오늘로 자동 변경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당일 기준 최대 </a:t>
            </a:r>
            <a:r>
              <a:rPr lang="en-US" altLang="ko-KR" sz="700" dirty="0"/>
              <a:t>1</a:t>
            </a:r>
            <a:r>
              <a:rPr lang="ko-KR" altLang="en-US" sz="700" dirty="0" smtClean="0"/>
              <a:t>년</a:t>
            </a:r>
            <a:r>
              <a:rPr lang="en-US" altLang="ko-KR" sz="700" dirty="0" smtClean="0"/>
              <a:t>(365</a:t>
            </a:r>
            <a:r>
              <a:rPr lang="ko-KR" altLang="en-US" sz="700" dirty="0" smtClean="0"/>
              <a:t>일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까지 조회 가능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- 4-2) </a:t>
            </a:r>
            <a:r>
              <a:rPr lang="ko-KR" altLang="en-US" sz="700" dirty="0" smtClean="0"/>
              <a:t>아이콘 </a:t>
            </a:r>
            <a:r>
              <a:rPr lang="en-US" altLang="ko-KR" sz="700" dirty="0" smtClean="0">
                <a:sym typeface="Wingdings" panose="05000000000000000000" pitchFamily="2" charset="2"/>
              </a:rPr>
              <a:t> </a:t>
            </a:r>
            <a:r>
              <a:rPr lang="ko-KR" altLang="en-US" sz="700" dirty="0" smtClean="0">
                <a:sym typeface="Wingdings" panose="05000000000000000000" pitchFamily="2" charset="2"/>
              </a:rPr>
              <a:t>데이트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sz="700" dirty="0" smtClean="0">
                <a:sym typeface="Wingdings" panose="05000000000000000000" pitchFamily="2" charset="2"/>
              </a:rPr>
              <a:t> 호출</a:t>
            </a:r>
            <a:r>
              <a:rPr lang="en-US" altLang="ko-KR" sz="700" dirty="0" smtClean="0">
                <a:sym typeface="Wingdings" panose="05000000000000000000" pitchFamily="2" charset="2"/>
              </a:rPr>
              <a:t>(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미래불가</a:t>
            </a:r>
            <a:r>
              <a:rPr lang="en-US" altLang="ko-KR" sz="700" dirty="0" smtClean="0">
                <a:sym typeface="Wingdings" panose="05000000000000000000" pitchFamily="2" charset="2"/>
              </a:rPr>
              <a:t>)</a:t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- 4-3) </a:t>
            </a:r>
            <a:r>
              <a:rPr lang="ko-KR" altLang="en-US" sz="700" dirty="0" smtClean="0">
                <a:sym typeface="Wingdings" panose="05000000000000000000" pitchFamily="2" charset="2"/>
              </a:rPr>
              <a:t>최근</a:t>
            </a:r>
            <a:r>
              <a:rPr lang="en-US" altLang="ko-KR" sz="700" dirty="0" smtClean="0">
                <a:sym typeface="Wingdings" panose="05000000000000000000" pitchFamily="2" charset="2"/>
              </a:rPr>
              <a:t>1,3,6</a:t>
            </a:r>
            <a:r>
              <a:rPr lang="ko-KR" altLang="en-US" sz="700" dirty="0" smtClean="0">
                <a:sym typeface="Wingdings" panose="05000000000000000000" pitchFamily="2" charset="2"/>
              </a:rPr>
              <a:t>개월 버튼으로 당일 포함하여 </a:t>
            </a:r>
            <a:r>
              <a:rPr lang="en-US" altLang="ko-KR" sz="700" dirty="0" smtClean="0">
                <a:sym typeface="Wingdings" panose="05000000000000000000" pitchFamily="2" charset="2"/>
              </a:rPr>
              <a:t>30</a:t>
            </a:r>
            <a:r>
              <a:rPr lang="ko-KR" altLang="en-US" sz="700" dirty="0" smtClean="0">
                <a:sym typeface="Wingdings" panose="05000000000000000000" pitchFamily="2" charset="2"/>
              </a:rPr>
              <a:t>일</a:t>
            </a:r>
            <a:r>
              <a:rPr lang="en-US" altLang="ko-KR" sz="700" dirty="0" smtClean="0">
                <a:sym typeface="Wingdings" panose="05000000000000000000" pitchFamily="2" charset="2"/>
              </a:rPr>
              <a:t>, 90</a:t>
            </a:r>
            <a:r>
              <a:rPr lang="ko-KR" altLang="en-US" sz="700" dirty="0" smtClean="0">
                <a:sym typeface="Wingdings" panose="05000000000000000000" pitchFamily="2" charset="2"/>
              </a:rPr>
              <a:t>일</a:t>
            </a:r>
            <a:r>
              <a:rPr lang="en-US" altLang="ko-KR" sz="700" dirty="0" smtClean="0">
                <a:sym typeface="Wingdings" panose="05000000000000000000" pitchFamily="2" charset="2"/>
              </a:rPr>
              <a:t>,180</a:t>
            </a:r>
            <a:r>
              <a:rPr lang="ko-KR" altLang="en-US" sz="700" dirty="0" smtClean="0">
                <a:sym typeface="Wingdings" panose="05000000000000000000" pitchFamily="2" charset="2"/>
              </a:rPr>
              <a:t>일 이전 값을 표시</a:t>
            </a:r>
            <a:r>
              <a:rPr lang="en-US" altLang="ko-KR" sz="700" dirty="0" smtClean="0">
                <a:sym typeface="Wingdings" panose="05000000000000000000" pitchFamily="2" charset="2"/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sz="700" dirty="0" smtClean="0">
                <a:sym typeface="Wingdings" panose="05000000000000000000" pitchFamily="2" charset="2"/>
              </a:rPr>
              <a:t> 영역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r>
              <a:rPr lang="en-US" altLang="ko-KR" sz="700" dirty="0">
                <a:sym typeface="Wingdings" panose="05000000000000000000" pitchFamily="2" charset="2"/>
              </a:rPr>
              <a:t/>
            </a:r>
            <a:br>
              <a:rPr lang="en-US" altLang="ko-KR" sz="700" dirty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계약건명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판단번호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계약번호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smtClean="0">
                <a:sym typeface="Wingdings" panose="05000000000000000000" pitchFamily="2" charset="2"/>
              </a:rPr>
              <a:t>발주기관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smtClean="0">
                <a:sym typeface="Wingdings" panose="05000000000000000000" pitchFamily="2" charset="2"/>
              </a:rPr>
              <a:t>담당자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글자검색</a:t>
            </a:r>
            <a:r>
              <a:rPr lang="en-US" altLang="ko-KR" sz="700" dirty="0" smtClean="0">
                <a:sym typeface="Wingdings" panose="05000000000000000000" pitchFamily="2" charset="2"/>
              </a:rPr>
              <a:t>: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계약건명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smtClean="0">
                <a:sym typeface="Wingdings" panose="05000000000000000000" pitchFamily="2" charset="2"/>
              </a:rPr>
              <a:t>담당자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숫자검색</a:t>
            </a:r>
            <a:r>
              <a:rPr lang="en-US" altLang="ko-KR" sz="700" dirty="0" smtClean="0">
                <a:sym typeface="Wingdings" panose="05000000000000000000" pitchFamily="2" charset="2"/>
              </a:rPr>
              <a:t>: </a:t>
            </a:r>
            <a:r>
              <a:rPr lang="ko-KR" altLang="en-US" sz="700" dirty="0" smtClean="0">
                <a:sym typeface="Wingdings" panose="05000000000000000000" pitchFamily="2" charset="2"/>
              </a:rPr>
              <a:t>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판단번호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smtClean="0">
                <a:sym typeface="Wingdings" panose="05000000000000000000" pitchFamily="2" charset="2"/>
              </a:rPr>
              <a:t>계약 번호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발주기관</a:t>
            </a:r>
            <a:r>
              <a:rPr lang="en-US" altLang="ko-KR" sz="700" dirty="0" smtClean="0">
                <a:sym typeface="Wingdings" panose="05000000000000000000" pitchFamily="2" charset="2"/>
              </a:rPr>
              <a:t>: </a:t>
            </a:r>
            <a:r>
              <a:rPr lang="ko-KR" altLang="en-US" sz="700" dirty="0" smtClean="0">
                <a:sym typeface="Wingdings" panose="05000000000000000000" pitchFamily="2" charset="2"/>
              </a:rPr>
              <a:t>입찰 발주부서기관 검색</a:t>
            </a:r>
            <a:r>
              <a:rPr lang="en-US" altLang="ko-KR" sz="700" dirty="0" smtClean="0">
                <a:sym typeface="Wingdings" panose="05000000000000000000" pitchFamily="2" charset="2"/>
              </a:rPr>
              <a:t>(MUI-BD-01-P04)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sym typeface="Wingdings" panose="05000000000000000000" pitchFamily="2" charset="2"/>
              </a:rPr>
              <a:t>구분 설정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드롭 다운으로 각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구분값</a:t>
            </a:r>
            <a:r>
              <a:rPr lang="ko-KR" altLang="en-US" sz="700" dirty="0" smtClean="0">
                <a:sym typeface="Wingdings" panose="05000000000000000000" pitchFamily="2" charset="2"/>
              </a:rPr>
              <a:t> 설정</a:t>
            </a:r>
            <a:r>
              <a:rPr lang="en-US" altLang="ko-KR" sz="700" dirty="0">
                <a:sym typeface="Wingdings" panose="05000000000000000000" pitchFamily="2" charset="2"/>
              </a:rPr>
              <a:t/>
            </a:r>
            <a:br>
              <a:rPr lang="en-US" altLang="ko-KR" sz="700" dirty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>
                <a:solidFill>
                  <a:prstClr val="black"/>
                </a:solidFill>
              </a:rPr>
              <a:t>항목 설명 </a:t>
            </a:r>
            <a:r>
              <a:rPr lang="ko-KR" altLang="en-US" sz="700" dirty="0" smtClean="0">
                <a:solidFill>
                  <a:prstClr val="black"/>
                </a:solidFill>
              </a:rPr>
              <a:t>페이지 참고</a:t>
            </a:r>
            <a:endParaRPr lang="en-US" altLang="ko-KR" sz="700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sz="700" dirty="0" smtClean="0">
                <a:sym typeface="Wingdings" panose="05000000000000000000" pitchFamily="2" charset="2"/>
              </a:rPr>
              <a:t> 처리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endParaRPr lang="en-US" altLang="ko-KR" sz="700" dirty="0" smtClean="0">
              <a:sym typeface="Wingdings" panose="05000000000000000000" pitchFamily="2" charset="2"/>
            </a:endParaRPr>
          </a:p>
          <a:p>
            <a:pPr marL="0" indent="0">
              <a:buNone/>
            </a:pP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endParaRPr lang="en-US" altLang="ko-KR" sz="700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검색 필터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계약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계약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MUI-CT-01-M01</a:t>
            </a:r>
            <a:endParaRPr lang="ko-KR" altLang="en-US" sz="1000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5074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9078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24191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업무구분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ko-KR" altLang="en-US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2910" y="3450701"/>
            <a:ext cx="2305144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용역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공사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국외</a:t>
            </a:r>
            <a:endParaRPr lang="en-US" altLang="ko-KR" sz="700" dirty="0">
              <a:latin typeface="+mn-ea"/>
            </a:endParaRPr>
          </a:p>
        </p:txBody>
      </p:sp>
      <p:sp>
        <p:nvSpPr>
          <p:cNvPr id="132" name="직사각형 131"/>
          <p:cNvSpPr/>
          <p:nvPr/>
        </p:nvSpPr>
        <p:spPr>
          <a:xfrm>
            <a:off x="772169" y="3538388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/>
          <p:cNvSpPr/>
          <p:nvPr/>
        </p:nvSpPr>
        <p:spPr>
          <a:xfrm>
            <a:off x="772169" y="3755614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4" name="그룹 133"/>
          <p:cNvGrpSpPr/>
          <p:nvPr/>
        </p:nvGrpSpPr>
        <p:grpSpPr>
          <a:xfrm flipV="1">
            <a:off x="3140949" y="3339608"/>
            <a:ext cx="91438" cy="45719"/>
            <a:chOff x="6812560" y="3297172"/>
            <a:chExt cx="94010" cy="47005"/>
          </a:xfrm>
        </p:grpSpPr>
        <p:cxnSp>
          <p:nvCxnSpPr>
            <p:cNvPr id="135" name="직선 연결선 13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6" name="직선 연결선 13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7" name="직사각형 136"/>
          <p:cNvSpPr/>
          <p:nvPr/>
        </p:nvSpPr>
        <p:spPr>
          <a:xfrm>
            <a:off x="772169" y="3952704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/>
          <p:cNvSpPr/>
          <p:nvPr/>
        </p:nvSpPr>
        <p:spPr>
          <a:xfrm>
            <a:off x="772169" y="416736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772169" y="437933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/>
          <p:cNvSpPr txBox="1"/>
          <p:nvPr/>
        </p:nvSpPr>
        <p:spPr>
          <a:xfrm>
            <a:off x="712771" y="3717256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50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6778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7060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736534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959072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서류요청</a:t>
            </a:r>
            <a:r>
              <a:rPr lang="ko-KR" altLang="en-US" sz="700" dirty="0" smtClean="0">
                <a:latin typeface="+mn-ea"/>
              </a:rPr>
              <a:t> 수신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4834224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986703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5006650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5217372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986703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0628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3795734" y="3417355"/>
            <a:ext cx="2712027" cy="949600"/>
            <a:chOff x="3795734" y="1919434"/>
            <a:chExt cx="2712027" cy="949600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1956832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smtClean="0">
                  <a:latin typeface="+mn-ea"/>
                </a:rPr>
                <a:t>구분 설정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26" name="그룹 225"/>
            <p:cNvGrpSpPr/>
            <p:nvPr/>
          </p:nvGrpSpPr>
          <p:grpSpPr>
            <a:xfrm flipV="1">
              <a:off x="6261284" y="2054522"/>
              <a:ext cx="91438" cy="45719"/>
              <a:chOff x="6812560" y="3297172"/>
              <a:chExt cx="94010" cy="47005"/>
            </a:xfrm>
          </p:grpSpPr>
          <p:cxnSp>
            <p:nvCxnSpPr>
              <p:cNvPr id="227" name="직선 연결선 22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9" name="모서리가 둥근 직사각형 228"/>
            <p:cNvSpPr/>
            <p:nvPr/>
          </p:nvSpPr>
          <p:spPr>
            <a:xfrm>
              <a:off x="4569619" y="2237323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2185197"/>
              <a:ext cx="670770" cy="67864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10000"/>
                </a:lnSpc>
              </a:pPr>
              <a:r>
                <a:rPr lang="ko-KR" altLang="en-US" sz="700" dirty="0" err="1" smtClean="0">
                  <a:latin typeface="+mn-ea"/>
                </a:rPr>
                <a:t>입찰형태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4569619" y="2460260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32" name="모서리가 둥근 직사각형 231"/>
            <p:cNvSpPr/>
            <p:nvPr/>
          </p:nvSpPr>
          <p:spPr>
            <a:xfrm>
              <a:off x="4569619" y="2681834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grpSp>
          <p:nvGrpSpPr>
            <p:cNvPr id="241" name="그룹 240"/>
            <p:cNvGrpSpPr/>
            <p:nvPr/>
          </p:nvGrpSpPr>
          <p:grpSpPr>
            <a:xfrm>
              <a:off x="6261284" y="2754912"/>
              <a:ext cx="91438" cy="45719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4" name="그룹 243"/>
            <p:cNvGrpSpPr/>
            <p:nvPr/>
          </p:nvGrpSpPr>
          <p:grpSpPr>
            <a:xfrm>
              <a:off x="6261284" y="2538745"/>
              <a:ext cx="91438" cy="45719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7" name="그룹 246"/>
            <p:cNvGrpSpPr/>
            <p:nvPr/>
          </p:nvGrpSpPr>
          <p:grpSpPr>
            <a:xfrm>
              <a:off x="6261284" y="2308063"/>
              <a:ext cx="91438" cy="45719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91943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614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0461" y="19777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검색유형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ko-KR" altLang="en-US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283" name="그룹 282"/>
          <p:cNvGrpSpPr/>
          <p:nvPr/>
        </p:nvGrpSpPr>
        <p:grpSpPr>
          <a:xfrm flipV="1">
            <a:off x="3162895" y="2075438"/>
            <a:ext cx="91438" cy="45719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9" name="TextBox 2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63566" y="2221573"/>
            <a:ext cx="2305144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 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계약진행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계약수정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계약확정</a:t>
            </a:r>
            <a:endParaRPr lang="en-US" altLang="ko-KR" sz="700" dirty="0" smtClean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903622" y="1956581"/>
            <a:ext cx="2519558" cy="1370836"/>
            <a:chOff x="778515" y="4388257"/>
            <a:chExt cx="2519558" cy="1370836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 smtClean="0">
                  <a:latin typeface="+mn-ea"/>
                </a:rPr>
                <a:t>검색어</a:t>
              </a:r>
              <a:r>
                <a:rPr lang="ko-KR" altLang="en-US" sz="700" b="1" dirty="0" smtClean="0">
                  <a:latin typeface="+mn-ea"/>
                </a:rPr>
                <a:t> </a:t>
              </a:r>
              <a:r>
                <a:rPr lang="en-US" altLang="ko-KR" sz="700" b="1" dirty="0" smtClean="0">
                  <a:latin typeface="+mn-ea"/>
                </a:rPr>
                <a:t>(</a:t>
              </a:r>
              <a:r>
                <a:rPr lang="ko-KR" altLang="en-US" sz="700" b="1" dirty="0" smtClean="0">
                  <a:latin typeface="+mn-ea"/>
                </a:rPr>
                <a:t>일부 입력 가능</a:t>
              </a:r>
              <a:r>
                <a:rPr lang="en-US" altLang="ko-KR" sz="700" b="1" dirty="0" smtClean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01" name="그룹 20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202" name="직선 연결선 2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3" name="직선 연결선 2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4" name="모서리가 둥근 직사각형 203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 smtClean="0">
                  <a:solidFill>
                    <a:schemeClr val="bg1">
                      <a:lumMod val="65000"/>
                    </a:schemeClr>
                  </a:solidFill>
                </a:rPr>
                <a:t>계약건명을</a:t>
              </a:r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 smtClean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25248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담당자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449284" y="4890305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번호를 입력하세요</a:t>
              </a:r>
              <a:r>
                <a:rPr lang="en-US" altLang="ko-KR" sz="700" dirty="0" smtClean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08" name="모서리가 둥근 직사각형 207"/>
            <p:cNvSpPr/>
            <p:nvPr/>
          </p:nvSpPr>
          <p:spPr>
            <a:xfrm>
              <a:off x="1449284" y="533566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 smtClean="0">
                  <a:solidFill>
                    <a:schemeClr val="bg1">
                      <a:lumMod val="65000"/>
                    </a:schemeClr>
                  </a:solidFill>
                </a:rPr>
                <a:t>발주기관을</a:t>
              </a:r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 smtClean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12" name="모서리가 둥근 직사각형 211"/>
            <p:cNvSpPr/>
            <p:nvPr/>
          </p:nvSpPr>
          <p:spPr>
            <a:xfrm>
              <a:off x="1452235" y="5571893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담당자을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66" name="모서리가 둥근 직사각형 265"/>
            <p:cNvSpPr/>
            <p:nvPr/>
          </p:nvSpPr>
          <p:spPr>
            <a:xfrm>
              <a:off x="1449284" y="5113024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번호를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rot="16200000">
              <a:off x="3140951" y="5406408"/>
              <a:ext cx="91438" cy="45719"/>
              <a:chOff x="6812560" y="3297172"/>
              <a:chExt cx="94010" cy="47005"/>
            </a:xfrm>
          </p:grpSpPr>
          <p:cxnSp>
            <p:nvCxnSpPr>
              <p:cNvPr id="142" name="직선 연결선 1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4" name="직선 연결선 1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484978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5512609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5532556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5743278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5512609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169" name="그룹 168"/>
          <p:cNvGrpSpPr/>
          <p:nvPr/>
        </p:nvGrpSpPr>
        <p:grpSpPr>
          <a:xfrm>
            <a:off x="772169" y="2297325"/>
            <a:ext cx="107950" cy="736927"/>
            <a:chOff x="772169" y="2297325"/>
            <a:chExt cx="107950" cy="736927"/>
          </a:xfrm>
        </p:grpSpPr>
        <p:sp>
          <p:nvSpPr>
            <p:cNvPr id="170" name="직사각형 169"/>
            <p:cNvSpPr/>
            <p:nvPr/>
          </p:nvSpPr>
          <p:spPr>
            <a:xfrm>
              <a:off x="772169" y="2297325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772169" y="251455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4" name="직사각형 173"/>
            <p:cNvSpPr/>
            <p:nvPr/>
          </p:nvSpPr>
          <p:spPr>
            <a:xfrm>
              <a:off x="772169" y="2711641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772169" y="2926302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7" name="TextBox 176"/>
          <p:cNvSpPr txBox="1"/>
          <p:nvPr/>
        </p:nvSpPr>
        <p:spPr>
          <a:xfrm>
            <a:off x="712771" y="2469709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51" name="직사각형 150"/>
          <p:cNvSpPr/>
          <p:nvPr/>
        </p:nvSpPr>
        <p:spPr>
          <a:xfrm>
            <a:off x="7100725" y="6106561"/>
            <a:ext cx="229040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/>
              <a:t>260617 -  </a:t>
            </a:r>
            <a:r>
              <a:rPr lang="ko-KR" altLang="en-US" sz="500" dirty="0"/>
              <a:t>전체 특이사항 내용 </a:t>
            </a:r>
            <a:r>
              <a:rPr lang="ko-KR" altLang="en-US" sz="500" dirty="0" smtClean="0"/>
              <a:t>수정</a:t>
            </a:r>
            <a:r>
              <a:rPr lang="en-US" altLang="ko-KR" sz="500" dirty="0" smtClean="0"/>
              <a:t>4-1~3 </a:t>
            </a:r>
            <a:r>
              <a:rPr lang="ko-KR" altLang="en-US" sz="500" dirty="0" smtClean="0"/>
              <a:t>추가</a:t>
            </a:r>
            <a:endParaRPr lang="en-US" altLang="ko-KR" sz="500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49066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4-1</a:t>
            </a:r>
            <a:endParaRPr lang="ko-KR" altLang="en-US" sz="500" b="1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19722" y="49066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4-2</a:t>
            </a:r>
            <a:endParaRPr lang="ko-KR" altLang="en-US" sz="5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1392" y="151997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70821" y="15232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5173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4-3</a:t>
            </a:r>
            <a:endParaRPr lang="ko-KR" altLang="en-US" sz="500" b="1" dirty="0"/>
          </a:p>
        </p:txBody>
      </p:sp>
    </p:spTree>
    <p:extLst>
      <p:ext uri="{BB962C8B-B14F-4D97-AF65-F5344CB8AC3E}">
        <p14:creationId xmlns:p14="http://schemas.microsoft.com/office/powerpoint/2010/main" val="28711815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0123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/>
              <a:t>계약통합목록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346885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2111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dcMntDmndRcptnDt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79098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42407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 진행 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통합사업관리시스템과 부대조달정보체계의 진행상태 코드 값 별도 처리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‘UA22’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‘UB57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49496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457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3448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mdfcnCtrtDmndrcofc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 여부를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688810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자료 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taskSecd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업무구분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9349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계약번호차수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계약번호차수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7B2A1CC-269C-839D-D48A-3A2600ABC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6201723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addCn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elsgnVl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813472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295404"/>
              </p:ext>
            </p:extLst>
          </p:nvPr>
        </p:nvGraphicFramePr>
        <p:xfrm>
          <a:off x="453000" y="1037328"/>
          <a:ext cx="8995591" cy="3380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서류요청 수신일자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하도급계약목록을 조회조건에 맞게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886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계약번호 선택 팝업화면이 호출되고 계약번호를 선택하면 조회조건에 선택한 계약번호가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78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발주기관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scwin.btn_orderInst_onclick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선택 팝업화면이 호출되고 발주기관을 선택 하면 조회조건에 선택한 발주기관이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803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scwin.grd_ctrtNo_ctrtList_onclick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업무구분과 진행상태에 따라 계약에 해당하는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내역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서류요청</a:t>
                      </a:r>
                      <a:r>
                        <a:rPr lang="en-US" altLang="ko-KR" sz="800" dirty="0"/>
                        <a:t>, </a:t>
                      </a:r>
                      <a:r>
                        <a:rPr lang="ko-KR" altLang="en-US" sz="800" dirty="0"/>
                        <a:t>계약체결의뢰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(UI-CT-01-M02)</a:t>
                      </a:r>
                      <a:r>
                        <a:rPr lang="ko-KR" altLang="en-US" sz="800" dirty="0"/>
                        <a:t>물품 전자계약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(UI-CT-01-M04)</a:t>
                      </a:r>
                      <a:r>
                        <a:rPr lang="ko-KR" altLang="en-US" sz="800" dirty="0"/>
                        <a:t>공사 전자계약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(UI-CT-01-M72)</a:t>
                      </a:r>
                      <a:r>
                        <a:rPr lang="ko-KR" altLang="en-US" sz="800" dirty="0" err="1"/>
                        <a:t>국외전자계약진행상세</a:t>
                      </a:r>
                      <a:endParaRPr lang="en-US" altLang="ko-KR" sz="800" dirty="0"/>
                    </a:p>
                    <a:p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- </a:t>
                      </a:r>
                      <a:r>
                        <a:rPr lang="ko-KR" altLang="en-US" sz="800" dirty="0"/>
                        <a:t>계약 확정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(UI-CT-01-M03)</a:t>
                      </a:r>
                      <a:r>
                        <a:rPr lang="ko-KR" altLang="en-US" sz="800" dirty="0"/>
                        <a:t>물품 전자계약확정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수정有</a:t>
                      </a:r>
                      <a:r>
                        <a:rPr lang="en-US" altLang="ko-KR" sz="800" dirty="0"/>
                        <a:t>): (UI-CT-01-M09)</a:t>
                      </a:r>
                      <a:r>
                        <a:rPr lang="ko-KR" altLang="en-US" sz="800" dirty="0"/>
                        <a:t>물품 수정 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(UI-CT-01-M08)</a:t>
                      </a:r>
                      <a:r>
                        <a:rPr lang="ko-KR" altLang="en-US" sz="800" dirty="0"/>
                        <a:t>공사 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800" dirty="0"/>
                        <a:t>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(UI-CT-01-M81)</a:t>
                      </a:r>
                      <a:r>
                        <a:rPr lang="ko-KR" altLang="en-US" sz="800" dirty="0" err="1"/>
                        <a:t>국외전자계약확정상세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933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 err="1"/>
                        <a:t>계약명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scwin.grd_ctrtNm_ctrtList_onclick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업무구분과 진행상태에 따라 계약에 해당하는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내역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클릭과 동일 이벤트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화면호출 처리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8117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scwin.grd_prgrsStts_ctrtList_onclick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계약번호에 해당하는 계약체결 진행상태 이력 팝업화면이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(UI-CT-01-P17)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계약진행상태조회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(UI-CT-01-P71)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계약진행상태별조회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8735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2109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93EC4AE5-D69A-364F-5367-88A0A8286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604142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650" dirty="0" smtClean="0"/>
              <a:t>타이틀 영역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1-1] </a:t>
            </a:r>
            <a:r>
              <a:rPr lang="ko-KR" altLang="en-US" sz="650" dirty="0"/>
              <a:t>레이블이 </a:t>
            </a:r>
            <a:r>
              <a:rPr lang="ko-KR" altLang="en-US" sz="650" dirty="0" smtClean="0"/>
              <a:t>화면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화면 넘치는 </a:t>
            </a:r>
            <a:r>
              <a:rPr lang="ko-KR" altLang="en-US" sz="650" dirty="0"/>
              <a:t>경우 드래그하여 확인 가능 </a:t>
            </a:r>
            <a:r>
              <a:rPr lang="en-US" altLang="ko-KR" sz="650" dirty="0"/>
              <a:t>(</a:t>
            </a:r>
            <a:r>
              <a:rPr lang="ko-KR" altLang="en-US" sz="650" dirty="0" err="1"/>
              <a:t>스와이프기능</a:t>
            </a:r>
            <a:r>
              <a:rPr lang="ko-KR" altLang="en-US" sz="650" dirty="0"/>
              <a:t> 반영 필요</a:t>
            </a:r>
            <a:r>
              <a:rPr lang="en-US" altLang="ko-KR" sz="650" dirty="0" smtClean="0"/>
              <a:t>)</a:t>
            </a:r>
            <a:br>
              <a:rPr lang="en-US" altLang="ko-KR" sz="650" dirty="0" smtClean="0"/>
            </a:br>
            <a:r>
              <a:rPr lang="en-US" altLang="ko-KR" sz="650" dirty="0" smtClean="0"/>
              <a:t>1-2] </a:t>
            </a:r>
            <a:r>
              <a:rPr lang="ko-KR" altLang="en-US" sz="650" dirty="0" smtClean="0"/>
              <a:t>문서 정보 영역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/>
              <a:t>- </a:t>
            </a:r>
            <a:r>
              <a:rPr lang="ko-KR" altLang="en-US" sz="650" dirty="0" err="1"/>
              <a:t>판단번호</a:t>
            </a:r>
            <a:r>
              <a:rPr lang="ko-KR" altLang="en-US" sz="650" dirty="0"/>
              <a:t> </a:t>
            </a:r>
            <a:r>
              <a:rPr lang="en-US" altLang="ko-KR" sz="650" dirty="0"/>
              <a:t>,  </a:t>
            </a:r>
            <a:r>
              <a:rPr lang="ko-KR" altLang="en-US" sz="650" dirty="0" err="1"/>
              <a:t>계약번호</a:t>
            </a:r>
            <a:r>
              <a:rPr lang="ko-KR" altLang="en-US" sz="650" dirty="0"/>
              <a:t> 노출 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/>
              <a:t>- </a:t>
            </a:r>
            <a:r>
              <a:rPr lang="ko-KR" altLang="en-US" sz="650" dirty="0" err="1"/>
              <a:t>판단번호</a:t>
            </a:r>
            <a:r>
              <a:rPr lang="ko-KR" altLang="en-US" sz="650" dirty="0"/>
              <a:t> </a:t>
            </a:r>
            <a:r>
              <a:rPr lang="ko-KR" altLang="en-US" sz="650" dirty="0" err="1"/>
              <a:t>전체노출</a:t>
            </a:r>
            <a:r>
              <a:rPr lang="ko-KR" altLang="en-US" sz="650" dirty="0"/>
              <a:t> </a:t>
            </a:r>
            <a:r>
              <a:rPr lang="en-US" altLang="ko-KR" sz="650" dirty="0"/>
              <a:t>/ </a:t>
            </a:r>
            <a:r>
              <a:rPr lang="ko-KR" altLang="en-US" sz="650" dirty="0" err="1"/>
              <a:t>계약번호</a:t>
            </a:r>
            <a:r>
              <a:rPr lang="ko-KR" altLang="en-US" sz="650" dirty="0"/>
              <a:t> </a:t>
            </a:r>
            <a:r>
              <a:rPr lang="ko-KR" altLang="en-US" sz="650" dirty="0" err="1"/>
              <a:t>노출시</a:t>
            </a:r>
            <a:r>
              <a:rPr lang="ko-KR" altLang="en-US" sz="650" dirty="0"/>
              <a:t> 해당 라인을 넘어가면 </a:t>
            </a:r>
            <a:r>
              <a:rPr lang="en-US" altLang="ko-KR" sz="650" dirty="0"/>
              <a:t>(…) </a:t>
            </a:r>
            <a:r>
              <a:rPr lang="ko-KR" altLang="en-US" sz="650" dirty="0" err="1"/>
              <a:t>말줄임</a:t>
            </a:r>
            <a:r>
              <a:rPr lang="ko-KR" altLang="en-US" sz="650" dirty="0"/>
              <a:t> </a:t>
            </a:r>
            <a:r>
              <a:rPr lang="ko-KR" altLang="en-US" sz="650" dirty="0" smtClean="0"/>
              <a:t>표시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1-3] </a:t>
            </a:r>
            <a:r>
              <a:rPr lang="ko-KR" altLang="en-US" sz="650" dirty="0"/>
              <a:t>문서 제목 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/>
              <a:t>- </a:t>
            </a:r>
            <a:r>
              <a:rPr lang="ko-KR" altLang="en-US" sz="650" dirty="0"/>
              <a:t>제목은 </a:t>
            </a:r>
            <a:r>
              <a:rPr lang="en-US" altLang="ko-KR" sz="650" dirty="0"/>
              <a:t>2</a:t>
            </a:r>
            <a:r>
              <a:rPr lang="ko-KR" altLang="en-US" sz="650" dirty="0"/>
              <a:t>줄 까지 노출 이후</a:t>
            </a:r>
            <a:r>
              <a:rPr lang="en-US" altLang="ko-KR" sz="650" dirty="0"/>
              <a:t>(…) </a:t>
            </a:r>
            <a:r>
              <a:rPr lang="ko-KR" altLang="en-US" sz="650" dirty="0" err="1"/>
              <a:t>말줄임</a:t>
            </a:r>
            <a:r>
              <a:rPr lang="ko-KR" altLang="en-US" sz="650" dirty="0"/>
              <a:t> </a:t>
            </a:r>
            <a:r>
              <a:rPr lang="ko-KR" altLang="en-US" sz="650" dirty="0" smtClean="0"/>
              <a:t>표시</a:t>
            </a:r>
            <a:endParaRPr lang="en-US" altLang="ko-KR" sz="65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50" dirty="0" err="1" smtClean="0"/>
              <a:t>업무도움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기본값 </a:t>
            </a:r>
            <a:r>
              <a:rPr lang="en-US" altLang="ko-KR" sz="650" dirty="0" smtClean="0"/>
              <a:t>: </a:t>
            </a:r>
            <a:r>
              <a:rPr lang="ko-KR" altLang="en-US" sz="650" dirty="0"/>
              <a:t>접힘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/>
              <a:t>- </a:t>
            </a:r>
            <a:r>
              <a:rPr lang="ko-KR" altLang="en-US" sz="650" dirty="0" err="1" smtClean="0"/>
              <a:t>클릭시</a:t>
            </a:r>
            <a:r>
              <a:rPr lang="ko-KR" altLang="en-US" sz="650" dirty="0" smtClean="0"/>
              <a:t> </a:t>
            </a:r>
            <a:r>
              <a:rPr lang="ko-KR" altLang="en-US" sz="650" dirty="0"/>
              <a:t>확장하여 정보 표시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 smtClean="0"/>
              <a:t>-</a:t>
            </a:r>
            <a:r>
              <a:rPr lang="ko-KR" altLang="en-US" sz="650" dirty="0" err="1" smtClean="0"/>
              <a:t>업무도움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 smtClean="0"/>
              <a:t>&gt; </a:t>
            </a:r>
            <a:r>
              <a:rPr lang="ko-KR" altLang="en-US" sz="650" dirty="0"/>
              <a:t>내역이 있는 경우 </a:t>
            </a:r>
            <a:r>
              <a:rPr lang="ko-KR" altLang="en-US" sz="650" dirty="0" smtClean="0"/>
              <a:t>만 표시</a:t>
            </a:r>
            <a:endParaRPr lang="en-US" altLang="ko-KR" sz="65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50" dirty="0" smtClean="0"/>
              <a:t>탭 영역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/>
              <a:t>- </a:t>
            </a:r>
            <a:r>
              <a:rPr lang="ko-KR" altLang="en-US" sz="650" dirty="0"/>
              <a:t>상세내용 </a:t>
            </a:r>
            <a:r>
              <a:rPr lang="en-US" altLang="ko-KR" sz="650" dirty="0"/>
              <a:t>Tab</a:t>
            </a:r>
            <a:r>
              <a:rPr lang="ko-KR" altLang="en-US" sz="650" dirty="0"/>
              <a:t>은 진입 시 고정 노출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탭 내용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ko-KR" altLang="en-US" sz="650" dirty="0" smtClean="0"/>
              <a:t>상세정보</a:t>
            </a:r>
            <a:r>
              <a:rPr lang="en-US" altLang="ko-KR" sz="650" dirty="0" smtClean="0"/>
              <a:t>, </a:t>
            </a:r>
            <a:r>
              <a:rPr lang="ko-KR" altLang="en-US" sz="650" dirty="0" smtClean="0"/>
              <a:t>계약업체</a:t>
            </a:r>
            <a:r>
              <a:rPr lang="en-US" altLang="ko-KR" sz="650" dirty="0" smtClean="0"/>
              <a:t>, </a:t>
            </a:r>
            <a:r>
              <a:rPr lang="ko-KR" altLang="en-US" sz="650" dirty="0" smtClean="0"/>
              <a:t>반송</a:t>
            </a:r>
            <a:r>
              <a:rPr lang="en-US" altLang="ko-KR" sz="650" dirty="0" smtClean="0"/>
              <a:t>/</a:t>
            </a:r>
            <a:r>
              <a:rPr lang="ko-KR" altLang="en-US" sz="650" dirty="0" err="1" smtClean="0"/>
              <a:t>취소사유</a:t>
            </a:r>
            <a:r>
              <a:rPr lang="en-US" altLang="ko-KR" sz="650" dirty="0" smtClean="0"/>
              <a:t>, </a:t>
            </a:r>
            <a:r>
              <a:rPr lang="ko-KR" altLang="en-US" sz="650" dirty="0" smtClean="0"/>
              <a:t>첨부서류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/>
              <a:t>&gt; </a:t>
            </a:r>
            <a:r>
              <a:rPr lang="ko-KR" altLang="en-US" sz="650" dirty="0"/>
              <a:t>로그인 필요 서비스 안내 표시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화면을 </a:t>
            </a:r>
            <a:r>
              <a:rPr lang="ko-KR" altLang="en-US" sz="650" dirty="0" err="1" smtClean="0"/>
              <a:t>넘치는경우</a:t>
            </a:r>
            <a:r>
              <a:rPr lang="ko-KR" altLang="en-US" sz="650" dirty="0" smtClean="0"/>
              <a:t> 드래그하여 확인</a:t>
            </a:r>
            <a:r>
              <a:rPr lang="en-US" altLang="ko-KR" sz="650" dirty="0" smtClean="0"/>
              <a:t>(</a:t>
            </a:r>
            <a:r>
              <a:rPr lang="ko-KR" altLang="en-US" sz="650" dirty="0" err="1" smtClean="0"/>
              <a:t>스와이프기능</a:t>
            </a:r>
            <a:r>
              <a:rPr lang="ko-KR" altLang="en-US" sz="650" dirty="0" smtClean="0"/>
              <a:t> 반영 필요</a:t>
            </a:r>
            <a:r>
              <a:rPr lang="en-US" altLang="ko-KR" sz="65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650" dirty="0" smtClean="0"/>
              <a:t>계약 상세 정보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각 공고에 맞춰 폼 변화에 유의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 smtClean="0"/>
              <a:t>- </a:t>
            </a:r>
            <a:r>
              <a:rPr lang="ko-KR" altLang="en-US" sz="650" dirty="0" err="1" smtClean="0"/>
              <a:t>상세내용에</a:t>
            </a:r>
            <a:r>
              <a:rPr lang="ko-KR" altLang="en-US" sz="650" dirty="0" smtClean="0"/>
              <a:t> </a:t>
            </a:r>
            <a:r>
              <a:rPr lang="ko-KR" altLang="en-US" sz="650" dirty="0"/>
              <a:t>포함된 정보 </a:t>
            </a:r>
            <a:r>
              <a:rPr lang="ko-KR" altLang="en-US" sz="650" dirty="0" smtClean="0"/>
              <a:t>표시</a:t>
            </a:r>
            <a:endParaRPr lang="en-US" altLang="ko-KR" sz="65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50" dirty="0" smtClean="0"/>
              <a:t>기본값은 상단 이동 버튼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ko-KR" altLang="en-US" sz="650" dirty="0" smtClean="0"/>
              <a:t>현 상세내용 탭에서는 </a:t>
            </a:r>
            <a:endParaRPr lang="en-US" altLang="ko-KR" sz="65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650" dirty="0" smtClean="0"/>
              <a:t>+</a:t>
            </a:r>
            <a:r>
              <a:rPr lang="ko-KR" altLang="en-US" sz="650" dirty="0" smtClean="0"/>
              <a:t>버튼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해당 페이지에서 호출되는 이벤트 목록 표시</a:t>
            </a:r>
            <a:r>
              <a:rPr lang="en-US" altLang="ko-KR" sz="650" dirty="0" smtClean="0"/>
              <a:t> (</a:t>
            </a:r>
            <a:r>
              <a:rPr lang="ko-KR" altLang="en-US" sz="650" dirty="0" smtClean="0"/>
              <a:t>항목설명페이지 참고</a:t>
            </a:r>
            <a:r>
              <a:rPr lang="en-US" altLang="ko-KR" sz="65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650" dirty="0"/>
              <a:t>출력이 있는 계약인 경우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/>
              <a:t>- </a:t>
            </a:r>
            <a:r>
              <a:rPr lang="en-US" altLang="ko-KR" sz="650" dirty="0">
                <a:latin typeface="+mn-ea"/>
              </a:rPr>
              <a:t>(UI-CT-01-R37) </a:t>
            </a:r>
            <a:r>
              <a:rPr lang="ko-KR" altLang="en-US" sz="650" dirty="0">
                <a:latin typeface="+mn-ea"/>
              </a:rPr>
              <a:t>리스계약서출력물</a:t>
            </a:r>
            <a:r>
              <a:rPr lang="en-US" altLang="ko-KR" sz="650" dirty="0">
                <a:latin typeface="+mn-ea"/>
              </a:rPr>
              <a:t>,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(UI-CT-01-R38) </a:t>
            </a:r>
            <a:r>
              <a:rPr lang="ko-KR" altLang="en-US" sz="650" dirty="0">
                <a:latin typeface="+mn-ea"/>
              </a:rPr>
              <a:t>무상대여계약서출력물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(UI-CT-01-R39)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(UI-CT-01-R40)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1)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50" dirty="0">
                <a:latin typeface="+mn-ea"/>
              </a:rPr>
              <a:t>,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(UI-CT-01-R41)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4_G)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(UI-CT-01-R42)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5)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</a:t>
            </a:r>
            <a:r>
              <a:rPr lang="ko-KR" altLang="en-US" sz="650" dirty="0" err="1">
                <a:latin typeface="+mn-ea"/>
              </a:rPr>
              <a:t>ㅌ</a:t>
            </a:r>
            <a:r>
              <a:rPr lang="ko-KR" altLang="en-US" sz="650" dirty="0">
                <a:latin typeface="+mn-ea"/>
              </a:rPr>
              <a:t> </a:t>
            </a:r>
            <a:r>
              <a:rPr lang="en-US" altLang="ko-KR" sz="650" dirty="0">
                <a:latin typeface="+mn-ea"/>
              </a:rPr>
              <a:t>I-CT-01-R43)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물품수정계약서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(UI-CT-01-R44)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물품제조계약서출력물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(UI-CT-01-R45)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물품제조구매계약서출력물</a:t>
            </a:r>
            <a:r>
              <a:rPr lang="en-US" altLang="ko-KR" sz="650" dirty="0">
                <a:latin typeface="+mn-ea"/>
              </a:rPr>
              <a:t>, (UI-CT-01-R46)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물품제조설치계약서출력물</a:t>
            </a:r>
            <a:endParaRPr lang="ko-KR" altLang="en-US" sz="650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sz="650" dirty="0"/>
          </a:p>
          <a:p>
            <a:pPr marL="228600" indent="-228600">
              <a:buFont typeface="+mj-lt"/>
              <a:buAutoNum type="arabicPeriod"/>
            </a:pPr>
            <a:endParaRPr lang="en-US" altLang="ko-KR" sz="650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물품전자계약진행상세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/>
              <a:t>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물품전자계약진행상세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계약서 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206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04074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67" name="평행 사변형 166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04074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20681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65951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1846937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2480267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9047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2200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35337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05272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05272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17572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29426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29426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 사유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04074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04074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grpSp>
        <p:nvGrpSpPr>
          <p:cNvPr id="155" name="그룹 15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9" name="TextBox 168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7328" y="56881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53" name="직사각형 152"/>
          <p:cNvSpPr/>
          <p:nvPr/>
        </p:nvSpPr>
        <p:spPr>
          <a:xfrm>
            <a:off x="7066443" y="6170803"/>
            <a:ext cx="2337127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/>
              <a:t>전체 특이사항 내용 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158246412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 데이터 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물품 계약 경우만 </a:t>
            </a:r>
            <a:r>
              <a:rPr lang="ko-KR" altLang="en-US" dirty="0" smtClean="0"/>
              <a:t>표시 항목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smtClean="0"/>
              <a:t>일반용역 </a:t>
            </a:r>
            <a:r>
              <a:rPr lang="ko-KR" altLang="en-US" dirty="0"/>
              <a:t>계약 경우만 표시 </a:t>
            </a:r>
            <a:r>
              <a:rPr lang="ko-KR" altLang="en-US" dirty="0" smtClean="0"/>
              <a:t>항목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2-1] </a:t>
            </a:r>
            <a:r>
              <a:rPr lang="ko-KR" altLang="en-US" dirty="0" err="1" smtClean="0"/>
              <a:t>계약일자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2-2] </a:t>
            </a:r>
            <a:r>
              <a:rPr lang="ko-KR" altLang="en-US" dirty="0" smtClean="0"/>
              <a:t>계약시작일자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2-3] </a:t>
            </a:r>
            <a:r>
              <a:rPr lang="ko-KR" altLang="en-US" dirty="0" smtClean="0"/>
              <a:t>계약종료일자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2-4] </a:t>
            </a:r>
            <a:r>
              <a:rPr lang="ko-KR" altLang="en-US" dirty="0" smtClean="0"/>
              <a:t>납품시작일자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2-5] </a:t>
            </a:r>
            <a:r>
              <a:rPr lang="ko-KR" altLang="en-US" dirty="0" smtClean="0"/>
              <a:t>납품종료일자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대여계약서</a:t>
            </a:r>
            <a:r>
              <a:rPr lang="ko-KR" altLang="en-US" dirty="0"/>
              <a:t> 경우만 표시 </a:t>
            </a:r>
            <a:r>
              <a:rPr lang="ko-KR" altLang="en-US" dirty="0" smtClean="0"/>
              <a:t>항목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대여목적</a:t>
            </a:r>
            <a:r>
              <a:rPr lang="en-US" altLang="ko-KR" dirty="0"/>
              <a:t>, </a:t>
            </a:r>
            <a:r>
              <a:rPr lang="ko-KR" altLang="en-US" dirty="0" err="1"/>
              <a:t>반납장소</a:t>
            </a:r>
            <a:r>
              <a:rPr lang="ko-KR" altLang="en-US" dirty="0"/>
              <a:t>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계약서유형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7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J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8 </a:t>
            </a:r>
            <a:r>
              <a:rPr lang="ko-KR" altLang="en-US" dirty="0"/>
              <a:t>무상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K </a:t>
            </a:r>
            <a:r>
              <a:rPr lang="ko-KR" altLang="en-US" dirty="0"/>
              <a:t>무상 </a:t>
            </a:r>
            <a:r>
              <a:rPr lang="ko-KR" altLang="en-US" dirty="0" err="1" smtClean="0"/>
              <a:t>대여계약서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리스계약 경우만 </a:t>
            </a:r>
            <a:r>
              <a:rPr lang="ko-KR" altLang="en-US" dirty="0" smtClean="0"/>
              <a:t>표시 항목</a:t>
            </a:r>
            <a:r>
              <a:rPr lang="ko-KR" altLang="en-US" dirty="0"/>
              <a:t/>
            </a:r>
            <a:br>
              <a:rPr lang="ko-KR" altLang="en-US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리스 </a:t>
            </a:r>
            <a:r>
              <a:rPr lang="ko-KR" altLang="en-US" dirty="0"/>
              <a:t>항목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계약서유형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5 </a:t>
            </a:r>
            <a:r>
              <a:rPr lang="ko-KR" altLang="en-US" dirty="0" err="1"/>
              <a:t>리스계약서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H </a:t>
            </a:r>
            <a:r>
              <a:rPr lang="ko-KR" altLang="en-US" dirty="0" err="1"/>
              <a:t>리스계약서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계약품목별</a:t>
            </a:r>
            <a:r>
              <a:rPr lang="ko-KR" altLang="en-US" dirty="0" smtClean="0"/>
              <a:t> </a:t>
            </a:r>
            <a:r>
              <a:rPr lang="ko-KR" altLang="en-US" dirty="0"/>
              <a:t>계약금액 </a:t>
            </a:r>
            <a:r>
              <a:rPr lang="ko-KR" altLang="en-US" dirty="0" smtClean="0"/>
              <a:t>합계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담당자정보</a:t>
            </a:r>
            <a:r>
              <a:rPr lang="ko-KR" altLang="en-US" dirty="0"/>
              <a:t> 데이터 </a:t>
            </a:r>
            <a:r>
              <a:rPr lang="ko-KR" altLang="en-US" dirty="0" smtClean="0"/>
              <a:t>영역 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계약서 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위치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대여목적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반납장소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리스구분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리스료</a:t>
              </a:r>
              <a:r>
                <a:rPr lang="ko-KR" altLang="en-US" sz="700" dirty="0" smtClean="0">
                  <a:latin typeface="+mn-ea"/>
                </a:rPr>
                <a:t> 지급기준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 ~ 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 ~ 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경기도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시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구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동 </a:t>
              </a:r>
              <a:r>
                <a:rPr lang="en-US" altLang="ko-KR" sz="700" dirty="0" smtClean="0">
                  <a:latin typeface="+mn-ea"/>
                </a:rPr>
                <a:t>000-00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>
                  <a:latin typeface="+mn-ea"/>
                </a:rPr>
                <a:t>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대여 </a:t>
              </a:r>
              <a:r>
                <a:rPr lang="ko-KR" altLang="en-US" sz="700" dirty="0" err="1" smtClean="0">
                  <a:latin typeface="+mn-ea"/>
                </a:rPr>
                <a:t>목정</a:t>
              </a:r>
              <a:r>
                <a:rPr lang="ko-KR" altLang="en-US" sz="700" dirty="0" smtClean="0">
                  <a:latin typeface="+mn-ea"/>
                </a:rPr>
                <a:t> 정보 표시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 smtClean="0">
                  <a:latin typeface="+mn-ea"/>
                </a:rPr>
                <a:t>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리스 구분 정보 표시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지급 기준 정보 표시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2023"/>
              <a:chOff x="701175" y="1835481"/>
              <a:chExt cx="2630093" cy="4292023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9" name="직선 연결선 1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91276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90" name="직선 연결선 18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750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493785"/>
            <a:ext cx="792000" cy="8589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493784"/>
            <a:ext cx="893348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리스료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리스료</a:t>
            </a:r>
            <a:r>
              <a:rPr lang="ko-KR" altLang="en-US" sz="700" dirty="0" smtClean="0">
                <a:latin typeface="+mn-ea"/>
              </a:rPr>
              <a:t> 기준금액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지출관 연락처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재무관연락처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31880" y="1493784"/>
            <a:ext cx="1619722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02-1234-5678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02-2345-6789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493784"/>
            <a:ext cx="2630093" cy="858960"/>
            <a:chOff x="701175" y="1835481"/>
            <a:chExt cx="2630093" cy="858960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2369075"/>
            <a:ext cx="2630093" cy="1777166"/>
            <a:chOff x="3865118" y="2694619"/>
            <a:chExt cx="2630093" cy="1777166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2126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2441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4357475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748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748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12500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46978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8164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8164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655377" y="3968223"/>
            <a:ext cx="2775293" cy="860270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43356" y="38688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10" name="직사각형 109"/>
          <p:cNvSpPr/>
          <p:nvPr/>
        </p:nvSpPr>
        <p:spPr>
          <a:xfrm>
            <a:off x="655377" y="4847742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9785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11" name="직사각형 110"/>
          <p:cNvSpPr/>
          <p:nvPr/>
        </p:nvSpPr>
        <p:spPr>
          <a:xfrm>
            <a:off x="655377" y="5292905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423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3" name="직사각형 112"/>
          <p:cNvSpPr/>
          <p:nvPr/>
        </p:nvSpPr>
        <p:spPr>
          <a:xfrm>
            <a:off x="655377" y="5741185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720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5" name="직사각형 114"/>
          <p:cNvSpPr/>
          <p:nvPr/>
        </p:nvSpPr>
        <p:spPr>
          <a:xfrm>
            <a:off x="3766406" y="1502153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6329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2966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2877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1899" y="39181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0329" y="41688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083425" y="41562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2-3</a:t>
            </a:r>
            <a:endParaRPr lang="ko-KR" altLang="en-US" sz="6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9774" y="44153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2-4</a:t>
            </a:r>
            <a:endParaRPr lang="ko-KR" altLang="en-US" sz="6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082870" y="4402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2-5</a:t>
            </a:r>
            <a:endParaRPr lang="ko-KR" altLang="en-US" sz="600" b="1" dirty="0"/>
          </a:p>
        </p:txBody>
      </p:sp>
      <p:sp>
        <p:nvSpPr>
          <p:cNvPr id="105" name="직사각형 104"/>
          <p:cNvSpPr/>
          <p:nvPr/>
        </p:nvSpPr>
        <p:spPr>
          <a:xfrm>
            <a:off x="7069348" y="5934182"/>
            <a:ext cx="2334222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2-1~5 </a:t>
            </a:r>
            <a:r>
              <a:rPr lang="ko-KR" altLang="en-US" sz="500" dirty="0"/>
              <a:t>전체 특이사항 내용 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125481237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생산공장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여러 건 표시될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방위사업청</a:t>
            </a:r>
            <a:r>
              <a:rPr lang="ko-KR" altLang="en-US" dirty="0" smtClean="0"/>
              <a:t> 계약의 경우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3831550" y="1799746"/>
            <a:ext cx="2652743" cy="547623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41984" y="1831183"/>
            <a:ext cx="246127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위치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우편번호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8080" y="1527996"/>
            <a:ext cx="72887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 flipV="1">
            <a:off x="6240167" y="1641327"/>
            <a:ext cx="94010" cy="47005"/>
            <a:chOff x="6812560" y="3297172"/>
            <a:chExt cx="94010" cy="47005"/>
          </a:xfrm>
        </p:grpSpPr>
        <p:cxnSp>
          <p:nvCxnSpPr>
            <p:cNvPr id="134" name="직선 연결선 1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5" name="직선 연결선 1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06354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0133" y="232806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91907" y="1831183"/>
            <a:ext cx="1911355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 명칭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주소지 표시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00000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76944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562482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2618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6352548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반송</a:t>
            </a:r>
            <a:r>
              <a:rPr lang="en-US" altLang="ko-KR" dirty="0" smtClean="0"/>
              <a:t>/</a:t>
            </a:r>
            <a:r>
              <a:rPr lang="ko-KR" altLang="en-US" dirty="0" smtClean="0"/>
              <a:t>취소 사유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낙찰단가반송사유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제출서류반송사유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계약서 </a:t>
            </a:r>
            <a:r>
              <a:rPr lang="ko-KR" altLang="en-US" dirty="0"/>
              <a:t>반송 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계약 </a:t>
            </a:r>
            <a:r>
              <a:rPr lang="ko-KR" altLang="en-US" dirty="0"/>
              <a:t>취소 사유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본문 내용은 하단으로 확장되어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박스 세로 크기 제한 없음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전자수입인지 안내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PC</a:t>
            </a:r>
            <a:r>
              <a:rPr lang="ko-KR" altLang="en-US" dirty="0" smtClean="0"/>
              <a:t>에서만 제공되는 서비스라는 추가 </a:t>
            </a:r>
            <a:r>
              <a:rPr lang="ko-KR" altLang="en-US" dirty="0" err="1" smtClean="0"/>
              <a:t>안내글</a:t>
            </a:r>
            <a:r>
              <a:rPr lang="ko-KR" altLang="en-US" dirty="0" smtClean="0"/>
              <a:t>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취소 사유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취소 사유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705041" y="3802205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3811" y="3900489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업무도움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필독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기획재정부에 납부하신 경우 전자수입인지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확인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버튼 클릭 시 구매요청서에서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기납부금액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확인 후 닫기를 하셔야 정상납부처리가 됩니다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PC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버전에서 업무처리를 할 수 있습니다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4" name="타원 83"/>
          <p:cNvSpPr/>
          <p:nvPr/>
        </p:nvSpPr>
        <p:spPr>
          <a:xfrm>
            <a:off x="789853" y="3890838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5" name="그룹 84"/>
          <p:cNvGrpSpPr/>
          <p:nvPr/>
        </p:nvGrpSpPr>
        <p:grpSpPr>
          <a:xfrm flipV="1">
            <a:off x="3138674" y="393933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반송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/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취소 반송 사유 표시 영역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89" name="타원 1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7053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4248763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45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</a:p>
          <a:p>
            <a:pPr marL="0" indent="0">
              <a:buNone/>
            </a:pPr>
            <a:r>
              <a:rPr lang="en-US" altLang="ko-KR" dirty="0" smtClean="0"/>
              <a:t> </a:t>
            </a:r>
            <a:endParaRPr lang="ko-KR" altLang="en-US" dirty="0" smtClean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3" name="그룹 52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5" name="그룹 54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82" name="직선 연결선 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4" name="직선 연결선 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6" name="모서리가 둥근 직사각형 55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3" name="타원 62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85" name="직사각형 84"/>
          <p:cNvSpPr/>
          <p:nvPr/>
        </p:nvSpPr>
        <p:spPr>
          <a:xfrm>
            <a:off x="2550244" y="4138618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53275834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4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1243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339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962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04452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97244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8203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350603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8042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679311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AF4568-3FCF-6B95-3483-92580814E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60975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600910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86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전자계약 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92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763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29435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2067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868241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7B0B425-0019-4486-8D38-E4FEB8AB839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2960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63D8347-901F-73D3-1AD6-F718AB44714A}"/>
              </a:ext>
            </a:extLst>
          </p:cNvPr>
          <p:cNvSpPr txBox="1"/>
          <p:nvPr/>
        </p:nvSpPr>
        <p:spPr>
          <a:xfrm>
            <a:off x="458117" y="2149242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9187C43-79FB-F229-512E-0A6FFE4431A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615764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0B9B27C-BE9B-8E90-4DD0-4B39E9A39C44}"/>
              </a:ext>
            </a:extLst>
          </p:cNvPr>
          <p:cNvSpPr txBox="1"/>
          <p:nvPr/>
        </p:nvSpPr>
        <p:spPr>
          <a:xfrm>
            <a:off x="458117" y="341797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A557D83-7495-2564-C607-368B00300EDC}"/>
              </a:ext>
            </a:extLst>
          </p:cNvPr>
          <p:cNvSpPr txBox="1"/>
          <p:nvPr/>
        </p:nvSpPr>
        <p:spPr>
          <a:xfrm>
            <a:off x="458117" y="5787497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5C2342E-D75D-838C-20F1-06F3B79E00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6049987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A0ED7E21-402F-B04E-02C4-FB8A162DA07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148430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0F79D67-91C5-8E01-73AC-7F27C410BF8C}"/>
              </a:ext>
            </a:extLst>
          </p:cNvPr>
          <p:cNvSpPr txBox="1"/>
          <p:nvPr/>
        </p:nvSpPr>
        <p:spPr>
          <a:xfrm>
            <a:off x="458117" y="797837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7F7273E4-5314-A4EF-4DF2-D1CE7772F13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032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68349D1A-8834-0CFE-EFCA-2E65D1502675}"/>
              </a:ext>
            </a:extLst>
          </p:cNvPr>
          <p:cNvSpPr txBox="1"/>
          <p:nvPr/>
        </p:nvSpPr>
        <p:spPr>
          <a:xfrm>
            <a:off x="458117" y="1941015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41B67F0-4567-2B9C-2711-138B2467562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035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05B1348C-4D16-5249-4534-C5A5560B2714}"/>
              </a:ext>
            </a:extLst>
          </p:cNvPr>
          <p:cNvSpPr txBox="1"/>
          <p:nvPr/>
        </p:nvSpPr>
        <p:spPr>
          <a:xfrm>
            <a:off x="458117" y="2889942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D0DBED2B-6CDA-AD74-956B-9DE39427361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15243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AD0DB35-7064-B988-CEEE-5093CC9EB92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07127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125251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 </a:t>
            </a:r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(1/2)</a:t>
            </a:r>
            <a:endParaRPr lang="ko-KR" altLang="en-US" sz="1000" b="1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523DA0D-2482-6C62-85DF-0395607F25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9979093"/>
              </p:ext>
            </p:extLst>
          </p:nvPr>
        </p:nvGraphicFramePr>
        <p:xfrm>
          <a:off x="458468" y="960432"/>
          <a:ext cx="8995591" cy="24421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상세조회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(UI-CT-01-P10)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(UI-CT-01-P11)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(UI-CT-01-P12)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(UI-CT-01-P13)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물품일반계약명세서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6518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계약서 반송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scwin.btn_ctrdocSndbk_onclick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체결진행 중인 계약서에 대해 반송처리 기능을 호출 처리한다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반송사유 작성 여부 체크 후 수행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579470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계약서표지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(UI-CT-01-R37)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(UI-CT-01-R38)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무상대여계약서출력물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(UI-CT-01-R39)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(UI-CT-01-R40)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4_G)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(UI-CT-01-R42)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(UI-CT-01-R43)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(UI-CT-01-R44)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물품제조설치계약서출력물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298504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첨부 서류 </a:t>
                      </a:r>
                      <a:r>
                        <a:rPr lang="en-US" altLang="ko-KR" sz="800" dirty="0"/>
                        <a:t>Tab – </a:t>
                      </a:r>
                      <a:r>
                        <a:rPr lang="ko-KR" altLang="en-US" sz="800" dirty="0" err="1"/>
                        <a:t>계약참조서류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파일 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scwin.btn_ctrtRfrncDcmntFileAtch_onclick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파일을 첨부하거나 첨부 삭제할 수 있는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(UI-CT-01-P22)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제출서류등록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계약진행상태가 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서류보완 필요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경우 서류 등록 버튼이 활성화됨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0538534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4C988534-B746-F1B4-64D3-F84EAF1A8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507977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보증서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[</a:t>
                      </a:r>
                      <a:r>
                        <a:rPr lang="ko-KR" altLang="en-US" sz="500" u="none" strike="noStrike">
                          <a:effectLst/>
                        </a:rPr>
                        <a:t>구매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확인</a:t>
                      </a:r>
                      <a:r>
                        <a:rPr lang="en-US" altLang="ko-KR" sz="500" u="none" strike="noStrike">
                          <a:effectLst/>
                        </a:rPr>
                        <a:t>]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인지세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계약명세서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계약서표지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80-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129455714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 smtClean="0">
                <a:latin typeface="+mn-ea"/>
              </a:rPr>
              <a:t>계약 확정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물품전자계약확정상세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확정 상세 </a:t>
            </a:r>
            <a:r>
              <a:rPr lang="en-US" altLang="ko-KR" dirty="0" smtClean="0"/>
              <a:t>- </a:t>
            </a:r>
            <a:r>
              <a:rPr lang="ko-KR" altLang="en-US" dirty="0" err="1" smtClean="0"/>
              <a:t>물품전자계약확정상세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확정 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물품전자계약확정상세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계약서 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4990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3330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33300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4990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5177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4537677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4654748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022927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152393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1876163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2509493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7197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5123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64563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0819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0819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204951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23495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23495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33300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33300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15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5769705"/>
            <a:ext cx="2300284" cy="651722"/>
          </a:xfrm>
          <a:prstGeom prst="rect">
            <a:avLst/>
          </a:prstGeom>
        </p:spPr>
        <p:txBody>
          <a:bodyPr anchor="b"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dirty="0" smtClean="0"/>
              <a:t>참고사항</a:t>
            </a:r>
            <a:endParaRPr lang="en-US" altLang="ko-KR" dirty="0" smtClean="0"/>
          </a:p>
          <a:p>
            <a:pPr marL="0" indent="0">
              <a:buNone/>
            </a:pPr>
            <a:r>
              <a:rPr lang="en-US" altLang="ko-KR" dirty="0" smtClean="0"/>
              <a:t>- </a:t>
            </a:r>
            <a:r>
              <a:rPr lang="ko-KR" altLang="en-US" dirty="0" err="1" smtClean="0"/>
              <a:t>물품전자계약진행상세와</a:t>
            </a:r>
            <a:r>
              <a:rPr lang="ko-KR" altLang="en-US" dirty="0" smtClean="0"/>
              <a:t> 화면이 동일함</a:t>
            </a:r>
            <a:endParaRPr lang="en-US" altLang="ko-KR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6" name="평행 사변형 165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TextBox 166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5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타이틀 영역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1-1] </a:t>
            </a:r>
            <a:r>
              <a:rPr lang="ko-KR" altLang="en-US" sz="600" dirty="0"/>
              <a:t>레이블이 화면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화면 넘치는 경우 드래그하여 확인 가능 </a:t>
            </a:r>
            <a:r>
              <a:rPr lang="en-US" altLang="ko-KR" sz="600" dirty="0"/>
              <a:t>(</a:t>
            </a:r>
            <a:r>
              <a:rPr lang="ko-KR" altLang="en-US" sz="600" dirty="0" err="1"/>
              <a:t>스와이프기능</a:t>
            </a:r>
            <a:r>
              <a:rPr lang="ko-KR" altLang="en-US" sz="600" dirty="0"/>
              <a:t> 반영 필요</a:t>
            </a:r>
            <a:r>
              <a:rPr lang="en-US" altLang="ko-KR" sz="600" dirty="0"/>
              <a:t>)</a:t>
            </a:r>
            <a:br>
              <a:rPr lang="en-US" altLang="ko-KR" sz="600" dirty="0"/>
            </a:br>
            <a:r>
              <a:rPr lang="en-US" altLang="ko-KR" sz="600" dirty="0"/>
              <a:t>1-2] </a:t>
            </a:r>
            <a:r>
              <a:rPr lang="ko-KR" altLang="en-US" sz="600" dirty="0"/>
              <a:t>문서 정보 영역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판단번호</a:t>
            </a:r>
            <a:r>
              <a:rPr lang="ko-KR" altLang="en-US" sz="600" dirty="0"/>
              <a:t> </a:t>
            </a:r>
            <a:r>
              <a:rPr lang="en-US" altLang="ko-KR" sz="600" dirty="0"/>
              <a:t>,  </a:t>
            </a:r>
            <a:r>
              <a:rPr lang="ko-KR" altLang="en-US" sz="600" dirty="0" err="1"/>
              <a:t>계약번호</a:t>
            </a:r>
            <a:r>
              <a:rPr lang="ko-KR" altLang="en-US" sz="600" dirty="0"/>
              <a:t> 노출 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판단번호</a:t>
            </a:r>
            <a:r>
              <a:rPr lang="ko-KR" altLang="en-US" sz="600" dirty="0"/>
              <a:t> </a:t>
            </a:r>
            <a:r>
              <a:rPr lang="ko-KR" altLang="en-US" sz="600" dirty="0" err="1"/>
              <a:t>전체노출</a:t>
            </a:r>
            <a:r>
              <a:rPr lang="ko-KR" altLang="en-US" sz="600" dirty="0"/>
              <a:t> </a:t>
            </a:r>
            <a:r>
              <a:rPr lang="en-US" altLang="ko-KR" sz="600" dirty="0"/>
              <a:t>/ </a:t>
            </a:r>
            <a:r>
              <a:rPr lang="ko-KR" altLang="en-US" sz="600" dirty="0" err="1"/>
              <a:t>계약번호</a:t>
            </a:r>
            <a:r>
              <a:rPr lang="ko-KR" altLang="en-US" sz="600" dirty="0"/>
              <a:t> </a:t>
            </a:r>
            <a:r>
              <a:rPr lang="ko-KR" altLang="en-US" sz="600" dirty="0" err="1"/>
              <a:t>노출시</a:t>
            </a:r>
            <a:r>
              <a:rPr lang="ko-KR" altLang="en-US" sz="600" dirty="0"/>
              <a:t> 해당 라인을 넘어가면 </a:t>
            </a:r>
            <a:r>
              <a:rPr lang="en-US" altLang="ko-KR" sz="600" dirty="0"/>
              <a:t>(…) </a:t>
            </a:r>
            <a:r>
              <a:rPr lang="ko-KR" altLang="en-US" sz="600" dirty="0" err="1"/>
              <a:t>말줄임</a:t>
            </a:r>
            <a:r>
              <a:rPr lang="ko-KR" altLang="en-US" sz="600" dirty="0"/>
              <a:t>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1-3] </a:t>
            </a:r>
            <a:r>
              <a:rPr lang="ko-KR" altLang="en-US" sz="600" dirty="0"/>
              <a:t>문서 제목 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제목은 </a:t>
            </a:r>
            <a:r>
              <a:rPr lang="en-US" altLang="ko-KR" sz="600" dirty="0"/>
              <a:t>2</a:t>
            </a:r>
            <a:r>
              <a:rPr lang="ko-KR" altLang="en-US" sz="600" dirty="0"/>
              <a:t>줄 까지 노출 이후</a:t>
            </a:r>
            <a:r>
              <a:rPr lang="en-US" altLang="ko-KR" sz="600" dirty="0"/>
              <a:t>(…) </a:t>
            </a:r>
            <a:r>
              <a:rPr lang="ko-KR" altLang="en-US" sz="600" dirty="0" err="1"/>
              <a:t>말줄임</a:t>
            </a:r>
            <a:r>
              <a:rPr lang="ko-KR" altLang="en-US" sz="600" dirty="0"/>
              <a:t> 표시</a:t>
            </a: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err="1"/>
              <a:t>업무도움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기본값 </a:t>
            </a:r>
            <a:r>
              <a:rPr lang="en-US" altLang="ko-KR" sz="600" dirty="0"/>
              <a:t>: </a:t>
            </a:r>
            <a:r>
              <a:rPr lang="ko-KR" altLang="en-US" sz="600" dirty="0"/>
              <a:t>접힘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클릭시</a:t>
            </a:r>
            <a:r>
              <a:rPr lang="ko-KR" altLang="en-US" sz="600" dirty="0"/>
              <a:t> 확장하여 정보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</a:t>
            </a:r>
            <a:r>
              <a:rPr lang="ko-KR" altLang="en-US" sz="600" dirty="0" err="1"/>
              <a:t>업무도움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&gt; </a:t>
            </a:r>
            <a:r>
              <a:rPr lang="ko-KR" altLang="en-US" sz="600" dirty="0"/>
              <a:t>내역이 있는 경우 만 표시</a:t>
            </a: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탭 영역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상세내용 </a:t>
            </a:r>
            <a:r>
              <a:rPr lang="en-US" altLang="ko-KR" sz="600" dirty="0"/>
              <a:t>Tab</a:t>
            </a:r>
            <a:r>
              <a:rPr lang="ko-KR" altLang="en-US" sz="600" dirty="0"/>
              <a:t>은 진입 시 고정 노출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탭 내용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ko-KR" altLang="en-US" sz="600" dirty="0"/>
              <a:t>상세정보</a:t>
            </a:r>
            <a:r>
              <a:rPr lang="en-US" altLang="ko-KR" sz="600" dirty="0"/>
              <a:t>, </a:t>
            </a:r>
            <a:r>
              <a:rPr lang="ko-KR" altLang="en-US" sz="600" dirty="0"/>
              <a:t>계약업체</a:t>
            </a:r>
            <a:r>
              <a:rPr lang="en-US" altLang="ko-KR" sz="600" dirty="0"/>
              <a:t>, </a:t>
            </a:r>
            <a:r>
              <a:rPr lang="ko-KR" altLang="en-US" sz="600" dirty="0"/>
              <a:t>반송</a:t>
            </a:r>
            <a:r>
              <a:rPr lang="en-US" altLang="ko-KR" sz="600" dirty="0"/>
              <a:t>/</a:t>
            </a:r>
            <a:r>
              <a:rPr lang="ko-KR" altLang="en-US" sz="600" dirty="0" err="1"/>
              <a:t>취소사유</a:t>
            </a:r>
            <a:r>
              <a:rPr lang="en-US" altLang="ko-KR" sz="600" dirty="0"/>
              <a:t>, </a:t>
            </a:r>
            <a:r>
              <a:rPr lang="ko-KR" altLang="en-US" sz="600" dirty="0"/>
              <a:t>첨부서류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&gt; </a:t>
            </a:r>
            <a:r>
              <a:rPr lang="ko-KR" altLang="en-US" sz="600" dirty="0"/>
              <a:t>로그인 필요 서비스 안내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화면을 </a:t>
            </a:r>
            <a:r>
              <a:rPr lang="ko-KR" altLang="en-US" sz="600" dirty="0" err="1"/>
              <a:t>넘치는경우</a:t>
            </a:r>
            <a:r>
              <a:rPr lang="ko-KR" altLang="en-US" sz="600" dirty="0"/>
              <a:t> 드래그하여 확인</a:t>
            </a:r>
            <a:r>
              <a:rPr lang="en-US" altLang="ko-KR" sz="600" dirty="0"/>
              <a:t>(</a:t>
            </a:r>
            <a:r>
              <a:rPr lang="ko-KR" altLang="en-US" sz="600" dirty="0" err="1"/>
              <a:t>스와이프기능</a:t>
            </a:r>
            <a:r>
              <a:rPr lang="ko-KR" altLang="en-US" sz="600" dirty="0"/>
              <a:t> 반영 필요</a:t>
            </a:r>
            <a:r>
              <a:rPr lang="en-US" altLang="ko-KR" sz="600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계약 상세 정보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각 공고에 맞춰 폼 변화에 유의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상세내용에</a:t>
            </a:r>
            <a:r>
              <a:rPr lang="ko-KR" altLang="en-US" sz="600" dirty="0"/>
              <a:t> 포함된 정보 표시</a:t>
            </a: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기본값은 상단 이동 버튼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ko-KR" altLang="en-US" sz="600" dirty="0"/>
              <a:t>현 상세내용 탭에서는 </a:t>
            </a: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sz="600" dirty="0"/>
              <a:t>+</a:t>
            </a:r>
            <a:r>
              <a:rPr lang="ko-KR" altLang="en-US" sz="600" dirty="0"/>
              <a:t>버튼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해당 페이지에서 호출되는 이벤트 목록 표시</a:t>
            </a:r>
            <a:r>
              <a:rPr lang="en-US" altLang="ko-KR" sz="600" dirty="0"/>
              <a:t> (</a:t>
            </a:r>
            <a:r>
              <a:rPr lang="ko-KR" altLang="en-US" sz="600" dirty="0"/>
              <a:t>항목설명페이지 참고</a:t>
            </a:r>
            <a:r>
              <a:rPr lang="en-US" altLang="ko-KR" sz="600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출력이 있는 계약인 경우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en-US" altLang="ko-KR" sz="600" dirty="0">
                <a:latin typeface="+mn-ea"/>
              </a:rPr>
              <a:t>(UI-CT-01-R37) </a:t>
            </a:r>
            <a:r>
              <a:rPr lang="ko-KR" altLang="en-US" sz="600" dirty="0">
                <a:latin typeface="+mn-ea"/>
              </a:rPr>
              <a:t>리스계약서출력물</a:t>
            </a:r>
            <a:r>
              <a:rPr lang="en-US" altLang="ko-KR" sz="600" dirty="0">
                <a:latin typeface="+mn-ea"/>
              </a:rPr>
              <a:t>,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(UI-CT-01-R38) </a:t>
            </a:r>
            <a:r>
              <a:rPr lang="ko-KR" altLang="en-US" sz="600" dirty="0">
                <a:latin typeface="+mn-ea"/>
              </a:rPr>
              <a:t>무상대여계약서출력물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(UI-CT-01-R39)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(UI-CT-01-R40)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1)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00" dirty="0">
                <a:latin typeface="+mn-ea"/>
              </a:rPr>
              <a:t>,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(UI-CT-01-R41)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4_G)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(UI-CT-01-R42)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5)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</a:t>
            </a:r>
            <a:r>
              <a:rPr lang="ko-KR" altLang="en-US" sz="600" dirty="0" err="1">
                <a:latin typeface="+mn-ea"/>
              </a:rPr>
              <a:t>ㅌ</a:t>
            </a:r>
            <a:r>
              <a:rPr lang="ko-KR" altLang="en-US" sz="600" dirty="0">
                <a:latin typeface="+mn-ea"/>
              </a:rPr>
              <a:t> </a:t>
            </a:r>
            <a:r>
              <a:rPr lang="en-US" altLang="ko-KR" sz="600" dirty="0">
                <a:latin typeface="+mn-ea"/>
              </a:rPr>
              <a:t>I-CT-01-R43)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물품수정계약서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(UI-CT-01-R44)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물품제조계약서출력물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(UI-CT-01-R45)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물품제조구매계약서출력물</a:t>
            </a:r>
            <a:r>
              <a:rPr lang="en-US" altLang="ko-KR" sz="600" dirty="0">
                <a:latin typeface="+mn-ea"/>
              </a:rPr>
              <a:t>, (UI-CT-01-R46)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물품제조설치계약서출력물</a:t>
            </a:r>
            <a:endParaRPr lang="ko-KR" altLang="en-US" sz="600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endParaRPr lang="en-US" altLang="ko-KR" sz="600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5287" y="44784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73" name="타원 1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9293" y="50666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74" name="직사각형 173"/>
          <p:cNvSpPr/>
          <p:nvPr/>
        </p:nvSpPr>
        <p:spPr>
          <a:xfrm>
            <a:off x="7066443" y="5852379"/>
            <a:ext cx="2337127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203533865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3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8067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164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7427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4432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53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91182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22612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67174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083624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18C1639-1E46-9CE1-B29A-DA7072051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30C79D3-37B1-F2A7-1318-46FCBEF95D9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670397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18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98451"/>
          <a:ext cx="8994883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205491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6191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339346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C1020C5-3D81-1F1E-5FDB-8B36994D65F8}"/>
              </a:ext>
            </a:extLst>
          </p:cNvPr>
          <p:cNvSpPr txBox="1"/>
          <p:nvPr/>
        </p:nvSpPr>
        <p:spPr>
          <a:xfrm>
            <a:off x="443052" y="5838258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2397D76-130B-CEF0-BCFC-83279D3FE1D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4" y="6100748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0632762-7C2C-ACA0-7D89-265A1C4196A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34333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0A9011-591A-6305-B192-97B2365740CF}"/>
              </a:ext>
            </a:extLst>
          </p:cNvPr>
          <p:cNvSpPr txBox="1"/>
          <p:nvPr/>
        </p:nvSpPr>
        <p:spPr>
          <a:xfrm>
            <a:off x="443054" y="78521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1C5BBE6-5BC5-38E5-3222-0A72BFE432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4770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C942520-4CBE-6772-6DB4-B614DEE8CE6C}"/>
              </a:ext>
            </a:extLst>
          </p:cNvPr>
          <p:cNvSpPr txBox="1"/>
          <p:nvPr/>
        </p:nvSpPr>
        <p:spPr>
          <a:xfrm>
            <a:off x="443054" y="1944337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9827C19-D465-D176-D51A-4BACD2F4635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0682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F8C8B61D-A93C-A910-7421-6836A6C357FB}"/>
              </a:ext>
            </a:extLst>
          </p:cNvPr>
          <p:cNvSpPr txBox="1"/>
          <p:nvPr/>
        </p:nvSpPr>
        <p:spPr>
          <a:xfrm>
            <a:off x="443054" y="2923774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400D6AE-CDA3-92C7-0D1E-15BEC9CB800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18626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82CF135C-EED4-8F17-5FD8-61941DBF595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37529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2443431"/>
              </p:ext>
            </p:extLst>
          </p:nvPr>
        </p:nvGraphicFramePr>
        <p:xfrm>
          <a:off x="453000" y="99978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835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CABF810B-D96F-3B9F-94E3-39E5FCD6F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169994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/>
              <a:t>공사전자계약진행상세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/>
              <a:t>공사전자계약진행상세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6161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3329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33299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616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606883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" name="그룹 7"/>
          <p:cNvGrpSpPr/>
          <p:nvPr/>
        </p:nvGrpSpPr>
        <p:grpSpPr>
          <a:xfrm>
            <a:off x="6553092" y="5134085"/>
            <a:ext cx="371277" cy="868327"/>
            <a:chOff x="6596790" y="5154989"/>
            <a:chExt cx="371277" cy="868327"/>
          </a:xfrm>
        </p:grpSpPr>
        <p:sp>
          <p:nvSpPr>
            <p:cNvPr id="277" name="타원 276"/>
            <p:cNvSpPr/>
            <p:nvPr/>
          </p:nvSpPr>
          <p:spPr>
            <a:xfrm>
              <a:off x="6596790" y="5154989"/>
              <a:ext cx="371277" cy="38307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7" name="그룹 26"/>
            <p:cNvGrpSpPr/>
            <p:nvPr/>
          </p:nvGrpSpPr>
          <p:grpSpPr>
            <a:xfrm>
              <a:off x="6726256" y="5272060"/>
              <a:ext cx="120320" cy="148935"/>
              <a:chOff x="161606" y="5392781"/>
              <a:chExt cx="97885" cy="117432"/>
            </a:xfrm>
          </p:grpSpPr>
          <p:cxnSp>
            <p:nvCxnSpPr>
              <p:cNvPr id="279" name="직선 연결선 278"/>
              <p:cNvCxnSpPr/>
              <p:nvPr/>
            </p:nvCxnSpPr>
            <p:spPr>
              <a:xfrm flipV="1">
                <a:off x="163100" y="5409099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0" name="직선 연결선 279"/>
              <p:cNvCxnSpPr/>
              <p:nvPr/>
            </p:nvCxnSpPr>
            <p:spPr>
              <a:xfrm flipH="1" flipV="1">
                <a:off x="210105" y="5409099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" name="직선 연결선 24"/>
              <p:cNvCxnSpPr/>
              <p:nvPr/>
            </p:nvCxnSpPr>
            <p:spPr>
              <a:xfrm>
                <a:off x="210549" y="5412328"/>
                <a:ext cx="0" cy="9788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rot="16200000">
                <a:off x="210549" y="5343838"/>
                <a:ext cx="0" cy="9788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" name="그룹 2"/>
            <p:cNvGrpSpPr/>
            <p:nvPr/>
          </p:nvGrpSpPr>
          <p:grpSpPr>
            <a:xfrm>
              <a:off x="6596790" y="5640239"/>
              <a:ext cx="371277" cy="383077"/>
              <a:chOff x="6596790" y="5640239"/>
              <a:chExt cx="383077" cy="383077"/>
            </a:xfrm>
          </p:grpSpPr>
          <p:sp>
            <p:nvSpPr>
              <p:cNvPr id="284" name="타원 283"/>
              <p:cNvSpPr/>
              <p:nvPr/>
            </p:nvSpPr>
            <p:spPr>
              <a:xfrm>
                <a:off x="6596790" y="5640239"/>
                <a:ext cx="383077" cy="3830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8" name="그룹 27"/>
              <p:cNvGrpSpPr/>
              <p:nvPr/>
            </p:nvGrpSpPr>
            <p:grpSpPr>
              <a:xfrm>
                <a:off x="6726257" y="5769705"/>
                <a:ext cx="124144" cy="124144"/>
                <a:chOff x="162544" y="5299917"/>
                <a:chExt cx="124144" cy="124144"/>
              </a:xfrm>
            </p:grpSpPr>
            <p:cxnSp>
              <p:nvCxnSpPr>
                <p:cNvPr id="288" name="직선 연결선 287"/>
                <p:cNvCxnSpPr/>
                <p:nvPr/>
              </p:nvCxnSpPr>
              <p:spPr>
                <a:xfrm>
                  <a:off x="224616" y="5299917"/>
                  <a:ext cx="0" cy="124144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직선 연결선 288"/>
                <p:cNvCxnSpPr/>
                <p:nvPr/>
              </p:nvCxnSpPr>
              <p:spPr>
                <a:xfrm rot="16200000">
                  <a:off x="224616" y="5299917"/>
                  <a:ext cx="0" cy="124144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46" name="그룹 24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247" name="그룹 24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49" name="타원 24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2606" y="1846562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525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5123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64562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33299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33299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grpSp>
        <p:nvGrpSpPr>
          <p:cNvPr id="155" name="그룹 154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56" name="타원 155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387" name="타원 38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389" name="평행 사변형 388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0" name="TextBox 389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45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계약번호</a:t>
            </a:r>
            <a:r>
              <a:rPr lang="en-US" altLang="ko-KR" sz="800" dirty="0" smtClean="0"/>
              <a:t>: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+ </a:t>
            </a:r>
            <a:r>
              <a:rPr lang="ko-KR" altLang="en-US" sz="800" dirty="0" err="1" smtClean="0"/>
              <a:t>계약회차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계약업체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반송</a:t>
            </a:r>
            <a:r>
              <a:rPr lang="en-US" altLang="ko-KR" sz="800" dirty="0" smtClean="0"/>
              <a:t>/</a:t>
            </a:r>
            <a:r>
              <a:rPr lang="ko-KR" altLang="en-US" sz="800" dirty="0" smtClean="0"/>
              <a:t>취소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첨부서류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800" dirty="0" smtClean="0"/>
              <a:t>+</a:t>
            </a:r>
            <a:r>
              <a:rPr lang="ko-KR" altLang="en-US" sz="800" dirty="0" smtClean="0"/>
              <a:t>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해당 페이지에서 호출되는 이벤트 목록 표시</a:t>
            </a:r>
            <a:r>
              <a:rPr lang="en-US" altLang="ko-KR" sz="800" dirty="0" smtClean="0"/>
              <a:t> (</a:t>
            </a:r>
            <a:r>
              <a:rPr lang="ko-KR" altLang="en-US" sz="800" dirty="0" smtClean="0"/>
              <a:t>항목설명페이지 참고</a:t>
            </a:r>
            <a:r>
              <a:rPr lang="en-US" altLang="ko-KR" sz="800" dirty="0" smtClean="0"/>
              <a:t>)</a:t>
            </a:r>
          </a:p>
          <a:p>
            <a:pPr marL="228600" lvl="0" indent="-228600">
              <a:buFont typeface="+mj-lt"/>
              <a:buAutoNum type="arabicPeriod"/>
            </a:pPr>
            <a:r>
              <a:rPr lang="ko-KR" altLang="en-US" sz="800" dirty="0">
                <a:latin typeface="+mn-ea"/>
              </a:rPr>
              <a:t>출력물이 있는 계약의 경우</a:t>
            </a:r>
            <a:r>
              <a:rPr lang="en-US" altLang="ko-KR" sz="800" dirty="0">
                <a:latin typeface="+mn-ea"/>
              </a:rPr>
              <a:t/>
            </a:r>
            <a:br>
              <a:rPr lang="en-US" altLang="ko-KR" sz="800" dirty="0">
                <a:latin typeface="+mn-ea"/>
              </a:rPr>
            </a:br>
            <a:r>
              <a:rPr lang="en-US" altLang="ko-KR" sz="800" dirty="0">
                <a:latin typeface="+mn-ea"/>
              </a:rPr>
              <a:t>(UI-CT-01-R35)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공사도급계약서출력물</a:t>
            </a:r>
            <a:r>
              <a:rPr lang="en-US" altLang="ko-KR" sz="800" dirty="0">
                <a:latin typeface="+mn-ea"/>
              </a:rPr>
              <a:t>, (UI-CT-01-R36)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기술용역계약서출력물</a:t>
            </a:r>
            <a:endParaRPr lang="ko-KR" altLang="en-US" sz="800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7328" y="56881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60" name="직사각형 159"/>
          <p:cNvSpPr/>
          <p:nvPr/>
        </p:nvSpPr>
        <p:spPr>
          <a:xfrm>
            <a:off x="7066105" y="6072298"/>
            <a:ext cx="232502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92984153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078406" y="1483462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전자계약</a:t>
            </a:r>
            <a:r>
              <a:rPr lang="ko-KR" altLang="en-US" dirty="0"/>
              <a:t> 진행 상세정보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하자담보유무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계약시작일자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계약종료일자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낙찰자확정일자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입찰일자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2023"/>
              <a:chOff x="701175" y="1835481"/>
              <a:chExt cx="2630093" cy="4292023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9" name="직선 연결선 1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91276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90" name="직선 연결선 18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750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493785"/>
            <a:ext cx="792000" cy="8589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493784"/>
            <a:ext cx="893348" cy="82747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수정사유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관련근거</a:t>
            </a:r>
            <a:endParaRPr lang="en-US" altLang="ko-KR" sz="700" dirty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1493784"/>
            <a:ext cx="1768896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계약확정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기타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493784"/>
            <a:ext cx="2630093" cy="858960"/>
            <a:chOff x="701175" y="1835481"/>
            <a:chExt cx="2630093" cy="858960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36907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계약금액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직사각형 74"/>
          <p:cNvSpPr/>
          <p:nvPr/>
        </p:nvSpPr>
        <p:spPr>
          <a:xfrm>
            <a:off x="3838794" y="2620659"/>
            <a:ext cx="792000" cy="259792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6206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620660"/>
            <a:ext cx="67077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일반예산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국채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합계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총부기금액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계약보증금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지체상금률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공채매입금액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낙찰율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낙찰금액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예정금액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620660"/>
            <a:ext cx="1775839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0.15 </a:t>
            </a:r>
            <a:r>
              <a:rPr lang="en-US" altLang="ko-KR" sz="700" dirty="0" smtClean="0">
                <a:latin typeface="+mn-ea"/>
              </a:rPr>
              <a:t>%</a:t>
            </a:r>
          </a:p>
          <a:p>
            <a:pPr algn="r"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85176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06547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2791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4928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065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2030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3056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33713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5450463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6678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6678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217989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5790851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09395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09395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030677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국민주택채권</a:t>
            </a:r>
            <a:endParaRPr lang="en-US" altLang="ko-KR" sz="700" dirty="0" smtClean="0">
              <a:latin typeface="+mn-ea"/>
            </a:endParaRPr>
          </a:p>
          <a:p>
            <a:r>
              <a:rPr lang="ko-KR" altLang="en-US" sz="700" dirty="0" err="1" smtClean="0">
                <a:latin typeface="+mn-ea"/>
              </a:rPr>
              <a:t>매입금액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4084538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35649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57020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7839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9976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113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타원 105"/>
          <p:cNvSpPr/>
          <p:nvPr/>
        </p:nvSpPr>
        <p:spPr>
          <a:xfrm flipH="1">
            <a:off x="4487811" y="4084400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8" name="타원 107"/>
          <p:cNvSpPr/>
          <p:nvPr/>
        </p:nvSpPr>
        <p:spPr>
          <a:xfrm flipH="1">
            <a:off x="4487811" y="4409353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531280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3016211"/>
            <a:chOff x="3865118" y="2946203"/>
            <a:chExt cx="2630093" cy="3016211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30160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법인번호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Y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02-111-2222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123456-0123456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15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525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38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623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36818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08605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9433405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하자담보책임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입력된 데이터 출력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</a:t>
            </a:r>
            <a:r>
              <a:rPr lang="en-US" altLang="ko-KR" dirty="0" smtClean="0"/>
              <a:t>/</a:t>
            </a:r>
            <a:r>
              <a:rPr lang="ko-KR" altLang="en-US" dirty="0" smtClean="0"/>
              <a:t>수정 불가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데이터가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취소 사유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취소 사유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하자담보</a:t>
              </a:r>
              <a:r>
                <a:rPr lang="ko-KR" altLang="en-US" sz="700" dirty="0" smtClean="0">
                  <a:latin typeface="+mn-ea"/>
                </a:rPr>
                <a:t> 책임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" name="그룹 29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31" name="직선 연결선 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3" name="그룹 32"/>
          <p:cNvGrpSpPr/>
          <p:nvPr/>
        </p:nvGrpSpPr>
        <p:grpSpPr>
          <a:xfrm>
            <a:off x="716366" y="1794974"/>
            <a:ext cx="2630093" cy="861981"/>
            <a:chOff x="3865118" y="2946203"/>
            <a:chExt cx="2630093" cy="861981"/>
          </a:xfrm>
        </p:grpSpPr>
        <p:sp>
          <p:nvSpPr>
            <p:cNvPr id="34" name="직사각형 33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3" name="타원 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3914846"/>
            <a:ext cx="76863" cy="292489"/>
            <a:chOff x="3750067" y="4683795"/>
            <a:chExt cx="76863" cy="292489"/>
          </a:xfrm>
        </p:grpSpPr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6408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716366" y="2719772"/>
            <a:ext cx="2630093" cy="861981"/>
            <a:chOff x="3865118" y="2946203"/>
            <a:chExt cx="2630093" cy="861981"/>
          </a:xfrm>
        </p:grpSpPr>
        <p:sp>
          <p:nvSpPr>
            <p:cNvPr id="61" name="직사각형 60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56308749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41278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2580536" y="2429433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2576950" y="1984067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47" name="직사각형 46"/>
          <p:cNvSpPr/>
          <p:nvPr/>
        </p:nvSpPr>
        <p:spPr>
          <a:xfrm>
            <a:off x="2550244" y="4138618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48" name="직사각형 47"/>
          <p:cNvSpPr/>
          <p:nvPr/>
        </p:nvSpPr>
        <p:spPr>
          <a:xfrm>
            <a:off x="2546658" y="3718650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5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7078406" y="5997168"/>
            <a:ext cx="2312723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85103483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1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계약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6773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flwGrnteYn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nhbdPrchsAmt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업체담당자가 공사계약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체결시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제공되는 채권매입 방법 표시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추가요구사항 응용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1-06)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882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pbdbtPrchsAmt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89187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660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25165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0926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08896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02E1DB8-F6F5-C534-1A6D-D7F80258C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1443655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물품 전자계약 확정 상세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scsbdAmt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scbdrCfmtnYmd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prnmntAmt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prcsRsn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relBssCn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059877A-3CC3-E6D4-58A6-B1163CA1F20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30416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signYn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19851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1859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lctnAddr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1907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797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50801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D14D5940-6F9C-0A87-A5B5-9CEF2CC43956}"/>
              </a:ext>
            </a:extLst>
          </p:cNvPr>
          <p:cNvSpPr txBox="1"/>
          <p:nvPr/>
        </p:nvSpPr>
        <p:spPr>
          <a:xfrm>
            <a:off x="443054" y="3106375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91985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C4B992E-0D34-B491-EC60-09408F1C43C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12486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1BB7953-1B4E-5363-7419-3079AA3E810B}"/>
              </a:ext>
            </a:extLst>
          </p:cNvPr>
          <p:cNvSpPr txBox="1"/>
          <p:nvPr/>
        </p:nvSpPr>
        <p:spPr>
          <a:xfrm>
            <a:off x="443054" y="908027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하자담보책임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2F7AB1-B0D7-75BB-85F8-4645FB31274A}"/>
              </a:ext>
            </a:extLst>
          </p:cNvPr>
          <p:cNvSpPr txBox="1"/>
          <p:nvPr/>
        </p:nvSpPr>
        <p:spPr>
          <a:xfrm>
            <a:off x="433529" y="2258120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B63500A-7F51-C4ED-A5D2-D3616EEC8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8411" y="252061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57BCAB6-4ADD-90C9-1F9A-0A8162B6197B}"/>
              </a:ext>
            </a:extLst>
          </p:cNvPr>
          <p:cNvSpPr txBox="1"/>
          <p:nvPr/>
        </p:nvSpPr>
        <p:spPr>
          <a:xfrm>
            <a:off x="433529" y="3348096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B033FC2-E428-A273-2ACA-23E2DBCB7A6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8411" y="361058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D30D756-42E3-817C-1A16-E581F297D9FF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69296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599626"/>
              </p:ext>
            </p:extLst>
          </p:nvPr>
        </p:nvGraphicFramePr>
        <p:xfrm>
          <a:off x="453000" y="1009312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413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129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5410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719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출력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공사도급계약서출력물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기술용역계약서출력물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0944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첨부 서류 </a:t>
                      </a:r>
                      <a:r>
                        <a:rPr lang="en-US" altLang="ko-KR" sz="800" dirty="0"/>
                        <a:t>Tab – </a:t>
                      </a:r>
                      <a:r>
                        <a:rPr lang="ko-KR" altLang="en-US" sz="800" dirty="0" err="1"/>
                        <a:t>계약참조서류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파일 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scwin.btn_ctrtRfrncDcmntFileAtch_onclick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파일을 첨부하거나 첨부 삭제할 수 있는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(UI-CT-01-P22)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제출서류등록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계약진행상태가 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서류보완 필요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경우 서류 등록 버튼이 활성화됨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986177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100EC6CE-7C3A-6ABD-2B27-50C3C9F45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6018403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보증서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[</a:t>
                      </a:r>
                      <a:r>
                        <a:rPr lang="ko-KR" altLang="en-US" sz="500" u="none" strike="noStrike">
                          <a:effectLst/>
                        </a:rPr>
                        <a:t>구매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확인</a:t>
                      </a:r>
                      <a:r>
                        <a:rPr lang="en-US" altLang="ko-KR" sz="500" u="none" strike="noStrike">
                          <a:effectLst/>
                        </a:rPr>
                        <a:t>]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인지세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계약명세서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계약서표지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80-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51538098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물품총액계약서상세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물품총액계약서상세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263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486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48610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3880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32211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64" name="평행 사변형 263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5" name="TextBox 264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5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8883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/>
              <a:t>, </a:t>
            </a:r>
            <a:r>
              <a:rPr lang="ko-KR" altLang="en-US" sz="800" dirty="0" err="1"/>
              <a:t>계약명세서</a:t>
            </a:r>
            <a:r>
              <a:rPr lang="en-US" altLang="ko-KR" sz="800" dirty="0"/>
              <a:t>,</a:t>
            </a:r>
            <a:r>
              <a:rPr lang="ko-KR" altLang="en-US" sz="800" dirty="0"/>
              <a:t> </a:t>
            </a:r>
            <a:r>
              <a:rPr lang="ko-KR" altLang="en-US" sz="800" dirty="0" err="1"/>
              <a:t>특수조건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＋ 버튼 없음</a:t>
            </a:r>
            <a:endParaRPr lang="en-US" altLang="ko-KR" sz="800" dirty="0" smtClean="0"/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91" name="타원 19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</p:spTree>
    <p:extLst>
      <p:ext uri="{BB962C8B-B14F-4D97-AF65-F5344CB8AC3E}">
        <p14:creationId xmlns:p14="http://schemas.microsoft.com/office/powerpoint/2010/main" val="249878930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</a:t>
            </a:r>
            <a:r>
              <a:rPr lang="ko-KR" altLang="en-US" dirty="0" smtClean="0"/>
              <a:t>납부방법 </a:t>
            </a:r>
            <a:r>
              <a:rPr lang="en-US" altLang="ko-KR" dirty="0" smtClean="0"/>
              <a:t>: </a:t>
            </a:r>
            <a:r>
              <a:rPr lang="ko-KR" altLang="en-US" dirty="0" err="1">
                <a:latin typeface="+mn-ea"/>
              </a:rPr>
              <a:t>상위코드</a:t>
            </a:r>
            <a:r>
              <a:rPr lang="en-US" altLang="ko-KR" dirty="0">
                <a:latin typeface="+mn-ea"/>
              </a:rPr>
              <a:t>:</a:t>
            </a:r>
            <a:r>
              <a:rPr lang="en-US" altLang="ko-KR" dirty="0" smtClean="0">
                <a:latin typeface="+mn-ea"/>
              </a:rPr>
              <a:t>GMCC(</a:t>
            </a:r>
            <a:r>
              <a:rPr lang="ko-KR" altLang="en-US" dirty="0" smtClean="0">
                <a:latin typeface="+mn-ea"/>
              </a:rPr>
              <a:t>항목확인불가</a:t>
            </a:r>
            <a:r>
              <a:rPr lang="en-US" altLang="ko-KR" dirty="0" smtClean="0">
                <a:latin typeface="+mn-ea"/>
              </a:rPr>
              <a:t>)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677365"/>
            <a:chOff x="701175" y="1527996"/>
            <a:chExt cx="2630093" cy="267736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3621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362140"/>
              <a:chOff x="701175" y="1835481"/>
              <a:chExt cx="2630093" cy="23621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7996"/>
            <a:ext cx="2630093" cy="1759690"/>
            <a:chOff x="3865118" y="2694619"/>
            <a:chExt cx="2630093" cy="1759690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5062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4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57586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59645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709781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92716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92716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05016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6871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16871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26516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125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6278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8" name="직사각형 87"/>
          <p:cNvSpPr/>
          <p:nvPr/>
        </p:nvSpPr>
        <p:spPr>
          <a:xfrm>
            <a:off x="7077637" y="6036456"/>
            <a:ext cx="232593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납부방법 항목 추가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67053138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4955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65284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302158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600056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575368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24213150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8712562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5465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52681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792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75759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389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85678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1568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7524147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BC9D2BD-5C34-9D8A-E147-F2768EF82D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6893596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861416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2893688"/>
              </p:ext>
            </p:extLst>
          </p:nvPr>
        </p:nvGraphicFramePr>
        <p:xfrm>
          <a:off x="446645" y="1123906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47145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850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774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6777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76608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2584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2936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9927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615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1082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79785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9932721"/>
              </p:ext>
            </p:extLst>
          </p:nvPr>
        </p:nvGraphicFramePr>
        <p:xfrm>
          <a:off x="437936" y="106034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C9F9BEF-5874-BB52-4F5A-8386328260C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E3C279-1352-CBE1-480C-D01201F70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</a:t>
            </a:r>
            <a:r>
              <a:rPr lang="en-US" altLang="ko-KR" sz="700">
                <a:solidFill>
                  <a:prstClr val="black"/>
                </a:solidFill>
                <a:latin typeface="+mn-ea"/>
              </a:rPr>
              <a:t>Hidden     2) </a:t>
            </a:r>
            <a:r>
              <a:rPr lang="ko-KR" altLang="en-US" sz="70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301188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535657"/>
              </p:ext>
            </p:extLst>
          </p:nvPr>
        </p:nvGraphicFramePr>
        <p:xfrm>
          <a:off x="453000" y="100965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69342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37B7FB1-AFA2-0017-3371-A592DD8CF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9166739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물품단가계약서상세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물품단가계약서상세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물품단가계약서상세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단가제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76" name="그룹 17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7" name="그룹 17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81" name="그룹 18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85" name="타원 184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7" name="그룹 18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계약명세서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특수조건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－이벤트 항목 호출 없음</a:t>
            </a:r>
            <a:endParaRPr lang="en-US" altLang="ko-KR" sz="800" dirty="0" smtClean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</p:spTree>
    <p:extLst>
      <p:ext uri="{BB962C8B-B14F-4D97-AF65-F5344CB8AC3E}">
        <p14:creationId xmlns:p14="http://schemas.microsoft.com/office/powerpoint/2010/main" val="213015255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총액제와</a:t>
            </a:r>
            <a:r>
              <a:rPr lang="ko-KR" altLang="en-US" dirty="0" smtClean="0"/>
              <a:t> 부서명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조달판단번호가 상이함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납부방법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계약방법조회결과 </a:t>
            </a:r>
            <a:r>
              <a:rPr lang="ko-KR" altLang="en-US" dirty="0" err="1" smtClean="0"/>
              <a:t>상위코드</a:t>
            </a:r>
            <a:r>
              <a:rPr lang="ko-KR" altLang="en-US" dirty="0" smtClean="0"/>
              <a:t> </a:t>
            </a:r>
            <a:r>
              <a:rPr lang="en-US" altLang="ko-KR" dirty="0" smtClean="0"/>
              <a:t>,</a:t>
            </a:r>
            <a:r>
              <a:rPr lang="en-US" altLang="ko-KR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CTMC)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109321"/>
            <a:chOff x="701175" y="1527996"/>
            <a:chExt cx="2630093" cy="310932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단가제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000-0000-00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1836"/>
              <a:chOff x="701175" y="1835481"/>
              <a:chExt cx="2630093" cy="280183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57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3731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758408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3772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8070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39779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511127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2851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2851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85151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7005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7005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551377"/>
            <a:ext cx="2630093" cy="2190577"/>
            <a:chOff x="3865118" y="2694619"/>
            <a:chExt cx="2630093" cy="2190577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9336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63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213" y="15987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429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0" name="직사각형 89"/>
          <p:cNvSpPr/>
          <p:nvPr/>
        </p:nvSpPr>
        <p:spPr>
          <a:xfrm>
            <a:off x="7079461" y="6069668"/>
            <a:ext cx="2324109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납부방법 항목 추가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256452242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65284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302158"/>
            <a:ext cx="2630093" cy="3930141"/>
            <a:chOff x="3865118" y="2694619"/>
            <a:chExt cx="2630093" cy="393014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36785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986923"/>
              <a:ext cx="930144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fontAlgn="ctr"/>
              <a:r>
                <a:rPr lang="ko-KR" altLang="ko-KR" sz="700" dirty="0" err="1" smtClean="0"/>
                <a:t>항목번호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err="1" smtClean="0"/>
                <a:t>재고번호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smtClean="0"/>
                <a:t>품명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단위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수량</a:t>
              </a:r>
              <a:r>
                <a:rPr lang="en-US" altLang="ko-KR" sz="700" dirty="0">
                  <a:solidFill>
                    <a:srgbClr val="FF0000"/>
                  </a:solidFill>
                </a:rPr>
                <a:t>(</a:t>
              </a:r>
              <a:r>
                <a:rPr lang="ko-KR" altLang="ko-KR" sz="700" dirty="0">
                  <a:solidFill>
                    <a:srgbClr val="FF0000"/>
                  </a:solidFill>
                </a:rPr>
                <a:t>예정</a:t>
              </a:r>
              <a:r>
                <a:rPr lang="en-US" altLang="ko-KR" sz="700" dirty="0">
                  <a:solidFill>
                    <a:srgbClr val="FF0000"/>
                  </a:solidFill>
                </a:rPr>
                <a:t>)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단가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금액</a:t>
              </a:r>
              <a:r>
                <a:rPr lang="en-US" altLang="ko-KR" sz="700" dirty="0">
                  <a:solidFill>
                    <a:srgbClr val="FF0000"/>
                  </a:solidFill>
                </a:rPr>
                <a:t>(</a:t>
              </a:r>
              <a:r>
                <a:rPr lang="ko-KR" altLang="ko-KR" sz="700" dirty="0">
                  <a:solidFill>
                    <a:srgbClr val="FF0000"/>
                  </a:solidFill>
                </a:rPr>
                <a:t>예정</a:t>
              </a:r>
              <a:r>
                <a:rPr lang="en-US" altLang="ko-KR" sz="700" dirty="0">
                  <a:solidFill>
                    <a:srgbClr val="FF0000"/>
                  </a:solidFill>
                </a:rPr>
                <a:t>)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도면번호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규격번호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부품번호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검사형태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납기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납지</a:t>
              </a:r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납지수량</a:t>
              </a:r>
              <a:endParaRPr lang="ko-KR" altLang="ko-KR" sz="700" dirty="0">
                <a:solidFill>
                  <a:srgbClr val="FF0000"/>
                </a:solidFill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8405..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564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60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746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4884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0038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1408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611801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631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657921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575368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2" name="직사각형 71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계약명세정보 화면 추가</a:t>
            </a:r>
            <a:r>
              <a:rPr lang="en-US" altLang="ko-KR" sz="500" dirty="0" smtClean="0"/>
              <a:t/>
            </a:r>
            <a:br>
              <a:rPr lang="en-US" altLang="ko-KR" sz="500" dirty="0" smtClean="0"/>
            </a:br>
            <a:r>
              <a:rPr lang="ko-KR" altLang="en-US" sz="500" dirty="0" smtClean="0"/>
              <a:t>예산항목 삭제 외</a:t>
            </a:r>
            <a:r>
              <a:rPr lang="en-US" altLang="ko-KR" sz="500" dirty="0"/>
              <a:t/>
            </a:r>
            <a:br>
              <a:rPr lang="en-US" altLang="ko-KR" sz="500" dirty="0"/>
            </a:br>
            <a:r>
              <a:rPr lang="ko-KR" altLang="en-US" sz="500" dirty="0" smtClean="0"/>
              <a:t>항목 다수 변경 이슈로 </a:t>
            </a:r>
            <a:r>
              <a:rPr lang="en-US" altLang="ko-KR" sz="500" dirty="0" smtClean="0"/>
              <a:t>layout </a:t>
            </a:r>
            <a:r>
              <a:rPr lang="ko-KR" altLang="en-US" sz="500" dirty="0" smtClean="0"/>
              <a:t>변경사항 반영 필요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75099765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err="1" smtClean="0"/>
              <a:t>특수조건</a:t>
            </a:r>
            <a:r>
              <a:rPr lang="ko-KR" altLang="en-US" sz="500" dirty="0" smtClean="0"/>
              <a:t> 화면 추가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297724665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2974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577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188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3122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75621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494351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33758EB-5A32-E642-417C-8D4DA0CA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488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9692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421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699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6500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230602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11002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152226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5590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6965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94358646-C15E-A834-70D8-10265E460335}"/>
              </a:ext>
            </a:extLst>
          </p:cNvPr>
          <p:cNvSpPr txBox="1"/>
          <p:nvPr/>
        </p:nvSpPr>
        <p:spPr>
          <a:xfrm>
            <a:off x="443054" y="5780284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F81F8B0-A405-8059-A659-6D204CB173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604277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209005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8109792"/>
              </p:ext>
            </p:extLst>
          </p:nvPr>
        </p:nvGraphicFramePr>
        <p:xfrm>
          <a:off x="453000" y="101947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32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FE78B1-AD7B-1A69-C96D-5934E09FB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8403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99053" y="55850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77" name="모서리가 둥근 직사각형 176"/>
          <p:cNvSpPr/>
          <p:nvPr/>
        </p:nvSpPr>
        <p:spPr>
          <a:xfrm>
            <a:off x="3831550" y="6029382"/>
            <a:ext cx="2652743" cy="202917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3" name="그룹 152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4" name="그룹 153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3" name="타원 16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6" name="그룹 175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8" name="직선 연결선 17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계약명세서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특수조건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이벤트 항목 </a:t>
            </a:r>
            <a:r>
              <a:rPr lang="ko-KR" altLang="en-US" sz="800" dirty="0" err="1" smtClean="0"/>
              <a:t>바텀시트</a:t>
            </a:r>
            <a:r>
              <a:rPr lang="ko-KR" altLang="en-US" sz="800" dirty="0" smtClean="0"/>
              <a:t> 호출</a:t>
            </a:r>
            <a:endParaRPr lang="en-US" altLang="ko-KR" sz="800" dirty="0" smtClean="0"/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87" name="타원 18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7" name="직사각형 206"/>
          <p:cNvSpPr/>
          <p:nvPr/>
        </p:nvSpPr>
        <p:spPr>
          <a:xfrm>
            <a:off x="7066462" y="6072298"/>
            <a:ext cx="23246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물가변동계약금액조정방법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납품일자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납품장소</a:t>
            </a:r>
            <a:r>
              <a:rPr lang="ko-KR" altLang="en-US" sz="500" dirty="0" smtClean="0"/>
              <a:t> 누락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170508537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4" name="그룹 153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3" name="타원 16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6" name="그룹 175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8" name="직선 연결선 17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상세 기능이 있는 페이지에만 노출된다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1-1</a:t>
            </a:r>
            <a:r>
              <a:rPr lang="en-US" altLang="ko-KR" sz="800" dirty="0" smtClean="0"/>
              <a:t>] </a:t>
            </a:r>
            <a:r>
              <a:rPr lang="ko-KR" altLang="en-US" sz="800" dirty="0" err="1" smtClean="0"/>
              <a:t>계약명세서</a:t>
            </a:r>
            <a:r>
              <a:rPr lang="ko-KR" altLang="en-US" sz="800" dirty="0" smtClean="0"/>
              <a:t> 조회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en-US" altLang="ko-KR" sz="800" dirty="0">
                <a:latin typeface="+mn-ea"/>
              </a:rPr>
              <a:t> (MUI-CT-01-P10)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물품계약명세서</a:t>
            </a:r>
            <a:r>
              <a:rPr lang="en-US" altLang="ko-KR" sz="800" dirty="0">
                <a:latin typeface="+mn-ea"/>
              </a:rPr>
              <a:t>, (MUI-CT-01-P11)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물품최종계약명세서</a:t>
            </a:r>
            <a:r>
              <a:rPr lang="en-US" altLang="ko-KR" sz="800" dirty="0">
                <a:latin typeface="+mn-ea"/>
              </a:rPr>
              <a:t>, (MUI-CT-01-P12)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물품수정계약명세서</a:t>
            </a:r>
            <a:r>
              <a:rPr lang="en-US" altLang="ko-KR" sz="800" dirty="0">
                <a:latin typeface="+mn-ea"/>
              </a:rPr>
              <a:t>, (MUI-CT-01-P13)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물품일반계약명세서</a:t>
            </a:r>
            <a:endParaRPr lang="ko-KR" altLang="en-US" sz="800" dirty="0">
              <a:latin typeface="+mn-ea"/>
            </a:endParaRPr>
          </a:p>
          <a:p>
            <a:pPr marL="228600" lvl="0" indent="-228600">
              <a:buFont typeface="+mj-lt"/>
              <a:buAutoNum type="arabicPeriod"/>
            </a:pPr>
            <a:endParaRPr lang="en-US" altLang="ko-KR" sz="800" dirty="0"/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91685" y="5590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60997" y="1490952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23" name="그룹 222"/>
          <p:cNvGrpSpPr/>
          <p:nvPr/>
        </p:nvGrpSpPr>
        <p:grpSpPr>
          <a:xfrm>
            <a:off x="3723466" y="2945746"/>
            <a:ext cx="2749909" cy="3337178"/>
            <a:chOff x="7056452" y="5531684"/>
            <a:chExt cx="2749909" cy="3337178"/>
          </a:xfrm>
        </p:grpSpPr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625129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59252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438749" y="6285043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공지사항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7" name="타원 226"/>
            <p:cNvSpPr/>
            <p:nvPr/>
          </p:nvSpPr>
          <p:spPr>
            <a:xfrm>
              <a:off x="7202621" y="631638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8" name="그룹 227"/>
            <p:cNvGrpSpPr/>
            <p:nvPr/>
          </p:nvGrpSpPr>
          <p:grpSpPr>
            <a:xfrm>
              <a:off x="9562483" y="6398374"/>
              <a:ext cx="94010" cy="47005"/>
              <a:chOff x="6812560" y="3297172"/>
              <a:chExt cx="94010" cy="47005"/>
            </a:xfrm>
          </p:grpSpPr>
          <p:cxnSp>
            <p:nvCxnSpPr>
              <p:cNvPr id="341" name="직선 연결선 3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42" name="직선 연결선 34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83104" y="6730334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7480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6" name="그룹 235"/>
            <p:cNvGrpSpPr/>
            <p:nvPr/>
          </p:nvGrpSpPr>
          <p:grpSpPr>
            <a:xfrm>
              <a:off x="9343021" y="6692211"/>
              <a:ext cx="422853" cy="187961"/>
              <a:chOff x="3641308" y="2234886"/>
              <a:chExt cx="422853" cy="187961"/>
            </a:xfrm>
          </p:grpSpPr>
          <p:sp>
            <p:nvSpPr>
              <p:cNvPr id="330" name="타원 32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1" name="그룹 33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6" name="직선 연결선 33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9" name="직선 연결선 33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32" name="타원 33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3" name="그룹 33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4" name="직선 연결선 33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직선 연결선 33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00396" y="7053272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상세정보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38" name="그룹 237"/>
            <p:cNvGrpSpPr/>
            <p:nvPr/>
          </p:nvGrpSpPr>
          <p:grpSpPr>
            <a:xfrm flipV="1">
              <a:off x="9562483" y="7166603"/>
              <a:ext cx="94010" cy="47005"/>
              <a:chOff x="6812560" y="3297172"/>
              <a:chExt cx="94010" cy="47005"/>
            </a:xfrm>
          </p:grpSpPr>
          <p:cxnSp>
            <p:nvCxnSpPr>
              <p:cNvPr id="328" name="직선 연결선 32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9" name="직선 연결선 32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39" name="직사각형 238"/>
            <p:cNvSpPr/>
            <p:nvPr/>
          </p:nvSpPr>
          <p:spPr>
            <a:xfrm>
              <a:off x="7141518" y="7360757"/>
              <a:ext cx="792000" cy="14596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736075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8582" y="7360757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계약서 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85430" y="7360757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5918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8055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0192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2329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4466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6603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589361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67" name="그룹 266"/>
            <p:cNvGrpSpPr/>
            <p:nvPr/>
          </p:nvGrpSpPr>
          <p:grpSpPr>
            <a:xfrm rot="16200000">
              <a:off x="7669632" y="6046435"/>
              <a:ext cx="94010" cy="47005"/>
              <a:chOff x="6812560" y="3297172"/>
              <a:chExt cx="94010" cy="47005"/>
            </a:xfrm>
          </p:grpSpPr>
          <p:cxnSp>
            <p:nvCxnSpPr>
              <p:cNvPr id="326" name="직선 연결선 3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7" name="직선 연결선 3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23105" y="6016075"/>
              <a:ext cx="40086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입찰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0" name="타원 269"/>
            <p:cNvSpPr/>
            <p:nvPr/>
          </p:nvSpPr>
          <p:spPr>
            <a:xfrm>
              <a:off x="782297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7802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2" name="그룹 271"/>
            <p:cNvGrpSpPr/>
            <p:nvPr/>
          </p:nvGrpSpPr>
          <p:grpSpPr>
            <a:xfrm rot="16200000">
              <a:off x="8325743" y="6046435"/>
              <a:ext cx="94010" cy="47005"/>
              <a:chOff x="6812560" y="3297172"/>
              <a:chExt cx="94010" cy="47005"/>
            </a:xfrm>
          </p:grpSpPr>
          <p:cxnSp>
            <p:nvCxnSpPr>
              <p:cNvPr id="324" name="직선 연결선 32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5" name="직선 연결선 3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73" name="그룹 272"/>
            <p:cNvGrpSpPr/>
            <p:nvPr/>
          </p:nvGrpSpPr>
          <p:grpSpPr>
            <a:xfrm rot="16200000">
              <a:off x="8981855" y="6046435"/>
              <a:ext cx="94010" cy="47005"/>
              <a:chOff x="6812560" y="3297172"/>
              <a:chExt cx="94010" cy="47005"/>
            </a:xfrm>
          </p:grpSpPr>
          <p:cxnSp>
            <p:nvCxnSpPr>
              <p:cNvPr id="322" name="직선 연결선 3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3" name="직선 연결선 3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4" name="타원 273"/>
            <p:cNvSpPr/>
            <p:nvPr/>
          </p:nvSpPr>
          <p:spPr>
            <a:xfrm>
              <a:off x="716686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191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370285" y="6016075"/>
              <a:ext cx="39757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조달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8" name="그룹 277"/>
            <p:cNvGrpSpPr/>
            <p:nvPr/>
          </p:nvGrpSpPr>
          <p:grpSpPr>
            <a:xfrm>
              <a:off x="8477684" y="5975956"/>
              <a:ext cx="603798" cy="187961"/>
              <a:chOff x="2058749" y="3237230"/>
              <a:chExt cx="603798" cy="187961"/>
            </a:xfrm>
          </p:grpSpPr>
          <p:grpSp>
            <p:nvGrpSpPr>
              <p:cNvPr id="318" name="그룹 317"/>
              <p:cNvGrpSpPr/>
              <p:nvPr/>
            </p:nvGrpSpPr>
            <p:grpSpPr>
              <a:xfrm>
                <a:off x="2058749" y="3237230"/>
                <a:ext cx="187961" cy="187961"/>
                <a:chOff x="2058749" y="3237230"/>
                <a:chExt cx="187961" cy="187961"/>
              </a:xfrm>
            </p:grpSpPr>
            <p:sp>
              <p:nvSpPr>
                <p:cNvPr id="320" name="타원 319"/>
                <p:cNvSpPr/>
                <p:nvPr/>
              </p:nvSpPr>
              <p:spPr>
                <a:xfrm>
                  <a:off x="2058749" y="3237230"/>
                  <a:ext cx="187961" cy="187961"/>
                </a:xfrm>
                <a:prstGeom prst="ellipse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1" name="TextBox 320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113806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solidFill>
                        <a:schemeClr val="bg1"/>
                      </a:solidFill>
                      <a:latin typeface="+mn-ea"/>
                    </a:rPr>
                    <a:t>3</a:t>
                  </a:r>
                  <a:endParaRPr lang="ko-KR" altLang="en-US" sz="7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263899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계약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16881" y="6730334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35481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85" name="그룹 284"/>
            <p:cNvGrpSpPr/>
            <p:nvPr/>
          </p:nvGrpSpPr>
          <p:grpSpPr>
            <a:xfrm>
              <a:off x="9133795" y="5975956"/>
              <a:ext cx="603798" cy="187961"/>
              <a:chOff x="2714860" y="3237230"/>
              <a:chExt cx="603798" cy="187961"/>
            </a:xfrm>
          </p:grpSpPr>
          <p:grpSp>
            <p:nvGrpSpPr>
              <p:cNvPr id="314" name="그룹 313"/>
              <p:cNvGrpSpPr/>
              <p:nvPr/>
            </p:nvGrpSpPr>
            <p:grpSpPr>
              <a:xfrm>
                <a:off x="2714860" y="3237230"/>
                <a:ext cx="187961" cy="187961"/>
                <a:chOff x="2714860" y="3237230"/>
                <a:chExt cx="187961" cy="187961"/>
              </a:xfrm>
            </p:grpSpPr>
            <p:sp>
              <p:nvSpPr>
                <p:cNvPr id="316" name="타원 315"/>
                <p:cNvSpPr/>
                <p:nvPr/>
              </p:nvSpPr>
              <p:spPr>
                <a:xfrm>
                  <a:off x="2714860" y="3237230"/>
                  <a:ext cx="187961" cy="18796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7" name="TextBox 3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769917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latin typeface="+mn-ea"/>
                    </a:rPr>
                    <a:t>4</a:t>
                  </a:r>
                  <a:endParaRPr lang="ko-KR" altLang="en-US" sz="700" dirty="0">
                    <a:latin typeface="+mn-ea"/>
                  </a:endParaRPr>
                </a:p>
              </p:txBody>
            </p:sp>
          </p:grpSp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20010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이행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86" name="그룹 285"/>
            <p:cNvGrpSpPr/>
            <p:nvPr/>
          </p:nvGrpSpPr>
          <p:grpSpPr>
            <a:xfrm rot="5400000">
              <a:off x="9577913" y="5970247"/>
              <a:ext cx="187961" cy="187961"/>
              <a:chOff x="3876200" y="2234886"/>
              <a:chExt cx="187961" cy="187961"/>
            </a:xfrm>
          </p:grpSpPr>
          <p:sp>
            <p:nvSpPr>
              <p:cNvPr id="310" name="타원 30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11" name="그룹 31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12" name="직선 연결선 31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직선 연결선 31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7" name="양쪽 모서리가 둥근 사각형 286"/>
            <p:cNvSpPr/>
            <p:nvPr/>
          </p:nvSpPr>
          <p:spPr>
            <a:xfrm>
              <a:off x="7087364" y="5599752"/>
              <a:ext cx="2712027" cy="3215510"/>
            </a:xfrm>
            <a:prstGeom prst="round2SameRect">
              <a:avLst>
                <a:gd name="adj1" fmla="val 4887"/>
                <a:gd name="adj2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ko-KR" altLang="en-US" sz="700">
                <a:solidFill>
                  <a:srgbClr val="0F4294"/>
                </a:solidFill>
              </a:endParaRPr>
            </a:p>
          </p:txBody>
        </p:sp>
        <p:sp>
          <p:nvSpPr>
            <p:cNvPr id="290" name="모서리가 둥근 직사각형 289"/>
            <p:cNvSpPr/>
            <p:nvPr/>
          </p:nvSpPr>
          <p:spPr>
            <a:xfrm>
              <a:off x="8173377" y="5636379"/>
              <a:ext cx="540000" cy="4571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tx1"/>
                </a:solidFill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>
              <a:off x="9576303" y="5770795"/>
              <a:ext cx="94010" cy="94010"/>
              <a:chOff x="6812560" y="3297172"/>
              <a:chExt cx="94010" cy="94010"/>
            </a:xfrm>
          </p:grpSpPr>
          <p:cxnSp>
            <p:nvCxnSpPr>
              <p:cNvPr id="308" name="직선 연결선 30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16441" y="5751474"/>
              <a:ext cx="179875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900" dirty="0">
                  <a:latin typeface="+mn-ea"/>
                </a:rPr>
                <a:t> </a:t>
              </a:r>
              <a:endParaRPr lang="ko-KR" altLang="en-US" sz="900" dirty="0">
                <a:latin typeface="+mn-ea"/>
              </a:endParaRPr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87364" y="601287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22BC05EE-C648-7CA2-4CCC-6E1C1A7E9BDA}"/>
                </a:ext>
              </a:extLst>
            </p:cNvPr>
            <p:cNvGrpSpPr/>
            <p:nvPr/>
          </p:nvGrpSpPr>
          <p:grpSpPr>
            <a:xfrm>
              <a:off x="8424253" y="8281222"/>
              <a:ext cx="76863" cy="292489"/>
              <a:chOff x="3750067" y="4683795"/>
              <a:chExt cx="76863" cy="292489"/>
            </a:xfrm>
          </p:grpSpPr>
          <p:sp>
            <p:nvSpPr>
              <p:cNvPr id="305" name="타원 304">
                <a:extLst>
                  <a:ext uri="{FF2B5EF4-FFF2-40B4-BE49-F238E27FC236}">
                    <a16:creationId xmlns:a16="http://schemas.microsoft.com/office/drawing/2014/main" id="{B62EC5A9-8616-6B01-4FB1-D38CF6C29F0E}"/>
                  </a:ext>
                </a:extLst>
              </p:cNvPr>
              <p:cNvSpPr/>
              <p:nvPr/>
            </p:nvSpPr>
            <p:spPr>
              <a:xfrm>
                <a:off x="3750067" y="4683795"/>
                <a:ext cx="76863" cy="76863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306" name="타원 305">
                <a:extLst>
                  <a:ext uri="{FF2B5EF4-FFF2-40B4-BE49-F238E27FC236}">
                    <a16:creationId xmlns:a16="http://schemas.microsoft.com/office/drawing/2014/main" id="{0D32B1A6-219D-1D15-5FDD-889D3F5740C1}"/>
                  </a:ext>
                </a:extLst>
              </p:cNvPr>
              <p:cNvSpPr/>
              <p:nvPr/>
            </p:nvSpPr>
            <p:spPr>
              <a:xfrm>
                <a:off x="3750067" y="4791517"/>
                <a:ext cx="76863" cy="76863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307" name="타원 306">
                <a:extLst>
                  <a:ext uri="{FF2B5EF4-FFF2-40B4-BE49-F238E27FC236}">
                    <a16:creationId xmlns:a16="http://schemas.microsoft.com/office/drawing/2014/main" id="{F347D62C-1828-433E-F5ED-51C6591859DD}"/>
                  </a:ext>
                </a:extLst>
              </p:cNvPr>
              <p:cNvSpPr/>
              <p:nvPr/>
            </p:nvSpPr>
            <p:spPr>
              <a:xfrm>
                <a:off x="3750067" y="4899421"/>
                <a:ext cx="76863" cy="76863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</p:grpSp>
        <p:sp>
          <p:nvSpPr>
            <p:cNvPr id="297" name="타원 296">
              <a:extLst>
                <a:ext uri="{FF2B5EF4-FFF2-40B4-BE49-F238E27FC236}">
                  <a16:creationId xmlns:a16="http://schemas.microsoft.com/office/drawing/2014/main" id="{37A7FF4F-0EAA-1463-560A-D5EC24416103}"/>
                </a:ext>
              </a:extLst>
            </p:cNvPr>
            <p:cNvSpPr/>
            <p:nvPr/>
          </p:nvSpPr>
          <p:spPr>
            <a:xfrm>
              <a:off x="7056452" y="5531684"/>
              <a:ext cx="172130" cy="172130"/>
            </a:xfrm>
            <a:prstGeom prst="ellipse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500" dirty="0" smtClean="0"/>
                <a:t>1-1</a:t>
              </a:r>
              <a:endParaRPr lang="ko-KR" altLang="en-US" sz="900" dirty="0"/>
            </a:p>
          </p:txBody>
        </p:sp>
        <p:sp>
          <p:nvSpPr>
            <p:cNvPr id="300" name="모서리가 둥근 직사각형 40">
              <a:extLst>
                <a:ext uri="{FF2B5EF4-FFF2-40B4-BE49-F238E27FC236}">
                  <a16:creationId xmlns:a16="http://schemas.microsoft.com/office/drawing/2014/main" id="{3BE5C28A-F0C3-8BA2-3AC1-EFA405ADE137}"/>
                </a:ext>
              </a:extLst>
            </p:cNvPr>
            <p:cNvSpPr/>
            <p:nvPr/>
          </p:nvSpPr>
          <p:spPr bwMode="auto">
            <a:xfrm>
              <a:off x="7179667" y="6134416"/>
              <a:ext cx="2522014" cy="244350"/>
            </a:xfrm>
            <a:prstGeom prst="roundRect">
              <a:avLst/>
            </a:prstGeom>
            <a:solidFill>
              <a:srgbClr val="0F4294"/>
            </a:solidFill>
            <a:ln w="6350">
              <a:solidFill>
                <a:srgbClr val="0F4294"/>
              </a:solidFill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lIns="36000" rIns="36000" anchor="ctr"/>
            <a:lstStyle/>
            <a:p>
              <a:pPr algn="ctr">
                <a:defRPr/>
              </a:pPr>
              <a:r>
                <a:rPr lang="ko-KR" altLang="en-US" sz="700" dirty="0" err="1" smtClean="0">
                  <a:solidFill>
                    <a:schemeClr val="bg1"/>
                  </a:solidFill>
                  <a:latin typeface="+mn-ea"/>
                </a:rPr>
                <a:t>계약명세서</a:t>
              </a:r>
              <a:r>
                <a:rPr lang="ko-KR" altLang="en-US" sz="700" dirty="0" smtClean="0">
                  <a:solidFill>
                    <a:schemeClr val="bg1"/>
                  </a:solidFill>
                  <a:latin typeface="+mn-ea"/>
                </a:rPr>
                <a:t> 조회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8535946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490537"/>
            <a:chOff x="701175" y="1527996"/>
            <a:chExt cx="2630093" cy="249053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183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0000-0000-00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75049"/>
              <a:chOff x="701175" y="1835481"/>
              <a:chExt cx="2630093" cy="2175049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01053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6061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48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4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5449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78780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19168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771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737712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084763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1756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68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0" name="모서리가 둥근 직사각형 89"/>
          <p:cNvSpPr/>
          <p:nvPr/>
        </p:nvSpPr>
        <p:spPr>
          <a:xfrm>
            <a:off x="3831550" y="400437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2291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원가담당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122916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김길동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31550" y="438341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0196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01960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박길동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6820226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309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338580"/>
              </p:ext>
            </p:extLst>
          </p:nvPr>
        </p:nvGraphicFramePr>
        <p:xfrm>
          <a:off x="452999" y="1086853"/>
          <a:ext cx="8994883" cy="5091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ctrdocTpcd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249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169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dlvgdsPlcNm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09708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etcMttr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43259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5696956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816D957A-8E33-9E32-2D49-DCC116AAE1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016789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7556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3805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054531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1062786"/>
              </p:ext>
            </p:extLst>
          </p:nvPr>
        </p:nvGraphicFramePr>
        <p:xfrm>
          <a:off x="453000" y="1093483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(MUI-CT-01-P10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smtClean="0">
                          <a:latin typeface="+mn-ea"/>
                        </a:rPr>
                        <a:t>MUI-CT-01-P11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(MUI-CT-01-P12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(MUI-CT-01-P13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물품일반계약명세서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41770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77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7CBA703-636B-B2B8-E837-81A56606E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036020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공사계약서상세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공사계약서상세 </a:t>
            </a:r>
            <a:r>
              <a:rPr lang="ko-KR" altLang="en-US" dirty="0" smtClean="0"/>
              <a:t>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공사계약서상세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발주처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공사</a:t>
            </a:r>
            <a:endParaRPr lang="ko-KR" altLang="en-US" sz="600" dirty="0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8488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9822" y="225082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49594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50928" y="225082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0" name="그룹 159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2" name="그룹 16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6" name="타원 17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8" name="그룹 177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9" name="타원 178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0" name="그룹 179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2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하자담보책임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 연대보증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</a:t>
            </a:r>
            <a:endParaRPr lang="en-US" altLang="ko-KR" sz="800" dirty="0" smtClean="0"/>
          </a:p>
        </p:txBody>
      </p:sp>
      <p:sp>
        <p:nvSpPr>
          <p:cNvPr id="187" name="직사각형 186"/>
          <p:cNvSpPr/>
          <p:nvPr/>
        </p:nvSpPr>
        <p:spPr>
          <a:xfrm>
            <a:off x="7080202" y="6060844"/>
            <a:ext cx="2373139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수의계약사유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총부기금액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지체상금률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278992315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 상세정보업체정보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계약대상자 </a:t>
            </a:r>
            <a:r>
              <a:rPr lang="en-US" altLang="ko-KR" smtClean="0"/>
              <a:t>- </a:t>
            </a:r>
            <a:r>
              <a:rPr lang="ko-KR" altLang="en-US" smtClean="0"/>
              <a:t>업체정보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계약금액 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112730"/>
            <a:chOff x="701175" y="1527996"/>
            <a:chExt cx="2630093" cy="3112730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5245"/>
              <a:chOff x="701175" y="1835481"/>
              <a:chExt cx="2630093" cy="280524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9817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144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92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407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756922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3757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8055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39631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509641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2702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2702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85002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6857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6857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8794" y="1674935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617" y="17658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4276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2025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3495886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</p:spTree>
    <p:extLst>
      <p:ext uri="{BB962C8B-B14F-4D97-AF65-F5344CB8AC3E}">
        <p14:creationId xmlns:p14="http://schemas.microsoft.com/office/powerpoint/2010/main" val="60082184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하자담보책임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하자담보책임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하자담보책임</a:t>
            </a:r>
            <a:r>
              <a:rPr lang="ko-KR" altLang="en-US" dirty="0" smtClean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하자담보책임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하자담보</a:t>
              </a:r>
              <a:r>
                <a:rPr lang="ko-KR" altLang="en-US" sz="700" dirty="0" smtClean="0">
                  <a:latin typeface="+mn-ea"/>
                </a:rPr>
                <a:t> 책임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1794974"/>
            <a:ext cx="2630093" cy="1077219"/>
            <a:chOff x="3865118" y="2946203"/>
            <a:chExt cx="2630093" cy="1077219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45850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90210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0" name="그룹 109"/>
          <p:cNvGrpSpPr/>
          <p:nvPr/>
        </p:nvGrpSpPr>
        <p:grpSpPr>
          <a:xfrm>
            <a:off x="716366" y="2957797"/>
            <a:ext cx="2630093" cy="1078759"/>
            <a:chOff x="3865118" y="2946203"/>
            <a:chExt cx="2630093" cy="1078759"/>
          </a:xfrm>
        </p:grpSpPr>
        <p:sp>
          <p:nvSpPr>
            <p:cNvPr id="111" name="직사각형 110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49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972858040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연대보증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연대보증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연대보증</a:t>
            </a:r>
            <a:r>
              <a:rPr lang="ko-KR" altLang="en-US" dirty="0" smtClean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연대보증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527996"/>
            <a:ext cx="2456097" cy="215444"/>
            <a:chOff x="763157" y="1527996"/>
            <a:chExt cx="2456097" cy="215444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126648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1794974"/>
            <a:ext cx="2630093" cy="1942191"/>
            <a:chOff x="3865118" y="2946203"/>
            <a:chExt cx="2630093" cy="1942191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9389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00000-0000-00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559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96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31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3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52713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747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4249987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260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109740"/>
              </p:ext>
            </p:extLst>
          </p:nvPr>
        </p:nvGraphicFramePr>
        <p:xfrm>
          <a:off x="452999" y="914585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45788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49078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22745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bgncstYmd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6963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9322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9979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894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106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5023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85536B4-DF9E-4147-8663-8AD3E620F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2866318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7640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81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58169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4444876-DFBD-6F6B-8247-A084330C41BA}"/>
              </a:ext>
            </a:extLst>
          </p:cNvPr>
          <p:cNvSpPr txBox="1"/>
          <p:nvPr/>
        </p:nvSpPr>
        <p:spPr>
          <a:xfrm>
            <a:off x="458117" y="197921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하자담보책임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1F97DAE3-70C8-0008-F2B2-B1946099C61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6297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0FEFE26-A1AF-7BD6-E395-02A35A80D8FD}"/>
              </a:ext>
            </a:extLst>
          </p:cNvPr>
          <p:cNvSpPr txBox="1"/>
          <p:nvPr/>
        </p:nvSpPr>
        <p:spPr>
          <a:xfrm>
            <a:off x="458117" y="361606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연대보증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EF6DC8B-90DE-CA66-C644-BD341E795C4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89981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2990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8304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4077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59559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8053040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1744908"/>
              </p:ext>
            </p:extLst>
          </p:nvPr>
        </p:nvGraphicFramePr>
        <p:xfrm>
          <a:off x="453000" y="104577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2954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364423-B86A-4A19-7518-6915F57C6F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949038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물품수정계약서상세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물품수정계약서상세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물품수정계약서상세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수정계약사유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53139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계약특수조건 </a:t>
            </a: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324803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426516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4" name="타원 2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5" name="타원 2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4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247" name="직사각형 246"/>
          <p:cNvSpPr/>
          <p:nvPr/>
        </p:nvSpPr>
        <p:spPr>
          <a:xfrm>
            <a:off x="7066462" y="6100910"/>
            <a:ext cx="23246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금액</a:t>
            </a:r>
            <a:r>
              <a:rPr lang="en-US" altLang="ko-KR" sz="500" dirty="0" smtClean="0"/>
              <a:t>),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납지수량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부품번호</a:t>
            </a:r>
            <a:r>
              <a:rPr lang="ko-KR" altLang="en-US" sz="500" dirty="0" smtClean="0"/>
              <a:t> 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113735690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smtClean="0"/>
              <a:t>물품수정계약서상세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</a:t>
              </a:r>
              <a:r>
                <a:rPr lang="en-US" altLang="ko-KR" sz="700" dirty="0" smtClean="0">
                  <a:latin typeface="+mn-ea"/>
                </a:rPr>
                <a:t>000000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185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63917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752507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09289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21143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21143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527996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3610205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363915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10704898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수정계약명세정보서</a:t>
            </a:r>
            <a:r>
              <a:rPr lang="ko-KR" altLang="en-US" dirty="0" smtClean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26175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268344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으로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장기국채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1790858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527996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7866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78321570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93244673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공사 계약의 진행 상태 이력을 </a:t>
            </a:r>
            <a:r>
              <a:rPr lang="ko-KR" altLang="en-US" dirty="0" smtClean="0"/>
              <a:t>조회하기위한화면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내역 조회만 가능하고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클릭 불가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계약진행상태조회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계약의 </a:t>
            </a:r>
            <a:r>
              <a:rPr lang="ko-KR" altLang="en-US" dirty="0" smtClean="0"/>
              <a:t>계약진행상태조회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계약진행상태조회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계약진행상태조회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6" y="2540582"/>
            <a:ext cx="125084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계약진행</a:t>
            </a:r>
            <a:r>
              <a:rPr lang="ko-KR" altLang="en-US" sz="700" dirty="0">
                <a:latin typeface="+mn-ea"/>
              </a:rPr>
              <a:t> 현황 이력 </a:t>
            </a:r>
            <a:r>
              <a:rPr lang="ko-KR" altLang="en-US" sz="700" dirty="0" smtClean="0">
                <a:latin typeface="+mn-ea"/>
              </a:rPr>
              <a:t>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2868504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처리상태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1" y="2868504"/>
            <a:ext cx="878121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업체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처리일시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01807" y="299150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11005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계약서작성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056189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000000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701807" y="338309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50164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서류요청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447780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ㅌㅌㅌ부대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92" name="모서리가 둥근 직사각형 91"/>
          <p:cNvSpPr/>
          <p:nvPr/>
        </p:nvSpPr>
        <p:spPr>
          <a:xfrm>
            <a:off x="701807" y="377063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88917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서류등록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835318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A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업체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4493844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4" name="그룹 33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216557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636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0118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mdfcnCtrtIncrsAmt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diffAmt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depsSecd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0A3D08A-E02C-D6E2-2997-258DEBA43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560D2D5-52EA-E497-A4A3-A5826A422228}"/>
              </a:ext>
            </a:extLst>
          </p:cNvPr>
          <p:cNvSpPr txBox="1"/>
          <p:nvPr/>
        </p:nvSpPr>
        <p:spPr>
          <a:xfrm>
            <a:off x="458117" y="4913825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518D26-28C4-93AA-A3EE-8A8F998D4E7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19757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942336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811333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2505"/>
          <a:ext cx="8994883" cy="4388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36048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958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6163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551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6715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644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016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255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9770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67620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61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80013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8999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1280999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E07BFCFD-35D9-346C-8E60-BD520ADC815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288041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806304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687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spclCnd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8B044B1-EC91-0F8A-BB80-43B220D14079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310219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3145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5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scwin.btn_list_onclick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계약통합목록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(UI-CT-01-M01)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계약통합목록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11868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71522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804EAA8-7415-C097-8F47-2A068BB34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25450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2112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7419"/>
            <a:ext cx="243873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계약현황 이력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23904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계약진행 이력 정보로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402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prcsSbsdBzenty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15D8B50-64DA-702A-AE42-0CB4E33D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16436581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1175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사단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사단 주차장 신축 자재 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85" name="직사각형 84"/>
          <p:cNvSpPr/>
          <p:nvPr/>
        </p:nvSpPr>
        <p:spPr>
          <a:xfrm>
            <a:off x="7095103" y="6080144"/>
            <a:ext cx="23084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</a:t>
            </a:r>
            <a:r>
              <a:rPr lang="ko-KR" altLang="en-US" sz="500" dirty="0" err="1" smtClean="0"/>
              <a:t>군급</a:t>
            </a:r>
            <a:r>
              <a:rPr lang="en-US" altLang="ko-KR" sz="500" dirty="0" smtClean="0"/>
              <a:t>-</a:t>
            </a:r>
            <a:r>
              <a:rPr lang="ko-KR" altLang="en-US" sz="500" dirty="0" err="1" smtClean="0"/>
              <a:t>재고번호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적용장비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참조번호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414659711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706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bizTpcd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:ETC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0B2F06DC-C013-D484-631D-AAC3502694F9}"/>
              </a:ext>
            </a:extLst>
          </p:cNvPr>
          <p:cNvSpPr txBox="1"/>
          <p:nvPr/>
        </p:nvSpPr>
        <p:spPr>
          <a:xfrm>
            <a:off x="460676" y="314749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217390-69BE-491E-7735-07C4C70914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0106415"/>
              </p:ext>
            </p:extLst>
          </p:nvPr>
        </p:nvGraphicFramePr>
        <p:xfrm>
          <a:off x="455558" y="3431246"/>
          <a:ext cx="8994883" cy="2908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2015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377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8259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92210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633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44082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282F2FE-A152-2E47-3D33-B1E64CFF0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8469499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114ADAF-CBF0-F775-85F9-8D58158A7D23}"/>
              </a:ext>
            </a:extLst>
          </p:cNvPr>
          <p:cNvSpPr txBox="1"/>
          <p:nvPr/>
        </p:nvSpPr>
        <p:spPr>
          <a:xfrm>
            <a:off x="460676" y="823392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21211B-3228-76E0-A845-A1D6C3C6A0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852725"/>
              </p:ext>
            </p:extLst>
          </p:nvPr>
        </p:nvGraphicFramePr>
        <p:xfrm>
          <a:off x="455558" y="110714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도면번호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717C1911-6DC8-ADE5-D601-34D67D39DCA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575472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7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88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B442A5E-83C5-8E99-586C-33EBA13DA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8654009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물품최종계약명세서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최종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물품최종계약명세서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물품최종계약명세서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2406021"/>
            <a:chOff x="3865118" y="2694619"/>
            <a:chExt cx="2630093" cy="240602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2154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ko-KR" altLang="en-US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0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43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04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5134301"/>
            <a:ext cx="76863" cy="292489"/>
            <a:chOff x="3750067" y="4683795"/>
            <a:chExt cx="76863" cy="292489"/>
          </a:xfrm>
        </p:grpSpPr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3" name="타원 9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23653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2658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18375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7495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35B4B537-BC84-C121-3CA4-CB3B4D88D5D9}"/>
              </a:ext>
            </a:extLst>
          </p:cNvPr>
          <p:cNvSpPr txBox="1"/>
          <p:nvPr/>
        </p:nvSpPr>
        <p:spPr>
          <a:xfrm>
            <a:off x="458117" y="34839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0936383-D527-CFB3-4A4A-189AAAB6E8D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37620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2FD51AA-DD27-1E65-2182-1C9E70AD4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109644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물품수정계약명세서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수정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물품수정계약명세서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275406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물품수정계약명세서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물품수정계약명세서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2540582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수정계약차수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</a:t>
              </a:r>
              <a:r>
                <a:rPr lang="en-US" altLang="ko-KR" sz="700" dirty="0" smtClean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사단 주차장 신축 자재 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833068" y="2511680"/>
            <a:ext cx="2630093" cy="3946281"/>
            <a:chOff x="3836701" y="3418175"/>
            <a:chExt cx="2630093" cy="3946281"/>
          </a:xfrm>
        </p:grpSpPr>
        <p:sp>
          <p:nvSpPr>
            <p:cNvPr id="166" name="직사각형 165"/>
            <p:cNvSpPr/>
            <p:nvPr/>
          </p:nvSpPr>
          <p:spPr>
            <a:xfrm>
              <a:off x="3838794" y="3671135"/>
              <a:ext cx="792000" cy="35453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367113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71137"/>
              <a:ext cx="670770" cy="36639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순번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구분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조달요구번호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군급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재고번호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군구분</a:t>
              </a:r>
              <a:endParaRPr lang="en-US" altLang="ko-KR" sz="600" dirty="0" smtClean="0">
                <a:latin typeface="+mn-ea"/>
              </a:endParaRPr>
            </a:p>
            <a:p>
              <a:pPr fontAlgn="ctr"/>
              <a:endParaRPr lang="en-US" altLang="ko-KR" sz="600" dirty="0" smtClean="0">
                <a:latin typeface="+mn-ea"/>
              </a:endParaRPr>
            </a:p>
            <a:p>
              <a:pPr fontAlgn="ctr"/>
              <a:r>
                <a:rPr lang="ko-KR" altLang="en-US" sz="600" dirty="0" smtClean="0">
                  <a:latin typeface="+mn-ea"/>
                </a:rPr>
                <a:t>품명</a:t>
              </a:r>
              <a:r>
                <a:rPr lang="ko-KR" altLang="ko-KR" sz="600" dirty="0" smtClean="0"/>
                <a:t>예산구분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사업</a:t>
              </a:r>
              <a:r>
                <a:rPr lang="en-US" altLang="ko-KR" sz="600" dirty="0"/>
                <a:t>ID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단위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수량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금액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단가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규격번호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납지별수량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증감내역</a:t>
              </a:r>
              <a:r>
                <a:rPr lang="en-US" altLang="ko-KR" sz="600" dirty="0"/>
                <a:t>(</a:t>
              </a:r>
              <a:r>
                <a:rPr lang="ko-KR" altLang="ko-KR" sz="600" dirty="0"/>
                <a:t>수량</a:t>
              </a:r>
              <a:r>
                <a:rPr lang="en-US" altLang="ko-KR" sz="600" dirty="0"/>
                <a:t>)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증감내역</a:t>
              </a:r>
              <a:r>
                <a:rPr lang="en-US" altLang="ko-KR" sz="600" dirty="0"/>
                <a:t>(</a:t>
              </a:r>
              <a:r>
                <a:rPr lang="ko-KR" altLang="ko-KR" sz="600" dirty="0"/>
                <a:t>금액</a:t>
              </a:r>
              <a:r>
                <a:rPr lang="en-US" altLang="ko-KR" sz="600" dirty="0"/>
                <a:t>)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검사형태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납기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납지</a:t>
              </a:r>
              <a:endParaRPr lang="ko-KR" altLang="ko-KR" sz="600" dirty="0"/>
            </a:p>
            <a:p>
              <a:pPr>
                <a:lnSpc>
                  <a:spcPct val="200000"/>
                </a:lnSpc>
              </a:pP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3671137"/>
              <a:ext cx="1775839" cy="36933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으로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600" dirty="0">
                  <a:latin typeface="+mn-ea"/>
                </a:rPr>
                <a:t>MWDW</a:t>
              </a:r>
              <a:r>
                <a:rPr lang="en-US" altLang="ko-KR" sz="6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육군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>
                  <a:latin typeface="+mn-ea"/>
                </a:rPr>
                <a:t>일반우의</a:t>
              </a:r>
              <a:r>
                <a:rPr lang="en-US" altLang="ko-KR" sz="6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6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63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542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0977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69283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423443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26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5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480159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941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84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535718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5497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7402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59243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1168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3074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646449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6570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8475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700850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72010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6" name="그룹 85"/>
          <p:cNvGrpSpPr/>
          <p:nvPr/>
        </p:nvGrpSpPr>
        <p:grpSpPr>
          <a:xfrm>
            <a:off x="712771" y="3660811"/>
            <a:ext cx="2633688" cy="1374730"/>
            <a:chOff x="712771" y="2302158"/>
            <a:chExt cx="2633688" cy="1374730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4" name="그룹 93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137" name="직사각형 13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직사각형 13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직사각형 13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직사각형 14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0" name="직사각형 149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20" name="직사각형 11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1" name="직사각형 12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5" name="직사각형 13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6" name="직사각형 13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7" name="그룹 96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04" name="직사각형 103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직사각형 104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직사각형 109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9" name="그룹 98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00" name="직사각형 9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1" name="직사각형 10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직사각형 10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3" name="직사각형 10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89" y="1493927"/>
            <a:ext cx="2712027" cy="4890000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 </a:t>
            </a:r>
            <a:r>
              <a:rPr lang="ko-KR" altLang="en-US" sz="500" dirty="0" err="1" smtClean="0"/>
              <a:t>예산구분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373122457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물품수정계약명세서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수정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물품수정계약명세서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물품수정계약명세서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5471369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3276905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80096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증감내역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수량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증감내역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금액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32258" y="2574946"/>
              <a:ext cx="169901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00,000 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+ 00,000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계약품목</a:t>
              </a:r>
              <a:r>
                <a:rPr lang="ko-KR" altLang="en-US" sz="700" dirty="0" smtClean="0">
                  <a:latin typeface="+mn-ea"/>
                </a:rPr>
                <a:t> 합계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2790216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36614499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19369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038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821181C-9131-A26F-D5C0-73725DEEC0F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50771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25650B4-924F-3571-B2B1-D6A167063699}"/>
              </a:ext>
            </a:extLst>
          </p:cNvPr>
          <p:cNvSpPr txBox="1"/>
          <p:nvPr/>
        </p:nvSpPr>
        <p:spPr>
          <a:xfrm>
            <a:off x="458117" y="22811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12DA7579-1E55-1146-508C-B4923F931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5860321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91747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6649319"/>
              </p:ext>
            </p:extLst>
          </p:nvPr>
        </p:nvGraphicFramePr>
        <p:xfrm>
          <a:off x="452999" y="1201226"/>
          <a:ext cx="8994883" cy="4000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55441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342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7372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2232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633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0327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3268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93729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00319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439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33498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spcfctNo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09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inspShp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8C0E63E-246C-7F09-7A6E-FC69AA82CD21}"/>
              </a:ext>
            </a:extLst>
          </p:cNvPr>
          <p:cNvSpPr txBox="1"/>
          <p:nvPr/>
        </p:nvSpPr>
        <p:spPr>
          <a:xfrm>
            <a:off x="458117" y="52433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품목합계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4E68CE1-BF56-1D3A-3FCE-A191189517D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45093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sumQ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qtyIcdcDsctn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sumAmtIcdcDsctn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18E2EE5-346E-DA77-78BD-0DE0432FD8DB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964237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240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수정계약명세서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961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78FC3B21-2668-48C7-3DF7-C256E43E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34041111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직사각형 8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711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물품일반계약명세서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</a:t>
            </a:r>
            <a:r>
              <a:rPr lang="ko-KR" altLang="en-US" dirty="0" err="1" smtClean="0"/>
              <a:t>일반계약의</a:t>
            </a:r>
            <a:r>
              <a:rPr lang="ko-KR" altLang="en-US" dirty="0" smtClean="0"/>
              <a:t>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물품일반계약명세서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MUI-CT-01-P14</a:t>
            </a:r>
            <a:endParaRPr lang="ko-KR" alt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물품일반계약명세서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물품일반계약명세서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7999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사단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사단 주차장 신축 자재 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89" name="직사각형 88"/>
          <p:cNvSpPr/>
          <p:nvPr/>
        </p:nvSpPr>
        <p:spPr>
          <a:xfrm>
            <a:off x="7059758" y="6036541"/>
            <a:ext cx="2343812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260623 - </a:t>
            </a:r>
            <a:r>
              <a:rPr lang="ko-KR" altLang="en-US" sz="500" dirty="0" err="1" smtClean="0"/>
              <a:t>군급</a:t>
            </a:r>
            <a:r>
              <a:rPr lang="en-US" altLang="ko-KR" sz="500" dirty="0" smtClean="0"/>
              <a:t>-</a:t>
            </a:r>
            <a:r>
              <a:rPr lang="ko-KR" altLang="en-US" sz="500" dirty="0" err="1" smtClean="0"/>
              <a:t>재고번호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참조번호</a:t>
            </a:r>
            <a:r>
              <a:rPr lang="en-US" altLang="ko-KR" sz="500" dirty="0" smtClean="0"/>
              <a:t>, </a:t>
            </a:r>
          </a:p>
        </p:txBody>
      </p:sp>
    </p:spTree>
    <p:extLst>
      <p:ext uri="{BB962C8B-B14F-4D97-AF65-F5344CB8AC3E}">
        <p14:creationId xmlns:p14="http://schemas.microsoft.com/office/powerpoint/2010/main" val="309910381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5525964"/>
              </p:ext>
            </p:extLst>
          </p:nvPr>
        </p:nvGraphicFramePr>
        <p:xfrm>
          <a:off x="452999" y="1117060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990789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145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638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48208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40066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8738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5276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7668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1167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10D3AD7-C158-2B79-0172-EB4AC78F39E1}"/>
              </a:ext>
            </a:extLst>
          </p:cNvPr>
          <p:cNvSpPr txBox="1"/>
          <p:nvPr/>
        </p:nvSpPr>
        <p:spPr>
          <a:xfrm>
            <a:off x="458117" y="49602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BD8AFFD-7F02-1064-CE8E-9D4BC78CA5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523841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물품계약명세서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984280-7ED6-ECD5-5D22-CEB6C0F69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0978601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상단 </a:t>
            </a:r>
            <a:r>
              <a:rPr lang="ko-KR" altLang="en-US" sz="600" dirty="0" err="1"/>
              <a:t>업무도움은</a:t>
            </a:r>
            <a:r>
              <a:rPr lang="ko-KR" altLang="en-US" sz="600" dirty="0"/>
              <a:t> 기본 값으로 접힘 상태로 정보 제공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기본값 </a:t>
            </a:r>
            <a:r>
              <a:rPr lang="en-US" altLang="ko-KR" sz="600" dirty="0"/>
              <a:t>: </a:t>
            </a:r>
            <a:r>
              <a:rPr lang="ko-KR" altLang="en-US" sz="600" dirty="0"/>
              <a:t>접힘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사용자 </a:t>
            </a:r>
            <a:r>
              <a:rPr lang="ko-KR" altLang="en-US" sz="600" dirty="0" err="1"/>
              <a:t>클릭시</a:t>
            </a:r>
            <a:r>
              <a:rPr lang="ko-KR" altLang="en-US" sz="600" dirty="0"/>
              <a:t> 확장하여 정보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업무도움</a:t>
            </a:r>
            <a:r>
              <a:rPr lang="en-US" altLang="ko-KR" sz="600" dirty="0"/>
              <a:t> &gt; </a:t>
            </a:r>
            <a:r>
              <a:rPr lang="ko-KR" altLang="en-US" sz="600" dirty="0"/>
              <a:t>내역이 있는 경우 표시</a:t>
            </a:r>
            <a:r>
              <a:rPr lang="en-US" altLang="ko-KR" sz="600" dirty="0"/>
              <a:t>, </a:t>
            </a:r>
            <a:r>
              <a:rPr lang="ko-KR" altLang="en-US" sz="600" dirty="0"/>
              <a:t>내역이 없으면 항목을 표시하지 않음</a:t>
            </a:r>
            <a:r>
              <a:rPr lang="en-US" altLang="ko-KR" sz="600" dirty="0"/>
              <a:t>.</a:t>
            </a:r>
            <a:br>
              <a:rPr lang="en-US" altLang="ko-KR" sz="600" dirty="0"/>
            </a:b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err="1" smtClean="0"/>
              <a:t>검색필터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2-1] </a:t>
            </a:r>
            <a:r>
              <a:rPr lang="ko-KR" altLang="en-US" sz="600" dirty="0" smtClean="0"/>
              <a:t>통합참조정보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예약번호중</a:t>
            </a:r>
            <a:r>
              <a:rPr lang="ko-KR" altLang="en-US" sz="600" dirty="0" smtClean="0"/>
              <a:t> 선택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2-2] </a:t>
            </a:r>
            <a:r>
              <a:rPr lang="ko-KR" altLang="en-US" sz="600" dirty="0" err="1" smtClean="0"/>
              <a:t>검색어</a:t>
            </a:r>
            <a:r>
              <a:rPr lang="ko-KR" altLang="en-US" sz="600" dirty="0" smtClean="0"/>
              <a:t> 입력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>
                <a:latin typeface="+mn-ea"/>
              </a:rPr>
              <a:t>검색 필터 호출</a:t>
            </a:r>
            <a:r>
              <a:rPr lang="en-US" altLang="ko-KR" sz="600" dirty="0" smtClean="0">
                <a:latin typeface="+mn-ea"/>
              </a:rPr>
              <a:t/>
            </a:r>
            <a:br>
              <a:rPr lang="en-US" altLang="ko-KR" sz="600" dirty="0" smtClean="0">
                <a:latin typeface="+mn-ea"/>
              </a:rPr>
            </a:br>
            <a:r>
              <a:rPr lang="ko-KR" altLang="en-US" sz="600" dirty="0" smtClean="0">
                <a:latin typeface="+mn-ea"/>
              </a:rPr>
              <a:t> </a:t>
            </a:r>
            <a:r>
              <a:rPr lang="en-US" altLang="ko-KR" sz="600" dirty="0" smtClean="0">
                <a:latin typeface="+mn-ea"/>
              </a:rPr>
              <a:t>– </a:t>
            </a:r>
            <a:r>
              <a:rPr lang="ko-KR" altLang="en-US" sz="600" dirty="0" smtClean="0">
                <a:latin typeface="+mn-ea"/>
              </a:rPr>
              <a:t>계약 페이지 참고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/>
              <a:t>표시 </a:t>
            </a:r>
            <a:r>
              <a:rPr lang="ko-KR" altLang="en-US" sz="600" dirty="0"/>
              <a:t>개수 영역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총 개수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4-1] </a:t>
            </a:r>
            <a:r>
              <a:rPr lang="ko-KR" altLang="en-US" sz="600" dirty="0" smtClean="0"/>
              <a:t>표시 </a:t>
            </a:r>
            <a:r>
              <a:rPr lang="ko-KR" altLang="en-US" sz="600" dirty="0"/>
              <a:t>개수 </a:t>
            </a:r>
            <a:r>
              <a:rPr lang="en-US" altLang="ko-KR" sz="600" dirty="0"/>
              <a:t>(</a:t>
            </a:r>
            <a:r>
              <a:rPr lang="ko-KR" altLang="en-US" sz="600" dirty="0"/>
              <a:t>선택한 건수 만큼 보여주고 </a:t>
            </a:r>
            <a:r>
              <a:rPr lang="ko-KR" altLang="en-US" sz="600" dirty="0" err="1"/>
              <a:t>더보기시</a:t>
            </a:r>
            <a:r>
              <a:rPr lang="ko-KR" altLang="en-US" sz="600" dirty="0"/>
              <a:t> 추가로 불러옴</a:t>
            </a:r>
            <a:r>
              <a:rPr lang="en-US" altLang="ko-KR" sz="6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/>
              <a:t>목록 </a:t>
            </a:r>
            <a:r>
              <a:rPr lang="ko-KR" altLang="en-US" sz="600" dirty="0"/>
              <a:t>카드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ko-KR" altLang="en-US" sz="600" dirty="0" smtClean="0"/>
              <a:t>레이블이 </a:t>
            </a:r>
            <a:r>
              <a:rPr lang="ko-KR" altLang="en-US" sz="600" dirty="0"/>
              <a:t>화면을 넘치는 경우 드래그하여 확인 가능 </a:t>
            </a:r>
            <a:r>
              <a:rPr lang="en-US" altLang="ko-KR" sz="600" dirty="0"/>
              <a:t>(</a:t>
            </a:r>
            <a:r>
              <a:rPr lang="ko-KR" altLang="en-US" sz="600" dirty="0" err="1"/>
              <a:t>스와이프기능</a:t>
            </a:r>
            <a:r>
              <a:rPr lang="ko-KR" altLang="en-US" sz="600" dirty="0"/>
              <a:t> 반영 필요</a:t>
            </a:r>
            <a:r>
              <a:rPr lang="en-US" altLang="ko-KR" sz="600" dirty="0"/>
              <a:t>)</a:t>
            </a:r>
            <a:br>
              <a:rPr lang="en-US" altLang="ko-KR" sz="600" dirty="0"/>
            </a:br>
            <a:r>
              <a:rPr lang="en-US" altLang="ko-KR" sz="600" dirty="0" smtClean="0"/>
              <a:t>5-1</a:t>
            </a:r>
            <a:r>
              <a:rPr lang="en-US" altLang="ko-KR" sz="600" dirty="0"/>
              <a:t>] </a:t>
            </a:r>
            <a:r>
              <a:rPr lang="ko-KR" altLang="en-US" sz="600" dirty="0" err="1"/>
              <a:t>표시레이블</a:t>
            </a:r>
            <a:r>
              <a:rPr lang="ko-KR" altLang="en-US" sz="600" dirty="0"/>
              <a:t> 영역 </a:t>
            </a:r>
            <a:r>
              <a:rPr lang="ko-KR" altLang="en-US" sz="600" dirty="0" smtClean="0"/>
              <a:t>항목 </a:t>
            </a:r>
            <a:r>
              <a:rPr lang="ko-KR" altLang="en-US" sz="600" dirty="0" err="1" smtClean="0"/>
              <a:t>항목</a:t>
            </a:r>
            <a:r>
              <a:rPr lang="ko-KR" altLang="en-US" sz="600" dirty="0" smtClean="0"/>
              <a:t> 확인 필요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업무구분</a:t>
            </a:r>
            <a:r>
              <a:rPr lang="ko-KR" altLang="en-US" sz="600" dirty="0"/>
              <a:t> </a:t>
            </a:r>
            <a:r>
              <a:rPr lang="en-US" altLang="ko-KR" sz="600" dirty="0"/>
              <a:t>:  </a:t>
            </a:r>
            <a:r>
              <a:rPr lang="ko-KR" altLang="en-US" sz="600" dirty="0"/>
              <a:t>전체</a:t>
            </a:r>
            <a:r>
              <a:rPr lang="en-US" altLang="ko-KR" sz="600" dirty="0"/>
              <a:t>, </a:t>
            </a:r>
            <a:r>
              <a:rPr lang="ko-KR" altLang="en-US" sz="600" dirty="0"/>
              <a:t>물품</a:t>
            </a:r>
            <a:r>
              <a:rPr lang="en-US" altLang="ko-KR" sz="600" dirty="0"/>
              <a:t>, </a:t>
            </a:r>
            <a:r>
              <a:rPr lang="ko-KR" altLang="en-US" sz="600" dirty="0"/>
              <a:t>용역</a:t>
            </a:r>
            <a:r>
              <a:rPr lang="en-US" altLang="ko-KR" sz="600" dirty="0"/>
              <a:t>, </a:t>
            </a:r>
            <a:r>
              <a:rPr lang="ko-KR" altLang="en-US" sz="600" dirty="0"/>
              <a:t>공사</a:t>
            </a:r>
            <a:r>
              <a:rPr lang="en-US" altLang="ko-KR" sz="600" dirty="0"/>
              <a:t>, </a:t>
            </a:r>
            <a:r>
              <a:rPr lang="ko-KR" altLang="en-US" sz="600" dirty="0"/>
              <a:t>국외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입찰구붐</a:t>
            </a:r>
            <a:r>
              <a:rPr lang="ko-KR" altLang="en-US" sz="600" dirty="0"/>
              <a:t> </a:t>
            </a:r>
            <a:r>
              <a:rPr lang="en-US" altLang="ko-KR" sz="600" dirty="0"/>
              <a:t>: </a:t>
            </a:r>
            <a:r>
              <a:rPr lang="ko-KR" altLang="en-US" sz="600" dirty="0" err="1"/>
              <a:t>총액제</a:t>
            </a:r>
            <a:r>
              <a:rPr lang="en-US" altLang="ko-KR" sz="600" dirty="0"/>
              <a:t>, </a:t>
            </a:r>
            <a:r>
              <a:rPr lang="ko-KR" altLang="en-US" sz="600" dirty="0" err="1"/>
              <a:t>단가제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계약상태</a:t>
            </a:r>
            <a:r>
              <a:rPr lang="ko-KR" altLang="en-US" sz="600" dirty="0"/>
              <a:t> </a:t>
            </a:r>
            <a:r>
              <a:rPr lang="en-US" altLang="ko-KR" sz="600" dirty="0"/>
              <a:t>: </a:t>
            </a:r>
            <a:r>
              <a:rPr lang="ko-KR" altLang="en-US" sz="600" dirty="0" err="1"/>
              <a:t>계약진행</a:t>
            </a:r>
            <a:r>
              <a:rPr lang="en-US" altLang="ko-KR" sz="600" dirty="0"/>
              <a:t>, </a:t>
            </a:r>
            <a:r>
              <a:rPr lang="ko-KR" altLang="en-US" sz="600" dirty="0" err="1"/>
              <a:t>계약수정</a:t>
            </a:r>
            <a:r>
              <a:rPr lang="en-US" altLang="ko-KR" sz="600" dirty="0"/>
              <a:t>, </a:t>
            </a:r>
            <a:r>
              <a:rPr lang="ko-KR" altLang="en-US" sz="600" dirty="0" err="1"/>
              <a:t>계약최종</a:t>
            </a:r>
            <a:r>
              <a:rPr lang="en-US" altLang="ko-KR" sz="600" dirty="0"/>
              <a:t>, </a:t>
            </a:r>
            <a:r>
              <a:rPr lang="ko-KR" altLang="en-US" sz="600" dirty="0" err="1"/>
              <a:t>계약확정</a:t>
            </a:r>
            <a:r>
              <a:rPr lang="en-US" altLang="ko-KR" sz="600" dirty="0"/>
              <a:t>, </a:t>
            </a:r>
            <a:r>
              <a:rPr lang="ko-KR" altLang="en-US" sz="600" dirty="0"/>
              <a:t>계약해지</a:t>
            </a:r>
            <a:r>
              <a:rPr lang="en-US" altLang="ko-KR" sz="600" dirty="0"/>
              <a:t>, </a:t>
            </a:r>
            <a:r>
              <a:rPr lang="ko-KR" altLang="en-US" sz="600" dirty="0" err="1"/>
              <a:t>해제목록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진행상태 </a:t>
            </a:r>
            <a:r>
              <a:rPr lang="en-US" altLang="ko-KR" sz="600" dirty="0"/>
              <a:t>: </a:t>
            </a:r>
            <a:r>
              <a:rPr lang="ko-KR" altLang="en-US" sz="600" dirty="0" err="1"/>
              <a:t>서류요청</a:t>
            </a:r>
            <a:r>
              <a:rPr lang="en-US" altLang="ko-KR" sz="600" dirty="0"/>
              <a:t>, </a:t>
            </a:r>
            <a:r>
              <a:rPr lang="ko-KR" altLang="en-US" sz="600" dirty="0" err="1"/>
              <a:t>서류등록</a:t>
            </a:r>
            <a:r>
              <a:rPr lang="en-US" altLang="ko-KR" sz="600" dirty="0"/>
              <a:t>, </a:t>
            </a:r>
            <a:r>
              <a:rPr lang="ko-KR" altLang="en-US" sz="600" dirty="0" err="1"/>
              <a:t>서류반려</a:t>
            </a:r>
            <a:r>
              <a:rPr lang="en-US" altLang="ko-KR" sz="600" dirty="0"/>
              <a:t>, </a:t>
            </a:r>
            <a:r>
              <a:rPr lang="ko-KR" altLang="en-US" sz="600" dirty="0" err="1"/>
              <a:t>체결의뢰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계약방법 </a:t>
            </a:r>
            <a:r>
              <a:rPr lang="en-US" altLang="ko-KR" sz="600" dirty="0"/>
              <a:t>:  </a:t>
            </a:r>
            <a:r>
              <a:rPr lang="ko-KR" altLang="en-US" sz="600" dirty="0"/>
              <a:t>일반경쟁</a:t>
            </a:r>
            <a:r>
              <a:rPr lang="en-US" altLang="ko-KR" sz="600" dirty="0"/>
              <a:t>, </a:t>
            </a:r>
            <a:r>
              <a:rPr lang="ko-KR" altLang="en-US" sz="600" dirty="0"/>
              <a:t>지명경쟁</a:t>
            </a:r>
            <a:r>
              <a:rPr lang="en-US" altLang="ko-KR" sz="600" dirty="0"/>
              <a:t>,</a:t>
            </a:r>
            <a:r>
              <a:rPr lang="ko-KR" altLang="en-US" sz="600" dirty="0"/>
              <a:t>제한경쟁</a:t>
            </a:r>
            <a:r>
              <a:rPr lang="en-US" altLang="ko-KR" sz="600" dirty="0"/>
              <a:t>,</a:t>
            </a:r>
            <a:r>
              <a:rPr lang="ko-KR" altLang="en-US" sz="600" dirty="0" err="1"/>
              <a:t>복수경쟁</a:t>
            </a:r>
            <a:r>
              <a:rPr lang="en-US" altLang="ko-KR" sz="600" dirty="0"/>
              <a:t>,</a:t>
            </a:r>
            <a:r>
              <a:rPr lang="ko-KR" altLang="en-US" sz="600" dirty="0"/>
              <a:t>수의계약</a:t>
            </a:r>
            <a:r>
              <a:rPr lang="en-US" altLang="ko-KR" sz="600" dirty="0"/>
              <a:t>,</a:t>
            </a:r>
            <a:r>
              <a:rPr lang="ko-KR" altLang="en-US" sz="600" dirty="0" err="1"/>
              <a:t>협상에의한계약</a:t>
            </a:r>
            <a:r>
              <a:rPr lang="en-US" altLang="ko-KR" sz="600" dirty="0"/>
              <a:t>(</a:t>
            </a:r>
            <a:r>
              <a:rPr lang="ko-KR" altLang="en-US" sz="600" dirty="0"/>
              <a:t>서류</a:t>
            </a:r>
            <a:r>
              <a:rPr lang="en-US" altLang="ko-KR" sz="600" dirty="0"/>
              <a:t>),2</a:t>
            </a:r>
            <a:r>
              <a:rPr lang="ko-KR" altLang="en-US" sz="600" dirty="0"/>
              <a:t>단계 경쟁</a:t>
            </a:r>
            <a:r>
              <a:rPr lang="en-US" altLang="ko-KR" sz="600" dirty="0"/>
              <a:t>(</a:t>
            </a:r>
            <a:r>
              <a:rPr lang="ko-KR" altLang="en-US" sz="600" dirty="0"/>
              <a:t>동시</a:t>
            </a:r>
            <a:r>
              <a:rPr lang="en-US" altLang="ko-KR" sz="600" dirty="0"/>
              <a:t>), 2</a:t>
            </a:r>
            <a:r>
              <a:rPr lang="ko-KR" altLang="en-US" sz="600" dirty="0"/>
              <a:t>단계 경쟁</a:t>
            </a:r>
            <a:r>
              <a:rPr lang="en-US" altLang="ko-KR" sz="600" dirty="0"/>
              <a:t>(</a:t>
            </a:r>
            <a:r>
              <a:rPr lang="ko-KR" altLang="en-US" sz="600" dirty="0"/>
              <a:t>분리</a:t>
            </a:r>
            <a:r>
              <a:rPr lang="en-US" altLang="ko-KR" sz="600" dirty="0"/>
              <a:t>), </a:t>
            </a:r>
            <a:r>
              <a:rPr lang="ko-KR" altLang="en-US" sz="600" dirty="0" err="1"/>
              <a:t>종합낙찰제</a:t>
            </a:r>
            <a:r>
              <a:rPr lang="en-US" altLang="ko-KR" sz="600" dirty="0"/>
              <a:t>, </a:t>
            </a:r>
            <a:r>
              <a:rPr lang="ko-KR" altLang="en-US" sz="600" dirty="0" err="1"/>
              <a:t>협상에의한</a:t>
            </a:r>
            <a:r>
              <a:rPr lang="ko-KR" altLang="en-US" sz="600" dirty="0"/>
              <a:t> 계약</a:t>
            </a:r>
            <a:r>
              <a:rPr lang="en-US" altLang="ko-KR" sz="600" dirty="0"/>
              <a:t>(</a:t>
            </a:r>
            <a:r>
              <a:rPr lang="ko-KR" altLang="en-US" sz="600" dirty="0"/>
              <a:t>전자</a:t>
            </a:r>
            <a:r>
              <a:rPr lang="en-US" altLang="ko-KR" sz="600" dirty="0"/>
              <a:t>), </a:t>
            </a:r>
            <a:r>
              <a:rPr lang="ko-KR" altLang="en-US" sz="600" dirty="0" err="1"/>
              <a:t>역경매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발주기관</a:t>
            </a:r>
            <a:r>
              <a:rPr lang="en-US" altLang="ko-KR" sz="600" dirty="0"/>
              <a:t>: </a:t>
            </a:r>
            <a:r>
              <a:rPr lang="ko-KR" altLang="en-US" sz="600" dirty="0"/>
              <a:t>발주기관 전체 </a:t>
            </a:r>
            <a:r>
              <a:rPr lang="en-US" altLang="ko-KR" sz="600" dirty="0"/>
              <a:t>, </a:t>
            </a:r>
            <a:r>
              <a:rPr lang="ko-KR" altLang="en-US" sz="600" dirty="0" err="1"/>
              <a:t>방위사업청</a:t>
            </a:r>
            <a:r>
              <a:rPr lang="en-US" altLang="ko-KR" sz="600" dirty="0"/>
              <a:t>, </a:t>
            </a:r>
            <a:r>
              <a:rPr lang="ko-KR" altLang="en-US" sz="600" dirty="0"/>
              <a:t>조달본부</a:t>
            </a:r>
            <a:r>
              <a:rPr lang="en-US" altLang="ko-KR" sz="600" dirty="0"/>
              <a:t>, </a:t>
            </a:r>
            <a:r>
              <a:rPr lang="ko-KR" altLang="en-US" sz="600" dirty="0" err="1"/>
              <a:t>경리단</a:t>
            </a:r>
            <a:r>
              <a:rPr lang="en-US" altLang="ko-KR" sz="600" dirty="0"/>
              <a:t>, </a:t>
            </a:r>
            <a:r>
              <a:rPr lang="ko-KR" altLang="en-US" sz="600" dirty="0" err="1"/>
              <a:t>군수사</a:t>
            </a:r>
            <a:r>
              <a:rPr lang="en-US" altLang="ko-KR" sz="600" dirty="0"/>
              <a:t>, </a:t>
            </a:r>
            <a:r>
              <a:rPr lang="ko-KR" altLang="en-US" sz="600" dirty="0"/>
              <a:t>교육사</a:t>
            </a:r>
            <a:r>
              <a:rPr lang="en-US" altLang="ko-KR" sz="600" dirty="0"/>
              <a:t>, </a:t>
            </a:r>
            <a:r>
              <a:rPr lang="ko-KR" altLang="en-US" sz="600" dirty="0"/>
              <a:t>학교</a:t>
            </a:r>
            <a:r>
              <a:rPr lang="en-US" altLang="ko-KR" sz="600" dirty="0"/>
              <a:t>, </a:t>
            </a:r>
            <a:r>
              <a:rPr lang="ko-KR" altLang="en-US" sz="600" dirty="0" err="1"/>
              <a:t>근지단</a:t>
            </a:r>
            <a:r>
              <a:rPr lang="en-US" altLang="ko-KR" sz="600" dirty="0"/>
              <a:t>, </a:t>
            </a:r>
            <a:r>
              <a:rPr lang="ko-KR" altLang="en-US" sz="600" dirty="0" err="1"/>
              <a:t>군병원</a:t>
            </a:r>
            <a:r>
              <a:rPr lang="en-US" altLang="ko-KR" sz="600" dirty="0"/>
              <a:t>, </a:t>
            </a:r>
            <a:r>
              <a:rPr lang="ko-KR" altLang="en-US" sz="600" dirty="0"/>
              <a:t>본부</a:t>
            </a:r>
            <a:r>
              <a:rPr lang="en-US" altLang="ko-KR" sz="600" dirty="0"/>
              <a:t>, </a:t>
            </a:r>
            <a:r>
              <a:rPr lang="ko-KR" altLang="en-US" sz="600" dirty="0"/>
              <a:t>국방부</a:t>
            </a:r>
            <a:r>
              <a:rPr lang="en-US" altLang="ko-KR" sz="600" dirty="0"/>
              <a:t>-9, </a:t>
            </a:r>
            <a:r>
              <a:rPr lang="ko-KR" altLang="en-US" sz="600" dirty="0"/>
              <a:t>국방부</a:t>
            </a:r>
            <a:r>
              <a:rPr lang="en-US" altLang="ko-KR" sz="600" dirty="0"/>
              <a:t>-A, </a:t>
            </a:r>
            <a:r>
              <a:rPr lang="ko-KR" altLang="en-US" sz="600" dirty="0"/>
              <a:t>기타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5-2</a:t>
            </a:r>
            <a:r>
              <a:rPr lang="en-US" altLang="ko-KR" sz="600" dirty="0"/>
              <a:t>] </a:t>
            </a:r>
            <a:r>
              <a:rPr lang="ko-KR" altLang="en-US" sz="600" dirty="0"/>
              <a:t>수정계약요청수신</a:t>
            </a:r>
            <a:r>
              <a:rPr lang="en-US" altLang="ko-KR" sz="600" dirty="0"/>
              <a:t>, </a:t>
            </a:r>
            <a:r>
              <a:rPr lang="ko-KR" altLang="en-US" sz="600" dirty="0"/>
              <a:t>수정계약사유 항목 확인 불가</a:t>
            </a:r>
            <a:r>
              <a:rPr lang="en-US" altLang="ko-KR" sz="600" dirty="0"/>
              <a:t>.</a:t>
            </a:r>
            <a:r>
              <a:rPr lang="ko-KR" altLang="en-US" sz="600" dirty="0"/>
              <a:t> 항목명과 코드</a:t>
            </a:r>
            <a:r>
              <a:rPr lang="en-US" altLang="ko-KR" sz="600" dirty="0"/>
              <a:t>,</a:t>
            </a:r>
            <a:r>
              <a:rPr lang="ko-KR" altLang="en-US" sz="600" dirty="0"/>
              <a:t>전달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5-3</a:t>
            </a:r>
            <a:r>
              <a:rPr lang="en-US" altLang="ko-KR" sz="600" dirty="0"/>
              <a:t>] </a:t>
            </a:r>
            <a:r>
              <a:rPr lang="ko-KR" altLang="en-US" sz="600" dirty="0"/>
              <a:t>레이블 항목 </a:t>
            </a:r>
            <a:r>
              <a:rPr lang="ko-KR" altLang="en-US" sz="600" dirty="0" smtClean="0"/>
              <a:t>기타사항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/>
              <a:t>문서 </a:t>
            </a:r>
            <a:r>
              <a:rPr lang="ko-KR" altLang="en-US" sz="600" dirty="0"/>
              <a:t>정보 영역 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 smtClean="0"/>
              <a:t>계약번호</a:t>
            </a:r>
            <a:r>
              <a:rPr lang="ko-KR" altLang="en-US" sz="600" dirty="0" smtClean="0"/>
              <a:t> </a:t>
            </a:r>
            <a:r>
              <a:rPr lang="en-US" altLang="ko-KR" sz="600" dirty="0"/>
              <a:t>,  </a:t>
            </a:r>
            <a:r>
              <a:rPr lang="ko-KR" altLang="en-US" sz="600" dirty="0" err="1" smtClean="0"/>
              <a:t>증빙번호</a:t>
            </a:r>
            <a:r>
              <a:rPr lang="ko-KR" altLang="en-US" sz="600" dirty="0" smtClean="0"/>
              <a:t> </a:t>
            </a:r>
            <a:r>
              <a:rPr lang="ko-KR" altLang="en-US" sz="600" dirty="0"/>
              <a:t>노출 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 smtClean="0"/>
              <a:t>계약번호</a:t>
            </a:r>
            <a:r>
              <a:rPr lang="ko-KR" altLang="en-US" sz="600" dirty="0" smtClean="0"/>
              <a:t> </a:t>
            </a:r>
            <a:r>
              <a:rPr lang="ko-KR" altLang="en-US" sz="600" dirty="0" err="1"/>
              <a:t>전체노출</a:t>
            </a:r>
            <a:r>
              <a:rPr lang="ko-KR" altLang="en-US" sz="600" dirty="0"/>
              <a:t> </a:t>
            </a:r>
            <a:r>
              <a:rPr lang="en-US" altLang="ko-KR" sz="600" dirty="0"/>
              <a:t>/ </a:t>
            </a:r>
            <a:r>
              <a:rPr lang="ko-KR" altLang="en-US" sz="600" dirty="0" err="1" smtClean="0"/>
              <a:t>증빙번호</a:t>
            </a:r>
            <a:r>
              <a:rPr lang="ko-KR" altLang="en-US" sz="600" dirty="0" smtClean="0"/>
              <a:t> </a:t>
            </a:r>
            <a:r>
              <a:rPr lang="ko-KR" altLang="en-US" sz="600" dirty="0" err="1"/>
              <a:t>노출시</a:t>
            </a:r>
            <a:r>
              <a:rPr lang="ko-KR" altLang="en-US" sz="600" dirty="0"/>
              <a:t> 해당 라인을 넘어가면 </a:t>
            </a:r>
            <a:r>
              <a:rPr lang="en-US" altLang="ko-KR" sz="600" dirty="0"/>
              <a:t>(…) </a:t>
            </a:r>
            <a:r>
              <a:rPr lang="ko-KR" altLang="en-US" sz="600" dirty="0" err="1"/>
              <a:t>말줄임</a:t>
            </a:r>
            <a:r>
              <a:rPr lang="ko-KR" altLang="en-US" sz="600" dirty="0"/>
              <a:t>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계약번호</a:t>
            </a:r>
            <a:r>
              <a:rPr lang="en-US" altLang="ko-KR" sz="600" dirty="0"/>
              <a:t>:</a:t>
            </a:r>
            <a:r>
              <a:rPr lang="ko-KR" altLang="en-US" sz="600" dirty="0"/>
              <a:t> </a:t>
            </a:r>
            <a:r>
              <a:rPr lang="ko-KR" altLang="en-US" sz="600" dirty="0" err="1"/>
              <a:t>계약번호</a:t>
            </a:r>
            <a:r>
              <a:rPr lang="en-US" altLang="ko-KR" sz="600" dirty="0"/>
              <a:t>+</a:t>
            </a:r>
            <a:r>
              <a:rPr lang="ko-KR" altLang="en-US" sz="600" dirty="0"/>
              <a:t>계약번호차수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6-3] </a:t>
            </a:r>
            <a:r>
              <a:rPr lang="ko-KR" altLang="en-US" sz="600" dirty="0"/>
              <a:t>문서 제목 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제목은 </a:t>
            </a:r>
            <a:r>
              <a:rPr lang="en-US" altLang="ko-KR" sz="600" dirty="0"/>
              <a:t>2</a:t>
            </a:r>
            <a:r>
              <a:rPr lang="ko-KR" altLang="en-US" sz="600" dirty="0"/>
              <a:t>줄 까지 노출 이후</a:t>
            </a:r>
            <a:r>
              <a:rPr lang="en-US" altLang="ko-KR" sz="600" dirty="0"/>
              <a:t>(…) </a:t>
            </a:r>
            <a:r>
              <a:rPr lang="ko-KR" altLang="en-US" sz="600" dirty="0" err="1"/>
              <a:t>말줄임</a:t>
            </a:r>
            <a:r>
              <a:rPr lang="ko-KR" altLang="en-US" sz="600" dirty="0"/>
              <a:t> 표시</a:t>
            </a: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err="1"/>
              <a:t>더보기</a:t>
            </a:r>
            <a:r>
              <a:rPr lang="ko-KR" altLang="en-US" sz="600" dirty="0"/>
              <a:t> 기능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-4 </a:t>
            </a:r>
            <a:r>
              <a:rPr lang="ko-KR" altLang="en-US" sz="600" dirty="0" err="1" smtClean="0"/>
              <a:t>번항목</a:t>
            </a:r>
            <a:r>
              <a:rPr lang="ko-KR" altLang="en-US" sz="600" dirty="0" smtClean="0"/>
              <a:t> </a:t>
            </a:r>
            <a:r>
              <a:rPr lang="ko-KR" altLang="en-US" sz="600" dirty="0"/>
              <a:t>표시 개수 영역에서 선택한 개수로 증가</a:t>
            </a:r>
            <a:r>
              <a:rPr lang="en-US" altLang="ko-KR" sz="600" dirty="0"/>
              <a:t>.</a:t>
            </a:r>
            <a:br>
              <a:rPr lang="en-US" altLang="ko-KR" sz="600" dirty="0"/>
            </a:br>
            <a:r>
              <a:rPr lang="ko-KR" altLang="en-US" sz="600" dirty="0"/>
              <a:t>예</a:t>
            </a:r>
            <a:r>
              <a:rPr lang="en-US" altLang="ko-KR" sz="600" dirty="0"/>
              <a:t>) 10</a:t>
            </a:r>
            <a:r>
              <a:rPr lang="ko-KR" altLang="en-US" sz="600" dirty="0"/>
              <a:t>개 노출 이후 </a:t>
            </a:r>
            <a:r>
              <a:rPr lang="ko-KR" altLang="en-US" sz="600" dirty="0" err="1"/>
              <a:t>더보기</a:t>
            </a:r>
            <a:r>
              <a:rPr lang="ko-KR" altLang="en-US" sz="600" dirty="0"/>
              <a:t> 버튼 클릭으로 </a:t>
            </a:r>
            <a:r>
              <a:rPr lang="en-US" altLang="ko-KR" sz="600" dirty="0"/>
              <a:t>10</a:t>
            </a:r>
            <a:r>
              <a:rPr lang="ko-KR" altLang="en-US" sz="600" dirty="0"/>
              <a:t>개씩 추가 로드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endParaRPr lang="en-US" altLang="ko-KR" sz="6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</a:t>
            </a:r>
            <a:r>
              <a:rPr lang="ko-KR" altLang="en-US" dirty="0" err="1"/>
              <a:t>건별로</a:t>
            </a:r>
            <a:r>
              <a:rPr lang="ko-KR" altLang="en-US" dirty="0"/>
              <a:t> 대금지불 정보 </a:t>
            </a:r>
            <a:r>
              <a:rPr lang="ko-KR" altLang="en-US" dirty="0" smtClean="0"/>
              <a:t>목록 조회 화면</a:t>
            </a:r>
            <a:endParaRPr lang="en-US" altLang="ko-KR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MUI-CT-01-M15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대금지불정보목록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99519" cy="1237060"/>
            <a:chOff x="781461" y="3087955"/>
            <a:chExt cx="2499519" cy="1237060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 / </a:t>
              </a:r>
              <a:r>
                <a:rPr lang="ko-KR" altLang="en-US" sz="700" dirty="0" err="1" smtClean="0"/>
                <a:t>증빙번호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00000000-0000</a:t>
              </a:r>
            </a:p>
            <a:p>
              <a:r>
                <a:rPr lang="ko-KR" altLang="en-US" sz="900" b="1" dirty="0" err="1" smtClean="0"/>
                <a:t>계약건명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384721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업체명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지출금액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지체상금액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국고환수액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수표발행일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08094" y="3617129"/>
              <a:ext cx="472886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A</a:t>
              </a:r>
              <a:r>
                <a:rPr lang="ko-KR" altLang="en-US" sz="600" dirty="0" smtClean="0">
                  <a:latin typeface="+mn-ea"/>
                </a:rPr>
                <a:t>업체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475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8615" y="3226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86648" y="227576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용역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전체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14137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계약방법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지명경쟁</a:t>
            </a:r>
            <a:endParaRPr lang="ko-KR" altLang="en-US" sz="600" dirty="0"/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제한경쟁</a:t>
            </a:r>
            <a:endParaRPr lang="ko-KR" altLang="en-US" sz="600" dirty="0"/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5307915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5475884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5475884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5475884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역경매</a:t>
            </a:r>
            <a:endParaRPr lang="ko-KR" altLang="en-US" sz="600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14518" y="22113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5-1</a:t>
            </a:r>
            <a:endParaRPr lang="ko-KR" altLang="en-US" sz="500" b="1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847205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발주기관 전체</a:t>
            </a:r>
            <a:endParaRPr lang="ko-KR" altLang="en-US" sz="600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85304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발주기관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847205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8472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조달본부</a:t>
            </a:r>
            <a:endParaRPr lang="ko-KR" altLang="en-US" sz="600" dirty="0"/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교육사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학교</a:t>
            </a:r>
            <a:endParaRPr lang="ko-KR" altLang="en-US" sz="600" dirty="0"/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본부</a:t>
            </a:r>
            <a:endParaRPr lang="ko-KR" altLang="en-US" sz="600" dirty="0"/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기타</a:t>
            </a:r>
            <a:endParaRPr lang="ko-KR" altLang="en-US" sz="600" dirty="0"/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계약해제</a:t>
            </a:r>
            <a:endParaRPr lang="ko-KR" altLang="en-US" sz="600" dirty="0"/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진행상태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7183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계약해지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err="1" smtClean="0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모서리가 둥근 직사각형 122"/>
          <p:cNvSpPr/>
          <p:nvPr/>
        </p:nvSpPr>
        <p:spPr>
          <a:xfrm>
            <a:off x="1969200" y="337183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ko-KR" altLang="en-US" sz="500" kern="0" dirty="0" smtClean="0">
                    <a:solidFill>
                      <a:srgbClr val="0070C0"/>
                    </a:solidFill>
                  </a:rPr>
                  <a:t>   통합참조번호</a:t>
                </a:r>
                <a:endParaRPr kumimoji="1" lang="en-US" sz="5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직사각형 115"/>
          <p:cNvSpPr/>
          <p:nvPr/>
        </p:nvSpPr>
        <p:spPr>
          <a:xfrm>
            <a:off x="7072262" y="6025791"/>
            <a:ext cx="2371724" cy="23954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 smtClean="0"/>
              <a:t>PC </a:t>
            </a:r>
            <a:r>
              <a:rPr lang="ko-KR" altLang="en-US" sz="500" dirty="0" smtClean="0"/>
              <a:t>내역 확인 후</a:t>
            </a:r>
            <a:endParaRPr lang="en-US" altLang="ko-KR" sz="500" dirty="0" smtClean="0"/>
          </a:p>
          <a:p>
            <a:pPr algn="ctr"/>
            <a:r>
              <a:rPr lang="ko-KR" altLang="en-US" sz="500" dirty="0" smtClean="0"/>
              <a:t>흐름 수정 필요</a:t>
            </a:r>
            <a:endParaRPr lang="ko-KR" altLang="en-US" sz="500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2055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63636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84573" y="22247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5396" y="25044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22365" y="28912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05536" y="34994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24224" y="3511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6-1</a:t>
            </a:r>
            <a:endParaRPr lang="ko-KR" altLang="en-US" sz="600" b="1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887229" y="35161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6-2</a:t>
            </a:r>
            <a:endParaRPr lang="ko-KR" altLang="en-US" sz="600" b="1" dirty="0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8517" y="37095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6-3</a:t>
            </a:r>
            <a:endParaRPr lang="ko-KR" altLang="en-US" sz="600" b="1" dirty="0"/>
          </a:p>
        </p:txBody>
      </p:sp>
      <p:sp>
        <p:nvSpPr>
          <p:cNvPr id="6" name="직사각형 5"/>
          <p:cNvSpPr/>
          <p:nvPr/>
        </p:nvSpPr>
        <p:spPr>
          <a:xfrm>
            <a:off x="3837995" y="2396927"/>
            <a:ext cx="3234267" cy="3868406"/>
          </a:xfrm>
          <a:prstGeom prst="rect">
            <a:avLst/>
          </a:prstGeom>
          <a:noFill/>
          <a:ln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직사각형 155"/>
          <p:cNvSpPr/>
          <p:nvPr/>
        </p:nvSpPr>
        <p:spPr>
          <a:xfrm>
            <a:off x="7062870" y="5819409"/>
            <a:ext cx="235790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5-1 </a:t>
            </a:r>
            <a:r>
              <a:rPr lang="ko-KR" altLang="en-US" sz="500" dirty="0" err="1" smtClean="0"/>
              <a:t>표시레이블</a:t>
            </a:r>
            <a:r>
              <a:rPr lang="ko-KR" altLang="en-US" sz="500" dirty="0" smtClean="0"/>
              <a:t> 항목 확인 필요</a:t>
            </a:r>
            <a:r>
              <a:rPr lang="en-US" altLang="ko-KR" sz="500" dirty="0" smtClean="0"/>
              <a:t>.</a:t>
            </a:r>
            <a:br>
              <a:rPr lang="en-US" altLang="ko-KR" sz="500" dirty="0" smtClean="0"/>
            </a:br>
            <a:r>
              <a:rPr lang="ko-KR" altLang="en-US" sz="500" dirty="0" err="1" smtClean="0"/>
              <a:t>지불일자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순번</a:t>
            </a:r>
            <a:r>
              <a:rPr lang="en-US" altLang="ko-KR" sz="500" dirty="0" smtClean="0"/>
              <a:t>, </a:t>
            </a:r>
          </a:p>
        </p:txBody>
      </p:sp>
      <p:sp>
        <p:nvSpPr>
          <p:cNvPr id="159" name="타원 158"/>
          <p:cNvSpPr/>
          <p:nvPr/>
        </p:nvSpPr>
        <p:spPr>
          <a:xfrm>
            <a:off x="3378170" y="539208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1" name="그룹 170"/>
          <p:cNvGrpSpPr/>
          <p:nvPr/>
        </p:nvGrpSpPr>
        <p:grpSpPr>
          <a:xfrm>
            <a:off x="3507637" y="5521547"/>
            <a:ext cx="124144" cy="124144"/>
            <a:chOff x="162544" y="5299917"/>
            <a:chExt cx="124144" cy="124144"/>
          </a:xfrm>
        </p:grpSpPr>
        <p:cxnSp>
          <p:nvCxnSpPr>
            <p:cNvPr id="176" name="직선 연결선 175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7" name="직선 연결선 176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56000412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22843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1599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7596576"/>
              </p:ext>
            </p:extLst>
          </p:nvPr>
        </p:nvGraphicFramePr>
        <p:xfrm>
          <a:off x="452999" y="2512190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순번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checkPblcnYmd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1709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24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nttrRdmAmt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44183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998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486390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7447209"/>
              </p:ext>
            </p:extLst>
          </p:nvPr>
        </p:nvGraphicFramePr>
        <p:xfrm>
          <a:off x="453000" y="514203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조회조건의 계약번호를 클릭하여 조달업체의 계약번호 선택 팝업화면에서 조회하려는 계약번호를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7076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6CF5554-9905-721E-D18C-6470C57A0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3343314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데이터 </a:t>
            </a:r>
            <a:r>
              <a:rPr lang="ko-KR" altLang="en-US" dirty="0" smtClean="0"/>
              <a:t>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엑셀다운로드 기능 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</a:t>
            </a:r>
            <a:r>
              <a:rPr lang="ko-KR" altLang="en-US" dirty="0" err="1" smtClean="0"/>
              <a:t>일반계약의</a:t>
            </a:r>
            <a:r>
              <a:rPr lang="ko-KR" altLang="en-US" dirty="0" smtClean="0"/>
              <a:t>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MUI-CT-01-P16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대금지불정보조회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1554746"/>
            <a:chOff x="3865118" y="2694619"/>
            <a:chExt cx="2630093" cy="1554746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대금지불정보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3031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지출관증빙번호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지출금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반납구분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00000000-0000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05047"/>
            <a:ext cx="2446613" cy="241506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622625"/>
            <a:ext cx="76863" cy="292489"/>
            <a:chOff x="3750067" y="4683795"/>
            <a:chExt cx="76863" cy="292489"/>
          </a:xfrm>
        </p:grpSpPr>
        <p:sp>
          <p:nvSpPr>
            <p:cNvPr id="90" name="타원 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1" name="직사각형 40"/>
          <p:cNvSpPr/>
          <p:nvPr/>
        </p:nvSpPr>
        <p:spPr>
          <a:xfrm>
            <a:off x="7070726" y="5960766"/>
            <a:ext cx="2371724" cy="23954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 smtClean="0"/>
              <a:t>PC </a:t>
            </a:r>
            <a:r>
              <a:rPr lang="ko-KR" altLang="en-US" sz="500" dirty="0" smtClean="0"/>
              <a:t>내역 확인 후</a:t>
            </a:r>
            <a:endParaRPr lang="en-US" altLang="ko-KR" sz="500" dirty="0" smtClean="0"/>
          </a:p>
          <a:p>
            <a:pPr algn="ctr"/>
            <a:r>
              <a:rPr lang="ko-KR" altLang="en-US" sz="500" dirty="0" smtClean="0"/>
              <a:t>흐름 수정 필요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341758352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조회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194268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8272976"/>
              </p:ext>
            </p:extLst>
          </p:nvPr>
        </p:nvGraphicFramePr>
        <p:xfrm>
          <a:off x="452999" y="1014316"/>
          <a:ext cx="8994883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26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dsbofrEvdncNo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rtnSe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37018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955480"/>
              </p:ext>
            </p:extLst>
          </p:nvPr>
        </p:nvGraphicFramePr>
        <p:xfrm>
          <a:off x="453000" y="39799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77BF3023-3077-A2F1-DB82-250E7F59A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3204031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해지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해지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해제목록</a:t>
            </a:r>
            <a:r>
              <a:rPr lang="ko-KR" altLang="en-US" dirty="0" smtClean="0"/>
              <a:t>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해지해제목록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해지해제</a:t>
            </a:r>
            <a:r>
              <a:rPr lang="ko-KR" altLang="en-US" sz="800" dirty="0" smtClean="0">
                <a:latin typeface="+mn-ea"/>
              </a:rPr>
              <a:t>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73257" cy="1098561"/>
            <a:chOff x="781461" y="3087955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공사번호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99001 /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</a:t>
              </a:r>
            </a:p>
            <a:p>
              <a:r>
                <a:rPr lang="ko-KR" altLang="en-US" sz="900" b="1" dirty="0" smtClean="0">
                  <a:solidFill>
                    <a:srgbClr val="0070C0"/>
                  </a:solidFill>
                </a:rPr>
                <a:t>물품</a:t>
              </a:r>
              <a:r>
                <a:rPr lang="ko-KR" altLang="en-US" sz="900" b="1" dirty="0" smtClean="0"/>
                <a:t>구매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46166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계약일자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해지해제일자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617129"/>
              <a:ext cx="47288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2026-04-21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제</a:t>
              </a:r>
              <a:r>
                <a:rPr lang="en-US" altLang="ko-KR" sz="600" dirty="0" smtClean="0">
                  <a:latin typeface="+mn-ea"/>
                </a:rPr>
                <a:t>8385</a:t>
              </a:r>
              <a:r>
                <a:rPr lang="ko-KR" altLang="en-US" sz="600" dirty="0" smtClean="0">
                  <a:latin typeface="+mn-ea"/>
                </a:rPr>
                <a:t>부대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57491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44961" y="226292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용역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전체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14137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계약방법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지명경쟁</a:t>
            </a:r>
            <a:endParaRPr lang="ko-KR" altLang="en-US" sz="600" dirty="0"/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제한경쟁</a:t>
            </a:r>
            <a:endParaRPr lang="ko-KR" altLang="en-US" sz="600" dirty="0"/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5307915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5475884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5475884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5475884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역경매</a:t>
            </a:r>
            <a:endParaRPr lang="ko-KR" altLang="en-US" sz="600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847205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발주기관 전체</a:t>
            </a:r>
            <a:endParaRPr lang="ko-KR" altLang="en-US" sz="600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85304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발주기관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847205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8472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조달본부</a:t>
            </a:r>
            <a:endParaRPr lang="ko-KR" altLang="en-US" sz="600" dirty="0"/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교육사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학교</a:t>
            </a:r>
            <a:endParaRPr lang="ko-KR" altLang="en-US" sz="600" dirty="0"/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본부</a:t>
            </a:r>
            <a:endParaRPr lang="ko-KR" altLang="en-US" sz="600" dirty="0"/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기타</a:t>
            </a:r>
            <a:endParaRPr lang="ko-KR" altLang="en-US" sz="600" dirty="0"/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계약해제</a:t>
            </a:r>
            <a:endParaRPr lang="ko-KR" altLang="en-US" sz="600" dirty="0"/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진행상태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7183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계약해지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err="1" smtClean="0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모서리가 둥근 직사각형 122"/>
          <p:cNvSpPr/>
          <p:nvPr/>
        </p:nvSpPr>
        <p:spPr>
          <a:xfrm>
            <a:off x="1969200" y="337183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8" name="그룹 147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76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84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 smtClean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</a:t>
              </a:r>
              <a:r>
                <a:rPr lang="ko-KR" altLang="en-US" sz="700" kern="0" dirty="0" smtClean="0">
                  <a:solidFill>
                    <a:prstClr val="black"/>
                  </a:solidFill>
                </a:rPr>
                <a:t>개</a:t>
              </a:r>
              <a:endParaRPr lang="en-US" altLang="ko-KR" sz="700" kern="0" dirty="0" smtClean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86" name="직선 연결선 185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7" name="직선 연결선 18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상단 </a:t>
            </a:r>
            <a:r>
              <a:rPr lang="ko-KR" altLang="en-US" sz="700" dirty="0" err="1" smtClean="0"/>
              <a:t>업무도움은</a:t>
            </a:r>
            <a:r>
              <a:rPr lang="ko-KR" altLang="en-US" sz="700" dirty="0" smtClean="0"/>
              <a:t> 기본 값으로 접힘 상태로 정보 제공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기본값 </a:t>
            </a:r>
            <a:r>
              <a:rPr lang="en-US" altLang="ko-KR" sz="700" dirty="0" smtClean="0"/>
              <a:t>: </a:t>
            </a:r>
            <a:r>
              <a:rPr lang="ko-KR" altLang="en-US" sz="700" dirty="0" smtClean="0"/>
              <a:t>접힘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사용자 </a:t>
            </a:r>
            <a:r>
              <a:rPr lang="ko-KR" altLang="en-US" sz="700" dirty="0" err="1" smtClean="0"/>
              <a:t>클릭시</a:t>
            </a:r>
            <a:r>
              <a:rPr lang="ko-KR" altLang="en-US" sz="700" dirty="0" smtClean="0"/>
              <a:t> 확장하여 정보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업무도움</a:t>
            </a:r>
            <a:r>
              <a:rPr lang="en-US" altLang="ko-KR" sz="700" dirty="0" smtClean="0"/>
              <a:t> &gt; </a:t>
            </a:r>
            <a:r>
              <a:rPr lang="ko-KR" altLang="en-US" sz="700" dirty="0" smtClean="0"/>
              <a:t>내역이 있는 경우 표시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내역이 없으면 항목을 표시하지 않음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검색필터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2-1] </a:t>
            </a:r>
            <a:r>
              <a:rPr lang="ko-KR" altLang="en-US" sz="700" dirty="0" smtClean="0"/>
              <a:t>통합참조정보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예약번호중</a:t>
            </a:r>
            <a:r>
              <a:rPr lang="ko-KR" altLang="en-US" sz="700" dirty="0" smtClean="0"/>
              <a:t> 선택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2-2] </a:t>
            </a:r>
            <a:r>
              <a:rPr lang="ko-KR" altLang="en-US" sz="700" dirty="0" err="1" smtClean="0"/>
              <a:t>검색어</a:t>
            </a:r>
            <a:r>
              <a:rPr lang="ko-KR" altLang="en-US" sz="700" dirty="0" smtClean="0"/>
              <a:t> 입력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latin typeface="+mn-ea"/>
              </a:rPr>
              <a:t>검색 필터 호출</a:t>
            </a:r>
            <a:r>
              <a:rPr lang="en-US" altLang="ko-KR" sz="700" dirty="0" smtClean="0">
                <a:latin typeface="+mn-ea"/>
              </a:rPr>
              <a:t/>
            </a:r>
            <a:br>
              <a:rPr lang="en-US" altLang="ko-KR" sz="700" dirty="0" smtClean="0">
                <a:latin typeface="+mn-ea"/>
              </a:rPr>
            </a:b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– </a:t>
            </a:r>
            <a:r>
              <a:rPr lang="ko-KR" altLang="en-US" sz="700" dirty="0" smtClean="0">
                <a:latin typeface="+mn-ea"/>
              </a:rPr>
              <a:t>계약 페이지 참고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표시 개수 영역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총 개수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4-1] </a:t>
            </a:r>
            <a:r>
              <a:rPr lang="ko-KR" altLang="en-US" sz="700" dirty="0" smtClean="0"/>
              <a:t>표시 개수 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선택한 건수 만큼 보여주고 </a:t>
            </a:r>
            <a:r>
              <a:rPr lang="ko-KR" altLang="en-US" sz="700" dirty="0" err="1" smtClean="0"/>
              <a:t>더보기시</a:t>
            </a:r>
            <a:r>
              <a:rPr lang="ko-KR" altLang="en-US" sz="700" dirty="0" smtClean="0"/>
              <a:t> 추가로 불러옴</a:t>
            </a:r>
            <a:r>
              <a:rPr lang="en-US" altLang="ko-KR" sz="7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목록 카드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ko-KR" altLang="en-US" sz="700" dirty="0" smtClean="0"/>
              <a:t>레이블이 화면을 넘치는 경우 드래그하여 확인 가능 </a:t>
            </a:r>
            <a:r>
              <a:rPr lang="en-US" altLang="ko-KR" sz="700" dirty="0" smtClean="0"/>
              <a:t>(</a:t>
            </a:r>
            <a:r>
              <a:rPr lang="ko-KR" altLang="en-US" sz="700" dirty="0" err="1" smtClean="0"/>
              <a:t>스와이프기능</a:t>
            </a:r>
            <a:r>
              <a:rPr lang="ko-KR" altLang="en-US" sz="700" dirty="0" smtClean="0"/>
              <a:t> 반영 필요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5-1] </a:t>
            </a:r>
            <a:r>
              <a:rPr lang="ko-KR" altLang="en-US" sz="700" dirty="0" err="1" smtClean="0"/>
              <a:t>표시레이블</a:t>
            </a:r>
            <a:r>
              <a:rPr lang="ko-KR" altLang="en-US" sz="700" dirty="0" smtClean="0"/>
              <a:t> 영역 항목 </a:t>
            </a:r>
            <a:r>
              <a:rPr lang="ko-KR" altLang="en-US" sz="700" dirty="0" err="1" smtClean="0"/>
              <a:t>항목</a:t>
            </a:r>
            <a:r>
              <a:rPr lang="ko-KR" altLang="en-US" sz="700" dirty="0" smtClean="0"/>
              <a:t> 확인 필요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업무구분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:  </a:t>
            </a:r>
            <a:r>
              <a:rPr lang="ko-KR" altLang="en-US" sz="700" dirty="0" smtClean="0"/>
              <a:t>전체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물품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용역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공사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국외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입찰구붐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: </a:t>
            </a:r>
            <a:r>
              <a:rPr lang="ko-KR" altLang="en-US" sz="700" dirty="0" err="1" smtClean="0"/>
              <a:t>총액제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단가제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계약상태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: </a:t>
            </a:r>
            <a:r>
              <a:rPr lang="ko-KR" altLang="en-US" sz="700" dirty="0" err="1" smtClean="0"/>
              <a:t>계약진행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계약수정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계약최종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계약확정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계약해지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해제목록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진행상태 </a:t>
            </a:r>
            <a:r>
              <a:rPr lang="en-US" altLang="ko-KR" sz="700" dirty="0" smtClean="0"/>
              <a:t>: </a:t>
            </a:r>
            <a:r>
              <a:rPr lang="ko-KR" altLang="en-US" sz="700" dirty="0" err="1" smtClean="0"/>
              <a:t>서류요청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서류등록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서류반려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체결의뢰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계약방법 </a:t>
            </a:r>
            <a:r>
              <a:rPr lang="en-US" altLang="ko-KR" sz="700" dirty="0" smtClean="0"/>
              <a:t>:  </a:t>
            </a:r>
            <a:r>
              <a:rPr lang="ko-KR" altLang="en-US" sz="700" dirty="0" smtClean="0"/>
              <a:t>일반경쟁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지명경쟁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제한경쟁</a:t>
            </a:r>
            <a:r>
              <a:rPr lang="en-US" altLang="ko-KR" sz="700" dirty="0" smtClean="0"/>
              <a:t>,</a:t>
            </a:r>
            <a:r>
              <a:rPr lang="ko-KR" altLang="en-US" sz="700" dirty="0" err="1" smtClean="0"/>
              <a:t>복수경쟁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수의계약</a:t>
            </a:r>
            <a:r>
              <a:rPr lang="en-US" altLang="ko-KR" sz="700" dirty="0" smtClean="0"/>
              <a:t>,</a:t>
            </a:r>
            <a:r>
              <a:rPr lang="ko-KR" altLang="en-US" sz="700" dirty="0" err="1" smtClean="0"/>
              <a:t>협상에의한계약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서류</a:t>
            </a:r>
            <a:r>
              <a:rPr lang="en-US" altLang="ko-KR" sz="700" dirty="0" smtClean="0"/>
              <a:t>),2</a:t>
            </a:r>
            <a:r>
              <a:rPr lang="ko-KR" altLang="en-US" sz="700" dirty="0" smtClean="0"/>
              <a:t>단계 경쟁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동시</a:t>
            </a:r>
            <a:r>
              <a:rPr lang="en-US" altLang="ko-KR" sz="700" dirty="0" smtClean="0"/>
              <a:t>), 2</a:t>
            </a:r>
            <a:r>
              <a:rPr lang="ko-KR" altLang="en-US" sz="700" dirty="0" smtClean="0"/>
              <a:t>단계 경쟁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분리</a:t>
            </a:r>
            <a:r>
              <a:rPr lang="en-US" altLang="ko-KR" sz="700" dirty="0" smtClean="0"/>
              <a:t>), </a:t>
            </a:r>
            <a:r>
              <a:rPr lang="ko-KR" altLang="en-US" sz="700" dirty="0" err="1" smtClean="0"/>
              <a:t>종합낙찰제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협상에의한</a:t>
            </a:r>
            <a:r>
              <a:rPr lang="ko-KR" altLang="en-US" sz="700" dirty="0" smtClean="0"/>
              <a:t> 계약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전자</a:t>
            </a:r>
            <a:r>
              <a:rPr lang="en-US" altLang="ko-KR" sz="700" dirty="0" smtClean="0"/>
              <a:t>), </a:t>
            </a:r>
            <a:r>
              <a:rPr lang="ko-KR" altLang="en-US" sz="700" dirty="0" err="1" smtClean="0"/>
              <a:t>역경매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발주기관</a:t>
            </a:r>
            <a:r>
              <a:rPr lang="en-US" altLang="ko-KR" sz="700" dirty="0" smtClean="0"/>
              <a:t>: </a:t>
            </a:r>
            <a:r>
              <a:rPr lang="ko-KR" altLang="en-US" sz="700" dirty="0" smtClean="0"/>
              <a:t>발주기관 전체 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방위사업청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조달본부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경리단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군수사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교육사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학교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근지단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군병원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본부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국방부</a:t>
            </a:r>
            <a:r>
              <a:rPr lang="en-US" altLang="ko-KR" sz="700" dirty="0" smtClean="0"/>
              <a:t>-9, </a:t>
            </a:r>
            <a:r>
              <a:rPr lang="ko-KR" altLang="en-US" sz="700" dirty="0" smtClean="0"/>
              <a:t>국방부</a:t>
            </a:r>
            <a:r>
              <a:rPr lang="en-US" altLang="ko-KR" sz="700" dirty="0" smtClean="0"/>
              <a:t>-A, </a:t>
            </a:r>
            <a:r>
              <a:rPr lang="ko-KR" altLang="en-US" sz="700" dirty="0" smtClean="0"/>
              <a:t>기타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문서 정보 영역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6-1]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,  </a:t>
            </a:r>
            <a:r>
              <a:rPr lang="ko-KR" altLang="en-US" sz="700" dirty="0" err="1" smtClean="0"/>
              <a:t>증빙번호</a:t>
            </a:r>
            <a:r>
              <a:rPr lang="ko-KR" altLang="en-US" sz="700" dirty="0" smtClean="0"/>
              <a:t> 노출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6-2]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전체노출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/ </a:t>
            </a:r>
            <a:r>
              <a:rPr lang="ko-KR" altLang="en-US" sz="700" dirty="0" err="1" smtClean="0"/>
              <a:t>증빙번호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노출시</a:t>
            </a:r>
            <a:r>
              <a:rPr lang="ko-KR" altLang="en-US" sz="700" dirty="0" smtClean="0"/>
              <a:t> 해당 라인을 넘어가면 </a:t>
            </a:r>
            <a:r>
              <a:rPr lang="en-US" altLang="ko-KR" sz="700" dirty="0" smtClean="0"/>
              <a:t>(…) </a:t>
            </a:r>
            <a:r>
              <a:rPr lang="ko-KR" altLang="en-US" sz="700" dirty="0" err="1" smtClean="0"/>
              <a:t>말줄임</a:t>
            </a:r>
            <a:r>
              <a:rPr lang="ko-KR" altLang="en-US" sz="700" dirty="0" smtClean="0"/>
              <a:t>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계약번호</a:t>
            </a:r>
            <a:r>
              <a:rPr lang="en-US" altLang="ko-KR" sz="700" dirty="0" smtClean="0"/>
              <a:t>: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계약번호</a:t>
            </a:r>
            <a:r>
              <a:rPr lang="en-US" altLang="ko-KR" sz="700" dirty="0" smtClean="0"/>
              <a:t>+</a:t>
            </a:r>
            <a:r>
              <a:rPr lang="ko-KR" altLang="en-US" sz="700" dirty="0" smtClean="0"/>
              <a:t>계약번호차수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6-3] </a:t>
            </a:r>
            <a:r>
              <a:rPr lang="ko-KR" altLang="en-US" sz="700" dirty="0" smtClean="0"/>
              <a:t>문서 제목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제목은 </a:t>
            </a:r>
            <a:r>
              <a:rPr lang="en-US" altLang="ko-KR" sz="700" dirty="0" smtClean="0"/>
              <a:t>2</a:t>
            </a:r>
            <a:r>
              <a:rPr lang="ko-KR" altLang="en-US" sz="700" dirty="0" smtClean="0"/>
              <a:t>줄 까지 노출 이후</a:t>
            </a:r>
            <a:r>
              <a:rPr lang="en-US" altLang="ko-KR" sz="700" dirty="0" smtClean="0"/>
              <a:t>(…) </a:t>
            </a:r>
            <a:r>
              <a:rPr lang="ko-KR" altLang="en-US" sz="700" dirty="0" err="1" smtClean="0"/>
              <a:t>말줄임</a:t>
            </a:r>
            <a:r>
              <a:rPr lang="ko-KR" altLang="en-US" sz="700" dirty="0" smtClean="0"/>
              <a:t> 표시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더보기</a:t>
            </a:r>
            <a:r>
              <a:rPr lang="ko-KR" altLang="en-US" sz="700" dirty="0" smtClean="0"/>
              <a:t> 기능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-4 </a:t>
            </a:r>
            <a:r>
              <a:rPr lang="ko-KR" altLang="en-US" sz="700" dirty="0" err="1" smtClean="0"/>
              <a:t>번항목</a:t>
            </a:r>
            <a:r>
              <a:rPr lang="ko-KR" altLang="en-US" sz="700" dirty="0" smtClean="0"/>
              <a:t> 표시 개수 영역에서 선택한 개수로 증가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ko-KR" altLang="en-US" sz="700" dirty="0" smtClean="0"/>
              <a:t>예</a:t>
            </a:r>
            <a:r>
              <a:rPr lang="en-US" altLang="ko-KR" sz="700" dirty="0" smtClean="0"/>
              <a:t>) 10</a:t>
            </a:r>
            <a:r>
              <a:rPr lang="ko-KR" altLang="en-US" sz="700" dirty="0" smtClean="0"/>
              <a:t>개 노출 이후 </a:t>
            </a:r>
            <a:r>
              <a:rPr lang="ko-KR" altLang="en-US" sz="700" dirty="0" err="1" smtClean="0"/>
              <a:t>더보기</a:t>
            </a:r>
            <a:r>
              <a:rPr lang="ko-KR" altLang="en-US" sz="700" dirty="0" smtClean="0"/>
              <a:t> 버튼 클릭으로 </a:t>
            </a:r>
            <a:r>
              <a:rPr lang="en-US" altLang="ko-KR" sz="700" dirty="0" smtClean="0"/>
              <a:t>10</a:t>
            </a:r>
            <a:r>
              <a:rPr lang="ko-KR" altLang="en-US" sz="700" dirty="0" smtClean="0"/>
              <a:t>개씩 추가 로드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endParaRPr lang="en-US" altLang="ko-KR" sz="700" dirty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8615" y="3226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2055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63636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84573" y="22247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5396" y="25044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22365" y="28912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05536" y="34994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78" name="타원 1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24224" y="3511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6-1</a:t>
            </a:r>
            <a:endParaRPr lang="ko-KR" altLang="en-US" sz="600" b="1" dirty="0"/>
          </a:p>
        </p:txBody>
      </p:sp>
      <p:sp>
        <p:nvSpPr>
          <p:cNvPr id="179" name="타원 1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887229" y="35161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6-2</a:t>
            </a:r>
            <a:endParaRPr lang="ko-KR" altLang="en-US" sz="600" b="1" dirty="0"/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8517" y="37095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6-3</a:t>
            </a:r>
            <a:endParaRPr lang="ko-KR" altLang="en-US" sz="600" b="1" dirty="0"/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14518" y="22113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5-1</a:t>
            </a:r>
            <a:endParaRPr lang="ko-KR" altLang="en-US" sz="500" b="1" dirty="0"/>
          </a:p>
        </p:txBody>
      </p:sp>
      <p:sp>
        <p:nvSpPr>
          <p:cNvPr id="204" name="직사각형 203"/>
          <p:cNvSpPr/>
          <p:nvPr/>
        </p:nvSpPr>
        <p:spPr>
          <a:xfrm>
            <a:off x="3837995" y="2396927"/>
            <a:ext cx="3234267" cy="3868406"/>
          </a:xfrm>
          <a:prstGeom prst="rect">
            <a:avLst/>
          </a:prstGeom>
          <a:noFill/>
          <a:ln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직사각형 204"/>
          <p:cNvSpPr/>
          <p:nvPr/>
        </p:nvSpPr>
        <p:spPr>
          <a:xfrm>
            <a:off x="7045060" y="6376802"/>
            <a:ext cx="2358510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</a:t>
            </a:r>
            <a:r>
              <a:rPr lang="ko-KR" altLang="en-US" sz="500" dirty="0" err="1" smtClean="0"/>
              <a:t>표시레이블</a:t>
            </a:r>
            <a:r>
              <a:rPr lang="ko-KR" altLang="en-US" sz="500" dirty="0" smtClean="0"/>
              <a:t> 항목 확인 필요 </a:t>
            </a:r>
            <a:r>
              <a:rPr lang="en-US" altLang="ko-KR" sz="500" dirty="0" smtClean="0"/>
              <a:t>,</a:t>
            </a:r>
            <a:br>
              <a:rPr lang="en-US" altLang="ko-KR" sz="500" dirty="0" smtClean="0"/>
            </a:br>
            <a:r>
              <a:rPr lang="en-US" altLang="ko-KR" sz="500" dirty="0" smtClean="0"/>
              <a:t> </a:t>
            </a:r>
            <a:r>
              <a:rPr lang="ko-KR" altLang="en-US" sz="500" dirty="0" err="1" smtClean="0"/>
              <a:t>진행일자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해지해제사유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계약담당</a:t>
            </a:r>
            <a:r>
              <a:rPr lang="ko-KR" altLang="en-US" sz="500" dirty="0" smtClean="0"/>
              <a:t> 누락</a:t>
            </a:r>
            <a:r>
              <a:rPr lang="en-US" altLang="ko-KR" sz="500" dirty="0" smtClean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47955408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r>
              <a:rPr lang="en-US" altLang="ko-KR" dirty="0" smtClean="0"/>
              <a:t>[</a:t>
            </a:r>
            <a:r>
              <a:rPr lang="ko-KR" altLang="en-US" dirty="0" smtClean="0"/>
              <a:t>공통</a:t>
            </a:r>
            <a:r>
              <a:rPr lang="en-US" altLang="ko-KR" dirty="0" smtClean="0"/>
              <a:t>] </a:t>
            </a:r>
            <a:r>
              <a:rPr lang="ko-KR" altLang="en-US" dirty="0" smtClean="0"/>
              <a:t>각 </a:t>
            </a:r>
            <a:r>
              <a:rPr lang="ko-KR" altLang="en-US" dirty="0" err="1" smtClean="0"/>
              <a:t>섹션명</a:t>
            </a:r>
            <a:r>
              <a:rPr lang="ko-KR" altLang="en-US" dirty="0" smtClean="0"/>
              <a:t> 클릭 시 아코디언 동작</a:t>
            </a:r>
            <a:endParaRPr lang="en-US" altLang="ko-KR" dirty="0" smtClean="0"/>
          </a:p>
          <a:p>
            <a:pPr marL="0" indent="0">
              <a:buNone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검색필터</a:t>
            </a:r>
            <a:r>
              <a:rPr lang="ko-KR" altLang="en-US" dirty="0" smtClean="0"/>
              <a:t> 페이지 타이틀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초기화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닫기 버튼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검색유형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구분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검색 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직접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아이콘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데이트 </a:t>
            </a:r>
            <a:r>
              <a:rPr lang="ko-KR" altLang="en-US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dirty="0" smtClean="0">
                <a:sym typeface="Wingdings" panose="05000000000000000000" pitchFamily="2" charset="2"/>
              </a:rPr>
              <a:t> 호출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지정 설정으로 날짜 즉시 업데이트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dirty="0" smtClean="0">
                <a:sym typeface="Wingdings" panose="05000000000000000000" pitchFamily="2" charset="2"/>
              </a:rPr>
              <a:t> 영역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구분 설정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드롭 다운으로 각 </a:t>
            </a:r>
            <a:r>
              <a:rPr lang="ko-KR" altLang="en-US" dirty="0" err="1" smtClean="0">
                <a:sym typeface="Wingdings" panose="05000000000000000000" pitchFamily="2" charset="2"/>
              </a:rPr>
              <a:t>구분값</a:t>
            </a:r>
            <a:r>
              <a:rPr lang="ko-KR" altLang="en-US" dirty="0" smtClean="0">
                <a:sym typeface="Wingdings" panose="05000000000000000000" pitchFamily="2" charset="2"/>
              </a:rPr>
              <a:t> 설정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dirty="0" smtClean="0">
                <a:sym typeface="Wingdings" panose="05000000000000000000" pitchFamily="2" charset="2"/>
              </a:rPr>
              <a:t> 처리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검색 필터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계약 해지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해제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계약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-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28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000623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업무구분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41620" y="3230781"/>
            <a:ext cx="2305144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용역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공사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</a:rPr>
              <a:t>국외</a:t>
            </a:r>
            <a:endParaRPr lang="en-US" altLang="ko-KR" sz="700" dirty="0">
              <a:solidFill>
                <a:schemeClr val="bg1">
                  <a:lumMod val="65000"/>
                </a:schemeClr>
              </a:solidFill>
              <a:latin typeface="+mn-ea"/>
            </a:endParaRPr>
          </a:p>
        </p:txBody>
      </p:sp>
      <p:sp>
        <p:nvSpPr>
          <p:cNvPr id="132" name="직사각형 131"/>
          <p:cNvSpPr/>
          <p:nvPr/>
        </p:nvSpPr>
        <p:spPr>
          <a:xfrm>
            <a:off x="772169" y="329709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/>
          <p:cNvSpPr/>
          <p:nvPr/>
        </p:nvSpPr>
        <p:spPr>
          <a:xfrm>
            <a:off x="772169" y="3514319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4" name="그룹 133"/>
          <p:cNvGrpSpPr/>
          <p:nvPr/>
        </p:nvGrpSpPr>
        <p:grpSpPr>
          <a:xfrm flipV="1">
            <a:off x="3140949" y="3098313"/>
            <a:ext cx="91438" cy="45719"/>
            <a:chOff x="6812560" y="3297172"/>
            <a:chExt cx="94010" cy="47005"/>
          </a:xfrm>
        </p:grpSpPr>
        <p:cxnSp>
          <p:nvCxnSpPr>
            <p:cNvPr id="135" name="직선 연결선 13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6" name="직선 연결선 13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7" name="직사각형 136"/>
          <p:cNvSpPr/>
          <p:nvPr/>
        </p:nvSpPr>
        <p:spPr>
          <a:xfrm>
            <a:off x="772169" y="3711409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/>
          <p:cNvSpPr/>
          <p:nvPr/>
        </p:nvSpPr>
        <p:spPr>
          <a:xfrm>
            <a:off x="772169" y="3926070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772169" y="4138036"/>
            <a:ext cx="107950" cy="10795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/>
          <p:cNvSpPr txBox="1"/>
          <p:nvPr/>
        </p:nvSpPr>
        <p:spPr>
          <a:xfrm>
            <a:off x="712771" y="3475961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4037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9264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4647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49523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717777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해지해제</a:t>
            </a:r>
            <a:r>
              <a:rPr lang="ko-KR" altLang="en-US" sz="700" dirty="0" smtClean="0">
                <a:latin typeface="+mn-ea"/>
              </a:rPr>
              <a:t> 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4592929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745408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4765355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4976077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745408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8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23094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구분 설정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26" name="그룹 225"/>
          <p:cNvGrpSpPr/>
          <p:nvPr/>
        </p:nvGrpSpPr>
        <p:grpSpPr>
          <a:xfrm flipV="1">
            <a:off x="6261284" y="3328631"/>
            <a:ext cx="91438" cy="45719"/>
            <a:chOff x="6812560" y="3297172"/>
            <a:chExt cx="94010" cy="47005"/>
          </a:xfrm>
        </p:grpSpPr>
        <p:cxnSp>
          <p:nvCxnSpPr>
            <p:cNvPr id="227" name="직선 연결선 2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8" name="직선 연결선 2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9" name="모서리가 둥근 직사각형 228"/>
          <p:cNvSpPr/>
          <p:nvPr/>
        </p:nvSpPr>
        <p:spPr>
          <a:xfrm>
            <a:off x="4569619" y="351143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459306"/>
            <a:ext cx="670770" cy="9048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10000"/>
              </a:lnSpc>
            </a:pPr>
            <a:r>
              <a:rPr lang="ko-KR" altLang="en-US" sz="700" dirty="0" smtClean="0">
                <a:latin typeface="+mn-ea"/>
              </a:rPr>
              <a:t>진행상태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err="1">
                <a:latin typeface="+mn-ea"/>
              </a:rPr>
              <a:t>해지구분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err="1" smtClean="0">
                <a:latin typeface="+mn-ea"/>
              </a:rPr>
              <a:t>입찰형태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31" name="모서리가 둥근 직사각형 230"/>
          <p:cNvSpPr/>
          <p:nvPr/>
        </p:nvSpPr>
        <p:spPr>
          <a:xfrm>
            <a:off x="4569619" y="373436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232" name="모서리가 둥근 직사각형 231"/>
          <p:cNvSpPr/>
          <p:nvPr/>
        </p:nvSpPr>
        <p:spPr>
          <a:xfrm>
            <a:off x="4569619" y="395594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6261284" y="4029021"/>
            <a:ext cx="91438" cy="45719"/>
            <a:chOff x="6812560" y="3297172"/>
            <a:chExt cx="94010" cy="47005"/>
          </a:xfrm>
        </p:grpSpPr>
        <p:cxnSp>
          <p:nvCxnSpPr>
            <p:cNvPr id="242" name="직선 연결선 2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3" name="직선 연결선 2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4" name="그룹 243"/>
          <p:cNvGrpSpPr/>
          <p:nvPr/>
        </p:nvGrpSpPr>
        <p:grpSpPr>
          <a:xfrm>
            <a:off x="6261284" y="3812854"/>
            <a:ext cx="91438" cy="45719"/>
            <a:chOff x="6812560" y="3297172"/>
            <a:chExt cx="94010" cy="47005"/>
          </a:xfrm>
        </p:grpSpPr>
        <p:cxnSp>
          <p:nvCxnSpPr>
            <p:cNvPr id="245" name="직선 연결선 2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6" name="직선 연결선 2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/>
          <p:cNvGrpSpPr/>
          <p:nvPr/>
        </p:nvGrpSpPr>
        <p:grpSpPr>
          <a:xfrm>
            <a:off x="6261284" y="3582172"/>
            <a:ext cx="91438" cy="45719"/>
            <a:chOff x="6812560" y="3297172"/>
            <a:chExt cx="94010" cy="47005"/>
          </a:xfrm>
        </p:grpSpPr>
        <p:cxnSp>
          <p:nvCxnSpPr>
            <p:cNvPr id="248" name="직선 연결선 24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9" name="직선 연결선 24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67" name="직선 연결선 2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935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373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0461" y="19777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검색유형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83" name="그룹 282"/>
          <p:cNvGrpSpPr/>
          <p:nvPr/>
        </p:nvGrpSpPr>
        <p:grpSpPr>
          <a:xfrm flipV="1">
            <a:off x="3162895" y="2075438"/>
            <a:ext cx="91438" cy="45719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9" name="TextBox 2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63566" y="2221573"/>
            <a:ext cx="2305144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계약해지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계약해제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195658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검색어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일부 입력 가능</a:t>
            </a:r>
            <a:r>
              <a:rPr lang="en-US" altLang="ko-KR" sz="700" b="1" dirty="0" smtClean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6266056" y="2054271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4" name="모서리가 둥근 직사각형 203"/>
          <p:cNvSpPr/>
          <p:nvPr/>
        </p:nvSpPr>
        <p:spPr>
          <a:xfrm>
            <a:off x="4574391" y="223707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계약건명을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2193572"/>
            <a:ext cx="670770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07" name="모서리가 둥근 직사각형 206"/>
          <p:cNvSpPr/>
          <p:nvPr/>
        </p:nvSpPr>
        <p:spPr>
          <a:xfrm>
            <a:off x="4574391" y="245862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8" name="모서리가 둥근 직사각형 207"/>
          <p:cNvSpPr/>
          <p:nvPr/>
        </p:nvSpPr>
        <p:spPr>
          <a:xfrm>
            <a:off x="4574391" y="2680180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발주기관을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4577342" y="2916405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담당자을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grpSp>
        <p:nvGrpSpPr>
          <p:cNvPr id="141" name="그룹 140"/>
          <p:cNvGrpSpPr/>
          <p:nvPr/>
        </p:nvGrpSpPr>
        <p:grpSpPr>
          <a:xfrm rot="16200000">
            <a:off x="6266058" y="2750920"/>
            <a:ext cx="91438" cy="45719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243683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5271314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5291261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5501983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5271314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169" name="그룹 168"/>
          <p:cNvGrpSpPr/>
          <p:nvPr/>
        </p:nvGrpSpPr>
        <p:grpSpPr>
          <a:xfrm>
            <a:off x="772169" y="2297325"/>
            <a:ext cx="107950" cy="522266"/>
            <a:chOff x="772169" y="2297325"/>
            <a:chExt cx="107950" cy="522266"/>
          </a:xfrm>
        </p:grpSpPr>
        <p:sp>
          <p:nvSpPr>
            <p:cNvPr id="170" name="직사각형 169"/>
            <p:cNvSpPr/>
            <p:nvPr/>
          </p:nvSpPr>
          <p:spPr>
            <a:xfrm>
              <a:off x="772169" y="2297325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772169" y="251455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4" name="직사각형 173"/>
            <p:cNvSpPr/>
            <p:nvPr/>
          </p:nvSpPr>
          <p:spPr>
            <a:xfrm>
              <a:off x="772169" y="2711641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7" name="TextBox 176"/>
          <p:cNvSpPr txBox="1"/>
          <p:nvPr/>
        </p:nvSpPr>
        <p:spPr>
          <a:xfrm>
            <a:off x="712771" y="2469709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4569619" y="417973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grpSp>
        <p:nvGrpSpPr>
          <p:cNvPr id="152" name="그룹 151"/>
          <p:cNvGrpSpPr/>
          <p:nvPr/>
        </p:nvGrpSpPr>
        <p:grpSpPr>
          <a:xfrm>
            <a:off x="6261284" y="4252811"/>
            <a:ext cx="91438" cy="45719"/>
            <a:chOff x="6812560" y="3297172"/>
            <a:chExt cx="94010" cy="47005"/>
          </a:xfrm>
        </p:grpSpPr>
        <p:cxnSp>
          <p:nvCxnSpPr>
            <p:cNvPr id="162" name="직선 연결선 16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3" name="직선 연결선 16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2366669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999404"/>
            <a:ext cx="235858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3410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289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9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099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953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진행상태를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4646940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28315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fcltPicNm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담당관명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0A0A9A45-7FEE-1598-C314-3774454B6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46771104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69027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06507"/>
          <a:ext cx="8995591" cy="10789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추가계약보증금 상세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정보가 조회된다</a:t>
                      </a:r>
                      <a:r>
                        <a:rPr lang="en-US" altLang="ko-KR" sz="800" dirty="0"/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/>
                        <a:t>그리드</a:t>
                      </a:r>
                      <a:r>
                        <a:rPr lang="en-US" altLang="ko-KR" sz="800"/>
                        <a:t>-</a:t>
                      </a:r>
                      <a:r>
                        <a:rPr lang="ko-KR" altLang="en-US" sz="800"/>
                        <a:t>계약건명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scwin.grd_ctrtNm_ctrtcncltnRmvList_onclick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 상세 화면이 호출된다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(UI-CT-03-M02)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물품계약해지해제상세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(UI-CT-03-M03)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해지해제일반계약총액제상세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(UI-CT-03-M04)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해지해제일반계약단가제상세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(UI-CT-03-M05)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해지해제수정계약상세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(UI-CT-03-M06)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공사계약해지해제상세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342213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3EBE10A-F4BA-BA46-8D94-0B25A8BCDD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9459969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해지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해지 상세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물품계약해지해제상세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해지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해지해제</a:t>
            </a:r>
            <a:r>
              <a:rPr lang="ko-KR" altLang="en-US" sz="800" dirty="0" smtClean="0">
                <a:latin typeface="+mn-ea"/>
              </a:rPr>
              <a:t>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계약서유형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3836701" y="2493577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1236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15600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4269336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48672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48672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460972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72826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728268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홍길동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1960873" y="2278058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5065625" y="160234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0996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2330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7129" y="4142235"/>
            <a:ext cx="5814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 smtClean="0">
                <a:latin typeface="+mn-ea"/>
              </a:rPr>
              <a:t>해지해제</a:t>
            </a:r>
            <a:r>
              <a:rPr lang="ko-KR" altLang="en-US" sz="700" dirty="0" smtClean="0">
                <a:latin typeface="+mn-ea"/>
              </a:rPr>
              <a:t> 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8463" y="2250820"/>
            <a:ext cx="583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해지해제</a:t>
            </a:r>
            <a:r>
              <a:rPr lang="ko-KR" altLang="en-US" sz="700" dirty="0">
                <a:latin typeface="+mn-ea"/>
              </a:rPr>
              <a:t> 정보</a:t>
            </a:r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3" name="그룹 172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5" name="타원 174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7" name="그룹 176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8" name="타원 177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9" name="그룹 178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3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계약업체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해지해제정보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237" name="직사각형 236"/>
          <p:cNvSpPr/>
          <p:nvPr/>
        </p:nvSpPr>
        <p:spPr>
          <a:xfrm>
            <a:off x="7100628" y="6072298"/>
            <a:ext cx="2266118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</a:t>
            </a:r>
            <a:r>
              <a:rPr lang="ko-KR" altLang="en-US" sz="500" dirty="0" err="1" smtClean="0"/>
              <a:t>총부기금액</a:t>
            </a:r>
            <a:r>
              <a:rPr lang="ko-KR" altLang="en-US" sz="500" dirty="0" smtClean="0"/>
              <a:t> 누락</a:t>
            </a:r>
            <a:r>
              <a:rPr lang="en-US" altLang="ko-KR" sz="500" dirty="0" smtClean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5830712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539139"/>
            <a:chOff x="701175" y="1527996"/>
            <a:chExt cx="2630093" cy="353913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3231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계약서유형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 ~ 2026-12-30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조달업체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231624"/>
              <a:chOff x="701175" y="1835481"/>
              <a:chExt cx="2630093" cy="323162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7964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081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88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63762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523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671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6061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48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4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5449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78780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19168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771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3737712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1756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68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663908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3717769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</p:spTree>
    <p:extLst>
      <p:ext uri="{BB962C8B-B14F-4D97-AF65-F5344CB8AC3E}">
        <p14:creationId xmlns:p14="http://schemas.microsoft.com/office/powerpoint/2010/main" val="280148533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76944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2618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8289197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해지해제</a:t>
            </a:r>
            <a:r>
              <a:rPr lang="ko-KR" altLang="en-US" dirty="0" smtClean="0">
                <a:latin typeface="+mn-ea"/>
              </a:rPr>
              <a:t> 정보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8956" y="3129629"/>
            <a:ext cx="1252172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해지해제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spc="-52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통보내용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91" name="그룹 90"/>
          <p:cNvGrpSpPr/>
          <p:nvPr/>
        </p:nvGrpSpPr>
        <p:grpSpPr>
          <a:xfrm flipV="1">
            <a:off x="3201043" y="3242960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56611" y="416968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797578" y="3420996"/>
            <a:ext cx="2630093" cy="658520"/>
            <a:chOff x="3865118" y="2946204"/>
            <a:chExt cx="2630093" cy="658520"/>
          </a:xfrm>
        </p:grpSpPr>
        <p:sp>
          <p:nvSpPr>
            <p:cNvPr id="53" name="직사각형 52"/>
            <p:cNvSpPr/>
            <p:nvPr/>
          </p:nvSpPr>
          <p:spPr>
            <a:xfrm>
              <a:off x="3867211" y="2946204"/>
              <a:ext cx="792000" cy="65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통보차수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통지일시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통보메일내용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업체 경영 상황에 따른 </a:t>
              </a:r>
              <a:r>
                <a:rPr lang="ko-KR" altLang="en-US" sz="700" dirty="0" smtClean="0"/>
                <a:t>계약해지</a:t>
              </a:r>
              <a:endParaRPr lang="ko-KR" altLang="en-US" sz="700" dirty="0"/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9" name="그룹 118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34" name="직선 연결선 1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5" name="직선 연결선 1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모서리가 둥근 직사각형 12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5" name="타원 124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6" name="모서리가 둥근 직사각형 12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41278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9" name="타원 128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153" name="직사각형 152"/>
          <p:cNvSpPr/>
          <p:nvPr/>
        </p:nvSpPr>
        <p:spPr>
          <a:xfrm>
            <a:off x="2580536" y="2429433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4" name="직사각형 153"/>
          <p:cNvSpPr/>
          <p:nvPr/>
        </p:nvSpPr>
        <p:spPr>
          <a:xfrm>
            <a:off x="2576950" y="1984067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7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해지해제통보내용 표시</a:t>
            </a:r>
            <a:endParaRPr lang="en-US" altLang="ko-KR" dirty="0" smtClean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92633450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856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3710"/>
          <a:ext cx="8994883" cy="4194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9929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977392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FB633A5-38EC-8DFF-FE6A-E78F666D5A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588067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rlprSecd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5637137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2307407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57762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832058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3BD3B9F-ACA0-7080-186D-647955612811}"/>
              </a:ext>
            </a:extLst>
          </p:cNvPr>
          <p:cNvSpPr txBox="1"/>
          <p:nvPr/>
        </p:nvSpPr>
        <p:spPr>
          <a:xfrm>
            <a:off x="443054" y="3313923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참조서류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D0189910-144A-3F11-D512-83E0C8F2215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576413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cncltnRmvDmndAdocNm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23F87E72-897D-717D-0FE0-275855EF65FB}"/>
              </a:ext>
            </a:extLst>
          </p:cNvPr>
          <p:cNvSpPr txBox="1"/>
          <p:nvPr/>
        </p:nvSpPr>
        <p:spPr>
          <a:xfrm>
            <a:off x="443054" y="4293360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통보내용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76FEAEB-973D-2BE3-880D-C12942F83F3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455585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ctrtPrgrsSttsDt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55530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8BD5011-F17E-2051-778C-0499E2CDBE2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427738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184171"/>
              </p:ext>
            </p:extLst>
          </p:nvPr>
        </p:nvGraphicFramePr>
        <p:xfrm>
          <a:off x="453000" y="1009312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계약명세서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3D4F2578-2B81-1851-4754-F0ED044FDF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477074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 smtClean="0"/>
              <a:t> </a:t>
            </a:r>
            <a:r>
              <a:rPr lang="ko-KR" altLang="en-US" dirty="0"/>
              <a:t>조회 </a:t>
            </a:r>
            <a:r>
              <a:rPr lang="ko-KR" altLang="en-US" dirty="0" smtClean="0"/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직사각형 199"/>
          <p:cNvSpPr/>
          <p:nvPr/>
        </p:nvSpPr>
        <p:spPr>
          <a:xfrm>
            <a:off x="7101170" y="6023316"/>
            <a:ext cx="2266118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삭감금액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사업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승인일자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도면번호</a:t>
            </a:r>
            <a:r>
              <a:rPr lang="ko-KR" altLang="en-US" sz="500" dirty="0" smtClean="0"/>
              <a:t> </a:t>
            </a:r>
            <a:r>
              <a:rPr lang="ko-KR" altLang="en-US" sz="500" dirty="0" err="1" smtClean="0"/>
              <a:t>총부기금액</a:t>
            </a:r>
            <a:r>
              <a:rPr lang="ko-KR" altLang="en-US" sz="500" dirty="0" smtClean="0"/>
              <a:t> 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7" name="타원 2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39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7004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</p:spTree>
    <p:extLst>
      <p:ext uri="{BB962C8B-B14F-4D97-AF65-F5344CB8AC3E}">
        <p14:creationId xmlns:p14="http://schemas.microsoft.com/office/powerpoint/2010/main" val="1608459783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108252"/>
            <a:chOff x="701175" y="1527996"/>
            <a:chExt cx="2630093" cy="310825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7810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해지해제일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000 000  00 00000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790930"/>
              <a:chOff x="701175" y="1835481"/>
              <a:chExt cx="2630093" cy="279093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1167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641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543960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6276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5926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8334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29667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140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140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63706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5561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5561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49392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3555" y="15413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2147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2115201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4955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65284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302158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600056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575368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06686221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3821642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6632083"/>
              </p:ext>
            </p:extLst>
          </p:nvPr>
        </p:nvGraphicFramePr>
        <p:xfrm>
          <a:off x="452999" y="111706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24308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73845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240732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D91A7E5-937F-E221-FDB3-6C08210E6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5068951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864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7204190"/>
              </p:ext>
            </p:extLst>
          </p:nvPr>
        </p:nvGraphicFramePr>
        <p:xfrm>
          <a:off x="437936" y="2348934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2555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84145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14663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0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88927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15176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2C92AC0-77EE-876F-BC80-7AEE77D8CE0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438390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1914214"/>
              </p:ext>
            </p:extLst>
          </p:nvPr>
        </p:nvGraphicFramePr>
        <p:xfrm>
          <a:off x="453000" y="102680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1057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3CCF530-0365-D3D7-6360-668B198E9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486218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일반계약단가제해지해제상세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일반계약단가제해지해제상세</a:t>
            </a:r>
            <a:r>
              <a:rPr lang="ko-KR" altLang="en-US" dirty="0" smtClean="0"/>
              <a:t> </a:t>
            </a:r>
            <a:r>
              <a:rPr lang="ko-KR" altLang="en-US" dirty="0"/>
              <a:t>조회 </a:t>
            </a:r>
            <a:r>
              <a:rPr lang="ko-KR" altLang="en-US" dirty="0" smtClean="0"/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일반계약단가제해지해제상세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5" name="그룹 16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6" name="그룹 165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7" name="타원 2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9" name="타원 2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4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513670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47" name="직사각형 246"/>
          <p:cNvSpPr/>
          <p:nvPr/>
        </p:nvSpPr>
        <p:spPr>
          <a:xfrm>
            <a:off x="7078049" y="6122339"/>
            <a:ext cx="2300641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삭감금액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적용장비</a:t>
            </a:r>
            <a:r>
              <a:rPr lang="ko-KR" altLang="en-US" sz="500" dirty="0" smtClean="0"/>
              <a:t> 사업</a:t>
            </a:r>
            <a:r>
              <a:rPr lang="en-US" altLang="ko-KR" sz="500" dirty="0" smtClean="0"/>
              <a:t>,</a:t>
            </a:r>
            <a:r>
              <a:rPr lang="ko-KR" altLang="en-US" sz="500" dirty="0"/>
              <a:t> </a:t>
            </a:r>
            <a:r>
              <a:rPr lang="ko-KR" altLang="en-US" sz="500" dirty="0" err="1" smtClean="0"/>
              <a:t>승인일자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도면번호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</a:t>
            </a:r>
            <a:r>
              <a:rPr lang="ko-KR" altLang="en-US" sz="500" dirty="0"/>
              <a:t>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납기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납지순위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납지수량</a:t>
            </a:r>
            <a:r>
              <a:rPr lang="ko-KR" altLang="en-US" sz="500" dirty="0" smtClean="0"/>
              <a:t> 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54256118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108252"/>
            <a:chOff x="701175" y="1527996"/>
            <a:chExt cx="2630093" cy="310825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7810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해지해제일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000 000  00 00000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790930"/>
              <a:chOff x="701175" y="1835481"/>
              <a:chExt cx="2630093" cy="279093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1167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641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543960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6276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5926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8334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29667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140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140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63706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5561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5561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49392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3555" y="15413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2147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032651008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4955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65284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302158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600056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575368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4028020077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90059651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423697"/>
              </p:ext>
            </p:extLst>
          </p:nvPr>
        </p:nvGraphicFramePr>
        <p:xfrm>
          <a:off x="452999" y="109801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44612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358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890608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F6543C8-1364-FCEE-CD86-7A0CD86658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1595499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483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7204796"/>
              </p:ext>
            </p:extLst>
          </p:nvPr>
        </p:nvGraphicFramePr>
        <p:xfrm>
          <a:off x="437936" y="2310834"/>
          <a:ext cx="8994883" cy="407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6939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8802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8040331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26995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1847770"/>
              </p:ext>
            </p:extLst>
          </p:nvPr>
        </p:nvGraphicFramePr>
        <p:xfrm>
          <a:off x="437936" y="108948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plcdlvRnk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574951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83744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A83496E-5722-9A13-D5E3-689A22BA970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92918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72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scwin.btn_list_onclick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 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UI-CT-03-M01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11868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10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CD63C9B0-F42A-DC2A-6BDD-5878F3C932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7671255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해지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2792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수정계약사유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884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89992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53139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계약특수조건 </a:t>
            </a: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324803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426516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63" name="타원 2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66" name="타원 2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67" name="타원 2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68" name="타원 2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69" name="타원 2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70" name="타원 2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7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공고번호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공고번호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81" name="직사각형 280"/>
          <p:cNvSpPr/>
          <p:nvPr/>
        </p:nvSpPr>
        <p:spPr>
          <a:xfrm>
            <a:off x="7089279" y="6154771"/>
            <a:ext cx="2301850" cy="1660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err="1" smtClean="0"/>
              <a:t>수정항목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금액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납지수량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2657651318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</a:t>
              </a:r>
              <a:r>
                <a:rPr lang="en-US" altLang="ko-KR" sz="700" dirty="0" smtClean="0">
                  <a:latin typeface="+mn-ea"/>
                </a:rPr>
                <a:t>000000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185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63917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752507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09289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21143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21143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527996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3610205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363915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55229225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수정계약명세정보서</a:t>
            </a:r>
            <a:r>
              <a:rPr lang="ko-KR" altLang="en-US" dirty="0" smtClean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무슨 항목이 변경되었는지 표시되는 항목으로 사용자 선택 불가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단순 노출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~</a:t>
            </a:r>
            <a:r>
              <a:rPr lang="ko-KR" altLang="en-US" dirty="0" smtClean="0"/>
              <a:t>으로 바뀌었다는 의미로 사용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[</a:t>
            </a:r>
            <a:r>
              <a:rPr lang="ko-KR" altLang="en-US" dirty="0" smtClean="0">
                <a:solidFill>
                  <a:srgbClr val="FF0000"/>
                </a:solidFill>
              </a:rPr>
              <a:t>수정 후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dirty="0" smtClean="0">
                <a:solidFill>
                  <a:srgbClr val="FF0000"/>
                </a:solidFill>
              </a:rPr>
              <a:t>코멘트를 </a:t>
            </a:r>
            <a:r>
              <a:rPr lang="ko-KR" altLang="en-US" dirty="0" err="1" smtClean="0">
                <a:solidFill>
                  <a:srgbClr val="FF0000"/>
                </a:solidFill>
              </a:rPr>
              <a:t>코드값에</a:t>
            </a:r>
            <a:r>
              <a:rPr lang="ko-KR" altLang="en-US" dirty="0" smtClean="0">
                <a:solidFill>
                  <a:srgbClr val="FF0000"/>
                </a:solidFill>
              </a:rPr>
              <a:t> 맞춰 추가로 넣어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사용자가 인지할 수 있도록 추가함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표의 </a:t>
            </a:r>
            <a:r>
              <a:rPr lang="ko-KR" altLang="en-US" dirty="0" err="1" smtClean="0">
                <a:solidFill>
                  <a:srgbClr val="FF0000"/>
                </a:solidFill>
              </a:rPr>
              <a:t>표시정보는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ko-KR" altLang="en-US" dirty="0" err="1" smtClean="0">
                <a:solidFill>
                  <a:srgbClr val="FF0000"/>
                </a:solidFill>
              </a:rPr>
              <a:t>항목정보</a:t>
            </a:r>
            <a:r>
              <a:rPr lang="ko-KR" altLang="en-US" dirty="0" smtClean="0">
                <a:solidFill>
                  <a:srgbClr val="FF0000"/>
                </a:solidFill>
              </a:rPr>
              <a:t> 참조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노출되는 표의 정보가 많음으로 일부 접기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펼치기를 통해서 </a:t>
            </a:r>
            <a:r>
              <a:rPr lang="en-US" altLang="ko-KR" dirty="0" smtClean="0">
                <a:solidFill>
                  <a:srgbClr val="FF0000"/>
                </a:solidFill>
              </a:rPr>
              <a:t>4</a:t>
            </a:r>
            <a:r>
              <a:rPr lang="ko-KR" altLang="en-US" dirty="0" smtClean="0">
                <a:solidFill>
                  <a:srgbClr val="FF0000"/>
                </a:solidFill>
              </a:rPr>
              <a:t>개 </a:t>
            </a:r>
            <a:r>
              <a:rPr lang="ko-KR" altLang="en-US" dirty="0" err="1" smtClean="0">
                <a:solidFill>
                  <a:srgbClr val="FF0000"/>
                </a:solidFill>
              </a:rPr>
              <a:t>표까지만</a:t>
            </a:r>
            <a:r>
              <a:rPr lang="ko-KR" altLang="en-US" dirty="0" smtClean="0">
                <a:solidFill>
                  <a:srgbClr val="FF0000"/>
                </a:solidFill>
              </a:rPr>
              <a:t> 노출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~</a:t>
            </a:r>
            <a:r>
              <a:rPr lang="ko-KR" altLang="en-US" dirty="0" smtClean="0"/>
              <a:t>을 </a:t>
            </a:r>
            <a:r>
              <a:rPr lang="en-US" altLang="ko-KR" dirty="0" smtClean="0"/>
              <a:t>2</a:t>
            </a:r>
            <a:r>
              <a:rPr lang="ko-KR" altLang="en-US" dirty="0" err="1" smtClean="0"/>
              <a:t>번항으로</a:t>
            </a:r>
            <a:r>
              <a:rPr lang="ko-KR" altLang="en-US" dirty="0" smtClean="0"/>
              <a:t> 바뀌기 전 내용을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>
                <a:solidFill>
                  <a:srgbClr val="FF0000"/>
                </a:solidFill>
              </a:rPr>
              <a:t>- [</a:t>
            </a:r>
            <a:r>
              <a:rPr lang="ko-KR" altLang="en-US" dirty="0" smtClean="0">
                <a:solidFill>
                  <a:srgbClr val="FF0000"/>
                </a:solidFill>
              </a:rPr>
              <a:t>수정 전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dirty="0">
                <a:solidFill>
                  <a:srgbClr val="FF0000"/>
                </a:solidFill>
              </a:rPr>
              <a:t>코멘트를 </a:t>
            </a:r>
            <a:r>
              <a:rPr lang="ko-KR" altLang="en-US" dirty="0" err="1">
                <a:solidFill>
                  <a:srgbClr val="FF0000"/>
                </a:solidFill>
              </a:rPr>
              <a:t>코드값에</a:t>
            </a:r>
            <a:r>
              <a:rPr lang="ko-KR" altLang="en-US" dirty="0">
                <a:solidFill>
                  <a:srgbClr val="FF0000"/>
                </a:solidFill>
              </a:rPr>
              <a:t> 맞춰 추가로 넣어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사용자가 인지할 수 있도록 </a:t>
            </a:r>
            <a:r>
              <a:rPr lang="ko-KR" altLang="en-US" dirty="0" smtClean="0">
                <a:solidFill>
                  <a:srgbClr val="FF0000"/>
                </a:solidFill>
              </a:rPr>
              <a:t>추가함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노출되는 표의 정보가 많음으로 일부 접기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펼치기를 통해서 </a:t>
            </a:r>
            <a:r>
              <a:rPr lang="en-US" altLang="ko-KR" dirty="0">
                <a:solidFill>
                  <a:srgbClr val="FF0000"/>
                </a:solidFill>
              </a:rPr>
              <a:t>4</a:t>
            </a:r>
            <a:r>
              <a:rPr lang="ko-KR" altLang="en-US" dirty="0">
                <a:solidFill>
                  <a:srgbClr val="FF0000"/>
                </a:solidFill>
              </a:rPr>
              <a:t>개 </a:t>
            </a:r>
            <a:r>
              <a:rPr lang="ko-KR" altLang="en-US" dirty="0" err="1">
                <a:solidFill>
                  <a:srgbClr val="FF0000"/>
                </a:solidFill>
              </a:rPr>
              <a:t>표까지만</a:t>
            </a:r>
            <a:r>
              <a:rPr lang="ko-KR" altLang="en-US" dirty="0">
                <a:solidFill>
                  <a:srgbClr val="FF0000"/>
                </a:solidFill>
              </a:rPr>
              <a:t> 노출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건의 수정이 발생할 수 있으며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수정전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수정후를</a:t>
            </a:r>
            <a:r>
              <a:rPr lang="ko-KR" altLang="en-US" dirty="0" smtClean="0"/>
              <a:t> 반복적으로 노출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26175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268344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– </a:t>
              </a:r>
              <a:r>
                <a:rPr lang="ko-KR" altLang="en-US" sz="700" dirty="0" smtClean="0">
                  <a:latin typeface="+mn-ea"/>
                </a:rPr>
                <a:t>으로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수정 후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장기국채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1790858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527996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– </a:t>
              </a:r>
              <a:r>
                <a:rPr lang="ko-KR" altLang="en-US" sz="700" dirty="0" smtClean="0">
                  <a:latin typeface="+mn-ea"/>
                </a:rPr>
                <a:t>을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수정 전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7866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타원 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5567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897" y="158043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897" y="3984685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96588392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479113851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52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78960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mdfcnCtrtIncrsAmt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diffAmt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depsSecd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B6C0723-DD77-4C6C-BB69-AF4AC6094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476FC31-1E0C-15F2-0142-1F77BAD8593F}"/>
              </a:ext>
            </a:extLst>
          </p:cNvPr>
          <p:cNvSpPr txBox="1"/>
          <p:nvPr/>
        </p:nvSpPr>
        <p:spPr>
          <a:xfrm>
            <a:off x="458117" y="49290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8ACE5CF-52D5-789C-9E2B-BABB825CCF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5011621"/>
              </p:ext>
            </p:extLst>
          </p:nvPr>
        </p:nvGraphicFramePr>
        <p:xfrm>
          <a:off x="452999" y="517688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2964722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784391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2521130"/>
              </p:ext>
            </p:extLst>
          </p:nvPr>
        </p:nvGraphicFramePr>
        <p:xfrm>
          <a:off x="452999" y="1068145"/>
          <a:ext cx="8994883" cy="4388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121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2550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12093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1127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0133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1142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0847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718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2941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64109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829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3615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065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9797664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E07A1CA-547C-87B6-58E9-6C22BEA2427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5484541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79352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5601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107F5B2-3078-70B4-1284-2A3CF7413DF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824131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593323"/>
              </p:ext>
            </p:extLst>
          </p:nvPr>
        </p:nvGraphicFramePr>
        <p:xfrm>
          <a:off x="453000" y="100288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8665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850E93AB-D343-F172-4F98-1E13F4138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433676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해지해제공사계약상세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>
                <a:solidFill>
                  <a:prstClr val="black"/>
                </a:solidFill>
              </a:rPr>
              <a:t> 공사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모서리가 둥근 직사각형 153"/>
          <p:cNvSpPr/>
          <p:nvPr/>
        </p:nvSpPr>
        <p:spPr>
          <a:xfrm>
            <a:off x="4626322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55" name="그룹 15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7" name="직사각형 15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1" name="그룹 15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2" name="그룹 15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3" name="직선 연결선 1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2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24" name="직사각형 223"/>
          <p:cNvSpPr/>
          <p:nvPr/>
        </p:nvSpPr>
        <p:spPr>
          <a:xfrm>
            <a:off x="7066105" y="6072298"/>
            <a:ext cx="232502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err="1" smtClean="0"/>
              <a:t>계약부대</a:t>
            </a:r>
            <a:r>
              <a:rPr lang="en-US" altLang="ko-KR" sz="500" dirty="0" smtClean="0"/>
              <a:t>(</a:t>
            </a:r>
            <a:r>
              <a:rPr lang="ko-KR" altLang="en-US" sz="500" dirty="0" err="1" smtClean="0"/>
              <a:t>명칭확인</a:t>
            </a:r>
            <a:r>
              <a:rPr lang="en-US" altLang="ko-KR" sz="500" dirty="0" smtClean="0"/>
              <a:t>), 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99273221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해지해제공사계약상세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1" name="그룹 15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2" name="그룹 15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3" name="직선 연결선 1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</p:txBody>
      </p:sp>
      <p:sp>
        <p:nvSpPr>
          <p:cNvPr id="176" name="타원 175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7" name="그룹 17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78" name="직선 연결선 177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9" name="직선 연결선 178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0" name="직선 연결선 179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1" name="직선 연결선 180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5" name="타원 184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87" name="그룹 186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5" name="직선 연결선 224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91685" y="5590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60997" y="1490952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8" name="직선 연결선 2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231" name="직선 연결선 2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2" name="직선 연결선 2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36" name="그룹 235"/>
          <p:cNvGrpSpPr/>
          <p:nvPr/>
        </p:nvGrpSpPr>
        <p:grpSpPr>
          <a:xfrm>
            <a:off x="3754378" y="3013814"/>
            <a:ext cx="2718997" cy="3269110"/>
            <a:chOff x="7087364" y="5599752"/>
            <a:chExt cx="2718997" cy="3269110"/>
          </a:xfrm>
        </p:grpSpPr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625129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59252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438749" y="6285043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공지사항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6" name="타원 245"/>
            <p:cNvSpPr/>
            <p:nvPr/>
          </p:nvSpPr>
          <p:spPr>
            <a:xfrm>
              <a:off x="7202621" y="631638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47" name="그룹 246"/>
            <p:cNvGrpSpPr/>
            <p:nvPr/>
          </p:nvGrpSpPr>
          <p:grpSpPr>
            <a:xfrm>
              <a:off x="9562483" y="6398374"/>
              <a:ext cx="94010" cy="47005"/>
              <a:chOff x="6812560" y="3297172"/>
              <a:chExt cx="94010" cy="47005"/>
            </a:xfrm>
          </p:grpSpPr>
          <p:cxnSp>
            <p:nvCxnSpPr>
              <p:cNvPr id="342" name="직선 연결선 3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43" name="직선 연결선 3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83104" y="6730334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7480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53" name="그룹 252"/>
            <p:cNvGrpSpPr/>
            <p:nvPr/>
          </p:nvGrpSpPr>
          <p:grpSpPr>
            <a:xfrm>
              <a:off x="9343021" y="6692211"/>
              <a:ext cx="422853" cy="187961"/>
              <a:chOff x="3641308" y="2234886"/>
              <a:chExt cx="422853" cy="187961"/>
            </a:xfrm>
          </p:grpSpPr>
          <p:sp>
            <p:nvSpPr>
              <p:cNvPr id="331" name="타원 33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2" name="그룹 33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9" name="직선 연결선 33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1" name="직선 연결선 3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33" name="타원 332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4" name="그룹 333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5" name="직선 연결선 3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6" name="직선 연결선 3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00396" y="7053272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상세정보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55" name="그룹 254"/>
            <p:cNvGrpSpPr/>
            <p:nvPr/>
          </p:nvGrpSpPr>
          <p:grpSpPr>
            <a:xfrm flipV="1">
              <a:off x="9562483" y="7166603"/>
              <a:ext cx="94010" cy="47005"/>
              <a:chOff x="6812560" y="3297172"/>
              <a:chExt cx="94010" cy="47005"/>
            </a:xfrm>
          </p:grpSpPr>
          <p:cxnSp>
            <p:nvCxnSpPr>
              <p:cNvPr id="329" name="직선 연결선 32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30" name="직선 연결선 32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6" name="직사각형 255"/>
            <p:cNvSpPr/>
            <p:nvPr/>
          </p:nvSpPr>
          <p:spPr>
            <a:xfrm>
              <a:off x="7141518" y="7360757"/>
              <a:ext cx="792000" cy="14596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736075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8582" y="7360757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계약서 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85430" y="7360757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5918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8055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0192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2329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4466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6603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589361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67" name="그룹 266"/>
            <p:cNvGrpSpPr/>
            <p:nvPr/>
          </p:nvGrpSpPr>
          <p:grpSpPr>
            <a:xfrm rot="16200000">
              <a:off x="7669632" y="6046435"/>
              <a:ext cx="94010" cy="47005"/>
              <a:chOff x="6812560" y="3297172"/>
              <a:chExt cx="94010" cy="47005"/>
            </a:xfrm>
          </p:grpSpPr>
          <p:cxnSp>
            <p:nvCxnSpPr>
              <p:cNvPr id="327" name="직선 연결선 32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8" name="직선 연결선 32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23105" y="6016075"/>
              <a:ext cx="40086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입찰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69" name="타원 268"/>
            <p:cNvSpPr/>
            <p:nvPr/>
          </p:nvSpPr>
          <p:spPr>
            <a:xfrm>
              <a:off x="782297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7802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1" name="그룹 270"/>
            <p:cNvGrpSpPr/>
            <p:nvPr/>
          </p:nvGrpSpPr>
          <p:grpSpPr>
            <a:xfrm rot="16200000">
              <a:off x="8325743" y="6046435"/>
              <a:ext cx="94010" cy="47005"/>
              <a:chOff x="6812560" y="3297172"/>
              <a:chExt cx="94010" cy="47005"/>
            </a:xfrm>
          </p:grpSpPr>
          <p:cxnSp>
            <p:nvCxnSpPr>
              <p:cNvPr id="325" name="직선 연결선 3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6" name="직선 연결선 3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72" name="그룹 271"/>
            <p:cNvGrpSpPr/>
            <p:nvPr/>
          </p:nvGrpSpPr>
          <p:grpSpPr>
            <a:xfrm rot="16200000">
              <a:off x="8981855" y="6046435"/>
              <a:ext cx="94010" cy="47005"/>
              <a:chOff x="6812560" y="3297172"/>
              <a:chExt cx="94010" cy="47005"/>
            </a:xfrm>
          </p:grpSpPr>
          <p:cxnSp>
            <p:nvCxnSpPr>
              <p:cNvPr id="323" name="직선 연결선 3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4" name="직선 연결선 3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3" name="타원 272"/>
            <p:cNvSpPr/>
            <p:nvPr/>
          </p:nvSpPr>
          <p:spPr>
            <a:xfrm>
              <a:off x="716686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191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370285" y="6016075"/>
              <a:ext cx="39757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조달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6" name="그룹 275"/>
            <p:cNvGrpSpPr/>
            <p:nvPr/>
          </p:nvGrpSpPr>
          <p:grpSpPr>
            <a:xfrm>
              <a:off x="8477684" y="5975956"/>
              <a:ext cx="603798" cy="187961"/>
              <a:chOff x="2058749" y="3237230"/>
              <a:chExt cx="603798" cy="187961"/>
            </a:xfrm>
          </p:grpSpPr>
          <p:grpSp>
            <p:nvGrpSpPr>
              <p:cNvPr id="319" name="그룹 318"/>
              <p:cNvGrpSpPr/>
              <p:nvPr/>
            </p:nvGrpSpPr>
            <p:grpSpPr>
              <a:xfrm>
                <a:off x="2058749" y="3237230"/>
                <a:ext cx="187961" cy="187961"/>
                <a:chOff x="2058749" y="3237230"/>
                <a:chExt cx="187961" cy="187961"/>
              </a:xfrm>
            </p:grpSpPr>
            <p:sp>
              <p:nvSpPr>
                <p:cNvPr id="321" name="타원 320"/>
                <p:cNvSpPr/>
                <p:nvPr/>
              </p:nvSpPr>
              <p:spPr>
                <a:xfrm>
                  <a:off x="2058749" y="3237230"/>
                  <a:ext cx="187961" cy="187961"/>
                </a:xfrm>
                <a:prstGeom prst="ellipse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2" name="TextBox 32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113806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solidFill>
                        <a:schemeClr val="bg1"/>
                      </a:solidFill>
                      <a:latin typeface="+mn-ea"/>
                    </a:rPr>
                    <a:t>3</a:t>
                  </a:r>
                  <a:endParaRPr lang="ko-KR" altLang="en-US" sz="7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263899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계약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16881" y="6730334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35481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82" name="그룹 281"/>
            <p:cNvGrpSpPr/>
            <p:nvPr/>
          </p:nvGrpSpPr>
          <p:grpSpPr>
            <a:xfrm>
              <a:off x="9133795" y="5975956"/>
              <a:ext cx="603798" cy="187961"/>
              <a:chOff x="2714860" y="3237230"/>
              <a:chExt cx="603798" cy="187961"/>
            </a:xfrm>
          </p:grpSpPr>
          <p:grpSp>
            <p:nvGrpSpPr>
              <p:cNvPr id="315" name="그룹 314"/>
              <p:cNvGrpSpPr/>
              <p:nvPr/>
            </p:nvGrpSpPr>
            <p:grpSpPr>
              <a:xfrm>
                <a:off x="2714860" y="3237230"/>
                <a:ext cx="187961" cy="187961"/>
                <a:chOff x="2714860" y="3237230"/>
                <a:chExt cx="187961" cy="187961"/>
              </a:xfrm>
            </p:grpSpPr>
            <p:sp>
              <p:nvSpPr>
                <p:cNvPr id="317" name="타원 316"/>
                <p:cNvSpPr/>
                <p:nvPr/>
              </p:nvSpPr>
              <p:spPr>
                <a:xfrm>
                  <a:off x="2714860" y="3237230"/>
                  <a:ext cx="187961" cy="18796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8" name="TextBox 317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769917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latin typeface="+mn-ea"/>
                    </a:rPr>
                    <a:t>4</a:t>
                  </a:r>
                  <a:endParaRPr lang="ko-KR" altLang="en-US" sz="700" dirty="0">
                    <a:latin typeface="+mn-ea"/>
                  </a:endParaRPr>
                </a:p>
              </p:txBody>
            </p:sp>
          </p:grpSp>
          <p:sp>
            <p:nvSpPr>
              <p:cNvPr id="316" name="TextBox 3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20010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이행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85" name="그룹 284"/>
            <p:cNvGrpSpPr/>
            <p:nvPr/>
          </p:nvGrpSpPr>
          <p:grpSpPr>
            <a:xfrm rot="5400000">
              <a:off x="9577913" y="5970247"/>
              <a:ext cx="187961" cy="187961"/>
              <a:chOff x="3876200" y="2234886"/>
              <a:chExt cx="187961" cy="187961"/>
            </a:xfrm>
          </p:grpSpPr>
          <p:sp>
            <p:nvSpPr>
              <p:cNvPr id="301" name="타원 30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8" name="그룹 307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10" name="직선 연결선 30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직선 연결선 31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6" name="양쪽 모서리가 둥근 사각형 285"/>
            <p:cNvSpPr/>
            <p:nvPr/>
          </p:nvSpPr>
          <p:spPr>
            <a:xfrm>
              <a:off x="7087364" y="5599752"/>
              <a:ext cx="2712027" cy="3215510"/>
            </a:xfrm>
            <a:prstGeom prst="round2SameRect">
              <a:avLst>
                <a:gd name="adj1" fmla="val 4887"/>
                <a:gd name="adj2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ko-KR" altLang="en-US" sz="700">
                <a:solidFill>
                  <a:srgbClr val="0F4294"/>
                </a:solidFill>
              </a:endParaRPr>
            </a:p>
          </p:txBody>
        </p:sp>
        <p:sp>
          <p:nvSpPr>
            <p:cNvPr id="287" name="모서리가 둥근 직사각형 286"/>
            <p:cNvSpPr/>
            <p:nvPr/>
          </p:nvSpPr>
          <p:spPr>
            <a:xfrm>
              <a:off x="8173377" y="5636379"/>
              <a:ext cx="540000" cy="4571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tx1"/>
                </a:solidFill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9576303" y="5770795"/>
              <a:ext cx="94010" cy="94010"/>
              <a:chOff x="6812560" y="3297172"/>
              <a:chExt cx="94010" cy="94010"/>
            </a:xfrm>
          </p:grpSpPr>
          <p:cxnSp>
            <p:nvCxnSpPr>
              <p:cNvPr id="299" name="직선 연결선 29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16441" y="5751474"/>
              <a:ext cx="179875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900" dirty="0">
                  <a:latin typeface="+mn-ea"/>
                </a:rPr>
                <a:t> </a:t>
              </a:r>
              <a:endParaRPr lang="ko-KR" altLang="en-US" sz="900" dirty="0">
                <a:latin typeface="+mn-ea"/>
              </a:endParaRPr>
            </a:p>
          </p:txBody>
        </p: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87364" y="601287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22BC05EE-C648-7CA2-4CCC-6E1C1A7E9BDA}"/>
                </a:ext>
              </a:extLst>
            </p:cNvPr>
            <p:cNvGrpSpPr/>
            <p:nvPr/>
          </p:nvGrpSpPr>
          <p:grpSpPr>
            <a:xfrm>
              <a:off x="8424253" y="8281222"/>
              <a:ext cx="76863" cy="292489"/>
              <a:chOff x="3750067" y="4683795"/>
              <a:chExt cx="76863" cy="292489"/>
            </a:xfrm>
          </p:grpSpPr>
          <p:sp>
            <p:nvSpPr>
              <p:cNvPr id="296" name="타원 295">
                <a:extLst>
                  <a:ext uri="{FF2B5EF4-FFF2-40B4-BE49-F238E27FC236}">
                    <a16:creationId xmlns:a16="http://schemas.microsoft.com/office/drawing/2014/main" id="{B62EC5A9-8616-6B01-4FB1-D38CF6C29F0E}"/>
                  </a:ext>
                </a:extLst>
              </p:cNvPr>
              <p:cNvSpPr/>
              <p:nvPr/>
            </p:nvSpPr>
            <p:spPr>
              <a:xfrm>
                <a:off x="3750067" y="4683795"/>
                <a:ext cx="76863" cy="76863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297" name="타원 296">
                <a:extLst>
                  <a:ext uri="{FF2B5EF4-FFF2-40B4-BE49-F238E27FC236}">
                    <a16:creationId xmlns:a16="http://schemas.microsoft.com/office/drawing/2014/main" id="{0D32B1A6-219D-1D15-5FDD-889D3F5740C1}"/>
                  </a:ext>
                </a:extLst>
              </p:cNvPr>
              <p:cNvSpPr/>
              <p:nvPr/>
            </p:nvSpPr>
            <p:spPr>
              <a:xfrm>
                <a:off x="3750067" y="4791517"/>
                <a:ext cx="76863" cy="76863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298" name="타원 297">
                <a:extLst>
                  <a:ext uri="{FF2B5EF4-FFF2-40B4-BE49-F238E27FC236}">
                    <a16:creationId xmlns:a16="http://schemas.microsoft.com/office/drawing/2014/main" id="{F347D62C-1828-433E-F5ED-51C6591859DD}"/>
                  </a:ext>
                </a:extLst>
              </p:cNvPr>
              <p:cNvSpPr/>
              <p:nvPr/>
            </p:nvSpPr>
            <p:spPr>
              <a:xfrm>
                <a:off x="3750067" y="4899421"/>
                <a:ext cx="76863" cy="76863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</p:grpSp>
        <p:sp>
          <p:nvSpPr>
            <p:cNvPr id="294" name="모서리가 둥근 직사각형 40">
              <a:extLst>
                <a:ext uri="{FF2B5EF4-FFF2-40B4-BE49-F238E27FC236}">
                  <a16:creationId xmlns:a16="http://schemas.microsoft.com/office/drawing/2014/main" id="{3BE5C28A-F0C3-8BA2-3AC1-EFA405ADE137}"/>
                </a:ext>
              </a:extLst>
            </p:cNvPr>
            <p:cNvSpPr/>
            <p:nvPr/>
          </p:nvSpPr>
          <p:spPr bwMode="auto">
            <a:xfrm>
              <a:off x="7179667" y="6134416"/>
              <a:ext cx="2522014" cy="244350"/>
            </a:xfrm>
            <a:prstGeom prst="roundRect">
              <a:avLst/>
            </a:prstGeom>
            <a:solidFill>
              <a:srgbClr val="0F4294"/>
            </a:solidFill>
            <a:ln w="6350">
              <a:solidFill>
                <a:srgbClr val="0F4294"/>
              </a:solidFill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lIns="36000" rIns="36000" anchor="ctr"/>
            <a:lstStyle/>
            <a:p>
              <a:pPr algn="ctr">
                <a:defRPr/>
              </a:pPr>
              <a:r>
                <a:rPr lang="ko-KR" altLang="en-US" sz="700" dirty="0" err="1">
                  <a:solidFill>
                    <a:schemeClr val="bg1"/>
                  </a:solidFill>
                  <a:latin typeface="+mn-ea"/>
                </a:rPr>
                <a:t>해지해제확정서출력물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44" name="타원 3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734" y="29070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4" name="TextBox 3"/>
          <p:cNvSpPr txBox="1"/>
          <p:nvPr/>
        </p:nvSpPr>
        <p:spPr>
          <a:xfrm>
            <a:off x="7079998" y="1510029"/>
            <a:ext cx="235525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 smtClean="0"/>
              <a:t>1. </a:t>
            </a:r>
            <a:r>
              <a:rPr lang="ko-KR" altLang="en-US" sz="700" dirty="0" smtClean="0"/>
              <a:t>기능 </a:t>
            </a:r>
            <a:r>
              <a:rPr lang="ko-KR" altLang="en-US" sz="700" dirty="0" err="1" smtClean="0"/>
              <a:t>바텀시트</a:t>
            </a:r>
            <a:r>
              <a:rPr lang="ko-KR" altLang="en-US" sz="700" dirty="0" smtClean="0"/>
              <a:t> 호출 버튼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1-1</a:t>
            </a:r>
            <a:r>
              <a:rPr lang="en-US" altLang="ko-KR" sz="700" dirty="0"/>
              <a:t>] </a:t>
            </a:r>
            <a:r>
              <a:rPr lang="ko-KR" altLang="en-US" sz="700" dirty="0" err="1" smtClean="0"/>
              <a:t>해지해제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확정서</a:t>
            </a:r>
            <a:r>
              <a:rPr lang="ko-KR" altLang="en-US" sz="700" dirty="0"/>
              <a:t> </a:t>
            </a:r>
            <a:r>
              <a:rPr lang="ko-KR" altLang="en-US" sz="700" dirty="0" smtClean="0"/>
              <a:t>출력물</a:t>
            </a:r>
            <a:r>
              <a:rPr lang="en-US" altLang="ko-KR" sz="700" dirty="0" smtClean="0"/>
              <a:t>- </a:t>
            </a:r>
            <a:r>
              <a:rPr lang="en-US" altLang="ko-KR" sz="700" dirty="0" err="1" smtClean="0"/>
              <a:t>oz</a:t>
            </a:r>
            <a:r>
              <a:rPr lang="ko-KR" altLang="en-US" sz="700" dirty="0" err="1" smtClean="0"/>
              <a:t>리포트호출</a:t>
            </a:r>
            <a:endParaRPr lang="ko-KR" altLang="en-US" sz="700" dirty="0"/>
          </a:p>
        </p:txBody>
      </p:sp>
    </p:spTree>
    <p:extLst>
      <p:ext uri="{BB962C8B-B14F-4D97-AF65-F5344CB8AC3E}">
        <p14:creationId xmlns:p14="http://schemas.microsoft.com/office/powerpoint/2010/main" val="1170712253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공사계약해지해제상세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323695"/>
            <a:chOff x="701175" y="1527996"/>
            <a:chExt cx="2630093" cy="33236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단기 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해지해제확정사유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</a:t>
              </a:r>
              <a:r>
                <a:rPr lang="en-US" altLang="ko-KR" sz="700" dirty="0">
                  <a:latin typeface="+mn-ea"/>
                </a:rPr>
                <a:t>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조달업체</a:t>
              </a:r>
              <a:r>
                <a:rPr lang="ko-KR" altLang="en-US" sz="700" dirty="0" smtClean="0">
                  <a:latin typeface="+mn-ea"/>
                </a:rPr>
                <a:t> 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006360"/>
              <a:chOff x="701175" y="1835481"/>
              <a:chExt cx="2630093" cy="30063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753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28087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81948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3812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41274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3526071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4345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3743457"/>
            <a:ext cx="162273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2935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386645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98500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931142"/>
            <a:ext cx="162273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제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8925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중사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836701" y="1527996"/>
            <a:ext cx="2630093" cy="1777166"/>
            <a:chOff x="3865118" y="2694619"/>
            <a:chExt cx="2630093" cy="1777166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총공사부기금액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236329661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해지해제</a:t>
            </a:r>
            <a:r>
              <a:rPr lang="ko-KR" altLang="en-US" dirty="0"/>
              <a:t> </a:t>
            </a:r>
            <a:r>
              <a:rPr lang="ko-KR" altLang="en-US" dirty="0" smtClean="0"/>
              <a:t>첨부서류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해지해제</a:t>
            </a:r>
            <a:r>
              <a:rPr lang="ko-KR" altLang="en-US" dirty="0" smtClean="0">
                <a:latin typeface="+mn-ea"/>
              </a:rPr>
              <a:t> 정보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" name="그룹 29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31" name="모서리가 둥근 직사각형 30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4" name="타원 33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8" name="타원 37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1" name="직선 연결선 6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8" name="모서리가 둥근 직사각형 47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2" name="타원 5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6" name="타원 5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8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8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666292021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 정보상세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303260"/>
              </p:ext>
            </p:extLst>
          </p:nvPr>
        </p:nvGraphicFramePr>
        <p:xfrm>
          <a:off x="452999" y="1117060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24124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9700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lshtmSecd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총공사부기금액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tcstrnBkpngAmt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344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계약부대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6737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98241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3986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cncltnRmvCfmtnRsn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158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233F71D-2B30-B57D-B11B-74A019C159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672553B-0DCF-6A4F-E6F4-7EB1CAE54C9F}"/>
              </a:ext>
            </a:extLst>
          </p:cNvPr>
          <p:cNvSpPr txBox="1"/>
          <p:nvPr/>
        </p:nvSpPr>
        <p:spPr>
          <a:xfrm>
            <a:off x="458117" y="5164939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16647-05A1-9C2E-E2A5-A16179FE0D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44869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09420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2024021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6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610801"/>
              </p:ext>
            </p:extLst>
          </p:nvPr>
        </p:nvGraphicFramePr>
        <p:xfrm>
          <a:off x="453000" y="1018830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scwin.btn_otpt_onclick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해지해제확정서 출력물 출력 화면이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(UI-CT-03-R21)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해지해제확정서출력물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B2B66F3-D091-2E15-91D3-79C6D7270E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7667882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국외 </a:t>
            </a:r>
            <a:r>
              <a:rPr lang="ko-KR" altLang="en-US" dirty="0" smtClean="0">
                <a:latin typeface="+mn-ea"/>
              </a:rPr>
              <a:t>계약 통합</a:t>
            </a:r>
            <a:r>
              <a:rPr lang="ko-KR" altLang="en-US" dirty="0" smtClean="0"/>
              <a:t> 목록</a:t>
            </a:r>
            <a:endParaRPr lang="en-US" altLang="ko-KR" dirty="0"/>
          </a:p>
          <a:p>
            <a:r>
              <a:rPr lang="en-US" altLang="ko-KR" dirty="0" smtClean="0"/>
              <a:t>2.1 </a:t>
            </a:r>
            <a:r>
              <a:rPr lang="ko-KR" altLang="en-US" dirty="0"/>
              <a:t>화면 </a:t>
            </a:r>
            <a:r>
              <a:rPr lang="ko-KR" altLang="en-US" dirty="0" smtClean="0"/>
              <a:t>목록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1171330"/>
              </p:ext>
            </p:extLst>
          </p:nvPr>
        </p:nvGraphicFramePr>
        <p:xfrm>
          <a:off x="635474" y="1413419"/>
          <a:ext cx="8701200" cy="38918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 smtClean="0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 smtClean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계약통합목록조회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 목록 조회 화면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국내와 동일함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UC-CT-01-01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국외 전자계약상세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atinLnBrk="1"/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일반현황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일반현황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UC-ZZ-19-03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계좌정보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OvsBacntInfoTab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계좌정보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OvsBacntInfoTab.tsx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4393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OvsWtgrTab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보증서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src/ui/biz/ct/ctrtIntgList/OvsWtgrTab.t 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40471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OvsStmtxTab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인지세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OvsStmtxTab.tsx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67498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OvsCtrtDtstTab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OvsCtrtDtstTab.tsx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31113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첨부서류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OvsElctrCtrtPrgrsDtlTab-Adoc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첨부서류 정보 조회 화면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국내와 동일한 첨부서류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OvsElctrCtrtPrgrsDtlTab-Adoc.tsx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22116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59101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MUI-CT-01-P78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상업계약서명세서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상업계약명세서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목록정보를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조회하는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329404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557197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2.2</a:t>
            </a:r>
            <a:r>
              <a:rPr lang="en-US" altLang="ko-KR" dirty="0"/>
              <a:t>. </a:t>
            </a:r>
            <a:r>
              <a:rPr lang="ko-KR" altLang="en-US" dirty="0"/>
              <a:t>화면 </a:t>
            </a:r>
            <a:r>
              <a:rPr lang="ko-KR" altLang="en-US" dirty="0" smtClean="0"/>
              <a:t>흐름도</a:t>
            </a:r>
            <a:endParaRPr lang="ko-KR" altLang="en-US" dirty="0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계약통합목록조회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2714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국외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전자계약상세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 smtClean="0">
                <a:solidFill>
                  <a:schemeClr val="tx1"/>
                </a:solidFill>
              </a:rPr>
              <a:t>사용자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5756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인지세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일반현황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2731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계좌정보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20174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47727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상업계약서</a:t>
            </a:r>
            <a:r>
              <a:rPr lang="ko-KR" altLang="en-US" sz="800" dirty="0">
                <a:solidFill>
                  <a:schemeClr val="tx1"/>
                </a:solidFill>
              </a:rPr>
              <a:t> 상세</a:t>
            </a:r>
          </a:p>
        </p:txBody>
      </p:sp>
      <p:cxnSp>
        <p:nvCxnSpPr>
          <p:cNvPr id="3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34" idx="1"/>
          </p:cNvCxnSpPr>
          <p:nvPr/>
        </p:nvCxnSpPr>
        <p:spPr>
          <a:xfrm>
            <a:off x="3266608" y="1772964"/>
            <a:ext cx="931134" cy="3848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24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3" idx="1"/>
          </p:cNvCxnSpPr>
          <p:nvPr/>
        </p:nvCxnSpPr>
        <p:spPr>
          <a:xfrm>
            <a:off x="5097742" y="1772964"/>
            <a:ext cx="931134" cy="192859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30" idx="1"/>
          </p:cNvCxnSpPr>
          <p:nvPr/>
        </p:nvCxnSpPr>
        <p:spPr>
          <a:xfrm>
            <a:off x="5097742" y="1772964"/>
            <a:ext cx="931134" cy="257277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47727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상업계약서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63" idx="1"/>
          </p:cNvCxnSpPr>
          <p:nvPr/>
        </p:nvCxnSpPr>
        <p:spPr>
          <a:xfrm>
            <a:off x="5097742" y="562127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58" idx="2"/>
          </p:cNvCxnSpPr>
          <p:nvPr/>
        </p:nvCxnSpPr>
        <p:spPr>
          <a:xfrm>
            <a:off x="6928876" y="1772964"/>
            <a:ext cx="734682" cy="64417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5" idx="3"/>
            <a:endCxn id="158" idx="2"/>
          </p:cNvCxnSpPr>
          <p:nvPr/>
        </p:nvCxnSpPr>
        <p:spPr>
          <a:xfrm>
            <a:off x="6928876" y="2417141"/>
            <a:ext cx="734682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" idx="3"/>
            <a:endCxn id="158" idx="2"/>
          </p:cNvCxnSpPr>
          <p:nvPr/>
        </p:nvCxnSpPr>
        <p:spPr>
          <a:xfrm flipV="1">
            <a:off x="6928876" y="2417141"/>
            <a:ext cx="734682" cy="12844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0" idx="3"/>
            <a:endCxn id="158" idx="2"/>
          </p:cNvCxnSpPr>
          <p:nvPr/>
        </p:nvCxnSpPr>
        <p:spPr>
          <a:xfrm flipV="1">
            <a:off x="6928876" y="2417141"/>
            <a:ext cx="734682" cy="192859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3" idx="3"/>
            <a:endCxn id="158" idx="2"/>
          </p:cNvCxnSpPr>
          <p:nvPr/>
        </p:nvCxnSpPr>
        <p:spPr>
          <a:xfrm flipV="1">
            <a:off x="6928876" y="2417141"/>
            <a:ext cx="734682" cy="3204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5" idx="1"/>
          </p:cNvCxnSpPr>
          <p:nvPr/>
        </p:nvCxnSpPr>
        <p:spPr>
          <a:xfrm>
            <a:off x="5097742" y="1772964"/>
            <a:ext cx="931134" cy="64417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173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보증서</a:t>
            </a:r>
          </a:p>
        </p:txBody>
      </p:sp>
      <p:cxnSp>
        <p:nvCxnSpPr>
          <p:cNvPr id="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64" idx="1"/>
          </p:cNvCxnSpPr>
          <p:nvPr/>
        </p:nvCxnSpPr>
        <p:spPr>
          <a:xfrm>
            <a:off x="5097742" y="1772964"/>
            <a:ext cx="931134" cy="128835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4" idx="3"/>
            <a:endCxn id="158" idx="2"/>
          </p:cNvCxnSpPr>
          <p:nvPr/>
        </p:nvCxnSpPr>
        <p:spPr>
          <a:xfrm flipV="1">
            <a:off x="6928876" y="2417141"/>
            <a:ext cx="734682" cy="64417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8386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첨부파일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86" idx="1"/>
          </p:cNvCxnSpPr>
          <p:nvPr/>
        </p:nvCxnSpPr>
        <p:spPr>
          <a:xfrm>
            <a:off x="5097742" y="1772964"/>
            <a:ext cx="931134" cy="32097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6" idx="3"/>
            <a:endCxn id="158" idx="2"/>
          </p:cNvCxnSpPr>
          <p:nvPr/>
        </p:nvCxnSpPr>
        <p:spPr>
          <a:xfrm flipV="1">
            <a:off x="6928876" y="2417141"/>
            <a:ext cx="734682" cy="25655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2311988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smtClean="0">
                <a:solidFill>
                  <a:schemeClr val="tx1"/>
                </a:solidFill>
              </a:rPr>
              <a:t>국외전자계약상세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계좌정보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OvsBacntInfoTab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보증서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OvsWtgrTab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 smtClean="0"/>
              <a:t>&lt;&lt;React Object&gt;&gt;</a:t>
            </a:r>
            <a:endParaRPr lang="en-US" altLang="ko-KR" sz="1100" dirty="0"/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smtClean="0"/>
              <a:t>계약 국외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인지세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OvsStmtxTab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OvsCtrtDtstTab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첨부파일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OvsElctrCtrtPrgrsDtlTab-Adoc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상업계약서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2.3.1 </a:t>
            </a:r>
            <a:r>
              <a:rPr lang="ko-KR" altLang="en-US" sz="1200" dirty="0" smtClean="0">
                <a:solidFill>
                  <a:schemeClr val="tx1"/>
                </a:solidFill>
              </a:rPr>
              <a:t>계약 국외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상업계약서명세서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OvsCmbzCtrtDtst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98410963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국외전자계약상세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일반정보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</a:t>
            </a:r>
            <a:r>
              <a:rPr lang="en-US" altLang="ko-KR" sz="700" dirty="0" smtClean="0">
                <a:solidFill>
                  <a:prstClr val="black"/>
                </a:solidFill>
              </a:rPr>
              <a:t>)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MODEL-3</a:t>
            </a:r>
            <a:endParaRPr lang="en-US" altLang="ko-KR" sz="900" b="1" dirty="0">
              <a:solidFill>
                <a:prstClr val="black"/>
              </a:solidFill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일반현황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전체계약상태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 (00)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2025-03-03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서류요청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(00)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MODEL-3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국외</a:t>
            </a:r>
          </a:p>
        </p:txBody>
      </p: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2310232" cy="107722"/>
            <a:chOff x="764169" y="4142235"/>
            <a:chExt cx="2310232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일반현황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88821" y="4142235"/>
              <a:ext cx="4014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55170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보증서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449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인지세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593819" y="4142235"/>
              <a:ext cx="480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181805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2531394"/>
            <a:ext cx="2630093" cy="919434"/>
            <a:chOff x="3865118" y="2694619"/>
            <a:chExt cx="2630093" cy="919434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4517928"/>
            <a:ext cx="2630093" cy="1759690"/>
            <a:chOff x="3865118" y="2694619"/>
            <a:chExt cx="2630093" cy="1759690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4"/>
              <a:ext cx="792000" cy="1462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" name="그룹 13"/>
          <p:cNvGrpSpPr/>
          <p:nvPr/>
        </p:nvGrpSpPr>
        <p:grpSpPr>
          <a:xfrm>
            <a:off x="3795734" y="2107946"/>
            <a:ext cx="2712027" cy="354413"/>
            <a:chOff x="3671524" y="2151787"/>
            <a:chExt cx="2712027" cy="354413"/>
          </a:xfrm>
        </p:grpSpPr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1" name="그룹 230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계좌정보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보증서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61" name="그룹 260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262" name="타원 2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3" name="그룹 2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8" name="직선 연결선 2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직선 연결선 2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64" name="타원 2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5" name="그룹 26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6" name="직선 연결선 26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7" name="직선 연결선 26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78" name="그룹 277"/>
          <p:cNvGrpSpPr/>
          <p:nvPr/>
        </p:nvGrpSpPr>
        <p:grpSpPr>
          <a:xfrm>
            <a:off x="3836701" y="3524661"/>
            <a:ext cx="2630093" cy="919434"/>
            <a:chOff x="3865118" y="2694619"/>
            <a:chExt cx="2630093" cy="919434"/>
          </a:xfrm>
        </p:grpSpPr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직사각형 28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일반현황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계좌정보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보증서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인지세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09" name="직사각형 208"/>
          <p:cNvSpPr/>
          <p:nvPr/>
        </p:nvSpPr>
        <p:spPr>
          <a:xfrm>
            <a:off x="7052436" y="6067424"/>
            <a:ext cx="2314310" cy="2084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260624.</a:t>
            </a:r>
            <a:r>
              <a:rPr lang="ko-KR" altLang="en-US" sz="500" dirty="0" err="1" smtClean="0"/>
              <a:t>물품부호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인지세사용여부</a:t>
            </a:r>
            <a:r>
              <a:rPr lang="en-US" altLang="ko-KR" sz="500" dirty="0" smtClean="0"/>
              <a:t>/</a:t>
            </a:r>
            <a:r>
              <a:rPr lang="ko-KR" altLang="en-US" sz="500" dirty="0" err="1" smtClean="0"/>
              <a:t>인지세금액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1425347812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전자계약상태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계약업체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보증기간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담당자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기능구분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일반조건코드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무역대리점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물품번호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2745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서류요청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전력운영사업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1,000.00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제조계약서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24</a:t>
              </a:r>
              <a:r>
                <a:rPr lang="ko-KR" altLang="en-US" sz="700" dirty="0">
                  <a:latin typeface="+mn-ea"/>
                </a:rPr>
                <a:t>개월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최인선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수리부속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미국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D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0764"/>
              <a:chOff x="701175" y="1835481"/>
              <a:chExt cx="2630093" cy="429076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9" name="직선 연결선 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4" name="직선 연결선 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106" name="그룹 105"/>
          <p:cNvGrpSpPr/>
          <p:nvPr/>
        </p:nvGrpSpPr>
        <p:grpSpPr>
          <a:xfrm>
            <a:off x="3836701" y="1497099"/>
            <a:ext cx="2630093" cy="4739759"/>
            <a:chOff x="701175" y="1835481"/>
            <a:chExt cx="2630093" cy="4739759"/>
          </a:xfrm>
        </p:grpSpPr>
        <p:sp>
          <p:nvSpPr>
            <p:cNvPr id="111" name="직사각형 110"/>
            <p:cNvSpPr/>
            <p:nvPr/>
          </p:nvSpPr>
          <p:spPr>
            <a:xfrm>
              <a:off x="703268" y="1835481"/>
              <a:ext cx="792000" cy="47352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생산자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화폐구분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수의사유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지불조건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보증금예치율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품목수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예상납기일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사업승인일자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최종선적일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절충조건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절충사업관리번호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 CPC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납기월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분할선적유무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지체한도율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 달러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인수도조건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공급자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보증형태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구매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2025-03-30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10(%)</a:t>
              </a:r>
            </a:p>
          </p:txBody>
        </p:sp>
        <p:grpSp>
          <p:nvGrpSpPr>
            <p:cNvPr id="114" name="그룹 113"/>
            <p:cNvGrpSpPr/>
            <p:nvPr/>
          </p:nvGrpSpPr>
          <p:grpSpPr>
            <a:xfrm>
              <a:off x="701175" y="1835481"/>
              <a:ext cx="2630093" cy="4722912"/>
              <a:chOff x="701175" y="1835481"/>
              <a:chExt cx="2630093" cy="4722912"/>
            </a:xfrm>
          </p:grpSpPr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6" name="직선 연결선 13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7" name="직선 연결선 13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직선 연결선 1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직선 연결선 14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2" name="직선 연결선 14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7" name="직선 연결선 14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9" name="직선 연결선 14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2" name="직선 연결선 15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3" name="직선 연결선 15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4" name="직선 연결선 15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6335593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5" name="직선 연결선 1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558393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48490125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493927"/>
            <a:ext cx="2630093" cy="1938992"/>
            <a:chOff x="701175" y="1835481"/>
            <a:chExt cx="2630093" cy="1938992"/>
          </a:xfrm>
        </p:grpSpPr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감가금액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납부방법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사용여부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0.15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0(%)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전자보증서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498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0294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5002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63356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50374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2228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-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22288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최인선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70" name="그룹 69"/>
          <p:cNvGrpSpPr/>
          <p:nvPr/>
        </p:nvGrpSpPr>
        <p:grpSpPr>
          <a:xfrm>
            <a:off x="716366" y="3509105"/>
            <a:ext cx="2630093" cy="919434"/>
            <a:chOff x="3865118" y="2694619"/>
            <a:chExt cx="2630093" cy="919434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2" name="그룹 91"/>
          <p:cNvGrpSpPr/>
          <p:nvPr/>
        </p:nvGrpSpPr>
        <p:grpSpPr>
          <a:xfrm>
            <a:off x="716366" y="4502372"/>
            <a:ext cx="2630093" cy="919434"/>
            <a:chOff x="3865118" y="2694619"/>
            <a:chExt cx="2630093" cy="919434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42944" y="1547061"/>
            <a:ext cx="2630093" cy="2406021"/>
            <a:chOff x="3865118" y="2694619"/>
            <a:chExt cx="2630093" cy="2406021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1449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HSBC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보증보험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 USD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11111-11-111111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649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020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39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70313724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149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7556965"/>
              </p:ext>
            </p:extLst>
          </p:nvPr>
        </p:nvGraphicFramePr>
        <p:xfrm>
          <a:off x="452999" y="982973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prcmRqtInstCd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grntePrdDayCnt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gnrlCndCd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ntnCd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pymtDfryCndCd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inspShpCd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expcDudtYmd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lastShpgYmd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prttnShpgYn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lqdmgRt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scrtNo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elctrCtrtPrgrsSttsCd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picId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gnrlCndCd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cmdtySgn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crncCd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1973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grnteAmtDepstRt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31197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1595921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150</a:t>
            </a:fld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7214647"/>
              </p:ext>
            </p:extLst>
          </p:nvPr>
        </p:nvGraphicFramePr>
        <p:xfrm>
          <a:off x="452999" y="983508"/>
          <a:ext cx="8994883" cy="49074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itemCnt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bizAprvYmd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ofstCndCd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dudtMm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orderInstNm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ctrtPrgrsCd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fwkSeCd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prdctnBzentyCd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pvctRsnCd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bizTypeCd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implTypeItemCd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ofstBizMngNo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aprvYmd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arrsLimRt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인지세사용여부</a:t>
                      </a:r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+mn-ea"/>
                        </a:rPr>
                        <a:t>인지세금액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stmtxAplcnCd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stmtxPayAmt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 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 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1/22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9B8A2E0-54EA-67DA-D442-E68561AE350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51789A8-03CE-7936-84AE-2143CA92098F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8AA20ECF-26B3-51A7-2965-86A0B08E3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1372724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151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98037"/>
            <a:ext cx="22014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484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FBBDB464-E870-2D21-5267-3D3EE8896297}"/>
              </a:ext>
            </a:extLst>
          </p:cNvPr>
          <p:cNvSpPr txBox="1"/>
          <p:nvPr/>
        </p:nvSpPr>
        <p:spPr>
          <a:xfrm>
            <a:off x="452999" y="1946247"/>
            <a:ext cx="22832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구매형태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dm_prchsShp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35A44B-FA6E-B9CC-0416-DEBF0346724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20305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AOG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aog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항공기 비행불능 상태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납품기한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URGENT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emrg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긴급상황 발생시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ROUTINE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routn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일반적인 상황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5761D99-7A3E-7EF8-1B4C-8CE2AFB0D61F}"/>
              </a:ext>
            </a:extLst>
          </p:cNvPr>
          <p:cNvSpPr txBox="1"/>
          <p:nvPr/>
        </p:nvSpPr>
        <p:spPr>
          <a:xfrm>
            <a:off x="460151" y="3094457"/>
            <a:ext cx="22672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dl_ctrtBzenty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F82CA70-8CB4-3226-F907-FED98F0B3B6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7303" y="33512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9958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47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elsgnYmd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64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8115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3344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7095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03509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087ABC1-CCCB-F867-4DE5-37891D30A411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6" name="Text Box 73">
            <a:extLst>
              <a:ext uri="{FF2B5EF4-FFF2-40B4-BE49-F238E27FC236}">
                <a16:creationId xmlns:a16="http://schemas.microsoft.com/office/drawing/2014/main" id="{CFA12926-45C1-8A0F-BFC3-EB7B7B5E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1472865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152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9966533"/>
              </p:ext>
            </p:extLst>
          </p:nvPr>
        </p:nvGraphicFramePr>
        <p:xfrm>
          <a:off x="442609" y="822902"/>
          <a:ext cx="8995590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scwin.tacpgBacntInfo_ontabclick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5428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scwin.tacpgWtgr_ontabclick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77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scwin.tacpgStmtx_ontabclick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UI-CT-01-M76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71667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scwin.tacpgCtrtDtst_ontabclick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UI-CT-01-M77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3052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첨부서류 탭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/>
                        <a:t>국외전자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계약상세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첨부서류 화면으로 이동한다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947577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40933442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계좌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계좌정보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계좌정보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계좌정보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1169259"/>
            <a:chOff x="701175" y="1527996"/>
            <a:chExt cx="2630093" cy="116925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8544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858960"/>
              <a:chOff x="701175" y="1835481"/>
              <a:chExt cx="2630093" cy="8589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3842944" y="1547061"/>
            <a:ext cx="2630093" cy="1123811"/>
            <a:chOff x="3865118" y="2694619"/>
            <a:chExt cx="2630093" cy="1123811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지정운송인정보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3"/>
              <a:ext cx="792000" cy="8722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지정운송인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운송인주소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운송인전화번호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운송인팩스번호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701175" y="2812016"/>
            <a:ext cx="2630093" cy="1362570"/>
            <a:chOff x="3865118" y="2669567"/>
            <a:chExt cx="2630093" cy="1362570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0842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간이주소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Seoul, 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6" name="그룹 125"/>
          <p:cNvGrpSpPr/>
          <p:nvPr/>
        </p:nvGrpSpPr>
        <p:grpSpPr>
          <a:xfrm>
            <a:off x="701175" y="4293553"/>
            <a:ext cx="2630093" cy="1788455"/>
            <a:chOff x="3865118" y="2669567"/>
            <a:chExt cx="2630093" cy="1788455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3867211" y="2946203"/>
              <a:ext cx="792000" cy="1508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은행코드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은행사업자번호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은행명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결재방식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송금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11111-11-111111</a:t>
              </a:r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3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80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3704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6" name="그룹 175"/>
          <p:cNvGrpSpPr/>
          <p:nvPr/>
        </p:nvGrpSpPr>
        <p:grpSpPr>
          <a:xfrm>
            <a:off x="3842944" y="2812016"/>
            <a:ext cx="2630093" cy="696397"/>
            <a:chOff x="3865118" y="2694619"/>
            <a:chExt cx="2630093" cy="696397"/>
          </a:xfrm>
        </p:grpSpPr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8" name="직사각형 177"/>
            <p:cNvSpPr/>
            <p:nvPr/>
          </p:nvSpPr>
          <p:spPr>
            <a:xfrm>
              <a:off x="3867211" y="2946204"/>
              <a:ext cx="792000" cy="44144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제조사국가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SAMSUNG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24258162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154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6416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2097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240045"/>
            <a:ext cx="28026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9685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계약업체사업자등록번호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bzentyAddr2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54BC54CE-0804-7E53-09ED-4499CCF60260}"/>
              </a:ext>
            </a:extLst>
          </p:cNvPr>
          <p:cNvSpPr txBox="1"/>
          <p:nvPr/>
        </p:nvSpPr>
        <p:spPr>
          <a:xfrm>
            <a:off x="452999" y="3790389"/>
            <a:ext cx="23056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계좌정보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dm_bacntInfo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99983980-D43F-40E1-F860-CC8357AA4AC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404719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은행코드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은행사업자번호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결재방식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atrzMthCd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결재방식 선택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예금주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계좌실명번호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99235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2579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739DD5-4050-E4BB-0AB3-52A39B688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7314667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155</a:t>
            </a:fld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83621"/>
            <a:ext cx="25525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지정운송인정보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dm_dsgnPtr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4043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dsgnPtrNm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성명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ptrEntlno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전화번호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운송인팩스번호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팩스번호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188165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제조사정보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dm_mkrPtr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449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mkrNm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mkrNtnNm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63D0A7E-0394-6D27-749B-3986B543CAA8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EF5AB992-B6F1-EEFE-E05D-531C32768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72289064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8EFE07E-9A54-478E-9315-CD17371E67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B2CA254-11F0-A7A2-2DC3-034CF53324AB}"/>
              </a:ext>
            </a:extLst>
          </p:cNvPr>
          <p:cNvSpPr txBox="1"/>
          <p:nvPr/>
        </p:nvSpPr>
        <p:spPr>
          <a:xfrm>
            <a:off x="458117" y="5701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35FB90A-0E03-A6C9-7A97-EEE104AC85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534012"/>
              </p:ext>
            </p:extLst>
          </p:nvPr>
        </p:nvGraphicFramePr>
        <p:xfrm>
          <a:off x="458117" y="79954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계좌정보를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30195F-E553-6647-D9A8-1CD8225BBC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00195576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보증서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/>
              <a:t>보증서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smtClean="0"/>
              <a:t>보증서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/>
              <a:t>보증서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745387"/>
            <a:chOff x="701175" y="1527996"/>
            <a:chExt cx="2630093" cy="74538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79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2024-03-03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480"/>
              <a:chOff x="701175" y="1835481"/>
              <a:chExt cx="2630093" cy="42948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420532"/>
            <a:ext cx="2630093" cy="2646759"/>
            <a:chOff x="3865118" y="2669567"/>
            <a:chExt cx="2630093" cy="264675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보증서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보증서증권번호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보증시작일자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보증종료일자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보증기관명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보증금면제사유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12,300,000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서울보증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2026-03-05</a:t>
              </a: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6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64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260052297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158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1337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0307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5988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859109"/>
            <a:ext cx="23682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보증서정보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dm_wtgrInfo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11591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wtgrScrtNo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grnteEndYmd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depsExmptnRsnCd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6252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331760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7273F6E-36C1-6F8D-2E9E-6AFA05654E57}"/>
              </a:ext>
            </a:extLst>
          </p:cNvPr>
          <p:cNvSpPr txBox="1"/>
          <p:nvPr/>
        </p:nvSpPr>
        <p:spPr>
          <a:xfrm>
            <a:off x="458117" y="45225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1E2C9BF-28FC-CA46-2146-0251588E95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1476189"/>
              </p:ext>
            </p:extLst>
          </p:nvPr>
        </p:nvGraphicFramePr>
        <p:xfrm>
          <a:off x="453000" y="480064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보증서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2F86FD4-163F-FB70-8768-6B80CB3570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84705516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인지세 </a:t>
            </a:r>
            <a:r>
              <a:rPr lang="ko-KR" altLang="en-US" dirty="0" smtClean="0"/>
              <a:t>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인지세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인지세</a:t>
            </a:r>
            <a:r>
              <a:rPr lang="ko-KR" altLang="en-US" dirty="0" smtClean="0"/>
              <a:t>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인지세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960095"/>
            <a:chOff x="701175" y="1527996"/>
            <a:chExt cx="2630093" cy="9600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652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계약년도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계약차수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KD111111111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644081"/>
              <a:chOff x="701175" y="1835481"/>
              <a:chExt cx="2630093" cy="644081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562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667156"/>
            <a:ext cx="2630093" cy="2219345"/>
            <a:chOff x="3865118" y="2669567"/>
            <a:chExt cx="2630093" cy="2219345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9389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비고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미사용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7001F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2011030000000001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2" name="그룹 41"/>
          <p:cNvGrpSpPr/>
          <p:nvPr/>
        </p:nvGrpSpPr>
        <p:grpSpPr>
          <a:xfrm>
            <a:off x="3836701" y="1527996"/>
            <a:ext cx="2630093" cy="919434"/>
            <a:chOff x="3865118" y="2694619"/>
            <a:chExt cx="2630093" cy="919434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납부금액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4" name="직사각형 4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납부대상액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부족액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1315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3825376" y="2703232"/>
            <a:ext cx="2652743" cy="1912609"/>
            <a:chOff x="3809964" y="3015861"/>
            <a:chExt cx="2652743" cy="1912609"/>
          </a:xfrm>
        </p:grpSpPr>
        <p:sp>
          <p:nvSpPr>
            <p:cNvPr id="57" name="모서리가 둥근 직사각형 56"/>
            <p:cNvSpPr/>
            <p:nvPr/>
          </p:nvSpPr>
          <p:spPr>
            <a:xfrm>
              <a:off x="3809964" y="3015861"/>
              <a:ext cx="2652743" cy="1912609"/>
            </a:xfrm>
            <a:prstGeom prst="roundRect">
              <a:avLst>
                <a:gd name="adj" fmla="val 546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734" y="3114145"/>
              <a:ext cx="2475203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유의사항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납부방법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납부는 전자수입인지구매 또는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전자수입인지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구매사이트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</a:t>
              </a:r>
              <a:r>
                <a:rPr lang="en-US" altLang="ko-KR" sz="700" dirty="0">
                  <a:solidFill>
                    <a:srgbClr val="0070C0"/>
                  </a:solidFill>
                  <a:latin typeface="맑은 고딕" panose="020B0503020000020004" pitchFamily="50" charset="-127"/>
                </a:rPr>
                <a:t>www.edoc-revenuestamp.or.kr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필독</a:t>
              </a:r>
              <a:r>
                <a:rPr lang="en-US" altLang="ko-KR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]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기획재정부에 납부하신 경우 전자수입인지구매 버튼 클릭 시 구매요청서에서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기납부금액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확인 후 닫기를 하셔야 정상납부처리가 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/>
              </a:r>
              <a:b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</a:b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국외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인지세관리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미사용 관리 탭 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환급처리를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 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전산처리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후 환급은 관할세무서에서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인지세 업무는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버전에서 사용할 수 있습니다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.</a:t>
              </a:r>
              <a:endPara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3894776" y="310449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0" name="그룹 59"/>
            <p:cNvGrpSpPr/>
            <p:nvPr/>
          </p:nvGrpSpPr>
          <p:grpSpPr>
            <a:xfrm flipV="1">
              <a:off x="6243597" y="3152992"/>
              <a:ext cx="94010" cy="47005"/>
              <a:chOff x="6812560" y="3297172"/>
              <a:chExt cx="94010" cy="47005"/>
            </a:xfrm>
          </p:grpSpPr>
          <p:cxnSp>
            <p:nvCxnSpPr>
              <p:cNvPr id="61" name="직선 연결선 6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900060988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160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5518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76191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11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ctrtOd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783953"/>
            <a:ext cx="27785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인지세납부정보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dl_stmtxPayInfo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0094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useYn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4823493E-8C07-B6ED-DB49-A51D91E3C7CC}"/>
              </a:ext>
            </a:extLst>
          </p:cNvPr>
          <p:cNvSpPr txBox="1"/>
          <p:nvPr/>
        </p:nvSpPr>
        <p:spPr>
          <a:xfrm>
            <a:off x="452999" y="3963250"/>
            <a:ext cx="20924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납부액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dm_payAmt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058A987-E8B7-D0E3-488B-9B6F943E140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41887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payTrgtAmt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payAmt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부족액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unpaidAmt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부족금액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499850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843949"/>
              </p:ext>
            </p:extLst>
          </p:nvPr>
        </p:nvGraphicFramePr>
        <p:xfrm>
          <a:off x="453000" y="521400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878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인지세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2C6D5AC-9CAA-4CA8-C0DE-40E8058A4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9618869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계약명세서</a:t>
            </a:r>
            <a:r>
              <a:rPr lang="ko-KR" altLang="en-US" dirty="0"/>
              <a:t> </a:t>
            </a:r>
            <a:r>
              <a:rPr lang="ko-KR" altLang="en-US" dirty="0" smtClean="0"/>
              <a:t>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err="1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1527996"/>
            <a:ext cx="128106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</a:t>
            </a:r>
            <a:r>
              <a:rPr lang="ko-KR" altLang="en-US" sz="700" dirty="0" smtClean="0">
                <a:latin typeface="+mn-ea"/>
              </a:rPr>
              <a:t>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57" name="그룹 156"/>
          <p:cNvGrpSpPr/>
          <p:nvPr/>
        </p:nvGrpSpPr>
        <p:grpSpPr>
          <a:xfrm flipV="1">
            <a:off x="3124233" y="1641327"/>
            <a:ext cx="94010" cy="47005"/>
            <a:chOff x="6812560" y="3297172"/>
            <a:chExt cx="94010" cy="47005"/>
          </a:xfrm>
        </p:grpSpPr>
        <p:cxnSp>
          <p:nvCxnSpPr>
            <p:cNvPr id="158" name="직선 연결선 15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9" name="직선 연결선 15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0" name="직사각형 159"/>
          <p:cNvSpPr/>
          <p:nvPr/>
        </p:nvSpPr>
        <p:spPr>
          <a:xfrm>
            <a:off x="703268" y="1835480"/>
            <a:ext cx="792000" cy="171983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1835481"/>
            <a:ext cx="725552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집행유형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계약금원화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계약금외화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계약금달러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7180" y="1835481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KD111111111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AAA12345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￦</a:t>
            </a:r>
            <a:r>
              <a:rPr lang="en-US" altLang="ko-KR" sz="700" dirty="0" smtClean="0">
                <a:latin typeface="+mn-ea"/>
              </a:rPr>
              <a:t>3,000,000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[USD] 3,000.00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$ 3,000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7" name="그룹 16"/>
          <p:cNvGrpSpPr/>
          <p:nvPr/>
        </p:nvGrpSpPr>
        <p:grpSpPr>
          <a:xfrm>
            <a:off x="701175" y="1835481"/>
            <a:ext cx="2630093" cy="1723549"/>
            <a:chOff x="701175" y="1835481"/>
            <a:chExt cx="2630093" cy="172354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5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269141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906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1208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3354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5590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3833646" y="1527996"/>
            <a:ext cx="2630093" cy="3292847"/>
            <a:chOff x="3865118" y="2669567"/>
            <a:chExt cx="2630093" cy="3292847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계약품목</a:t>
              </a:r>
              <a:r>
                <a:rPr lang="ko-KR" altLang="en-US" sz="700" dirty="0" smtClean="0">
                  <a:latin typeface="+mn-ea"/>
                </a:rPr>
                <a:t> 내역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9819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항목번호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</a:t>
              </a:r>
              <a:r>
                <a:rPr lang="en-US" altLang="ko-KR" sz="700" dirty="0">
                  <a:latin typeface="+mn-ea"/>
                </a:rPr>
                <a:t>-</a:t>
              </a:r>
              <a:r>
                <a:rPr lang="ko-KR" altLang="en-US" sz="700" dirty="0" err="1">
                  <a:latin typeface="+mn-ea"/>
                </a:rPr>
                <a:t>재고번호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부품번호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MBC123456789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</a:p>
            <a:p>
              <a:pPr lvl="0"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0000-123456789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1234567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-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1,000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3,000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98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529812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9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42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56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3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267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0261" y="552133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716366" y="3681658"/>
            <a:ext cx="2630093" cy="513195"/>
            <a:chOff x="3865118" y="2669567"/>
            <a:chExt cx="2630093" cy="51319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 단가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3867211" y="2946204"/>
              <a:ext cx="792000" cy="2365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 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 flipV="1">
            <a:off x="6238614" y="1641327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63514840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162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3300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5646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7569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jdgmtNo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7186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003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0355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2055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163278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3029088"/>
            <a:ext cx="24499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2545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fscCdInvtNo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aplcnEqpmnt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plcdlvCd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99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2126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8288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6335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80445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합계금액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79057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417A15F4-E673-CB3A-A6A8-0C977EF2D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710096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55356217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163</a:t>
            </a:fld>
            <a:endParaRPr lang="ko-KR" alt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5916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833827"/>
              </p:ext>
            </p:extLst>
          </p:nvPr>
        </p:nvGraphicFramePr>
        <p:xfrm>
          <a:off x="453000" y="807104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 err="1"/>
                        <a:t>계약명세서정보를</a:t>
                      </a:r>
                      <a:r>
                        <a:rPr lang="ko-KR" altLang="en-US" sz="800" dirty="0"/>
                        <a:t>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F744379-2680-5432-3E4B-8E79FB1B95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6883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2964651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첨부서류 정보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- </a:t>
            </a:r>
            <a:r>
              <a:rPr lang="ko-KR" altLang="en-US" dirty="0"/>
              <a:t>국내와 동일한 </a:t>
            </a:r>
            <a:r>
              <a:rPr lang="ko-KR" altLang="en-US" dirty="0" smtClean="0"/>
              <a:t>첨부서류 </a:t>
            </a:r>
            <a:r>
              <a:rPr lang="ko-KR" altLang="en-US" dirty="0"/>
              <a:t>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MUI-CT-01-M76</a:t>
            </a:r>
            <a:endParaRPr lang="ko-KR" altLang="en-US" dirty="0"/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4" name="그룹 83"/>
          <p:cNvGrpSpPr/>
          <p:nvPr/>
        </p:nvGrpSpPr>
        <p:grpSpPr>
          <a:xfrm>
            <a:off x="675399" y="1533275"/>
            <a:ext cx="2712026" cy="2709136"/>
            <a:chOff x="3795735" y="2878425"/>
            <a:chExt cx="2712026" cy="2709136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6" name="그룹 8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7" name="모서리가 둥근 직사각형 86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8" name="타원 107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모서리가 둥근 직사각형 108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2" name="타원 111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4965431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5372117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</p:grpSp>
      <p:sp>
        <p:nvSpPr>
          <p:cNvPr id="12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default) 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아코디언 전체 펼침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업로드 기능 </a:t>
            </a:r>
            <a:r>
              <a:rPr lang="ko-KR" altLang="en-US" sz="800" dirty="0" err="1" smtClean="0"/>
              <a:t>미지원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표시</a:t>
            </a:r>
            <a:endParaRPr lang="en-US" altLang="ko-KR" dirty="0" smtClean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710591" y="3136639"/>
            <a:ext cx="2712026" cy="1602288"/>
            <a:chOff x="3795735" y="2878425"/>
            <a:chExt cx="2712026" cy="160228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8" name="그룹 167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9" name="모서리가 둥근 직사각형 1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2" name="타원 1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모서리가 둥근 직사각형 1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6" name="타원 1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893166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165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78017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dl_ctrtRfrncDcmnt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1919585"/>
            <a:ext cx="28571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dl_ctrtSbmsnDcmnt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17639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786989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166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406002"/>
              </p:ext>
            </p:extLst>
          </p:nvPr>
        </p:nvGraphicFramePr>
        <p:xfrm>
          <a:off x="442609" y="822902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첨부서류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65003530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상업계약서</a:t>
            </a:r>
            <a:r>
              <a:rPr lang="ko-KR" altLang="en-US" dirty="0" smtClean="0">
                <a:latin typeface="+mn-ea"/>
              </a:rPr>
              <a:t> 상세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계약현황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상업계약서</a:t>
            </a:r>
            <a:r>
              <a:rPr lang="ko-KR" altLang="en-US" sz="800" dirty="0">
                <a:latin typeface="+mn-ea"/>
              </a:rPr>
              <a:t>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3121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44549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38703"/>
            <a:ext cx="792000" cy="14935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387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38703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계약담당부서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담당자성명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P.R.NO.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품목명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사업구분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38703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국제확정전력운영계약팀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AAA12345 </a:t>
            </a:r>
            <a:r>
              <a:rPr lang="ko-KR" altLang="en-US" sz="700" dirty="0">
                <a:latin typeface="+mn-ea"/>
              </a:rPr>
              <a:t>등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IX3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O </a:t>
            </a:r>
            <a:r>
              <a:rPr lang="ko-KR" altLang="en-US" sz="700" dirty="0" smtClean="0">
                <a:latin typeface="+mn-ea"/>
              </a:rPr>
              <a:t>전력운영사업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9698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1835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3972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국외</a:t>
            </a:r>
          </a:p>
        </p:txBody>
      </p: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상업계약</a:t>
            </a:r>
            <a:endParaRPr lang="ko-KR" altLang="en-US" sz="600" dirty="0"/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181805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상업계약</a:t>
            </a:r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2491279"/>
            <a:ext cx="2630093" cy="1104323"/>
            <a:chOff x="3865118" y="2694619"/>
            <a:chExt cx="2630093" cy="1104323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031547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4873064"/>
            <a:ext cx="2630093" cy="1549496"/>
            <a:chOff x="3865118" y="2694619"/>
            <a:chExt cx="2630093" cy="1549496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29253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선급금율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100,000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062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199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336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153386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639681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일반경쟁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079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0" name="그룹 169"/>
          <p:cNvGrpSpPr/>
          <p:nvPr/>
        </p:nvGrpSpPr>
        <p:grpSpPr>
          <a:xfrm>
            <a:off x="3836701" y="3682937"/>
            <a:ext cx="2630093" cy="1116634"/>
            <a:chOff x="3865118" y="2694619"/>
            <a:chExt cx="2630093" cy="1116634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2" name="직사각형 171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en-US" altLang="ko-KR" sz="700" dirty="0" smtClean="0">
                  <a:latin typeface="+mn-ea"/>
                </a:rPr>
                <a:t>KRW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1,000,000,000 </a:t>
              </a:r>
              <a:r>
                <a:rPr lang="en-US" altLang="ko-KR" sz="700" dirty="0">
                  <a:latin typeface="+mn-ea"/>
                </a:rPr>
                <a:t>KRW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6" name="모서리가 둥근 직사각형 135"/>
          <p:cNvSpPr/>
          <p:nvPr/>
        </p:nvSpPr>
        <p:spPr>
          <a:xfrm>
            <a:off x="197731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sp>
        <p:nvSpPr>
          <p:cNvPr id="137" name="모서리가 둥근 직사각형 136"/>
          <p:cNvSpPr/>
          <p:nvPr/>
        </p:nvSpPr>
        <p:spPr>
          <a:xfrm>
            <a:off x="50903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2" name="그룹 141"/>
          <p:cNvGrpSpPr/>
          <p:nvPr/>
        </p:nvGrpSpPr>
        <p:grpSpPr>
          <a:xfrm>
            <a:off x="764169" y="4142235"/>
            <a:ext cx="1482541" cy="107722"/>
            <a:chOff x="764169" y="4142235"/>
            <a:chExt cx="1482541" cy="107722"/>
          </a:xfrm>
        </p:grpSpPr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계약현황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55140" y="4142235"/>
              <a:ext cx="45592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842256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계약대상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48" name="그룹 147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149" name="타원 148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0" name="그룹 149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156" name="직선 연결선 15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1" name="타원 15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2" name="그룹 15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3" name="직선 연결선 15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8" name="그룹 157"/>
          <p:cNvGrpSpPr/>
          <p:nvPr/>
        </p:nvGrpSpPr>
        <p:grpSpPr>
          <a:xfrm>
            <a:off x="3795734" y="2107946"/>
            <a:ext cx="2712027" cy="354413"/>
            <a:chOff x="3671524" y="2151787"/>
            <a:chExt cx="2712027" cy="354413"/>
          </a:xfrm>
        </p:grpSpPr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3" name="그룹 162"/>
            <p:cNvGrpSpPr/>
            <p:nvPr/>
          </p:nvGrpSpPr>
          <p:grpSpPr>
            <a:xfrm>
              <a:off x="3760294" y="2289593"/>
              <a:ext cx="1623210" cy="107722"/>
              <a:chOff x="764169" y="4142235"/>
              <a:chExt cx="1623210" cy="107722"/>
            </a:xfrm>
          </p:grpSpPr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계약현황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44736" y="4142235"/>
                <a:ext cx="62561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82925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계약대상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4" name="그룹 163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165" name="타원 16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6" name="그룹 16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6" name="직선 연결선 2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직선 연결선 2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2" name="타원 21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3" name="그룹 21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4" name="직선 연결선 2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5" name="직선 연결선 2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230" name="직사각형 229"/>
          <p:cNvSpPr/>
          <p:nvPr/>
        </p:nvSpPr>
        <p:spPr>
          <a:xfrm>
            <a:off x="7892005" y="0"/>
            <a:ext cx="2013995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260625 </a:t>
            </a:r>
            <a:r>
              <a:rPr lang="ko-KR" altLang="en-US" sz="500" dirty="0" smtClean="0"/>
              <a:t>구매요청번호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47" name="타원 2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49" name="타원 2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50" name="타원 2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6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4711" y="1483462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err="1" smtClean="0"/>
              <a:t>계약현황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계약대상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62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39293" y="1268808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indent="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>
                <a:latin typeface="+mn-ea"/>
              </a:defRPr>
            </a:lvl1pPr>
            <a:lvl2pPr indent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/>
            </a:lvl2pPr>
            <a:lvl3pPr indent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/>
            </a:lvl3pPr>
            <a:lvl4pPr indent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/>
            </a:lvl4pPr>
            <a:lvl5pPr indent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altLang="ko-KR" dirty="0" smtClean="0"/>
              <a:t>MUI-CT-01-M77-01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90049781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계약현황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224511"/>
            <a:chOff x="701175" y="1527996"/>
            <a:chExt cx="2630093" cy="222451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현황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계약담당부서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P.R.NO.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계약형태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화폐단위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AAA12345 </a:t>
              </a:r>
              <a:r>
                <a:rPr lang="ko-KR" altLang="en-US" sz="700" dirty="0">
                  <a:latin typeface="+mn-ea"/>
                </a:rPr>
                <a:t>등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IX3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O </a:t>
              </a:r>
              <a:r>
                <a:rPr lang="ko-KR" altLang="en-US" sz="700" dirty="0">
                  <a:latin typeface="+mn-ea"/>
                </a:rPr>
                <a:t>전력운영사업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확정계약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USD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716366" y="3832038"/>
            <a:ext cx="2630093" cy="1113359"/>
            <a:chOff x="3865118" y="2694619"/>
            <a:chExt cx="2630093" cy="1113359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USD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16366" y="5023696"/>
            <a:ext cx="2630093" cy="1116634"/>
            <a:chOff x="3865118" y="2694619"/>
            <a:chExt cx="2630093" cy="1116634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1,000,000,000 KRW</a:t>
              </a: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/>
          <p:cNvGrpSpPr/>
          <p:nvPr/>
        </p:nvGrpSpPr>
        <p:grpSpPr>
          <a:xfrm>
            <a:off x="3842944" y="1527996"/>
            <a:ext cx="2630093" cy="2836908"/>
            <a:chOff x="3865118" y="2694619"/>
            <a:chExt cx="2630093" cy="2836908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추가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58183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선급금율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품질보증기간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선적지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최종납기일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예상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100,000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ko-KR" altLang="en-US" sz="700" dirty="0" smtClean="0">
                  <a:latin typeface="+mn-ea"/>
                </a:rPr>
                <a:t>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GR01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2026-03-03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34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05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80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3842944" y="4448646"/>
            <a:ext cx="2630093" cy="2069248"/>
            <a:chOff x="3865118" y="2694619"/>
            <a:chExt cx="2630093" cy="2069248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안내 사항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86457"/>
              <a:ext cx="2487488" cy="17774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계약담당</a:t>
              </a:r>
              <a:r>
                <a:rPr lang="ko-KR" altLang="en-US" sz="700" dirty="0">
                  <a:latin typeface="+mn-ea"/>
                </a:rPr>
                <a:t> 공무원과 계약상대자는 붙임의 </a:t>
              </a:r>
              <a:r>
                <a:rPr lang="ko-KR" altLang="en-US" sz="700" dirty="0" err="1">
                  <a:latin typeface="+mn-ea"/>
                </a:rPr>
                <a:t>계약문서에</a:t>
              </a:r>
              <a:r>
                <a:rPr lang="ko-KR" altLang="en-US" sz="700" dirty="0">
                  <a:latin typeface="+mn-ea"/>
                </a:rPr>
                <a:t> 의하여 위 물품에 대한 구매계약을 체결하고 신의에 따라 성실히 계약상의 의무를 이행할 것을 확인하며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smtClean="0">
                  <a:latin typeface="+mn-ea"/>
                </a:rPr>
                <a:t>이 </a:t>
              </a:r>
              <a:r>
                <a:rPr lang="ko-KR" altLang="en-US" sz="700" dirty="0">
                  <a:latin typeface="+mn-ea"/>
                </a:rPr>
                <a:t>계약의 증거로 계약서를 작성하며 당사자가 기명 날인 후 각각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통씩 보관한다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붙임서류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1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 err="1">
                  <a:latin typeface="+mn-ea"/>
                </a:rPr>
                <a:t>계약서표지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2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계약 일반조건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3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4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 err="1">
                  <a:latin typeface="+mn-ea"/>
                </a:rPr>
                <a:t>물품명세서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5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기타 증거 자료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763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987572024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</a:t>
            </a:r>
            <a:r>
              <a:rPr lang="ko-KR" altLang="en-US" dirty="0" err="1">
                <a:latin typeface="+mn-ea"/>
              </a:rPr>
              <a:t>계약명세서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528448"/>
            <a:chOff x="701175" y="1527996"/>
            <a:chExt cx="2630093" cy="528448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209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GRAND-TOTAL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100.00 USD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4740"/>
              <a:chOff x="701175" y="1835481"/>
              <a:chExt cx="2630093" cy="2147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7744" y="2138609"/>
            <a:ext cx="125217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명세서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목록 </a:t>
            </a:r>
            <a:r>
              <a:rPr lang="en-US" altLang="ko-KR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flipV="1">
            <a:off x="3119831" y="2251940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9" name="모서리가 둥근 직사각형 78"/>
          <p:cNvSpPr/>
          <p:nvPr/>
        </p:nvSpPr>
        <p:spPr>
          <a:xfrm>
            <a:off x="711214" y="253699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611516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001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266537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6511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401877"/>
            <a:ext cx="13058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PR No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/ Group No.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0986" y="2401877"/>
            <a:ext cx="411197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SUB-TOTAL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7978" y="2401877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2665377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74" name="그룹 173"/>
          <p:cNvGrpSpPr/>
          <p:nvPr/>
        </p:nvGrpSpPr>
        <p:grpSpPr>
          <a:xfrm rot="5400000" flipV="1">
            <a:off x="3124235" y="2707417"/>
            <a:ext cx="94010" cy="47005"/>
            <a:chOff x="6812560" y="3297172"/>
            <a:chExt cx="94010" cy="47005"/>
          </a:xfrm>
        </p:grpSpPr>
        <p:cxnSp>
          <p:nvCxnSpPr>
            <p:cNvPr id="181" name="직선 연결선 1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2" name="직선 연결선 1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64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4" name="모서리가 둥근 직사각형 183"/>
          <p:cNvSpPr/>
          <p:nvPr/>
        </p:nvSpPr>
        <p:spPr>
          <a:xfrm>
            <a:off x="711214" y="293825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3012774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002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306663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3066635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88" name="그룹 187"/>
          <p:cNvGrpSpPr/>
          <p:nvPr/>
        </p:nvGrpSpPr>
        <p:grpSpPr>
          <a:xfrm rot="5400000" flipV="1">
            <a:off x="3124235" y="3108675"/>
            <a:ext cx="94010" cy="47005"/>
            <a:chOff x="6812560" y="3297172"/>
            <a:chExt cx="94010" cy="47005"/>
          </a:xfrm>
        </p:grpSpPr>
        <p:cxnSp>
          <p:nvCxnSpPr>
            <p:cNvPr id="189" name="직선 연결선 1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0" name="직선 연결선 1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18417679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계약대상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1505"/>
            <a:ext cx="2712026" cy="659791"/>
            <a:chOff x="675399" y="2138609"/>
            <a:chExt cx="2712026" cy="659791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57744" y="2138609"/>
              <a:ext cx="125217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계약담당</a:t>
              </a:r>
              <a:r>
                <a:rPr lang="ko-KR" altLang="en-US" sz="700" dirty="0" smtClean="0">
                  <a:latin typeface="+mn-ea"/>
                </a:rPr>
                <a:t> 공무원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78" name="그룹 77"/>
            <p:cNvGrpSpPr/>
            <p:nvPr/>
          </p:nvGrpSpPr>
          <p:grpSpPr>
            <a:xfrm flipV="1">
              <a:off x="3119831" y="2251940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9" name="모서리가 둥근 직사각형 78"/>
            <p:cNvSpPr/>
            <p:nvPr/>
          </p:nvSpPr>
          <p:spPr>
            <a:xfrm>
              <a:off x="711214" y="2452531"/>
              <a:ext cx="2652743" cy="27287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62428" y="2535108"/>
              <a:ext cx="101775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방위사업청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7984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49" name="그룹 48"/>
          <p:cNvGrpSpPr/>
          <p:nvPr/>
        </p:nvGrpSpPr>
        <p:grpSpPr>
          <a:xfrm flipV="1">
            <a:off x="3119831" y="2357428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1" name="그룹 70"/>
          <p:cNvGrpSpPr/>
          <p:nvPr/>
        </p:nvGrpSpPr>
        <p:grpSpPr>
          <a:xfrm>
            <a:off x="716366" y="2264290"/>
            <a:ext cx="2630093" cy="1551998"/>
            <a:chOff x="3865118" y="2694619"/>
            <a:chExt cx="2630093" cy="1551998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상대자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3867211" y="2946204"/>
              <a:ext cx="792000" cy="13004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[7001F] </a:t>
              </a:r>
              <a:r>
                <a:rPr lang="en-US" altLang="ko-KR" sz="700" dirty="0" smtClean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3601347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DUNS NO</a:t>
              </a:r>
              <a:r>
                <a:rPr lang="en-US" altLang="ko-KR" sz="700" dirty="0" smtClean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5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661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0" name="그룹 89"/>
          <p:cNvGrpSpPr/>
          <p:nvPr/>
        </p:nvGrpSpPr>
        <p:grpSpPr>
          <a:xfrm>
            <a:off x="716366" y="3940799"/>
            <a:ext cx="2630093" cy="1113360"/>
            <a:chOff x="3865118" y="2694619"/>
            <a:chExt cx="2630093" cy="1113360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3257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무역대리점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연대보증인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3867211" y="2946205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테스트업체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86311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 flipV="1">
            <a:off x="3119831" y="4006087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6" name="직선 연결선 1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" name="직사각형 49"/>
          <p:cNvSpPr/>
          <p:nvPr/>
        </p:nvSpPr>
        <p:spPr>
          <a:xfrm>
            <a:off x="7067736" y="5913120"/>
            <a:ext cx="2323393" cy="15928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260625 </a:t>
            </a:r>
            <a:r>
              <a:rPr lang="ko-KR" altLang="en-US" sz="500" dirty="0" smtClean="0"/>
              <a:t>구매요청번호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52" name="직사각형 51"/>
          <p:cNvSpPr/>
          <p:nvPr/>
        </p:nvSpPr>
        <p:spPr>
          <a:xfrm>
            <a:off x="7067736" y="6072406"/>
            <a:ext cx="2335834" cy="15989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PC</a:t>
            </a:r>
            <a:r>
              <a:rPr lang="ko-KR" altLang="en-US" sz="500" dirty="0" smtClean="0"/>
              <a:t>에 항목설명 메뉴 없음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217681481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171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584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542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ofcctrDeptNm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picNm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prchsDmndNo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4052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10139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bizSeCd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5937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ctrtMthdNm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19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99575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807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bscbgtFrcncyAmt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본조금액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7466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thsyrGovbndFrcncyAmt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589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ltrmGovbndFrcncyAmt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2410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gramtFrcncy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974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원화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bscbgtAmt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166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thsyrGovbndAmt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29873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ltrmGovbndAmt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59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총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67062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ctrtGrnteAmtRt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3384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lqdmgRt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695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prpamtRt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59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qltyGrntePrd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84905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8900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shplc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1502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1514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lastDudtYmd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4228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inspShpCd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39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8505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57365282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172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2367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계약상대자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dm_ctrtRlt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상호명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zentyAddr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rprsvNm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대표자명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enbrno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TEL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FAX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797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42296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TEL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96005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FAX(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000242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3443586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370039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명세서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54046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4739560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99636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GRAND-TOTAL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0416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5C5ABF10-68D6-D8DD-5586-3607BC39B9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173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A0056F0-DEF0-7CF7-A556-CC8B6D3196A9}"/>
              </a:ext>
            </a:extLst>
          </p:cNvPr>
          <p:cNvSpPr txBox="1"/>
          <p:nvPr/>
        </p:nvSpPr>
        <p:spPr>
          <a:xfrm>
            <a:off x="458117" y="5828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E3F835A-06FC-90FB-1710-AD9A6D0EA7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427196"/>
              </p:ext>
            </p:extLst>
          </p:nvPr>
        </p:nvGraphicFramePr>
        <p:xfrm>
          <a:off x="458117" y="812247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59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257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242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scwin.grd_cmbzCtrtDtst_oncellclick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팝업창을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UI-CT-01-M83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904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scwin.btn_report_onclick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상업계약서출력물 화면을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UI-CT-01-R84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946956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B39DCD8-1F17-31D2-8A37-C4CB6B438A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514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9982554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목록 데이터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L/I </a:t>
            </a:r>
            <a:r>
              <a:rPr lang="ko-KR" altLang="en-US" dirty="0" err="1" smtClean="0"/>
              <a:t>항목번호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Stock-No </a:t>
            </a:r>
            <a:r>
              <a:rPr lang="ko-KR" altLang="en-US" dirty="0" err="1" smtClean="0"/>
              <a:t>재고번호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Part-No </a:t>
            </a:r>
            <a:r>
              <a:rPr lang="ko-KR" altLang="en-US" dirty="0" err="1" smtClean="0"/>
              <a:t>부품번호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Nomencalature</a:t>
            </a:r>
            <a:r>
              <a:rPr lang="en-US" altLang="ko-KR" dirty="0" smtClean="0"/>
              <a:t> </a:t>
            </a:r>
            <a:r>
              <a:rPr lang="ko-KR" altLang="en-US" dirty="0" smtClean="0"/>
              <a:t>품명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Budge </a:t>
            </a:r>
            <a:r>
              <a:rPr lang="ko-KR" altLang="en-US" dirty="0" err="1" smtClean="0"/>
              <a:t>예산구분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Unit </a:t>
            </a:r>
            <a:r>
              <a:rPr lang="ko-KR" altLang="en-US" dirty="0" smtClean="0"/>
              <a:t>단위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QNty</a:t>
            </a:r>
            <a:r>
              <a:rPr lang="en-US" altLang="ko-KR" dirty="0" smtClean="0"/>
              <a:t> </a:t>
            </a:r>
            <a:r>
              <a:rPr lang="ko-KR" altLang="en-US" dirty="0" smtClean="0"/>
              <a:t>수량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UnitPrice</a:t>
            </a:r>
            <a:r>
              <a:rPr lang="en-US" altLang="ko-KR" dirty="0" smtClean="0"/>
              <a:t> </a:t>
            </a:r>
            <a:r>
              <a:rPr lang="ko-KR" altLang="en-US" dirty="0" smtClean="0"/>
              <a:t>단가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Total </a:t>
            </a:r>
            <a:r>
              <a:rPr lang="ko-KR" altLang="en-US" dirty="0" err="1" smtClean="0"/>
              <a:t>총금액</a:t>
            </a:r>
            <a:r>
              <a:rPr lang="ko-KR" altLang="en-US" dirty="0" smtClean="0"/>
              <a:t>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상업계약서명세서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상업계약명세서 </a:t>
            </a:r>
            <a:r>
              <a:rPr lang="ko-KR" altLang="en-US" dirty="0" err="1">
                <a:latin typeface="+mn-ea"/>
              </a:rPr>
              <a:t>목록정보를</a:t>
            </a:r>
            <a:r>
              <a:rPr lang="ko-KR" altLang="en-US" dirty="0">
                <a:latin typeface="+mn-ea"/>
              </a:rPr>
              <a:t>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상업계약서명세서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MUI-CT-01-P78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계약명세서</a:t>
            </a:r>
            <a:r>
              <a:rPr lang="ko-KR" altLang="en-US" sz="900" dirty="0" smtClean="0">
                <a:latin typeface="+mn-ea"/>
              </a:rPr>
              <a:t> 상세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8" name="그룹 37"/>
          <p:cNvGrpSpPr/>
          <p:nvPr/>
        </p:nvGrpSpPr>
        <p:grpSpPr>
          <a:xfrm>
            <a:off x="716366" y="3617463"/>
            <a:ext cx="2630093" cy="2154436"/>
            <a:chOff x="3865118" y="2946204"/>
            <a:chExt cx="2630093" cy="2154436"/>
          </a:xfrm>
        </p:grpSpPr>
        <p:sp>
          <p:nvSpPr>
            <p:cNvPr id="40" name="직사각형 39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 smtClean="0">
                  <a:latin typeface="+mn-ea"/>
                </a:rPr>
                <a:t>Qnty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</a:t>
              </a:r>
              <a:r>
                <a:rPr lang="en-US" altLang="ko-KR" sz="700" dirty="0" smtClean="0">
                  <a:latin typeface="+mn-ea"/>
                </a:rPr>
                <a:t>Price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2546367"/>
            <a:ext cx="12868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명세서 품목 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11214" y="2938870"/>
            <a:ext cx="2652743" cy="364486"/>
            <a:chOff x="711214" y="2744368"/>
            <a:chExt cx="2652743" cy="36448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711214" y="2744368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1882" y="2818889"/>
              <a:ext cx="101775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AAA12345</a:t>
              </a:r>
            </a:p>
            <a:p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001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9410" y="2872750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69643" y="2872750"/>
              <a:ext cx="86253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340.00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grpSp>
          <p:nvGrpSpPr>
            <p:cNvPr id="72" name="그룹 71"/>
            <p:cNvGrpSpPr/>
            <p:nvPr/>
          </p:nvGrpSpPr>
          <p:grpSpPr>
            <a:xfrm rot="5400000" flipV="1">
              <a:off x="3124235" y="2914790"/>
              <a:ext cx="94010" cy="47005"/>
              <a:chOff x="6812560" y="3297172"/>
              <a:chExt cx="94010" cy="47005"/>
            </a:xfrm>
          </p:grpSpPr>
          <p:cxnSp>
            <p:nvCxnSpPr>
              <p:cNvPr id="73" name="직선 연결선 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4" name="직선 연결선 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375528"/>
            <a:ext cx="12868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명세서 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816823"/>
            <a:ext cx="13058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PR No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/ Group No.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0986" y="2816823"/>
            <a:ext cx="411197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SUB-TOTAL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7978" y="2816823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1" name="양쪽 모서리가 둥근 사각형 80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2" name="모서리가 둥근 직사각형 81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3" name="그룹 82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100" name="직선 연결선 99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계약명세서</a:t>
            </a:r>
            <a:r>
              <a:rPr lang="ko-KR" altLang="en-US" sz="900" dirty="0" smtClean="0">
                <a:latin typeface="+mn-ea"/>
              </a:rPr>
              <a:t> 상세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4" name="그룹 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36701" y="2663484"/>
            <a:ext cx="2630093" cy="2154436"/>
            <a:chOff x="3865118" y="2946204"/>
            <a:chExt cx="2630093" cy="2154436"/>
          </a:xfrm>
        </p:grpSpPr>
        <p:sp>
          <p:nvSpPr>
            <p:cNvPr id="105" name="직사각형 104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 smtClean="0">
                  <a:latin typeface="+mn-ea"/>
                </a:rPr>
                <a:t>Qnty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</a:t>
              </a:r>
              <a:r>
                <a:rPr lang="en-US" altLang="ko-KR" sz="700" dirty="0" smtClean="0">
                  <a:latin typeface="+mn-ea"/>
                </a:rPr>
                <a:t>Price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021597"/>
            <a:ext cx="76863" cy="292489"/>
            <a:chOff x="3750067" y="4683795"/>
            <a:chExt cx="76863" cy="292489"/>
          </a:xfrm>
        </p:grpSpPr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82369340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175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2424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Project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Firm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Type of Bid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ctrtMthdNm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2594037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89548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invtNo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5447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979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7248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4871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664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53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56147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907AB4-8D30-10E9-A8C9-506363A5E3C0}"/>
              </a:ext>
            </a:extLst>
          </p:cNvPr>
          <p:cNvSpPr txBox="1"/>
          <p:nvPr/>
        </p:nvSpPr>
        <p:spPr>
          <a:xfrm>
            <a:off x="447726" y="57137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6E9635-F462-79E3-9DE6-409E59C8DA6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2609" y="5948701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5010721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526753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646649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16408</TotalTime>
  <Words>24137</Words>
  <Application>Microsoft Office PowerPoint</Application>
  <PresentationFormat>A4 용지(210x297mm)</PresentationFormat>
  <Paragraphs>13721</Paragraphs>
  <Slides>176</Slides>
  <Notes>19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176</vt:i4>
      </vt:variant>
    </vt:vector>
  </HeadingPairs>
  <TitlesOfParts>
    <vt:vector size="184" baseType="lpstr">
      <vt:lpstr>Pretendard Medium</vt:lpstr>
      <vt:lpstr>맑은 고딕</vt:lpstr>
      <vt:lpstr>맑은 고딕 (본문)</vt:lpstr>
      <vt:lpstr>Arial</vt:lpstr>
      <vt:lpstr>Segoe UI</vt:lpstr>
      <vt:lpstr>Times New Roman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979</cp:revision>
  <cp:lastPrinted>2016-10-27T08:57:39Z</cp:lastPrinted>
  <dcterms:created xsi:type="dcterms:W3CDTF">2016-10-27T07:41:55Z</dcterms:created>
  <dcterms:modified xsi:type="dcterms:W3CDTF">2026-07-10T08:17:53Z</dcterms:modified>
  <cp:category>서브시스템/업무명</cp:category>
  <cp:contentStatus>0.1</cp:contentStatus>
</cp:coreProperties>
</file>