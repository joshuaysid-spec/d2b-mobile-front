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6" r:id="rId2"/>
    <p:sldId id="759" r:id="rId3"/>
    <p:sldId id="356" r:id="rId4"/>
    <p:sldId id="260" r:id="rId5"/>
    <p:sldId id="264" r:id="rId6"/>
    <p:sldId id="624" r:id="rId7"/>
    <p:sldId id="358" r:id="rId8"/>
    <p:sldId id="758" r:id="rId9"/>
    <p:sldId id="292" r:id="rId10"/>
    <p:sldId id="760" r:id="rId11"/>
    <p:sldId id="761" r:id="rId12"/>
    <p:sldId id="630" r:id="rId13"/>
    <p:sldId id="631" r:id="rId14"/>
    <p:sldId id="633" r:id="rId15"/>
    <p:sldId id="709" r:id="rId16"/>
    <p:sldId id="762" r:id="rId17"/>
    <p:sldId id="763" r:id="rId18"/>
    <p:sldId id="764" r:id="rId19"/>
    <p:sldId id="713" r:id="rId20"/>
    <p:sldId id="714" r:id="rId21"/>
    <p:sldId id="715" r:id="rId22"/>
    <p:sldId id="716" r:id="rId23"/>
    <p:sldId id="765" r:id="rId24"/>
    <p:sldId id="766" r:id="rId25"/>
    <p:sldId id="767" r:id="rId26"/>
    <p:sldId id="700" r:id="rId27"/>
    <p:sldId id="768" r:id="rId28"/>
    <p:sldId id="722" r:id="rId29"/>
    <p:sldId id="723" r:id="rId30"/>
    <p:sldId id="724" r:id="rId31"/>
    <p:sldId id="725" r:id="rId32"/>
    <p:sldId id="726" r:id="rId33"/>
    <p:sldId id="769" r:id="rId34"/>
    <p:sldId id="770" r:id="rId35"/>
    <p:sldId id="771" r:id="rId36"/>
    <p:sldId id="730" r:id="rId37"/>
    <p:sldId id="731" r:id="rId38"/>
    <p:sldId id="732" r:id="rId39"/>
    <p:sldId id="733" r:id="rId40"/>
    <p:sldId id="734" r:id="rId41"/>
    <p:sldId id="772" r:id="rId42"/>
    <p:sldId id="773" r:id="rId43"/>
    <p:sldId id="774" r:id="rId44"/>
    <p:sldId id="738" r:id="rId45"/>
    <p:sldId id="739" r:id="rId46"/>
    <p:sldId id="740" r:id="rId47"/>
    <p:sldId id="742" r:id="rId48"/>
    <p:sldId id="775" r:id="rId49"/>
    <p:sldId id="776" r:id="rId50"/>
    <p:sldId id="745" r:id="rId51"/>
    <p:sldId id="746" r:id="rId52"/>
    <p:sldId id="748" r:id="rId53"/>
    <p:sldId id="749" r:id="rId54"/>
    <p:sldId id="750" r:id="rId55"/>
    <p:sldId id="777" r:id="rId56"/>
    <p:sldId id="778" r:id="rId57"/>
    <p:sldId id="779" r:id="rId58"/>
    <p:sldId id="720" r:id="rId59"/>
    <p:sldId id="704" r:id="rId60"/>
    <p:sldId id="670" r:id="rId61"/>
    <p:sldId id="780" r:id="rId62"/>
    <p:sldId id="756" r:id="rId63"/>
    <p:sldId id="781" r:id="rId6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264"/>
            <p14:sldId id="624"/>
          </p14:sldIdLst>
        </p14:section>
        <p14:section name="1.계약통합목록" id="{BB5718C8-07C1-4018-9189-79486BE9C0C5}">
          <p14:sldIdLst>
            <p14:sldId id="358"/>
            <p14:sldId id="758"/>
            <p14:sldId id="292"/>
            <p14:sldId id="760"/>
            <p14:sldId id="761"/>
            <p14:sldId id="630"/>
            <p14:sldId id="631"/>
            <p14:sldId id="633"/>
            <p14:sldId id="709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00"/>
            <p14:sldId id="768"/>
            <p14:sldId id="722"/>
            <p14:sldId id="723"/>
            <p14:sldId id="724"/>
            <p14:sldId id="725"/>
            <p14:sldId id="726"/>
            <p14:sldId id="769"/>
            <p14:sldId id="770"/>
            <p14:sldId id="771"/>
            <p14:sldId id="730"/>
            <p14:sldId id="731"/>
            <p14:sldId id="732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49"/>
            <p14:sldId id="750"/>
            <p14:sldId id="777"/>
            <p14:sldId id="778"/>
            <p14:sldId id="779"/>
            <p14:sldId id="720"/>
            <p14:sldId id="704"/>
          </p14:sldIdLst>
        </p14:section>
        <p14:section name="2.대금지불정보(반납)" id="{ADA4911A-617C-45D8-B34E-F8DEC2891795}">
          <p14:sldIdLst>
            <p14:sldId id="670"/>
            <p14:sldId id="780"/>
            <p14:sldId id="756"/>
            <p14:sldId id="7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410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49858"/>
              </p:ext>
            </p:extLst>
          </p:nvPr>
        </p:nvGraphicFramePr>
        <p:xfrm>
          <a:off x="652374" y="1286787"/>
          <a:ext cx="8782571" cy="3480835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33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4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4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15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394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98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F55A7F85-0CCB-E3F1-ADC8-44D278CE1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303742"/>
              </p:ext>
            </p:extLst>
          </p:nvPr>
        </p:nvGraphicFramePr>
        <p:xfrm>
          <a:off x="652374" y="1416776"/>
          <a:ext cx="8782571" cy="473438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6041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034666"/>
              </p:ext>
            </p:extLst>
          </p:nvPr>
        </p:nvGraphicFramePr>
        <p:xfrm>
          <a:off x="635474" y="1365204"/>
          <a:ext cx="8701200" cy="6008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대금청구통합목록조회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MUI-WM-01-M02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PrpayApfrDtlPage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선급신청을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MUI-WM-01-M03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DpsmnItrpyApfrDtlPage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MUI-WM-01-P04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 지급 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팝업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내용에 따라 세부 내용이 변경되어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5487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SbsdPrcmPymtClmDtl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CstrnPymtClmDtl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</a:t>
                      </a:r>
                      <a:r>
                        <a:rPr lang="en-US" altLang="ko-KR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안내문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PymtClmGdntc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통합목록조회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34561" y="257056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63558" y="236307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897955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계약진행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</a:rPr>
              <a:t>계약수정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</a:rPr>
              <a:t>계약확정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23357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공사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선금신청서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43127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6347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기성대가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4" idx="1"/>
          </p:cNvCxnSpPr>
          <p:nvPr/>
        </p:nvCxnSpPr>
        <p:spPr>
          <a:xfrm flipV="1">
            <a:off x="5097742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5" idx="1"/>
          </p:cNvCxnSpPr>
          <p:nvPr/>
        </p:nvCxnSpPr>
        <p:spPr>
          <a:xfrm flipV="1">
            <a:off x="5097742" y="2575270"/>
            <a:ext cx="931134" cy="5086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30" idx="1"/>
          </p:cNvCxnSpPr>
          <p:nvPr/>
        </p:nvCxnSpPr>
        <p:spPr>
          <a:xfrm>
            <a:off x="5097742" y="3083939"/>
            <a:ext cx="931134" cy="6947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" idx="3"/>
            <a:endCxn id="158" idx="2"/>
          </p:cNvCxnSpPr>
          <p:nvPr/>
        </p:nvCxnSpPr>
        <p:spPr>
          <a:xfrm>
            <a:off x="6928876" y="1772964"/>
            <a:ext cx="734682" cy="6801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158" idx="2"/>
          </p:cNvCxnSpPr>
          <p:nvPr/>
        </p:nvCxnSpPr>
        <p:spPr>
          <a:xfrm flipV="1">
            <a:off x="6928876" y="2453073"/>
            <a:ext cx="734682" cy="9245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928876" y="2453073"/>
            <a:ext cx="734682" cy="13256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6028876" y="1490269"/>
            <a:ext cx="103393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신청 내역에 따라 분기</a:t>
            </a:r>
          </a:p>
        </p:txBody>
      </p:sp>
      <p:sp>
        <p:nvSpPr>
          <p:cNvPr id="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03011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착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ko-KR" altLang="en-US" sz="800" dirty="0">
                <a:solidFill>
                  <a:schemeClr val="tx1"/>
                </a:solidFill>
              </a:rPr>
              <a:t>중도금신청서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83242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42" idx="1"/>
          </p:cNvCxnSpPr>
          <p:nvPr/>
        </p:nvCxnSpPr>
        <p:spPr>
          <a:xfrm flipV="1">
            <a:off x="5097742" y="2174117"/>
            <a:ext cx="931134" cy="9098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43" idx="1"/>
          </p:cNvCxnSpPr>
          <p:nvPr/>
        </p:nvCxnSpPr>
        <p:spPr>
          <a:xfrm flipV="1">
            <a:off x="5097742" y="2976423"/>
            <a:ext cx="931134" cy="10751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3" idx="1"/>
          </p:cNvCxnSpPr>
          <p:nvPr/>
        </p:nvCxnSpPr>
        <p:spPr>
          <a:xfrm>
            <a:off x="5097742" y="3083939"/>
            <a:ext cx="931134" cy="2936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3"/>
            <a:endCxn id="158" idx="2"/>
          </p:cNvCxnSpPr>
          <p:nvPr/>
        </p:nvCxnSpPr>
        <p:spPr>
          <a:xfrm flipV="1">
            <a:off x="6928876" y="2453073"/>
            <a:ext cx="734682" cy="5233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5" idx="3"/>
            <a:endCxn id="158" idx="2"/>
          </p:cNvCxnSpPr>
          <p:nvPr/>
        </p:nvCxnSpPr>
        <p:spPr>
          <a:xfrm flipV="1">
            <a:off x="6928876" y="2453073"/>
            <a:ext cx="734682" cy="1221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2" idx="3"/>
            <a:endCxn id="158" idx="2"/>
          </p:cNvCxnSpPr>
          <p:nvPr/>
        </p:nvCxnSpPr>
        <p:spPr>
          <a:xfrm>
            <a:off x="6928876" y="2174117"/>
            <a:ext cx="734682" cy="2789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36347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7" idx="1"/>
          </p:cNvCxnSpPr>
          <p:nvPr/>
        </p:nvCxnSpPr>
        <p:spPr>
          <a:xfrm>
            <a:off x="1435474" y="1772964"/>
            <a:ext cx="931134" cy="20057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6439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대금지불정보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반납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85" idx="1"/>
          </p:cNvCxnSpPr>
          <p:nvPr/>
        </p:nvCxnSpPr>
        <p:spPr>
          <a:xfrm>
            <a:off x="1435474" y="1772964"/>
            <a:ext cx="931134" cy="26354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7" idx="3"/>
            <a:endCxn id="34" idx="2"/>
          </p:cNvCxnSpPr>
          <p:nvPr/>
        </p:nvCxnSpPr>
        <p:spPr>
          <a:xfrm flipV="1">
            <a:off x="3266608" y="3227939"/>
            <a:ext cx="1381134" cy="5507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5" idx="3"/>
            <a:endCxn id="34" idx="2"/>
          </p:cNvCxnSpPr>
          <p:nvPr/>
        </p:nvCxnSpPr>
        <p:spPr>
          <a:xfrm flipV="1">
            <a:off x="3266608" y="3227939"/>
            <a:ext cx="1381134" cy="11804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착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ko-KR" altLang="en-US" sz="800" dirty="0">
                <a:solidFill>
                  <a:schemeClr val="tx1"/>
                </a:solidFill>
              </a:rPr>
              <a:t>중도금 지급 상태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</p:cNvCxnSpPr>
          <p:nvPr/>
        </p:nvCxnSpPr>
        <p:spPr>
          <a:xfrm>
            <a:off x="6928876" y="1722771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6928876" y="1772964"/>
            <a:ext cx="900000" cy="3400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3" idx="2"/>
            <a:endCxn id="158" idx="6"/>
          </p:cNvCxnSpPr>
          <p:nvPr/>
        </p:nvCxnSpPr>
        <p:spPr>
          <a:xfrm rot="5400000">
            <a:off x="7793163" y="1967359"/>
            <a:ext cx="536109" cy="43531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0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대금청구통합목록조회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090735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선금신청서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538442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중도금신청서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36459" y="2747194"/>
            <a:ext cx="2281118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 err="1"/>
              <a:t>대금청구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 smtClean="0"/>
              <a:t>PymtClmController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277438"/>
            <a:ext cx="967509" cy="71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725145"/>
            <a:ext cx="967509" cy="265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491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96238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선금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중도금 지급 상태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PrpayDpsmnItrpyGiveStts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7600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CenterPrcmPymtClmDtl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78961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SbsdPrcmPymtClmDtlPage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20323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CstrnPymtClmDtlPage.</a:t>
            </a:r>
            <a:r>
              <a:rPr lang="en-US" altLang="ko-KR" sz="1000" dirty="0" err="1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15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572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986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39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>
                <a:solidFill>
                  <a:schemeClr val="tx1"/>
                </a:solidFill>
              </a:rPr>
              <a:t>대금청구및사후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2326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02988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44350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RtnPymtDfryInfo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6353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PymtClmPrgrsPrst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181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226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8" idx="3"/>
            <a:endCxn id="9" idx="1"/>
          </p:cNvCxnSpPr>
          <p:nvPr/>
        </p:nvCxnSpPr>
        <p:spPr>
          <a:xfrm flipV="1">
            <a:off x="2992582" y="2990174"/>
            <a:ext cx="967509" cy="26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9" idx="3"/>
            <a:endCxn id="9" idx="1"/>
          </p:cNvCxnSpPr>
          <p:nvPr/>
        </p:nvCxnSpPr>
        <p:spPr>
          <a:xfrm flipV="1">
            <a:off x="2992582" y="2990174"/>
            <a:ext cx="967509" cy="306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533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058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6956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전체 및 세부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항목별 </a:t>
            </a:r>
            <a:r>
              <a:rPr lang="ko-KR" altLang="en-US" dirty="0" err="1"/>
              <a:t>개수표시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전체가 아닌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나머지 중에서 최소 </a:t>
            </a:r>
            <a:r>
              <a:rPr lang="en-US" altLang="ko-KR" dirty="0"/>
              <a:t>1</a:t>
            </a:r>
            <a:r>
              <a:rPr lang="ko-KR" altLang="en-US" dirty="0"/>
              <a:t>개 이상 선택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물품</a:t>
            </a:r>
            <a:r>
              <a:rPr lang="en-US" altLang="ko-KR" dirty="0"/>
              <a:t>, </a:t>
            </a:r>
            <a:r>
              <a:rPr lang="ko-KR" altLang="en-US" dirty="0"/>
              <a:t>용역</a:t>
            </a:r>
            <a:r>
              <a:rPr lang="en-US" altLang="ko-KR" dirty="0"/>
              <a:t>, </a:t>
            </a:r>
            <a:r>
              <a:rPr lang="ko-KR" altLang="en-US" dirty="0"/>
              <a:t>공사</a:t>
            </a:r>
            <a:r>
              <a:rPr lang="en-US" altLang="ko-KR" dirty="0"/>
              <a:t>, </a:t>
            </a:r>
            <a:r>
              <a:rPr lang="ko-KR" altLang="en-US" dirty="0"/>
              <a:t>국외 모두 개별 선택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전체 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번호 검색은 </a:t>
            </a:r>
            <a:r>
              <a:rPr lang="ko-KR" altLang="en-US" dirty="0" err="1">
                <a:sym typeface="Wingdings" panose="05000000000000000000" pitchFamily="2" charset="2"/>
              </a:rPr>
              <a:t>판단번호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계약 번호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321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31268"/>
            <a:ext cx="2712027" cy="949600"/>
            <a:chOff x="3795734" y="1919434"/>
            <a:chExt cx="2712027" cy="949600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195683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구분 설정</a:t>
              </a:r>
            </a:p>
          </p:txBody>
        </p:sp>
        <p:grpSp>
          <p:nvGrpSpPr>
            <p:cNvPr id="226" name="그룹 225"/>
            <p:cNvGrpSpPr/>
            <p:nvPr/>
          </p:nvGrpSpPr>
          <p:grpSpPr>
            <a:xfrm flipV="1">
              <a:off x="6261284" y="2054522"/>
              <a:ext cx="91438" cy="45719"/>
              <a:chOff x="6812560" y="3297172"/>
              <a:chExt cx="94010" cy="47005"/>
            </a:xfrm>
          </p:grpSpPr>
          <p:cxnSp>
            <p:nvCxnSpPr>
              <p:cNvPr id="227" name="직선 연결선 22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직선 연결선 22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9" name="모서리가 둥근 직사각형 228"/>
            <p:cNvSpPr/>
            <p:nvPr/>
          </p:nvSpPr>
          <p:spPr>
            <a:xfrm>
              <a:off x="4569619" y="223732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2185197"/>
              <a:ext cx="670770" cy="6786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10000"/>
                </a:lnSpc>
              </a:pPr>
              <a:r>
                <a:rPr lang="ko-KR" altLang="en-US" sz="700" dirty="0">
                  <a:latin typeface="+mn-ea"/>
                </a:rPr>
                <a:t>진행상태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1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1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31" name="모서리가 둥근 직사각형 230"/>
            <p:cNvSpPr/>
            <p:nvPr/>
          </p:nvSpPr>
          <p:spPr>
            <a:xfrm>
              <a:off x="4569619" y="2460260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sp>
          <p:nvSpPr>
            <p:cNvPr id="232" name="모서리가 둥근 직사각형 231"/>
            <p:cNvSpPr/>
            <p:nvPr/>
          </p:nvSpPr>
          <p:spPr>
            <a:xfrm>
              <a:off x="4569619" y="268183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grpSp>
          <p:nvGrpSpPr>
            <p:cNvPr id="241" name="그룹 240"/>
            <p:cNvGrpSpPr/>
            <p:nvPr/>
          </p:nvGrpSpPr>
          <p:grpSpPr>
            <a:xfrm>
              <a:off x="6261284" y="2754912"/>
              <a:ext cx="91438" cy="45719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직선 연결선 24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4" name="그룹 243"/>
            <p:cNvGrpSpPr/>
            <p:nvPr/>
          </p:nvGrpSpPr>
          <p:grpSpPr>
            <a:xfrm>
              <a:off x="6261284" y="2538745"/>
              <a:ext cx="91438" cy="45719"/>
              <a:chOff x="6812560" y="3297172"/>
              <a:chExt cx="94010" cy="47005"/>
            </a:xfrm>
          </p:grpSpPr>
          <p:cxnSp>
            <p:nvCxnSpPr>
              <p:cNvPr id="245" name="직선 연결선 24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7" name="그룹 246"/>
            <p:cNvGrpSpPr/>
            <p:nvPr/>
          </p:nvGrpSpPr>
          <p:grpSpPr>
            <a:xfrm>
              <a:off x="6261284" y="2308063"/>
              <a:ext cx="91438" cy="45719"/>
              <a:chOff x="6812560" y="3297172"/>
              <a:chExt cx="94010" cy="47005"/>
            </a:xfrm>
          </p:grpSpPr>
          <p:cxnSp>
            <p:nvCxnSpPr>
              <p:cNvPr id="248" name="직선 연결선 2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91943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143069"/>
            <a:chOff x="778515" y="4388257"/>
            <a:chExt cx="2519558" cy="114306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107901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344126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4" y="5178643"/>
              <a:ext cx="91437" cy="45720"/>
              <a:chOff x="7046734" y="3297172"/>
              <a:chExt cx="94009" cy="47006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7046734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7093738" y="3297173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774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7906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274218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491444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68853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03195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151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53086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36176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496729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4726887"/>
            <a:ext cx="2305144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선금신청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착중도금신청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수정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확정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4793199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5010425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4" name="그룹 163"/>
          <p:cNvGrpSpPr/>
          <p:nvPr/>
        </p:nvGrpSpPr>
        <p:grpSpPr>
          <a:xfrm flipV="1">
            <a:off x="3140949" y="4594419"/>
            <a:ext cx="91438" cy="45719"/>
            <a:chOff x="6812560" y="3297172"/>
            <a:chExt cx="94010" cy="47005"/>
          </a:xfrm>
        </p:grpSpPr>
        <p:cxnSp>
          <p:nvCxnSpPr>
            <p:cNvPr id="165" name="직선 연결선 16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직선 연결선 16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8" name="직사각형 167"/>
          <p:cNvSpPr/>
          <p:nvPr/>
        </p:nvSpPr>
        <p:spPr>
          <a:xfrm>
            <a:off x="772169" y="5207515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542217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5634142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4972067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692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직사각형 113"/>
          <p:cNvSpPr/>
          <p:nvPr/>
        </p:nvSpPr>
        <p:spPr>
          <a:xfrm>
            <a:off x="772169" y="5846603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41300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143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848977"/>
              </p:ext>
            </p:extLst>
          </p:nvPr>
        </p:nvGraphicFramePr>
        <p:xfrm>
          <a:off x="453000" y="1041145"/>
          <a:ext cx="8995591" cy="1701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(UI-WM-01-P22)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대금청구서</a:t>
                      </a:r>
                      <a:r>
                        <a:rPr lang="ko-KR" altLang="en-US" sz="800" dirty="0"/>
                        <a:t>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(UI-WM-01-M72)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모서리가 둥근 직사각형 250"/>
          <p:cNvSpPr/>
          <p:nvPr/>
        </p:nvSpPr>
        <p:spPr>
          <a:xfrm>
            <a:off x="1516736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12735"/>
              </p:ext>
            </p:extLst>
          </p:nvPr>
        </p:nvGraphicFramePr>
        <p:xfrm>
          <a:off x="453000" y="1049851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전자서명 검증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scwin.btn_elsgnVrfc_onclick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 검증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623744" y="1602341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55" name="타원 154"/>
          <p:cNvSpPr/>
          <p:nvPr/>
        </p:nvSpPr>
        <p:spPr>
          <a:xfrm>
            <a:off x="1597442" y="5903948"/>
            <a:ext cx="90000" cy="9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/>
          <p:cNvSpPr/>
          <p:nvPr/>
        </p:nvSpPr>
        <p:spPr>
          <a:xfrm>
            <a:off x="2348738" y="5903948"/>
            <a:ext cx="90000" cy="9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46956" y="5895087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506466" y="5895087"/>
            <a:ext cx="3783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</a:t>
            </a:r>
            <a:r>
              <a:rPr lang="en-US" altLang="ko-KR" sz="700" dirty="0">
                <a:latin typeface="+mn-ea"/>
              </a:rPr>
              <a:t>.</a:t>
            </a:r>
            <a:r>
              <a:rPr lang="ko-KR" altLang="en-US" sz="700" dirty="0">
                <a:latin typeface="+mn-ea"/>
              </a:rPr>
              <a:t>중도금</a:t>
            </a:r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275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1597442" y="2961293"/>
            <a:ext cx="1287333" cy="107722"/>
            <a:chOff x="1597442" y="5895087"/>
            <a:chExt cx="1287333" cy="107722"/>
          </a:xfrm>
        </p:grpSpPr>
        <p:sp>
          <p:nvSpPr>
            <p:cNvPr id="55" name="타원 54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착수금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7830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착</a:t>
              </a:r>
              <a:r>
                <a:rPr lang="en-US" altLang="ko-KR" sz="700" dirty="0">
                  <a:latin typeface="+mn-ea"/>
                </a:rPr>
                <a:t>.</a:t>
              </a:r>
              <a:r>
                <a:rPr lang="ko-KR" altLang="en-US" sz="700" dirty="0">
                  <a:latin typeface="+mn-ea"/>
                </a:rPr>
                <a:t>중도금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진행상태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 지급 상태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선금</a:t>
            </a:r>
            <a:r>
              <a:rPr lang="en-US" altLang="ko-KR" dirty="0"/>
              <a:t>/</a:t>
            </a:r>
            <a:r>
              <a:rPr lang="ko-KR" altLang="en-US" dirty="0"/>
              <a:t>착</a:t>
            </a:r>
            <a:r>
              <a:rPr lang="en-US" altLang="ko-KR" dirty="0"/>
              <a:t>.</a:t>
            </a:r>
            <a:r>
              <a:rPr lang="ko-KR" altLang="en-US" dirty="0"/>
              <a:t>중도금 지급 상태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선금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착</a:t>
            </a:r>
            <a:r>
              <a:rPr lang="en-US" altLang="ko-KR" sz="900" dirty="0">
                <a:latin typeface="+mn-ea"/>
              </a:rPr>
              <a:t>·</a:t>
            </a:r>
            <a:r>
              <a:rPr lang="ko-KR" altLang="en-US" sz="900" dirty="0">
                <a:latin typeface="+mn-ea"/>
              </a:rPr>
              <a:t>중도금지급상태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676601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16366" y="2638316"/>
            <a:ext cx="2630093" cy="1292663"/>
            <a:chOff x="3865118" y="2946203"/>
            <a:chExt cx="2630093" cy="1292663"/>
          </a:xfrm>
        </p:grpSpPr>
        <p:sp>
          <p:nvSpPr>
            <p:cNvPr id="37" name="직사각형 36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진행상태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099103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8462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73173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>
                <a:latin typeface="+mn-ea"/>
              </a:rPr>
              <a:t>세금계산서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1353" y="225706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1270" y="225706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75981" y="225706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>
                <a:latin typeface="+mn-ea"/>
              </a:rPr>
              <a:t>세금계산서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374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2816838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있음 </a:t>
            </a:r>
            <a:r>
              <a:rPr lang="en-US" altLang="ko-KR" dirty="0"/>
              <a:t>: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없음 </a:t>
            </a:r>
            <a:r>
              <a:rPr lang="en-US" altLang="ko-KR" dirty="0"/>
              <a:t>: </a:t>
            </a:r>
            <a:r>
              <a:rPr lang="ko-KR" altLang="en-US" dirty="0"/>
              <a:t>영세</a:t>
            </a:r>
            <a:r>
              <a:rPr lang="en-US" altLang="ko-KR" dirty="0"/>
              <a:t>/</a:t>
            </a:r>
            <a:r>
              <a:rPr lang="ko-KR" altLang="en-US" dirty="0"/>
              <a:t>면세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일자구분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합격일자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납품일자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597442" y="2103380"/>
            <a:ext cx="1088560" cy="107722"/>
            <a:chOff x="1597442" y="5895087"/>
            <a:chExt cx="1088560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있음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없음</a:t>
              </a:r>
            </a:p>
          </p:txBody>
        </p:sp>
      </p:grp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207195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449637"/>
            <a:chOff x="3865118" y="2946203"/>
            <a:chExt cx="2630093" cy="449637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441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58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08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선택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선택안함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16366" y="2588153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314806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988526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78169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5729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2251398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673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304665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030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9146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97442" y="2103380"/>
            <a:ext cx="1499574" cy="107722"/>
            <a:chOff x="1597442" y="5895087"/>
            <a:chExt cx="1499574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597442" y="4038228"/>
            <a:ext cx="1088560" cy="107722"/>
            <a:chOff x="1597442" y="5895087"/>
            <a:chExt cx="1088560" cy="107722"/>
          </a:xfrm>
        </p:grpSpPr>
        <p:sp>
          <p:nvSpPr>
            <p:cNvPr id="53" name="타원 5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2540391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2599744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2251719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803333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391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235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368630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374566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3949251"/>
            <a:ext cx="2712027" cy="1870733"/>
            <a:chOff x="3783912" y="2803333"/>
            <a:chExt cx="2712027" cy="187073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상세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공사</a:t>
            </a:r>
            <a:r>
              <a:rPr lang="en-US" altLang="ko-KR" sz="800" dirty="0">
                <a:latin typeface="+mn-ea"/>
              </a:rPr>
              <a:t>)</a:t>
            </a:r>
            <a:r>
              <a:rPr lang="ko-KR" altLang="en-US" sz="800" dirty="0">
                <a:latin typeface="+mn-ea"/>
              </a:rPr>
              <a:t> 상세 </a:t>
            </a:r>
            <a:r>
              <a:rPr lang="en-US" altLang="ko-KR" sz="800" dirty="0">
                <a:latin typeface="+mn-ea"/>
              </a:rPr>
              <a:t>– </a:t>
            </a:r>
            <a:r>
              <a:rPr lang="ko-KR" altLang="en-US" sz="800" dirty="0">
                <a:latin typeface="+mn-ea"/>
              </a:rPr>
              <a:t>대가지급업체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46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3811854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2251550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546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43398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903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기성대가</a:t>
            </a:r>
            <a:r>
              <a:rPr lang="ko-KR" altLang="en-US" dirty="0"/>
              <a:t> 신청 금액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ko-KR" altLang="en-US" dirty="0">
                <a:latin typeface="+mn-ea"/>
              </a:rPr>
              <a:t> 신청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399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97442" y="2103380"/>
            <a:ext cx="1499574" cy="107722"/>
            <a:chOff x="1597442" y="5895087"/>
            <a:chExt cx="1499574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597442" y="4038228"/>
            <a:ext cx="1088560" cy="107722"/>
            <a:chOff x="1597442" y="5895087"/>
            <a:chExt cx="1088560" cy="107722"/>
          </a:xfrm>
        </p:grpSpPr>
        <p:sp>
          <p:nvSpPr>
            <p:cNvPr id="53" name="타원 5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449637"/>
            <a:chOff x="3865118" y="2946203"/>
            <a:chExt cx="2630093" cy="449637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441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58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08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선택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선택안함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16366" y="2588153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314806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988526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78169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/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699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942236"/>
            <a:chOff x="781461" y="3087955"/>
            <a:chExt cx="2473257" cy="942236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반납금액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7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555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699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수령액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4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551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13158</TotalTime>
  <Words>8083</Words>
  <Application>Microsoft Office PowerPoint</Application>
  <PresentationFormat>A4 용지(210x297mm)</PresentationFormat>
  <Paragraphs>3811</Paragraphs>
  <Slides>63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Pretendard Medium</vt:lpstr>
      <vt:lpstr>맑은 고딕</vt:lpstr>
      <vt:lpstr>Arial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802</cp:revision>
  <cp:lastPrinted>2016-10-27T08:57:39Z</cp:lastPrinted>
  <dcterms:created xsi:type="dcterms:W3CDTF">2016-10-27T07:41:55Z</dcterms:created>
  <dcterms:modified xsi:type="dcterms:W3CDTF">2026-06-19T04:23:26Z</dcterms:modified>
  <cp:category>서브시스템/업무명</cp:category>
  <cp:contentStatus>0.1</cp:contentStatus>
</cp:coreProperties>
</file>